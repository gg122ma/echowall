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 id="2147483663" r:id="rId3"/>
  </p:sldMasterIdLst>
  <p:notesMasterIdLst>
    <p:notesMasterId r:id="rId48"/>
  </p:notesMasterIdLst>
  <p:handoutMasterIdLst>
    <p:handoutMasterId r:id="rId49"/>
  </p:handout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Lst>
  <p:sldSz cx="12192000" cy="6858000"/>
  <p:notesSz cx="9926638" cy="6797675"/>
  <p:embeddedFontLst>
    <p:embeddedFont>
      <p:font typeface="Arial Narrow" panose="020B0606020202030204" pitchFamily="34" charset="0"/>
      <p:regular r:id="rId50"/>
      <p:bold r:id="rId51"/>
      <p:italic r:id="rId52"/>
      <p:boldItalic r:id="rId53"/>
    </p:embeddedFont>
    <p:embeddedFont>
      <p:font typeface="Calibri" panose="020F0502020204030204" pitchFamily="34" charset="0"/>
      <p:regular r:id="rId54"/>
      <p:bold r:id="rId55"/>
      <p:italic r:id="rId56"/>
      <p:boldItalic r:id="rId57"/>
    </p:embeddedFont>
    <p:embeddedFont>
      <p:font typeface="Federo" panose="02000000000000000000"/>
      <p:regular r:id="rId58"/>
    </p:embeddedFont>
    <p:embeddedFont>
      <p:font typeface="Microsoft Yahei" panose="020B0503020204020204" pitchFamily="34" charset="-122"/>
      <p:regular r:id="rId59"/>
      <p:bold r:id="rId60"/>
    </p:embeddedFont>
    <p:embeddedFont>
      <p:font typeface="Tahoma" panose="020B0604030504040204" pitchFamily="34" charset="0"/>
      <p:regular r:id="rId61"/>
      <p:bold r:id="rId62"/>
    </p:embeddedFont>
    <p:embeddedFont>
      <p:font typeface="Trebuchet MS" panose="020B0603020202020204" pitchFamily="34"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FAC3AD-4AE6-462F-803B-BAEB3055CA9C}">
  <a:tblStyle styleId="{4CFAC3AD-4AE6-462F-803B-BAEB3055CA9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5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 /><Relationship Id="rId18" Type="http://schemas.openxmlformats.org/officeDocument/2006/relationships/slide" Target="slides/slide15.xml" /><Relationship Id="rId26" Type="http://schemas.openxmlformats.org/officeDocument/2006/relationships/slide" Target="slides/slide23.xml" /><Relationship Id="rId39" Type="http://schemas.openxmlformats.org/officeDocument/2006/relationships/slide" Target="slides/slide36.xml" /><Relationship Id="rId21" Type="http://schemas.openxmlformats.org/officeDocument/2006/relationships/slide" Target="slides/slide18.xml" /><Relationship Id="rId34" Type="http://schemas.openxmlformats.org/officeDocument/2006/relationships/slide" Target="slides/slide31.xml" /><Relationship Id="rId42" Type="http://schemas.openxmlformats.org/officeDocument/2006/relationships/slide" Target="slides/slide39.xml" /><Relationship Id="rId47" Type="http://schemas.openxmlformats.org/officeDocument/2006/relationships/slide" Target="slides/slide44.xml" /><Relationship Id="rId50" Type="http://schemas.openxmlformats.org/officeDocument/2006/relationships/font" Target="fonts/font1.fntdata" /><Relationship Id="rId55" Type="http://schemas.openxmlformats.org/officeDocument/2006/relationships/font" Target="fonts/font6.fntdata" /><Relationship Id="rId63" Type="http://schemas.openxmlformats.org/officeDocument/2006/relationships/font" Target="fonts/font14.fntdata" /><Relationship Id="rId68" Type="http://schemas.openxmlformats.org/officeDocument/2006/relationships/viewProps" Target="viewProps.xml" /><Relationship Id="rId7" Type="http://schemas.openxmlformats.org/officeDocument/2006/relationships/slide" Target="slides/slide4.xml" /><Relationship Id="rId2" Type="http://schemas.openxmlformats.org/officeDocument/2006/relationships/slideMaster" Target="slideMasters/slideMaster2.xml" /><Relationship Id="rId16" Type="http://schemas.openxmlformats.org/officeDocument/2006/relationships/slide" Target="slides/slide13.xml" /><Relationship Id="rId29" Type="http://schemas.openxmlformats.org/officeDocument/2006/relationships/slide" Target="slides/slide26.xml" /><Relationship Id="rId1" Type="http://schemas.openxmlformats.org/officeDocument/2006/relationships/slideMaster" Target="slideMasters/slideMaster1.xml" /><Relationship Id="rId6" Type="http://schemas.openxmlformats.org/officeDocument/2006/relationships/slide" Target="slides/slide3.xml" /><Relationship Id="rId11" Type="http://schemas.openxmlformats.org/officeDocument/2006/relationships/slide" Target="slides/slide8.xml" /><Relationship Id="rId24" Type="http://schemas.openxmlformats.org/officeDocument/2006/relationships/slide" Target="slides/slide21.xml" /><Relationship Id="rId32" Type="http://schemas.openxmlformats.org/officeDocument/2006/relationships/slide" Target="slides/slide29.xml" /><Relationship Id="rId37" Type="http://schemas.openxmlformats.org/officeDocument/2006/relationships/slide" Target="slides/slide34.xml" /><Relationship Id="rId40" Type="http://schemas.openxmlformats.org/officeDocument/2006/relationships/slide" Target="slides/slide37.xml" /><Relationship Id="rId45" Type="http://schemas.openxmlformats.org/officeDocument/2006/relationships/slide" Target="slides/slide42.xml" /><Relationship Id="rId53" Type="http://schemas.openxmlformats.org/officeDocument/2006/relationships/font" Target="fonts/font4.fntdata" /><Relationship Id="rId58" Type="http://schemas.openxmlformats.org/officeDocument/2006/relationships/font" Target="fonts/font9.fntdata" /><Relationship Id="rId66" Type="http://schemas.openxmlformats.org/officeDocument/2006/relationships/font" Target="fonts/font17.fntdata" /><Relationship Id="rId5" Type="http://schemas.openxmlformats.org/officeDocument/2006/relationships/slide" Target="slides/slide2.xml" /><Relationship Id="rId15" Type="http://schemas.openxmlformats.org/officeDocument/2006/relationships/slide" Target="slides/slide12.xml" /><Relationship Id="rId23" Type="http://schemas.openxmlformats.org/officeDocument/2006/relationships/slide" Target="slides/slide20.xml" /><Relationship Id="rId28" Type="http://schemas.openxmlformats.org/officeDocument/2006/relationships/slide" Target="slides/slide25.xml" /><Relationship Id="rId36" Type="http://schemas.openxmlformats.org/officeDocument/2006/relationships/slide" Target="slides/slide33.xml" /><Relationship Id="rId49" Type="http://schemas.openxmlformats.org/officeDocument/2006/relationships/handoutMaster" Target="handoutMasters/handoutMaster1.xml" /><Relationship Id="rId57" Type="http://schemas.openxmlformats.org/officeDocument/2006/relationships/font" Target="fonts/font8.fntdata" /><Relationship Id="rId61" Type="http://schemas.openxmlformats.org/officeDocument/2006/relationships/font" Target="fonts/font12.fntdata" /><Relationship Id="rId10" Type="http://schemas.openxmlformats.org/officeDocument/2006/relationships/slide" Target="slides/slide7.xml" /><Relationship Id="rId19" Type="http://schemas.openxmlformats.org/officeDocument/2006/relationships/slide" Target="slides/slide16.xml" /><Relationship Id="rId31" Type="http://schemas.openxmlformats.org/officeDocument/2006/relationships/slide" Target="slides/slide28.xml" /><Relationship Id="rId44" Type="http://schemas.openxmlformats.org/officeDocument/2006/relationships/slide" Target="slides/slide41.xml" /><Relationship Id="rId52" Type="http://schemas.openxmlformats.org/officeDocument/2006/relationships/font" Target="fonts/font3.fntdata" /><Relationship Id="rId60" Type="http://schemas.openxmlformats.org/officeDocument/2006/relationships/font" Target="fonts/font11.fntdata" /><Relationship Id="rId65" Type="http://schemas.openxmlformats.org/officeDocument/2006/relationships/font" Target="fonts/font16.fntdata" /><Relationship Id="rId4" Type="http://schemas.openxmlformats.org/officeDocument/2006/relationships/slide" Target="slides/slide1.xml" /><Relationship Id="rId9" Type="http://schemas.openxmlformats.org/officeDocument/2006/relationships/slide" Target="slides/slide6.xml" /><Relationship Id="rId14" Type="http://schemas.openxmlformats.org/officeDocument/2006/relationships/slide" Target="slides/slide11.xml" /><Relationship Id="rId22" Type="http://schemas.openxmlformats.org/officeDocument/2006/relationships/slide" Target="slides/slide19.xml" /><Relationship Id="rId27" Type="http://schemas.openxmlformats.org/officeDocument/2006/relationships/slide" Target="slides/slide24.xml" /><Relationship Id="rId30" Type="http://schemas.openxmlformats.org/officeDocument/2006/relationships/slide" Target="slides/slide27.xml" /><Relationship Id="rId35" Type="http://schemas.openxmlformats.org/officeDocument/2006/relationships/slide" Target="slides/slide32.xml" /><Relationship Id="rId43" Type="http://schemas.openxmlformats.org/officeDocument/2006/relationships/slide" Target="slides/slide40.xml" /><Relationship Id="rId48" Type="http://schemas.openxmlformats.org/officeDocument/2006/relationships/notesMaster" Target="notesMasters/notesMaster1.xml" /><Relationship Id="rId56" Type="http://schemas.openxmlformats.org/officeDocument/2006/relationships/font" Target="fonts/font7.fntdata" /><Relationship Id="rId64" Type="http://schemas.openxmlformats.org/officeDocument/2006/relationships/font" Target="fonts/font15.fntdata" /><Relationship Id="rId69" Type="http://schemas.openxmlformats.org/officeDocument/2006/relationships/theme" Target="theme/theme1.xml" /><Relationship Id="rId8" Type="http://schemas.openxmlformats.org/officeDocument/2006/relationships/slide" Target="slides/slide5.xml" /><Relationship Id="rId51" Type="http://schemas.openxmlformats.org/officeDocument/2006/relationships/font" Target="fonts/font2.fntdata" /><Relationship Id="rId3" Type="http://schemas.openxmlformats.org/officeDocument/2006/relationships/slideMaster" Target="slideMasters/slideMaster3.xml" /><Relationship Id="rId12" Type="http://schemas.openxmlformats.org/officeDocument/2006/relationships/slide" Target="slides/slide9.xml" /><Relationship Id="rId17" Type="http://schemas.openxmlformats.org/officeDocument/2006/relationships/slide" Target="slides/slide14.xml" /><Relationship Id="rId25" Type="http://schemas.openxmlformats.org/officeDocument/2006/relationships/slide" Target="slides/slide22.xml" /><Relationship Id="rId33" Type="http://schemas.openxmlformats.org/officeDocument/2006/relationships/slide" Target="slides/slide30.xml" /><Relationship Id="rId38" Type="http://schemas.openxmlformats.org/officeDocument/2006/relationships/slide" Target="slides/slide35.xml" /><Relationship Id="rId46" Type="http://schemas.openxmlformats.org/officeDocument/2006/relationships/slide" Target="slides/slide43.xml" /><Relationship Id="rId59" Type="http://schemas.openxmlformats.org/officeDocument/2006/relationships/font" Target="fonts/font10.fntdata" /><Relationship Id="rId67" Type="http://schemas.openxmlformats.org/officeDocument/2006/relationships/presProps" Target="presProps.xml" /><Relationship Id="rId20" Type="http://schemas.openxmlformats.org/officeDocument/2006/relationships/slide" Target="slides/slide17.xml" /><Relationship Id="rId41" Type="http://schemas.openxmlformats.org/officeDocument/2006/relationships/slide" Target="slides/slide38.xml" /><Relationship Id="rId54" Type="http://schemas.openxmlformats.org/officeDocument/2006/relationships/font" Target="fonts/font5.fntdata" /><Relationship Id="rId62" Type="http://schemas.openxmlformats.org/officeDocument/2006/relationships/font" Target="fonts/font13.fntdata" /><Relationship Id="rId70" Type="http://schemas.openxmlformats.org/officeDocument/2006/relationships/tableStyles" Target="tableStyle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sz="quarter" idx="1"/>
          </p:nvPr>
        </p:nvSpPr>
        <p:spPr>
          <a:xfrm>
            <a:off x="5622798" y="1"/>
            <a:ext cx="4301543" cy="341064"/>
          </a:xfrm>
          <a:prstGeom prst="rect">
            <a:avLst/>
          </a:prstGeom>
        </p:spPr>
        <p:txBody>
          <a:bodyPr vert="horz" lIns="91440" tIns="45720" rIns="91440" bIns="45720" rtlCol="0"/>
          <a:lstStyle>
            <a:lvl1pPr algn="r">
              <a:defRPr sz="1200"/>
            </a:lvl1pPr>
          </a:lstStyle>
          <a:p>
            <a:fld id="{87C66084-E7F5-496F-B8BE-3E9559F470D4}" type="datetimeFigureOut">
              <a:rPr lang="en-MY" smtClean="0"/>
              <a:t>22/11/2022</a:t>
            </a:fld>
            <a:endParaRPr lang="en-MY"/>
          </a:p>
        </p:txBody>
      </p:sp>
      <p:sp>
        <p:nvSpPr>
          <p:cNvPr id="4" name="Footer Placeholder 3"/>
          <p:cNvSpPr>
            <a:spLocks noGrp="1"/>
          </p:cNvSpPr>
          <p:nvPr>
            <p:ph type="ftr" sz="quarter" idx="2"/>
          </p:nvPr>
        </p:nvSpPr>
        <p:spPr>
          <a:xfrm>
            <a:off x="0" y="6456612"/>
            <a:ext cx="4301543" cy="341063"/>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p:cNvSpPr>
            <a:spLocks noGrp="1"/>
          </p:cNvSpPr>
          <p:nvPr>
            <p:ph type="sldNum" sz="quarter" idx="3"/>
          </p:nvPr>
        </p:nvSpPr>
        <p:spPr>
          <a:xfrm>
            <a:off x="5622798" y="6456612"/>
            <a:ext cx="4301543" cy="341063"/>
          </a:xfrm>
          <a:prstGeom prst="rect">
            <a:avLst/>
          </a:prstGeom>
        </p:spPr>
        <p:txBody>
          <a:bodyPr vert="horz" lIns="91440" tIns="45720" rIns="91440" bIns="45720" rtlCol="0" anchor="b"/>
          <a:lstStyle>
            <a:lvl1pPr algn="r">
              <a:defRPr sz="1200"/>
            </a:lvl1pPr>
          </a:lstStyle>
          <a:p>
            <a:fld id="{CFE71B60-4FE7-4C38-8A67-5A1F560D1528}" type="slidenum">
              <a:rPr lang="en-MY" smtClean="0"/>
              <a:t>‹#›</a:t>
            </a:fld>
            <a:endParaRPr lang="en-MY"/>
          </a:p>
        </p:txBody>
      </p:sp>
    </p:spTree>
    <p:extLst>
      <p:ext uri="{BB962C8B-B14F-4D97-AF65-F5344CB8AC3E}">
        <p14:creationId xmlns:p14="http://schemas.microsoft.com/office/powerpoint/2010/main" val="1419878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4301543" cy="34106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622798" y="1"/>
            <a:ext cx="4301543" cy="341064"/>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924175" y="849313"/>
            <a:ext cx="4078288" cy="2293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2664" y="3271381"/>
            <a:ext cx="7941310" cy="26765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456612"/>
            <a:ext cx="4301543" cy="34106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622798" y="6456612"/>
            <a:ext cx="4301543" cy="34106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992664" y="3271381"/>
            <a:ext cx="7941310" cy="2676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notes"/>
          <p:cNvSpPr>
            <a:spLocks noGrp="1" noRot="1" noChangeAspect="1"/>
          </p:cNvSpPr>
          <p:nvPr>
            <p:ph type="sldImg" idx="2"/>
          </p:nvPr>
        </p:nvSpPr>
        <p:spPr>
          <a:xfrm>
            <a:off x="2924175" y="849313"/>
            <a:ext cx="4078288" cy="2293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txBox="1">
            <a:spLocks noGrp="1"/>
          </p:cNvSpPr>
          <p:nvPr>
            <p:ph type="body" idx="1"/>
          </p:nvPr>
        </p:nvSpPr>
        <p:spPr>
          <a:xfrm>
            <a:off x="992664" y="3271381"/>
            <a:ext cx="7941310" cy="267658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2:notes"/>
          <p:cNvSpPr>
            <a:spLocks noGrp="1" noRot="1" noChangeAspect="1"/>
          </p:cNvSpPr>
          <p:nvPr>
            <p:ph type="sldImg" idx="2"/>
          </p:nvPr>
        </p:nvSpPr>
        <p:spPr>
          <a:xfrm>
            <a:off x="2924175" y="849313"/>
            <a:ext cx="4078288" cy="2293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3: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39" name="Google Shape;139;p3: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Clr>
                <a:schemeClr val="dk1"/>
              </a:buClr>
              <a:buSzPts val="1200"/>
              <a:buFont typeface="Calibri"/>
              <a:buNone/>
            </a:pPr>
            <a:endParaRPr/>
          </a:p>
        </p:txBody>
      </p:sp>
      <p:sp>
        <p:nvSpPr>
          <p:cNvPr id="146" name="Google Shape;146;p4: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p:nvPr/>
        </p:nvSpPr>
        <p:spPr>
          <a:xfrm>
            <a:off x="4" y="4709069"/>
            <a:ext cx="6226283" cy="247891"/>
          </a:xfrm>
          <a:prstGeom prst="rect">
            <a:avLst/>
          </a:prstGeom>
          <a:noFill/>
          <a:ln>
            <a:noFill/>
          </a:ln>
        </p:spPr>
        <p:txBody>
          <a:bodyPr spcFirstLastPara="1" wrap="square" lIns="94775" tIns="47375" rIns="94775" bIns="47375" anchor="t" anchorCtr="0">
            <a:noAutofit/>
          </a:bodyPr>
          <a:lstStyle/>
          <a:p>
            <a:pPr marL="0" marR="0" lvl="0" indent="0" algn="l" rtl="0">
              <a:lnSpc>
                <a:spcPct val="100000"/>
              </a:lnSpc>
              <a:spcBef>
                <a:spcPts val="0"/>
              </a:spcBef>
              <a:spcAft>
                <a:spcPts val="0"/>
              </a:spcAft>
              <a:buClr>
                <a:srgbClr val="000000"/>
              </a:buClr>
              <a:buSzPts val="1800"/>
              <a:buFont typeface="Tahoma"/>
              <a:buNone/>
            </a:pPr>
            <a:r>
              <a:rPr lang="en-US" sz="1800" b="0" i="0" u="none" strike="noStrike" cap="none">
                <a:solidFill>
                  <a:srgbClr val="000000"/>
                </a:solidFill>
                <a:latin typeface="Tahoma"/>
                <a:ea typeface="Tahoma"/>
                <a:cs typeface="Tahoma"/>
                <a:sym typeface="Tahoma"/>
              </a:rPr>
              <a:t>Kolej Matrikulasi Negeri Sembilan</a:t>
            </a:r>
            <a:endParaRPr sz="1400" b="0" i="0" u="none" strike="noStrike" cap="none">
              <a:solidFill>
                <a:srgbClr val="000000"/>
              </a:solidFill>
              <a:latin typeface="Arial"/>
              <a:ea typeface="Arial"/>
              <a:cs typeface="Arial"/>
              <a:sym typeface="Arial"/>
            </a:endParaRPr>
          </a:p>
        </p:txBody>
      </p:sp>
      <p:sp>
        <p:nvSpPr>
          <p:cNvPr id="154" name="Google Shape;154;p5:notes"/>
          <p:cNvSpPr txBox="1"/>
          <p:nvPr/>
        </p:nvSpPr>
        <p:spPr>
          <a:xfrm>
            <a:off x="8138742" y="4709067"/>
            <a:ext cx="6222959" cy="247031"/>
          </a:xfrm>
          <a:prstGeom prst="rect">
            <a:avLst/>
          </a:prstGeom>
          <a:noFill/>
          <a:ln>
            <a:noFill/>
          </a:ln>
        </p:spPr>
        <p:txBody>
          <a:bodyPr spcFirstLastPara="1" wrap="square" lIns="93300" tIns="48500" rIns="93300" bIns="48500" anchor="b" anchorCtr="0">
            <a:noAutofit/>
          </a:bodyPr>
          <a:lstStyle/>
          <a:p>
            <a:pPr marL="0" marR="0" lvl="0" indent="0" algn="r" rtl="0">
              <a:lnSpc>
                <a:spcPct val="100000"/>
              </a:lnSpc>
              <a:spcBef>
                <a:spcPts val="0"/>
              </a:spcBef>
              <a:spcAft>
                <a:spcPts val="0"/>
              </a:spcAft>
              <a:buClr>
                <a:srgbClr val="000000"/>
              </a:buClr>
              <a:buSzPts val="1800"/>
              <a:buFont typeface="Tahoma"/>
              <a:buNone/>
            </a:pPr>
            <a:fld id="{00000000-1234-1234-1234-123412341234}" type="slidenum">
              <a:rPr lang="en-US" sz="1800" b="0" i="0" u="none" strike="noStrike" cap="none">
                <a:solidFill>
                  <a:srgbClr val="000000"/>
                </a:solidFill>
                <a:latin typeface="Tahoma"/>
                <a:ea typeface="Tahoma"/>
                <a:cs typeface="Tahoma"/>
                <a:sym typeface="Tahoma"/>
              </a:rPr>
              <a:t>5</a:t>
            </a:fld>
            <a:endParaRPr sz="1400" b="0" i="0" u="none" strike="noStrike" cap="none">
              <a:solidFill>
                <a:srgbClr val="000000"/>
              </a:solidFill>
              <a:latin typeface="Arial"/>
              <a:ea typeface="Arial"/>
              <a:cs typeface="Arial"/>
              <a:sym typeface="Arial"/>
            </a:endParaRPr>
          </a:p>
        </p:txBody>
      </p:sp>
      <p:sp>
        <p:nvSpPr>
          <p:cNvPr id="155" name="Google Shape;155;p5: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56" name="Google Shape;156;p5:notes"/>
          <p:cNvSpPr txBox="1">
            <a:spLocks noGrp="1"/>
          </p:cNvSpPr>
          <p:nvPr>
            <p:ph type="body" idx="1"/>
          </p:nvPr>
        </p:nvSpPr>
        <p:spPr>
          <a:xfrm>
            <a:off x="1436838" y="2355825"/>
            <a:ext cx="11494679" cy="2231018"/>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6: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62" name="Google Shape;162;p6: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68" name="Google Shape;168;p7: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74" name="Google Shape;174;p8: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80" name="Google Shape;180;p9: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87" name="Google Shape;187;p10: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95" name="Google Shape;195;p11: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2: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02" name="Google Shape;202;p12: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3: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09" name="Google Shape;209;p13: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4: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16" name="Google Shape;216;p14: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22" name="Google Shape;222;p15: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6: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p16: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32" name="Google Shape;232;p16: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16</a:t>
            </a:fld>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7: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1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52" name="Google Shape;252;p17: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17</a:t>
            </a:fld>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8: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18: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59" name="Google Shape;259;p18: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18</a:t>
            </a:fld>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5" name="Google Shape;265;p1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66" name="Google Shape;266;p19: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19</a:t>
            </a:fld>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0: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p20: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73" name="Google Shape;273;p20: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20</a:t>
            </a:fld>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1: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9" name="Google Shape;279;p21: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80" name="Google Shape;280;p21: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21</a:t>
            </a:fld>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2: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6" name="Google Shape;286;p22: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87" name="Google Shape;287;p22: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22</a:t>
            </a:fld>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3: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p23: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95" name="Google Shape;295;p23: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23</a:t>
            </a:fld>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4: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2" name="Google Shape;302;p2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03" name="Google Shape;303;p24: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24</a:t>
            </a:fld>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5: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0" name="Google Shape;310;p2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11" name="Google Shape;311;p25: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25</a:t>
            </a:fld>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6: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7" name="Google Shape;317;p26: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18" name="Google Shape;318;p26: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26</a:t>
            </a:fld>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Clr>
                <a:schemeClr val="dk1"/>
              </a:buClr>
              <a:buSzPts val="1200"/>
              <a:buFont typeface="Calibri"/>
              <a:buNone/>
            </a:pPr>
            <a:endParaRPr/>
          </a:p>
        </p:txBody>
      </p:sp>
      <p:sp>
        <p:nvSpPr>
          <p:cNvPr id="326" name="Google Shape;326;p27: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8: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3" name="Google Shape;333;p28: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34" name="Google Shape;334;p28: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28</a:t>
            </a:fld>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9: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2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43" name="Google Shape;343;p29: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29</a:t>
            </a:fld>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0: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352" name="Google Shape;352;p30: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1:notes"/>
          <p:cNvSpPr txBox="1">
            <a:spLocks noGrp="1"/>
          </p:cNvSpPr>
          <p:nvPr>
            <p:ph type="body" idx="1"/>
          </p:nvPr>
        </p:nvSpPr>
        <p:spPr>
          <a:xfrm>
            <a:off x="1436839" y="2354966"/>
            <a:ext cx="11491353" cy="223015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357" name="Google Shape;357;p31:notes"/>
          <p:cNvSpPr>
            <a:spLocks noGrp="1" noRot="1" noChangeAspect="1"/>
          </p:cNvSpPr>
          <p:nvPr>
            <p:ph type="sldImg" idx="2"/>
          </p:nvPr>
        </p:nvSpPr>
        <p:spPr>
          <a:xfrm>
            <a:off x="5530850" y="371475"/>
            <a:ext cx="3305175" cy="1858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2: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4" name="Google Shape;364;p32: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65" name="Google Shape;365;p32: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32</a:t>
            </a:fld>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3: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2" name="Google Shape;372;p33: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73" name="Google Shape;373;p33: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33</a:t>
            </a:fld>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4: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3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80" name="Google Shape;380;p34: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34</a:t>
            </a:fld>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5: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9" name="Google Shape;389;p35: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390" name="Google Shape;390;p35: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35</a:t>
            </a:fld>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6: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4" name="Google Shape;414;p36: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415" name="Google Shape;415;p36: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36</a:t>
            </a:fld>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7: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5" name="Google Shape;425;p37: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426" name="Google Shape;426;p37: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37</a:t>
            </a:fld>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8: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9" name="Google Shape;449;p38: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450" name="Google Shape;450;p38: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38</a:t>
            </a:fld>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9: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9" name="Google Shape;459;p39: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460" name="Google Shape;460;p39: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39</a:t>
            </a:fld>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40: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5" name="Google Shape;475;p40: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476" name="Google Shape;476;p40: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40</a:t>
            </a:fld>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41: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41: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485" name="Google Shape;485;p41: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41</a:t>
            </a:fld>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42: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1" name="Google Shape;491;p42: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492" name="Google Shape;492;p42: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42</a:t>
            </a:fld>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43: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9" name="Google Shape;499;p43: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500" name="Google Shape;500;p43:notes"/>
          <p:cNvSpPr txBox="1">
            <a:spLocks noGrp="1"/>
          </p:cNvSpPr>
          <p:nvPr>
            <p:ph type="sldNum" idx="12"/>
          </p:nvPr>
        </p:nvSpPr>
        <p:spPr>
          <a:xfrm>
            <a:off x="5622798" y="6456612"/>
            <a:ext cx="4299245" cy="338703"/>
          </a:xfrm>
          <a:prstGeom prst="rect">
            <a:avLst/>
          </a:prstGeom>
          <a:noFill/>
          <a:ln>
            <a:noFill/>
          </a:ln>
        </p:spPr>
        <p:txBody>
          <a:bodyPr spcFirstLastPara="1" wrap="square" lIns="90000" tIns="46800" rIns="90000" bIns="46800" anchor="b" anchorCtr="0">
            <a:noAutofit/>
          </a:bodyPr>
          <a:lstStyle/>
          <a:p>
            <a:pPr marL="0" lvl="0" indent="-76200" algn="r" rtl="0">
              <a:lnSpc>
                <a:spcPct val="100000"/>
              </a:lnSpc>
              <a:spcBef>
                <a:spcPts val="0"/>
              </a:spcBef>
              <a:spcAft>
                <a:spcPts val="0"/>
              </a:spcAft>
              <a:buClr>
                <a:schemeClr val="dk1"/>
              </a:buClr>
              <a:buSzPts val="1200"/>
              <a:buFont typeface="Arial"/>
              <a:buChar char="•"/>
            </a:pPr>
            <a:fld id="{00000000-1234-1234-1234-123412341234}" type="slidenum">
              <a:rPr lang="en-US">
                <a:solidFill>
                  <a:schemeClr val="dk1"/>
                </a:solidFill>
              </a:rPr>
              <a:t>43</a:t>
            </a:fld>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44:notes"/>
          <p:cNvSpPr txBox="1">
            <a:spLocks noGrp="1"/>
          </p:cNvSpPr>
          <p:nvPr>
            <p:ph type="body" idx="1"/>
          </p:nvPr>
        </p:nvSpPr>
        <p:spPr>
          <a:xfrm>
            <a:off x="992665" y="3228896"/>
            <a:ext cx="7939013" cy="3057774"/>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Clr>
                <a:schemeClr val="dk1"/>
              </a:buClr>
              <a:buSzPts val="1200"/>
              <a:buFont typeface="Calibri"/>
              <a:buNone/>
            </a:pPr>
            <a:endParaRPr/>
          </a:p>
        </p:txBody>
      </p:sp>
      <p:sp>
        <p:nvSpPr>
          <p:cNvPr id="508" name="Google Shape;508;p44:notes"/>
          <p:cNvSpPr>
            <a:spLocks noGrp="1" noRot="1" noChangeAspect="1"/>
          </p:cNvSpPr>
          <p:nvPr>
            <p:ph type="sldImg" idx="2"/>
          </p:nvPr>
        </p:nvSpPr>
        <p:spPr>
          <a:xfrm>
            <a:off x="2697163" y="509588"/>
            <a:ext cx="4529137" cy="2547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icrosoft Yahe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888888"/>
              </a:buClr>
              <a:buSzPts val="1200"/>
              <a:buFont typeface="Microsoft Yahei"/>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sp>
        <p:nvSpPr>
          <p:cNvPr id="28" name="Google Shape;28;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2"/>
        <p:cNvGrpSpPr/>
        <p:nvPr/>
      </p:nvGrpSpPr>
      <p:grpSpPr>
        <a:xfrm>
          <a:off x="0" y="0"/>
          <a:ext cx="0" cy="0"/>
          <a:chOff x="0" y="0"/>
          <a:chExt cx="0" cy="0"/>
        </a:xfrm>
      </p:grpSpPr>
      <p:sp>
        <p:nvSpPr>
          <p:cNvPr id="53" name="Google Shape;53;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6"/>
        <p:cNvGrpSpPr/>
        <p:nvPr/>
      </p:nvGrpSpPr>
      <p:grpSpPr>
        <a:xfrm>
          <a:off x="0" y="0"/>
          <a:ext cx="0" cy="0"/>
          <a:chOff x="0" y="0"/>
          <a:chExt cx="0" cy="0"/>
        </a:xfrm>
      </p:grpSpPr>
      <p:sp>
        <p:nvSpPr>
          <p:cNvPr id="67" name="Google Shape;6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a:spLocks noGrp="1"/>
          </p:cNvSpPr>
          <p:nvPr>
            <p:ph type="pic" idx="2"/>
          </p:nvPr>
        </p:nvSpPr>
        <p:spPr>
          <a:xfrm>
            <a:off x="5183188" y="987425"/>
            <a:ext cx="6172200" cy="4873625"/>
          </a:xfrm>
          <a:prstGeom prst="rect">
            <a:avLst/>
          </a:prstGeom>
          <a:noFill/>
          <a:ln>
            <a:noFill/>
          </a:ln>
        </p:spPr>
      </p:sp>
      <p:sp>
        <p:nvSpPr>
          <p:cNvPr id="80" name="Google Shape;80;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2"/>
        <p:cNvGrpSpPr/>
        <p:nvPr/>
      </p:nvGrpSpPr>
      <p:grpSpPr>
        <a:xfrm>
          <a:off x="0" y="0"/>
          <a:ext cx="0" cy="0"/>
          <a:chOff x="0" y="0"/>
          <a:chExt cx="0" cy="0"/>
        </a:xfrm>
      </p:grpSpPr>
      <p:sp>
        <p:nvSpPr>
          <p:cNvPr id="103" name="Google Shape;103;p1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4" name="Google Shape;104;p1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5" name="Google Shape;105;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1pPr>
            <a:lvl2pPr marL="0" marR="0" lvl="1"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2pPr>
            <a:lvl3pPr marL="0" marR="0" lvl="2"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3pPr>
            <a:lvl4pPr marL="0" marR="0" lvl="3"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4pPr>
            <a:lvl5pPr marL="0" marR="0" lvl="4"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5pPr>
            <a:lvl6pPr marL="0" marR="0" lvl="5"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6pPr>
            <a:lvl7pPr marL="0" marR="0" lvl="6"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7pPr>
            <a:lvl8pPr marL="0" marR="0" lvl="7"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8pPr>
            <a:lvl9pPr marL="0" marR="0" lvl="8" indent="0" algn="r">
              <a:lnSpc>
                <a:spcPct val="100000"/>
              </a:lnSpc>
              <a:spcBef>
                <a:spcPts val="0"/>
              </a:spcBef>
              <a:spcAft>
                <a:spcPts val="0"/>
              </a:spcAft>
              <a:buClr>
                <a:srgbClr val="4472C4"/>
              </a:buClr>
              <a:buSzPts val="900"/>
              <a:buFont typeface="Tahoma"/>
              <a:buNone/>
              <a:defRPr sz="900" b="0" i="0" u="none" strike="noStrike" cap="none">
                <a:solidFill>
                  <a:srgbClr val="4472C4"/>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 /><Relationship Id="rId13" Type="http://schemas.openxmlformats.org/officeDocument/2006/relationships/image" Target="../media/image1.jpg" /><Relationship Id="rId3" Type="http://schemas.openxmlformats.org/officeDocument/2006/relationships/slideLayout" Target="../slideLayouts/slideLayout4.xml" /><Relationship Id="rId7" Type="http://schemas.openxmlformats.org/officeDocument/2006/relationships/slideLayout" Target="../slideLayouts/slideLayout8.xml" /><Relationship Id="rId12" Type="http://schemas.openxmlformats.org/officeDocument/2006/relationships/theme" Target="../theme/theme2.xml" /><Relationship Id="rId2" Type="http://schemas.openxmlformats.org/officeDocument/2006/relationships/slideLayout" Target="../slideLayouts/slideLayout3.xml" /><Relationship Id="rId1" Type="http://schemas.openxmlformats.org/officeDocument/2006/relationships/slideLayout" Target="../slideLayouts/slideLayout2.xml" /><Relationship Id="rId6" Type="http://schemas.openxmlformats.org/officeDocument/2006/relationships/slideLayout" Target="../slideLayouts/slideLayout7.xml" /><Relationship Id="rId11" Type="http://schemas.openxmlformats.org/officeDocument/2006/relationships/slideLayout" Target="../slideLayouts/slideLayout12.xml" /><Relationship Id="rId5" Type="http://schemas.openxmlformats.org/officeDocument/2006/relationships/slideLayout" Target="../slideLayouts/slideLayout6.xml" /><Relationship Id="rId10" Type="http://schemas.openxmlformats.org/officeDocument/2006/relationships/slideLayout" Target="../slideLayouts/slideLayout11.xml" /><Relationship Id="rId4" Type="http://schemas.openxmlformats.org/officeDocument/2006/relationships/slideLayout" Target="../slideLayouts/slideLayout5.xml" /><Relationship Id="rId9" Type="http://schemas.openxmlformats.org/officeDocument/2006/relationships/slideLayout" Target="../slideLayouts/slideLayout10.xml" /></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theme" Target="../theme/theme3.xml" /><Relationship Id="rId1" Type="http://schemas.openxmlformats.org/officeDocument/2006/relationships/slideLayout" Target="../slideLayouts/slideLayout1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icrosoft Yahei"/>
              <a:buNone/>
              <a:defRPr sz="4400" b="0" i="0" u="none" strike="noStrike" cap="none">
                <a:solidFill>
                  <a:schemeClr val="dk1"/>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icrosoft Yahei"/>
                <a:ea typeface="Microsoft Yahei"/>
                <a:cs typeface="Microsoft Yahei"/>
                <a:sym typeface="Microsoft Yahe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icrosoft Yahei"/>
                <a:ea typeface="Microsoft Yahei"/>
                <a:cs typeface="Microsoft Yahei"/>
                <a:sym typeface="Microsoft Yahe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icrosoft Yahei"/>
                <a:ea typeface="Microsoft Yahei"/>
                <a:cs typeface="Microsoft Yahei"/>
                <a:sym typeface="Microsoft Yahe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99" name="Google Shape;99;p1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0" name="Google Shape;100;p1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1pPr>
            <a:lvl2pPr marL="0" marR="0" lvl="1"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2pPr>
            <a:lvl3pPr marL="0" marR="0" lvl="2"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3pPr>
            <a:lvl4pPr marL="0" marR="0" lvl="3"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4pPr>
            <a:lvl5pPr marL="0" marR="0" lvl="4"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5pPr>
            <a:lvl6pPr marL="0" marR="0" lvl="5"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6pPr>
            <a:lvl7pPr marL="0" marR="0" lvl="6"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7pPr>
            <a:lvl8pPr marL="0" marR="0" lvl="7"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8pPr>
            <a:lvl9pPr marL="0" marR="0" lvl="8" indent="0" algn="r" rtl="0">
              <a:lnSpc>
                <a:spcPct val="100000"/>
              </a:lnSpc>
              <a:spcBef>
                <a:spcPts val="0"/>
              </a:spcBef>
              <a:spcAft>
                <a:spcPts val="0"/>
              </a:spcAft>
              <a:buClr>
                <a:schemeClr val="accent1"/>
              </a:buClr>
              <a:buSzPts val="900"/>
              <a:buFont typeface="Tahoma"/>
              <a:buNone/>
              <a:defRPr sz="900" b="0" i="0" u="none" strike="noStrike" cap="none">
                <a:solidFill>
                  <a:schemeClr val="accent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0" r:id="rId1"/>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2.xml" /><Relationship Id="rId1" Type="http://schemas.openxmlformats.org/officeDocument/2006/relationships/slideLayout" Target="../slideLayouts/slideLayout2.xml" /><Relationship Id="rId4" Type="http://schemas.openxmlformats.org/officeDocument/2006/relationships/image" Target="../media/image5.png"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0.xml"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2.xml" /><Relationship Id="rId1" Type="http://schemas.openxmlformats.org/officeDocument/2006/relationships/slideLayout" Target="../slideLayouts/slideLayout3.xml" /><Relationship Id="rId4" Type="http://schemas.openxmlformats.org/officeDocument/2006/relationships/image" Target="../media/image10.png" /></Relationships>
</file>

<file path=ppt/slides/_rels/slide13.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3.xml" /><Relationship Id="rId1" Type="http://schemas.openxmlformats.org/officeDocument/2006/relationships/slideLayout" Target="../slideLayouts/slideLayout3.xml" /><Relationship Id="rId4" Type="http://schemas.openxmlformats.org/officeDocument/2006/relationships/image" Target="../media/image12.png"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5.xml"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3.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3.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3.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3.xml" /></Relationships>
</file>

<file path=ppt/slides/_rels/slide23.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23.xml" /><Relationship Id="rId1" Type="http://schemas.openxmlformats.org/officeDocument/2006/relationships/slideLayout" Target="../slideLayouts/slideLayout3.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3.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3.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3.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3.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3.xml" /></Relationships>
</file>

<file path=ppt/slides/_rels/slide29.xml.rels><?xml version="1.0" encoding="UTF-8" standalone="yes"?>
<Relationships xmlns="http://schemas.openxmlformats.org/package/2006/relationships"><Relationship Id="rId3" Type="http://schemas.openxmlformats.org/officeDocument/2006/relationships/image" Target="../media/image15.jpg" /><Relationship Id="rId2" Type="http://schemas.openxmlformats.org/officeDocument/2006/relationships/notesSlide" Target="../notesSlides/notesSlide29.xml" /><Relationship Id="rId1" Type="http://schemas.openxmlformats.org/officeDocument/2006/relationships/slideLayout" Target="../slideLayouts/slideLayout3.xml" /><Relationship Id="rId5" Type="http://schemas.openxmlformats.org/officeDocument/2006/relationships/image" Target="../media/image17.png" /><Relationship Id="rId4" Type="http://schemas.openxmlformats.org/officeDocument/2006/relationships/image" Target="../media/image16.png"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3.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3.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3.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3.xml" /></Relationships>
</file>

<file path=ppt/slides/_rels/slide34.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34.xml" /><Relationship Id="rId1" Type="http://schemas.openxmlformats.org/officeDocument/2006/relationships/slideLayout" Target="../slideLayouts/slideLayout3.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3.xml" /></Relationships>
</file>

<file path=ppt/slides/_rels/slide36.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36.xml" /><Relationship Id="rId1" Type="http://schemas.openxmlformats.org/officeDocument/2006/relationships/slideLayout" Target="../slideLayouts/slideLayout3.xml" /></Relationships>
</file>

<file path=ppt/slides/_rels/slide37.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37.xml" /><Relationship Id="rId1" Type="http://schemas.openxmlformats.org/officeDocument/2006/relationships/slideLayout" Target="../slideLayouts/slideLayout3.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3.xml" /></Relationships>
</file>

<file path=ppt/slides/_rels/slide39.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39.xml" /><Relationship Id="rId1" Type="http://schemas.openxmlformats.org/officeDocument/2006/relationships/slideLayout" Target="../slideLayouts/slideLayout3.xml" /><Relationship Id="rId4" Type="http://schemas.openxmlformats.org/officeDocument/2006/relationships/image" Target="../media/image22.png" /></Relationships>
</file>

<file path=ppt/slides/_rels/slide40.xml.rels><?xml version="1.0" encoding="UTF-8" standalone="yes"?>
<Relationships xmlns="http://schemas.openxmlformats.org/package/2006/relationships"><Relationship Id="rId3" Type="http://schemas.openxmlformats.org/officeDocument/2006/relationships/image" Target="../media/image23.png" /><Relationship Id="rId2" Type="http://schemas.openxmlformats.org/officeDocument/2006/relationships/notesSlide" Target="../notesSlides/notesSlide40.xml" /><Relationship Id="rId1" Type="http://schemas.openxmlformats.org/officeDocument/2006/relationships/slideLayout" Target="../slideLayouts/slideLayout3.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 /><Relationship Id="rId1" Type="http://schemas.openxmlformats.org/officeDocument/2006/relationships/slideLayout" Target="../slideLayouts/slideLayout3.xml" /></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3.xml" /></Relationships>
</file>

<file path=ppt/slides/_rels/slide43.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43.xml" /><Relationship Id="rId1" Type="http://schemas.openxmlformats.org/officeDocument/2006/relationships/slideLayout" Target="../slideLayouts/slideLayout3.xml" /></Relationships>
</file>

<file path=ppt/slides/_rels/slide44.xml.rels><?xml version="1.0" encoding="UTF-8" standalone="yes"?>
<Relationships xmlns="http://schemas.openxmlformats.org/package/2006/relationships"><Relationship Id="rId3" Type="http://schemas.openxmlformats.org/officeDocument/2006/relationships/image" Target="../media/image25.jpg" /><Relationship Id="rId2" Type="http://schemas.openxmlformats.org/officeDocument/2006/relationships/notesSlide" Target="../notesSlides/notesSlide44.xml" /><Relationship Id="rId1"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7" descr="Top HVAC Associations in Canada 2020 | GS HVACR"/>
          <p:cNvPicPr preferRelativeResize="0"/>
          <p:nvPr/>
        </p:nvPicPr>
        <p:blipFill rotWithShape="1">
          <a:blip r:embed="rId3">
            <a:alphaModFix/>
          </a:blip>
          <a:srcRect/>
          <a:stretch/>
        </p:blipFill>
        <p:spPr>
          <a:xfrm rot="1186320">
            <a:off x="8079945" y="764766"/>
            <a:ext cx="4001052" cy="5098417"/>
          </a:xfrm>
          <a:prstGeom prst="rect">
            <a:avLst/>
          </a:prstGeom>
          <a:noFill/>
          <a:ln>
            <a:noFill/>
          </a:ln>
        </p:spPr>
      </p:pic>
      <p:sp>
        <p:nvSpPr>
          <p:cNvPr id="111" name="Google Shape;111;p17"/>
          <p:cNvSpPr/>
          <p:nvPr/>
        </p:nvSpPr>
        <p:spPr>
          <a:xfrm flipH="1">
            <a:off x="10285416" y="4514756"/>
            <a:ext cx="2347859" cy="2336800"/>
          </a:xfrm>
          <a:custGeom>
            <a:avLst/>
            <a:gdLst/>
            <a:ahLst/>
            <a:cxnLst/>
            <a:rect l="l" t="t" r="r" b="b"/>
            <a:pathLst>
              <a:path w="2574608" h="2562481" extrusionOk="0">
                <a:moveTo>
                  <a:pt x="1324610" y="0"/>
                </a:moveTo>
                <a:cubicBezTo>
                  <a:pt x="1087067" y="448733"/>
                  <a:pt x="219234" y="2122701"/>
                  <a:pt x="0" y="2562481"/>
                </a:cubicBezTo>
                <a:lnTo>
                  <a:pt x="2574608" y="2562481"/>
                </a:lnTo>
                <a:lnTo>
                  <a:pt x="1324610" y="0"/>
                </a:lnTo>
                <a:close/>
              </a:path>
            </a:pathLst>
          </a:custGeom>
          <a:solidFill>
            <a:srgbClr val="0A2A6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FFFFFF"/>
              </a:solidFill>
              <a:latin typeface="Microsoft Yahei"/>
              <a:ea typeface="Microsoft Yahei"/>
              <a:cs typeface="Microsoft Yahei"/>
              <a:sym typeface="Microsoft Yahei"/>
            </a:endParaRPr>
          </a:p>
        </p:txBody>
      </p:sp>
      <p:sp>
        <p:nvSpPr>
          <p:cNvPr id="112" name="Google Shape;112;p17"/>
          <p:cNvSpPr/>
          <p:nvPr/>
        </p:nvSpPr>
        <p:spPr>
          <a:xfrm flipH="1">
            <a:off x="6354217" y="4105162"/>
            <a:ext cx="2961700" cy="5555042"/>
          </a:xfrm>
          <a:custGeom>
            <a:avLst/>
            <a:gdLst/>
            <a:ahLst/>
            <a:cxnLst/>
            <a:rect l="l" t="t" r="r" b="b"/>
            <a:pathLst>
              <a:path w="3645524" h="6097098" extrusionOk="0">
                <a:moveTo>
                  <a:pt x="2043466" y="0"/>
                </a:moveTo>
                <a:lnTo>
                  <a:pt x="0" y="3524912"/>
                </a:lnTo>
                <a:lnTo>
                  <a:pt x="1402962" y="6097098"/>
                </a:lnTo>
                <a:lnTo>
                  <a:pt x="1817037" y="6097098"/>
                </a:lnTo>
                <a:lnTo>
                  <a:pt x="3645524" y="2934447"/>
                </a:lnTo>
                <a:lnTo>
                  <a:pt x="2043466" y="0"/>
                </a:lnTo>
                <a:close/>
              </a:path>
            </a:pathLst>
          </a:custGeom>
          <a:solidFill>
            <a:srgbClr val="0A2A6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FFFFFF"/>
              </a:solidFill>
              <a:latin typeface="Microsoft Yahei"/>
              <a:ea typeface="Microsoft Yahei"/>
              <a:cs typeface="Microsoft Yahei"/>
              <a:sym typeface="Microsoft Yahei"/>
            </a:endParaRPr>
          </a:p>
        </p:txBody>
      </p:sp>
      <p:sp>
        <p:nvSpPr>
          <p:cNvPr id="113" name="Google Shape;113;p17"/>
          <p:cNvSpPr/>
          <p:nvPr/>
        </p:nvSpPr>
        <p:spPr>
          <a:xfrm flipH="1">
            <a:off x="6634011" y="0"/>
            <a:ext cx="3075901" cy="3404021"/>
          </a:xfrm>
          <a:custGeom>
            <a:avLst/>
            <a:gdLst/>
            <a:ahLst/>
            <a:cxnLst/>
            <a:rect l="l" t="t" r="r" b="b"/>
            <a:pathLst>
              <a:path w="3339147" h="3695349" extrusionOk="0">
                <a:moveTo>
                  <a:pt x="3339147" y="0"/>
                </a:moveTo>
                <a:lnTo>
                  <a:pt x="395017" y="0"/>
                </a:lnTo>
                <a:lnTo>
                  <a:pt x="0" y="759430"/>
                </a:lnTo>
                <a:lnTo>
                  <a:pt x="1432551" y="3695349"/>
                </a:lnTo>
                <a:lnTo>
                  <a:pt x="3339147" y="0"/>
                </a:lnTo>
                <a:close/>
              </a:path>
            </a:pathLst>
          </a:custGeom>
          <a:solidFill>
            <a:srgbClr val="0A2A6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FFFFFF"/>
              </a:solidFill>
              <a:latin typeface="Microsoft Yahei"/>
              <a:ea typeface="Microsoft Yahei"/>
              <a:cs typeface="Microsoft Yahei"/>
              <a:sym typeface="Microsoft Yahei"/>
            </a:endParaRPr>
          </a:p>
        </p:txBody>
      </p:sp>
      <p:sp>
        <p:nvSpPr>
          <p:cNvPr id="114" name="Google Shape;114;p17"/>
          <p:cNvSpPr/>
          <p:nvPr/>
        </p:nvSpPr>
        <p:spPr>
          <a:xfrm rot="10800000" flipH="1">
            <a:off x="-1171163" y="3972465"/>
            <a:ext cx="2629697" cy="2910218"/>
          </a:xfrm>
          <a:custGeom>
            <a:avLst/>
            <a:gdLst/>
            <a:ahLst/>
            <a:cxnLst/>
            <a:rect l="l" t="t" r="r" b="b"/>
            <a:pathLst>
              <a:path w="3339147" h="3695349" extrusionOk="0">
                <a:moveTo>
                  <a:pt x="3339147" y="0"/>
                </a:moveTo>
                <a:lnTo>
                  <a:pt x="395017" y="0"/>
                </a:lnTo>
                <a:lnTo>
                  <a:pt x="0" y="759430"/>
                </a:lnTo>
                <a:lnTo>
                  <a:pt x="1432551" y="3695349"/>
                </a:lnTo>
                <a:lnTo>
                  <a:pt x="3339147" y="0"/>
                </a:lnTo>
                <a:close/>
              </a:path>
            </a:pathLst>
          </a:custGeom>
          <a:solidFill>
            <a:srgbClr val="0A2A6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FFFFFF"/>
              </a:solidFill>
              <a:latin typeface="Microsoft Yahei"/>
              <a:ea typeface="Microsoft Yahei"/>
              <a:cs typeface="Microsoft Yahei"/>
              <a:sym typeface="Microsoft Yahei"/>
            </a:endParaRPr>
          </a:p>
        </p:txBody>
      </p:sp>
      <p:sp>
        <p:nvSpPr>
          <p:cNvPr id="115" name="Google Shape;115;p17"/>
          <p:cNvSpPr txBox="1"/>
          <p:nvPr/>
        </p:nvSpPr>
        <p:spPr>
          <a:xfrm>
            <a:off x="1282533" y="340852"/>
            <a:ext cx="5842796"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a:solidFill>
                  <a:srgbClr val="0A2A6C"/>
                </a:solidFill>
                <a:latin typeface="Microsoft Yahei"/>
                <a:ea typeface="Microsoft Yahei"/>
                <a:cs typeface="Microsoft Yahei"/>
                <a:sym typeface="Microsoft Yahei"/>
              </a:rPr>
              <a:t>BAB 2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a:solidFill>
                  <a:srgbClr val="0A2A6C"/>
                </a:solidFill>
                <a:latin typeface="Microsoft Yahei"/>
                <a:ea typeface="Microsoft Yahei"/>
                <a:cs typeface="Microsoft Yahei"/>
                <a:sym typeface="Microsoft Yahei"/>
              </a:rPr>
              <a:t>PENGURUSAN</a:t>
            </a:r>
            <a:endParaRPr sz="6000" b="1" i="0" u="none" strike="noStrike" cap="none">
              <a:solidFill>
                <a:srgbClr val="0A2A6C"/>
              </a:solidFill>
              <a:latin typeface="Microsoft Yahei"/>
              <a:ea typeface="Microsoft Yahei"/>
              <a:cs typeface="Microsoft Yahei"/>
              <a:sym typeface="Microsoft Yahei"/>
            </a:endParaRPr>
          </a:p>
        </p:txBody>
      </p:sp>
      <p:sp>
        <p:nvSpPr>
          <p:cNvPr id="116" name="Google Shape;116;p17"/>
          <p:cNvSpPr txBox="1"/>
          <p:nvPr/>
        </p:nvSpPr>
        <p:spPr>
          <a:xfrm>
            <a:off x="1516094" y="2960063"/>
            <a:ext cx="5407919" cy="156962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4800"/>
              <a:buFont typeface="Arial"/>
              <a:buNone/>
            </a:pPr>
            <a:r>
              <a:rPr lang="en-US" sz="4800" b="1" i="0" u="none" strike="noStrike" cap="none">
                <a:solidFill>
                  <a:schemeClr val="dk1"/>
                </a:solidFill>
                <a:latin typeface="Microsoft Yahei"/>
                <a:ea typeface="Microsoft Yahei"/>
                <a:cs typeface="Microsoft Yahei"/>
                <a:sym typeface="Microsoft Yahei"/>
              </a:rPr>
              <a:t>2.4 KEPIMPINAN &amp; MOTIVASI</a:t>
            </a:r>
            <a:endParaRPr sz="4800" b="1" i="0" u="none" strike="noStrike" cap="none">
              <a:solidFill>
                <a:srgbClr val="000000"/>
              </a:solidFill>
              <a:latin typeface="Arial"/>
              <a:ea typeface="Arial"/>
              <a:cs typeface="Arial"/>
              <a:sym typeface="Arial"/>
            </a:endParaRPr>
          </a:p>
        </p:txBody>
      </p:sp>
      <p:sp>
        <p:nvSpPr>
          <p:cNvPr id="117" name="Google Shape;117;p17"/>
          <p:cNvSpPr/>
          <p:nvPr/>
        </p:nvSpPr>
        <p:spPr>
          <a:xfrm rot="5400000" flipH="1">
            <a:off x="4780727" y="4329271"/>
            <a:ext cx="529947" cy="2196604"/>
          </a:xfrm>
          <a:custGeom>
            <a:avLst/>
            <a:gdLst/>
            <a:ahLst/>
            <a:cxnLst/>
            <a:rect l="l" t="t" r="r" b="b"/>
            <a:pathLst>
              <a:path w="1215429" h="6130926" extrusionOk="0">
                <a:moveTo>
                  <a:pt x="1215429" y="607723"/>
                </a:moveTo>
                <a:lnTo>
                  <a:pt x="1215429" y="1506022"/>
                </a:lnTo>
                <a:lnTo>
                  <a:pt x="1215429" y="2535583"/>
                </a:lnTo>
                <a:lnTo>
                  <a:pt x="1215429" y="2535586"/>
                </a:lnTo>
                <a:lnTo>
                  <a:pt x="1215429" y="3304763"/>
                </a:lnTo>
                <a:lnTo>
                  <a:pt x="1215429" y="3433882"/>
                </a:lnTo>
                <a:lnTo>
                  <a:pt x="1215429" y="3433885"/>
                </a:lnTo>
                <a:lnTo>
                  <a:pt x="1215429" y="4203062"/>
                </a:lnTo>
                <a:lnTo>
                  <a:pt x="1215429" y="4569220"/>
                </a:lnTo>
                <a:lnTo>
                  <a:pt x="1215429" y="5467519"/>
                </a:lnTo>
                <a:lnTo>
                  <a:pt x="1168541" y="5420629"/>
                </a:lnTo>
                <a:lnTo>
                  <a:pt x="1168136" y="5420225"/>
                </a:lnTo>
                <a:lnTo>
                  <a:pt x="607715" y="4859796"/>
                </a:lnTo>
                <a:lnTo>
                  <a:pt x="47294" y="5420225"/>
                </a:lnTo>
                <a:lnTo>
                  <a:pt x="45688" y="5421829"/>
                </a:lnTo>
                <a:lnTo>
                  <a:pt x="1" y="5467519"/>
                </a:lnTo>
                <a:lnTo>
                  <a:pt x="1" y="6130925"/>
                </a:lnTo>
                <a:lnTo>
                  <a:pt x="0" y="6130926"/>
                </a:lnTo>
                <a:lnTo>
                  <a:pt x="0" y="5232627"/>
                </a:lnTo>
                <a:lnTo>
                  <a:pt x="0" y="5232627"/>
                </a:lnTo>
                <a:lnTo>
                  <a:pt x="0" y="4203062"/>
                </a:lnTo>
                <a:lnTo>
                  <a:pt x="0" y="4203063"/>
                </a:lnTo>
                <a:lnTo>
                  <a:pt x="0" y="3304764"/>
                </a:lnTo>
                <a:lnTo>
                  <a:pt x="0" y="3304764"/>
                </a:lnTo>
                <a:cubicBezTo>
                  <a:pt x="0" y="2405750"/>
                  <a:pt x="1" y="1506736"/>
                  <a:pt x="1" y="607723"/>
                </a:cubicBezTo>
                <a:lnTo>
                  <a:pt x="45688" y="562032"/>
                </a:lnTo>
                <a:lnTo>
                  <a:pt x="47294" y="560428"/>
                </a:lnTo>
                <a:lnTo>
                  <a:pt x="607716" y="0"/>
                </a:lnTo>
                <a:lnTo>
                  <a:pt x="1168137" y="560428"/>
                </a:lnTo>
                <a:lnTo>
                  <a:pt x="1168542" y="560833"/>
                </a:lnTo>
                <a:close/>
              </a:path>
            </a:pathLst>
          </a:custGeom>
          <a:solidFill>
            <a:srgbClr val="0A2A6C"/>
          </a:solidFill>
          <a:ln>
            <a:noFill/>
          </a:ln>
          <a:effectLst>
            <a:outerShdw blurRad="50800" dist="165100" dir="8100000" algn="tr" rotWithShape="0">
              <a:srgbClr val="7F7F7F">
                <a:alpha val="6235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7"/>
          <p:cNvSpPr txBox="1"/>
          <p:nvPr/>
        </p:nvSpPr>
        <p:spPr>
          <a:xfrm flipH="1">
            <a:off x="3947397" y="5162579"/>
            <a:ext cx="2196604" cy="529947"/>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FFFFFF"/>
                </a:solidFill>
                <a:latin typeface="Microsoft Yahei"/>
                <a:ea typeface="Microsoft Yahei"/>
                <a:cs typeface="Microsoft Yahei"/>
                <a:sym typeface="Microsoft Yahei"/>
              </a:rPr>
              <a:t>     </a:t>
            </a:r>
            <a:r>
              <a:rPr lang="en-US" sz="1600" b="1" i="0" u="none" strike="noStrike" cap="none">
                <a:solidFill>
                  <a:schemeClr val="lt1"/>
                </a:solidFill>
                <a:latin typeface="Microsoft Yahei"/>
                <a:ea typeface="Microsoft Yahei"/>
                <a:cs typeface="Microsoft Yahei"/>
                <a:sym typeface="Microsoft Yahei"/>
              </a:rPr>
              <a:t>UnitPP_KMS</a:t>
            </a:r>
            <a:endParaRPr sz="1600" b="1" i="0" u="none" strike="noStrike" cap="none">
              <a:solidFill>
                <a:srgbClr val="FFFFFF"/>
              </a:solidFill>
              <a:latin typeface="Microsoft Yahei"/>
              <a:ea typeface="Microsoft Yahei"/>
              <a:cs typeface="Microsoft Yahei"/>
              <a:sym typeface="Microsoft Yahe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14"/>
                                        </p:tgtEl>
                                        <p:attrNameLst>
                                          <p:attrName>style.visibility</p:attrName>
                                        </p:attrNameLst>
                                      </p:cBhvr>
                                      <p:to>
                                        <p:strVal val="visible"/>
                                      </p:to>
                                    </p:set>
                                    <p:anim calcmode="lin" valueType="num">
                                      <p:cBhvr additive="base">
                                        <p:cTn id="7" dur="1000"/>
                                        <p:tgtEl>
                                          <p:spTgt spid="114"/>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112"/>
                                        </p:tgtEl>
                                        <p:attrNameLst>
                                          <p:attrName>style.visibility</p:attrName>
                                        </p:attrNameLst>
                                      </p:cBhvr>
                                      <p:to>
                                        <p:strVal val="visible"/>
                                      </p:to>
                                    </p:set>
                                    <p:animEffect transition="in" filter="fade">
                                      <p:cBhvr>
                                        <p:cTn id="10" dur="500"/>
                                        <p:tgtEl>
                                          <p:spTgt spid="112"/>
                                        </p:tgtEl>
                                      </p:cBhvr>
                                    </p:animEffect>
                                  </p:childTnLst>
                                </p:cTn>
                              </p:par>
                              <p:par>
                                <p:cTn id="11" presetID="2" presetClass="entr" presetSubtype="1" fill="hold" nodeType="withEffect">
                                  <p:stCondLst>
                                    <p:cond delay="750"/>
                                  </p:stCondLst>
                                  <p:childTnLst>
                                    <p:set>
                                      <p:cBhvr>
                                        <p:cTn id="12" dur="1" fill="hold">
                                          <p:stCondLst>
                                            <p:cond delay="0"/>
                                          </p:stCondLst>
                                        </p:cTn>
                                        <p:tgtEl>
                                          <p:spTgt spid="113"/>
                                        </p:tgtEl>
                                        <p:attrNameLst>
                                          <p:attrName>style.visibility</p:attrName>
                                        </p:attrNameLst>
                                      </p:cBhvr>
                                      <p:to>
                                        <p:strVal val="visible"/>
                                      </p:to>
                                    </p:set>
                                    <p:anim calcmode="lin" valueType="num">
                                      <p:cBhvr additive="base">
                                        <p:cTn id="13" dur="1000"/>
                                        <p:tgtEl>
                                          <p:spTgt spid="113"/>
                                        </p:tgtEl>
                                        <p:attrNameLst>
                                          <p:attrName>ppt_y</p:attrName>
                                        </p:attrNameLst>
                                      </p:cBhvr>
                                      <p:tavLst>
                                        <p:tav tm="0">
                                          <p:val>
                                            <p:strVal val="#ppt_y-1"/>
                                          </p:val>
                                        </p:tav>
                                        <p:tav tm="100000">
                                          <p:val>
                                            <p:strVal val="#ppt_y"/>
                                          </p:val>
                                        </p:tav>
                                      </p:tavLst>
                                    </p:anim>
                                  </p:childTnLst>
                                </p:cTn>
                              </p:par>
                              <p:par>
                                <p:cTn id="14" presetID="2" presetClass="entr" presetSubtype="8" fill="hold" nodeType="withEffect">
                                  <p:stCondLst>
                                    <p:cond delay="750"/>
                                  </p:stCondLst>
                                  <p:childTnLst>
                                    <p:set>
                                      <p:cBhvr>
                                        <p:cTn id="15" dur="1" fill="hold">
                                          <p:stCondLst>
                                            <p:cond delay="0"/>
                                          </p:stCondLst>
                                        </p:cTn>
                                        <p:tgtEl>
                                          <p:spTgt spid="111"/>
                                        </p:tgtEl>
                                        <p:attrNameLst>
                                          <p:attrName>style.visibility</p:attrName>
                                        </p:attrNameLst>
                                      </p:cBhvr>
                                      <p:to>
                                        <p:strVal val="visible"/>
                                      </p:to>
                                    </p:set>
                                    <p:anim calcmode="lin" valueType="num">
                                      <p:cBhvr additive="base">
                                        <p:cTn id="16" dur="1000"/>
                                        <p:tgtEl>
                                          <p:spTgt spid="111"/>
                                        </p:tgtEl>
                                        <p:attrNameLst>
                                          <p:attrName>ppt_x</p:attrName>
                                        </p:attrNameLst>
                                      </p:cBhvr>
                                      <p:tavLst>
                                        <p:tav tm="0">
                                          <p:val>
                                            <p:strVal val="#ppt_x-1"/>
                                          </p:val>
                                        </p:tav>
                                        <p:tav tm="100000">
                                          <p:val>
                                            <p:strVal val="#ppt_x"/>
                                          </p:val>
                                        </p:tav>
                                      </p:tavLst>
                                    </p:anim>
                                  </p:childTnLst>
                                </p:cTn>
                              </p:par>
                              <p:par>
                                <p:cTn id="17" presetID="2" presetClass="entr" presetSubtype="8" fill="hold"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1000"/>
                                        <p:tgtEl>
                                          <p:spTgt spid="115"/>
                                        </p:tgtEl>
                                        <p:attrNameLst>
                                          <p:attrName>ppt_x</p:attrName>
                                        </p:attrNameLst>
                                      </p:cBhvr>
                                      <p:tavLst>
                                        <p:tav tm="0">
                                          <p:val>
                                            <p:strVal val="#ppt_x-1"/>
                                          </p:val>
                                        </p:tav>
                                        <p:tav tm="100000">
                                          <p:val>
                                            <p:strVal val="#ppt_x"/>
                                          </p:val>
                                        </p:tav>
                                      </p:tavLst>
                                    </p:anim>
                                  </p:childTnLst>
                                </p:cTn>
                              </p:par>
                              <p:par>
                                <p:cTn id="20" presetID="2" presetClass="entr" presetSubtype="8" fill="hold" nodeType="withEffect">
                                  <p:stCondLst>
                                    <p:cond delay="0"/>
                                  </p:stCondLst>
                                  <p:childTnLst>
                                    <p:set>
                                      <p:cBhvr>
                                        <p:cTn id="21" dur="1" fill="hold">
                                          <p:stCondLst>
                                            <p:cond delay="0"/>
                                          </p:stCondLst>
                                        </p:cTn>
                                        <p:tgtEl>
                                          <p:spTgt spid="116"/>
                                        </p:tgtEl>
                                        <p:attrNameLst>
                                          <p:attrName>style.visibility</p:attrName>
                                        </p:attrNameLst>
                                      </p:cBhvr>
                                      <p:to>
                                        <p:strVal val="visible"/>
                                      </p:to>
                                    </p:set>
                                    <p:anim calcmode="lin" valueType="num">
                                      <p:cBhvr additive="base">
                                        <p:cTn id="22" dur="1000"/>
                                        <p:tgtEl>
                                          <p:spTgt spid="116"/>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7"/>
                                        </p:tgtEl>
                                        <p:attrNameLst>
                                          <p:attrName>style.visibility</p:attrName>
                                        </p:attrNameLst>
                                      </p:cBhvr>
                                      <p:to>
                                        <p:strVal val="visible"/>
                                      </p:to>
                                    </p:set>
                                    <p:animEffect transition="in" filter="fade">
                                      <p:cBhvr>
                                        <p:cTn id="2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18"/>
          <p:cNvPicPr preferRelativeResize="0"/>
          <p:nvPr/>
        </p:nvPicPr>
        <p:blipFill rotWithShape="1">
          <a:blip r:embed="rId3">
            <a:alphaModFix/>
          </a:blip>
          <a:srcRect/>
          <a:stretch/>
        </p:blipFill>
        <p:spPr>
          <a:xfrm>
            <a:off x="-34983" y="-69946"/>
            <a:ext cx="3614231" cy="6526792"/>
          </a:xfrm>
          <a:custGeom>
            <a:avLst/>
            <a:gdLst/>
            <a:ahLst/>
            <a:cxnLst/>
            <a:rect l="l" t="t" r="r" b="b"/>
            <a:pathLst>
              <a:path w="3614231" h="6240132" extrusionOk="0">
                <a:moveTo>
                  <a:pt x="0" y="0"/>
                </a:moveTo>
                <a:lnTo>
                  <a:pt x="3614231" y="3416597"/>
                </a:lnTo>
                <a:lnTo>
                  <a:pt x="0" y="6240132"/>
                </a:lnTo>
                <a:lnTo>
                  <a:pt x="0" y="0"/>
                </a:lnTo>
                <a:close/>
              </a:path>
            </a:pathLst>
          </a:custGeom>
          <a:noFill/>
          <a:ln>
            <a:noFill/>
          </a:ln>
        </p:spPr>
      </p:pic>
      <p:pic>
        <p:nvPicPr>
          <p:cNvPr id="124" name="Google Shape;124;p18"/>
          <p:cNvPicPr preferRelativeResize="0"/>
          <p:nvPr/>
        </p:nvPicPr>
        <p:blipFill rotWithShape="1">
          <a:blip r:embed="rId4">
            <a:alphaModFix/>
          </a:blip>
          <a:srcRect/>
          <a:stretch/>
        </p:blipFill>
        <p:spPr>
          <a:xfrm>
            <a:off x="3271540" y="-69946"/>
            <a:ext cx="6432935" cy="69947"/>
          </a:xfrm>
          <a:custGeom>
            <a:avLst/>
            <a:gdLst/>
            <a:ahLst/>
            <a:cxnLst/>
            <a:rect l="l" t="t" r="r" b="b"/>
            <a:pathLst>
              <a:path w="6432935" h="69947" extrusionOk="0">
                <a:moveTo>
                  <a:pt x="0" y="0"/>
                </a:moveTo>
                <a:lnTo>
                  <a:pt x="6432935" y="0"/>
                </a:lnTo>
                <a:lnTo>
                  <a:pt x="6362987" y="69947"/>
                </a:lnTo>
                <a:lnTo>
                  <a:pt x="69948" y="69947"/>
                </a:lnTo>
                <a:lnTo>
                  <a:pt x="0" y="0"/>
                </a:lnTo>
                <a:close/>
              </a:path>
            </a:pathLst>
          </a:custGeom>
          <a:noFill/>
          <a:ln>
            <a:noFill/>
          </a:ln>
        </p:spPr>
      </p:pic>
      <p:grpSp>
        <p:nvGrpSpPr>
          <p:cNvPr id="125" name="Google Shape;125;p18"/>
          <p:cNvGrpSpPr/>
          <p:nvPr/>
        </p:nvGrpSpPr>
        <p:grpSpPr>
          <a:xfrm>
            <a:off x="4977268" y="1311415"/>
            <a:ext cx="6065411" cy="646331"/>
            <a:chOff x="4340249" y="2755062"/>
            <a:chExt cx="3745833" cy="608813"/>
          </a:xfrm>
        </p:grpSpPr>
        <p:sp>
          <p:nvSpPr>
            <p:cNvPr id="126" name="Google Shape;126;p18"/>
            <p:cNvSpPr txBox="1"/>
            <p:nvPr/>
          </p:nvSpPr>
          <p:spPr>
            <a:xfrm>
              <a:off x="4340249" y="2755062"/>
              <a:ext cx="854944" cy="608813"/>
            </a:xfrm>
            <a:prstGeom prst="rect">
              <a:avLst/>
            </a:prstGeom>
            <a:solidFill>
              <a:srgbClr val="0A2A6C"/>
            </a:solid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2.4.1</a:t>
              </a:r>
              <a:endParaRPr sz="3600" b="1" i="0" u="none" strike="noStrike" cap="none">
                <a:solidFill>
                  <a:schemeClr val="lt1"/>
                </a:solidFill>
                <a:latin typeface="Calibri"/>
                <a:ea typeface="Calibri"/>
                <a:cs typeface="Calibri"/>
                <a:sym typeface="Calibri"/>
              </a:endParaRPr>
            </a:p>
          </p:txBody>
        </p:sp>
        <p:sp>
          <p:nvSpPr>
            <p:cNvPr id="127" name="Google Shape;127;p18"/>
            <p:cNvSpPr txBox="1"/>
            <p:nvPr/>
          </p:nvSpPr>
          <p:spPr>
            <a:xfrm>
              <a:off x="5195193" y="2760514"/>
              <a:ext cx="2890889" cy="4928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3A3838"/>
                  </a:solidFill>
                  <a:latin typeface="Calibri"/>
                  <a:ea typeface="Calibri"/>
                  <a:cs typeface="Calibri"/>
                  <a:sym typeface="Calibri"/>
                </a:rPr>
                <a:t>Pengenalan </a:t>
              </a:r>
              <a:r>
                <a:rPr lang="en-US" sz="2800" b="1" i="0" u="none" strike="noStrike" cap="none">
                  <a:solidFill>
                    <a:srgbClr val="3A3838"/>
                  </a:solidFill>
                  <a:latin typeface="Calibri"/>
                  <a:ea typeface="Calibri"/>
                  <a:cs typeface="Calibri"/>
                  <a:sym typeface="Calibri"/>
                </a:rPr>
                <a:t>Kepimpinan</a:t>
              </a:r>
              <a:endParaRPr sz="2800" b="1" i="0" u="none" strike="noStrike" cap="none">
                <a:solidFill>
                  <a:srgbClr val="3A3838"/>
                </a:solidFill>
                <a:latin typeface="Calibri"/>
                <a:ea typeface="Calibri"/>
                <a:cs typeface="Calibri"/>
                <a:sym typeface="Calibri"/>
              </a:endParaRPr>
            </a:p>
          </p:txBody>
        </p:sp>
      </p:grpSp>
      <p:grpSp>
        <p:nvGrpSpPr>
          <p:cNvPr id="128" name="Google Shape;128;p18"/>
          <p:cNvGrpSpPr/>
          <p:nvPr/>
        </p:nvGrpSpPr>
        <p:grpSpPr>
          <a:xfrm>
            <a:off x="4667649" y="4253924"/>
            <a:ext cx="6096571" cy="646331"/>
            <a:chOff x="4340249" y="2755062"/>
            <a:chExt cx="3745831" cy="814242"/>
          </a:xfrm>
        </p:grpSpPr>
        <p:sp>
          <p:nvSpPr>
            <p:cNvPr id="129" name="Google Shape;129;p18"/>
            <p:cNvSpPr txBox="1"/>
            <p:nvPr/>
          </p:nvSpPr>
          <p:spPr>
            <a:xfrm>
              <a:off x="4340249" y="2755062"/>
              <a:ext cx="891904" cy="814242"/>
            </a:xfrm>
            <a:prstGeom prst="rect">
              <a:avLst/>
            </a:prstGeom>
            <a:solidFill>
              <a:srgbClr val="0A2A6C"/>
            </a:solid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Calibri"/>
                  <a:ea typeface="Calibri"/>
                  <a:cs typeface="Calibri"/>
                  <a:sym typeface="Calibri"/>
                </a:rPr>
                <a:t>2.4.2</a:t>
              </a:r>
              <a:endParaRPr sz="3600" b="1" i="0" u="none" strike="noStrike" cap="none">
                <a:solidFill>
                  <a:schemeClr val="lt1"/>
                </a:solidFill>
                <a:latin typeface="Calibri"/>
                <a:ea typeface="Calibri"/>
                <a:cs typeface="Calibri"/>
                <a:sym typeface="Calibri"/>
              </a:endParaRPr>
            </a:p>
          </p:txBody>
        </p:sp>
        <p:sp>
          <p:nvSpPr>
            <p:cNvPr id="130" name="Google Shape;130;p18"/>
            <p:cNvSpPr txBox="1"/>
            <p:nvPr/>
          </p:nvSpPr>
          <p:spPr>
            <a:xfrm>
              <a:off x="5257411" y="2760514"/>
              <a:ext cx="2828669" cy="6590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3A3838"/>
                  </a:solidFill>
                  <a:latin typeface="Calibri"/>
                  <a:ea typeface="Calibri"/>
                  <a:cs typeface="Calibri"/>
                  <a:sym typeface="Calibri"/>
                </a:rPr>
                <a:t>Pengenalan Motivasi</a:t>
              </a:r>
              <a:endParaRPr sz="2800" b="1" i="0" u="none" strike="noStrike" cap="none">
                <a:solidFill>
                  <a:srgbClr val="3A3838"/>
                </a:solidFill>
                <a:latin typeface="Calibri"/>
                <a:ea typeface="Calibri"/>
                <a:cs typeface="Calibri"/>
                <a:sym typeface="Calibri"/>
              </a:endParaRPr>
            </a:p>
          </p:txBody>
        </p:sp>
      </p:grpSp>
      <p:sp>
        <p:nvSpPr>
          <p:cNvPr id="131" name="Google Shape;131;p18"/>
          <p:cNvSpPr/>
          <p:nvPr/>
        </p:nvSpPr>
        <p:spPr>
          <a:xfrm rot="5400000">
            <a:off x="1689998" y="-1217168"/>
            <a:ext cx="2434284" cy="4868621"/>
          </a:xfrm>
          <a:custGeom>
            <a:avLst/>
            <a:gdLst/>
            <a:ahLst/>
            <a:cxnLst/>
            <a:rect l="l" t="t" r="r" b="b"/>
            <a:pathLst>
              <a:path w="3216433" h="6432936" extrusionOk="0">
                <a:moveTo>
                  <a:pt x="0" y="6432936"/>
                </a:moveTo>
                <a:lnTo>
                  <a:pt x="0" y="0"/>
                </a:lnTo>
                <a:lnTo>
                  <a:pt x="3216433" y="3216468"/>
                </a:lnTo>
                <a:close/>
              </a:path>
            </a:pathLst>
          </a:custGeom>
          <a:solidFill>
            <a:srgbClr val="0A2A6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2" name="Google Shape;132;p18"/>
          <p:cNvSpPr txBox="1"/>
          <p:nvPr/>
        </p:nvSpPr>
        <p:spPr>
          <a:xfrm>
            <a:off x="5308272" y="287222"/>
            <a:ext cx="270170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A2A6C"/>
                </a:solidFill>
                <a:latin typeface="Calibri"/>
                <a:ea typeface="Calibri"/>
                <a:cs typeface="Calibri"/>
                <a:sym typeface="Calibri"/>
              </a:rPr>
              <a:t>SUB TOPIK</a:t>
            </a:r>
            <a:endParaRPr sz="4400" b="1" i="0" u="none" strike="noStrike" cap="none">
              <a:solidFill>
                <a:srgbClr val="0A2A6C"/>
              </a:solidFill>
              <a:latin typeface="Calibri"/>
              <a:ea typeface="Calibri"/>
              <a:cs typeface="Calibri"/>
              <a:sym typeface="Calibri"/>
            </a:endParaRPr>
          </a:p>
        </p:txBody>
      </p:sp>
      <p:sp>
        <p:nvSpPr>
          <p:cNvPr id="133" name="Google Shape;133;p18"/>
          <p:cNvSpPr txBox="1"/>
          <p:nvPr/>
        </p:nvSpPr>
        <p:spPr>
          <a:xfrm>
            <a:off x="9704475" y="391179"/>
            <a:ext cx="211949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A2A6C"/>
              </a:solidFill>
              <a:latin typeface="Calibri"/>
              <a:ea typeface="Calibri"/>
              <a:cs typeface="Calibri"/>
              <a:sym typeface="Calibri"/>
            </a:endParaRPr>
          </a:p>
        </p:txBody>
      </p:sp>
      <p:sp>
        <p:nvSpPr>
          <p:cNvPr id="134" name="Google Shape;134;p18"/>
          <p:cNvSpPr/>
          <p:nvPr/>
        </p:nvSpPr>
        <p:spPr>
          <a:xfrm rot="8555128">
            <a:off x="231422" y="5499814"/>
            <a:ext cx="3372318" cy="1903724"/>
          </a:xfrm>
          <a:prstGeom prst="triangle">
            <a:avLst>
              <a:gd name="adj" fmla="val 26807"/>
            </a:avLst>
          </a:prstGeom>
          <a:solidFill>
            <a:srgbClr val="0A2A6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18"/>
          <p:cNvSpPr txBox="1"/>
          <p:nvPr/>
        </p:nvSpPr>
        <p:spPr>
          <a:xfrm>
            <a:off x="6438846" y="2169542"/>
            <a:ext cx="5129377" cy="1573118"/>
          </a:xfrm>
          <a:prstGeom prst="rect">
            <a:avLst/>
          </a:prstGeom>
          <a:noFill/>
          <a:ln>
            <a:noFill/>
          </a:ln>
        </p:spPr>
        <p:txBody>
          <a:bodyPr spcFirstLastPara="1" wrap="square" lIns="91425" tIns="45700" rIns="91425" bIns="45700" anchor="t" anchorCtr="0">
            <a:spAutoFit/>
          </a:bodyPr>
          <a:lstStyle/>
          <a:p>
            <a:pPr marL="228600" marR="0" lvl="0" indent="-228600" algn="l" rtl="0">
              <a:lnSpc>
                <a:spcPct val="100000"/>
              </a:lnSpc>
              <a:spcBef>
                <a:spcPts val="0"/>
              </a:spcBef>
              <a:spcAft>
                <a:spcPts val="0"/>
              </a:spcAft>
              <a:buClr>
                <a:srgbClr val="757070"/>
              </a:buClr>
              <a:buSzPts val="2200"/>
              <a:buFont typeface="Calibri"/>
              <a:buAutoNum type="alphaLcPeriod"/>
            </a:pPr>
            <a:r>
              <a:rPr lang="en-US" sz="2400" b="1" i="0" u="none" strike="noStrike" cap="none">
                <a:solidFill>
                  <a:srgbClr val="757070"/>
                </a:solidFill>
                <a:latin typeface="Calibri"/>
                <a:ea typeface="Calibri"/>
                <a:cs typeface="Calibri"/>
                <a:sym typeface="Calibri"/>
              </a:rPr>
              <a:t>Takrif Kepimpinan</a:t>
            </a:r>
            <a:endParaRPr sz="2400" b="1" i="0" u="none" strike="noStrike" cap="none">
              <a:solidFill>
                <a:srgbClr val="757070"/>
              </a:solidFill>
              <a:latin typeface="Calibri"/>
              <a:ea typeface="Calibri"/>
              <a:cs typeface="Calibri"/>
              <a:sym typeface="Calibri"/>
            </a:endParaRPr>
          </a:p>
          <a:p>
            <a:pPr marL="228600" marR="0" lvl="0" indent="-228600" algn="l" rtl="0">
              <a:lnSpc>
                <a:spcPct val="100000"/>
              </a:lnSpc>
              <a:spcBef>
                <a:spcPts val="0"/>
              </a:spcBef>
              <a:spcAft>
                <a:spcPts val="0"/>
              </a:spcAft>
              <a:buClr>
                <a:srgbClr val="757070"/>
              </a:buClr>
              <a:buSzPts val="2200"/>
              <a:buFont typeface="Calibri"/>
              <a:buAutoNum type="alphaLcPeriod"/>
            </a:pPr>
            <a:r>
              <a:rPr lang="en-US" sz="2400" b="1" i="0" u="none" strike="noStrike" cap="none">
                <a:solidFill>
                  <a:srgbClr val="757070"/>
                </a:solidFill>
                <a:latin typeface="Calibri"/>
                <a:ea typeface="Calibri"/>
                <a:cs typeface="Calibri"/>
                <a:sym typeface="Calibri"/>
              </a:rPr>
              <a:t>Perbandingan Pemimpin dan Pengurus</a:t>
            </a:r>
            <a:endParaRPr sz="2400" b="1" i="0" u="none" strike="noStrike" cap="none">
              <a:solidFill>
                <a:srgbClr val="757070"/>
              </a:solidFill>
              <a:latin typeface="Calibri"/>
              <a:ea typeface="Calibri"/>
              <a:cs typeface="Calibri"/>
              <a:sym typeface="Calibri"/>
            </a:endParaRPr>
          </a:p>
          <a:p>
            <a:pPr marL="228600" marR="0" lvl="0" indent="-228600" algn="l" rtl="0">
              <a:lnSpc>
                <a:spcPct val="100000"/>
              </a:lnSpc>
              <a:spcBef>
                <a:spcPts val="0"/>
              </a:spcBef>
              <a:spcAft>
                <a:spcPts val="0"/>
              </a:spcAft>
              <a:buClr>
                <a:srgbClr val="757070"/>
              </a:buClr>
              <a:buSzPts val="2200"/>
              <a:buFont typeface="Calibri"/>
              <a:buAutoNum type="alphaLcPeriod"/>
            </a:pPr>
            <a:r>
              <a:rPr lang="en-US" sz="2400" b="1" i="0" u="none" strike="noStrike" cap="none">
                <a:solidFill>
                  <a:srgbClr val="757070"/>
                </a:solidFill>
                <a:latin typeface="Calibri"/>
                <a:ea typeface="Calibri"/>
                <a:cs typeface="Calibri"/>
                <a:sym typeface="Calibri"/>
              </a:rPr>
              <a:t>Gaya Kepimpinan</a:t>
            </a:r>
            <a:endParaRPr sz="2400" b="1" i="0" u="none" strike="noStrike" cap="none">
              <a:solidFill>
                <a:srgbClr val="757070"/>
              </a:solidFill>
              <a:latin typeface="Calibri"/>
              <a:ea typeface="Calibri"/>
              <a:cs typeface="Calibri"/>
              <a:sym typeface="Calibri"/>
            </a:endParaRPr>
          </a:p>
        </p:txBody>
      </p:sp>
      <p:sp>
        <p:nvSpPr>
          <p:cNvPr id="136" name="Google Shape;136;p18"/>
          <p:cNvSpPr txBox="1"/>
          <p:nvPr/>
        </p:nvSpPr>
        <p:spPr>
          <a:xfrm>
            <a:off x="6145619" y="5117414"/>
            <a:ext cx="6127700" cy="830956"/>
          </a:xfrm>
          <a:prstGeom prst="rect">
            <a:avLst/>
          </a:prstGeom>
          <a:noFill/>
          <a:ln>
            <a:noFill/>
          </a:ln>
        </p:spPr>
        <p:txBody>
          <a:bodyPr spcFirstLastPara="1" wrap="square" lIns="91425" tIns="45700" rIns="91425" bIns="45700" anchor="t" anchorCtr="0">
            <a:spAutoFit/>
          </a:bodyPr>
          <a:lstStyle/>
          <a:p>
            <a:pPr marL="228600" marR="0" lvl="0" indent="-228600" algn="l" rtl="0">
              <a:lnSpc>
                <a:spcPct val="100000"/>
              </a:lnSpc>
              <a:spcBef>
                <a:spcPts val="0"/>
              </a:spcBef>
              <a:spcAft>
                <a:spcPts val="0"/>
              </a:spcAft>
              <a:buClr>
                <a:srgbClr val="757070"/>
              </a:buClr>
              <a:buSzPts val="2200"/>
              <a:buFont typeface="Calibri"/>
              <a:buAutoNum type="alphaLcPeriod"/>
            </a:pPr>
            <a:r>
              <a:rPr lang="en-US" sz="2400" b="1" i="0" u="none" strike="noStrike" cap="none">
                <a:solidFill>
                  <a:srgbClr val="757070"/>
                </a:solidFill>
                <a:latin typeface="Calibri"/>
                <a:ea typeface="Calibri"/>
                <a:cs typeface="Calibri"/>
                <a:sym typeface="Calibri"/>
              </a:rPr>
              <a:t>Teori – teori Motivasi</a:t>
            </a:r>
            <a:endParaRPr sz="2400" b="1" i="0" u="none" strike="noStrike" cap="none">
              <a:solidFill>
                <a:srgbClr val="757070"/>
              </a:solidFill>
              <a:latin typeface="Calibri"/>
              <a:ea typeface="Calibri"/>
              <a:cs typeface="Calibri"/>
              <a:sym typeface="Calibri"/>
            </a:endParaRPr>
          </a:p>
          <a:p>
            <a:pPr marL="228600" marR="0" lvl="0" indent="-228600" algn="l" rtl="0">
              <a:lnSpc>
                <a:spcPct val="100000"/>
              </a:lnSpc>
              <a:spcBef>
                <a:spcPts val="0"/>
              </a:spcBef>
              <a:spcAft>
                <a:spcPts val="0"/>
              </a:spcAft>
              <a:buClr>
                <a:srgbClr val="757070"/>
              </a:buClr>
              <a:buSzPts val="2200"/>
              <a:buFont typeface="Calibri"/>
              <a:buAutoNum type="alphaLcPeriod"/>
            </a:pPr>
            <a:r>
              <a:rPr lang="en-US" sz="2400" b="1" i="0" u="none" strike="noStrike" cap="none">
                <a:solidFill>
                  <a:srgbClr val="757070"/>
                </a:solidFill>
                <a:latin typeface="Calibri"/>
                <a:ea typeface="Calibri"/>
                <a:cs typeface="Calibri"/>
                <a:sym typeface="Calibri"/>
              </a:rPr>
              <a:t>Kaedah Memotivasikan Pekerja</a:t>
            </a:r>
            <a:endParaRPr sz="2400" b="1" i="0" u="none" strike="noStrike" cap="none">
              <a:solidFill>
                <a:srgbClr val="757070"/>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par>
                                <p:cTn id="8" presetID="10" presetClass="entr" presetSubtype="0" fill="hold" nodeType="withEffect">
                                  <p:stCondLst>
                                    <p:cond delay="0"/>
                                  </p:stCondLst>
                                  <p:childTnLst>
                                    <p:set>
                                      <p:cBhvr>
                                        <p:cTn id="9" dur="1" fill="hold">
                                          <p:stCondLst>
                                            <p:cond delay="0"/>
                                          </p:stCondLst>
                                        </p:cTn>
                                        <p:tgtEl>
                                          <p:spTgt spid="131"/>
                                        </p:tgtEl>
                                        <p:attrNameLst>
                                          <p:attrName>style.visibility</p:attrName>
                                        </p:attrNameLst>
                                      </p:cBhvr>
                                      <p:to>
                                        <p:strVal val="visible"/>
                                      </p:to>
                                    </p:set>
                                    <p:animEffect transition="in" filter="fade">
                                      <p:cBhvr>
                                        <p:cTn id="10" dur="1000"/>
                                        <p:tgtEl>
                                          <p:spTgt spid="131"/>
                                        </p:tgtEl>
                                      </p:cBhvr>
                                    </p:animEffect>
                                  </p:childTnLst>
                                </p:cTn>
                              </p:par>
                              <p:par>
                                <p:cTn id="11" presetID="10" presetClass="entr" presetSubtype="0" fill="hold" nodeType="withEffect">
                                  <p:stCondLst>
                                    <p:cond delay="0"/>
                                  </p:stCondLst>
                                  <p:childTnLst>
                                    <p:set>
                                      <p:cBhvr>
                                        <p:cTn id="12" dur="1" fill="hold">
                                          <p:stCondLst>
                                            <p:cond delay="0"/>
                                          </p:stCondLst>
                                        </p:cTn>
                                        <p:tgtEl>
                                          <p:spTgt spid="134"/>
                                        </p:tgtEl>
                                        <p:attrNameLst>
                                          <p:attrName>style.visibility</p:attrName>
                                        </p:attrNameLst>
                                      </p:cBhvr>
                                      <p:to>
                                        <p:strVal val="visible"/>
                                      </p:to>
                                    </p:set>
                                    <p:animEffect transition="in" filter="fade">
                                      <p:cBhvr>
                                        <p:cTn id="13" dur="500"/>
                                        <p:tgtEl>
                                          <p:spTgt spid="134"/>
                                        </p:tgtEl>
                                      </p:cBhvr>
                                    </p:animEffect>
                                  </p:childTnLst>
                                </p:cTn>
                              </p:par>
                              <p:par>
                                <p:cTn id="14" presetID="10" presetClass="entr" presetSubtype="0" fill="hold" nodeType="withEffect">
                                  <p:stCondLst>
                                    <p:cond delay="0"/>
                                  </p:stCondLst>
                                  <p:childTnLst>
                                    <p:set>
                                      <p:cBhvr>
                                        <p:cTn id="15" dur="1" fill="hold">
                                          <p:stCondLst>
                                            <p:cond delay="0"/>
                                          </p:stCondLst>
                                        </p:cTn>
                                        <p:tgtEl>
                                          <p:spTgt spid="132"/>
                                        </p:tgtEl>
                                        <p:attrNameLst>
                                          <p:attrName>style.visibility</p:attrName>
                                        </p:attrNameLst>
                                      </p:cBhvr>
                                      <p:to>
                                        <p:strVal val="visible"/>
                                      </p:to>
                                    </p:set>
                                    <p:animEffect transition="in" filter="fade">
                                      <p:cBhvr>
                                        <p:cTn id="16" dur="750"/>
                                        <p:tgtEl>
                                          <p:spTgt spid="132"/>
                                        </p:tgtEl>
                                      </p:cBhvr>
                                    </p:animEffect>
                                  </p:childTnLst>
                                </p:cTn>
                              </p:par>
                              <p:par>
                                <p:cTn id="17" presetID="2" presetClass="entr" presetSubtype="8" fill="hold" nodeType="withEffect">
                                  <p:stCondLst>
                                    <p:cond delay="0"/>
                                  </p:stCondLst>
                                  <p:childTnLst>
                                    <p:set>
                                      <p:cBhvr>
                                        <p:cTn id="18" dur="1" fill="hold">
                                          <p:stCondLst>
                                            <p:cond delay="0"/>
                                          </p:stCondLst>
                                        </p:cTn>
                                        <p:tgtEl>
                                          <p:spTgt spid="125"/>
                                        </p:tgtEl>
                                        <p:attrNameLst>
                                          <p:attrName>style.visibility</p:attrName>
                                        </p:attrNameLst>
                                      </p:cBhvr>
                                      <p:to>
                                        <p:strVal val="visible"/>
                                      </p:to>
                                    </p:set>
                                    <p:anim calcmode="lin" valueType="num">
                                      <p:cBhvr additive="base">
                                        <p:cTn id="19" dur="750"/>
                                        <p:tgtEl>
                                          <p:spTgt spid="125"/>
                                        </p:tgtEl>
                                        <p:attrNameLst>
                                          <p:attrName>ppt_x</p:attrName>
                                        </p:attrNameLst>
                                      </p:cBhvr>
                                      <p:tavLst>
                                        <p:tav tm="0">
                                          <p:val>
                                            <p:strVal val="#ppt_x-1"/>
                                          </p:val>
                                        </p:tav>
                                        <p:tav tm="100000">
                                          <p:val>
                                            <p:strVal val="#ppt_x"/>
                                          </p:val>
                                        </p:tav>
                                      </p:tavLst>
                                    </p:anim>
                                  </p:childTnLst>
                                </p:cTn>
                              </p:par>
                              <p:par>
                                <p:cTn id="20" presetID="2" presetClass="entr" presetSubtype="8" fill="hold" nodeType="withEffect">
                                  <p:stCondLst>
                                    <p:cond delay="0"/>
                                  </p:stCondLst>
                                  <p:childTnLst>
                                    <p:set>
                                      <p:cBhvr>
                                        <p:cTn id="21" dur="1" fill="hold">
                                          <p:stCondLst>
                                            <p:cond delay="0"/>
                                          </p:stCondLst>
                                        </p:cTn>
                                        <p:tgtEl>
                                          <p:spTgt spid="128"/>
                                        </p:tgtEl>
                                        <p:attrNameLst>
                                          <p:attrName>style.visibility</p:attrName>
                                        </p:attrNameLst>
                                      </p:cBhvr>
                                      <p:to>
                                        <p:strVal val="visible"/>
                                      </p:to>
                                    </p:set>
                                    <p:anim calcmode="lin" valueType="num">
                                      <p:cBhvr additive="base">
                                        <p:cTn id="22" dur="750"/>
                                        <p:tgtEl>
                                          <p:spTgt spid="12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9"/>
          <p:cNvSpPr txBox="1">
            <a:spLocks noGrp="1"/>
          </p:cNvSpPr>
          <p:nvPr>
            <p:ph type="body" idx="1"/>
          </p:nvPr>
        </p:nvSpPr>
        <p:spPr>
          <a:xfrm>
            <a:off x="2870791" y="1964057"/>
            <a:ext cx="8688389" cy="428788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E6B91E"/>
              </a:buClr>
              <a:buSzPts val="2560"/>
              <a:buNone/>
            </a:pPr>
            <a:r>
              <a:rPr lang="en-US" b="1">
                <a:solidFill>
                  <a:schemeClr val="dk1"/>
                </a:solidFill>
                <a:latin typeface="Federo"/>
                <a:ea typeface="Federo"/>
                <a:cs typeface="Federo"/>
                <a:sym typeface="Federo"/>
              </a:rPr>
              <a:t>a.	TAKRIF KEPIMPINAN</a:t>
            </a:r>
            <a:endParaRPr/>
          </a:p>
          <a:p>
            <a:pPr marL="0" lvl="0" indent="0" algn="l" rtl="0">
              <a:lnSpc>
                <a:spcPct val="100000"/>
              </a:lnSpc>
              <a:spcBef>
                <a:spcPts val="0"/>
              </a:spcBef>
              <a:spcAft>
                <a:spcPts val="0"/>
              </a:spcAft>
              <a:buClr>
                <a:srgbClr val="E6B91E"/>
              </a:buClr>
              <a:buSzPts val="2560"/>
              <a:buNone/>
            </a:pPr>
            <a:endParaRPr b="1">
              <a:solidFill>
                <a:schemeClr val="dk1"/>
              </a:solidFill>
              <a:latin typeface="Federo"/>
              <a:ea typeface="Federo"/>
              <a:cs typeface="Federo"/>
              <a:sym typeface="Federo"/>
            </a:endParaRPr>
          </a:p>
          <a:p>
            <a:pPr marL="466725" lvl="0" indent="-466725" algn="l" rtl="0">
              <a:lnSpc>
                <a:spcPct val="90000"/>
              </a:lnSpc>
              <a:spcBef>
                <a:spcPts val="750"/>
              </a:spcBef>
              <a:spcAft>
                <a:spcPts val="0"/>
              </a:spcAft>
              <a:buClr>
                <a:schemeClr val="dk1"/>
              </a:buClr>
              <a:buSzPts val="2400"/>
              <a:buChar char="•"/>
            </a:pPr>
            <a:r>
              <a:rPr lang="en-US">
                <a:latin typeface="Tahoma"/>
                <a:ea typeface="Tahoma"/>
                <a:cs typeface="Tahoma"/>
                <a:sym typeface="Tahoma"/>
              </a:rPr>
              <a:t>Proses di mana </a:t>
            </a:r>
            <a:r>
              <a:rPr lang="en-US">
                <a:solidFill>
                  <a:srgbClr val="FF0000"/>
                </a:solidFill>
                <a:latin typeface="Tahoma"/>
                <a:ea typeface="Tahoma"/>
                <a:cs typeface="Tahoma"/>
                <a:sym typeface="Tahoma"/>
              </a:rPr>
              <a:t>pengurus bekerja bersama sumber manusia untuk mencapai </a:t>
            </a:r>
            <a:r>
              <a:rPr lang="en-US">
                <a:solidFill>
                  <a:schemeClr val="dk1"/>
                </a:solidFill>
                <a:latin typeface="Tahoma"/>
                <a:ea typeface="Tahoma"/>
                <a:cs typeface="Tahoma"/>
                <a:sym typeface="Tahoma"/>
              </a:rPr>
              <a:t>matlamat organisasi.</a:t>
            </a:r>
            <a:endParaRPr/>
          </a:p>
          <a:p>
            <a:pPr marL="466725" lvl="0" indent="-466725" algn="l" rtl="0">
              <a:lnSpc>
                <a:spcPct val="90000"/>
              </a:lnSpc>
              <a:spcBef>
                <a:spcPts val="750"/>
              </a:spcBef>
              <a:spcAft>
                <a:spcPts val="0"/>
              </a:spcAft>
              <a:buClr>
                <a:schemeClr val="dk1"/>
              </a:buClr>
              <a:buSzPts val="2400"/>
              <a:buChar char="•"/>
            </a:pPr>
            <a:r>
              <a:rPr lang="en-US">
                <a:latin typeface="Tahoma"/>
                <a:ea typeface="Tahoma"/>
                <a:cs typeface="Tahoma"/>
                <a:sym typeface="Tahoma"/>
              </a:rPr>
              <a:t>Proses di mana </a:t>
            </a:r>
            <a:r>
              <a:rPr lang="en-US">
                <a:solidFill>
                  <a:srgbClr val="FF0000"/>
                </a:solidFill>
                <a:latin typeface="Tahoma"/>
                <a:ea typeface="Tahoma"/>
                <a:cs typeface="Tahoma"/>
                <a:sym typeface="Tahoma"/>
              </a:rPr>
              <a:t>pengurus memotivasi, memimpin dan melakukan apa jua tindakan yang melibatkan berurusan dengan manusia </a:t>
            </a:r>
            <a:r>
              <a:rPr lang="en-US">
                <a:solidFill>
                  <a:schemeClr val="dk1"/>
                </a:solidFill>
                <a:latin typeface="Tahoma"/>
                <a:ea typeface="Tahoma"/>
                <a:cs typeface="Tahoma"/>
                <a:sym typeface="Tahoma"/>
              </a:rPr>
              <a:t>untuk mencapai matlamat organisasi.</a:t>
            </a:r>
            <a:endParaRPr>
              <a:solidFill>
                <a:srgbClr val="FF0000"/>
              </a:solidFill>
              <a:latin typeface="Tahoma"/>
              <a:ea typeface="Tahoma"/>
              <a:cs typeface="Tahoma"/>
              <a:sym typeface="Tahoma"/>
            </a:endParaRPr>
          </a:p>
        </p:txBody>
      </p:sp>
      <p:sp>
        <p:nvSpPr>
          <p:cNvPr id="142" name="Google Shape;142;p19"/>
          <p:cNvSpPr txBox="1"/>
          <p:nvPr/>
        </p:nvSpPr>
        <p:spPr>
          <a:xfrm>
            <a:off x="1076687" y="249858"/>
            <a:ext cx="9062993" cy="68646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2.4 KEPIMPINAN DAN MOTIVASI</a:t>
            </a:r>
            <a:endParaRPr sz="2800" b="1" i="0" u="none" strike="noStrike" cap="none">
              <a:solidFill>
                <a:srgbClr val="000000"/>
              </a:solidFill>
              <a:latin typeface="Federo"/>
              <a:ea typeface="Federo"/>
              <a:cs typeface="Federo"/>
              <a:sym typeface="Federo"/>
            </a:endParaRPr>
          </a:p>
        </p:txBody>
      </p:sp>
      <p:sp>
        <p:nvSpPr>
          <p:cNvPr id="143" name="Google Shape;143;p19"/>
          <p:cNvSpPr txBox="1"/>
          <p:nvPr/>
        </p:nvSpPr>
        <p:spPr>
          <a:xfrm>
            <a:off x="2171563" y="936319"/>
            <a:ext cx="6873240"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2.4.1 Pengenalan Kepimpinan </a:t>
            </a:r>
            <a:endParaRPr sz="2800" b="1" i="0" u="none" strike="noStrike" cap="none">
              <a:solidFill>
                <a:srgbClr val="000000"/>
              </a:solidFill>
              <a:latin typeface="Federo"/>
              <a:ea typeface="Federo"/>
              <a:cs typeface="Federo"/>
              <a:sym typeface="Federo"/>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aphicFrame>
        <p:nvGraphicFramePr>
          <p:cNvPr id="148" name="Google Shape;148;p20"/>
          <p:cNvGraphicFramePr/>
          <p:nvPr/>
        </p:nvGraphicFramePr>
        <p:xfrm>
          <a:off x="627322" y="1180466"/>
          <a:ext cx="10450250" cy="5232200"/>
        </p:xfrm>
        <a:graphic>
          <a:graphicData uri="http://schemas.openxmlformats.org/drawingml/2006/table">
            <a:tbl>
              <a:tblPr>
                <a:noFill/>
                <a:tableStyleId>{4CFAC3AD-4AE6-462F-803B-BAEB3055CA9C}</a:tableStyleId>
              </a:tblPr>
              <a:tblGrid>
                <a:gridCol w="2175200">
                  <a:extLst>
                    <a:ext uri="{9D8B030D-6E8A-4147-A177-3AD203B41FA5}">
                      <a16:colId xmlns:a16="http://schemas.microsoft.com/office/drawing/2014/main" val="20000"/>
                    </a:ext>
                  </a:extLst>
                </a:gridCol>
                <a:gridCol w="4113150">
                  <a:extLst>
                    <a:ext uri="{9D8B030D-6E8A-4147-A177-3AD203B41FA5}">
                      <a16:colId xmlns:a16="http://schemas.microsoft.com/office/drawing/2014/main" val="20001"/>
                    </a:ext>
                  </a:extLst>
                </a:gridCol>
                <a:gridCol w="4161900">
                  <a:extLst>
                    <a:ext uri="{9D8B030D-6E8A-4147-A177-3AD203B41FA5}">
                      <a16:colId xmlns:a16="http://schemas.microsoft.com/office/drawing/2014/main" val="20002"/>
                    </a:ext>
                  </a:extLst>
                </a:gridCol>
              </a:tblGrid>
              <a:tr h="820425">
                <a:tc>
                  <a:txBody>
                    <a:bodyPr/>
                    <a:lstStyle/>
                    <a:p>
                      <a:pPr marL="0" marR="0" lvl="0" indent="0" algn="ctr"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                       </a:t>
                      </a:r>
                      <a:endParaRPr sz="1800" u="none" strike="noStrike" cap="none"/>
                    </a:p>
                    <a:p>
                      <a:pPr marL="0" marR="0" lvl="0" indent="0" algn="l"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           ASPEK</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1" i="0" u="none" strike="noStrike" cap="none">
                        <a:solidFill>
                          <a:schemeClr val="dk1"/>
                        </a:solidFill>
                        <a:latin typeface="Tahoma"/>
                        <a:ea typeface="Tahoma"/>
                        <a:cs typeface="Tahoma"/>
                        <a:sym typeface="Tahoma"/>
                      </a:endParaRPr>
                    </a:p>
                    <a:p>
                      <a:pPr marL="0" marR="0" lvl="0" indent="0" algn="ctr"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PEMIMPIN</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chemeClr val="dk1"/>
                        </a:buClr>
                        <a:buSzPts val="2000"/>
                        <a:buFont typeface="Calibri"/>
                        <a:buNone/>
                      </a:pPr>
                      <a:endParaRPr sz="2000" b="1" i="0" u="none" strike="noStrike" cap="none">
                        <a:solidFill>
                          <a:schemeClr val="dk1"/>
                        </a:solidFill>
                        <a:latin typeface="Tahoma"/>
                        <a:ea typeface="Tahoma"/>
                        <a:cs typeface="Tahoma"/>
                        <a:sym typeface="Tahoma"/>
                      </a:endParaRPr>
                    </a:p>
                    <a:p>
                      <a:pPr marL="0" marR="0" lvl="0" indent="0" algn="ctr"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PENGURUS</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947650">
                <a:tc>
                  <a:txBody>
                    <a:bodyPr/>
                    <a:lstStyle/>
                    <a:p>
                      <a:pPr marL="0" marR="0" lvl="0" indent="0" algn="l"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Interaksi </a:t>
                      </a:r>
                      <a:endParaRPr sz="2000" b="1" i="1" u="none" strike="noStrike" cap="none">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ECDE"/>
                    </a:solidFill>
                  </a:tcPr>
                </a:tc>
                <a:tc>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Tahoma"/>
                          <a:ea typeface="Tahoma"/>
                          <a:cs typeface="Tahoma"/>
                          <a:sym typeface="Tahoma"/>
                        </a:rPr>
                        <a:t>Melibatkan interaksi peribadi  dengan pekerja.</a:t>
                      </a:r>
                      <a:endParaRPr sz="4000" b="0" i="0" u="none" strike="noStrike" cap="none">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ECDE"/>
                    </a:solidFill>
                  </a:tcPr>
                </a:tc>
                <a:tc>
                  <a:txBody>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Tidak melibatkan interaksi peribadi dengan pekerja.</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ECDE"/>
                    </a:solidFill>
                  </a:tcPr>
                </a:tc>
                <a:extLst>
                  <a:ext uri="{0D108BD9-81ED-4DB2-BD59-A6C34878D82A}">
                    <a16:rowId xmlns:a16="http://schemas.microsoft.com/office/drawing/2014/main" val="10001"/>
                  </a:ext>
                </a:extLst>
              </a:tr>
              <a:tr h="1005825">
                <a:tc>
                  <a:txBody>
                    <a:bodyPr/>
                    <a:lstStyle/>
                    <a:p>
                      <a:pPr marL="0" marR="0" lvl="0" indent="0" algn="l"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Kedudukan dalam organisasi</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6EF"/>
                    </a:solidFill>
                  </a:tcPr>
                </a:tc>
                <a:tc>
                  <a:txBody>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Tidak semestinya mempunyai kedudukan dan jawatan formal dalam organisasi</a:t>
                      </a:r>
                      <a:endParaRPr sz="2000" b="0" i="0" u="none" strike="noStrike" cap="none">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6EF"/>
                    </a:solidFill>
                  </a:tcPr>
                </a:tc>
                <a:tc>
                  <a:txBody>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Mempunyai kedudukan dan jawatan formal dalam organisasi</a:t>
                      </a:r>
                      <a:endParaRPr sz="2000" b="0" i="0" u="none" strike="noStrike" cap="none">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6EF"/>
                    </a:solidFill>
                  </a:tcPr>
                </a:tc>
                <a:extLst>
                  <a:ext uri="{0D108BD9-81ED-4DB2-BD59-A6C34878D82A}">
                    <a16:rowId xmlns:a16="http://schemas.microsoft.com/office/drawing/2014/main" val="10002"/>
                  </a:ext>
                </a:extLst>
              </a:tr>
              <a:tr h="1005825">
                <a:tc>
                  <a:txBody>
                    <a:bodyPr/>
                    <a:lstStyle/>
                    <a:p>
                      <a:pPr marL="0" marR="0" lvl="0" indent="0" algn="l"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Sikap dan Motivasi</a:t>
                      </a:r>
                      <a:endParaRPr sz="2000" b="1" i="1" u="none" strike="noStrike" cap="none">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ECDE"/>
                    </a:solidFill>
                  </a:tcPr>
                </a:tc>
                <a:tc>
                  <a:txBody>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Aktif dari aspek kemanusiaan disebabkan fungsi mempengaruhi pengikut</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ECDE"/>
                    </a:solidFill>
                  </a:tcPr>
                </a:tc>
                <a:tc>
                  <a:txBody>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Pasif  dari aspek kemanusiaan dan lebih mementingkan pencapaian matlamat (aspek teknikal)</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BECDE"/>
                    </a:solidFill>
                  </a:tcPr>
                </a:tc>
                <a:extLst>
                  <a:ext uri="{0D108BD9-81ED-4DB2-BD59-A6C34878D82A}">
                    <a16:rowId xmlns:a16="http://schemas.microsoft.com/office/drawing/2014/main" val="10003"/>
                  </a:ext>
                </a:extLst>
              </a:tr>
              <a:tr h="1452425">
                <a:tc>
                  <a:txBody>
                    <a:bodyPr/>
                    <a:lstStyle/>
                    <a:p>
                      <a:pPr marL="0" marR="0" lvl="0" indent="0" algn="l" rtl="0">
                        <a:lnSpc>
                          <a:spcPct val="100000"/>
                        </a:lnSpc>
                        <a:spcBef>
                          <a:spcPts val="0"/>
                        </a:spcBef>
                        <a:spcAft>
                          <a:spcPts val="0"/>
                        </a:spcAft>
                        <a:buClr>
                          <a:schemeClr val="dk1"/>
                        </a:buClr>
                        <a:buSzPts val="2000"/>
                        <a:buFont typeface="Tahoma"/>
                        <a:buNone/>
                      </a:pPr>
                      <a:r>
                        <a:rPr lang="en-US" sz="2000" b="1" i="0" u="none" strike="noStrike" cap="none">
                          <a:solidFill>
                            <a:schemeClr val="dk1"/>
                          </a:solidFill>
                          <a:latin typeface="Tahoma"/>
                          <a:ea typeface="Tahoma"/>
                          <a:cs typeface="Tahoma"/>
                          <a:sym typeface="Tahoma"/>
                        </a:rPr>
                        <a:t>Skop Pendekatan</a:t>
                      </a:r>
                      <a:endParaRPr sz="18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6EF"/>
                    </a:solidFill>
                  </a:tcPr>
                </a:tc>
                <a:tc>
                  <a:txBody>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Menangani perubahan dengan bentuk visi tertentu</a:t>
                      </a:r>
                      <a:endParaRPr sz="2000" b="0" i="0" u="none" strike="noStrike" cap="none">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6EF"/>
                    </a:solidFill>
                  </a:tcPr>
                </a:tc>
                <a:tc>
                  <a:txBody>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Menangani kerumitan dan masalah dalam organisasi dan memastikan organisasi berjalan atas landasan yang betul</a:t>
                      </a:r>
                      <a:endParaRPr sz="2000" b="0" i="0" u="none" strike="noStrike" cap="none">
                        <a:solidFill>
                          <a:schemeClr val="dk1"/>
                        </a:solidFill>
                        <a:latin typeface="Tahoma"/>
                        <a:ea typeface="Tahoma"/>
                        <a:cs typeface="Tahoma"/>
                        <a:sym typeface="Tahoma"/>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7F6EF"/>
                    </a:solidFill>
                  </a:tcPr>
                </a:tc>
                <a:extLst>
                  <a:ext uri="{0D108BD9-81ED-4DB2-BD59-A6C34878D82A}">
                    <a16:rowId xmlns:a16="http://schemas.microsoft.com/office/drawing/2014/main" val="10004"/>
                  </a:ext>
                </a:extLst>
              </a:tr>
            </a:tbl>
          </a:graphicData>
        </a:graphic>
      </p:graphicFrame>
      <p:sp>
        <p:nvSpPr>
          <p:cNvPr id="149" name="Google Shape;149;p20"/>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4</a:t>
            </a:fld>
            <a:endParaRPr sz="900">
              <a:solidFill>
                <a:schemeClr val="accent1"/>
              </a:solidFill>
              <a:latin typeface="Tahoma"/>
              <a:ea typeface="Tahoma"/>
              <a:cs typeface="Tahoma"/>
              <a:sym typeface="Tahoma"/>
            </a:endParaRPr>
          </a:p>
        </p:txBody>
      </p:sp>
      <p:sp>
        <p:nvSpPr>
          <p:cNvPr id="150" name="Google Shape;150;p20"/>
          <p:cNvSpPr txBox="1"/>
          <p:nvPr/>
        </p:nvSpPr>
        <p:spPr>
          <a:xfrm>
            <a:off x="2399031" y="658495"/>
            <a:ext cx="6811645" cy="52197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b.	Perbandingan Pemimpin dan Pengurus</a:t>
            </a:r>
            <a:endParaRPr sz="1800" b="0" i="0" u="none" strike="noStrike" cap="none">
              <a:solidFill>
                <a:schemeClr val="dk1"/>
              </a:solidFill>
              <a:latin typeface="Calibri"/>
              <a:ea typeface="Calibri"/>
              <a:cs typeface="Calibri"/>
              <a:sym typeface="Calibri"/>
            </a:endParaRPr>
          </a:p>
        </p:txBody>
      </p:sp>
      <p:sp>
        <p:nvSpPr>
          <p:cNvPr id="151" name="Google Shape;151;p20"/>
          <p:cNvSpPr txBox="1"/>
          <p:nvPr/>
        </p:nvSpPr>
        <p:spPr>
          <a:xfrm>
            <a:off x="1923415" y="57786"/>
            <a:ext cx="6873240"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2.4.1 Pengenalan Kepimpinan </a:t>
            </a:r>
            <a:endParaRPr sz="2800" b="1" i="0" u="none" strike="noStrike" cap="none">
              <a:solidFill>
                <a:srgbClr val="000000"/>
              </a:solidFill>
              <a:latin typeface="Federo"/>
              <a:ea typeface="Federo"/>
              <a:cs typeface="Federo"/>
              <a:sym typeface="Fede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1"/>
          <p:cNvSpPr txBox="1">
            <a:spLocks noGrp="1"/>
          </p:cNvSpPr>
          <p:nvPr>
            <p:ph type="body" idx="1"/>
          </p:nvPr>
        </p:nvSpPr>
        <p:spPr>
          <a:xfrm>
            <a:off x="2933700" y="1382780"/>
            <a:ext cx="8876717" cy="472585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E6B91E"/>
              </a:buClr>
              <a:buSzPts val="1920"/>
              <a:buNone/>
            </a:pPr>
            <a:r>
              <a:rPr lang="en-US" sz="3200" b="1">
                <a:solidFill>
                  <a:srgbClr val="404040"/>
                </a:solidFill>
                <a:latin typeface="Federo"/>
                <a:ea typeface="Federo"/>
                <a:cs typeface="Federo"/>
                <a:sym typeface="Federo"/>
              </a:rPr>
              <a:t>Interaksi</a:t>
            </a:r>
            <a:r>
              <a:rPr lang="en-US" b="1">
                <a:solidFill>
                  <a:srgbClr val="404040"/>
                </a:solidFill>
                <a:latin typeface="Federo"/>
                <a:ea typeface="Federo"/>
                <a:cs typeface="Federo"/>
                <a:sym typeface="Federo"/>
              </a:rPr>
              <a:t> </a:t>
            </a:r>
            <a:endParaRPr/>
          </a:p>
          <a:p>
            <a:pPr marL="0" lvl="0" indent="0" algn="l" rtl="0">
              <a:lnSpc>
                <a:spcPct val="100000"/>
              </a:lnSpc>
              <a:spcBef>
                <a:spcPts val="0"/>
              </a:spcBef>
              <a:spcAft>
                <a:spcPts val="0"/>
              </a:spcAft>
              <a:buClr>
                <a:srgbClr val="E6B91E"/>
              </a:buClr>
              <a:buSzPts val="1920"/>
              <a:buNone/>
            </a:pPr>
            <a:endParaRPr>
              <a:solidFill>
                <a:srgbClr val="404040"/>
              </a:solidFill>
              <a:latin typeface="Calibri"/>
              <a:ea typeface="Calibri"/>
              <a:cs typeface="Calibri"/>
              <a:sym typeface="Calibri"/>
            </a:endParaRPr>
          </a:p>
          <a:p>
            <a:pPr marL="171450" lvl="0" indent="-171450" algn="l" rtl="0">
              <a:lnSpc>
                <a:spcPct val="100000"/>
              </a:lnSpc>
              <a:spcBef>
                <a:spcPts val="0"/>
              </a:spcBef>
              <a:spcAft>
                <a:spcPts val="0"/>
              </a:spcAft>
              <a:buClr>
                <a:srgbClr val="E6B91E"/>
              </a:buClr>
              <a:buSzPts val="1920"/>
              <a:buFont typeface="Arial"/>
              <a:buChar char="•"/>
            </a:pPr>
            <a:r>
              <a:rPr lang="en-US">
                <a:solidFill>
                  <a:srgbClr val="404040"/>
                </a:solidFill>
                <a:latin typeface="Tahoma"/>
                <a:ea typeface="Tahoma"/>
                <a:cs typeface="Tahoma"/>
                <a:sym typeface="Tahoma"/>
              </a:rPr>
              <a:t>Interaksi </a:t>
            </a:r>
            <a:r>
              <a:rPr lang="en-US">
                <a:solidFill>
                  <a:srgbClr val="FF0000"/>
                </a:solidFill>
                <a:latin typeface="Tahoma"/>
                <a:ea typeface="Tahoma"/>
                <a:cs typeface="Tahoma"/>
                <a:sym typeface="Tahoma"/>
              </a:rPr>
              <a:t>pemimpin</a:t>
            </a:r>
            <a:r>
              <a:rPr lang="en-US">
                <a:solidFill>
                  <a:srgbClr val="404040"/>
                </a:solidFill>
                <a:latin typeface="Tahoma"/>
                <a:ea typeface="Tahoma"/>
                <a:cs typeface="Tahoma"/>
                <a:sym typeface="Tahoma"/>
              </a:rPr>
              <a:t> lebih bercorak peribadi berbanding pengurus disebabkan  pemimpin perlu </a:t>
            </a:r>
            <a:r>
              <a:rPr lang="en-US">
                <a:solidFill>
                  <a:srgbClr val="6F91A0"/>
                </a:solidFill>
                <a:latin typeface="Tahoma"/>
                <a:ea typeface="Tahoma"/>
                <a:cs typeface="Tahoma"/>
                <a:sym typeface="Tahoma"/>
              </a:rPr>
              <a:t>mendorong, memujuk dan mempengaruhi </a:t>
            </a:r>
            <a:r>
              <a:rPr lang="en-US">
                <a:solidFill>
                  <a:srgbClr val="404040"/>
                </a:solidFill>
                <a:latin typeface="Tahoma"/>
                <a:ea typeface="Tahoma"/>
                <a:cs typeface="Tahoma"/>
                <a:sym typeface="Tahoma"/>
              </a:rPr>
              <a:t>orang lain agar mereka melaksanakan arahan untuk mencapai matlamat yang ditetapkan.</a:t>
            </a:r>
            <a:endParaRPr/>
          </a:p>
          <a:p>
            <a:pPr marL="0" lvl="0" indent="0" algn="l" rtl="0">
              <a:lnSpc>
                <a:spcPct val="100000"/>
              </a:lnSpc>
              <a:spcBef>
                <a:spcPts val="0"/>
              </a:spcBef>
              <a:spcAft>
                <a:spcPts val="0"/>
              </a:spcAft>
              <a:buClr>
                <a:srgbClr val="E6B91E"/>
              </a:buClr>
              <a:buSzPts val="1920"/>
              <a:buNone/>
            </a:pPr>
            <a:endParaRPr>
              <a:latin typeface="Tahoma"/>
              <a:ea typeface="Tahoma"/>
              <a:cs typeface="Tahoma"/>
              <a:sym typeface="Tahoma"/>
            </a:endParaRPr>
          </a:p>
          <a:p>
            <a:pPr marL="171450" lvl="0" indent="-171450" algn="l" rtl="0">
              <a:lnSpc>
                <a:spcPct val="100000"/>
              </a:lnSpc>
              <a:spcBef>
                <a:spcPts val="1000"/>
              </a:spcBef>
              <a:spcAft>
                <a:spcPts val="0"/>
              </a:spcAft>
              <a:buClr>
                <a:srgbClr val="E6B91E"/>
              </a:buClr>
              <a:buSzPts val="1920"/>
              <a:buFont typeface="Arial"/>
              <a:buChar char="•"/>
            </a:pPr>
            <a:r>
              <a:rPr lang="en-US">
                <a:solidFill>
                  <a:srgbClr val="FF0000"/>
                </a:solidFill>
                <a:latin typeface="Tahoma"/>
                <a:ea typeface="Tahoma"/>
                <a:cs typeface="Tahoma"/>
                <a:sym typeface="Tahoma"/>
              </a:rPr>
              <a:t>Interaksi pengurus</a:t>
            </a:r>
            <a:r>
              <a:rPr lang="en-US">
                <a:solidFill>
                  <a:srgbClr val="404040"/>
                </a:solidFill>
                <a:latin typeface="Tahoma"/>
                <a:ea typeface="Tahoma"/>
                <a:cs typeface="Tahoma"/>
                <a:sym typeface="Tahoma"/>
              </a:rPr>
              <a:t>  menitikberatkan fungsi pengurusan yang bukan bersifat peribad</a:t>
            </a:r>
            <a:r>
              <a:rPr lang="en-US">
                <a:solidFill>
                  <a:srgbClr val="404040"/>
                </a:solidFill>
                <a:latin typeface="Calibri"/>
                <a:ea typeface="Calibri"/>
                <a:cs typeface="Calibri"/>
                <a:sym typeface="Calibri"/>
              </a:rPr>
              <a:t>i.</a:t>
            </a:r>
            <a:endParaRPr>
              <a:latin typeface="Calibri"/>
              <a:ea typeface="Calibri"/>
              <a:cs typeface="Calibri"/>
              <a:sym typeface="Calibri"/>
            </a:endParaRPr>
          </a:p>
          <a:p>
            <a:pPr marL="342900" lvl="0" indent="-220980" algn="l" rtl="0">
              <a:lnSpc>
                <a:spcPct val="100000"/>
              </a:lnSpc>
              <a:spcBef>
                <a:spcPts val="1000"/>
              </a:spcBef>
              <a:spcAft>
                <a:spcPts val="0"/>
              </a:spcAft>
              <a:buClr>
                <a:schemeClr val="accent1"/>
              </a:buClr>
              <a:buSzPts val="1920"/>
              <a:buNone/>
            </a:pPr>
            <a:endParaRPr>
              <a:solidFill>
                <a:srgbClr val="404040"/>
              </a:solidFill>
              <a:latin typeface="Calibri"/>
              <a:ea typeface="Calibri"/>
              <a:cs typeface="Calibri"/>
              <a:sym typeface="Calibri"/>
            </a:endParaRPr>
          </a:p>
        </p:txBody>
      </p:sp>
      <p:sp>
        <p:nvSpPr>
          <p:cNvPr id="159" name="Google Shape;159;p21"/>
          <p:cNvSpPr/>
          <p:nvPr/>
        </p:nvSpPr>
        <p:spPr>
          <a:xfrm>
            <a:off x="2400300" y="1097030"/>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1</a:t>
            </a:r>
            <a:endParaRPr sz="1800" b="1" i="0" u="none" strike="noStrike" cap="none">
              <a:solidFill>
                <a:schemeClr val="lt1"/>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animEffect transition="in" filter="fade">
                                      <p:cBhvr>
                                        <p:cTn id="7" dur="500"/>
                                        <p:tgtEl>
                                          <p:spTgt spid="1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8">
                                            <p:txEl>
                                              <p:pRg st="1" end="1"/>
                                            </p:txEl>
                                          </p:spTgt>
                                        </p:tgtEl>
                                        <p:attrNameLst>
                                          <p:attrName>style.visibility</p:attrName>
                                        </p:attrNameLst>
                                      </p:cBhvr>
                                      <p:to>
                                        <p:strVal val="visible"/>
                                      </p:to>
                                    </p:set>
                                    <p:animEffect transition="in" filter="fade">
                                      <p:cBhvr>
                                        <p:cTn id="12" dur="500"/>
                                        <p:tgtEl>
                                          <p:spTgt spid="1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8">
                                            <p:txEl>
                                              <p:pRg st="2" end="2"/>
                                            </p:txEl>
                                          </p:spTgt>
                                        </p:tgtEl>
                                        <p:attrNameLst>
                                          <p:attrName>style.visibility</p:attrName>
                                        </p:attrNameLst>
                                      </p:cBhvr>
                                      <p:to>
                                        <p:strVal val="visible"/>
                                      </p:to>
                                    </p:set>
                                    <p:animEffect transition="in" filter="fade">
                                      <p:cBhvr>
                                        <p:cTn id="17" dur="500"/>
                                        <p:tgtEl>
                                          <p:spTgt spid="1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8">
                                            <p:txEl>
                                              <p:pRg st="3" end="3"/>
                                            </p:txEl>
                                          </p:spTgt>
                                        </p:tgtEl>
                                        <p:attrNameLst>
                                          <p:attrName>style.visibility</p:attrName>
                                        </p:attrNameLst>
                                      </p:cBhvr>
                                      <p:to>
                                        <p:strVal val="visible"/>
                                      </p:to>
                                    </p:set>
                                    <p:animEffect transition="in" filter="fade">
                                      <p:cBhvr>
                                        <p:cTn id="22" dur="500"/>
                                        <p:tgtEl>
                                          <p:spTgt spid="1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8">
                                            <p:txEl>
                                              <p:pRg st="4" end="4"/>
                                            </p:txEl>
                                          </p:spTgt>
                                        </p:tgtEl>
                                        <p:attrNameLst>
                                          <p:attrName>style.visibility</p:attrName>
                                        </p:attrNameLst>
                                      </p:cBhvr>
                                      <p:to>
                                        <p:strVal val="visible"/>
                                      </p:to>
                                    </p:set>
                                    <p:animEffect transition="in" filter="fade">
                                      <p:cBhvr>
                                        <p:cTn id="27" dur="500"/>
                                        <p:tgtEl>
                                          <p:spTgt spid="1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8">
                                            <p:txEl>
                                              <p:pRg st="5" end="5"/>
                                            </p:txEl>
                                          </p:spTgt>
                                        </p:tgtEl>
                                        <p:attrNameLst>
                                          <p:attrName>style.visibility</p:attrName>
                                        </p:attrNameLst>
                                      </p:cBhvr>
                                      <p:to>
                                        <p:strVal val="visible"/>
                                      </p:to>
                                    </p:set>
                                    <p:animEffect transition="in" filter="fade">
                                      <p:cBhvr>
                                        <p:cTn id="32" dur="500"/>
                                        <p:tgtEl>
                                          <p:spTgt spid="15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2"/>
          <p:cNvSpPr txBox="1">
            <a:spLocks noGrp="1"/>
          </p:cNvSpPr>
          <p:nvPr>
            <p:ph type="body" idx="1"/>
          </p:nvPr>
        </p:nvSpPr>
        <p:spPr>
          <a:xfrm>
            <a:off x="2413591" y="1209040"/>
            <a:ext cx="9558669" cy="525526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E6B91E"/>
              </a:buClr>
              <a:buSzPts val="2000"/>
              <a:buNone/>
            </a:pPr>
            <a:r>
              <a:rPr lang="en-US" sz="3200" b="1">
                <a:solidFill>
                  <a:schemeClr val="dk1"/>
                </a:solidFill>
                <a:latin typeface="Federo"/>
                <a:ea typeface="Federo"/>
                <a:cs typeface="Federo"/>
                <a:sym typeface="Federo"/>
              </a:rPr>
              <a:t>Kedudukan dalam organisasi</a:t>
            </a:r>
            <a:endParaRPr sz="3200" b="1">
              <a:latin typeface="Federo"/>
              <a:ea typeface="Federo"/>
              <a:cs typeface="Federo"/>
              <a:sym typeface="Federo"/>
            </a:endParaRPr>
          </a:p>
          <a:p>
            <a:pPr marL="0" lvl="0" indent="0" algn="l" rtl="0">
              <a:lnSpc>
                <a:spcPct val="100000"/>
              </a:lnSpc>
              <a:spcBef>
                <a:spcPts val="0"/>
              </a:spcBef>
              <a:spcAft>
                <a:spcPts val="0"/>
              </a:spcAft>
              <a:buClr>
                <a:srgbClr val="E6B91E"/>
              </a:buClr>
              <a:buSzPts val="2000"/>
              <a:buNone/>
            </a:pPr>
            <a:endParaRPr>
              <a:solidFill>
                <a:srgbClr val="FF0000"/>
              </a:solidFill>
              <a:latin typeface="Calibri"/>
              <a:ea typeface="Calibri"/>
              <a:cs typeface="Calibri"/>
              <a:sym typeface="Calibri"/>
            </a:endParaRPr>
          </a:p>
          <a:p>
            <a:pPr marL="171450" lvl="0" indent="-171450" algn="l" rtl="0">
              <a:lnSpc>
                <a:spcPct val="100000"/>
              </a:lnSpc>
              <a:spcBef>
                <a:spcPts val="0"/>
              </a:spcBef>
              <a:spcAft>
                <a:spcPts val="0"/>
              </a:spcAft>
              <a:buClr>
                <a:srgbClr val="E6B91E"/>
              </a:buClr>
              <a:buSzPts val="2000"/>
              <a:buFont typeface="Arial"/>
              <a:buChar char="•"/>
            </a:pPr>
            <a:r>
              <a:rPr lang="en-US">
                <a:solidFill>
                  <a:srgbClr val="FF0000"/>
                </a:solidFill>
                <a:latin typeface="Tahoma"/>
                <a:ea typeface="Tahoma"/>
                <a:cs typeface="Tahoma"/>
                <a:sym typeface="Tahoma"/>
              </a:rPr>
              <a:t>Pemimpin</a:t>
            </a:r>
            <a:r>
              <a:rPr lang="en-US">
                <a:solidFill>
                  <a:srgbClr val="404040"/>
                </a:solidFill>
                <a:latin typeface="Tahoma"/>
                <a:ea typeface="Tahoma"/>
                <a:cs typeface="Tahoma"/>
                <a:sym typeface="Tahoma"/>
              </a:rPr>
              <a:t> mungkin tidak mempunyai kedudukan formal dalam organisasi. Beliau dilantik disebabkan oleh ciri-ciri kepimpinan yang ada padanya. </a:t>
            </a:r>
            <a:endParaRPr/>
          </a:p>
          <a:p>
            <a:pPr marL="0" lvl="0" indent="0" algn="l" rtl="0">
              <a:lnSpc>
                <a:spcPct val="100000"/>
              </a:lnSpc>
              <a:spcBef>
                <a:spcPts val="0"/>
              </a:spcBef>
              <a:spcAft>
                <a:spcPts val="0"/>
              </a:spcAft>
              <a:buClr>
                <a:srgbClr val="E6B91E"/>
              </a:buClr>
              <a:buSzPts val="2000"/>
              <a:buNone/>
            </a:pPr>
            <a:endParaRPr>
              <a:latin typeface="Tahoma"/>
              <a:ea typeface="Tahoma"/>
              <a:cs typeface="Tahoma"/>
              <a:sym typeface="Tahoma"/>
            </a:endParaRPr>
          </a:p>
          <a:p>
            <a:pPr marL="171450" lvl="0" indent="-171450" algn="l" rtl="0">
              <a:lnSpc>
                <a:spcPct val="100000"/>
              </a:lnSpc>
              <a:spcBef>
                <a:spcPts val="1000"/>
              </a:spcBef>
              <a:spcAft>
                <a:spcPts val="0"/>
              </a:spcAft>
              <a:buClr>
                <a:srgbClr val="E6B91E"/>
              </a:buClr>
              <a:buSzPts val="2000"/>
              <a:buFont typeface="Arial"/>
              <a:buChar char="•"/>
            </a:pPr>
            <a:r>
              <a:rPr lang="en-US">
                <a:solidFill>
                  <a:srgbClr val="FF0000"/>
                </a:solidFill>
                <a:latin typeface="Tahoma"/>
                <a:ea typeface="Tahoma"/>
                <a:cs typeface="Tahoma"/>
                <a:sym typeface="Tahoma"/>
              </a:rPr>
              <a:t>Pengurus</a:t>
            </a:r>
            <a:r>
              <a:rPr lang="en-US">
                <a:solidFill>
                  <a:srgbClr val="404040"/>
                </a:solidFill>
                <a:latin typeface="Tahoma"/>
                <a:ea typeface="Tahoma"/>
                <a:cs typeface="Tahoma"/>
                <a:sym typeface="Tahoma"/>
              </a:rPr>
              <a:t> mempunyai kedudukan yang formal dalam organisasi menyebabkan pengurus ada tanggungjawab dan autoriti tertentu di mana pengurus akan berperanan sebagai seorang pemimpin.</a:t>
            </a:r>
            <a:endParaRPr>
              <a:latin typeface="Tahoma"/>
              <a:ea typeface="Tahoma"/>
              <a:cs typeface="Tahoma"/>
              <a:sym typeface="Tahoma"/>
            </a:endParaRPr>
          </a:p>
          <a:p>
            <a:pPr marL="273050" lvl="0" indent="-273050" algn="l" rtl="0">
              <a:lnSpc>
                <a:spcPct val="80000"/>
              </a:lnSpc>
              <a:spcBef>
                <a:spcPts val="1000"/>
              </a:spcBef>
              <a:spcAft>
                <a:spcPts val="0"/>
              </a:spcAft>
              <a:buClr>
                <a:schemeClr val="accent1"/>
              </a:buClr>
              <a:buSzPts val="480"/>
              <a:buNone/>
            </a:pPr>
            <a:endParaRPr>
              <a:solidFill>
                <a:srgbClr val="404040"/>
              </a:solidFill>
              <a:latin typeface="Tahoma"/>
              <a:ea typeface="Tahoma"/>
              <a:cs typeface="Tahoma"/>
              <a:sym typeface="Tahoma"/>
            </a:endParaRPr>
          </a:p>
          <a:p>
            <a:pPr marL="273050" lvl="0" indent="-237490" algn="l" rtl="0">
              <a:lnSpc>
                <a:spcPct val="80000"/>
              </a:lnSpc>
              <a:spcBef>
                <a:spcPts val="1000"/>
              </a:spcBef>
              <a:spcAft>
                <a:spcPts val="0"/>
              </a:spcAft>
              <a:buClr>
                <a:srgbClr val="E6B91E"/>
              </a:buClr>
              <a:buSzPts val="560"/>
              <a:buNone/>
            </a:pPr>
            <a:endParaRPr>
              <a:solidFill>
                <a:srgbClr val="404040"/>
              </a:solidFill>
              <a:latin typeface="Tahoma"/>
              <a:ea typeface="Tahoma"/>
              <a:cs typeface="Tahoma"/>
              <a:sym typeface="Tahoma"/>
            </a:endParaRPr>
          </a:p>
          <a:p>
            <a:pPr marL="273050" lvl="0" indent="-273050" algn="l" rtl="0">
              <a:lnSpc>
                <a:spcPct val="80000"/>
              </a:lnSpc>
              <a:spcBef>
                <a:spcPts val="1000"/>
              </a:spcBef>
              <a:spcAft>
                <a:spcPts val="0"/>
              </a:spcAft>
              <a:buClr>
                <a:schemeClr val="accent1"/>
              </a:buClr>
              <a:buSzPts val="560"/>
              <a:buNone/>
            </a:pPr>
            <a:r>
              <a:rPr lang="en-US">
                <a:solidFill>
                  <a:srgbClr val="404040"/>
                </a:solidFill>
                <a:latin typeface="Tahoma"/>
                <a:ea typeface="Tahoma"/>
                <a:cs typeface="Tahoma"/>
                <a:sym typeface="Tahoma"/>
              </a:rPr>
              <a:t>	</a:t>
            </a:r>
            <a:endParaRPr>
              <a:latin typeface="Tahoma"/>
              <a:ea typeface="Tahoma"/>
              <a:cs typeface="Tahoma"/>
              <a:sym typeface="Tahoma"/>
            </a:endParaRPr>
          </a:p>
        </p:txBody>
      </p:sp>
      <p:sp>
        <p:nvSpPr>
          <p:cNvPr id="165" name="Google Shape;165;p22"/>
          <p:cNvSpPr/>
          <p:nvPr/>
        </p:nvSpPr>
        <p:spPr>
          <a:xfrm>
            <a:off x="2104028" y="393700"/>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2</a:t>
            </a:r>
            <a:endParaRPr sz="1800" b="1" i="0" u="none" strike="noStrike" cap="none">
              <a:solidFill>
                <a:schemeClr val="lt1"/>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animEffect transition="in" filter="fade">
                                      <p:cBhvr>
                                        <p:cTn id="7" dur="500"/>
                                        <p:tgtEl>
                                          <p:spTgt spid="1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xEl>
                                              <p:pRg st="1" end="1"/>
                                            </p:txEl>
                                          </p:spTgt>
                                        </p:tgtEl>
                                        <p:attrNameLst>
                                          <p:attrName>style.visibility</p:attrName>
                                        </p:attrNameLst>
                                      </p:cBhvr>
                                      <p:to>
                                        <p:strVal val="visible"/>
                                      </p:to>
                                    </p:set>
                                    <p:animEffect transition="in" filter="fade">
                                      <p:cBhvr>
                                        <p:cTn id="12" dur="500"/>
                                        <p:tgtEl>
                                          <p:spTgt spid="1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4">
                                            <p:txEl>
                                              <p:pRg st="2" end="2"/>
                                            </p:txEl>
                                          </p:spTgt>
                                        </p:tgtEl>
                                        <p:attrNameLst>
                                          <p:attrName>style.visibility</p:attrName>
                                        </p:attrNameLst>
                                      </p:cBhvr>
                                      <p:to>
                                        <p:strVal val="visible"/>
                                      </p:to>
                                    </p:set>
                                    <p:animEffect transition="in" filter="fade">
                                      <p:cBhvr>
                                        <p:cTn id="17" dur="500"/>
                                        <p:tgtEl>
                                          <p:spTgt spid="1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4">
                                            <p:txEl>
                                              <p:pRg st="3" end="3"/>
                                            </p:txEl>
                                          </p:spTgt>
                                        </p:tgtEl>
                                        <p:attrNameLst>
                                          <p:attrName>style.visibility</p:attrName>
                                        </p:attrNameLst>
                                      </p:cBhvr>
                                      <p:to>
                                        <p:strVal val="visible"/>
                                      </p:to>
                                    </p:set>
                                    <p:animEffect transition="in" filter="fade">
                                      <p:cBhvr>
                                        <p:cTn id="22" dur="500"/>
                                        <p:tgtEl>
                                          <p:spTgt spid="16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4">
                                            <p:txEl>
                                              <p:pRg st="4" end="4"/>
                                            </p:txEl>
                                          </p:spTgt>
                                        </p:tgtEl>
                                        <p:attrNameLst>
                                          <p:attrName>style.visibility</p:attrName>
                                        </p:attrNameLst>
                                      </p:cBhvr>
                                      <p:to>
                                        <p:strVal val="visible"/>
                                      </p:to>
                                    </p:set>
                                    <p:animEffect transition="in" filter="fade">
                                      <p:cBhvr>
                                        <p:cTn id="27" dur="500"/>
                                        <p:tgtEl>
                                          <p:spTgt spid="16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4">
                                            <p:txEl>
                                              <p:pRg st="5" end="5"/>
                                            </p:txEl>
                                          </p:spTgt>
                                        </p:tgtEl>
                                        <p:attrNameLst>
                                          <p:attrName>style.visibility</p:attrName>
                                        </p:attrNameLst>
                                      </p:cBhvr>
                                      <p:to>
                                        <p:strVal val="visible"/>
                                      </p:to>
                                    </p:set>
                                    <p:animEffect transition="in" filter="fade">
                                      <p:cBhvr>
                                        <p:cTn id="32" dur="500"/>
                                        <p:tgtEl>
                                          <p:spTgt spid="16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4">
                                            <p:txEl>
                                              <p:pRg st="6" end="6"/>
                                            </p:txEl>
                                          </p:spTgt>
                                        </p:tgtEl>
                                        <p:attrNameLst>
                                          <p:attrName>style.visibility</p:attrName>
                                        </p:attrNameLst>
                                      </p:cBhvr>
                                      <p:to>
                                        <p:strVal val="visible"/>
                                      </p:to>
                                    </p:set>
                                    <p:animEffect transition="in" filter="fade">
                                      <p:cBhvr>
                                        <p:cTn id="37" dur="500"/>
                                        <p:tgtEl>
                                          <p:spTgt spid="16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4">
                                            <p:txEl>
                                              <p:pRg st="7" end="7"/>
                                            </p:txEl>
                                          </p:spTgt>
                                        </p:tgtEl>
                                        <p:attrNameLst>
                                          <p:attrName>style.visibility</p:attrName>
                                        </p:attrNameLst>
                                      </p:cBhvr>
                                      <p:to>
                                        <p:strVal val="visible"/>
                                      </p:to>
                                    </p:set>
                                    <p:animEffect transition="in" filter="fade">
                                      <p:cBhvr>
                                        <p:cTn id="42" dur="500"/>
                                        <p:tgtEl>
                                          <p:spTgt spid="16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body" idx="1"/>
          </p:nvPr>
        </p:nvSpPr>
        <p:spPr>
          <a:xfrm>
            <a:off x="1190847" y="381001"/>
            <a:ext cx="10829703" cy="6051697"/>
          </a:xfrm>
          <a:prstGeom prst="rect">
            <a:avLst/>
          </a:prstGeom>
          <a:solidFill>
            <a:schemeClr val="lt1"/>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1"/>
              </a:buClr>
              <a:buSzPts val="1760"/>
              <a:buNone/>
            </a:pPr>
            <a:r>
              <a:rPr lang="en-US" b="1">
                <a:solidFill>
                  <a:schemeClr val="dk1"/>
                </a:solidFill>
                <a:latin typeface="Federo"/>
                <a:ea typeface="Federo"/>
                <a:cs typeface="Federo"/>
                <a:sym typeface="Federo"/>
              </a:rPr>
              <a:t>Sikap dan  Motivasi</a:t>
            </a:r>
            <a:endParaRPr b="1">
              <a:solidFill>
                <a:schemeClr val="dk1"/>
              </a:solidFill>
              <a:latin typeface="Federo"/>
              <a:ea typeface="Federo"/>
              <a:cs typeface="Federo"/>
              <a:sym typeface="Federo"/>
            </a:endParaRPr>
          </a:p>
          <a:p>
            <a:pPr marL="0" lvl="0" indent="0" algn="just" rtl="0">
              <a:lnSpc>
                <a:spcPct val="100000"/>
              </a:lnSpc>
              <a:spcBef>
                <a:spcPts val="0"/>
              </a:spcBef>
              <a:spcAft>
                <a:spcPts val="0"/>
              </a:spcAft>
              <a:buClr>
                <a:schemeClr val="accent1"/>
              </a:buClr>
              <a:buSzPts val="1760"/>
              <a:buNone/>
            </a:pPr>
            <a:endParaRPr sz="2400" b="1">
              <a:solidFill>
                <a:schemeClr val="dk1"/>
              </a:solidFill>
              <a:latin typeface="Calibri"/>
              <a:ea typeface="Calibri"/>
              <a:cs typeface="Calibri"/>
              <a:sym typeface="Calibri"/>
            </a:endParaRPr>
          </a:p>
          <a:p>
            <a:pPr marL="171450" lvl="0" indent="-171450" algn="just" rtl="0">
              <a:lnSpc>
                <a:spcPct val="100000"/>
              </a:lnSpc>
              <a:spcBef>
                <a:spcPts val="0"/>
              </a:spcBef>
              <a:spcAft>
                <a:spcPts val="0"/>
              </a:spcAft>
              <a:buClr>
                <a:schemeClr val="accent1"/>
              </a:buClr>
              <a:buSzPts val="1760"/>
              <a:buFont typeface="Arial"/>
              <a:buChar char="•"/>
            </a:pPr>
            <a:r>
              <a:rPr lang="en-US" sz="2600">
                <a:solidFill>
                  <a:srgbClr val="FF0000"/>
                </a:solidFill>
                <a:latin typeface="Tahoma"/>
                <a:ea typeface="Tahoma"/>
                <a:cs typeface="Tahoma"/>
                <a:sym typeface="Tahoma"/>
              </a:rPr>
              <a:t>Pemimpin bersikap lebih aktif</a:t>
            </a:r>
            <a:r>
              <a:rPr lang="en-US" sz="2600">
                <a:solidFill>
                  <a:schemeClr val="dk1"/>
                </a:solidFill>
                <a:latin typeface="Tahoma"/>
                <a:ea typeface="Tahoma"/>
                <a:cs typeface="Tahoma"/>
                <a:sym typeface="Tahoma"/>
              </a:rPr>
              <a:t> dari aspek kemanusiaan dan lebih mengambil berat tentang cara yang digunakan untuk mencapai matlamat. Pemimpin mengambil berat tentang hal ehwal subordinatnya kerana hendak mempengaruhi mereka melaksanakan arahannya dan ini akan memotivasikan pekerja.</a:t>
            </a:r>
            <a:endParaRPr/>
          </a:p>
          <a:p>
            <a:pPr marL="0" lvl="0" indent="0" algn="just" rtl="0">
              <a:lnSpc>
                <a:spcPct val="100000"/>
              </a:lnSpc>
              <a:spcBef>
                <a:spcPts val="0"/>
              </a:spcBef>
              <a:spcAft>
                <a:spcPts val="0"/>
              </a:spcAft>
              <a:buClr>
                <a:schemeClr val="accent1"/>
              </a:buClr>
              <a:buSzPts val="1760"/>
              <a:buNone/>
            </a:pPr>
            <a:endParaRPr sz="2600">
              <a:solidFill>
                <a:schemeClr val="dk1"/>
              </a:solidFill>
              <a:latin typeface="Tahoma"/>
              <a:ea typeface="Tahoma"/>
              <a:cs typeface="Tahoma"/>
              <a:sym typeface="Tahoma"/>
            </a:endParaRPr>
          </a:p>
          <a:p>
            <a:pPr marL="171450" lvl="0" indent="-171450" algn="just" rtl="0">
              <a:lnSpc>
                <a:spcPct val="100000"/>
              </a:lnSpc>
              <a:spcBef>
                <a:spcPts val="1000"/>
              </a:spcBef>
              <a:spcAft>
                <a:spcPts val="0"/>
              </a:spcAft>
              <a:buClr>
                <a:schemeClr val="accent1"/>
              </a:buClr>
              <a:buSzPts val="1760"/>
              <a:buFont typeface="Arial"/>
              <a:buChar char="•"/>
            </a:pPr>
            <a:r>
              <a:rPr lang="en-US" sz="2600">
                <a:solidFill>
                  <a:srgbClr val="FF0000"/>
                </a:solidFill>
                <a:latin typeface="Tahoma"/>
                <a:ea typeface="Tahoma"/>
                <a:cs typeface="Tahoma"/>
                <a:sym typeface="Tahoma"/>
              </a:rPr>
              <a:t>Pengurus mempunyai sikap yang pasif </a:t>
            </a:r>
            <a:r>
              <a:rPr lang="en-US" sz="2600">
                <a:solidFill>
                  <a:schemeClr val="dk1"/>
                </a:solidFill>
                <a:latin typeface="Tahoma"/>
                <a:ea typeface="Tahoma"/>
                <a:cs typeface="Tahoma"/>
                <a:sym typeface="Tahoma"/>
              </a:rPr>
              <a:t>dari aspek kemanusiaan  di mana tugas pengurus untuk memastikan matlamat yang ditetapkan tercapai. Pengurus tidak mengambil berat tentang cara yang digunakan samada betul atau salah untuk mencapai matlamat tersebut. Pengurus menggunakan kuasanya untuk mengarah pekerja dan ini menyebabkan pekerja tidak bermotivasi.</a:t>
            </a:r>
            <a:endParaRPr sz="2600">
              <a:solidFill>
                <a:schemeClr val="dk1"/>
              </a:solidFill>
              <a:latin typeface="Tahoma"/>
              <a:ea typeface="Tahoma"/>
              <a:cs typeface="Tahoma"/>
              <a:sym typeface="Tahoma"/>
            </a:endParaRPr>
          </a:p>
          <a:p>
            <a:pPr marL="342900" lvl="0" indent="-231140" algn="l" rtl="0">
              <a:lnSpc>
                <a:spcPct val="100000"/>
              </a:lnSpc>
              <a:spcBef>
                <a:spcPts val="1000"/>
              </a:spcBef>
              <a:spcAft>
                <a:spcPts val="0"/>
              </a:spcAft>
              <a:buClr>
                <a:schemeClr val="accent1"/>
              </a:buClr>
              <a:buSzPts val="1760"/>
              <a:buNone/>
            </a:pPr>
            <a:endParaRPr sz="2400">
              <a:solidFill>
                <a:schemeClr val="dk1"/>
              </a:solidFill>
              <a:latin typeface="Calibri"/>
              <a:ea typeface="Calibri"/>
              <a:cs typeface="Calibri"/>
              <a:sym typeface="Calibri"/>
            </a:endParaRPr>
          </a:p>
        </p:txBody>
      </p:sp>
      <p:sp>
        <p:nvSpPr>
          <p:cNvPr id="171" name="Google Shape;171;p23"/>
          <p:cNvSpPr/>
          <p:nvPr/>
        </p:nvSpPr>
        <p:spPr>
          <a:xfrm>
            <a:off x="1051242" y="239780"/>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animEffect transition="in" filter="fade">
                                      <p:cBhvr>
                                        <p:cTn id="7" dur="500"/>
                                        <p:tgtEl>
                                          <p:spTgt spid="1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0">
                                            <p:txEl>
                                              <p:pRg st="1" end="1"/>
                                            </p:txEl>
                                          </p:spTgt>
                                        </p:tgtEl>
                                        <p:attrNameLst>
                                          <p:attrName>style.visibility</p:attrName>
                                        </p:attrNameLst>
                                      </p:cBhvr>
                                      <p:to>
                                        <p:strVal val="visible"/>
                                      </p:to>
                                    </p:set>
                                    <p:animEffect transition="in" filter="fade">
                                      <p:cBhvr>
                                        <p:cTn id="12" dur="500"/>
                                        <p:tgtEl>
                                          <p:spTgt spid="1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0">
                                            <p:txEl>
                                              <p:pRg st="2" end="2"/>
                                            </p:txEl>
                                          </p:spTgt>
                                        </p:tgtEl>
                                        <p:attrNameLst>
                                          <p:attrName>style.visibility</p:attrName>
                                        </p:attrNameLst>
                                      </p:cBhvr>
                                      <p:to>
                                        <p:strVal val="visible"/>
                                      </p:to>
                                    </p:set>
                                    <p:animEffect transition="in" filter="fade">
                                      <p:cBhvr>
                                        <p:cTn id="17" dur="500"/>
                                        <p:tgtEl>
                                          <p:spTgt spid="1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0">
                                            <p:txEl>
                                              <p:pRg st="3" end="3"/>
                                            </p:txEl>
                                          </p:spTgt>
                                        </p:tgtEl>
                                        <p:attrNameLst>
                                          <p:attrName>style.visibility</p:attrName>
                                        </p:attrNameLst>
                                      </p:cBhvr>
                                      <p:to>
                                        <p:strVal val="visible"/>
                                      </p:to>
                                    </p:set>
                                    <p:animEffect transition="in" filter="fade">
                                      <p:cBhvr>
                                        <p:cTn id="22" dur="500"/>
                                        <p:tgtEl>
                                          <p:spTgt spid="1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0">
                                            <p:txEl>
                                              <p:pRg st="4" end="4"/>
                                            </p:txEl>
                                          </p:spTgt>
                                        </p:tgtEl>
                                        <p:attrNameLst>
                                          <p:attrName>style.visibility</p:attrName>
                                        </p:attrNameLst>
                                      </p:cBhvr>
                                      <p:to>
                                        <p:strVal val="visible"/>
                                      </p:to>
                                    </p:set>
                                    <p:animEffect transition="in" filter="fade">
                                      <p:cBhvr>
                                        <p:cTn id="27" dur="500"/>
                                        <p:tgtEl>
                                          <p:spTgt spid="17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0">
                                            <p:txEl>
                                              <p:pRg st="5" end="5"/>
                                            </p:txEl>
                                          </p:spTgt>
                                        </p:tgtEl>
                                        <p:attrNameLst>
                                          <p:attrName>style.visibility</p:attrName>
                                        </p:attrNameLst>
                                      </p:cBhvr>
                                      <p:to>
                                        <p:strVal val="visible"/>
                                      </p:to>
                                    </p:set>
                                    <p:animEffect transition="in" filter="fade">
                                      <p:cBhvr>
                                        <p:cTn id="32" dur="500"/>
                                        <p:tgtEl>
                                          <p:spTgt spid="17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4"/>
          <p:cNvSpPr txBox="1">
            <a:spLocks noGrp="1"/>
          </p:cNvSpPr>
          <p:nvPr>
            <p:ph type="body" idx="1"/>
          </p:nvPr>
        </p:nvSpPr>
        <p:spPr>
          <a:xfrm>
            <a:off x="1763233" y="735692"/>
            <a:ext cx="9848849" cy="5592725"/>
          </a:xfrm>
          <a:prstGeom prst="rect">
            <a:avLst/>
          </a:prstGeom>
          <a:solidFill>
            <a:schemeClr val="lt1"/>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E6B91E"/>
              </a:buClr>
              <a:buSzPts val="1920"/>
              <a:buNone/>
            </a:pPr>
            <a:r>
              <a:rPr lang="en-US" sz="3200" b="1">
                <a:solidFill>
                  <a:schemeClr val="dk1"/>
                </a:solidFill>
                <a:latin typeface="Federo"/>
                <a:ea typeface="Federo"/>
                <a:cs typeface="Federo"/>
                <a:sym typeface="Federo"/>
              </a:rPr>
              <a:t>Skop dan Pendekatan</a:t>
            </a:r>
            <a:endParaRPr sz="3200" b="1">
              <a:solidFill>
                <a:schemeClr val="dk1"/>
              </a:solidFill>
              <a:latin typeface="Federo"/>
              <a:ea typeface="Federo"/>
              <a:cs typeface="Federo"/>
              <a:sym typeface="Federo"/>
            </a:endParaRPr>
          </a:p>
          <a:p>
            <a:pPr marL="0" lvl="0" indent="0" algn="just" rtl="0">
              <a:lnSpc>
                <a:spcPct val="100000"/>
              </a:lnSpc>
              <a:spcBef>
                <a:spcPts val="0"/>
              </a:spcBef>
              <a:spcAft>
                <a:spcPts val="0"/>
              </a:spcAft>
              <a:buClr>
                <a:srgbClr val="E6B91E"/>
              </a:buClr>
              <a:buSzPts val="1920"/>
              <a:buNone/>
            </a:pPr>
            <a:endParaRPr sz="2400" b="1">
              <a:solidFill>
                <a:schemeClr val="dk1"/>
              </a:solidFill>
              <a:latin typeface="Calibri"/>
              <a:ea typeface="Calibri"/>
              <a:cs typeface="Calibri"/>
              <a:sym typeface="Calibri"/>
            </a:endParaRPr>
          </a:p>
          <a:p>
            <a:pPr marL="171450" lvl="0" indent="-171450" algn="just" rtl="0">
              <a:lnSpc>
                <a:spcPct val="100000"/>
              </a:lnSpc>
              <a:spcBef>
                <a:spcPts val="0"/>
              </a:spcBef>
              <a:spcAft>
                <a:spcPts val="0"/>
              </a:spcAft>
              <a:buClr>
                <a:srgbClr val="E6B91E"/>
              </a:buClr>
              <a:buSzPts val="1920"/>
              <a:buFont typeface="Arial"/>
              <a:buChar char="•"/>
            </a:pPr>
            <a:r>
              <a:rPr lang="en-US" sz="2600">
                <a:solidFill>
                  <a:srgbClr val="FF0000"/>
                </a:solidFill>
                <a:latin typeface="Tahoma"/>
                <a:ea typeface="Tahoma"/>
                <a:cs typeface="Tahoma"/>
                <a:sym typeface="Tahoma"/>
              </a:rPr>
              <a:t>Pemimpin menangani perubahan</a:t>
            </a:r>
            <a:r>
              <a:rPr lang="en-US" sz="2600">
                <a:solidFill>
                  <a:schemeClr val="dk1"/>
                </a:solidFill>
                <a:latin typeface="Tahoma"/>
                <a:ea typeface="Tahoma"/>
                <a:cs typeface="Tahoma"/>
                <a:sym typeface="Tahoma"/>
              </a:rPr>
              <a:t> kerana pemimpin menjelaskan arah tujuan dengan membentuk visi yang sesuai, menyelaraskan semua usaha subordinat dengan memaklumkan kepada mereka visi yang dibentuk  serta memberi semangat kepada subordinatnya untuk menangani semua halangan</a:t>
            </a:r>
            <a:endParaRPr sz="2600">
              <a:solidFill>
                <a:schemeClr val="dk1"/>
              </a:solidFill>
              <a:latin typeface="Tahoma"/>
              <a:ea typeface="Tahoma"/>
              <a:cs typeface="Tahoma"/>
              <a:sym typeface="Tahoma"/>
            </a:endParaRPr>
          </a:p>
          <a:p>
            <a:pPr marL="0" lvl="0" indent="0" algn="just" rtl="0">
              <a:lnSpc>
                <a:spcPct val="100000"/>
              </a:lnSpc>
              <a:spcBef>
                <a:spcPts val="0"/>
              </a:spcBef>
              <a:spcAft>
                <a:spcPts val="0"/>
              </a:spcAft>
              <a:buClr>
                <a:srgbClr val="E6B91E"/>
              </a:buClr>
              <a:buSzPts val="1920"/>
              <a:buNone/>
            </a:pPr>
            <a:endParaRPr sz="2600">
              <a:solidFill>
                <a:schemeClr val="dk1"/>
              </a:solidFill>
              <a:latin typeface="Tahoma"/>
              <a:ea typeface="Tahoma"/>
              <a:cs typeface="Tahoma"/>
              <a:sym typeface="Tahoma"/>
            </a:endParaRPr>
          </a:p>
          <a:p>
            <a:pPr marL="171450" lvl="0" indent="-171450" algn="just" rtl="0">
              <a:lnSpc>
                <a:spcPct val="100000"/>
              </a:lnSpc>
              <a:spcBef>
                <a:spcPts val="1000"/>
              </a:spcBef>
              <a:spcAft>
                <a:spcPts val="0"/>
              </a:spcAft>
              <a:buClr>
                <a:srgbClr val="E6B91E"/>
              </a:buClr>
              <a:buSzPts val="1920"/>
              <a:buFont typeface="Arial"/>
              <a:buChar char="•"/>
            </a:pPr>
            <a:r>
              <a:rPr lang="en-US" sz="2600">
                <a:solidFill>
                  <a:srgbClr val="FF0000"/>
                </a:solidFill>
                <a:latin typeface="Tahoma"/>
                <a:ea typeface="Tahoma"/>
                <a:cs typeface="Tahoma"/>
                <a:sym typeface="Tahoma"/>
              </a:rPr>
              <a:t>Pengurus   mengatasi kerumitan</a:t>
            </a:r>
            <a:r>
              <a:rPr lang="en-US" sz="2600">
                <a:solidFill>
                  <a:schemeClr val="dk1"/>
                </a:solidFill>
                <a:latin typeface="Tahoma"/>
                <a:ea typeface="Tahoma"/>
                <a:cs typeface="Tahoma"/>
                <a:sym typeface="Tahoma"/>
              </a:rPr>
              <a:t>  dalam organisasi. Oleh itu, pengurus memastikan  operasi berjalan lancar atas landasan yang betul  berdasarkan perancangan formal, merekabentuk  struktur organisasi yang ketat dan memantau hasil  berdasarkan rancangan yang disusun</a:t>
            </a:r>
            <a:endParaRPr sz="2600">
              <a:solidFill>
                <a:schemeClr val="dk1"/>
              </a:solidFill>
              <a:latin typeface="Tahoma"/>
              <a:ea typeface="Tahoma"/>
              <a:cs typeface="Tahoma"/>
              <a:sym typeface="Tahoma"/>
            </a:endParaRPr>
          </a:p>
        </p:txBody>
      </p:sp>
      <p:sp>
        <p:nvSpPr>
          <p:cNvPr id="177" name="Google Shape;177;p24"/>
          <p:cNvSpPr/>
          <p:nvPr/>
        </p:nvSpPr>
        <p:spPr>
          <a:xfrm>
            <a:off x="1231322" y="164192"/>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4</a:t>
            </a:r>
            <a:endParaRPr sz="1800" b="1" i="0" u="none" strike="noStrike" cap="none">
              <a:solidFill>
                <a:schemeClr val="lt1"/>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animEffect transition="in" filter="fade">
                                      <p:cBhvr>
                                        <p:cTn id="7" dur="500"/>
                                        <p:tgtEl>
                                          <p:spTgt spid="1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xEl>
                                              <p:pRg st="1" end="1"/>
                                            </p:txEl>
                                          </p:spTgt>
                                        </p:tgtEl>
                                        <p:attrNameLst>
                                          <p:attrName>style.visibility</p:attrName>
                                        </p:attrNameLst>
                                      </p:cBhvr>
                                      <p:to>
                                        <p:strVal val="visible"/>
                                      </p:to>
                                    </p:set>
                                    <p:animEffect transition="in" filter="fade">
                                      <p:cBhvr>
                                        <p:cTn id="12" dur="500"/>
                                        <p:tgtEl>
                                          <p:spTgt spid="1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6">
                                            <p:txEl>
                                              <p:pRg st="2" end="2"/>
                                            </p:txEl>
                                          </p:spTgt>
                                        </p:tgtEl>
                                        <p:attrNameLst>
                                          <p:attrName>style.visibility</p:attrName>
                                        </p:attrNameLst>
                                      </p:cBhvr>
                                      <p:to>
                                        <p:strVal val="visible"/>
                                      </p:to>
                                    </p:set>
                                    <p:animEffect transition="in" filter="fade">
                                      <p:cBhvr>
                                        <p:cTn id="17" dur="500"/>
                                        <p:tgtEl>
                                          <p:spTgt spid="1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6">
                                            <p:txEl>
                                              <p:pRg st="3" end="3"/>
                                            </p:txEl>
                                          </p:spTgt>
                                        </p:tgtEl>
                                        <p:attrNameLst>
                                          <p:attrName>style.visibility</p:attrName>
                                        </p:attrNameLst>
                                      </p:cBhvr>
                                      <p:to>
                                        <p:strVal val="visible"/>
                                      </p:to>
                                    </p:set>
                                    <p:animEffect transition="in" filter="fade">
                                      <p:cBhvr>
                                        <p:cTn id="22" dur="500"/>
                                        <p:tgtEl>
                                          <p:spTgt spid="1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6">
                                            <p:txEl>
                                              <p:pRg st="4" end="4"/>
                                            </p:txEl>
                                          </p:spTgt>
                                        </p:tgtEl>
                                        <p:attrNameLst>
                                          <p:attrName>style.visibility</p:attrName>
                                        </p:attrNameLst>
                                      </p:cBhvr>
                                      <p:to>
                                        <p:strVal val="visible"/>
                                      </p:to>
                                    </p:set>
                                    <p:animEffect transition="in" filter="fade">
                                      <p:cBhvr>
                                        <p:cTn id="27" dur="500"/>
                                        <p:tgtEl>
                                          <p:spTgt spid="1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body" idx="1"/>
          </p:nvPr>
        </p:nvSpPr>
        <p:spPr>
          <a:xfrm>
            <a:off x="1618379" y="1046363"/>
            <a:ext cx="7361555" cy="4546363"/>
          </a:xfrm>
          <a:prstGeom prst="rect">
            <a:avLst/>
          </a:prstGeom>
          <a:solidFill>
            <a:schemeClr val="lt1"/>
          </a:solidFill>
          <a:ln>
            <a:noFill/>
          </a:ln>
        </p:spPr>
        <p:txBody>
          <a:bodyPr spcFirstLastPara="1" wrap="square" lIns="91425" tIns="45700" rIns="91425" bIns="45700" anchor="t" anchorCtr="0">
            <a:noAutofit/>
          </a:bodyPr>
          <a:lstStyle/>
          <a:p>
            <a:pPr marL="273050" lvl="0" indent="-273050" algn="l" rtl="0">
              <a:lnSpc>
                <a:spcPct val="100000"/>
              </a:lnSpc>
              <a:spcBef>
                <a:spcPts val="0"/>
              </a:spcBef>
              <a:spcAft>
                <a:spcPts val="0"/>
              </a:spcAft>
              <a:buClr>
                <a:schemeClr val="accent1"/>
              </a:buClr>
              <a:buSzPts val="2560"/>
              <a:buNone/>
            </a:pPr>
            <a:r>
              <a:rPr lang="en-US" sz="3200" b="1">
                <a:solidFill>
                  <a:schemeClr val="dk1"/>
                </a:solidFill>
                <a:latin typeface="Federo"/>
                <a:ea typeface="Federo"/>
                <a:cs typeface="Federo"/>
                <a:sym typeface="Federo"/>
              </a:rPr>
              <a:t>c. Takrif Gaya Kepimpinan </a:t>
            </a:r>
            <a:endParaRPr sz="3200" b="1">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accent1"/>
              </a:buClr>
              <a:buSzPts val="2560"/>
              <a:buNone/>
            </a:pPr>
            <a:endParaRPr sz="3200">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accent1"/>
              </a:buClr>
              <a:buSzPts val="2560"/>
              <a:buNone/>
            </a:pPr>
            <a:r>
              <a:rPr lang="en-US" sz="2600">
                <a:solidFill>
                  <a:schemeClr val="dk1"/>
                </a:solidFill>
                <a:latin typeface="Tahoma"/>
                <a:ea typeface="Tahoma"/>
                <a:cs typeface="Tahoma"/>
                <a:sym typeface="Tahoma"/>
              </a:rPr>
              <a:t>Pendekatan atau kaedah yang digunakan oleh seseorang pemimpin untuk mempengaruhi subordinatnya. </a:t>
            </a:r>
            <a:endParaRPr/>
          </a:p>
          <a:p>
            <a:pPr marL="0" lvl="0" indent="0" algn="l" rtl="0">
              <a:lnSpc>
                <a:spcPct val="100000"/>
              </a:lnSpc>
              <a:spcBef>
                <a:spcPts val="0"/>
              </a:spcBef>
              <a:spcAft>
                <a:spcPts val="0"/>
              </a:spcAft>
              <a:buClr>
                <a:schemeClr val="accent1"/>
              </a:buClr>
              <a:buSzPts val="2560"/>
              <a:buNone/>
            </a:pPr>
            <a:endParaRPr sz="2600">
              <a:latin typeface="Tahoma"/>
              <a:ea typeface="Tahoma"/>
              <a:cs typeface="Tahoma"/>
              <a:sym typeface="Tahoma"/>
            </a:endParaRPr>
          </a:p>
          <a:p>
            <a:pPr marL="0" lvl="0" indent="0" algn="l" rtl="0">
              <a:lnSpc>
                <a:spcPct val="100000"/>
              </a:lnSpc>
              <a:spcBef>
                <a:spcPts val="0"/>
              </a:spcBef>
              <a:spcAft>
                <a:spcPts val="0"/>
              </a:spcAft>
              <a:buSzPts val="2560"/>
              <a:buNone/>
            </a:pPr>
            <a:r>
              <a:rPr lang="en-US" sz="2400">
                <a:solidFill>
                  <a:schemeClr val="dk1"/>
                </a:solidFill>
                <a:latin typeface="Tahoma"/>
                <a:ea typeface="Tahoma"/>
                <a:cs typeface="Tahoma"/>
                <a:sym typeface="Tahoma"/>
              </a:rPr>
              <a:t>Terdapat 4 jenis gaya kepimpinan iaitu:</a:t>
            </a:r>
            <a:endParaRPr sz="2400">
              <a:latin typeface="Tahoma"/>
              <a:ea typeface="Tahoma"/>
              <a:cs typeface="Tahoma"/>
              <a:sym typeface="Tahoma"/>
            </a:endParaRPr>
          </a:p>
          <a:p>
            <a:pPr marL="571500" lvl="0" indent="-571500" algn="l" rtl="0">
              <a:lnSpc>
                <a:spcPct val="100000"/>
              </a:lnSpc>
              <a:spcBef>
                <a:spcPts val="0"/>
              </a:spcBef>
              <a:spcAft>
                <a:spcPts val="0"/>
              </a:spcAft>
              <a:buSzPts val="2560"/>
              <a:buFont typeface="Twentieth Century"/>
              <a:buAutoNum type="romanLcPeriod"/>
            </a:pPr>
            <a:r>
              <a:rPr lang="en-US" sz="2400">
                <a:solidFill>
                  <a:schemeClr val="dk1"/>
                </a:solidFill>
                <a:latin typeface="Tahoma"/>
                <a:ea typeface="Tahoma"/>
                <a:cs typeface="Tahoma"/>
                <a:sym typeface="Tahoma"/>
              </a:rPr>
              <a:t> Gaya kepimpinan Autokratik</a:t>
            </a:r>
            <a:endParaRPr sz="2400">
              <a:solidFill>
                <a:schemeClr val="dk1"/>
              </a:solidFill>
              <a:latin typeface="Tahoma"/>
              <a:ea typeface="Tahoma"/>
              <a:cs typeface="Tahoma"/>
              <a:sym typeface="Tahoma"/>
            </a:endParaRPr>
          </a:p>
          <a:p>
            <a:pPr marL="571500" lvl="0" indent="-571500" algn="l" rtl="0">
              <a:lnSpc>
                <a:spcPct val="100000"/>
              </a:lnSpc>
              <a:spcBef>
                <a:spcPts val="0"/>
              </a:spcBef>
              <a:spcAft>
                <a:spcPts val="0"/>
              </a:spcAft>
              <a:buSzPts val="2560"/>
              <a:buFont typeface="Twentieth Century"/>
              <a:buAutoNum type="romanLcPeriod"/>
            </a:pPr>
            <a:r>
              <a:rPr lang="en-US" sz="2400">
                <a:solidFill>
                  <a:schemeClr val="dk1"/>
                </a:solidFill>
                <a:latin typeface="Tahoma"/>
                <a:ea typeface="Tahoma"/>
                <a:cs typeface="Tahoma"/>
                <a:sym typeface="Tahoma"/>
              </a:rPr>
              <a:t> Gaya kepimpinan Demokratik</a:t>
            </a:r>
            <a:endParaRPr sz="2400">
              <a:solidFill>
                <a:schemeClr val="dk1"/>
              </a:solidFill>
              <a:latin typeface="Tahoma"/>
              <a:ea typeface="Tahoma"/>
              <a:cs typeface="Tahoma"/>
              <a:sym typeface="Tahoma"/>
            </a:endParaRPr>
          </a:p>
          <a:p>
            <a:pPr marL="571500" lvl="0" indent="-571500" algn="l" rtl="0">
              <a:lnSpc>
                <a:spcPct val="100000"/>
              </a:lnSpc>
              <a:spcBef>
                <a:spcPts val="0"/>
              </a:spcBef>
              <a:spcAft>
                <a:spcPts val="0"/>
              </a:spcAft>
              <a:buSzPts val="2560"/>
              <a:buFont typeface="Twentieth Century"/>
              <a:buAutoNum type="romanLcPeriod"/>
            </a:pPr>
            <a:r>
              <a:rPr lang="en-US" sz="2400">
                <a:solidFill>
                  <a:schemeClr val="dk1"/>
                </a:solidFill>
                <a:latin typeface="Tahoma"/>
                <a:ea typeface="Tahoma"/>
                <a:cs typeface="Tahoma"/>
                <a:sym typeface="Tahoma"/>
              </a:rPr>
              <a:t> Gaya kepimpinan Laissez Faire</a:t>
            </a:r>
            <a:endParaRPr sz="2400">
              <a:latin typeface="Tahoma"/>
              <a:ea typeface="Tahoma"/>
              <a:cs typeface="Tahoma"/>
              <a:sym typeface="Tahoma"/>
            </a:endParaRPr>
          </a:p>
          <a:p>
            <a:pPr marL="571500" lvl="0" indent="-571500" algn="l" rtl="0">
              <a:lnSpc>
                <a:spcPct val="100000"/>
              </a:lnSpc>
              <a:spcBef>
                <a:spcPts val="0"/>
              </a:spcBef>
              <a:spcAft>
                <a:spcPts val="0"/>
              </a:spcAft>
              <a:buSzPts val="2560"/>
              <a:buFont typeface="Twentieth Century"/>
              <a:buAutoNum type="romanLcPeriod"/>
            </a:pPr>
            <a:r>
              <a:rPr lang="en-US" sz="2400">
                <a:solidFill>
                  <a:schemeClr val="dk1"/>
                </a:solidFill>
                <a:latin typeface="Tahoma"/>
                <a:ea typeface="Tahoma"/>
                <a:cs typeface="Tahoma"/>
                <a:sym typeface="Tahoma"/>
              </a:rPr>
              <a:t> Gaya kepimpinan Islamik </a:t>
            </a:r>
            <a:endParaRPr/>
          </a:p>
          <a:p>
            <a:pPr marL="0" lvl="0" indent="0" algn="l" rtl="0">
              <a:lnSpc>
                <a:spcPct val="100000"/>
              </a:lnSpc>
              <a:spcBef>
                <a:spcPts val="0"/>
              </a:spcBef>
              <a:spcAft>
                <a:spcPts val="0"/>
              </a:spcAft>
              <a:buClr>
                <a:schemeClr val="accent1"/>
              </a:buClr>
              <a:buSzPts val="2560"/>
              <a:buNone/>
            </a:pPr>
            <a:endParaRPr sz="2600">
              <a:solidFill>
                <a:schemeClr val="dk1"/>
              </a:solidFill>
              <a:latin typeface="Tahoma"/>
              <a:ea typeface="Tahoma"/>
              <a:cs typeface="Tahoma"/>
              <a:sym typeface="Tahoma"/>
            </a:endParaRPr>
          </a:p>
          <a:p>
            <a:pPr marL="273050" lvl="0" indent="-273050" algn="l" rtl="0">
              <a:lnSpc>
                <a:spcPct val="100000"/>
              </a:lnSpc>
              <a:spcBef>
                <a:spcPts val="1000"/>
              </a:spcBef>
              <a:spcAft>
                <a:spcPts val="0"/>
              </a:spcAft>
              <a:buClr>
                <a:schemeClr val="accent1"/>
              </a:buClr>
              <a:buSzPts val="1920"/>
              <a:buNone/>
            </a:pPr>
            <a:r>
              <a:rPr lang="en-US" sz="2400">
                <a:solidFill>
                  <a:schemeClr val="dk1"/>
                </a:solidFill>
                <a:latin typeface="Arial"/>
                <a:ea typeface="Arial"/>
                <a:cs typeface="Arial"/>
                <a:sym typeface="Arial"/>
              </a:rPr>
              <a:t>	</a:t>
            </a:r>
            <a:endParaRPr>
              <a:solidFill>
                <a:schemeClr val="dk1"/>
              </a:solidFill>
            </a:endParaRPr>
          </a:p>
        </p:txBody>
      </p:sp>
      <p:sp>
        <p:nvSpPr>
          <p:cNvPr id="183" name="Google Shape;183;p25"/>
          <p:cNvSpPr txBox="1"/>
          <p:nvPr/>
        </p:nvSpPr>
        <p:spPr>
          <a:xfrm>
            <a:off x="1460249" y="220665"/>
            <a:ext cx="8258810"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2.4.1 Pengenalan Kepimpinan </a:t>
            </a:r>
            <a:endParaRPr sz="3200" b="1" i="0" u="none" strike="noStrike" cap="none">
              <a:solidFill>
                <a:srgbClr val="000000"/>
              </a:solidFill>
              <a:latin typeface="Federo"/>
              <a:ea typeface="Federo"/>
              <a:cs typeface="Federo"/>
              <a:sym typeface="Federo"/>
            </a:endParaRPr>
          </a:p>
        </p:txBody>
      </p:sp>
      <p:pic>
        <p:nvPicPr>
          <p:cNvPr id="184" name="Google Shape;184;p25"/>
          <p:cNvPicPr preferRelativeResize="0"/>
          <p:nvPr/>
        </p:nvPicPr>
        <p:blipFill rotWithShape="1">
          <a:blip r:embed="rId3">
            <a:alphaModFix/>
          </a:blip>
          <a:srcRect/>
          <a:stretch/>
        </p:blipFill>
        <p:spPr>
          <a:xfrm>
            <a:off x="7640822" y="5238209"/>
            <a:ext cx="3980564" cy="1399126"/>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body" idx="1"/>
          </p:nvPr>
        </p:nvSpPr>
        <p:spPr>
          <a:xfrm>
            <a:off x="3992246" y="1642744"/>
            <a:ext cx="7896225" cy="506793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600"/>
              </a:spcBef>
              <a:spcAft>
                <a:spcPts val="0"/>
              </a:spcAft>
              <a:buClr>
                <a:schemeClr val="dk1"/>
              </a:buClr>
              <a:buSzPts val="1920"/>
              <a:buChar char="•"/>
            </a:pPr>
            <a:r>
              <a:rPr lang="en-US" sz="2600">
                <a:solidFill>
                  <a:schemeClr val="dk1"/>
                </a:solidFill>
                <a:latin typeface="Tahoma"/>
                <a:ea typeface="Tahoma"/>
                <a:cs typeface="Tahoma"/>
                <a:sym typeface="Tahoma"/>
              </a:rPr>
              <a:t>Gaya kepimpinan autokratik melibatkan seorang ketua yang mengarah kaedah kerja, membuat keputusan berseorangan, dan menghadkan penyertaan pekerja. </a:t>
            </a:r>
            <a:endParaRPr/>
          </a:p>
          <a:p>
            <a:pPr marL="0" lvl="0" indent="0" algn="l" rtl="0">
              <a:lnSpc>
                <a:spcPct val="90000"/>
              </a:lnSpc>
              <a:spcBef>
                <a:spcPts val="600"/>
              </a:spcBef>
              <a:spcAft>
                <a:spcPts val="0"/>
              </a:spcAft>
              <a:buClr>
                <a:schemeClr val="dk1"/>
              </a:buClr>
              <a:buSzPts val="1920"/>
              <a:buNone/>
            </a:pPr>
            <a:endParaRPr sz="2600">
              <a:solidFill>
                <a:schemeClr val="dk1"/>
              </a:solidFill>
              <a:latin typeface="Tahoma"/>
              <a:ea typeface="Tahoma"/>
              <a:cs typeface="Tahoma"/>
              <a:sym typeface="Tahoma"/>
            </a:endParaRPr>
          </a:p>
          <a:p>
            <a:pPr marL="342900" lvl="0" indent="-342900" algn="l" rtl="0">
              <a:lnSpc>
                <a:spcPct val="90000"/>
              </a:lnSpc>
              <a:spcBef>
                <a:spcPts val="600"/>
              </a:spcBef>
              <a:spcAft>
                <a:spcPts val="0"/>
              </a:spcAft>
              <a:buClr>
                <a:schemeClr val="dk1"/>
              </a:buClr>
              <a:buSzPts val="1920"/>
              <a:buChar char="•"/>
            </a:pPr>
            <a:r>
              <a:rPr lang="en-US" sz="2600">
                <a:solidFill>
                  <a:schemeClr val="dk1"/>
                </a:solidFill>
                <a:latin typeface="Tahoma"/>
                <a:ea typeface="Tahoma"/>
                <a:cs typeface="Tahoma"/>
                <a:sym typeface="Tahoma"/>
              </a:rPr>
              <a:t>Subordinat tidak terlibat dalam membuat keputusan.</a:t>
            </a:r>
            <a:endParaRPr/>
          </a:p>
          <a:p>
            <a:pPr marL="0" lvl="0" indent="0" algn="l" rtl="0">
              <a:lnSpc>
                <a:spcPct val="90000"/>
              </a:lnSpc>
              <a:spcBef>
                <a:spcPts val="600"/>
              </a:spcBef>
              <a:spcAft>
                <a:spcPts val="0"/>
              </a:spcAft>
              <a:buClr>
                <a:schemeClr val="dk1"/>
              </a:buClr>
              <a:buSzPts val="1920"/>
              <a:buNone/>
            </a:pPr>
            <a:endParaRPr sz="2600">
              <a:solidFill>
                <a:schemeClr val="dk1"/>
              </a:solidFill>
              <a:latin typeface="Tahoma"/>
              <a:ea typeface="Tahoma"/>
              <a:cs typeface="Tahoma"/>
              <a:sym typeface="Tahoma"/>
            </a:endParaRPr>
          </a:p>
          <a:p>
            <a:pPr marL="342900" lvl="0" indent="-342900" algn="l" rtl="0">
              <a:lnSpc>
                <a:spcPct val="90000"/>
              </a:lnSpc>
              <a:spcBef>
                <a:spcPts val="600"/>
              </a:spcBef>
              <a:spcAft>
                <a:spcPts val="0"/>
              </a:spcAft>
              <a:buClr>
                <a:schemeClr val="dk1"/>
              </a:buClr>
              <a:buSzPts val="1920"/>
              <a:buChar char="•"/>
            </a:pPr>
            <a:r>
              <a:rPr lang="en-US" sz="2600">
                <a:solidFill>
                  <a:schemeClr val="dk1"/>
                </a:solidFill>
                <a:latin typeface="Tahoma"/>
                <a:ea typeface="Tahoma"/>
                <a:cs typeface="Tahoma"/>
                <a:sym typeface="Tahoma"/>
              </a:rPr>
              <a:t>Gaya ini sesuai bagi organisasi yang:</a:t>
            </a:r>
            <a:endParaRPr/>
          </a:p>
          <a:p>
            <a:pPr marL="457200" lvl="0" indent="-457200" algn="l" rtl="0">
              <a:lnSpc>
                <a:spcPct val="90000"/>
              </a:lnSpc>
              <a:spcBef>
                <a:spcPts val="600"/>
              </a:spcBef>
              <a:spcAft>
                <a:spcPts val="0"/>
              </a:spcAft>
              <a:buClr>
                <a:schemeClr val="dk1"/>
              </a:buClr>
              <a:buSzPts val="1920"/>
              <a:buFont typeface="Calibri"/>
              <a:buAutoNum type="romanLcPeriod"/>
            </a:pPr>
            <a:r>
              <a:rPr lang="en-US" sz="2600">
                <a:solidFill>
                  <a:schemeClr val="dk1"/>
                </a:solidFill>
                <a:latin typeface="Tahoma"/>
                <a:ea typeface="Tahoma"/>
                <a:cs typeface="Tahoma"/>
                <a:sym typeface="Tahoma"/>
              </a:rPr>
              <a:t> </a:t>
            </a:r>
            <a:r>
              <a:rPr lang="en-US" sz="2600">
                <a:latin typeface="Tahoma"/>
                <a:ea typeface="Tahoma"/>
                <a:cs typeface="Tahoma"/>
                <a:sym typeface="Tahoma"/>
              </a:rPr>
              <a:t>Menghadapi krisis</a:t>
            </a:r>
            <a:endParaRPr sz="2600">
              <a:solidFill>
                <a:schemeClr val="dk1"/>
              </a:solidFill>
              <a:latin typeface="Tahoma"/>
              <a:ea typeface="Tahoma"/>
              <a:cs typeface="Tahoma"/>
              <a:sym typeface="Tahoma"/>
            </a:endParaRPr>
          </a:p>
          <a:p>
            <a:pPr marL="525145" lvl="0" indent="-457200" algn="l" rtl="0">
              <a:lnSpc>
                <a:spcPct val="100000"/>
              </a:lnSpc>
              <a:spcBef>
                <a:spcPts val="600"/>
              </a:spcBef>
              <a:spcAft>
                <a:spcPts val="0"/>
              </a:spcAft>
              <a:buClr>
                <a:schemeClr val="accent1"/>
              </a:buClr>
              <a:buSzPts val="1920"/>
              <a:buFont typeface="Calibri"/>
              <a:buAutoNum type="romanLcPeriod"/>
            </a:pPr>
            <a:r>
              <a:rPr lang="en-US" sz="2600">
                <a:latin typeface="Tahoma"/>
                <a:ea typeface="Tahoma"/>
                <a:cs typeface="Tahoma"/>
                <a:sym typeface="Tahoma"/>
              </a:rPr>
              <a:t>Mempunyai pekerja baru</a:t>
            </a:r>
            <a:endParaRPr/>
          </a:p>
          <a:p>
            <a:pPr marL="525145" lvl="0" indent="-457200" algn="l" rtl="0">
              <a:lnSpc>
                <a:spcPct val="100000"/>
              </a:lnSpc>
              <a:spcBef>
                <a:spcPts val="600"/>
              </a:spcBef>
              <a:spcAft>
                <a:spcPts val="0"/>
              </a:spcAft>
              <a:buClr>
                <a:schemeClr val="accent1"/>
              </a:buClr>
              <a:buSzPts val="1920"/>
              <a:buFont typeface="Calibri"/>
              <a:buAutoNum type="romanLcPeriod"/>
            </a:pPr>
            <a:r>
              <a:rPr lang="en-US" sz="2600">
                <a:latin typeface="Tahoma"/>
                <a:ea typeface="Tahoma"/>
                <a:cs typeface="Tahoma"/>
                <a:sym typeface="Tahoma"/>
              </a:rPr>
              <a:t>Memp</a:t>
            </a:r>
            <a:r>
              <a:rPr lang="en-US" sz="2600">
                <a:solidFill>
                  <a:schemeClr val="dk1"/>
                </a:solidFill>
                <a:latin typeface="Tahoma"/>
                <a:ea typeface="Tahoma"/>
                <a:cs typeface="Tahoma"/>
                <a:sym typeface="Tahoma"/>
              </a:rPr>
              <a:t>unyai pekerja yang tidak bermotivasi</a:t>
            </a:r>
            <a:endParaRPr sz="2600">
              <a:solidFill>
                <a:schemeClr val="dk1"/>
              </a:solidFill>
              <a:latin typeface="Tahoma"/>
              <a:ea typeface="Tahoma"/>
              <a:cs typeface="Tahoma"/>
              <a:sym typeface="Tahoma"/>
            </a:endParaRPr>
          </a:p>
          <a:p>
            <a:pPr marL="525145" lvl="0" indent="-335278" algn="l" rtl="0">
              <a:lnSpc>
                <a:spcPct val="100000"/>
              </a:lnSpc>
              <a:spcBef>
                <a:spcPts val="600"/>
              </a:spcBef>
              <a:spcAft>
                <a:spcPts val="0"/>
              </a:spcAft>
              <a:buClr>
                <a:schemeClr val="accent1"/>
              </a:buClr>
              <a:buSzPts val="1920"/>
              <a:buNone/>
            </a:pPr>
            <a:endParaRPr sz="2600">
              <a:solidFill>
                <a:schemeClr val="dk1"/>
              </a:solidFill>
              <a:latin typeface="Tahoma"/>
              <a:ea typeface="Tahoma"/>
              <a:cs typeface="Tahoma"/>
              <a:sym typeface="Tahoma"/>
            </a:endParaRPr>
          </a:p>
          <a:p>
            <a:pPr marL="579120" lvl="0" indent="-457200" algn="l" rtl="0">
              <a:lnSpc>
                <a:spcPct val="100000"/>
              </a:lnSpc>
              <a:spcBef>
                <a:spcPts val="600"/>
              </a:spcBef>
              <a:spcAft>
                <a:spcPts val="0"/>
              </a:spcAft>
              <a:buClr>
                <a:schemeClr val="accent1"/>
              </a:buClr>
              <a:buSzPts val="1920"/>
              <a:buNone/>
            </a:pPr>
            <a:endParaRPr sz="2600">
              <a:solidFill>
                <a:schemeClr val="dk1"/>
              </a:solidFill>
              <a:latin typeface="Tahoma"/>
              <a:ea typeface="Tahoma"/>
              <a:cs typeface="Tahoma"/>
              <a:sym typeface="Tahoma"/>
            </a:endParaRPr>
          </a:p>
        </p:txBody>
      </p:sp>
      <p:sp>
        <p:nvSpPr>
          <p:cNvPr id="190" name="Google Shape;190;p26"/>
          <p:cNvSpPr txBox="1"/>
          <p:nvPr/>
        </p:nvSpPr>
        <p:spPr>
          <a:xfrm>
            <a:off x="2368550" y="242570"/>
            <a:ext cx="4908550" cy="521970"/>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c.  Gaya Kepimpinan  </a:t>
            </a:r>
            <a:endParaRPr sz="3200" b="0" i="0" u="none" strike="noStrike" cap="none">
              <a:solidFill>
                <a:schemeClr val="dk1"/>
              </a:solidFill>
              <a:latin typeface="Calibri"/>
              <a:ea typeface="Calibri"/>
              <a:cs typeface="Calibri"/>
              <a:sym typeface="Calibri"/>
            </a:endParaRPr>
          </a:p>
        </p:txBody>
      </p:sp>
      <p:sp>
        <p:nvSpPr>
          <p:cNvPr id="191" name="Google Shape;191;p26"/>
          <p:cNvSpPr txBox="1"/>
          <p:nvPr/>
        </p:nvSpPr>
        <p:spPr>
          <a:xfrm>
            <a:off x="3134995" y="1025525"/>
            <a:ext cx="5096510" cy="521970"/>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i.  Gaya Kepimpinan Autokratik </a:t>
            </a:r>
            <a:endParaRPr sz="2800" b="0" i="0" u="none" strike="noStrike" cap="none">
              <a:solidFill>
                <a:schemeClr val="dk1"/>
              </a:solidFill>
              <a:latin typeface="Calibri"/>
              <a:ea typeface="Calibri"/>
              <a:cs typeface="Calibri"/>
              <a:sym typeface="Calibri"/>
            </a:endParaRPr>
          </a:p>
        </p:txBody>
      </p:sp>
      <p:pic>
        <p:nvPicPr>
          <p:cNvPr id="192" name="Google Shape;192;p26"/>
          <p:cNvPicPr preferRelativeResize="0"/>
          <p:nvPr/>
        </p:nvPicPr>
        <p:blipFill rotWithShape="1">
          <a:blip r:embed="rId3">
            <a:alphaModFix/>
          </a:blip>
          <a:srcRect/>
          <a:stretch/>
        </p:blipFill>
        <p:spPr>
          <a:xfrm>
            <a:off x="0" y="4933950"/>
            <a:ext cx="3467100" cy="19240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9">
                                            <p:txEl>
                                              <p:pRg st="0" end="0"/>
                                            </p:txEl>
                                          </p:spTgt>
                                        </p:tgtEl>
                                        <p:attrNameLst>
                                          <p:attrName>style.visibility</p:attrName>
                                        </p:attrNameLst>
                                      </p:cBhvr>
                                      <p:to>
                                        <p:strVal val="visible"/>
                                      </p:to>
                                    </p:set>
                                    <p:animEffect transition="in" filter="fade">
                                      <p:cBhvr>
                                        <p:cTn id="7" dur="500"/>
                                        <p:tgtEl>
                                          <p:spTgt spid="1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9">
                                            <p:txEl>
                                              <p:pRg st="1" end="1"/>
                                            </p:txEl>
                                          </p:spTgt>
                                        </p:tgtEl>
                                        <p:attrNameLst>
                                          <p:attrName>style.visibility</p:attrName>
                                        </p:attrNameLst>
                                      </p:cBhvr>
                                      <p:to>
                                        <p:strVal val="visible"/>
                                      </p:to>
                                    </p:set>
                                    <p:animEffect transition="in" filter="fade">
                                      <p:cBhvr>
                                        <p:cTn id="12" dur="500"/>
                                        <p:tgtEl>
                                          <p:spTgt spid="1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9">
                                            <p:txEl>
                                              <p:pRg st="2" end="2"/>
                                            </p:txEl>
                                          </p:spTgt>
                                        </p:tgtEl>
                                        <p:attrNameLst>
                                          <p:attrName>style.visibility</p:attrName>
                                        </p:attrNameLst>
                                      </p:cBhvr>
                                      <p:to>
                                        <p:strVal val="visible"/>
                                      </p:to>
                                    </p:set>
                                    <p:animEffect transition="in" filter="fade">
                                      <p:cBhvr>
                                        <p:cTn id="17" dur="500"/>
                                        <p:tgtEl>
                                          <p:spTgt spid="1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9">
                                            <p:txEl>
                                              <p:pRg st="3" end="3"/>
                                            </p:txEl>
                                          </p:spTgt>
                                        </p:tgtEl>
                                        <p:attrNameLst>
                                          <p:attrName>style.visibility</p:attrName>
                                        </p:attrNameLst>
                                      </p:cBhvr>
                                      <p:to>
                                        <p:strVal val="visible"/>
                                      </p:to>
                                    </p:set>
                                    <p:animEffect transition="in" filter="fade">
                                      <p:cBhvr>
                                        <p:cTn id="22" dur="500"/>
                                        <p:tgtEl>
                                          <p:spTgt spid="1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9">
                                            <p:txEl>
                                              <p:pRg st="4" end="4"/>
                                            </p:txEl>
                                          </p:spTgt>
                                        </p:tgtEl>
                                        <p:attrNameLst>
                                          <p:attrName>style.visibility</p:attrName>
                                        </p:attrNameLst>
                                      </p:cBhvr>
                                      <p:to>
                                        <p:strVal val="visible"/>
                                      </p:to>
                                    </p:set>
                                    <p:animEffect transition="in" filter="fade">
                                      <p:cBhvr>
                                        <p:cTn id="27" dur="500"/>
                                        <p:tgtEl>
                                          <p:spTgt spid="18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9">
                                            <p:txEl>
                                              <p:pRg st="5" end="5"/>
                                            </p:txEl>
                                          </p:spTgt>
                                        </p:tgtEl>
                                        <p:attrNameLst>
                                          <p:attrName>style.visibility</p:attrName>
                                        </p:attrNameLst>
                                      </p:cBhvr>
                                      <p:to>
                                        <p:strVal val="visible"/>
                                      </p:to>
                                    </p:set>
                                    <p:animEffect transition="in" filter="fade">
                                      <p:cBhvr>
                                        <p:cTn id="32" dur="500"/>
                                        <p:tgtEl>
                                          <p:spTgt spid="18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9">
                                            <p:txEl>
                                              <p:pRg st="6" end="6"/>
                                            </p:txEl>
                                          </p:spTgt>
                                        </p:tgtEl>
                                        <p:attrNameLst>
                                          <p:attrName>style.visibility</p:attrName>
                                        </p:attrNameLst>
                                      </p:cBhvr>
                                      <p:to>
                                        <p:strVal val="visible"/>
                                      </p:to>
                                    </p:set>
                                    <p:animEffect transition="in" filter="fade">
                                      <p:cBhvr>
                                        <p:cTn id="37" dur="500"/>
                                        <p:tgtEl>
                                          <p:spTgt spid="18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9">
                                            <p:txEl>
                                              <p:pRg st="7" end="7"/>
                                            </p:txEl>
                                          </p:spTgt>
                                        </p:tgtEl>
                                        <p:attrNameLst>
                                          <p:attrName>style.visibility</p:attrName>
                                        </p:attrNameLst>
                                      </p:cBhvr>
                                      <p:to>
                                        <p:strVal val="visible"/>
                                      </p:to>
                                    </p:set>
                                    <p:animEffect transition="in" filter="fade">
                                      <p:cBhvr>
                                        <p:cTn id="42" dur="500"/>
                                        <p:tgtEl>
                                          <p:spTgt spid="18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9">
                                            <p:txEl>
                                              <p:pRg st="8" end="8"/>
                                            </p:txEl>
                                          </p:spTgt>
                                        </p:tgtEl>
                                        <p:attrNameLst>
                                          <p:attrName>style.visibility</p:attrName>
                                        </p:attrNameLst>
                                      </p:cBhvr>
                                      <p:to>
                                        <p:strVal val="visible"/>
                                      </p:to>
                                    </p:set>
                                    <p:animEffect transition="in" filter="fade">
                                      <p:cBhvr>
                                        <p:cTn id="47" dur="500"/>
                                        <p:tgtEl>
                                          <p:spTgt spid="18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9">
                                            <p:txEl>
                                              <p:pRg st="9" end="9"/>
                                            </p:txEl>
                                          </p:spTgt>
                                        </p:tgtEl>
                                        <p:attrNameLst>
                                          <p:attrName>style.visibility</p:attrName>
                                        </p:attrNameLst>
                                      </p:cBhvr>
                                      <p:to>
                                        <p:strVal val="visible"/>
                                      </p:to>
                                    </p:set>
                                    <p:animEffect transition="in" filter="fade">
                                      <p:cBhvr>
                                        <p:cTn id="52" dur="500"/>
                                        <p:tgtEl>
                                          <p:spTgt spid="18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7"/>
          <p:cNvSpPr txBox="1">
            <a:spLocks noGrp="1"/>
          </p:cNvSpPr>
          <p:nvPr>
            <p:ph type="body" idx="1"/>
          </p:nvPr>
        </p:nvSpPr>
        <p:spPr>
          <a:xfrm>
            <a:off x="2777491" y="699136"/>
            <a:ext cx="8928734" cy="577405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750"/>
              </a:spcBef>
              <a:spcAft>
                <a:spcPts val="0"/>
              </a:spcAft>
              <a:buClr>
                <a:schemeClr val="dk1"/>
              </a:buClr>
              <a:buSzPts val="1920"/>
              <a:buChar char="•"/>
            </a:pPr>
            <a:r>
              <a:rPr lang="en-US" sz="2600">
                <a:solidFill>
                  <a:schemeClr val="dk1"/>
                </a:solidFill>
                <a:latin typeface="Tahoma"/>
                <a:ea typeface="Tahoma"/>
                <a:cs typeface="Tahoma"/>
                <a:sym typeface="Tahoma"/>
              </a:rPr>
              <a:t>Gaya kepimpinan di mana seorang ketua melibatkan pekerja dalam pembuatan keputusan, deligasi autoriti, dan menggunakan maklumbalas sebagai peluang untuk melatih pekerja.  </a:t>
            </a:r>
            <a:endParaRPr/>
          </a:p>
          <a:p>
            <a:pPr marL="342900" lvl="0" indent="-220980" algn="l" rtl="0">
              <a:lnSpc>
                <a:spcPct val="90000"/>
              </a:lnSpc>
              <a:spcBef>
                <a:spcPts val="750"/>
              </a:spcBef>
              <a:spcAft>
                <a:spcPts val="0"/>
              </a:spcAft>
              <a:buClr>
                <a:schemeClr val="dk1"/>
              </a:buClr>
              <a:buSzPts val="1920"/>
              <a:buNone/>
            </a:pPr>
            <a:endParaRPr sz="2600">
              <a:solidFill>
                <a:schemeClr val="dk1"/>
              </a:solidFill>
              <a:latin typeface="Tahoma"/>
              <a:ea typeface="Tahoma"/>
              <a:cs typeface="Tahoma"/>
              <a:sym typeface="Tahoma"/>
            </a:endParaRPr>
          </a:p>
          <a:p>
            <a:pPr marL="342900" lvl="0" indent="-342900" algn="l" rtl="0">
              <a:lnSpc>
                <a:spcPct val="90000"/>
              </a:lnSpc>
              <a:spcBef>
                <a:spcPts val="750"/>
              </a:spcBef>
              <a:spcAft>
                <a:spcPts val="0"/>
              </a:spcAft>
              <a:buClr>
                <a:schemeClr val="dk1"/>
              </a:buClr>
              <a:buSzPts val="1920"/>
              <a:buChar char="•"/>
            </a:pPr>
            <a:r>
              <a:rPr lang="en-US" sz="2600">
                <a:solidFill>
                  <a:schemeClr val="dk1"/>
                </a:solidFill>
                <a:latin typeface="Tahoma"/>
                <a:ea typeface="Tahoma"/>
                <a:cs typeface="Tahoma"/>
                <a:sym typeface="Tahoma"/>
              </a:rPr>
              <a:t>Subordinat dilibatkan/berbincang dalam proses membuat  keputusan tetapi keputusan akhir dibuat oleh pengurus.</a:t>
            </a:r>
            <a:endParaRPr/>
          </a:p>
          <a:p>
            <a:pPr marL="0" lvl="0" indent="0" algn="l" rtl="0">
              <a:lnSpc>
                <a:spcPct val="90000"/>
              </a:lnSpc>
              <a:spcBef>
                <a:spcPts val="750"/>
              </a:spcBef>
              <a:spcAft>
                <a:spcPts val="0"/>
              </a:spcAft>
              <a:buClr>
                <a:schemeClr val="dk1"/>
              </a:buClr>
              <a:buSzPts val="1920"/>
              <a:buNone/>
            </a:pPr>
            <a:endParaRPr/>
          </a:p>
          <a:p>
            <a:pPr marL="342900" lvl="0" indent="-342900" algn="l" rtl="0">
              <a:lnSpc>
                <a:spcPct val="90000"/>
              </a:lnSpc>
              <a:spcBef>
                <a:spcPts val="750"/>
              </a:spcBef>
              <a:spcAft>
                <a:spcPts val="0"/>
              </a:spcAft>
              <a:buClr>
                <a:schemeClr val="dk1"/>
              </a:buClr>
              <a:buSzPts val="1920"/>
              <a:buChar char="•"/>
            </a:pPr>
            <a:r>
              <a:rPr lang="en-US" sz="2600">
                <a:solidFill>
                  <a:schemeClr val="dk1"/>
                </a:solidFill>
                <a:latin typeface="Tahoma"/>
                <a:ea typeface="Tahoma"/>
                <a:cs typeface="Tahoma"/>
                <a:sym typeface="Tahoma"/>
              </a:rPr>
              <a:t>Cara ini akan memberikan keputusan yang lebih berkualiti di samping dapat memajukan bakat dan meningkatkan kemahiran pekerja. </a:t>
            </a:r>
            <a:endParaRPr sz="2600">
              <a:solidFill>
                <a:schemeClr val="dk1"/>
              </a:solidFill>
              <a:latin typeface="Tahoma"/>
              <a:ea typeface="Tahoma"/>
              <a:cs typeface="Tahoma"/>
              <a:sym typeface="Tahoma"/>
            </a:endParaRPr>
          </a:p>
          <a:p>
            <a:pPr marL="342900" lvl="0" indent="-342900" algn="l" rtl="0">
              <a:lnSpc>
                <a:spcPct val="90000"/>
              </a:lnSpc>
              <a:spcBef>
                <a:spcPts val="750"/>
              </a:spcBef>
              <a:spcAft>
                <a:spcPts val="0"/>
              </a:spcAft>
              <a:buClr>
                <a:schemeClr val="dk1"/>
              </a:buClr>
              <a:buSzPts val="1920"/>
              <a:buChar char="•"/>
            </a:pPr>
            <a:r>
              <a:rPr lang="en-US" sz="2600">
                <a:solidFill>
                  <a:schemeClr val="dk1"/>
                </a:solidFill>
                <a:latin typeface="Tahoma"/>
                <a:ea typeface="Tahoma"/>
                <a:cs typeface="Tahoma"/>
                <a:sym typeface="Tahoma"/>
              </a:rPr>
              <a:t>Pekerja akan lebih bermotivasi, berkomitmen tinggi dan lebih bertanggungjawab terhadap keputusan yang dibuat secara bersama</a:t>
            </a:r>
            <a:endParaRPr sz="2600">
              <a:solidFill>
                <a:schemeClr val="dk1"/>
              </a:solidFill>
              <a:latin typeface="Tahoma"/>
              <a:ea typeface="Tahoma"/>
              <a:cs typeface="Tahoma"/>
              <a:sym typeface="Tahoma"/>
            </a:endParaRPr>
          </a:p>
        </p:txBody>
      </p:sp>
      <p:sp>
        <p:nvSpPr>
          <p:cNvPr id="198" name="Google Shape;198;p27"/>
          <p:cNvSpPr txBox="1"/>
          <p:nvPr/>
        </p:nvSpPr>
        <p:spPr>
          <a:xfrm>
            <a:off x="2590800" y="43815"/>
            <a:ext cx="5391150" cy="521970"/>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ii.  Gaya Kepimpinan Demokratik </a:t>
            </a:r>
            <a:endParaRPr sz="2800" b="0" i="0" u="none" strike="noStrike" cap="none">
              <a:solidFill>
                <a:schemeClr val="dk1"/>
              </a:solidFill>
              <a:latin typeface="Calibri"/>
              <a:ea typeface="Calibri"/>
              <a:cs typeface="Calibri"/>
              <a:sym typeface="Calibri"/>
            </a:endParaRPr>
          </a:p>
        </p:txBody>
      </p:sp>
      <p:pic>
        <p:nvPicPr>
          <p:cNvPr id="199" name="Google Shape;199;p27"/>
          <p:cNvPicPr preferRelativeResize="0"/>
          <p:nvPr/>
        </p:nvPicPr>
        <p:blipFill rotWithShape="1">
          <a:blip r:embed="rId3">
            <a:alphaModFix/>
          </a:blip>
          <a:srcRect/>
          <a:stretch/>
        </p:blipFill>
        <p:spPr>
          <a:xfrm>
            <a:off x="-1" y="5070475"/>
            <a:ext cx="2777491" cy="178752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a:spLocks noGrp="1"/>
          </p:cNvSpPr>
          <p:nvPr>
            <p:ph type="body" idx="1"/>
          </p:nvPr>
        </p:nvSpPr>
        <p:spPr>
          <a:xfrm>
            <a:off x="3324226" y="323851"/>
            <a:ext cx="8496935" cy="566610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1"/>
              </a:buClr>
              <a:buSzPts val="1920"/>
              <a:buNone/>
            </a:pPr>
            <a:r>
              <a:rPr lang="en-US" sz="2400">
                <a:solidFill>
                  <a:schemeClr val="dk1"/>
                </a:solidFill>
                <a:latin typeface="Tahoma"/>
                <a:ea typeface="Tahoma"/>
                <a:cs typeface="Tahoma"/>
                <a:sym typeface="Tahoma"/>
              </a:rPr>
              <a:t>       </a:t>
            </a:r>
            <a:r>
              <a:rPr lang="en-US" b="1">
                <a:solidFill>
                  <a:schemeClr val="dk1"/>
                </a:solidFill>
                <a:latin typeface="Federo"/>
                <a:ea typeface="Federo"/>
                <a:cs typeface="Federo"/>
                <a:sym typeface="Federo"/>
              </a:rPr>
              <a:t>    iii.  Gaya Kepimpinan Laisez Faire</a:t>
            </a:r>
            <a:endParaRPr/>
          </a:p>
          <a:p>
            <a:pPr marL="0" lvl="0" indent="0" algn="l" rtl="0">
              <a:lnSpc>
                <a:spcPct val="100000"/>
              </a:lnSpc>
              <a:spcBef>
                <a:spcPts val="0"/>
              </a:spcBef>
              <a:spcAft>
                <a:spcPts val="0"/>
              </a:spcAft>
              <a:buClr>
                <a:schemeClr val="accent1"/>
              </a:buClr>
              <a:buSzPts val="1920"/>
              <a:buNone/>
            </a:pPr>
            <a:endParaRPr sz="2400" b="1">
              <a:solidFill>
                <a:schemeClr val="dk1"/>
              </a:solidFill>
              <a:latin typeface="Federo"/>
              <a:ea typeface="Federo"/>
              <a:cs typeface="Federo"/>
              <a:sym typeface="Federo"/>
            </a:endParaRPr>
          </a:p>
          <a:p>
            <a:pPr marL="171450" lvl="0" indent="-171450" algn="l" rtl="0">
              <a:lnSpc>
                <a:spcPct val="100000"/>
              </a:lnSpc>
              <a:spcBef>
                <a:spcPts val="0"/>
              </a:spcBef>
              <a:spcAft>
                <a:spcPts val="0"/>
              </a:spcAft>
              <a:buClr>
                <a:schemeClr val="accent1"/>
              </a:buClr>
              <a:buSzPts val="1920"/>
              <a:buChar char="•"/>
            </a:pPr>
            <a:r>
              <a:rPr lang="en-US" sz="2600">
                <a:solidFill>
                  <a:schemeClr val="dk1"/>
                </a:solidFill>
                <a:latin typeface="Tahoma"/>
                <a:ea typeface="Tahoma"/>
                <a:cs typeface="Tahoma"/>
                <a:sym typeface="Tahoma"/>
              </a:rPr>
              <a:t>Gaya kepimpinan di mana seorang pengurus membenarkan kumpulan membuat keputusan dan menyempurnakan tugas dengan bagaimana cara yang dirasakan sesuai berdasarkan lingkungan had-had tertentu yang dibenarkan untuk  mencapai matlamat kerja. </a:t>
            </a:r>
            <a:endParaRPr sz="2600">
              <a:latin typeface="Tahoma"/>
              <a:ea typeface="Tahoma"/>
              <a:cs typeface="Tahoma"/>
              <a:sym typeface="Tahoma"/>
            </a:endParaRPr>
          </a:p>
          <a:p>
            <a:pPr marL="171450" lvl="0" indent="-49529" algn="l" rtl="0">
              <a:lnSpc>
                <a:spcPct val="100000"/>
              </a:lnSpc>
              <a:spcBef>
                <a:spcPts val="0"/>
              </a:spcBef>
              <a:spcAft>
                <a:spcPts val="0"/>
              </a:spcAft>
              <a:buClr>
                <a:schemeClr val="accent1"/>
              </a:buClr>
              <a:buSzPts val="1920"/>
              <a:buNone/>
            </a:pPr>
            <a:endParaRPr sz="2600">
              <a:solidFill>
                <a:schemeClr val="dk1"/>
              </a:solidFill>
              <a:latin typeface="Tahoma"/>
              <a:ea typeface="Tahoma"/>
              <a:cs typeface="Tahoma"/>
              <a:sym typeface="Tahoma"/>
            </a:endParaRPr>
          </a:p>
          <a:p>
            <a:pPr marL="342900" lvl="0" indent="-342900" algn="l" rtl="0">
              <a:lnSpc>
                <a:spcPct val="90000"/>
              </a:lnSpc>
              <a:spcBef>
                <a:spcPts val="750"/>
              </a:spcBef>
              <a:spcAft>
                <a:spcPts val="0"/>
              </a:spcAft>
              <a:buClr>
                <a:schemeClr val="dk1"/>
              </a:buClr>
              <a:buSzPts val="1920"/>
              <a:buChar char="•"/>
            </a:pPr>
            <a:r>
              <a:rPr lang="en-US" sz="2600">
                <a:solidFill>
                  <a:schemeClr val="dk1"/>
                </a:solidFill>
                <a:latin typeface="Tahoma"/>
                <a:ea typeface="Tahoma"/>
                <a:cs typeface="Tahoma"/>
                <a:sym typeface="Tahoma"/>
              </a:rPr>
              <a:t>Subordinat menggunakan kemahiran dan pengalaman untuk membuat  pertimbangan dalam menyelesaikan sesuatu masalah.</a:t>
            </a:r>
            <a:endParaRPr/>
          </a:p>
          <a:p>
            <a:pPr marL="0" lvl="0" indent="0" algn="l" rtl="0">
              <a:lnSpc>
                <a:spcPct val="90000"/>
              </a:lnSpc>
              <a:spcBef>
                <a:spcPts val="750"/>
              </a:spcBef>
              <a:spcAft>
                <a:spcPts val="0"/>
              </a:spcAft>
              <a:buClr>
                <a:schemeClr val="dk1"/>
              </a:buClr>
              <a:buSzPts val="1920"/>
              <a:buNone/>
            </a:pPr>
            <a:endParaRPr sz="2600">
              <a:solidFill>
                <a:schemeClr val="dk1"/>
              </a:solidFill>
              <a:latin typeface="Tahoma"/>
              <a:ea typeface="Tahoma"/>
              <a:cs typeface="Tahoma"/>
              <a:sym typeface="Tahoma"/>
            </a:endParaRPr>
          </a:p>
          <a:p>
            <a:pPr marL="342900" lvl="0" indent="-342900" algn="l" rtl="0">
              <a:lnSpc>
                <a:spcPct val="90000"/>
              </a:lnSpc>
              <a:spcBef>
                <a:spcPts val="750"/>
              </a:spcBef>
              <a:spcAft>
                <a:spcPts val="0"/>
              </a:spcAft>
              <a:buClr>
                <a:schemeClr val="dk1"/>
              </a:buClr>
              <a:buSzPts val="1920"/>
              <a:buChar char="•"/>
            </a:pPr>
            <a:r>
              <a:rPr lang="en-US" sz="2600">
                <a:solidFill>
                  <a:schemeClr val="dk1"/>
                </a:solidFill>
                <a:latin typeface="Tahoma"/>
                <a:ea typeface="Tahoma"/>
                <a:cs typeface="Tahoma"/>
                <a:sym typeface="Tahoma"/>
              </a:rPr>
              <a:t>Gaya ini dilaksanakan apabila para pekerja bermotivasi tinggi, berpengalaman, berpengetahuan dan berkemahiran di dalam kerjayanya 	</a:t>
            </a:r>
            <a:endParaRPr sz="2600">
              <a:solidFill>
                <a:schemeClr val="dk1"/>
              </a:solidFill>
              <a:latin typeface="Tahoma"/>
              <a:ea typeface="Tahoma"/>
              <a:cs typeface="Tahoma"/>
              <a:sym typeface="Tahoma"/>
            </a:endParaRPr>
          </a:p>
        </p:txBody>
      </p:sp>
      <p:pic>
        <p:nvPicPr>
          <p:cNvPr id="205" name="Google Shape;205;p28"/>
          <p:cNvPicPr preferRelativeResize="0"/>
          <p:nvPr/>
        </p:nvPicPr>
        <p:blipFill rotWithShape="1">
          <a:blip r:embed="rId3">
            <a:alphaModFix/>
          </a:blip>
          <a:srcRect/>
          <a:stretch/>
        </p:blipFill>
        <p:spPr>
          <a:xfrm>
            <a:off x="0" y="5200650"/>
            <a:ext cx="3028951" cy="1657350"/>
          </a:xfrm>
          <a:prstGeom prst="rect">
            <a:avLst/>
          </a:prstGeom>
          <a:noFill/>
          <a:ln>
            <a:noFill/>
          </a:ln>
          <a:effectLst>
            <a:outerShdw blurRad="292100" dist="139700" dir="2700000" algn="tl" rotWithShape="0">
              <a:srgbClr val="333333">
                <a:alpha val="64313"/>
              </a:srgbClr>
            </a:outerShdw>
          </a:effectLst>
        </p:spPr>
      </p:pic>
      <p:pic>
        <p:nvPicPr>
          <p:cNvPr id="206" name="Google Shape;206;p28"/>
          <p:cNvPicPr preferRelativeResize="0"/>
          <p:nvPr/>
        </p:nvPicPr>
        <p:blipFill rotWithShape="1">
          <a:blip r:embed="rId4">
            <a:alphaModFix/>
          </a:blip>
          <a:srcRect/>
          <a:stretch/>
        </p:blipFill>
        <p:spPr>
          <a:xfrm>
            <a:off x="370839" y="3590925"/>
            <a:ext cx="2907993" cy="1704975"/>
          </a:xfrm>
          <a:prstGeom prst="rect">
            <a:avLst/>
          </a:prstGeom>
          <a:noFill/>
          <a:ln>
            <a:noFill/>
          </a:ln>
          <a:effectLst>
            <a:outerShdw blurRad="292100" dist="139700" dir="2700000" algn="tl" rotWithShape="0">
              <a:srgbClr val="333333">
                <a:alpha val="64313"/>
              </a:srgbClr>
            </a:outerShdw>
          </a:effec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29"/>
          <p:cNvPicPr preferRelativeResize="0"/>
          <p:nvPr/>
        </p:nvPicPr>
        <p:blipFill rotWithShape="1">
          <a:blip r:embed="rId3">
            <a:alphaModFix/>
          </a:blip>
          <a:srcRect l="40194"/>
          <a:stretch/>
        </p:blipFill>
        <p:spPr>
          <a:xfrm rot="923199">
            <a:off x="130082" y="3019647"/>
            <a:ext cx="1826310" cy="1871330"/>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212" name="Google Shape;212;p29"/>
          <p:cNvSpPr txBox="1">
            <a:spLocks noGrp="1"/>
          </p:cNvSpPr>
          <p:nvPr>
            <p:ph type="body" idx="1"/>
          </p:nvPr>
        </p:nvSpPr>
        <p:spPr>
          <a:xfrm>
            <a:off x="2296637" y="119467"/>
            <a:ext cx="9738929" cy="6103088"/>
          </a:xfrm>
          <a:prstGeom prst="rect">
            <a:avLst/>
          </a:prstGeom>
          <a:noFill/>
          <a:ln>
            <a:noFill/>
          </a:ln>
        </p:spPr>
        <p:txBody>
          <a:bodyPr spcFirstLastPara="1" wrap="square" lIns="91425" tIns="45700" rIns="91425" bIns="45700" anchor="t" anchorCtr="0">
            <a:noAutofit/>
          </a:bodyPr>
          <a:lstStyle/>
          <a:p>
            <a:pPr marL="525145" lvl="0" indent="-457200" algn="l" rtl="0">
              <a:lnSpc>
                <a:spcPct val="80000"/>
              </a:lnSpc>
              <a:spcBef>
                <a:spcPts val="0"/>
              </a:spcBef>
              <a:spcAft>
                <a:spcPts val="0"/>
              </a:spcAft>
              <a:buClr>
                <a:schemeClr val="accent1"/>
              </a:buClr>
              <a:buSzPts val="800"/>
              <a:buNone/>
            </a:pPr>
            <a:r>
              <a:rPr lang="en-US" b="1">
                <a:solidFill>
                  <a:schemeClr val="dk1"/>
                </a:solidFill>
                <a:latin typeface="Tahoma"/>
                <a:ea typeface="Tahoma"/>
                <a:cs typeface="Tahoma"/>
                <a:sym typeface="Tahoma"/>
              </a:rPr>
              <a:t>iv.  Gaya Kepimpinan Islamik</a:t>
            </a:r>
            <a:endParaRPr b="1">
              <a:solidFill>
                <a:schemeClr val="dk1"/>
              </a:solidFill>
              <a:latin typeface="Tahoma"/>
              <a:ea typeface="Tahoma"/>
              <a:cs typeface="Tahoma"/>
              <a:sym typeface="Tahoma"/>
            </a:endParaRPr>
          </a:p>
          <a:p>
            <a:pPr marL="457200" lvl="0" indent="-457200" algn="l" rtl="0">
              <a:lnSpc>
                <a:spcPct val="80000"/>
              </a:lnSpc>
              <a:spcBef>
                <a:spcPts val="750"/>
              </a:spcBef>
              <a:spcAft>
                <a:spcPts val="0"/>
              </a:spcAft>
              <a:buClr>
                <a:srgbClr val="C55A11"/>
              </a:buClr>
              <a:buSzPts val="1920"/>
              <a:buFont typeface="Arial"/>
              <a:buChar char="•"/>
            </a:pPr>
            <a:r>
              <a:rPr lang="en-US">
                <a:solidFill>
                  <a:schemeClr val="dk1"/>
                </a:solidFill>
                <a:latin typeface="Tahoma"/>
                <a:ea typeface="Tahoma"/>
                <a:cs typeface="Tahoma"/>
                <a:sym typeface="Tahoma"/>
              </a:rPr>
              <a:t>Gaya kepimpinan dimana seorang ketua memimpin berdasarkan Al-Quran, As-Sunnah dan berteraskan 'konsep Syura’.</a:t>
            </a:r>
            <a:endParaRPr>
              <a:solidFill>
                <a:schemeClr val="dk1"/>
              </a:solidFill>
              <a:latin typeface="Tahoma"/>
              <a:ea typeface="Tahoma"/>
              <a:cs typeface="Tahoma"/>
              <a:sym typeface="Tahoma"/>
            </a:endParaRPr>
          </a:p>
          <a:p>
            <a:pPr marL="678180" lvl="0" indent="-304800" algn="l" rtl="0">
              <a:lnSpc>
                <a:spcPct val="80000"/>
              </a:lnSpc>
              <a:spcBef>
                <a:spcPts val="750"/>
              </a:spcBef>
              <a:spcAft>
                <a:spcPts val="0"/>
              </a:spcAft>
              <a:buClr>
                <a:srgbClr val="C55A11"/>
              </a:buClr>
              <a:buSzPts val="2400"/>
              <a:buFont typeface="Arial"/>
              <a:buNone/>
            </a:pPr>
            <a:endParaRPr>
              <a:solidFill>
                <a:schemeClr val="dk1"/>
              </a:solidFill>
              <a:latin typeface="Tahoma"/>
              <a:ea typeface="Tahoma"/>
              <a:cs typeface="Tahoma"/>
              <a:sym typeface="Tahoma"/>
            </a:endParaRPr>
          </a:p>
          <a:p>
            <a:pPr marL="457200" lvl="0" indent="-457200" algn="just" rtl="0">
              <a:lnSpc>
                <a:spcPct val="80000"/>
              </a:lnSpc>
              <a:spcBef>
                <a:spcPts val="750"/>
              </a:spcBef>
              <a:spcAft>
                <a:spcPts val="0"/>
              </a:spcAft>
              <a:buClr>
                <a:srgbClr val="C55A11"/>
              </a:buClr>
              <a:buSzPts val="1600"/>
              <a:buFont typeface="Arial"/>
              <a:buChar char="•"/>
            </a:pPr>
            <a:r>
              <a:rPr lang="en-US">
                <a:solidFill>
                  <a:schemeClr val="dk1"/>
                </a:solidFill>
                <a:latin typeface="Tahoma"/>
                <a:ea typeface="Tahoma"/>
                <a:cs typeface="Tahoma"/>
                <a:sym typeface="Tahoma"/>
              </a:rPr>
              <a:t>Pekerja wajib taat kepada pemimpin dengan mematuhi arahan.</a:t>
            </a:r>
            <a:endParaRPr>
              <a:solidFill>
                <a:schemeClr val="dk1"/>
              </a:solidFill>
              <a:latin typeface="Tahoma"/>
              <a:ea typeface="Tahoma"/>
              <a:cs typeface="Tahoma"/>
              <a:sym typeface="Tahoma"/>
            </a:endParaRPr>
          </a:p>
          <a:p>
            <a:pPr marL="457200" lvl="0" indent="-457200" algn="just" rtl="0">
              <a:lnSpc>
                <a:spcPct val="80000"/>
              </a:lnSpc>
              <a:spcBef>
                <a:spcPts val="750"/>
              </a:spcBef>
              <a:spcAft>
                <a:spcPts val="0"/>
              </a:spcAft>
              <a:buClr>
                <a:srgbClr val="C55A11"/>
              </a:buClr>
              <a:buSzPts val="1600"/>
              <a:buFont typeface="Arial"/>
              <a:buChar char="•"/>
            </a:pPr>
            <a:r>
              <a:rPr lang="en-US">
                <a:solidFill>
                  <a:schemeClr val="dk1"/>
                </a:solidFill>
                <a:latin typeface="Tahoma"/>
                <a:ea typeface="Tahoma"/>
                <a:cs typeface="Tahoma"/>
                <a:sym typeface="Tahoma"/>
              </a:rPr>
              <a:t>Pemimpin wajib menerima kuasa dan tanggungjawab pengurusan yang diberikan  oleh organisasi sebagai amanah.</a:t>
            </a:r>
            <a:endParaRPr>
              <a:solidFill>
                <a:schemeClr val="dk1"/>
              </a:solidFill>
              <a:latin typeface="Tahoma"/>
              <a:ea typeface="Tahoma"/>
              <a:cs typeface="Tahoma"/>
              <a:sym typeface="Tahoma"/>
            </a:endParaRPr>
          </a:p>
          <a:p>
            <a:pPr marL="457200" lvl="0" indent="-457200" algn="just" rtl="0">
              <a:lnSpc>
                <a:spcPct val="80000"/>
              </a:lnSpc>
              <a:spcBef>
                <a:spcPts val="750"/>
              </a:spcBef>
              <a:spcAft>
                <a:spcPts val="0"/>
              </a:spcAft>
              <a:buClr>
                <a:srgbClr val="C55A11"/>
              </a:buClr>
              <a:buSzPts val="1600"/>
              <a:buFont typeface="Arial"/>
              <a:buChar char="•"/>
            </a:pPr>
            <a:r>
              <a:rPr lang="en-US">
                <a:solidFill>
                  <a:schemeClr val="dk1"/>
                </a:solidFill>
                <a:latin typeface="Tahoma"/>
                <a:ea typeface="Tahoma"/>
                <a:cs typeface="Tahoma"/>
                <a:sym typeface="Tahoma"/>
              </a:rPr>
              <a:t>Amanah </a:t>
            </a:r>
            <a:r>
              <a:rPr lang="en-US" i="1">
                <a:solidFill>
                  <a:schemeClr val="dk1"/>
                </a:solidFill>
                <a:latin typeface="Tahoma"/>
                <a:ea typeface="Tahoma"/>
                <a:cs typeface="Tahoma"/>
                <a:sym typeface="Tahoma"/>
              </a:rPr>
              <a:t>(tugas-tugas pengurusan) </a:t>
            </a:r>
            <a:r>
              <a:rPr lang="en-US">
                <a:solidFill>
                  <a:schemeClr val="dk1"/>
                </a:solidFill>
                <a:latin typeface="Tahoma"/>
                <a:ea typeface="Tahoma"/>
                <a:cs typeface="Tahoma"/>
                <a:sym typeface="Tahoma"/>
              </a:rPr>
              <a:t>yang diterima perlu ditadbir, diputus atau dibincangkan menerusi 'konsep syura’ iaitu permuafakatan antara pemimpin dan pekerja bawahannya serta pengurus-pengurus yang lain</a:t>
            </a:r>
            <a:endParaRPr>
              <a:solidFill>
                <a:schemeClr val="dk1"/>
              </a:solidFill>
              <a:latin typeface="Tahoma"/>
              <a:ea typeface="Tahoma"/>
              <a:cs typeface="Tahoma"/>
              <a:sym typeface="Tahoma"/>
            </a:endParaRPr>
          </a:p>
          <a:p>
            <a:pPr marL="457200" lvl="0" indent="-457200" algn="just" rtl="0">
              <a:lnSpc>
                <a:spcPct val="80000"/>
              </a:lnSpc>
              <a:spcBef>
                <a:spcPts val="750"/>
              </a:spcBef>
              <a:spcAft>
                <a:spcPts val="0"/>
              </a:spcAft>
              <a:buClr>
                <a:srgbClr val="C55A11"/>
              </a:buClr>
              <a:buSzPts val="1600"/>
              <a:buFont typeface="Arial"/>
              <a:buChar char="•"/>
            </a:pPr>
            <a:r>
              <a:rPr lang="en-US">
                <a:solidFill>
                  <a:schemeClr val="dk1"/>
                </a:solidFill>
                <a:latin typeface="Tahoma"/>
                <a:ea typeface="Tahoma"/>
                <a:cs typeface="Tahoma"/>
                <a:sym typeface="Tahoma"/>
              </a:rPr>
              <a:t>Menekankan konsep tawakkal  iaitu berserah kepada tuhan setelah semua idea dan perancangan diatur  dengan teliti bagi mencapai matlamat organisasi.</a:t>
            </a:r>
            <a:endParaRPr>
              <a:solidFill>
                <a:schemeClr val="dk1"/>
              </a:solidFill>
              <a:latin typeface="Tahoma"/>
              <a:ea typeface="Tahoma"/>
              <a:cs typeface="Tahoma"/>
              <a:sym typeface="Tahoma"/>
            </a:endParaRPr>
          </a:p>
        </p:txBody>
      </p:sp>
      <p:pic>
        <p:nvPicPr>
          <p:cNvPr id="213" name="Google Shape;213;p29"/>
          <p:cNvPicPr preferRelativeResize="0"/>
          <p:nvPr/>
        </p:nvPicPr>
        <p:blipFill rotWithShape="1">
          <a:blip r:embed="rId4">
            <a:alphaModFix/>
          </a:blip>
          <a:srcRect/>
          <a:stretch/>
        </p:blipFill>
        <p:spPr>
          <a:xfrm rot="848423">
            <a:off x="343813" y="707985"/>
            <a:ext cx="1788202" cy="2103970"/>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2">
                                            <p:txEl>
                                              <p:pRg st="0" end="0"/>
                                            </p:txEl>
                                          </p:spTgt>
                                        </p:tgtEl>
                                        <p:attrNameLst>
                                          <p:attrName>style.visibility</p:attrName>
                                        </p:attrNameLst>
                                      </p:cBhvr>
                                      <p:to>
                                        <p:strVal val="visible"/>
                                      </p:to>
                                    </p:set>
                                    <p:animEffect transition="in" filter="fade">
                                      <p:cBhvr>
                                        <p:cTn id="7" dur="500"/>
                                        <p:tgtEl>
                                          <p:spTgt spid="2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2">
                                            <p:txEl>
                                              <p:pRg st="1" end="1"/>
                                            </p:txEl>
                                          </p:spTgt>
                                        </p:tgtEl>
                                        <p:attrNameLst>
                                          <p:attrName>style.visibility</p:attrName>
                                        </p:attrNameLst>
                                      </p:cBhvr>
                                      <p:to>
                                        <p:strVal val="visible"/>
                                      </p:to>
                                    </p:set>
                                    <p:animEffect transition="in" filter="fade">
                                      <p:cBhvr>
                                        <p:cTn id="12" dur="500"/>
                                        <p:tgtEl>
                                          <p:spTgt spid="2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2">
                                            <p:txEl>
                                              <p:pRg st="2" end="2"/>
                                            </p:txEl>
                                          </p:spTgt>
                                        </p:tgtEl>
                                        <p:attrNameLst>
                                          <p:attrName>style.visibility</p:attrName>
                                        </p:attrNameLst>
                                      </p:cBhvr>
                                      <p:to>
                                        <p:strVal val="visible"/>
                                      </p:to>
                                    </p:set>
                                    <p:animEffect transition="in" filter="fade">
                                      <p:cBhvr>
                                        <p:cTn id="17" dur="500"/>
                                        <p:tgtEl>
                                          <p:spTgt spid="2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2">
                                            <p:txEl>
                                              <p:pRg st="3" end="3"/>
                                            </p:txEl>
                                          </p:spTgt>
                                        </p:tgtEl>
                                        <p:attrNameLst>
                                          <p:attrName>style.visibility</p:attrName>
                                        </p:attrNameLst>
                                      </p:cBhvr>
                                      <p:to>
                                        <p:strVal val="visible"/>
                                      </p:to>
                                    </p:set>
                                    <p:animEffect transition="in" filter="fade">
                                      <p:cBhvr>
                                        <p:cTn id="22" dur="500"/>
                                        <p:tgtEl>
                                          <p:spTgt spid="2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2">
                                            <p:txEl>
                                              <p:pRg st="4" end="4"/>
                                            </p:txEl>
                                          </p:spTgt>
                                        </p:tgtEl>
                                        <p:attrNameLst>
                                          <p:attrName>style.visibility</p:attrName>
                                        </p:attrNameLst>
                                      </p:cBhvr>
                                      <p:to>
                                        <p:strVal val="visible"/>
                                      </p:to>
                                    </p:set>
                                    <p:animEffect transition="in" filter="fade">
                                      <p:cBhvr>
                                        <p:cTn id="27" dur="500"/>
                                        <p:tgtEl>
                                          <p:spTgt spid="2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2">
                                            <p:txEl>
                                              <p:pRg st="5" end="5"/>
                                            </p:txEl>
                                          </p:spTgt>
                                        </p:tgtEl>
                                        <p:attrNameLst>
                                          <p:attrName>style.visibility</p:attrName>
                                        </p:attrNameLst>
                                      </p:cBhvr>
                                      <p:to>
                                        <p:strVal val="visible"/>
                                      </p:to>
                                    </p:set>
                                    <p:animEffect transition="in" filter="fade">
                                      <p:cBhvr>
                                        <p:cTn id="32" dur="500"/>
                                        <p:tgtEl>
                                          <p:spTgt spid="21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2">
                                            <p:txEl>
                                              <p:pRg st="6" end="6"/>
                                            </p:txEl>
                                          </p:spTgt>
                                        </p:tgtEl>
                                        <p:attrNameLst>
                                          <p:attrName>style.visibility</p:attrName>
                                        </p:attrNameLst>
                                      </p:cBhvr>
                                      <p:to>
                                        <p:strVal val="visible"/>
                                      </p:to>
                                    </p:set>
                                    <p:animEffect transition="in" filter="fade">
                                      <p:cBhvr>
                                        <p:cTn id="37" dur="500"/>
                                        <p:tgtEl>
                                          <p:spTgt spid="2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graphicFrame>
        <p:nvGraphicFramePr>
          <p:cNvPr id="218" name="Google Shape;218;p30"/>
          <p:cNvGraphicFramePr/>
          <p:nvPr/>
        </p:nvGraphicFramePr>
        <p:xfrm>
          <a:off x="857250" y="1337945"/>
          <a:ext cx="10915650" cy="5366400"/>
        </p:xfrm>
        <a:graphic>
          <a:graphicData uri="http://schemas.openxmlformats.org/drawingml/2006/table">
            <a:tbl>
              <a:tblPr>
                <a:noFill/>
                <a:tableStyleId>{4CFAC3AD-4AE6-462F-803B-BAEB3055CA9C}</a:tableStyleId>
              </a:tblPr>
              <a:tblGrid>
                <a:gridCol w="2182975">
                  <a:extLst>
                    <a:ext uri="{9D8B030D-6E8A-4147-A177-3AD203B41FA5}">
                      <a16:colId xmlns:a16="http://schemas.microsoft.com/office/drawing/2014/main" val="20000"/>
                    </a:ext>
                  </a:extLst>
                </a:gridCol>
                <a:gridCol w="2507300">
                  <a:extLst>
                    <a:ext uri="{9D8B030D-6E8A-4147-A177-3AD203B41FA5}">
                      <a16:colId xmlns:a16="http://schemas.microsoft.com/office/drawing/2014/main" val="20001"/>
                    </a:ext>
                  </a:extLst>
                </a:gridCol>
                <a:gridCol w="2143575">
                  <a:extLst>
                    <a:ext uri="{9D8B030D-6E8A-4147-A177-3AD203B41FA5}">
                      <a16:colId xmlns:a16="http://schemas.microsoft.com/office/drawing/2014/main" val="20002"/>
                    </a:ext>
                  </a:extLst>
                </a:gridCol>
                <a:gridCol w="1898825">
                  <a:extLst>
                    <a:ext uri="{9D8B030D-6E8A-4147-A177-3AD203B41FA5}">
                      <a16:colId xmlns:a16="http://schemas.microsoft.com/office/drawing/2014/main" val="20003"/>
                    </a:ext>
                  </a:extLst>
                </a:gridCol>
                <a:gridCol w="2182975">
                  <a:extLst>
                    <a:ext uri="{9D8B030D-6E8A-4147-A177-3AD203B41FA5}">
                      <a16:colId xmlns:a16="http://schemas.microsoft.com/office/drawing/2014/main" val="20004"/>
                    </a:ext>
                  </a:extLst>
                </a:gridCol>
              </a:tblGrid>
              <a:tr h="548650">
                <a:tc>
                  <a:txBody>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a:solidFill>
                            <a:schemeClr val="lt1"/>
                          </a:solidFill>
                          <a:latin typeface="Arial"/>
                          <a:ea typeface="Arial"/>
                          <a:cs typeface="Arial"/>
                          <a:sym typeface="Arial"/>
                        </a:rPr>
                        <a:t>GAYA KEPIMPINAN</a:t>
                      </a:r>
                      <a:endParaRPr sz="1400" u="none" strike="noStrike" cap="none">
                        <a:solidFill>
                          <a:schemeClr val="lt1"/>
                        </a:solidFill>
                      </a:endParaRPr>
                    </a:p>
                  </a:txBody>
                  <a:tcPr marL="0" marR="0"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548135"/>
                    </a:solidFill>
                  </a:tcPr>
                </a:tc>
                <a:tc>
                  <a:txBody>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a:solidFill>
                            <a:schemeClr val="lt1"/>
                          </a:solidFill>
                          <a:latin typeface="Arial"/>
                          <a:ea typeface="Arial"/>
                          <a:cs typeface="Arial"/>
                          <a:sym typeface="Arial"/>
                        </a:rPr>
                        <a:t>AUTOKRATIK</a:t>
                      </a:r>
                      <a:endParaRPr sz="1400" u="none" strike="noStrike" cap="none">
                        <a:solidFill>
                          <a:schemeClr val="lt1"/>
                        </a:solidFill>
                      </a:endParaRPr>
                    </a:p>
                  </a:txBody>
                  <a:tcPr marL="0" marR="0"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548135"/>
                    </a:solidFill>
                  </a:tcPr>
                </a:tc>
                <a:tc>
                  <a:txBody>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a:solidFill>
                            <a:schemeClr val="lt1"/>
                          </a:solidFill>
                          <a:latin typeface="Arial"/>
                          <a:ea typeface="Arial"/>
                          <a:cs typeface="Arial"/>
                          <a:sym typeface="Arial"/>
                        </a:rPr>
                        <a:t>DEMOKRATIK</a:t>
                      </a:r>
                      <a:endParaRPr sz="1400" u="none" strike="noStrike" cap="none">
                        <a:solidFill>
                          <a:schemeClr val="lt1"/>
                        </a:solidFill>
                      </a:endParaRPr>
                    </a:p>
                  </a:txBody>
                  <a:tcPr marL="0" marR="0"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548135"/>
                    </a:solidFill>
                  </a:tcPr>
                </a:tc>
                <a:tc>
                  <a:txBody>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a:solidFill>
                            <a:schemeClr val="lt1"/>
                          </a:solidFill>
                          <a:latin typeface="Arial"/>
                          <a:ea typeface="Arial"/>
                          <a:cs typeface="Arial"/>
                          <a:sym typeface="Arial"/>
                        </a:rPr>
                        <a:t>LAISSEZ FAIRE</a:t>
                      </a:r>
                      <a:endParaRPr sz="1400" u="none" strike="noStrike" cap="none">
                        <a:solidFill>
                          <a:schemeClr val="lt1"/>
                        </a:solidFill>
                      </a:endParaRPr>
                    </a:p>
                  </a:txBody>
                  <a:tcPr marL="0" marR="0"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548135"/>
                    </a:solidFill>
                  </a:tcPr>
                </a:tc>
                <a:tc>
                  <a:txBody>
                    <a:bodyPr/>
                    <a:lstStyle/>
                    <a:p>
                      <a:pPr marL="0" marR="0" lvl="0" indent="0" algn="ctr" rtl="0">
                        <a:lnSpc>
                          <a:spcPct val="100000"/>
                        </a:lnSpc>
                        <a:spcBef>
                          <a:spcPts val="0"/>
                        </a:spcBef>
                        <a:spcAft>
                          <a:spcPts val="0"/>
                        </a:spcAft>
                        <a:buClr>
                          <a:srgbClr val="FFFFFF"/>
                        </a:buClr>
                        <a:buSzPts val="1800"/>
                        <a:buFont typeface="Arial"/>
                        <a:buNone/>
                      </a:pPr>
                      <a:r>
                        <a:rPr lang="en-US" sz="1800" b="1" i="0" u="none" strike="noStrike" cap="none">
                          <a:solidFill>
                            <a:schemeClr val="lt1"/>
                          </a:solidFill>
                          <a:latin typeface="Arial"/>
                          <a:ea typeface="Arial"/>
                          <a:cs typeface="Arial"/>
                          <a:sym typeface="Arial"/>
                        </a:rPr>
                        <a:t>ISLAMIK</a:t>
                      </a:r>
                      <a:endParaRPr sz="1400" u="none" strike="noStrike" cap="none">
                        <a:solidFill>
                          <a:schemeClr val="lt1"/>
                        </a:solidFill>
                      </a:endParaRPr>
                    </a:p>
                  </a:txBody>
                  <a:tcPr marL="0" marR="0"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548135"/>
                    </a:solidFill>
                  </a:tcPr>
                </a:tc>
                <a:extLst>
                  <a:ext uri="{0D108BD9-81ED-4DB2-BD59-A6C34878D82A}">
                    <a16:rowId xmlns:a16="http://schemas.microsoft.com/office/drawing/2014/main" val="10000"/>
                  </a:ext>
                </a:extLst>
              </a:tr>
              <a:tr h="1950725">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KEPIMPINAN</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BE9CD"/>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Pemimpin bersifat mengarah.</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BE9CD"/>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Pemimpin mengalakkan perbincangan.</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BE9CD"/>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Pemimpin memberikan kebebasan penuh kepada subordinat</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BE9CD"/>
                    </a:solidFill>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kepimpinan berdasarkan Al-Quran, As-Sunnah dan berteraskan konsep Syura’.</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BE9CD"/>
                    </a:solidFill>
                  </a:tcPr>
                </a:tc>
                <a:extLst>
                  <a:ext uri="{0D108BD9-81ED-4DB2-BD59-A6C34878D82A}">
                    <a16:rowId xmlns:a16="http://schemas.microsoft.com/office/drawing/2014/main" val="10001"/>
                  </a:ext>
                </a:extLst>
              </a:tr>
              <a:tr h="2867025">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PEMBUATAN KEPUTUSAN</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EF4E8"/>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Ketua membuat keputusan, penglibatan subordinat dalam membuat keputusan adalah minimum.</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EF4E8"/>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Pembuatan keputusan bersama di antara ketua dan subordinat.</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EF4E8"/>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Pembuatan keputusan secara bersendirian.</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EF4E8"/>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Keputusan perlu dibincangkan menerusi konsep syura’ iaitu permuafakatan antara pemimpin dan pekerja bawahannya.</a:t>
                      </a:r>
                      <a:endParaRPr sz="1400" u="none" strike="noStrike" cap="none">
                        <a:solidFill>
                          <a:schemeClr val="dk1"/>
                        </a:solidFill>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EF4E8"/>
                    </a:solidFill>
                  </a:tcPr>
                </a:tc>
                <a:extLst>
                  <a:ext uri="{0D108BD9-81ED-4DB2-BD59-A6C34878D82A}">
                    <a16:rowId xmlns:a16="http://schemas.microsoft.com/office/drawing/2014/main" val="10002"/>
                  </a:ext>
                </a:extLst>
              </a:tr>
            </a:tbl>
          </a:graphicData>
        </a:graphic>
      </p:graphicFrame>
      <p:sp>
        <p:nvSpPr>
          <p:cNvPr id="219" name="Google Shape;219;p30"/>
          <p:cNvSpPr txBox="1"/>
          <p:nvPr/>
        </p:nvSpPr>
        <p:spPr>
          <a:xfrm>
            <a:off x="2974341" y="587376"/>
            <a:ext cx="6344285" cy="6457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c. Perbandingan Gaya Kepimpinan</a:t>
            </a:r>
            <a:endParaRPr sz="1800" b="0" i="0" u="none" strike="noStrike" cap="none">
              <a:solidFill>
                <a:schemeClr val="dk1"/>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a:spLocks noGrp="1"/>
          </p:cNvSpPr>
          <p:nvPr>
            <p:ph type="body" idx="1"/>
          </p:nvPr>
        </p:nvSpPr>
        <p:spPr>
          <a:xfrm>
            <a:off x="4846999" y="2773009"/>
            <a:ext cx="5936254" cy="2560673"/>
          </a:xfrm>
          <a:prstGeom prst="rect">
            <a:avLst/>
          </a:prstGeom>
          <a:noFill/>
          <a:ln>
            <a:noFill/>
          </a:ln>
        </p:spPr>
        <p:txBody>
          <a:bodyPr spcFirstLastPara="1" wrap="square" lIns="91425" tIns="45700" rIns="91425" bIns="45700" anchor="t" anchorCtr="0">
            <a:noAutofit/>
          </a:bodyPr>
          <a:lstStyle/>
          <a:p>
            <a:pPr marL="525145" lvl="0" indent="-457200" algn="l" rtl="0">
              <a:lnSpc>
                <a:spcPct val="90000"/>
              </a:lnSpc>
              <a:spcBef>
                <a:spcPts val="1000"/>
              </a:spcBef>
              <a:spcAft>
                <a:spcPts val="0"/>
              </a:spcAft>
              <a:buClr>
                <a:schemeClr val="accent1"/>
              </a:buClr>
              <a:buSzPts val="1920"/>
              <a:buNone/>
            </a:pPr>
            <a:r>
              <a:rPr lang="en-US" b="1">
                <a:solidFill>
                  <a:srgbClr val="404040"/>
                </a:solidFill>
                <a:latin typeface="Federo"/>
                <a:ea typeface="Federo"/>
                <a:cs typeface="Federo"/>
                <a:sym typeface="Federo"/>
              </a:rPr>
              <a:t>Takrif Motivasi</a:t>
            </a:r>
            <a:endParaRPr b="1">
              <a:latin typeface="Federo"/>
              <a:ea typeface="Federo"/>
              <a:cs typeface="Federo"/>
              <a:sym typeface="Federo"/>
            </a:endParaRPr>
          </a:p>
          <a:p>
            <a:pPr marL="0" lvl="0" indent="0" algn="l" rtl="0">
              <a:lnSpc>
                <a:spcPct val="90000"/>
              </a:lnSpc>
              <a:spcBef>
                <a:spcPts val="1000"/>
              </a:spcBef>
              <a:spcAft>
                <a:spcPts val="0"/>
              </a:spcAft>
              <a:buClr>
                <a:schemeClr val="accent1"/>
              </a:buClr>
              <a:buSzPts val="2880"/>
              <a:buNone/>
            </a:pPr>
            <a:r>
              <a:rPr lang="en-US">
                <a:solidFill>
                  <a:srgbClr val="404040"/>
                </a:solidFill>
                <a:latin typeface="Tahoma"/>
                <a:ea typeface="Tahoma"/>
                <a:cs typeface="Tahoma"/>
                <a:sym typeface="Tahoma"/>
              </a:rPr>
              <a:t>Proses dimana usaha seseorang yang dirangsang, diarah dan dikekalkan kearah pencapaian matlamat.</a:t>
            </a:r>
            <a:endParaRPr>
              <a:latin typeface="Tahoma"/>
              <a:ea typeface="Tahoma"/>
              <a:cs typeface="Tahoma"/>
              <a:sym typeface="Tahoma"/>
            </a:endParaRPr>
          </a:p>
          <a:p>
            <a:pPr marL="525145" lvl="0" indent="-457200" algn="l" rtl="0">
              <a:lnSpc>
                <a:spcPct val="90000"/>
              </a:lnSpc>
              <a:spcBef>
                <a:spcPts val="1000"/>
              </a:spcBef>
              <a:spcAft>
                <a:spcPts val="0"/>
              </a:spcAft>
              <a:buClr>
                <a:schemeClr val="accent1"/>
              </a:buClr>
              <a:buSzPts val="2880"/>
              <a:buNone/>
            </a:pPr>
            <a:r>
              <a:rPr lang="en-US">
                <a:solidFill>
                  <a:srgbClr val="800080"/>
                </a:solidFill>
                <a:latin typeface="Tahoma"/>
                <a:ea typeface="Tahoma"/>
                <a:cs typeface="Tahoma"/>
                <a:sym typeface="Tahoma"/>
              </a:rPr>
              <a:t>	</a:t>
            </a:r>
            <a:endParaRPr>
              <a:latin typeface="Tahoma"/>
              <a:ea typeface="Tahoma"/>
              <a:cs typeface="Tahoma"/>
              <a:sym typeface="Tahoma"/>
            </a:endParaRPr>
          </a:p>
        </p:txBody>
      </p:sp>
      <p:sp>
        <p:nvSpPr>
          <p:cNvPr id="225" name="Google Shape;225;p31"/>
          <p:cNvSpPr txBox="1"/>
          <p:nvPr/>
        </p:nvSpPr>
        <p:spPr>
          <a:xfrm>
            <a:off x="1766571" y="128906"/>
            <a:ext cx="9144273" cy="68646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2.4 Kepimpinan dan Motivasi</a:t>
            </a:r>
            <a:endParaRPr sz="3200" b="1" i="0" u="none" strike="noStrike" cap="none">
              <a:solidFill>
                <a:srgbClr val="000000"/>
              </a:solidFill>
              <a:latin typeface="Federo"/>
              <a:ea typeface="Federo"/>
              <a:cs typeface="Federo"/>
              <a:sym typeface="Federo"/>
            </a:endParaRPr>
          </a:p>
        </p:txBody>
      </p:sp>
      <p:sp>
        <p:nvSpPr>
          <p:cNvPr id="226" name="Google Shape;226;p31"/>
          <p:cNvSpPr txBox="1"/>
          <p:nvPr/>
        </p:nvSpPr>
        <p:spPr>
          <a:xfrm>
            <a:off x="2123440" y="686436"/>
            <a:ext cx="7945120"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2.4.2 Pengenalan Motivasi</a:t>
            </a:r>
            <a:endParaRPr sz="2800" b="1" i="0" u="none" strike="noStrike" cap="none">
              <a:solidFill>
                <a:srgbClr val="000000"/>
              </a:solidFill>
              <a:latin typeface="Federo"/>
              <a:ea typeface="Federo"/>
              <a:cs typeface="Federo"/>
              <a:sym typeface="Federo"/>
            </a:endParaRPr>
          </a:p>
        </p:txBody>
      </p:sp>
      <p:sp>
        <p:nvSpPr>
          <p:cNvPr id="227" name="Google Shape;227;p31"/>
          <p:cNvSpPr txBox="1"/>
          <p:nvPr/>
        </p:nvSpPr>
        <p:spPr>
          <a:xfrm>
            <a:off x="4617086" y="1524318"/>
            <a:ext cx="768286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a. Teori-teori Motivasi</a:t>
            </a:r>
            <a:endParaRPr sz="2800" b="1" i="0" u="none" strike="noStrike" cap="none">
              <a:solidFill>
                <a:srgbClr val="000000"/>
              </a:solidFill>
              <a:latin typeface="Federo"/>
              <a:ea typeface="Federo"/>
              <a:cs typeface="Federo"/>
              <a:sym typeface="Federo"/>
            </a:endParaRPr>
          </a:p>
        </p:txBody>
      </p:sp>
      <p:pic>
        <p:nvPicPr>
          <p:cNvPr id="228" name="Google Shape;228;p31"/>
          <p:cNvPicPr preferRelativeResize="0"/>
          <p:nvPr/>
        </p:nvPicPr>
        <p:blipFill rotWithShape="1">
          <a:blip r:embed="rId3">
            <a:alphaModFix/>
          </a:blip>
          <a:srcRect/>
          <a:stretch/>
        </p:blipFill>
        <p:spPr>
          <a:xfrm>
            <a:off x="112084" y="4438650"/>
            <a:ext cx="3810000" cy="2419350"/>
          </a:xfrm>
          <a:prstGeom prst="rect">
            <a:avLst/>
          </a:prstGeom>
          <a:noFill/>
          <a:ln>
            <a:noFill/>
          </a:ln>
          <a:effectLst>
            <a:outerShdw blurRad="292100" dist="139700" dir="2700000" algn="tl" rotWithShape="0">
              <a:srgbClr val="333333">
                <a:alpha val="64313"/>
              </a:srgbClr>
            </a:outerShdw>
          </a:effec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grpSp>
        <p:nvGrpSpPr>
          <p:cNvPr id="234" name="Google Shape;234;p32"/>
          <p:cNvGrpSpPr/>
          <p:nvPr/>
        </p:nvGrpSpPr>
        <p:grpSpPr>
          <a:xfrm>
            <a:off x="3048000" y="2078356"/>
            <a:ext cx="6762750" cy="3874769"/>
            <a:chOff x="0" y="0"/>
            <a:chExt cx="6224270" cy="3789043"/>
          </a:xfrm>
        </p:grpSpPr>
        <p:sp>
          <p:nvSpPr>
            <p:cNvPr id="235" name="Google Shape;235;p32"/>
            <p:cNvSpPr/>
            <p:nvPr/>
          </p:nvSpPr>
          <p:spPr>
            <a:xfrm>
              <a:off x="2489708" y="0"/>
              <a:ext cx="1244853" cy="757808"/>
            </a:xfrm>
            <a:prstGeom prst="trapezoid">
              <a:avLst>
                <a:gd name="adj" fmla="val 82135"/>
              </a:avLst>
            </a:prstGeom>
            <a:gradFill>
              <a:gsLst>
                <a:gs pos="0">
                  <a:srgbClr val="FFD89A"/>
                </a:gs>
                <a:gs pos="50000">
                  <a:srgbClr val="F7CD8D"/>
                </a:gs>
                <a:gs pos="100000">
                  <a:srgbClr val="FCC978"/>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6" name="Google Shape;236;p32"/>
            <p:cNvSpPr txBox="1"/>
            <p:nvPr/>
          </p:nvSpPr>
          <p:spPr>
            <a:xfrm>
              <a:off x="2489708" y="0"/>
              <a:ext cx="1244853" cy="757808"/>
            </a:xfrm>
            <a:prstGeom prst="rect">
              <a:avLst/>
            </a:prstGeom>
            <a:noFill/>
            <a:ln>
              <a:noFill/>
            </a:ln>
          </p:spPr>
          <p:txBody>
            <a:bodyPr spcFirstLastPara="1" wrap="square" lIns="16500" tIns="16500" rIns="16500" bIns="165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Tahoma"/>
                  <a:ea typeface="Tahoma"/>
                  <a:cs typeface="Tahoma"/>
                  <a:sym typeface="Tahoma"/>
                </a:rPr>
                <a:t>KEPERLUAN AKTUALISASI </a:t>
              </a:r>
              <a:r>
                <a:rPr lang="en-US" sz="1300" b="1" i="0" u="none" strike="noStrike" cap="none">
                  <a:solidFill>
                    <a:schemeClr val="dk1"/>
                  </a:solidFill>
                  <a:latin typeface="Calibri"/>
                  <a:ea typeface="Calibri"/>
                  <a:cs typeface="Calibri"/>
                  <a:sym typeface="Calibri"/>
                </a:rPr>
                <a:t>DIRI</a:t>
              </a:r>
              <a:endParaRPr sz="1800" b="0" i="0" u="none" strike="noStrike" cap="none">
                <a:solidFill>
                  <a:schemeClr val="dk1"/>
                </a:solidFill>
                <a:latin typeface="Calibri"/>
                <a:ea typeface="Calibri"/>
                <a:cs typeface="Calibri"/>
                <a:sym typeface="Calibri"/>
              </a:endParaRPr>
            </a:p>
          </p:txBody>
        </p:sp>
        <p:sp>
          <p:nvSpPr>
            <p:cNvPr id="237" name="Google Shape;237;p32"/>
            <p:cNvSpPr/>
            <p:nvPr/>
          </p:nvSpPr>
          <p:spPr>
            <a:xfrm>
              <a:off x="1867281" y="742182"/>
              <a:ext cx="2489707" cy="757808"/>
            </a:xfrm>
            <a:prstGeom prst="trapezoid">
              <a:avLst>
                <a:gd name="adj" fmla="val 82135"/>
              </a:avLst>
            </a:prstGeom>
            <a:gradFill>
              <a:gsLst>
                <a:gs pos="0">
                  <a:srgbClr val="FFDA9C"/>
                </a:gs>
                <a:gs pos="50000">
                  <a:srgbClr val="FFD38E"/>
                </a:gs>
                <a:gs pos="100000">
                  <a:srgbClr val="FFCF79"/>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8" name="Google Shape;238;p32"/>
            <p:cNvSpPr txBox="1"/>
            <p:nvPr/>
          </p:nvSpPr>
          <p:spPr>
            <a:xfrm>
              <a:off x="2302979" y="742182"/>
              <a:ext cx="1618310" cy="757808"/>
            </a:xfrm>
            <a:prstGeom prst="rect">
              <a:avLst/>
            </a:prstGeom>
            <a:noFill/>
            <a:ln>
              <a:noFill/>
            </a:ln>
          </p:spPr>
          <p:txBody>
            <a:bodyPr spcFirstLastPara="1" wrap="square" lIns="22850" tIns="22850" rIns="22850" bIns="228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ahoma"/>
                  <a:ea typeface="Tahoma"/>
                  <a:cs typeface="Tahoma"/>
                  <a:sym typeface="Tahoma"/>
                </a:rPr>
                <a:t>KEPERLUAN ESTEEM</a:t>
              </a:r>
              <a:endParaRPr sz="1800" b="0" i="0" u="none" strike="noStrike" cap="none">
                <a:solidFill>
                  <a:schemeClr val="dk1"/>
                </a:solidFill>
                <a:latin typeface="Calibri"/>
                <a:ea typeface="Calibri"/>
                <a:cs typeface="Calibri"/>
                <a:sym typeface="Calibri"/>
              </a:endParaRPr>
            </a:p>
          </p:txBody>
        </p:sp>
        <p:sp>
          <p:nvSpPr>
            <p:cNvPr id="239" name="Google Shape;239;p32"/>
            <p:cNvSpPr/>
            <p:nvPr/>
          </p:nvSpPr>
          <p:spPr>
            <a:xfrm>
              <a:off x="1244854" y="1515617"/>
              <a:ext cx="3734561" cy="757808"/>
            </a:xfrm>
            <a:prstGeom prst="trapezoid">
              <a:avLst>
                <a:gd name="adj" fmla="val 82135"/>
              </a:avLst>
            </a:prstGeom>
            <a:gradFill>
              <a:gsLst>
                <a:gs pos="0">
                  <a:srgbClr val="FFDEA7"/>
                </a:gs>
                <a:gs pos="50000">
                  <a:srgbClr val="FFD797"/>
                </a:gs>
                <a:gs pos="100000">
                  <a:srgbClr val="FFD383"/>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0" name="Google Shape;240;p32"/>
            <p:cNvSpPr txBox="1"/>
            <p:nvPr/>
          </p:nvSpPr>
          <p:spPr>
            <a:xfrm>
              <a:off x="1898402" y="1515617"/>
              <a:ext cx="2427465" cy="757808"/>
            </a:xfrm>
            <a:prstGeom prst="rect">
              <a:avLst/>
            </a:prstGeom>
            <a:no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ahoma"/>
                  <a:ea typeface="Tahoma"/>
                  <a:cs typeface="Tahoma"/>
                  <a:sym typeface="Tahoma"/>
                </a:rPr>
                <a:t>KEPERLUAN SOSIAL</a:t>
              </a:r>
              <a:endParaRPr sz="1800" b="0" i="0" u="none" strike="noStrike" cap="none">
                <a:solidFill>
                  <a:schemeClr val="dk1"/>
                </a:solidFill>
                <a:latin typeface="Calibri"/>
                <a:ea typeface="Calibri"/>
                <a:cs typeface="Calibri"/>
                <a:sym typeface="Calibri"/>
              </a:endParaRPr>
            </a:p>
          </p:txBody>
        </p:sp>
        <p:sp>
          <p:nvSpPr>
            <p:cNvPr id="241" name="Google Shape;241;p32"/>
            <p:cNvSpPr/>
            <p:nvPr/>
          </p:nvSpPr>
          <p:spPr>
            <a:xfrm>
              <a:off x="622427" y="2273426"/>
              <a:ext cx="4979415" cy="757808"/>
            </a:xfrm>
            <a:prstGeom prst="trapezoid">
              <a:avLst>
                <a:gd name="adj" fmla="val 82135"/>
              </a:avLst>
            </a:prstGeom>
            <a:gradFill>
              <a:gsLst>
                <a:gs pos="0">
                  <a:srgbClr val="FFE4BA"/>
                </a:gs>
                <a:gs pos="50000">
                  <a:srgbClr val="FFDDA9"/>
                </a:gs>
                <a:gs pos="100000">
                  <a:srgbClr val="FFD99A"/>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2" name="Google Shape;242;p32"/>
            <p:cNvSpPr txBox="1"/>
            <p:nvPr/>
          </p:nvSpPr>
          <p:spPr>
            <a:xfrm>
              <a:off x="1493824" y="2273426"/>
              <a:ext cx="3236620" cy="757808"/>
            </a:xfrm>
            <a:prstGeom prst="rect">
              <a:avLst/>
            </a:prstGeom>
            <a:noFill/>
            <a:ln>
              <a:noFill/>
            </a:ln>
          </p:spPr>
          <p:txBody>
            <a:bodyPr spcFirstLastPara="1" wrap="square" lIns="22850" tIns="22850" rIns="22850" bIns="228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ahoma"/>
                  <a:ea typeface="Tahoma"/>
                  <a:cs typeface="Tahoma"/>
                  <a:sym typeface="Tahoma"/>
                </a:rPr>
                <a:t>KEPERLUAN KESELAMATAN</a:t>
              </a:r>
              <a:endParaRPr sz="1800" b="0" i="0" u="none" strike="noStrike" cap="none">
                <a:solidFill>
                  <a:schemeClr val="dk1"/>
                </a:solidFill>
                <a:latin typeface="Calibri"/>
                <a:ea typeface="Calibri"/>
                <a:cs typeface="Calibri"/>
                <a:sym typeface="Calibri"/>
              </a:endParaRPr>
            </a:p>
          </p:txBody>
        </p:sp>
        <p:sp>
          <p:nvSpPr>
            <p:cNvPr id="243" name="Google Shape;243;p32"/>
            <p:cNvSpPr/>
            <p:nvPr/>
          </p:nvSpPr>
          <p:spPr>
            <a:xfrm>
              <a:off x="0" y="3031235"/>
              <a:ext cx="6224270" cy="757808"/>
            </a:xfrm>
            <a:prstGeom prst="trapezoid">
              <a:avLst>
                <a:gd name="adj" fmla="val 82135"/>
              </a:avLst>
            </a:prstGeom>
            <a:gradFill>
              <a:gsLst>
                <a:gs pos="0">
                  <a:srgbClr val="FFEDD3"/>
                </a:gs>
                <a:gs pos="50000">
                  <a:srgbClr val="FFE6C2"/>
                </a:gs>
                <a:gs pos="100000">
                  <a:srgbClr val="FFE3B9"/>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4" name="Google Shape;244;p32"/>
            <p:cNvSpPr txBox="1"/>
            <p:nvPr/>
          </p:nvSpPr>
          <p:spPr>
            <a:xfrm>
              <a:off x="1089247" y="3031235"/>
              <a:ext cx="4045775" cy="757808"/>
            </a:xfrm>
            <a:prstGeom prst="rect">
              <a:avLst/>
            </a:prstGeom>
            <a:noFill/>
            <a:ln>
              <a:noFill/>
            </a:ln>
          </p:spPr>
          <p:txBody>
            <a:bodyPr spcFirstLastPara="1" wrap="square" lIns="22850" tIns="22850" rIns="22850" bIns="2285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ahoma"/>
                  <a:ea typeface="Tahoma"/>
                  <a:cs typeface="Tahoma"/>
                  <a:sym typeface="Tahoma"/>
                </a:rPr>
                <a:t>KEPERLUAN FISIOLOGI</a:t>
              </a:r>
              <a:endParaRPr sz="1800" b="0" i="0" u="none" strike="noStrike" cap="none">
                <a:solidFill>
                  <a:schemeClr val="dk1"/>
                </a:solidFill>
                <a:latin typeface="Calibri"/>
                <a:ea typeface="Calibri"/>
                <a:cs typeface="Calibri"/>
                <a:sym typeface="Calibri"/>
              </a:endParaRPr>
            </a:p>
          </p:txBody>
        </p:sp>
      </p:grpSp>
      <p:sp>
        <p:nvSpPr>
          <p:cNvPr id="245" name="Google Shape;245;p32"/>
          <p:cNvSpPr/>
          <p:nvPr/>
        </p:nvSpPr>
        <p:spPr>
          <a:xfrm>
            <a:off x="3638550" y="6158125"/>
            <a:ext cx="6400800" cy="460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Federo"/>
                <a:ea typeface="Federo"/>
                <a:cs typeface="Federo"/>
                <a:sym typeface="Federo"/>
              </a:rPr>
              <a:t>MODEL HIRARKI KEPERLUAN MASLOW</a:t>
            </a:r>
            <a:endParaRPr sz="1800" b="0" i="0" u="none" strike="noStrike" cap="none">
              <a:solidFill>
                <a:schemeClr val="dk1"/>
              </a:solidFill>
              <a:latin typeface="Calibri"/>
              <a:ea typeface="Calibri"/>
              <a:cs typeface="Calibri"/>
              <a:sym typeface="Calibri"/>
            </a:endParaRPr>
          </a:p>
        </p:txBody>
      </p:sp>
      <p:sp>
        <p:nvSpPr>
          <p:cNvPr id="246" name="Google Shape;246;p32"/>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16</a:t>
            </a:fld>
            <a:endParaRPr sz="900">
              <a:solidFill>
                <a:schemeClr val="accent1"/>
              </a:solidFill>
              <a:latin typeface="Tahoma"/>
              <a:ea typeface="Tahoma"/>
              <a:cs typeface="Tahoma"/>
              <a:sym typeface="Tahoma"/>
            </a:endParaRPr>
          </a:p>
        </p:txBody>
      </p:sp>
      <p:sp>
        <p:nvSpPr>
          <p:cNvPr id="247" name="Google Shape;247;p32"/>
          <p:cNvSpPr txBox="1"/>
          <p:nvPr/>
        </p:nvSpPr>
        <p:spPr>
          <a:xfrm>
            <a:off x="2527936" y="710566"/>
            <a:ext cx="768286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a. Teori-teori Motivasi</a:t>
            </a:r>
            <a:endParaRPr sz="2800" b="1" i="0" u="none" strike="noStrike" cap="none">
              <a:solidFill>
                <a:srgbClr val="000000"/>
              </a:solidFill>
              <a:latin typeface="Federo"/>
              <a:ea typeface="Federo"/>
              <a:cs typeface="Federo"/>
              <a:sym typeface="Federo"/>
            </a:endParaRPr>
          </a:p>
        </p:txBody>
      </p:sp>
      <p:sp>
        <p:nvSpPr>
          <p:cNvPr id="248" name="Google Shape;248;p32"/>
          <p:cNvSpPr txBox="1"/>
          <p:nvPr/>
        </p:nvSpPr>
        <p:spPr>
          <a:xfrm>
            <a:off x="3048000" y="1270636"/>
            <a:ext cx="5468620"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i. Teori Motivasi </a:t>
            </a:r>
            <a:r>
              <a:rPr lang="en-US" sz="2800" b="1" i="0" u="none" strike="noStrike" cap="none">
                <a:solidFill>
                  <a:srgbClr val="000000"/>
                </a:solidFill>
                <a:latin typeface="Federo"/>
                <a:ea typeface="Federo"/>
                <a:cs typeface="Federo"/>
                <a:sym typeface="Federo"/>
              </a:rPr>
              <a:t>Maslow</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3"/>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17</a:t>
            </a:fld>
            <a:endParaRPr sz="900">
              <a:solidFill>
                <a:schemeClr val="accent1"/>
              </a:solidFill>
              <a:latin typeface="Tahoma"/>
              <a:ea typeface="Tahoma"/>
              <a:cs typeface="Tahoma"/>
              <a:sym typeface="Tahoma"/>
            </a:endParaRPr>
          </a:p>
        </p:txBody>
      </p:sp>
      <p:sp>
        <p:nvSpPr>
          <p:cNvPr id="255" name="Google Shape;255;p33"/>
          <p:cNvSpPr txBox="1"/>
          <p:nvPr/>
        </p:nvSpPr>
        <p:spPr>
          <a:xfrm>
            <a:off x="3095943" y="838199"/>
            <a:ext cx="8667115" cy="5248275"/>
          </a:xfrm>
          <a:prstGeom prst="rect">
            <a:avLst/>
          </a:prstGeom>
          <a:noFill/>
          <a:ln>
            <a:noFill/>
          </a:ln>
        </p:spPr>
        <p:txBody>
          <a:bodyPr spcFirstLastPara="1" wrap="square" lIns="91425" tIns="45700" rIns="91425" bIns="45700" anchor="t" anchorCtr="0">
            <a:noAutofit/>
          </a:bodyPr>
          <a:lstStyle/>
          <a:p>
            <a:pPr marL="639445" marR="0" lvl="0" indent="-571500" algn="l" rtl="0">
              <a:lnSpc>
                <a:spcPct val="100000"/>
              </a:lnSpc>
              <a:spcBef>
                <a:spcPts val="0"/>
              </a:spcBef>
              <a:spcAft>
                <a:spcPts val="0"/>
              </a:spcAft>
              <a:buClr>
                <a:schemeClr val="dk1"/>
              </a:buClr>
              <a:buSzPts val="2400"/>
              <a:buFont typeface="Calibri"/>
              <a:buAutoNum type="romanLcPeriod"/>
            </a:pPr>
            <a:r>
              <a:rPr lang="en-US" sz="3200" b="1" i="0" u="none" strike="noStrike" cap="none">
                <a:solidFill>
                  <a:schemeClr val="dk1"/>
                </a:solidFill>
                <a:latin typeface="Federo"/>
                <a:ea typeface="Federo"/>
                <a:cs typeface="Federo"/>
                <a:sym typeface="Federo"/>
              </a:rPr>
              <a:t>Keperluan Fisiologi</a:t>
            </a:r>
            <a:endParaRPr sz="3200" b="1" i="0" u="none" strike="noStrike" cap="none">
              <a:solidFill>
                <a:schemeClr val="dk1"/>
              </a:solidFill>
              <a:latin typeface="Federo"/>
              <a:ea typeface="Federo"/>
              <a:cs typeface="Federo"/>
              <a:sym typeface="Federo"/>
            </a:endParaRPr>
          </a:p>
          <a:p>
            <a:pPr marL="67945" marR="0" lvl="0" indent="0" algn="l" rtl="0">
              <a:lnSpc>
                <a:spcPct val="100000"/>
              </a:lnSpc>
              <a:spcBef>
                <a:spcPts val="0"/>
              </a:spcBef>
              <a:spcAft>
                <a:spcPts val="0"/>
              </a:spcAft>
              <a:buClr>
                <a:srgbClr val="000000"/>
              </a:buClr>
              <a:buSzPts val="3200"/>
              <a:buFont typeface="Arial"/>
              <a:buNone/>
            </a:pPr>
            <a:endParaRPr sz="3200" b="1" i="0" u="none" strike="noStrike" cap="none">
              <a:solidFill>
                <a:schemeClr val="dk1"/>
              </a:solidFill>
              <a:latin typeface="Federo"/>
              <a:ea typeface="Federo"/>
              <a:cs typeface="Federo"/>
              <a:sym typeface="Federo"/>
            </a:endParaRPr>
          </a:p>
          <a:p>
            <a:pPr marL="525145" marR="0" lvl="0" indent="-457200" algn="l"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Keperluan asas seseorang untuk terus hidup iaitu makanan, minuman, tempat perlindungan dan lain-lain keperluan fizikal.</a:t>
            </a:r>
            <a:endParaRPr sz="2600" b="0" i="0" u="none" strike="noStrike" cap="none">
              <a:solidFill>
                <a:schemeClr val="dk1"/>
              </a:solidFill>
              <a:latin typeface="Tahoma"/>
              <a:ea typeface="Tahoma"/>
              <a:cs typeface="Tahoma"/>
              <a:sym typeface="Tahoma"/>
            </a:endParaRPr>
          </a:p>
          <a:p>
            <a:pPr marL="525145" marR="0" lvl="0" indent="-457200" algn="just"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Merupakan keperluan yang terbawah sekali dalam Hierarki Keperluan Maslow yang harus  dipenuhi oleh semua manusia seperti keperluan makanan, pakaian dan tempat perlindungan.</a:t>
            </a:r>
            <a:endParaRPr sz="2600" b="0" i="0" u="none" strike="noStrike" cap="none">
              <a:solidFill>
                <a:schemeClr val="dk1"/>
              </a:solidFill>
              <a:latin typeface="Tahoma"/>
              <a:ea typeface="Tahoma"/>
              <a:cs typeface="Tahoma"/>
              <a:sym typeface="Tahoma"/>
            </a:endParaRPr>
          </a:p>
          <a:p>
            <a:pPr marL="525145" marR="0" lvl="0" indent="-457200" algn="l"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Bagi memenuhi keperluan ini, pekerja harus berusaha atau bekerja untuk memperoleh pendapatan bagi memenuhi keperluan asas.</a:t>
            </a:r>
            <a:endParaRPr sz="2600" b="0" i="0" u="none" strike="noStrike" cap="none">
              <a:solidFill>
                <a:srgbClr val="000000"/>
              </a:solidFill>
              <a:latin typeface="Tahoma"/>
              <a:ea typeface="Tahoma"/>
              <a:cs typeface="Tahoma"/>
              <a:sym typeface="Tahoma"/>
            </a:endParaRPr>
          </a:p>
          <a:p>
            <a:pPr marL="525145" marR="0" lvl="0" indent="-45720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		</a:t>
            </a:r>
            <a:endParaRPr sz="2400" b="0" i="0" u="none" strike="noStrike" cap="none">
              <a:solidFill>
                <a:srgbClr val="000000"/>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xEl>
                                              <p:pRg st="0" end="0"/>
                                            </p:txEl>
                                          </p:spTgt>
                                        </p:tgtEl>
                                        <p:attrNameLst>
                                          <p:attrName>style.visibility</p:attrName>
                                        </p:attrNameLst>
                                      </p:cBhvr>
                                      <p:to>
                                        <p:strVal val="visible"/>
                                      </p:to>
                                    </p:set>
                                    <p:animEffect transition="in" filter="fade">
                                      <p:cBhvr>
                                        <p:cTn id="7" dur="500"/>
                                        <p:tgtEl>
                                          <p:spTgt spid="2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5">
                                            <p:txEl>
                                              <p:pRg st="1" end="1"/>
                                            </p:txEl>
                                          </p:spTgt>
                                        </p:tgtEl>
                                        <p:attrNameLst>
                                          <p:attrName>style.visibility</p:attrName>
                                        </p:attrNameLst>
                                      </p:cBhvr>
                                      <p:to>
                                        <p:strVal val="visible"/>
                                      </p:to>
                                    </p:set>
                                    <p:animEffect transition="in" filter="fade">
                                      <p:cBhvr>
                                        <p:cTn id="12" dur="500"/>
                                        <p:tgtEl>
                                          <p:spTgt spid="2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5">
                                            <p:txEl>
                                              <p:pRg st="2" end="2"/>
                                            </p:txEl>
                                          </p:spTgt>
                                        </p:tgtEl>
                                        <p:attrNameLst>
                                          <p:attrName>style.visibility</p:attrName>
                                        </p:attrNameLst>
                                      </p:cBhvr>
                                      <p:to>
                                        <p:strVal val="visible"/>
                                      </p:to>
                                    </p:set>
                                    <p:animEffect transition="in" filter="fade">
                                      <p:cBhvr>
                                        <p:cTn id="17" dur="500"/>
                                        <p:tgtEl>
                                          <p:spTgt spid="2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5">
                                            <p:txEl>
                                              <p:pRg st="3" end="3"/>
                                            </p:txEl>
                                          </p:spTgt>
                                        </p:tgtEl>
                                        <p:attrNameLst>
                                          <p:attrName>style.visibility</p:attrName>
                                        </p:attrNameLst>
                                      </p:cBhvr>
                                      <p:to>
                                        <p:strVal val="visible"/>
                                      </p:to>
                                    </p:set>
                                    <p:animEffect transition="in" filter="fade">
                                      <p:cBhvr>
                                        <p:cTn id="22" dur="500"/>
                                        <p:tgtEl>
                                          <p:spTgt spid="2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5">
                                            <p:txEl>
                                              <p:pRg st="4" end="4"/>
                                            </p:txEl>
                                          </p:spTgt>
                                        </p:tgtEl>
                                        <p:attrNameLst>
                                          <p:attrName>style.visibility</p:attrName>
                                        </p:attrNameLst>
                                      </p:cBhvr>
                                      <p:to>
                                        <p:strVal val="visible"/>
                                      </p:to>
                                    </p:set>
                                    <p:animEffect transition="in" filter="fade">
                                      <p:cBhvr>
                                        <p:cTn id="27" dur="500"/>
                                        <p:tgtEl>
                                          <p:spTgt spid="2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5">
                                            <p:txEl>
                                              <p:pRg st="5" end="5"/>
                                            </p:txEl>
                                          </p:spTgt>
                                        </p:tgtEl>
                                        <p:attrNameLst>
                                          <p:attrName>style.visibility</p:attrName>
                                        </p:attrNameLst>
                                      </p:cBhvr>
                                      <p:to>
                                        <p:strVal val="visible"/>
                                      </p:to>
                                    </p:set>
                                    <p:animEffect transition="in" filter="fade">
                                      <p:cBhvr>
                                        <p:cTn id="32" dur="500"/>
                                        <p:tgtEl>
                                          <p:spTgt spid="2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4"/>
          <p:cNvSpPr txBox="1">
            <a:spLocks noGrp="1"/>
          </p:cNvSpPr>
          <p:nvPr>
            <p:ph type="body" idx="1"/>
          </p:nvPr>
        </p:nvSpPr>
        <p:spPr>
          <a:xfrm>
            <a:off x="2987749" y="295275"/>
            <a:ext cx="8870876" cy="5977934"/>
          </a:xfrm>
          <a:prstGeom prst="rect">
            <a:avLst/>
          </a:prstGeom>
          <a:noFill/>
          <a:ln>
            <a:noFill/>
          </a:ln>
        </p:spPr>
        <p:txBody>
          <a:bodyPr spcFirstLastPara="1" wrap="square" lIns="91425" tIns="45700" rIns="91425" bIns="45700" anchor="t" anchorCtr="0">
            <a:noAutofit/>
          </a:bodyPr>
          <a:lstStyle/>
          <a:p>
            <a:pPr marL="514350" lvl="0" indent="-514350" algn="just" rtl="0">
              <a:lnSpc>
                <a:spcPct val="100000"/>
              </a:lnSpc>
              <a:spcBef>
                <a:spcPts val="0"/>
              </a:spcBef>
              <a:spcAft>
                <a:spcPts val="0"/>
              </a:spcAft>
              <a:buClr>
                <a:schemeClr val="dk1"/>
              </a:buClr>
              <a:buSzPts val="2240"/>
              <a:buFont typeface="Calibri"/>
              <a:buAutoNum type="romanLcPeriod" startAt="2"/>
            </a:pPr>
            <a:r>
              <a:rPr lang="en-US" sz="2600" b="1">
                <a:solidFill>
                  <a:schemeClr val="dk1"/>
                </a:solidFill>
                <a:latin typeface="Federo"/>
                <a:ea typeface="Federo"/>
                <a:cs typeface="Federo"/>
                <a:sym typeface="Federo"/>
              </a:rPr>
              <a:t>Keperluan </a:t>
            </a:r>
            <a:r>
              <a:rPr lang="en-US" sz="2600" b="1">
                <a:latin typeface="Federo"/>
                <a:ea typeface="Federo"/>
                <a:cs typeface="Federo"/>
                <a:sym typeface="Federo"/>
              </a:rPr>
              <a:t>Keselamatan</a:t>
            </a:r>
            <a:endParaRPr sz="2600" b="1">
              <a:latin typeface="Federo"/>
              <a:ea typeface="Federo"/>
              <a:cs typeface="Federo"/>
              <a:sym typeface="Federo"/>
            </a:endParaRPr>
          </a:p>
          <a:p>
            <a:pPr marL="0" lvl="0" indent="0" algn="just" rtl="0">
              <a:lnSpc>
                <a:spcPct val="100000"/>
              </a:lnSpc>
              <a:spcBef>
                <a:spcPts val="0"/>
              </a:spcBef>
              <a:spcAft>
                <a:spcPts val="0"/>
              </a:spcAft>
              <a:buClr>
                <a:srgbClr val="E6B91E"/>
              </a:buClr>
              <a:buSzPts val="2240"/>
              <a:buNone/>
            </a:pPr>
            <a:endParaRPr sz="2600" b="1">
              <a:solidFill>
                <a:schemeClr val="dk1"/>
              </a:solidFill>
              <a:latin typeface="Federo"/>
              <a:ea typeface="Federo"/>
              <a:cs typeface="Federo"/>
              <a:sym typeface="Federo"/>
            </a:endParaRPr>
          </a:p>
          <a:p>
            <a:pPr marL="171450" lvl="0" indent="-171450" algn="just" rtl="0">
              <a:lnSpc>
                <a:spcPct val="100000"/>
              </a:lnSpc>
              <a:spcBef>
                <a:spcPts val="0"/>
              </a:spcBef>
              <a:spcAft>
                <a:spcPts val="0"/>
              </a:spcAft>
              <a:buClr>
                <a:srgbClr val="E6B91E"/>
              </a:buClr>
              <a:buSzPts val="2240"/>
              <a:buFont typeface="Arial"/>
              <a:buChar char="•"/>
            </a:pPr>
            <a:r>
              <a:rPr lang="en-US" sz="2600">
                <a:solidFill>
                  <a:schemeClr val="dk1"/>
                </a:solidFill>
                <a:latin typeface="Tahoma"/>
                <a:ea typeface="Tahoma"/>
                <a:cs typeface="Tahoma"/>
                <a:sym typeface="Tahoma"/>
              </a:rPr>
              <a:t>Keperluan seseorang untuk keselamatan dan perlindungan daripada bahaya fizikal dan emosi, juga bagi mendapat kepastian bahawa keperluan fisiologi telah dan terus dipenuhi. </a:t>
            </a:r>
            <a:endParaRPr sz="2600"/>
          </a:p>
          <a:p>
            <a:pPr marL="171450" lvl="0" indent="-171450" algn="just" rtl="0">
              <a:lnSpc>
                <a:spcPct val="100000"/>
              </a:lnSpc>
              <a:spcBef>
                <a:spcPts val="0"/>
              </a:spcBef>
              <a:spcAft>
                <a:spcPts val="0"/>
              </a:spcAft>
              <a:buClr>
                <a:srgbClr val="E6B91E"/>
              </a:buClr>
              <a:buSzPts val="2240"/>
              <a:buFont typeface="Arial"/>
              <a:buChar char="•"/>
            </a:pPr>
            <a:r>
              <a:rPr lang="en-US" sz="2600">
                <a:solidFill>
                  <a:schemeClr val="dk1"/>
                </a:solidFill>
                <a:latin typeface="Tahoma"/>
                <a:ea typeface="Tahoma"/>
                <a:cs typeface="Tahoma"/>
                <a:sym typeface="Tahoma"/>
              </a:rPr>
              <a:t>Pekerja mengelakkan diri daripada perkara-perkara yang boleh mencederakan atau menjejaskan masa depannya.</a:t>
            </a:r>
            <a:endParaRPr sz="2600">
              <a:solidFill>
                <a:schemeClr val="dk1"/>
              </a:solidFill>
              <a:latin typeface="Tahoma"/>
              <a:ea typeface="Tahoma"/>
              <a:cs typeface="Tahoma"/>
              <a:sym typeface="Tahoma"/>
            </a:endParaRPr>
          </a:p>
          <a:p>
            <a:pPr marL="171450" lvl="0" indent="-171450" algn="just" rtl="0">
              <a:lnSpc>
                <a:spcPct val="100000"/>
              </a:lnSpc>
              <a:spcBef>
                <a:spcPts val="1000"/>
              </a:spcBef>
              <a:spcAft>
                <a:spcPts val="0"/>
              </a:spcAft>
              <a:buClr>
                <a:srgbClr val="E6B91E"/>
              </a:buClr>
              <a:buSzPts val="2240"/>
              <a:buFont typeface="Arial"/>
              <a:buChar char="•"/>
            </a:pPr>
            <a:r>
              <a:rPr lang="en-US" sz="2600">
                <a:solidFill>
                  <a:schemeClr val="dk1"/>
                </a:solidFill>
                <a:latin typeface="Tahoma"/>
                <a:ea typeface="Tahoma"/>
                <a:cs typeface="Tahoma"/>
                <a:sym typeface="Tahoma"/>
              </a:rPr>
              <a:t>Pekerja akan merasa lebih selamat untuk bekerja sekiranya mereka tahu bahawa mereka tidak akan hilang pekerjaan atau dibuang kerja</a:t>
            </a:r>
            <a:endParaRPr sz="2600">
              <a:solidFill>
                <a:schemeClr val="dk1"/>
              </a:solidFill>
              <a:latin typeface="Tahoma"/>
              <a:ea typeface="Tahoma"/>
              <a:cs typeface="Tahoma"/>
              <a:sym typeface="Tahoma"/>
            </a:endParaRPr>
          </a:p>
          <a:p>
            <a:pPr marL="171450" lvl="0" indent="-171450" algn="just" rtl="0">
              <a:lnSpc>
                <a:spcPct val="100000"/>
              </a:lnSpc>
              <a:spcBef>
                <a:spcPts val="1000"/>
              </a:spcBef>
              <a:spcAft>
                <a:spcPts val="0"/>
              </a:spcAft>
              <a:buClr>
                <a:srgbClr val="E6B91E"/>
              </a:buClr>
              <a:buSzPts val="2240"/>
              <a:buFont typeface="Arial"/>
              <a:buChar char="•"/>
            </a:pPr>
            <a:r>
              <a:rPr lang="en-US" sz="2600">
                <a:solidFill>
                  <a:schemeClr val="dk1"/>
                </a:solidFill>
                <a:latin typeface="Tahoma"/>
                <a:ea typeface="Tahoma"/>
                <a:cs typeface="Tahoma"/>
                <a:sym typeface="Tahoma"/>
              </a:rPr>
              <a:t>Sebahagian organisasi mewujudkan suasana tempat kerja yang bersih dan kondusif, skim pencen, insurans dan sebagainya bagi menjamin keselamatan dan masa depan pekerja</a:t>
            </a:r>
            <a:r>
              <a:rPr lang="en-US" sz="2600">
                <a:solidFill>
                  <a:schemeClr val="dk1"/>
                </a:solidFill>
              </a:rPr>
              <a:t>.</a:t>
            </a:r>
            <a:endParaRPr sz="2600">
              <a:solidFill>
                <a:schemeClr val="dk1"/>
              </a:solidFill>
            </a:endParaRPr>
          </a:p>
          <a:p>
            <a:pPr marL="485140" lvl="0" indent="-29209" algn="l" rtl="0">
              <a:lnSpc>
                <a:spcPct val="100000"/>
              </a:lnSpc>
              <a:spcBef>
                <a:spcPts val="1000"/>
              </a:spcBef>
              <a:spcAft>
                <a:spcPts val="0"/>
              </a:spcAft>
              <a:buClr>
                <a:schemeClr val="accent1"/>
              </a:buClr>
              <a:buSzPts val="2240"/>
              <a:buNone/>
            </a:pPr>
            <a:endParaRPr sz="2600">
              <a:solidFill>
                <a:schemeClr val="dk1"/>
              </a:solidFill>
            </a:endParaRPr>
          </a:p>
        </p:txBody>
      </p:sp>
      <p:sp>
        <p:nvSpPr>
          <p:cNvPr id="262" name="Google Shape;262;p34"/>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18</a:t>
            </a:fld>
            <a:endParaRPr sz="900">
              <a:solidFill>
                <a:schemeClr val="accent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1">
                                            <p:txEl>
                                              <p:pRg st="0" end="0"/>
                                            </p:txEl>
                                          </p:spTgt>
                                        </p:tgtEl>
                                        <p:attrNameLst>
                                          <p:attrName>style.visibility</p:attrName>
                                        </p:attrNameLst>
                                      </p:cBhvr>
                                      <p:to>
                                        <p:strVal val="visible"/>
                                      </p:to>
                                    </p:set>
                                    <p:animEffect transition="in" filter="fade">
                                      <p:cBhvr>
                                        <p:cTn id="7" dur="500"/>
                                        <p:tgtEl>
                                          <p:spTgt spid="2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1">
                                            <p:txEl>
                                              <p:pRg st="1" end="1"/>
                                            </p:txEl>
                                          </p:spTgt>
                                        </p:tgtEl>
                                        <p:attrNameLst>
                                          <p:attrName>style.visibility</p:attrName>
                                        </p:attrNameLst>
                                      </p:cBhvr>
                                      <p:to>
                                        <p:strVal val="visible"/>
                                      </p:to>
                                    </p:set>
                                    <p:animEffect transition="in" filter="fade">
                                      <p:cBhvr>
                                        <p:cTn id="12" dur="500"/>
                                        <p:tgtEl>
                                          <p:spTgt spid="2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1">
                                            <p:txEl>
                                              <p:pRg st="2" end="2"/>
                                            </p:txEl>
                                          </p:spTgt>
                                        </p:tgtEl>
                                        <p:attrNameLst>
                                          <p:attrName>style.visibility</p:attrName>
                                        </p:attrNameLst>
                                      </p:cBhvr>
                                      <p:to>
                                        <p:strVal val="visible"/>
                                      </p:to>
                                    </p:set>
                                    <p:animEffect transition="in" filter="fade">
                                      <p:cBhvr>
                                        <p:cTn id="17" dur="500"/>
                                        <p:tgtEl>
                                          <p:spTgt spid="2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1">
                                            <p:txEl>
                                              <p:pRg st="3" end="3"/>
                                            </p:txEl>
                                          </p:spTgt>
                                        </p:tgtEl>
                                        <p:attrNameLst>
                                          <p:attrName>style.visibility</p:attrName>
                                        </p:attrNameLst>
                                      </p:cBhvr>
                                      <p:to>
                                        <p:strVal val="visible"/>
                                      </p:to>
                                    </p:set>
                                    <p:animEffect transition="in" filter="fade">
                                      <p:cBhvr>
                                        <p:cTn id="22" dur="500"/>
                                        <p:tgtEl>
                                          <p:spTgt spid="2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1">
                                            <p:txEl>
                                              <p:pRg st="4" end="4"/>
                                            </p:txEl>
                                          </p:spTgt>
                                        </p:tgtEl>
                                        <p:attrNameLst>
                                          <p:attrName>style.visibility</p:attrName>
                                        </p:attrNameLst>
                                      </p:cBhvr>
                                      <p:to>
                                        <p:strVal val="visible"/>
                                      </p:to>
                                    </p:set>
                                    <p:animEffect transition="in" filter="fade">
                                      <p:cBhvr>
                                        <p:cTn id="27" dur="500"/>
                                        <p:tgtEl>
                                          <p:spTgt spid="26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1">
                                            <p:txEl>
                                              <p:pRg st="5" end="5"/>
                                            </p:txEl>
                                          </p:spTgt>
                                        </p:tgtEl>
                                        <p:attrNameLst>
                                          <p:attrName>style.visibility</p:attrName>
                                        </p:attrNameLst>
                                      </p:cBhvr>
                                      <p:to>
                                        <p:strVal val="visible"/>
                                      </p:to>
                                    </p:set>
                                    <p:animEffect transition="in" filter="fade">
                                      <p:cBhvr>
                                        <p:cTn id="32" dur="500"/>
                                        <p:tgtEl>
                                          <p:spTgt spid="26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1">
                                            <p:txEl>
                                              <p:pRg st="6" end="6"/>
                                            </p:txEl>
                                          </p:spTgt>
                                        </p:tgtEl>
                                        <p:attrNameLst>
                                          <p:attrName>style.visibility</p:attrName>
                                        </p:attrNameLst>
                                      </p:cBhvr>
                                      <p:to>
                                        <p:strVal val="visible"/>
                                      </p:to>
                                    </p:set>
                                    <p:animEffect transition="in" filter="fade">
                                      <p:cBhvr>
                                        <p:cTn id="37" dur="500"/>
                                        <p:tgtEl>
                                          <p:spTgt spid="26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5"/>
          <p:cNvSpPr txBox="1">
            <a:spLocks noGrp="1"/>
          </p:cNvSpPr>
          <p:nvPr>
            <p:ph type="body" idx="1"/>
          </p:nvPr>
        </p:nvSpPr>
        <p:spPr>
          <a:xfrm>
            <a:off x="3172490" y="393703"/>
            <a:ext cx="8458200" cy="5962649"/>
          </a:xfrm>
          <a:prstGeom prst="rect">
            <a:avLst/>
          </a:prstGeom>
          <a:noFill/>
          <a:ln>
            <a:noFill/>
          </a:ln>
        </p:spPr>
        <p:txBody>
          <a:bodyPr spcFirstLastPara="1" wrap="square" lIns="91425" tIns="45700" rIns="91425" bIns="45700" anchor="t" anchorCtr="0">
            <a:noAutofit/>
          </a:bodyPr>
          <a:lstStyle/>
          <a:p>
            <a:pPr marL="582930" lvl="0" indent="-514350" algn="l" rtl="0">
              <a:lnSpc>
                <a:spcPct val="100000"/>
              </a:lnSpc>
              <a:spcBef>
                <a:spcPts val="0"/>
              </a:spcBef>
              <a:spcAft>
                <a:spcPts val="0"/>
              </a:spcAft>
              <a:buClr>
                <a:schemeClr val="dk1"/>
              </a:buClr>
              <a:buSzPts val="2240"/>
              <a:buFont typeface="Calibri"/>
              <a:buAutoNum type="romanLcPeriod" startAt="3"/>
            </a:pPr>
            <a:r>
              <a:rPr lang="en-US" sz="2600" b="1">
                <a:solidFill>
                  <a:srgbClr val="404040"/>
                </a:solidFill>
                <a:latin typeface="Federo"/>
                <a:ea typeface="Federo"/>
                <a:cs typeface="Federo"/>
                <a:sym typeface="Federo"/>
              </a:rPr>
              <a:t>Keperluan Sosial</a:t>
            </a:r>
            <a:endParaRPr sz="2600"/>
          </a:p>
          <a:p>
            <a:pPr marL="68580" lvl="0" indent="0" algn="l" rtl="0">
              <a:lnSpc>
                <a:spcPct val="100000"/>
              </a:lnSpc>
              <a:spcBef>
                <a:spcPts val="0"/>
              </a:spcBef>
              <a:spcAft>
                <a:spcPts val="0"/>
              </a:spcAft>
              <a:buClr>
                <a:srgbClr val="E6B91E"/>
              </a:buClr>
              <a:buSzPts val="2240"/>
              <a:buNone/>
            </a:pPr>
            <a:endParaRPr sz="2600" b="1">
              <a:solidFill>
                <a:srgbClr val="404040"/>
              </a:solidFill>
              <a:latin typeface="Federo"/>
              <a:ea typeface="Federo"/>
              <a:cs typeface="Federo"/>
              <a:sym typeface="Federo"/>
            </a:endParaRPr>
          </a:p>
          <a:p>
            <a:pPr marL="517525" lvl="0" indent="-448944" algn="l" rtl="0">
              <a:lnSpc>
                <a:spcPct val="100000"/>
              </a:lnSpc>
              <a:spcBef>
                <a:spcPts val="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Apabila individu telah penuhi keperluan fisiologi dan keselamatan maka keperluan seterusnya adalah untuk seseorang berkasih sayang, dipunyai, penerimaan dan persahabatan.</a:t>
            </a:r>
            <a:endParaRPr sz="2600"/>
          </a:p>
          <a:p>
            <a:pPr marL="517525" lvl="0" indent="-448944" algn="l" rtl="0">
              <a:lnSpc>
                <a:spcPct val="100000"/>
              </a:lnSpc>
              <a:spcBef>
                <a:spcPts val="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Ia  berkaitan berhubung dengan orang lain dan diterima oleh kumpulan atau  masyarakat.</a:t>
            </a:r>
            <a:endParaRPr sz="2600">
              <a:latin typeface="Tahoma"/>
              <a:ea typeface="Tahoma"/>
              <a:cs typeface="Tahoma"/>
              <a:sym typeface="Tahoma"/>
            </a:endParaRPr>
          </a:p>
          <a:p>
            <a:pPr marL="517525" lvl="0" indent="-448944" algn="l" rtl="0">
              <a:lnSpc>
                <a:spcPct val="100000"/>
              </a:lnSpc>
              <a:spcBef>
                <a:spcPts val="100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Seseorang individu tidak dapat hidup sendiri. Mereka memerlukan rakan-rakan atau kumpulan tertentu  untuk berinteraksi</a:t>
            </a:r>
            <a:endParaRPr sz="2600">
              <a:latin typeface="Tahoma"/>
              <a:ea typeface="Tahoma"/>
              <a:cs typeface="Tahoma"/>
              <a:sym typeface="Tahoma"/>
            </a:endParaRPr>
          </a:p>
          <a:p>
            <a:pPr marL="517525" lvl="0" indent="-448944" algn="l" rtl="0">
              <a:lnSpc>
                <a:spcPct val="100000"/>
              </a:lnSpc>
              <a:spcBef>
                <a:spcPts val="100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Dalam organisasi, pekerja akan dikelompokkan  dalam satu kumpulan kerja dan mereka akan berinteraksi serta bekerja bersama-sama bagi  mencapai matlamat organisasi</a:t>
            </a:r>
            <a:endParaRPr sz="2600">
              <a:latin typeface="Tahoma"/>
              <a:ea typeface="Tahoma"/>
              <a:cs typeface="Tahoma"/>
              <a:sym typeface="Tahoma"/>
            </a:endParaRPr>
          </a:p>
        </p:txBody>
      </p:sp>
      <p:sp>
        <p:nvSpPr>
          <p:cNvPr id="269" name="Google Shape;269;p35"/>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19</a:t>
            </a:fld>
            <a:endParaRPr sz="900">
              <a:solidFill>
                <a:schemeClr val="accent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animEffect transition="in" filter="fade">
                                      <p:cBhvr>
                                        <p:cTn id="7" dur="500"/>
                                        <p:tgtEl>
                                          <p:spTgt spid="2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8">
                                            <p:txEl>
                                              <p:pRg st="1" end="1"/>
                                            </p:txEl>
                                          </p:spTgt>
                                        </p:tgtEl>
                                        <p:attrNameLst>
                                          <p:attrName>style.visibility</p:attrName>
                                        </p:attrNameLst>
                                      </p:cBhvr>
                                      <p:to>
                                        <p:strVal val="visible"/>
                                      </p:to>
                                    </p:set>
                                    <p:animEffect transition="in" filter="fade">
                                      <p:cBhvr>
                                        <p:cTn id="12" dur="500"/>
                                        <p:tgtEl>
                                          <p:spTgt spid="2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8">
                                            <p:txEl>
                                              <p:pRg st="2" end="2"/>
                                            </p:txEl>
                                          </p:spTgt>
                                        </p:tgtEl>
                                        <p:attrNameLst>
                                          <p:attrName>style.visibility</p:attrName>
                                        </p:attrNameLst>
                                      </p:cBhvr>
                                      <p:to>
                                        <p:strVal val="visible"/>
                                      </p:to>
                                    </p:set>
                                    <p:animEffect transition="in" filter="fade">
                                      <p:cBhvr>
                                        <p:cTn id="17" dur="500"/>
                                        <p:tgtEl>
                                          <p:spTgt spid="2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8">
                                            <p:txEl>
                                              <p:pRg st="3" end="3"/>
                                            </p:txEl>
                                          </p:spTgt>
                                        </p:tgtEl>
                                        <p:attrNameLst>
                                          <p:attrName>style.visibility</p:attrName>
                                        </p:attrNameLst>
                                      </p:cBhvr>
                                      <p:to>
                                        <p:strVal val="visible"/>
                                      </p:to>
                                    </p:set>
                                    <p:animEffect transition="in" filter="fade">
                                      <p:cBhvr>
                                        <p:cTn id="22" dur="500"/>
                                        <p:tgtEl>
                                          <p:spTgt spid="2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8">
                                            <p:txEl>
                                              <p:pRg st="4" end="4"/>
                                            </p:txEl>
                                          </p:spTgt>
                                        </p:tgtEl>
                                        <p:attrNameLst>
                                          <p:attrName>style.visibility</p:attrName>
                                        </p:attrNameLst>
                                      </p:cBhvr>
                                      <p:to>
                                        <p:strVal val="visible"/>
                                      </p:to>
                                    </p:set>
                                    <p:animEffect transition="in" filter="fade">
                                      <p:cBhvr>
                                        <p:cTn id="27" dur="500"/>
                                        <p:tgtEl>
                                          <p:spTgt spid="26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8">
                                            <p:txEl>
                                              <p:pRg st="5" end="5"/>
                                            </p:txEl>
                                          </p:spTgt>
                                        </p:tgtEl>
                                        <p:attrNameLst>
                                          <p:attrName>style.visibility</p:attrName>
                                        </p:attrNameLst>
                                      </p:cBhvr>
                                      <p:to>
                                        <p:strVal val="visible"/>
                                      </p:to>
                                    </p:set>
                                    <p:animEffect transition="in" filter="fade">
                                      <p:cBhvr>
                                        <p:cTn id="32" dur="500"/>
                                        <p:tgtEl>
                                          <p:spTgt spid="2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6"/>
          <p:cNvSpPr txBox="1">
            <a:spLocks noGrp="1"/>
          </p:cNvSpPr>
          <p:nvPr>
            <p:ph type="body" idx="1"/>
          </p:nvPr>
        </p:nvSpPr>
        <p:spPr>
          <a:xfrm>
            <a:off x="2551815" y="377826"/>
            <a:ext cx="8992804" cy="6246258"/>
          </a:xfrm>
          <a:prstGeom prst="rect">
            <a:avLst/>
          </a:prstGeom>
          <a:noFill/>
          <a:ln>
            <a:noFill/>
          </a:ln>
        </p:spPr>
        <p:txBody>
          <a:bodyPr spcFirstLastPara="1" wrap="square" lIns="91425" tIns="45700" rIns="91425" bIns="45700" anchor="t" anchorCtr="0">
            <a:noAutofit/>
          </a:bodyPr>
          <a:lstStyle/>
          <a:p>
            <a:pPr marL="582295" lvl="0" indent="-514350" algn="l" rtl="0">
              <a:lnSpc>
                <a:spcPct val="100000"/>
              </a:lnSpc>
              <a:spcBef>
                <a:spcPts val="0"/>
              </a:spcBef>
              <a:spcAft>
                <a:spcPts val="0"/>
              </a:spcAft>
              <a:buClr>
                <a:schemeClr val="dk1"/>
              </a:buClr>
              <a:buSzPts val="2240"/>
              <a:buFont typeface="Calibri"/>
              <a:buAutoNum type="romanLcPeriod" startAt="4"/>
            </a:pPr>
            <a:r>
              <a:rPr lang="en-US" sz="2600" b="1">
                <a:solidFill>
                  <a:srgbClr val="404040"/>
                </a:solidFill>
                <a:latin typeface="Federo"/>
                <a:ea typeface="Federo"/>
                <a:cs typeface="Federo"/>
                <a:sym typeface="Federo"/>
              </a:rPr>
              <a:t>Keperluan Esteem</a:t>
            </a:r>
            <a:endParaRPr sz="2600"/>
          </a:p>
          <a:p>
            <a:pPr marL="67945" lvl="0" indent="0" algn="l" rtl="0">
              <a:lnSpc>
                <a:spcPct val="100000"/>
              </a:lnSpc>
              <a:spcBef>
                <a:spcPts val="0"/>
              </a:spcBef>
              <a:spcAft>
                <a:spcPts val="0"/>
              </a:spcAft>
              <a:buClr>
                <a:srgbClr val="E6B91E"/>
              </a:buClr>
              <a:buSzPts val="2240"/>
              <a:buNone/>
            </a:pPr>
            <a:endParaRPr sz="2600" b="1">
              <a:solidFill>
                <a:srgbClr val="404040"/>
              </a:solidFill>
              <a:latin typeface="Federo"/>
              <a:ea typeface="Federo"/>
              <a:cs typeface="Federo"/>
              <a:sym typeface="Federo"/>
            </a:endParaRPr>
          </a:p>
          <a:p>
            <a:pPr marL="525145" lvl="0" indent="-457200" algn="l" rtl="0">
              <a:lnSpc>
                <a:spcPct val="100000"/>
              </a:lnSpc>
              <a:spcBef>
                <a:spcPts val="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Setelah keperluan fisiologi, keselamatan dan sosial  dipenuhi maka keperluan seseorang akan beralih kepada faktor esteem pula seperti penghormatan, autonomi, dan pencapaian dan faktor esteem luaran seperti status, pengiktirafan dan perhatian. </a:t>
            </a:r>
            <a:endParaRPr sz="2600">
              <a:latin typeface="Tahoma"/>
              <a:ea typeface="Tahoma"/>
              <a:cs typeface="Tahoma"/>
              <a:sym typeface="Tahoma"/>
            </a:endParaRPr>
          </a:p>
          <a:p>
            <a:pPr marL="525145" lvl="0" indent="-457200" algn="l" rtl="0">
              <a:lnSpc>
                <a:spcPct val="100000"/>
              </a:lnSpc>
              <a:spcBef>
                <a:spcPts val="100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Dalam organisasi, keperluan ini dapat dicapai sekiranya pekerja dapat menunjukkan prestasi kerja yang baik dan diberi kenaikan pangkat, gaji yang tinggi, penghargaan kerja dan lain-lain ganjaran yang  melibatkan kenaikan status pekerja tersebut.</a:t>
            </a:r>
            <a:endParaRPr sz="2600">
              <a:latin typeface="Tahoma"/>
              <a:ea typeface="Tahoma"/>
              <a:cs typeface="Tahoma"/>
              <a:sym typeface="Tahoma"/>
            </a:endParaRPr>
          </a:p>
        </p:txBody>
      </p:sp>
      <p:sp>
        <p:nvSpPr>
          <p:cNvPr id="276" name="Google Shape;276;p36"/>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20</a:t>
            </a:fld>
            <a:endParaRPr sz="900">
              <a:solidFill>
                <a:schemeClr val="accent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5">
                                            <p:txEl>
                                              <p:pRg st="0" end="0"/>
                                            </p:txEl>
                                          </p:spTgt>
                                        </p:tgtEl>
                                        <p:attrNameLst>
                                          <p:attrName>style.visibility</p:attrName>
                                        </p:attrNameLst>
                                      </p:cBhvr>
                                      <p:to>
                                        <p:strVal val="visible"/>
                                      </p:to>
                                    </p:set>
                                    <p:animEffect transition="in" filter="fade">
                                      <p:cBhvr>
                                        <p:cTn id="7" dur="500"/>
                                        <p:tgtEl>
                                          <p:spTgt spid="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5">
                                            <p:txEl>
                                              <p:pRg st="1" end="1"/>
                                            </p:txEl>
                                          </p:spTgt>
                                        </p:tgtEl>
                                        <p:attrNameLst>
                                          <p:attrName>style.visibility</p:attrName>
                                        </p:attrNameLst>
                                      </p:cBhvr>
                                      <p:to>
                                        <p:strVal val="visible"/>
                                      </p:to>
                                    </p:set>
                                    <p:animEffect transition="in" filter="fade">
                                      <p:cBhvr>
                                        <p:cTn id="12" dur="500"/>
                                        <p:tgtEl>
                                          <p:spTgt spid="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5">
                                            <p:txEl>
                                              <p:pRg st="2" end="2"/>
                                            </p:txEl>
                                          </p:spTgt>
                                        </p:tgtEl>
                                        <p:attrNameLst>
                                          <p:attrName>style.visibility</p:attrName>
                                        </p:attrNameLst>
                                      </p:cBhvr>
                                      <p:to>
                                        <p:strVal val="visible"/>
                                      </p:to>
                                    </p:set>
                                    <p:animEffect transition="in" filter="fade">
                                      <p:cBhvr>
                                        <p:cTn id="17" dur="500"/>
                                        <p:tgtEl>
                                          <p:spTgt spid="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5">
                                            <p:txEl>
                                              <p:pRg st="3" end="3"/>
                                            </p:txEl>
                                          </p:spTgt>
                                        </p:tgtEl>
                                        <p:attrNameLst>
                                          <p:attrName>style.visibility</p:attrName>
                                        </p:attrNameLst>
                                      </p:cBhvr>
                                      <p:to>
                                        <p:strVal val="visible"/>
                                      </p:to>
                                    </p:set>
                                    <p:animEffect transition="in" filter="fade">
                                      <p:cBhvr>
                                        <p:cTn id="22" dur="500"/>
                                        <p:tgtEl>
                                          <p:spTgt spid="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7"/>
          <p:cNvSpPr txBox="1">
            <a:spLocks noGrp="1"/>
          </p:cNvSpPr>
          <p:nvPr>
            <p:ph type="body" idx="1"/>
          </p:nvPr>
        </p:nvSpPr>
        <p:spPr>
          <a:xfrm>
            <a:off x="2700670" y="685800"/>
            <a:ext cx="8957930" cy="5810693"/>
          </a:xfrm>
          <a:prstGeom prst="rect">
            <a:avLst/>
          </a:prstGeom>
          <a:noFill/>
          <a:ln>
            <a:noFill/>
          </a:ln>
        </p:spPr>
        <p:txBody>
          <a:bodyPr spcFirstLastPara="1" wrap="square" lIns="91425" tIns="45700" rIns="91425" bIns="45700" anchor="t" anchorCtr="0">
            <a:noAutofit/>
          </a:bodyPr>
          <a:lstStyle/>
          <a:p>
            <a:pPr marL="582295" lvl="0" indent="-514350" algn="just" rtl="0">
              <a:lnSpc>
                <a:spcPct val="100000"/>
              </a:lnSpc>
              <a:spcBef>
                <a:spcPts val="0"/>
              </a:spcBef>
              <a:spcAft>
                <a:spcPts val="0"/>
              </a:spcAft>
              <a:buClr>
                <a:schemeClr val="dk1"/>
              </a:buClr>
              <a:buSzPts val="2240"/>
              <a:buFont typeface="Calibri"/>
              <a:buAutoNum type="romanLcPeriod" startAt="5"/>
            </a:pPr>
            <a:r>
              <a:rPr lang="en-US" sz="2600" b="1">
                <a:solidFill>
                  <a:srgbClr val="404040"/>
                </a:solidFill>
                <a:latin typeface="Federo"/>
                <a:ea typeface="Federo"/>
                <a:cs typeface="Federo"/>
                <a:sym typeface="Federo"/>
              </a:rPr>
              <a:t>Keperluan Aktualisasi Diri</a:t>
            </a:r>
            <a:endParaRPr sz="2600"/>
          </a:p>
          <a:p>
            <a:pPr marL="525145" lvl="0" indent="-314960" algn="just" rtl="0">
              <a:lnSpc>
                <a:spcPct val="100000"/>
              </a:lnSpc>
              <a:spcBef>
                <a:spcPts val="0"/>
              </a:spcBef>
              <a:spcAft>
                <a:spcPts val="0"/>
              </a:spcAft>
              <a:buClr>
                <a:srgbClr val="E6B91E"/>
              </a:buClr>
              <a:buSzPts val="2240"/>
              <a:buNone/>
            </a:pPr>
            <a:endParaRPr sz="2600">
              <a:solidFill>
                <a:srgbClr val="404040"/>
              </a:solidFill>
              <a:latin typeface="Trebuchet MS"/>
              <a:ea typeface="Trebuchet MS"/>
              <a:cs typeface="Trebuchet MS"/>
              <a:sym typeface="Trebuchet MS"/>
            </a:endParaRPr>
          </a:p>
          <a:p>
            <a:pPr marL="525145" lvl="0" indent="-457200" algn="just" rtl="0">
              <a:lnSpc>
                <a:spcPct val="100000"/>
              </a:lnSpc>
              <a:spcBef>
                <a:spcPts val="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Setelah keempat-empat keperluan terbawah dipenuhi maka seterusnya melibatkan keperluan seseorang untuk berkembang, mencapai potensi dirinya dan memenuhi keinginan dirinya sendiri.</a:t>
            </a:r>
            <a:endParaRPr sz="2600"/>
          </a:p>
          <a:p>
            <a:pPr marL="525145" lvl="0" indent="-457200" algn="just" rtl="0">
              <a:lnSpc>
                <a:spcPct val="100000"/>
              </a:lnSpc>
              <a:spcBef>
                <a:spcPts val="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Ia menggunakan segala bakat dan potensi yang ada pada dirinya untuk mencapai apa yang dihajati yang memberikan kepuasan tertinggi bagi individu tersebut.</a:t>
            </a:r>
            <a:endParaRPr sz="2600">
              <a:latin typeface="Tahoma"/>
              <a:ea typeface="Tahoma"/>
              <a:cs typeface="Tahoma"/>
              <a:sym typeface="Tahoma"/>
            </a:endParaRPr>
          </a:p>
          <a:p>
            <a:pPr marL="525145" lvl="0" indent="-457200" algn="just" rtl="0">
              <a:lnSpc>
                <a:spcPct val="100000"/>
              </a:lnSpc>
              <a:spcBef>
                <a:spcPts val="1000"/>
              </a:spcBef>
              <a:spcAft>
                <a:spcPts val="0"/>
              </a:spcAft>
              <a:buClr>
                <a:srgbClr val="E6B91E"/>
              </a:buClr>
              <a:buSzPts val="2240"/>
              <a:buFont typeface="Arial"/>
              <a:buChar char="•"/>
            </a:pPr>
            <a:r>
              <a:rPr lang="en-US" sz="2600">
                <a:solidFill>
                  <a:srgbClr val="404040"/>
                </a:solidFill>
                <a:latin typeface="Tahoma"/>
                <a:ea typeface="Tahoma"/>
                <a:cs typeface="Tahoma"/>
                <a:sym typeface="Tahoma"/>
              </a:rPr>
              <a:t>Pekerja seperti ini suka kepada kerja yang mencabar,   berorientasikan pencapaian, kreativiti dan bercita-cita tinggi</a:t>
            </a:r>
            <a:endParaRPr sz="2600">
              <a:latin typeface="Tahoma"/>
              <a:ea typeface="Tahoma"/>
              <a:cs typeface="Tahoma"/>
              <a:sym typeface="Tahoma"/>
            </a:endParaRPr>
          </a:p>
        </p:txBody>
      </p:sp>
      <p:sp>
        <p:nvSpPr>
          <p:cNvPr id="283" name="Google Shape;283;p37"/>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21</a:t>
            </a:fld>
            <a:endParaRPr sz="900">
              <a:solidFill>
                <a:schemeClr val="accent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animEffect transition="in" filter="fade">
                                      <p:cBhvr>
                                        <p:cTn id="7" dur="500"/>
                                        <p:tgtEl>
                                          <p:spTgt spid="2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2">
                                            <p:txEl>
                                              <p:pRg st="1" end="1"/>
                                            </p:txEl>
                                          </p:spTgt>
                                        </p:tgtEl>
                                        <p:attrNameLst>
                                          <p:attrName>style.visibility</p:attrName>
                                        </p:attrNameLst>
                                      </p:cBhvr>
                                      <p:to>
                                        <p:strVal val="visible"/>
                                      </p:to>
                                    </p:set>
                                    <p:animEffect transition="in" filter="fade">
                                      <p:cBhvr>
                                        <p:cTn id="12" dur="500"/>
                                        <p:tgtEl>
                                          <p:spTgt spid="2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2">
                                            <p:txEl>
                                              <p:pRg st="2" end="2"/>
                                            </p:txEl>
                                          </p:spTgt>
                                        </p:tgtEl>
                                        <p:attrNameLst>
                                          <p:attrName>style.visibility</p:attrName>
                                        </p:attrNameLst>
                                      </p:cBhvr>
                                      <p:to>
                                        <p:strVal val="visible"/>
                                      </p:to>
                                    </p:set>
                                    <p:animEffect transition="in" filter="fade">
                                      <p:cBhvr>
                                        <p:cTn id="17" dur="500"/>
                                        <p:tgtEl>
                                          <p:spTgt spid="2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2">
                                            <p:txEl>
                                              <p:pRg st="3" end="3"/>
                                            </p:txEl>
                                          </p:spTgt>
                                        </p:tgtEl>
                                        <p:attrNameLst>
                                          <p:attrName>style.visibility</p:attrName>
                                        </p:attrNameLst>
                                      </p:cBhvr>
                                      <p:to>
                                        <p:strVal val="visible"/>
                                      </p:to>
                                    </p:set>
                                    <p:animEffect transition="in" filter="fade">
                                      <p:cBhvr>
                                        <p:cTn id="22" dur="500"/>
                                        <p:tgtEl>
                                          <p:spTgt spid="28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2">
                                            <p:txEl>
                                              <p:pRg st="4" end="4"/>
                                            </p:txEl>
                                          </p:spTgt>
                                        </p:tgtEl>
                                        <p:attrNameLst>
                                          <p:attrName>style.visibility</p:attrName>
                                        </p:attrNameLst>
                                      </p:cBhvr>
                                      <p:to>
                                        <p:strVal val="visible"/>
                                      </p:to>
                                    </p:set>
                                    <p:animEffect transition="in" filter="fade">
                                      <p:cBhvr>
                                        <p:cTn id="27" dur="500"/>
                                        <p:tgtEl>
                                          <p:spTgt spid="28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8"/>
          <p:cNvSpPr txBox="1">
            <a:spLocks noGrp="1"/>
          </p:cNvSpPr>
          <p:nvPr>
            <p:ph type="body" idx="1"/>
          </p:nvPr>
        </p:nvSpPr>
        <p:spPr>
          <a:xfrm>
            <a:off x="3157871" y="1504950"/>
            <a:ext cx="8395954" cy="420473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560"/>
              <a:buNone/>
            </a:pPr>
            <a:r>
              <a:rPr lang="en-US" sz="2600">
                <a:solidFill>
                  <a:schemeClr val="dk1"/>
                </a:solidFill>
                <a:latin typeface="Tahoma"/>
                <a:ea typeface="Tahoma"/>
                <a:cs typeface="Tahoma"/>
                <a:sym typeface="Tahoma"/>
              </a:rPr>
              <a:t>Federick Herzberg mengatakan bahawa faktor dalaman berkaitan dengan kepuasan kepada kerja, manakala faktor luaran berkaitan dengan ketidakpuasan terhadap kerja. </a:t>
            </a:r>
            <a:endParaRPr sz="2600"/>
          </a:p>
          <a:p>
            <a:pPr marL="0" lvl="0" indent="0" algn="l" rtl="0">
              <a:lnSpc>
                <a:spcPct val="90000"/>
              </a:lnSpc>
              <a:spcBef>
                <a:spcPts val="0"/>
              </a:spcBef>
              <a:spcAft>
                <a:spcPts val="0"/>
              </a:spcAft>
              <a:buClr>
                <a:schemeClr val="dk1"/>
              </a:buClr>
              <a:buSzPts val="2560"/>
              <a:buNone/>
            </a:pPr>
            <a:endParaRPr sz="2600">
              <a:solidFill>
                <a:schemeClr val="dk1"/>
              </a:solidFill>
              <a:latin typeface="Tahoma"/>
              <a:ea typeface="Tahoma"/>
              <a:cs typeface="Tahoma"/>
              <a:sym typeface="Tahoma"/>
            </a:endParaRPr>
          </a:p>
          <a:p>
            <a:pPr marL="0" lvl="0" indent="0" algn="l" rtl="0">
              <a:lnSpc>
                <a:spcPct val="90000"/>
              </a:lnSpc>
              <a:spcBef>
                <a:spcPts val="0"/>
              </a:spcBef>
              <a:spcAft>
                <a:spcPts val="0"/>
              </a:spcAft>
              <a:buClr>
                <a:schemeClr val="dk1"/>
              </a:buClr>
              <a:buSzPts val="2560"/>
              <a:buNone/>
            </a:pPr>
            <a:r>
              <a:rPr lang="en-US" sz="2600">
                <a:solidFill>
                  <a:schemeClr val="dk1"/>
                </a:solidFill>
                <a:latin typeface="Tahoma"/>
                <a:ea typeface="Tahoma"/>
                <a:cs typeface="Tahoma"/>
                <a:sym typeface="Tahoma"/>
              </a:rPr>
              <a:t>Beliau mengkaji perlakuan manusia dengan memperkenalkan teori motivasi berasaskan 2 set faktor:</a:t>
            </a:r>
            <a:endParaRPr sz="2600">
              <a:solidFill>
                <a:schemeClr val="dk1"/>
              </a:solidFill>
              <a:latin typeface="Tahoma"/>
              <a:ea typeface="Tahoma"/>
              <a:cs typeface="Tahoma"/>
              <a:sym typeface="Tahoma"/>
            </a:endParaRPr>
          </a:p>
          <a:p>
            <a:pPr marL="455930" lvl="1" indent="-455930" algn="l" rtl="0">
              <a:lnSpc>
                <a:spcPct val="90000"/>
              </a:lnSpc>
              <a:spcBef>
                <a:spcPts val="375"/>
              </a:spcBef>
              <a:spcAft>
                <a:spcPts val="0"/>
              </a:spcAft>
              <a:buClr>
                <a:schemeClr val="dk1"/>
              </a:buClr>
              <a:buSzPts val="2560"/>
              <a:buChar char="•"/>
            </a:pPr>
            <a:r>
              <a:rPr lang="en-US" sz="2600">
                <a:solidFill>
                  <a:schemeClr val="dk1"/>
                </a:solidFill>
                <a:latin typeface="Tahoma"/>
                <a:ea typeface="Tahoma"/>
                <a:cs typeface="Tahoma"/>
                <a:sym typeface="Tahoma"/>
              </a:rPr>
              <a:t>Faktor Penjagaan/Dalaman (Hygiene/intrinsic factors)</a:t>
            </a:r>
            <a:endParaRPr sz="2600">
              <a:solidFill>
                <a:schemeClr val="dk1"/>
              </a:solidFill>
              <a:latin typeface="Tahoma"/>
              <a:ea typeface="Tahoma"/>
              <a:cs typeface="Tahoma"/>
              <a:sym typeface="Tahoma"/>
            </a:endParaRPr>
          </a:p>
          <a:p>
            <a:pPr marL="455930" lvl="1" indent="-455930" algn="l" rtl="0">
              <a:lnSpc>
                <a:spcPct val="90000"/>
              </a:lnSpc>
              <a:spcBef>
                <a:spcPts val="375"/>
              </a:spcBef>
              <a:spcAft>
                <a:spcPts val="0"/>
              </a:spcAft>
              <a:buClr>
                <a:schemeClr val="dk1"/>
              </a:buClr>
              <a:buSzPts val="2560"/>
              <a:buChar char="•"/>
            </a:pPr>
            <a:r>
              <a:rPr lang="en-US" sz="2600">
                <a:solidFill>
                  <a:schemeClr val="dk1"/>
                </a:solidFill>
                <a:latin typeface="Tahoma"/>
                <a:ea typeface="Tahoma"/>
                <a:cs typeface="Tahoma"/>
                <a:sym typeface="Tahoma"/>
              </a:rPr>
              <a:t>Faktor Motivasi/Luaran (Motivation/extrinsic factors)</a:t>
            </a:r>
            <a:endParaRPr sz="2600">
              <a:solidFill>
                <a:schemeClr val="dk1"/>
              </a:solidFill>
              <a:latin typeface="Tahoma"/>
              <a:ea typeface="Tahoma"/>
              <a:cs typeface="Tahoma"/>
              <a:sym typeface="Tahoma"/>
            </a:endParaRPr>
          </a:p>
          <a:p>
            <a:pPr marL="525145" lvl="0" indent="-457200" algn="l" rtl="0">
              <a:lnSpc>
                <a:spcPct val="100000"/>
              </a:lnSpc>
              <a:spcBef>
                <a:spcPts val="1000"/>
              </a:spcBef>
              <a:spcAft>
                <a:spcPts val="0"/>
              </a:spcAft>
              <a:buClr>
                <a:schemeClr val="accent1"/>
              </a:buClr>
              <a:buSzPts val="2560"/>
              <a:buNone/>
            </a:pPr>
            <a:r>
              <a:rPr lang="en-US" sz="2600">
                <a:solidFill>
                  <a:schemeClr val="dk1"/>
                </a:solidFill>
                <a:latin typeface="Tahoma"/>
                <a:ea typeface="Tahoma"/>
                <a:cs typeface="Tahoma"/>
                <a:sym typeface="Tahoma"/>
              </a:rPr>
              <a:t>		</a:t>
            </a:r>
            <a:endParaRPr sz="2600">
              <a:solidFill>
                <a:schemeClr val="dk1"/>
              </a:solidFill>
              <a:latin typeface="Tahoma"/>
              <a:ea typeface="Tahoma"/>
              <a:cs typeface="Tahoma"/>
              <a:sym typeface="Tahoma"/>
            </a:endParaRPr>
          </a:p>
          <a:p>
            <a:pPr marL="342900" lvl="0" indent="-180340" algn="l" rtl="0">
              <a:lnSpc>
                <a:spcPct val="100000"/>
              </a:lnSpc>
              <a:spcBef>
                <a:spcPts val="1000"/>
              </a:spcBef>
              <a:spcAft>
                <a:spcPts val="0"/>
              </a:spcAft>
              <a:buClr>
                <a:schemeClr val="accent1"/>
              </a:buClr>
              <a:buSzPts val="2560"/>
              <a:buNone/>
            </a:pPr>
            <a:endParaRPr sz="2600">
              <a:solidFill>
                <a:schemeClr val="dk1"/>
              </a:solidFill>
              <a:latin typeface="Tahoma"/>
              <a:ea typeface="Tahoma"/>
              <a:cs typeface="Tahoma"/>
              <a:sym typeface="Tahoma"/>
            </a:endParaRPr>
          </a:p>
        </p:txBody>
      </p:sp>
      <p:sp>
        <p:nvSpPr>
          <p:cNvPr id="290" name="Google Shape;290;p38"/>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22</a:t>
            </a:fld>
            <a:endParaRPr sz="900">
              <a:solidFill>
                <a:schemeClr val="accent1"/>
              </a:solidFill>
              <a:latin typeface="Tahoma"/>
              <a:ea typeface="Tahoma"/>
              <a:cs typeface="Tahoma"/>
              <a:sym typeface="Tahoma"/>
            </a:endParaRPr>
          </a:p>
        </p:txBody>
      </p:sp>
      <p:sp>
        <p:nvSpPr>
          <p:cNvPr id="291" name="Google Shape;291;p38"/>
          <p:cNvSpPr txBox="1"/>
          <p:nvPr/>
        </p:nvSpPr>
        <p:spPr>
          <a:xfrm>
            <a:off x="2286001" y="579438"/>
            <a:ext cx="628205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ii. Teori Motivasi </a:t>
            </a:r>
            <a:r>
              <a:rPr lang="en-US" sz="2800" b="1" i="0" u="none" strike="noStrike" cap="none">
                <a:solidFill>
                  <a:srgbClr val="000000"/>
                </a:solidFill>
                <a:latin typeface="Federo"/>
                <a:ea typeface="Federo"/>
                <a:cs typeface="Federo"/>
                <a:sym typeface="Federo"/>
              </a:rPr>
              <a:t>2 Faktor Herzberg </a:t>
            </a: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animEffect transition="in" filter="fade">
                                      <p:cBhvr>
                                        <p:cTn id="7" dur="500"/>
                                        <p:tgtEl>
                                          <p:spTgt spid="2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9">
                                            <p:txEl>
                                              <p:pRg st="1" end="1"/>
                                            </p:txEl>
                                          </p:spTgt>
                                        </p:tgtEl>
                                        <p:attrNameLst>
                                          <p:attrName>style.visibility</p:attrName>
                                        </p:attrNameLst>
                                      </p:cBhvr>
                                      <p:to>
                                        <p:strVal val="visible"/>
                                      </p:to>
                                    </p:set>
                                    <p:animEffect transition="in" filter="fade">
                                      <p:cBhvr>
                                        <p:cTn id="12" dur="500"/>
                                        <p:tgtEl>
                                          <p:spTgt spid="2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9">
                                            <p:txEl>
                                              <p:pRg st="2" end="2"/>
                                            </p:txEl>
                                          </p:spTgt>
                                        </p:tgtEl>
                                        <p:attrNameLst>
                                          <p:attrName>style.visibility</p:attrName>
                                        </p:attrNameLst>
                                      </p:cBhvr>
                                      <p:to>
                                        <p:strVal val="visible"/>
                                      </p:to>
                                    </p:set>
                                    <p:animEffect transition="in" filter="fade">
                                      <p:cBhvr>
                                        <p:cTn id="17" dur="500"/>
                                        <p:tgtEl>
                                          <p:spTgt spid="2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9">
                                            <p:txEl>
                                              <p:pRg st="3" end="3"/>
                                            </p:txEl>
                                          </p:spTgt>
                                        </p:tgtEl>
                                        <p:attrNameLst>
                                          <p:attrName>style.visibility</p:attrName>
                                        </p:attrNameLst>
                                      </p:cBhvr>
                                      <p:to>
                                        <p:strVal val="visible"/>
                                      </p:to>
                                    </p:set>
                                    <p:animEffect transition="in" filter="fade">
                                      <p:cBhvr>
                                        <p:cTn id="22" dur="500"/>
                                        <p:tgtEl>
                                          <p:spTgt spid="2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9">
                                            <p:txEl>
                                              <p:pRg st="4" end="4"/>
                                            </p:txEl>
                                          </p:spTgt>
                                        </p:tgtEl>
                                        <p:attrNameLst>
                                          <p:attrName>style.visibility</p:attrName>
                                        </p:attrNameLst>
                                      </p:cBhvr>
                                      <p:to>
                                        <p:strVal val="visible"/>
                                      </p:to>
                                    </p:set>
                                    <p:animEffect transition="in" filter="fade">
                                      <p:cBhvr>
                                        <p:cTn id="27" dur="500"/>
                                        <p:tgtEl>
                                          <p:spTgt spid="28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9">
                                            <p:txEl>
                                              <p:pRg st="5" end="5"/>
                                            </p:txEl>
                                          </p:spTgt>
                                        </p:tgtEl>
                                        <p:attrNameLst>
                                          <p:attrName>style.visibility</p:attrName>
                                        </p:attrNameLst>
                                      </p:cBhvr>
                                      <p:to>
                                        <p:strVal val="visible"/>
                                      </p:to>
                                    </p:set>
                                    <p:animEffect transition="in" filter="fade">
                                      <p:cBhvr>
                                        <p:cTn id="32" dur="500"/>
                                        <p:tgtEl>
                                          <p:spTgt spid="28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9">
                                            <p:txEl>
                                              <p:pRg st="6" end="6"/>
                                            </p:txEl>
                                          </p:spTgt>
                                        </p:tgtEl>
                                        <p:attrNameLst>
                                          <p:attrName>style.visibility</p:attrName>
                                        </p:attrNameLst>
                                      </p:cBhvr>
                                      <p:to>
                                        <p:strVal val="visible"/>
                                      </p:to>
                                    </p:set>
                                    <p:animEffect transition="in" filter="fade">
                                      <p:cBhvr>
                                        <p:cTn id="37" dur="500"/>
                                        <p:tgtEl>
                                          <p:spTgt spid="28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39"/>
          <p:cNvPicPr preferRelativeResize="0">
            <a:picLocks noGrp="1"/>
          </p:cNvPicPr>
          <p:nvPr>
            <p:ph type="body" idx="1"/>
          </p:nvPr>
        </p:nvPicPr>
        <p:blipFill rotWithShape="1">
          <a:blip r:embed="rId3">
            <a:alphaModFix/>
          </a:blip>
          <a:srcRect/>
          <a:stretch/>
        </p:blipFill>
        <p:spPr>
          <a:xfrm>
            <a:off x="4534065" y="2102071"/>
            <a:ext cx="6895769" cy="3768800"/>
          </a:xfrm>
          <a:prstGeom prst="rect">
            <a:avLst/>
          </a:prstGeom>
          <a:noFill/>
          <a:ln>
            <a:noFill/>
          </a:ln>
        </p:spPr>
      </p:pic>
      <p:sp>
        <p:nvSpPr>
          <p:cNvPr id="298" name="Google Shape;298;p39"/>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23</a:t>
            </a:fld>
            <a:endParaRPr sz="900">
              <a:solidFill>
                <a:schemeClr val="accent1"/>
              </a:solidFill>
              <a:latin typeface="Tahoma"/>
              <a:ea typeface="Tahoma"/>
              <a:cs typeface="Tahoma"/>
              <a:sym typeface="Tahoma"/>
            </a:endParaRPr>
          </a:p>
        </p:txBody>
      </p:sp>
      <p:sp>
        <p:nvSpPr>
          <p:cNvPr id="299" name="Google Shape;299;p39"/>
          <p:cNvSpPr txBox="1"/>
          <p:nvPr/>
        </p:nvSpPr>
        <p:spPr>
          <a:xfrm>
            <a:off x="1847452" y="535764"/>
            <a:ext cx="628205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ii. Teori Motivasi </a:t>
            </a:r>
            <a:r>
              <a:rPr lang="en-US" sz="2800" b="1" i="0" u="none" strike="noStrike" cap="none">
                <a:solidFill>
                  <a:srgbClr val="000000"/>
                </a:solidFill>
                <a:latin typeface="Federo"/>
                <a:ea typeface="Federo"/>
                <a:cs typeface="Federo"/>
                <a:sym typeface="Federo"/>
              </a:rPr>
              <a:t>2 Faktor Herzberg </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0"/>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24</a:t>
            </a:fld>
            <a:endParaRPr sz="900">
              <a:solidFill>
                <a:schemeClr val="accent1"/>
              </a:solidFill>
              <a:latin typeface="Tahoma"/>
              <a:ea typeface="Tahoma"/>
              <a:cs typeface="Tahoma"/>
              <a:sym typeface="Tahoma"/>
            </a:endParaRPr>
          </a:p>
        </p:txBody>
      </p:sp>
      <p:sp>
        <p:nvSpPr>
          <p:cNvPr id="306" name="Google Shape;306;p40"/>
          <p:cNvSpPr txBox="1"/>
          <p:nvPr/>
        </p:nvSpPr>
        <p:spPr>
          <a:xfrm>
            <a:off x="3543300" y="704851"/>
            <a:ext cx="8077200" cy="5572124"/>
          </a:xfrm>
          <a:prstGeom prst="rect">
            <a:avLst/>
          </a:prstGeom>
          <a:noFill/>
          <a:ln>
            <a:noFill/>
          </a:ln>
        </p:spPr>
        <p:txBody>
          <a:bodyPr spcFirstLastPara="1" wrap="square" lIns="91425" tIns="45700" rIns="91425" bIns="45700" anchor="t" anchorCtr="0">
            <a:noAutofit/>
          </a:bodyPr>
          <a:lstStyle/>
          <a:p>
            <a:pPr marL="0" marR="0" lvl="1"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Federo"/>
                <a:ea typeface="Federo"/>
                <a:cs typeface="Federo"/>
                <a:sym typeface="Federo"/>
              </a:rPr>
              <a:t>Faktor Penjagaan(Hygiene factors)</a:t>
            </a:r>
            <a:endParaRPr sz="2400" b="0" i="0" u="none" strike="noStrike" cap="none">
              <a:solidFill>
                <a:schemeClr val="dk1"/>
              </a:solidFill>
              <a:latin typeface="Calibri"/>
              <a:ea typeface="Calibri"/>
              <a:cs typeface="Calibri"/>
              <a:sym typeface="Calibri"/>
            </a:endParaRPr>
          </a:p>
          <a:p>
            <a:pPr marL="0" marR="0" lvl="1"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ahoma"/>
              <a:ea typeface="Tahoma"/>
              <a:cs typeface="Tahoma"/>
              <a:sym typeface="Tahoma"/>
            </a:endParaRPr>
          </a:p>
          <a:p>
            <a:pPr marL="457200" marR="0" lvl="0" indent="-457200" algn="l" rtl="0">
              <a:lnSpc>
                <a:spcPct val="100000"/>
              </a:lnSpc>
              <a:spcBef>
                <a:spcPts val="0"/>
              </a:spcBef>
              <a:spcAft>
                <a:spcPts val="0"/>
              </a:spcAft>
              <a:buClr>
                <a:schemeClr val="dk1"/>
              </a:buClr>
              <a:buSzPts val="2600"/>
              <a:buFont typeface="Arial"/>
              <a:buChar char="•"/>
            </a:pPr>
            <a:r>
              <a:rPr lang="en-US" sz="2600" b="0" i="0" u="none" strike="noStrike" cap="none">
                <a:solidFill>
                  <a:schemeClr val="dk1"/>
                </a:solidFill>
                <a:latin typeface="Tahoma"/>
                <a:ea typeface="Tahoma"/>
                <a:cs typeface="Tahoma"/>
                <a:sym typeface="Tahoma"/>
              </a:rPr>
              <a:t>Ia merupakan faktor yang apabila mencukupi di tempat kerja akan mententeram dan menyenangkan pekerja.  </a:t>
            </a:r>
            <a:endParaRPr sz="1800" b="0" i="0" u="none" strike="noStrike" cap="none">
              <a:solidFill>
                <a:schemeClr val="dk1"/>
              </a:solidFill>
              <a:latin typeface="Calibri"/>
              <a:ea typeface="Calibri"/>
              <a:cs typeface="Calibri"/>
              <a:sym typeface="Calibri"/>
            </a:endParaRPr>
          </a:p>
          <a:p>
            <a:pPr marL="457200" marR="0" lvl="0" indent="-457200" algn="l" rtl="0">
              <a:lnSpc>
                <a:spcPct val="100000"/>
              </a:lnSpc>
              <a:spcBef>
                <a:spcPts val="0"/>
              </a:spcBef>
              <a:spcAft>
                <a:spcPts val="0"/>
              </a:spcAft>
              <a:buClr>
                <a:schemeClr val="dk1"/>
              </a:buClr>
              <a:buSzPts val="2600"/>
              <a:buFont typeface="Arial"/>
              <a:buChar char="•"/>
            </a:pPr>
            <a:r>
              <a:rPr lang="en-US" sz="2600" b="0" i="0" u="none" strike="noStrike" cap="none">
                <a:solidFill>
                  <a:schemeClr val="dk1"/>
                </a:solidFill>
                <a:latin typeface="Tahoma"/>
                <a:ea typeface="Tahoma"/>
                <a:cs typeface="Tahoma"/>
                <a:sym typeface="Tahoma"/>
              </a:rPr>
              <a:t>Faktor ini jika diberi perhatian di tempat kerja akan mengelakkan berlakunya ketidakpuasan </a:t>
            </a:r>
            <a:endParaRPr sz="1800" b="0" i="0" u="none" strike="noStrike" cap="none">
              <a:solidFill>
                <a:schemeClr val="dk1"/>
              </a:solidFill>
              <a:latin typeface="Calibri"/>
              <a:ea typeface="Calibri"/>
              <a:cs typeface="Calibri"/>
              <a:sym typeface="Calibri"/>
            </a:endParaRPr>
          </a:p>
          <a:p>
            <a:pPr marL="457200" marR="0" lvl="0" indent="-457200" algn="l" rtl="0">
              <a:lnSpc>
                <a:spcPct val="100000"/>
              </a:lnSpc>
              <a:spcBef>
                <a:spcPts val="0"/>
              </a:spcBef>
              <a:spcAft>
                <a:spcPts val="0"/>
              </a:spcAft>
              <a:buClr>
                <a:schemeClr val="dk1"/>
              </a:buClr>
              <a:buSzPts val="2600"/>
              <a:buFont typeface="Arial"/>
              <a:buChar char="•"/>
            </a:pPr>
            <a:r>
              <a:rPr lang="en-US" sz="2600" b="0" i="0" u="none" strike="noStrike" cap="none">
                <a:solidFill>
                  <a:schemeClr val="dk1"/>
                </a:solidFill>
                <a:latin typeface="Tahoma"/>
                <a:ea typeface="Tahoma"/>
                <a:cs typeface="Tahoma"/>
                <a:sym typeface="Tahoma"/>
              </a:rPr>
              <a:t>Apabila faktor ini mencukupi, akan menghalang daripada berlakunya ketidakpuasan kerja, tetapi faktor ini tidak berupaya untuk memotivasikan dan memberikan kepuasan hati kepada pekerja.</a:t>
            </a:r>
            <a:endParaRPr sz="2600" b="0" i="0" u="none" strike="noStrike" cap="none">
              <a:solidFill>
                <a:schemeClr val="dk1"/>
              </a:solidFill>
              <a:latin typeface="Tahoma"/>
              <a:ea typeface="Tahoma"/>
              <a:cs typeface="Tahoma"/>
              <a:sym typeface="Tahoma"/>
            </a:endParaRPr>
          </a:p>
          <a:p>
            <a:pPr marL="457200" marR="0" lvl="0" indent="-29210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ahoma"/>
              <a:ea typeface="Tahoma"/>
              <a:cs typeface="Tahoma"/>
              <a:sym typeface="Tahoma"/>
            </a:endParaRPr>
          </a:p>
        </p:txBody>
      </p:sp>
      <p:sp>
        <p:nvSpPr>
          <p:cNvPr id="307" name="Google Shape;307;p40"/>
          <p:cNvSpPr/>
          <p:nvPr/>
        </p:nvSpPr>
        <p:spPr>
          <a:xfrm>
            <a:off x="2832417" y="419101"/>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1</a:t>
            </a:r>
            <a:endParaRPr sz="1800" b="1"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6">
                                            <p:txEl>
                                              <p:pRg st="0" end="0"/>
                                            </p:txEl>
                                          </p:spTgt>
                                        </p:tgtEl>
                                        <p:attrNameLst>
                                          <p:attrName>style.visibility</p:attrName>
                                        </p:attrNameLst>
                                      </p:cBhvr>
                                      <p:to>
                                        <p:strVal val="visible"/>
                                      </p:to>
                                    </p:set>
                                    <p:animEffect transition="in" filter="fade">
                                      <p:cBhvr>
                                        <p:cTn id="7" dur="500"/>
                                        <p:tgtEl>
                                          <p:spTgt spid="3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6">
                                            <p:txEl>
                                              <p:pRg st="1" end="1"/>
                                            </p:txEl>
                                          </p:spTgt>
                                        </p:tgtEl>
                                        <p:attrNameLst>
                                          <p:attrName>style.visibility</p:attrName>
                                        </p:attrNameLst>
                                      </p:cBhvr>
                                      <p:to>
                                        <p:strVal val="visible"/>
                                      </p:to>
                                    </p:set>
                                    <p:animEffect transition="in" filter="fade">
                                      <p:cBhvr>
                                        <p:cTn id="12" dur="500"/>
                                        <p:tgtEl>
                                          <p:spTgt spid="3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6">
                                            <p:txEl>
                                              <p:pRg st="2" end="2"/>
                                            </p:txEl>
                                          </p:spTgt>
                                        </p:tgtEl>
                                        <p:attrNameLst>
                                          <p:attrName>style.visibility</p:attrName>
                                        </p:attrNameLst>
                                      </p:cBhvr>
                                      <p:to>
                                        <p:strVal val="visible"/>
                                      </p:to>
                                    </p:set>
                                    <p:animEffect transition="in" filter="fade">
                                      <p:cBhvr>
                                        <p:cTn id="17" dur="500"/>
                                        <p:tgtEl>
                                          <p:spTgt spid="30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6">
                                            <p:txEl>
                                              <p:pRg st="3" end="3"/>
                                            </p:txEl>
                                          </p:spTgt>
                                        </p:tgtEl>
                                        <p:attrNameLst>
                                          <p:attrName>style.visibility</p:attrName>
                                        </p:attrNameLst>
                                      </p:cBhvr>
                                      <p:to>
                                        <p:strVal val="visible"/>
                                      </p:to>
                                    </p:set>
                                    <p:animEffect transition="in" filter="fade">
                                      <p:cBhvr>
                                        <p:cTn id="22" dur="500"/>
                                        <p:tgtEl>
                                          <p:spTgt spid="30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6">
                                            <p:txEl>
                                              <p:pRg st="4" end="4"/>
                                            </p:txEl>
                                          </p:spTgt>
                                        </p:tgtEl>
                                        <p:attrNameLst>
                                          <p:attrName>style.visibility</p:attrName>
                                        </p:attrNameLst>
                                      </p:cBhvr>
                                      <p:to>
                                        <p:strVal val="visible"/>
                                      </p:to>
                                    </p:set>
                                    <p:animEffect transition="in" filter="fade">
                                      <p:cBhvr>
                                        <p:cTn id="27" dur="500"/>
                                        <p:tgtEl>
                                          <p:spTgt spid="30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6">
                                            <p:txEl>
                                              <p:pRg st="5" end="5"/>
                                            </p:txEl>
                                          </p:spTgt>
                                        </p:tgtEl>
                                        <p:attrNameLst>
                                          <p:attrName>style.visibility</p:attrName>
                                        </p:attrNameLst>
                                      </p:cBhvr>
                                      <p:to>
                                        <p:strVal val="visible"/>
                                      </p:to>
                                    </p:set>
                                    <p:animEffect transition="in" filter="fade">
                                      <p:cBhvr>
                                        <p:cTn id="32" dur="500"/>
                                        <p:tgtEl>
                                          <p:spTgt spid="30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6">
                                            <p:txEl>
                                              <p:pRg st="6" end="6"/>
                                            </p:txEl>
                                          </p:spTgt>
                                        </p:tgtEl>
                                        <p:attrNameLst>
                                          <p:attrName>style.visibility</p:attrName>
                                        </p:attrNameLst>
                                      </p:cBhvr>
                                      <p:to>
                                        <p:strVal val="visible"/>
                                      </p:to>
                                    </p:set>
                                    <p:animEffect transition="in" filter="fade">
                                      <p:cBhvr>
                                        <p:cTn id="37" dur="500"/>
                                        <p:tgtEl>
                                          <p:spTgt spid="30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6">
                                            <p:txEl>
                                              <p:pRg st="7" end="7"/>
                                            </p:txEl>
                                          </p:spTgt>
                                        </p:tgtEl>
                                        <p:attrNameLst>
                                          <p:attrName>style.visibility</p:attrName>
                                        </p:attrNameLst>
                                      </p:cBhvr>
                                      <p:to>
                                        <p:strVal val="visible"/>
                                      </p:to>
                                    </p:set>
                                    <p:animEffect transition="in" filter="fade">
                                      <p:cBhvr>
                                        <p:cTn id="42" dur="500"/>
                                        <p:tgtEl>
                                          <p:spTgt spid="30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6">
                                            <p:txEl>
                                              <p:pRg st="8" end="8"/>
                                            </p:txEl>
                                          </p:spTgt>
                                        </p:tgtEl>
                                        <p:attrNameLst>
                                          <p:attrName>style.visibility</p:attrName>
                                        </p:attrNameLst>
                                      </p:cBhvr>
                                      <p:to>
                                        <p:strVal val="visible"/>
                                      </p:to>
                                    </p:set>
                                    <p:animEffect transition="in" filter="fade">
                                      <p:cBhvr>
                                        <p:cTn id="47" dur="500"/>
                                        <p:tgtEl>
                                          <p:spTgt spid="30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1"/>
          <p:cNvSpPr txBox="1">
            <a:spLocks noGrp="1"/>
          </p:cNvSpPr>
          <p:nvPr>
            <p:ph type="body" idx="1"/>
          </p:nvPr>
        </p:nvSpPr>
        <p:spPr>
          <a:xfrm>
            <a:off x="3126105" y="695324"/>
            <a:ext cx="8382000" cy="5591175"/>
          </a:xfrm>
          <a:prstGeom prst="rect">
            <a:avLst/>
          </a:prstGeom>
          <a:noFill/>
          <a:ln>
            <a:noFill/>
          </a:ln>
        </p:spPr>
        <p:txBody>
          <a:bodyPr spcFirstLastPara="1" wrap="square" lIns="91425" tIns="45700" rIns="91425" bIns="45700" anchor="t" anchorCtr="0">
            <a:noAutofit/>
          </a:bodyPr>
          <a:lstStyle/>
          <a:p>
            <a:pPr marL="0" lvl="1" indent="0" algn="l" rtl="0">
              <a:lnSpc>
                <a:spcPct val="100000"/>
              </a:lnSpc>
              <a:spcBef>
                <a:spcPts val="0"/>
              </a:spcBef>
              <a:spcAft>
                <a:spcPts val="0"/>
              </a:spcAft>
              <a:buClr>
                <a:schemeClr val="dk1"/>
              </a:buClr>
              <a:buSzPts val="2600"/>
              <a:buNone/>
            </a:pPr>
            <a:r>
              <a:rPr lang="en-US" sz="3200" b="1">
                <a:latin typeface="Federo"/>
                <a:ea typeface="Federo"/>
                <a:cs typeface="Federo"/>
                <a:sym typeface="Federo"/>
              </a:rPr>
              <a:t>Faktor Penjagaan (Hygiene factors)</a:t>
            </a:r>
            <a:endParaRPr sz="3200" b="1">
              <a:solidFill>
                <a:schemeClr val="dk1"/>
              </a:solidFill>
              <a:latin typeface="Federo"/>
              <a:ea typeface="Federo"/>
              <a:cs typeface="Federo"/>
              <a:sym typeface="Federo"/>
            </a:endParaRPr>
          </a:p>
          <a:p>
            <a:pPr marL="525145" lvl="0" indent="-457200" algn="l" rtl="0">
              <a:lnSpc>
                <a:spcPct val="100000"/>
              </a:lnSpc>
              <a:spcBef>
                <a:spcPts val="0"/>
              </a:spcBef>
              <a:spcAft>
                <a:spcPts val="0"/>
              </a:spcAft>
              <a:buClr>
                <a:schemeClr val="accent1"/>
              </a:buClr>
              <a:buSzPts val="2240"/>
              <a:buNone/>
            </a:pPr>
            <a:endParaRPr sz="2400">
              <a:solidFill>
                <a:schemeClr val="dk1"/>
              </a:solidFill>
              <a:latin typeface="Tahoma"/>
              <a:ea typeface="Tahoma"/>
              <a:cs typeface="Tahoma"/>
              <a:sym typeface="Tahoma"/>
            </a:endParaRPr>
          </a:p>
          <a:p>
            <a:pPr marL="525145" lvl="0" indent="-457200" algn="l" rtl="0">
              <a:lnSpc>
                <a:spcPct val="100000"/>
              </a:lnSpc>
              <a:spcBef>
                <a:spcPts val="0"/>
              </a:spcBef>
              <a:spcAft>
                <a:spcPts val="0"/>
              </a:spcAft>
              <a:buClr>
                <a:schemeClr val="accent1"/>
              </a:buClr>
              <a:buSzPts val="2240"/>
              <a:buNone/>
            </a:pPr>
            <a:r>
              <a:rPr lang="en-US" sz="2600">
                <a:solidFill>
                  <a:schemeClr val="dk1"/>
                </a:solidFill>
                <a:latin typeface="Tahoma"/>
                <a:ea typeface="Tahoma"/>
                <a:cs typeface="Tahoma"/>
                <a:sym typeface="Tahoma"/>
              </a:rPr>
              <a:t>Antara faktor-faktor penjagaan ialah:</a:t>
            </a:r>
            <a:endParaRPr/>
          </a:p>
          <a:p>
            <a:pPr marL="525145" lvl="0" indent="-457200" algn="l" rtl="0">
              <a:lnSpc>
                <a:spcPct val="100000"/>
              </a:lnSpc>
              <a:spcBef>
                <a:spcPts val="0"/>
              </a:spcBef>
              <a:spcAft>
                <a:spcPts val="0"/>
              </a:spcAft>
              <a:buClr>
                <a:schemeClr val="accent1"/>
              </a:buClr>
              <a:buSzPts val="2240"/>
              <a:buNone/>
            </a:pPr>
            <a:endParaRPr sz="2600">
              <a:solidFill>
                <a:schemeClr val="dk1"/>
              </a:solidFill>
              <a:latin typeface="Tahoma"/>
              <a:ea typeface="Tahoma"/>
              <a:cs typeface="Tahoma"/>
              <a:sym typeface="Tahoma"/>
            </a:endParaRPr>
          </a:p>
          <a:p>
            <a:pPr marL="582295" lvl="0" indent="-514350" algn="l" rtl="0">
              <a:lnSpc>
                <a:spcPct val="100000"/>
              </a:lnSpc>
              <a:spcBef>
                <a:spcPts val="1000"/>
              </a:spcBef>
              <a:spcAft>
                <a:spcPts val="0"/>
              </a:spcAft>
              <a:buClr>
                <a:schemeClr val="dk1"/>
              </a:buClr>
              <a:buSzPts val="2800"/>
              <a:buFont typeface="Arial"/>
              <a:buChar char="•"/>
            </a:pPr>
            <a:r>
              <a:rPr lang="en-US" sz="2600">
                <a:solidFill>
                  <a:schemeClr val="dk1"/>
                </a:solidFill>
                <a:latin typeface="Tahoma"/>
                <a:ea typeface="Tahoma"/>
                <a:cs typeface="Tahoma"/>
                <a:sym typeface="Tahoma"/>
              </a:rPr>
              <a:t>Upah dan gaji termasuk faedah-faedah lain dari  organisasi</a:t>
            </a:r>
            <a:endParaRPr sz="2600">
              <a:solidFill>
                <a:schemeClr val="dk1"/>
              </a:solidFill>
              <a:latin typeface="Tahoma"/>
              <a:ea typeface="Tahoma"/>
              <a:cs typeface="Tahoma"/>
              <a:sym typeface="Tahoma"/>
            </a:endParaRPr>
          </a:p>
          <a:p>
            <a:pPr marL="582295" lvl="0" indent="-514350" algn="l" rtl="0">
              <a:lnSpc>
                <a:spcPct val="100000"/>
              </a:lnSpc>
              <a:spcBef>
                <a:spcPts val="1000"/>
              </a:spcBef>
              <a:spcAft>
                <a:spcPts val="0"/>
              </a:spcAft>
              <a:buClr>
                <a:schemeClr val="dk1"/>
              </a:buClr>
              <a:buSzPts val="2800"/>
              <a:buFont typeface="Arial"/>
              <a:buChar char="•"/>
            </a:pPr>
            <a:r>
              <a:rPr lang="en-US" sz="2600">
                <a:solidFill>
                  <a:schemeClr val="dk1"/>
                </a:solidFill>
                <a:latin typeface="Tahoma"/>
                <a:ea typeface="Tahoma"/>
                <a:cs typeface="Tahoma"/>
                <a:sym typeface="Tahoma"/>
              </a:rPr>
              <a:t>Status dan jaminan kerja</a:t>
            </a:r>
            <a:endParaRPr sz="2600">
              <a:solidFill>
                <a:schemeClr val="dk1"/>
              </a:solidFill>
              <a:latin typeface="Tahoma"/>
              <a:ea typeface="Tahoma"/>
              <a:cs typeface="Tahoma"/>
              <a:sym typeface="Tahoma"/>
            </a:endParaRPr>
          </a:p>
          <a:p>
            <a:pPr marL="582295" lvl="0" indent="-514350" algn="l" rtl="0">
              <a:lnSpc>
                <a:spcPct val="100000"/>
              </a:lnSpc>
              <a:spcBef>
                <a:spcPts val="1000"/>
              </a:spcBef>
              <a:spcAft>
                <a:spcPts val="0"/>
              </a:spcAft>
              <a:buClr>
                <a:schemeClr val="dk1"/>
              </a:buClr>
              <a:buSzPts val="2800"/>
              <a:buFont typeface="Arial"/>
              <a:buChar char="•"/>
            </a:pPr>
            <a:r>
              <a:rPr lang="en-US" sz="2600">
                <a:solidFill>
                  <a:schemeClr val="dk1"/>
                </a:solidFill>
                <a:latin typeface="Tahoma"/>
                <a:ea typeface="Tahoma"/>
                <a:cs typeface="Tahoma"/>
                <a:sym typeface="Tahoma"/>
              </a:rPr>
              <a:t>Keselesaan dan keselamatan tempat kerja</a:t>
            </a:r>
            <a:endParaRPr sz="2600">
              <a:solidFill>
                <a:schemeClr val="dk1"/>
              </a:solidFill>
              <a:latin typeface="Tahoma"/>
              <a:ea typeface="Tahoma"/>
              <a:cs typeface="Tahoma"/>
              <a:sym typeface="Tahoma"/>
            </a:endParaRPr>
          </a:p>
          <a:p>
            <a:pPr marL="582295" lvl="0" indent="-514350" algn="l" rtl="0">
              <a:lnSpc>
                <a:spcPct val="100000"/>
              </a:lnSpc>
              <a:spcBef>
                <a:spcPts val="1000"/>
              </a:spcBef>
              <a:spcAft>
                <a:spcPts val="0"/>
              </a:spcAft>
              <a:buClr>
                <a:schemeClr val="dk1"/>
              </a:buClr>
              <a:buSzPts val="2800"/>
              <a:buFont typeface="Arial"/>
              <a:buChar char="•"/>
            </a:pPr>
            <a:r>
              <a:rPr lang="en-US" sz="2600">
                <a:solidFill>
                  <a:schemeClr val="dk1"/>
                </a:solidFill>
                <a:latin typeface="Tahoma"/>
                <a:ea typeface="Tahoma"/>
                <a:cs typeface="Tahoma"/>
                <a:sym typeface="Tahoma"/>
              </a:rPr>
              <a:t>Polisi syarikat dan pentadbiran yang adil</a:t>
            </a:r>
            <a:endParaRPr sz="2600">
              <a:solidFill>
                <a:schemeClr val="dk1"/>
              </a:solidFill>
              <a:latin typeface="Tahoma"/>
              <a:ea typeface="Tahoma"/>
              <a:cs typeface="Tahoma"/>
              <a:sym typeface="Tahoma"/>
            </a:endParaRPr>
          </a:p>
          <a:p>
            <a:pPr marL="582295" lvl="0" indent="-514350" algn="l" rtl="0">
              <a:lnSpc>
                <a:spcPct val="100000"/>
              </a:lnSpc>
              <a:spcBef>
                <a:spcPts val="1000"/>
              </a:spcBef>
              <a:spcAft>
                <a:spcPts val="0"/>
              </a:spcAft>
              <a:buClr>
                <a:schemeClr val="dk1"/>
              </a:buClr>
              <a:buSzPts val="2800"/>
              <a:buFont typeface="Arial"/>
              <a:buChar char="•"/>
            </a:pPr>
            <a:r>
              <a:rPr lang="en-US" sz="2600">
                <a:solidFill>
                  <a:schemeClr val="dk1"/>
                </a:solidFill>
                <a:latin typeface="Tahoma"/>
                <a:ea typeface="Tahoma"/>
                <a:cs typeface="Tahoma"/>
                <a:sym typeface="Tahoma"/>
              </a:rPr>
              <a:t>Hubungan interpersonal dengan ketua, rakan sekerja dan subordinat</a:t>
            </a:r>
            <a:endParaRPr sz="2600">
              <a:solidFill>
                <a:schemeClr val="dk1"/>
              </a:solidFill>
              <a:latin typeface="Tahoma"/>
              <a:ea typeface="Tahoma"/>
              <a:cs typeface="Tahoma"/>
              <a:sym typeface="Tahoma"/>
            </a:endParaRPr>
          </a:p>
          <a:p>
            <a:pPr marL="582295" lvl="0" indent="-514350" algn="l" rtl="0">
              <a:lnSpc>
                <a:spcPct val="100000"/>
              </a:lnSpc>
              <a:spcBef>
                <a:spcPts val="1000"/>
              </a:spcBef>
              <a:spcAft>
                <a:spcPts val="0"/>
              </a:spcAft>
              <a:buClr>
                <a:schemeClr val="dk1"/>
              </a:buClr>
              <a:buSzPts val="2800"/>
              <a:buFont typeface="Arial"/>
              <a:buChar char="•"/>
            </a:pPr>
            <a:r>
              <a:rPr lang="en-US" sz="2600">
                <a:solidFill>
                  <a:schemeClr val="dk1"/>
                </a:solidFill>
                <a:latin typeface="Tahoma"/>
                <a:ea typeface="Tahoma"/>
                <a:cs typeface="Tahoma"/>
                <a:sym typeface="Tahoma"/>
              </a:rPr>
              <a:t>Kaedah penyeliaan berkesan</a:t>
            </a:r>
            <a:endParaRPr sz="2600">
              <a:solidFill>
                <a:schemeClr val="dk1"/>
              </a:solidFill>
              <a:latin typeface="Tahoma"/>
              <a:ea typeface="Tahoma"/>
              <a:cs typeface="Tahoma"/>
              <a:sym typeface="Tahoma"/>
            </a:endParaRPr>
          </a:p>
        </p:txBody>
      </p:sp>
      <p:sp>
        <p:nvSpPr>
          <p:cNvPr id="314" name="Google Shape;314;p41"/>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25</a:t>
            </a:fld>
            <a:endParaRPr sz="900">
              <a:solidFill>
                <a:schemeClr val="accent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3">
                                            <p:txEl>
                                              <p:pRg st="0" end="0"/>
                                            </p:txEl>
                                          </p:spTgt>
                                        </p:tgtEl>
                                        <p:attrNameLst>
                                          <p:attrName>style.visibility</p:attrName>
                                        </p:attrNameLst>
                                      </p:cBhvr>
                                      <p:to>
                                        <p:strVal val="visible"/>
                                      </p:to>
                                    </p:set>
                                    <p:animEffect transition="in" filter="fade">
                                      <p:cBhvr>
                                        <p:cTn id="7" dur="500"/>
                                        <p:tgtEl>
                                          <p:spTgt spid="3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3">
                                            <p:txEl>
                                              <p:pRg st="1" end="1"/>
                                            </p:txEl>
                                          </p:spTgt>
                                        </p:tgtEl>
                                        <p:attrNameLst>
                                          <p:attrName>style.visibility</p:attrName>
                                        </p:attrNameLst>
                                      </p:cBhvr>
                                      <p:to>
                                        <p:strVal val="visible"/>
                                      </p:to>
                                    </p:set>
                                    <p:animEffect transition="in" filter="fade">
                                      <p:cBhvr>
                                        <p:cTn id="12" dur="500"/>
                                        <p:tgtEl>
                                          <p:spTgt spid="3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3">
                                            <p:txEl>
                                              <p:pRg st="2" end="2"/>
                                            </p:txEl>
                                          </p:spTgt>
                                        </p:tgtEl>
                                        <p:attrNameLst>
                                          <p:attrName>style.visibility</p:attrName>
                                        </p:attrNameLst>
                                      </p:cBhvr>
                                      <p:to>
                                        <p:strVal val="visible"/>
                                      </p:to>
                                    </p:set>
                                    <p:animEffect transition="in" filter="fade">
                                      <p:cBhvr>
                                        <p:cTn id="17" dur="500"/>
                                        <p:tgtEl>
                                          <p:spTgt spid="3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3">
                                            <p:txEl>
                                              <p:pRg st="3" end="3"/>
                                            </p:txEl>
                                          </p:spTgt>
                                        </p:tgtEl>
                                        <p:attrNameLst>
                                          <p:attrName>style.visibility</p:attrName>
                                        </p:attrNameLst>
                                      </p:cBhvr>
                                      <p:to>
                                        <p:strVal val="visible"/>
                                      </p:to>
                                    </p:set>
                                    <p:animEffect transition="in" filter="fade">
                                      <p:cBhvr>
                                        <p:cTn id="22" dur="500"/>
                                        <p:tgtEl>
                                          <p:spTgt spid="3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3">
                                            <p:txEl>
                                              <p:pRg st="4" end="4"/>
                                            </p:txEl>
                                          </p:spTgt>
                                        </p:tgtEl>
                                        <p:attrNameLst>
                                          <p:attrName>style.visibility</p:attrName>
                                        </p:attrNameLst>
                                      </p:cBhvr>
                                      <p:to>
                                        <p:strVal val="visible"/>
                                      </p:to>
                                    </p:set>
                                    <p:animEffect transition="in" filter="fade">
                                      <p:cBhvr>
                                        <p:cTn id="27" dur="500"/>
                                        <p:tgtEl>
                                          <p:spTgt spid="3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3">
                                            <p:txEl>
                                              <p:pRg st="5" end="5"/>
                                            </p:txEl>
                                          </p:spTgt>
                                        </p:tgtEl>
                                        <p:attrNameLst>
                                          <p:attrName>style.visibility</p:attrName>
                                        </p:attrNameLst>
                                      </p:cBhvr>
                                      <p:to>
                                        <p:strVal val="visible"/>
                                      </p:to>
                                    </p:set>
                                    <p:animEffect transition="in" filter="fade">
                                      <p:cBhvr>
                                        <p:cTn id="32" dur="500"/>
                                        <p:tgtEl>
                                          <p:spTgt spid="3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3">
                                            <p:txEl>
                                              <p:pRg st="6" end="6"/>
                                            </p:txEl>
                                          </p:spTgt>
                                        </p:tgtEl>
                                        <p:attrNameLst>
                                          <p:attrName>style.visibility</p:attrName>
                                        </p:attrNameLst>
                                      </p:cBhvr>
                                      <p:to>
                                        <p:strVal val="visible"/>
                                      </p:to>
                                    </p:set>
                                    <p:animEffect transition="in" filter="fade">
                                      <p:cBhvr>
                                        <p:cTn id="37" dur="500"/>
                                        <p:tgtEl>
                                          <p:spTgt spid="3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3">
                                            <p:txEl>
                                              <p:pRg st="7" end="7"/>
                                            </p:txEl>
                                          </p:spTgt>
                                        </p:tgtEl>
                                        <p:attrNameLst>
                                          <p:attrName>style.visibility</p:attrName>
                                        </p:attrNameLst>
                                      </p:cBhvr>
                                      <p:to>
                                        <p:strVal val="visible"/>
                                      </p:to>
                                    </p:set>
                                    <p:animEffect transition="in" filter="fade">
                                      <p:cBhvr>
                                        <p:cTn id="42" dur="500"/>
                                        <p:tgtEl>
                                          <p:spTgt spid="31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3">
                                            <p:txEl>
                                              <p:pRg st="8" end="8"/>
                                            </p:txEl>
                                          </p:spTgt>
                                        </p:tgtEl>
                                        <p:attrNameLst>
                                          <p:attrName>style.visibility</p:attrName>
                                        </p:attrNameLst>
                                      </p:cBhvr>
                                      <p:to>
                                        <p:strVal val="visible"/>
                                      </p:to>
                                    </p:set>
                                    <p:animEffect transition="in" filter="fade">
                                      <p:cBhvr>
                                        <p:cTn id="47" dur="500"/>
                                        <p:tgtEl>
                                          <p:spTgt spid="31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13">
                                            <p:txEl>
                                              <p:pRg st="9" end="9"/>
                                            </p:txEl>
                                          </p:spTgt>
                                        </p:tgtEl>
                                        <p:attrNameLst>
                                          <p:attrName>style.visibility</p:attrName>
                                        </p:attrNameLst>
                                      </p:cBhvr>
                                      <p:to>
                                        <p:strVal val="visible"/>
                                      </p:to>
                                    </p:set>
                                    <p:animEffect transition="in" filter="fade">
                                      <p:cBhvr>
                                        <p:cTn id="52" dur="500"/>
                                        <p:tgtEl>
                                          <p:spTgt spid="31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2"/>
          <p:cNvSpPr txBox="1">
            <a:spLocks noGrp="1"/>
          </p:cNvSpPr>
          <p:nvPr>
            <p:ph type="body" idx="1"/>
          </p:nvPr>
        </p:nvSpPr>
        <p:spPr>
          <a:xfrm>
            <a:off x="3286124" y="1771651"/>
            <a:ext cx="8639175" cy="4584701"/>
          </a:xfrm>
          <a:prstGeom prst="rect">
            <a:avLst/>
          </a:prstGeom>
          <a:noFill/>
          <a:ln>
            <a:noFill/>
          </a:ln>
        </p:spPr>
        <p:txBody>
          <a:bodyPr spcFirstLastPara="1" wrap="square" lIns="91425" tIns="45700" rIns="91425" bIns="45700" anchor="t" anchorCtr="0">
            <a:noAutofit/>
          </a:bodyPr>
          <a:lstStyle/>
          <a:p>
            <a:pPr marL="525780" lvl="0" indent="-457200" algn="l" rtl="0">
              <a:lnSpc>
                <a:spcPct val="90000"/>
              </a:lnSpc>
              <a:spcBef>
                <a:spcPts val="750"/>
              </a:spcBef>
              <a:spcAft>
                <a:spcPts val="0"/>
              </a:spcAft>
              <a:buClr>
                <a:schemeClr val="dk1"/>
              </a:buClr>
              <a:buSzPts val="2600"/>
              <a:buChar char="•"/>
            </a:pPr>
            <a:r>
              <a:rPr lang="en-US" sz="2600">
                <a:latin typeface="Tahoma"/>
                <a:ea typeface="Tahoma"/>
                <a:cs typeface="Tahoma"/>
                <a:sym typeface="Tahoma"/>
              </a:rPr>
              <a:t>Merupakan faktor yang apabila mencukupi di tempat kerja akan mententeram dan menyenangkan pekerja.  </a:t>
            </a:r>
            <a:endParaRPr sz="2600">
              <a:solidFill>
                <a:schemeClr val="dk1"/>
              </a:solidFill>
              <a:latin typeface="Tahoma"/>
              <a:ea typeface="Tahoma"/>
              <a:cs typeface="Tahoma"/>
              <a:sym typeface="Tahoma"/>
            </a:endParaRPr>
          </a:p>
          <a:p>
            <a:pPr marL="525780" lvl="0" indent="-292100" algn="l" rtl="0">
              <a:lnSpc>
                <a:spcPct val="90000"/>
              </a:lnSpc>
              <a:spcBef>
                <a:spcPts val="750"/>
              </a:spcBef>
              <a:spcAft>
                <a:spcPts val="0"/>
              </a:spcAft>
              <a:buClr>
                <a:schemeClr val="dk1"/>
              </a:buClr>
              <a:buSzPts val="2600"/>
              <a:buNone/>
            </a:pPr>
            <a:endParaRPr sz="2600">
              <a:solidFill>
                <a:schemeClr val="dk1"/>
              </a:solidFill>
              <a:latin typeface="Tahoma"/>
              <a:ea typeface="Tahoma"/>
              <a:cs typeface="Tahoma"/>
              <a:sym typeface="Tahoma"/>
            </a:endParaRPr>
          </a:p>
          <a:p>
            <a:pPr marL="525780" lvl="0" indent="-457200" algn="l" rtl="0">
              <a:lnSpc>
                <a:spcPct val="90000"/>
              </a:lnSpc>
              <a:spcBef>
                <a:spcPts val="750"/>
              </a:spcBef>
              <a:spcAft>
                <a:spcPts val="0"/>
              </a:spcAft>
              <a:buClr>
                <a:schemeClr val="dk1"/>
              </a:buClr>
              <a:buSzPts val="2600"/>
              <a:buChar char="•"/>
            </a:pPr>
            <a:r>
              <a:rPr lang="en-US" sz="2600">
                <a:latin typeface="Tahoma"/>
                <a:ea typeface="Tahoma"/>
                <a:cs typeface="Tahoma"/>
                <a:sym typeface="Tahoma"/>
              </a:rPr>
              <a:t>Faktor ini berupaya untuk memotivasikan  dan memuaskan hati pekerja.</a:t>
            </a:r>
            <a:endParaRPr/>
          </a:p>
          <a:p>
            <a:pPr marL="68580" lvl="0" indent="0" algn="l" rtl="0">
              <a:lnSpc>
                <a:spcPct val="90000"/>
              </a:lnSpc>
              <a:spcBef>
                <a:spcPts val="750"/>
              </a:spcBef>
              <a:spcAft>
                <a:spcPts val="0"/>
              </a:spcAft>
              <a:buClr>
                <a:schemeClr val="dk1"/>
              </a:buClr>
              <a:buSzPts val="2600"/>
              <a:buNone/>
            </a:pPr>
            <a:endParaRPr sz="2600">
              <a:solidFill>
                <a:schemeClr val="dk1"/>
              </a:solidFill>
              <a:latin typeface="Tahoma"/>
              <a:ea typeface="Tahoma"/>
              <a:cs typeface="Tahoma"/>
              <a:sym typeface="Tahoma"/>
            </a:endParaRPr>
          </a:p>
          <a:p>
            <a:pPr marL="525780" lvl="0" indent="-457200" algn="l" rtl="0">
              <a:lnSpc>
                <a:spcPct val="90000"/>
              </a:lnSpc>
              <a:spcBef>
                <a:spcPts val="750"/>
              </a:spcBef>
              <a:spcAft>
                <a:spcPts val="0"/>
              </a:spcAft>
              <a:buClr>
                <a:schemeClr val="dk1"/>
              </a:buClr>
              <a:buSzPts val="2600"/>
              <a:buChar char="•"/>
            </a:pPr>
            <a:r>
              <a:rPr lang="en-US" sz="2600">
                <a:latin typeface="Tahoma"/>
                <a:ea typeface="Tahoma"/>
                <a:cs typeface="Tahoma"/>
                <a:sym typeface="Tahoma"/>
              </a:rPr>
              <a:t>Faktor ini jika tidak diberi perhatian di tempat kerja akan menyebabkan berlakunya ketidakpuasan hati pekerja.</a:t>
            </a:r>
            <a:endParaRPr sz="2600">
              <a:solidFill>
                <a:schemeClr val="dk1"/>
              </a:solidFill>
              <a:latin typeface="Tahoma"/>
              <a:ea typeface="Tahoma"/>
              <a:cs typeface="Tahoma"/>
              <a:sym typeface="Tahoma"/>
            </a:endParaRPr>
          </a:p>
        </p:txBody>
      </p:sp>
      <p:sp>
        <p:nvSpPr>
          <p:cNvPr id="321" name="Google Shape;321;p42"/>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26</a:t>
            </a:fld>
            <a:endParaRPr sz="900">
              <a:solidFill>
                <a:schemeClr val="accent1"/>
              </a:solidFill>
              <a:latin typeface="Tahoma"/>
              <a:ea typeface="Tahoma"/>
              <a:cs typeface="Tahoma"/>
              <a:sym typeface="Tahoma"/>
            </a:endParaRPr>
          </a:p>
        </p:txBody>
      </p:sp>
      <p:sp>
        <p:nvSpPr>
          <p:cNvPr id="322" name="Google Shape;322;p42"/>
          <p:cNvSpPr txBox="1"/>
          <p:nvPr/>
        </p:nvSpPr>
        <p:spPr>
          <a:xfrm>
            <a:off x="2288858" y="605964"/>
            <a:ext cx="7614285" cy="685800"/>
          </a:xfrm>
          <a:prstGeom prst="rect">
            <a:avLst/>
          </a:prstGeom>
          <a:noFill/>
          <a:ln>
            <a:noFill/>
          </a:ln>
        </p:spPr>
        <p:txBody>
          <a:bodyPr spcFirstLastPara="1" wrap="square" lIns="91425" tIns="45700" rIns="91425" bIns="45700" anchor="ctr" anchorCtr="0">
            <a:noAutofit/>
          </a:bodyPr>
          <a:lstStyle/>
          <a:p>
            <a:pPr marL="455930" marR="0" lvl="1" indent="-45593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Faktor Motivasi (Motivation factors)</a:t>
            </a:r>
            <a:endParaRPr sz="3200" b="1" i="0" u="none" strike="noStrike" cap="none">
              <a:solidFill>
                <a:srgbClr val="000000"/>
              </a:solidFill>
              <a:latin typeface="Federo"/>
              <a:ea typeface="Federo"/>
              <a:cs typeface="Federo"/>
              <a:sym typeface="Federo"/>
            </a:endParaRPr>
          </a:p>
        </p:txBody>
      </p:sp>
      <p:sp>
        <p:nvSpPr>
          <p:cNvPr id="323" name="Google Shape;323;p42"/>
          <p:cNvSpPr/>
          <p:nvPr/>
        </p:nvSpPr>
        <p:spPr>
          <a:xfrm>
            <a:off x="1824037" y="224965"/>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2</a:t>
            </a:r>
            <a:endParaRPr sz="1800" b="1"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0">
                                            <p:txEl>
                                              <p:pRg st="0" end="0"/>
                                            </p:txEl>
                                          </p:spTgt>
                                        </p:tgtEl>
                                        <p:attrNameLst>
                                          <p:attrName>style.visibility</p:attrName>
                                        </p:attrNameLst>
                                      </p:cBhvr>
                                      <p:to>
                                        <p:strVal val="visible"/>
                                      </p:to>
                                    </p:set>
                                    <p:animEffect transition="in" filter="fade">
                                      <p:cBhvr>
                                        <p:cTn id="7" dur="500"/>
                                        <p:tgtEl>
                                          <p:spTgt spid="3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0">
                                            <p:txEl>
                                              <p:pRg st="1" end="1"/>
                                            </p:txEl>
                                          </p:spTgt>
                                        </p:tgtEl>
                                        <p:attrNameLst>
                                          <p:attrName>style.visibility</p:attrName>
                                        </p:attrNameLst>
                                      </p:cBhvr>
                                      <p:to>
                                        <p:strVal val="visible"/>
                                      </p:to>
                                    </p:set>
                                    <p:animEffect transition="in" filter="fade">
                                      <p:cBhvr>
                                        <p:cTn id="12" dur="500"/>
                                        <p:tgtEl>
                                          <p:spTgt spid="3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0">
                                            <p:txEl>
                                              <p:pRg st="2" end="2"/>
                                            </p:txEl>
                                          </p:spTgt>
                                        </p:tgtEl>
                                        <p:attrNameLst>
                                          <p:attrName>style.visibility</p:attrName>
                                        </p:attrNameLst>
                                      </p:cBhvr>
                                      <p:to>
                                        <p:strVal val="visible"/>
                                      </p:to>
                                    </p:set>
                                    <p:animEffect transition="in" filter="fade">
                                      <p:cBhvr>
                                        <p:cTn id="17" dur="500"/>
                                        <p:tgtEl>
                                          <p:spTgt spid="3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0">
                                            <p:txEl>
                                              <p:pRg st="3" end="3"/>
                                            </p:txEl>
                                          </p:spTgt>
                                        </p:tgtEl>
                                        <p:attrNameLst>
                                          <p:attrName>style.visibility</p:attrName>
                                        </p:attrNameLst>
                                      </p:cBhvr>
                                      <p:to>
                                        <p:strVal val="visible"/>
                                      </p:to>
                                    </p:set>
                                    <p:animEffect transition="in" filter="fade">
                                      <p:cBhvr>
                                        <p:cTn id="22" dur="500"/>
                                        <p:tgtEl>
                                          <p:spTgt spid="3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0">
                                            <p:txEl>
                                              <p:pRg st="4" end="4"/>
                                            </p:txEl>
                                          </p:spTgt>
                                        </p:tgtEl>
                                        <p:attrNameLst>
                                          <p:attrName>style.visibility</p:attrName>
                                        </p:attrNameLst>
                                      </p:cBhvr>
                                      <p:to>
                                        <p:strVal val="visible"/>
                                      </p:to>
                                    </p:set>
                                    <p:animEffect transition="in" filter="fade">
                                      <p:cBhvr>
                                        <p:cTn id="27" dur="500"/>
                                        <p:tgtEl>
                                          <p:spTgt spid="3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3"/>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27</a:t>
            </a:fld>
            <a:endParaRPr sz="900">
              <a:solidFill>
                <a:schemeClr val="accent1"/>
              </a:solidFill>
              <a:latin typeface="Tahoma"/>
              <a:ea typeface="Tahoma"/>
              <a:cs typeface="Tahoma"/>
              <a:sym typeface="Tahoma"/>
            </a:endParaRPr>
          </a:p>
        </p:txBody>
      </p:sp>
      <p:sp>
        <p:nvSpPr>
          <p:cNvPr id="329" name="Google Shape;329;p43"/>
          <p:cNvSpPr txBox="1"/>
          <p:nvPr/>
        </p:nvSpPr>
        <p:spPr>
          <a:xfrm>
            <a:off x="3362325" y="1427481"/>
            <a:ext cx="8248650" cy="5198745"/>
          </a:xfrm>
          <a:prstGeom prst="rect">
            <a:avLst/>
          </a:prstGeom>
          <a:noFill/>
          <a:ln>
            <a:noFill/>
          </a:ln>
        </p:spPr>
        <p:txBody>
          <a:bodyPr spcFirstLastPara="1" wrap="square" lIns="91425" tIns="45700" rIns="91425" bIns="45700" anchor="t" anchorCtr="0">
            <a:noAutofit/>
          </a:bodyPr>
          <a:lstStyle/>
          <a:p>
            <a:pPr marL="525145" marR="0" lvl="0" indent="-45720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a:p>
            <a:pPr marL="525145" marR="0" lvl="0" indent="-457200" algn="l" rtl="0">
              <a:lnSpc>
                <a:spcPct val="100000"/>
              </a:lnSpc>
              <a:spcBef>
                <a:spcPts val="0"/>
              </a:spcBef>
              <a:spcAft>
                <a:spcPts val="0"/>
              </a:spcAft>
              <a:buClr>
                <a:srgbClr val="000000"/>
              </a:buClr>
              <a:buSzPts val="2600"/>
              <a:buFont typeface="Arial"/>
              <a:buNone/>
            </a:pPr>
            <a:r>
              <a:rPr lang="en-US" sz="2600" b="0" i="0" u="none" strike="noStrike" cap="none">
                <a:solidFill>
                  <a:schemeClr val="dk1"/>
                </a:solidFill>
                <a:latin typeface="Tahoma"/>
                <a:ea typeface="Tahoma"/>
                <a:cs typeface="Tahoma"/>
                <a:sym typeface="Tahoma"/>
              </a:rPr>
              <a:t>Antara faktor-faktor motivasi ialah:</a:t>
            </a:r>
            <a:endParaRPr sz="2600" b="0" i="0" u="none" strike="noStrike" cap="none">
              <a:solidFill>
                <a:srgbClr val="000000"/>
              </a:solidFill>
              <a:latin typeface="Tahoma"/>
              <a:ea typeface="Tahoma"/>
              <a:cs typeface="Tahoma"/>
              <a:sym typeface="Tahoma"/>
            </a:endParaRPr>
          </a:p>
          <a:p>
            <a:pPr marL="525145" marR="0" lvl="0" indent="-457200" algn="l"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Pencapaian  -  peluang-peluang mencapai sesuatu matlamat kerja yang mencabar</a:t>
            </a:r>
            <a:endParaRPr sz="2600" b="0" i="0" u="none" strike="noStrike" cap="none">
              <a:solidFill>
                <a:srgbClr val="000000"/>
              </a:solidFill>
              <a:latin typeface="Tahoma"/>
              <a:ea typeface="Tahoma"/>
              <a:cs typeface="Tahoma"/>
              <a:sym typeface="Tahoma"/>
            </a:endParaRPr>
          </a:p>
          <a:p>
            <a:pPr marL="525145" marR="0" lvl="0" indent="-457200" algn="l"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Penghargaan – penghargaan terhadap sumbangan dan usaha</a:t>
            </a:r>
            <a:endParaRPr sz="2600" b="0" i="0" u="none" strike="noStrike" cap="none">
              <a:solidFill>
                <a:srgbClr val="000000"/>
              </a:solidFill>
              <a:latin typeface="Tahoma"/>
              <a:ea typeface="Tahoma"/>
              <a:cs typeface="Tahoma"/>
              <a:sym typeface="Tahoma"/>
            </a:endParaRPr>
          </a:p>
          <a:p>
            <a:pPr marL="525145" marR="0" lvl="0" indent="-457200" algn="l"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Tanggungjawab – diberi tanggungjawab dan tugas kerja yang baru</a:t>
            </a:r>
            <a:endParaRPr sz="2600" b="0" i="0" u="none" strike="noStrike" cap="none">
              <a:solidFill>
                <a:srgbClr val="000000"/>
              </a:solidFill>
              <a:latin typeface="Tahoma"/>
              <a:ea typeface="Tahoma"/>
              <a:cs typeface="Tahoma"/>
              <a:sym typeface="Tahoma"/>
            </a:endParaRPr>
          </a:p>
          <a:p>
            <a:pPr marL="525145" marR="0" lvl="0" indent="-457200" algn="l"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Kemajuan – peluang untuk memajukan diri dan status kerja berdasarkan prestasi kerja</a:t>
            </a:r>
            <a:endParaRPr sz="2600" b="0" i="0" u="none" strike="noStrike" cap="none">
              <a:solidFill>
                <a:srgbClr val="000000"/>
              </a:solidFill>
              <a:latin typeface="Tahoma"/>
              <a:ea typeface="Tahoma"/>
              <a:cs typeface="Tahoma"/>
              <a:sym typeface="Tahoma"/>
            </a:endParaRPr>
          </a:p>
          <a:p>
            <a:pPr marL="525145" marR="0" lvl="0" indent="-457200" algn="l" rtl="0">
              <a:lnSpc>
                <a:spcPct val="100000"/>
              </a:lnSpc>
              <a:spcBef>
                <a:spcPts val="0"/>
              </a:spcBef>
              <a:spcAft>
                <a:spcPts val="0"/>
              </a:spcAft>
              <a:buClr>
                <a:schemeClr val="dk1"/>
              </a:buClr>
              <a:buSzPts val="2400"/>
              <a:buFont typeface="Arial"/>
              <a:buChar char="•"/>
            </a:pPr>
            <a:r>
              <a:rPr lang="en-US" sz="2600" b="0" i="0" u="none" strike="noStrike" cap="none">
                <a:solidFill>
                  <a:schemeClr val="dk1"/>
                </a:solidFill>
                <a:latin typeface="Tahoma"/>
                <a:ea typeface="Tahoma"/>
                <a:cs typeface="Tahoma"/>
                <a:sym typeface="Tahoma"/>
              </a:rPr>
              <a:t>Peningkatan – berhubung dengan kerja yang dapat memberi  kepuasan, penonjolan diri dan mencabar</a:t>
            </a:r>
            <a:endParaRPr sz="2600" b="0" i="0" u="none" strike="noStrike" cap="none">
              <a:solidFill>
                <a:srgbClr val="000000"/>
              </a:solidFill>
              <a:latin typeface="Tahoma"/>
              <a:ea typeface="Tahoma"/>
              <a:cs typeface="Tahoma"/>
              <a:sym typeface="Tahoma"/>
            </a:endParaRPr>
          </a:p>
        </p:txBody>
      </p:sp>
      <p:sp>
        <p:nvSpPr>
          <p:cNvPr id="330" name="Google Shape;330;p43"/>
          <p:cNvSpPr txBox="1"/>
          <p:nvPr/>
        </p:nvSpPr>
        <p:spPr>
          <a:xfrm>
            <a:off x="2209801" y="581025"/>
            <a:ext cx="8782049" cy="685800"/>
          </a:xfrm>
          <a:prstGeom prst="rect">
            <a:avLst/>
          </a:prstGeom>
          <a:noFill/>
          <a:ln>
            <a:noFill/>
          </a:ln>
        </p:spPr>
        <p:txBody>
          <a:bodyPr spcFirstLastPara="1" wrap="square" lIns="91425" tIns="45700" rIns="91425" bIns="45700" anchor="ctr" anchorCtr="0">
            <a:noAutofit/>
          </a:bodyPr>
          <a:lstStyle/>
          <a:p>
            <a:pPr marL="455930" marR="0" lvl="1" indent="-45593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Faktor Motivasi/Luaran (Motivation/extrinsic factors)</a:t>
            </a:r>
            <a:endParaRPr sz="2800" b="1" i="0" u="none" strike="noStrike" cap="none">
              <a:solidFill>
                <a:srgbClr val="000000"/>
              </a:solidFill>
              <a:latin typeface="Federo"/>
              <a:ea typeface="Federo"/>
              <a:cs typeface="Federo"/>
              <a:sym typeface="Fede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9"/>
                                        </p:tgtEl>
                                        <p:attrNameLst>
                                          <p:attrName>style.visibility</p:attrName>
                                        </p:attrNameLst>
                                      </p:cBhvr>
                                      <p:to>
                                        <p:strVal val="visible"/>
                                      </p:to>
                                    </p:set>
                                    <p:animEffect transition="in" filter="fade">
                                      <p:cBhvr>
                                        <p:cTn id="7" dur="5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4"/>
          <p:cNvSpPr txBox="1">
            <a:spLocks noGrp="1"/>
          </p:cNvSpPr>
          <p:nvPr>
            <p:ph type="body" idx="1"/>
          </p:nvPr>
        </p:nvSpPr>
        <p:spPr>
          <a:xfrm>
            <a:off x="2834315" y="1785621"/>
            <a:ext cx="8546843" cy="5730612"/>
          </a:xfrm>
          <a:prstGeom prst="rect">
            <a:avLst/>
          </a:prstGeom>
          <a:noFill/>
          <a:ln>
            <a:noFill/>
          </a:ln>
        </p:spPr>
        <p:txBody>
          <a:bodyPr spcFirstLastPara="1" wrap="square" lIns="91425" tIns="45700" rIns="91425" bIns="45700" anchor="t" anchorCtr="0">
            <a:noAutofit/>
          </a:bodyPr>
          <a:lstStyle/>
          <a:p>
            <a:pPr marL="525145" lvl="0" indent="-457200" algn="just" rtl="0">
              <a:lnSpc>
                <a:spcPct val="100000"/>
              </a:lnSpc>
              <a:spcBef>
                <a:spcPts val="1200"/>
              </a:spcBef>
              <a:spcAft>
                <a:spcPts val="0"/>
              </a:spcAft>
              <a:buClr>
                <a:srgbClr val="E6B91E"/>
              </a:buClr>
              <a:buSzPts val="2640"/>
              <a:buFont typeface="Arial"/>
              <a:buChar char="•"/>
            </a:pPr>
            <a:r>
              <a:rPr lang="en-US" sz="2400">
                <a:solidFill>
                  <a:schemeClr val="dk1"/>
                </a:solidFill>
                <a:latin typeface="Tahoma"/>
                <a:ea typeface="Tahoma"/>
                <a:cs typeface="Tahoma"/>
                <a:sym typeface="Tahoma"/>
              </a:rPr>
              <a:t>Douglas McGregor mencadangkan bahawa terdapat dua set andaian dalam tabiat semulajadi manusia iaitu Teori X dan Teori Y.</a:t>
            </a:r>
            <a:endParaRPr/>
          </a:p>
          <a:p>
            <a:pPr marL="525145" lvl="0" indent="-457200" algn="just" rtl="0">
              <a:lnSpc>
                <a:spcPct val="100000"/>
              </a:lnSpc>
              <a:spcBef>
                <a:spcPts val="1200"/>
              </a:spcBef>
              <a:spcAft>
                <a:spcPts val="0"/>
              </a:spcAft>
              <a:buClr>
                <a:srgbClr val="E6B91E"/>
              </a:buClr>
              <a:buSzPts val="2640"/>
              <a:buFont typeface="Arial"/>
              <a:buChar char="•"/>
            </a:pPr>
            <a:r>
              <a:rPr lang="en-US" sz="2400">
                <a:solidFill>
                  <a:schemeClr val="dk1"/>
                </a:solidFill>
                <a:latin typeface="Tahoma"/>
                <a:ea typeface="Tahoma"/>
                <a:cs typeface="Tahoma"/>
                <a:sym typeface="Tahoma"/>
              </a:rPr>
              <a:t>Teori X ialah pandangan negatif seseorang yang mengandaikan pekerja ini mempunyai kurang cita-cita, tidak suka bekerja, menghindari diri dari tanggungjawab, dan memerlukan kawalan secara dekat untuk bekerja dengan efektif. </a:t>
            </a:r>
            <a:endParaRPr/>
          </a:p>
          <a:p>
            <a:pPr marL="525145" lvl="0" indent="-457200" algn="just" rtl="0">
              <a:lnSpc>
                <a:spcPct val="100000"/>
              </a:lnSpc>
              <a:spcBef>
                <a:spcPts val="1200"/>
              </a:spcBef>
              <a:spcAft>
                <a:spcPts val="0"/>
              </a:spcAft>
              <a:buClr>
                <a:srgbClr val="E6B91E"/>
              </a:buClr>
              <a:buSzPts val="2640"/>
              <a:buFont typeface="Arial"/>
              <a:buChar char="•"/>
            </a:pPr>
            <a:r>
              <a:rPr lang="en-US" sz="2400">
                <a:solidFill>
                  <a:schemeClr val="dk1"/>
                </a:solidFill>
                <a:latin typeface="Tahoma"/>
                <a:ea typeface="Tahoma"/>
                <a:cs typeface="Tahoma"/>
                <a:sym typeface="Tahoma"/>
              </a:rPr>
              <a:t>Teori Y ialah pandangan positif yang mengandaikan pekerja rajin bekerja, mencari dan menerima tanggungjawab, dan boleh mengarah diri sendiri. </a:t>
            </a:r>
            <a:endParaRPr/>
          </a:p>
        </p:txBody>
      </p:sp>
      <p:sp>
        <p:nvSpPr>
          <p:cNvPr id="337" name="Google Shape;337;p44"/>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28</a:t>
            </a:fld>
            <a:endParaRPr sz="900">
              <a:solidFill>
                <a:schemeClr val="accent1"/>
              </a:solidFill>
              <a:latin typeface="Tahoma"/>
              <a:ea typeface="Tahoma"/>
              <a:cs typeface="Tahoma"/>
              <a:sym typeface="Tahoma"/>
            </a:endParaRPr>
          </a:p>
        </p:txBody>
      </p:sp>
      <p:sp>
        <p:nvSpPr>
          <p:cNvPr id="338" name="Google Shape;338;p44"/>
          <p:cNvSpPr txBox="1"/>
          <p:nvPr/>
        </p:nvSpPr>
        <p:spPr>
          <a:xfrm>
            <a:off x="2590801" y="412488"/>
            <a:ext cx="768286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a. Teori-teori Motivasi</a:t>
            </a:r>
            <a:endParaRPr sz="2800" b="1" i="0" u="none" strike="noStrike" cap="none">
              <a:solidFill>
                <a:srgbClr val="000000"/>
              </a:solidFill>
              <a:latin typeface="Federo"/>
              <a:ea typeface="Federo"/>
              <a:cs typeface="Federo"/>
              <a:sym typeface="Federo"/>
            </a:endParaRPr>
          </a:p>
        </p:txBody>
      </p:sp>
      <p:sp>
        <p:nvSpPr>
          <p:cNvPr id="339" name="Google Shape;339;p44"/>
          <p:cNvSpPr txBox="1"/>
          <p:nvPr/>
        </p:nvSpPr>
        <p:spPr>
          <a:xfrm>
            <a:off x="3090546" y="1099186"/>
            <a:ext cx="628205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iii. Teori Motivasi XY McGregor</a:t>
            </a:r>
            <a:endParaRPr sz="2800" b="1" i="0" u="none" strike="noStrike" cap="none">
              <a:solidFill>
                <a:schemeClr val="dk1"/>
              </a:solidFill>
              <a:latin typeface="Federo"/>
              <a:ea typeface="Federo"/>
              <a:cs typeface="Federo"/>
              <a:sym typeface="Fede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6">
                                            <p:txEl>
                                              <p:pRg st="0" end="0"/>
                                            </p:txEl>
                                          </p:spTgt>
                                        </p:tgtEl>
                                        <p:attrNameLst>
                                          <p:attrName>style.visibility</p:attrName>
                                        </p:attrNameLst>
                                      </p:cBhvr>
                                      <p:to>
                                        <p:strVal val="visible"/>
                                      </p:to>
                                    </p:set>
                                    <p:animEffect transition="in" filter="fade">
                                      <p:cBhvr>
                                        <p:cTn id="7" dur="500"/>
                                        <p:tgtEl>
                                          <p:spTgt spid="3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6">
                                            <p:txEl>
                                              <p:pRg st="1" end="1"/>
                                            </p:txEl>
                                          </p:spTgt>
                                        </p:tgtEl>
                                        <p:attrNameLst>
                                          <p:attrName>style.visibility</p:attrName>
                                        </p:attrNameLst>
                                      </p:cBhvr>
                                      <p:to>
                                        <p:strVal val="visible"/>
                                      </p:to>
                                    </p:set>
                                    <p:animEffect transition="in" filter="fade">
                                      <p:cBhvr>
                                        <p:cTn id="12" dur="500"/>
                                        <p:tgtEl>
                                          <p:spTgt spid="3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6">
                                            <p:txEl>
                                              <p:pRg st="2" end="2"/>
                                            </p:txEl>
                                          </p:spTgt>
                                        </p:tgtEl>
                                        <p:attrNameLst>
                                          <p:attrName>style.visibility</p:attrName>
                                        </p:attrNameLst>
                                      </p:cBhvr>
                                      <p:to>
                                        <p:strVal val="visible"/>
                                      </p:to>
                                    </p:set>
                                    <p:animEffect transition="in" filter="fade">
                                      <p:cBhvr>
                                        <p:cTn id="17" dur="500"/>
                                        <p:tgtEl>
                                          <p:spTgt spid="3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5"/>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29</a:t>
            </a:fld>
            <a:endParaRPr sz="900">
              <a:solidFill>
                <a:schemeClr val="accent1"/>
              </a:solidFill>
              <a:latin typeface="Tahoma"/>
              <a:ea typeface="Tahoma"/>
              <a:cs typeface="Tahoma"/>
              <a:sym typeface="Tahoma"/>
            </a:endParaRPr>
          </a:p>
        </p:txBody>
      </p:sp>
      <p:sp>
        <p:nvSpPr>
          <p:cNvPr id="346" name="Google Shape;346;p45"/>
          <p:cNvSpPr txBox="1"/>
          <p:nvPr/>
        </p:nvSpPr>
        <p:spPr>
          <a:xfrm>
            <a:off x="3752850" y="1090497"/>
            <a:ext cx="7097732" cy="4176828"/>
          </a:xfrm>
          <a:prstGeom prst="rect">
            <a:avLst/>
          </a:prstGeom>
          <a:noFill/>
          <a:ln>
            <a:noFill/>
          </a:ln>
        </p:spPr>
        <p:txBody>
          <a:bodyPr spcFirstLastPara="1" wrap="square" lIns="91425" tIns="45700" rIns="91425" bIns="45700" anchor="t" anchorCtr="0">
            <a:noAutofit/>
          </a:bodyPr>
          <a:lstStyle/>
          <a:p>
            <a:pPr marL="525780" marR="0" lvl="0" indent="-457200" algn="just" rtl="0">
              <a:lnSpc>
                <a:spcPct val="100000"/>
              </a:lnSpc>
              <a:spcBef>
                <a:spcPts val="1200"/>
              </a:spcBef>
              <a:spcAft>
                <a:spcPts val="0"/>
              </a:spcAft>
              <a:buClr>
                <a:schemeClr val="dk1"/>
              </a:buClr>
              <a:buSzPts val="3200"/>
              <a:buFont typeface="Arial"/>
              <a:buChar char="•"/>
            </a:pPr>
            <a:r>
              <a:rPr lang="en-US" sz="2600" b="0" i="0" u="none" strike="noStrike" cap="none">
                <a:solidFill>
                  <a:schemeClr val="dk1"/>
                </a:solidFill>
                <a:latin typeface="Tahoma"/>
                <a:ea typeface="Tahoma"/>
                <a:cs typeface="Tahoma"/>
                <a:sym typeface="Tahoma"/>
              </a:rPr>
              <a:t>Pekerja Teori X harus diberi hukuman atau ganjaran bagi menjadikannya produktif.</a:t>
            </a:r>
            <a:endParaRPr sz="1400" b="0" i="0" u="none" strike="noStrike" cap="none">
              <a:solidFill>
                <a:srgbClr val="000000"/>
              </a:solidFill>
              <a:latin typeface="Arial"/>
              <a:ea typeface="Arial"/>
              <a:cs typeface="Arial"/>
              <a:sym typeface="Arial"/>
            </a:endParaRPr>
          </a:p>
          <a:p>
            <a:pPr marL="68580" marR="0" lvl="0" indent="0" algn="just" rtl="0">
              <a:lnSpc>
                <a:spcPct val="100000"/>
              </a:lnSpc>
              <a:spcBef>
                <a:spcPts val="12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525780" marR="0" lvl="0" indent="-457200" algn="just" rtl="0">
              <a:lnSpc>
                <a:spcPct val="100000"/>
              </a:lnSpc>
              <a:spcBef>
                <a:spcPts val="1200"/>
              </a:spcBef>
              <a:spcAft>
                <a:spcPts val="0"/>
              </a:spcAft>
              <a:buClr>
                <a:schemeClr val="dk1"/>
              </a:buClr>
              <a:buSzPts val="3200"/>
              <a:buFont typeface="Arial"/>
              <a:buChar char="•"/>
            </a:pPr>
            <a:r>
              <a:rPr lang="en-US" sz="2600" b="0" i="0" u="none" strike="noStrike" cap="none">
                <a:solidFill>
                  <a:schemeClr val="dk1"/>
                </a:solidFill>
                <a:latin typeface="Tahoma"/>
                <a:ea typeface="Tahoma"/>
                <a:cs typeface="Tahoma"/>
                <a:sym typeface="Tahoma"/>
              </a:rPr>
              <a:t>Pekerja Teori Y perlu dilibatkan bersama dalam proses membuat keputusan, diberikan kerja dan tanggungjawab yang mencabar dan seumpamanya.</a:t>
            </a:r>
            <a:endParaRPr sz="2600" b="0" i="0" u="none" strike="noStrike" cap="none">
              <a:solidFill>
                <a:schemeClr val="dk1"/>
              </a:solidFill>
              <a:latin typeface="Tahoma"/>
              <a:ea typeface="Tahoma"/>
              <a:cs typeface="Tahoma"/>
              <a:sym typeface="Tahoma"/>
            </a:endParaRPr>
          </a:p>
          <a:p>
            <a:pPr marL="68580" marR="0" lvl="0" indent="0" algn="just" rtl="0">
              <a:lnSpc>
                <a:spcPct val="100000"/>
              </a:lnSpc>
              <a:spcBef>
                <a:spcPts val="1200"/>
              </a:spcBef>
              <a:spcAft>
                <a:spcPts val="0"/>
              </a:spcAft>
              <a:buClr>
                <a:srgbClr val="000000"/>
              </a:buClr>
              <a:buSzPts val="2400"/>
              <a:buFont typeface="Arial"/>
              <a:buNone/>
            </a:pPr>
            <a:endParaRPr sz="2400" b="0" i="0" u="none" strike="noStrike" cap="none">
              <a:solidFill>
                <a:srgbClr val="000000"/>
              </a:solidFill>
              <a:latin typeface="Tahoma"/>
              <a:ea typeface="Tahoma"/>
              <a:cs typeface="Tahoma"/>
              <a:sym typeface="Tahoma"/>
            </a:endParaRPr>
          </a:p>
        </p:txBody>
      </p:sp>
      <p:pic>
        <p:nvPicPr>
          <p:cNvPr id="347" name="Google Shape;347;p45" descr="12 Examples of Positive Punishment &amp;amp; Negative Reinforcement"/>
          <p:cNvPicPr preferRelativeResize="0"/>
          <p:nvPr/>
        </p:nvPicPr>
        <p:blipFill rotWithShape="1">
          <a:blip r:embed="rId3">
            <a:alphaModFix/>
          </a:blip>
          <a:srcRect/>
          <a:stretch/>
        </p:blipFill>
        <p:spPr>
          <a:xfrm>
            <a:off x="409575" y="245210"/>
            <a:ext cx="3343275" cy="2305051"/>
          </a:xfrm>
          <a:prstGeom prst="rect">
            <a:avLst/>
          </a:prstGeom>
          <a:noFill/>
          <a:ln>
            <a:noFill/>
          </a:ln>
          <a:effectLst>
            <a:outerShdw blurRad="292100" dist="139700" dir="2700000" algn="tl" rotWithShape="0">
              <a:srgbClr val="333333">
                <a:alpha val="64313"/>
              </a:srgbClr>
            </a:outerShdw>
          </a:effectLst>
        </p:spPr>
      </p:pic>
      <p:pic>
        <p:nvPicPr>
          <p:cNvPr id="348" name="Google Shape;348;p45"/>
          <p:cNvPicPr preferRelativeResize="0"/>
          <p:nvPr/>
        </p:nvPicPr>
        <p:blipFill rotWithShape="1">
          <a:blip r:embed="rId4">
            <a:alphaModFix/>
          </a:blip>
          <a:srcRect/>
          <a:stretch/>
        </p:blipFill>
        <p:spPr>
          <a:xfrm>
            <a:off x="4857749" y="4423628"/>
            <a:ext cx="4467225" cy="2297849"/>
          </a:xfrm>
          <a:prstGeom prst="rect">
            <a:avLst/>
          </a:prstGeom>
          <a:noFill/>
          <a:ln>
            <a:noFill/>
          </a:ln>
          <a:effectLst>
            <a:outerShdw blurRad="292100" dist="139700" dir="2700000" algn="tl" rotWithShape="0">
              <a:srgbClr val="333333">
                <a:alpha val="64313"/>
              </a:srgbClr>
            </a:outerShdw>
          </a:effectLst>
        </p:spPr>
      </p:pic>
      <p:pic>
        <p:nvPicPr>
          <p:cNvPr id="349" name="Google Shape;349;p45"/>
          <p:cNvPicPr preferRelativeResize="0"/>
          <p:nvPr/>
        </p:nvPicPr>
        <p:blipFill rotWithShape="1">
          <a:blip r:embed="rId5">
            <a:alphaModFix/>
          </a:blip>
          <a:srcRect/>
          <a:stretch/>
        </p:blipFill>
        <p:spPr>
          <a:xfrm>
            <a:off x="1647825" y="3031390"/>
            <a:ext cx="2552700" cy="2552700"/>
          </a:xfrm>
          <a:prstGeom prst="rect">
            <a:avLst/>
          </a:prstGeom>
          <a:noFill/>
          <a:ln>
            <a:noFill/>
          </a:ln>
          <a:effectLst>
            <a:outerShdw blurRad="292100" dist="139700" dir="2700000" algn="tl" rotWithShape="0">
              <a:srgbClr val="333333">
                <a:alpha val="64313"/>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graphicFrame>
        <p:nvGraphicFramePr>
          <p:cNvPr id="354" name="Google Shape;354;p46"/>
          <p:cNvGraphicFramePr/>
          <p:nvPr/>
        </p:nvGraphicFramePr>
        <p:xfrm>
          <a:off x="1781175" y="931545"/>
          <a:ext cx="9144000" cy="4745350"/>
        </p:xfrm>
        <a:graphic>
          <a:graphicData uri="http://schemas.openxmlformats.org/drawingml/2006/table">
            <a:tbl>
              <a:tblPr>
                <a:noFill/>
                <a:tableStyleId>{4CFAC3AD-4AE6-462F-803B-BAEB3055CA9C}</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733425">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ahoma"/>
                          <a:ea typeface="Tahoma"/>
                          <a:cs typeface="Tahoma"/>
                          <a:sym typeface="Tahoma"/>
                        </a:rPr>
                        <a:t>ANDAIAN PEKERJA </a:t>
                      </a:r>
                      <a:endParaRPr sz="1800" u="none" strike="noStrike" cap="none"/>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ahoma"/>
                          <a:ea typeface="Tahoma"/>
                          <a:cs typeface="Tahoma"/>
                          <a:sym typeface="Tahoma"/>
                        </a:rPr>
                        <a:t>TEORI X</a:t>
                      </a:r>
                      <a:endParaRPr sz="1800" u="none" strike="noStrike" cap="none"/>
                    </a:p>
                  </a:txBody>
                  <a:tcPr marL="91450" marR="91450" marT="45725" marB="45725" anchor="ctr">
                    <a:solidFill>
                      <a:srgbClr val="EDDFEB"/>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ahoma"/>
                          <a:ea typeface="Tahoma"/>
                          <a:cs typeface="Tahoma"/>
                          <a:sym typeface="Tahoma"/>
                        </a:rPr>
                        <a:t>ANDAIAN PEKERJA </a:t>
                      </a:r>
                      <a:endParaRPr sz="1800" u="none" strike="noStrike" cap="none"/>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ahoma"/>
                          <a:ea typeface="Tahoma"/>
                          <a:cs typeface="Tahoma"/>
                          <a:sym typeface="Tahoma"/>
                        </a:rPr>
                        <a:t>TEORI Y</a:t>
                      </a:r>
                      <a:endParaRPr sz="1800" u="none" strike="noStrike" cap="none"/>
                    </a:p>
                  </a:txBody>
                  <a:tcPr marL="91450" marR="91450" marT="45725" marB="45725" anchor="ctr">
                    <a:solidFill>
                      <a:srgbClr val="D8E2F3"/>
                    </a:solidFill>
                  </a:tcPr>
                </a:tc>
                <a:extLst>
                  <a:ext uri="{0D108BD9-81ED-4DB2-BD59-A6C34878D82A}">
                    <a16:rowId xmlns:a16="http://schemas.microsoft.com/office/drawing/2014/main" val="10000"/>
                  </a:ext>
                </a:extLst>
              </a:tr>
              <a:tr h="4011925">
                <a:tc>
                  <a:txBody>
                    <a:bodyPr/>
                    <a:lstStyle/>
                    <a:p>
                      <a:pPr marL="525145" marR="0" lvl="0" indent="-4572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malas</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tiada cita-cita dan mengelakkan diri dari tanggungjawab</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lebih mementingkan diri sendiri</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tidak suka kepada perubahan yang positif</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mudah diperdaya dan kurang bijak</a:t>
                      </a:r>
                      <a:endParaRPr sz="2000" b="0" i="0" u="none" strike="noStrike" cap="none">
                        <a:solidFill>
                          <a:schemeClr val="dk1"/>
                        </a:solidFill>
                        <a:latin typeface="Tahoma"/>
                        <a:ea typeface="Tahoma"/>
                        <a:cs typeface="Tahoma"/>
                        <a:sym typeface="Tahoma"/>
                      </a:endParaRPr>
                    </a:p>
                    <a:p>
                      <a:pPr marL="342900" marR="0" lvl="0" indent="-342900" algn="l"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Tahoma"/>
                        <a:ea typeface="Tahoma"/>
                        <a:cs typeface="Tahoma"/>
                        <a:sym typeface="Tahoma"/>
                      </a:endParaRPr>
                    </a:p>
                  </a:txBody>
                  <a:tcPr marL="91450" marR="91450" marT="45725" marB="45725">
                    <a:solidFill>
                      <a:srgbClr val="EDDFEB"/>
                    </a:solidFill>
                  </a:tcPr>
                </a:tc>
                <a:tc>
                  <a:txBody>
                    <a:bodyPr/>
                    <a:lstStyle/>
                    <a:p>
                      <a:pPr marL="525145" marR="0" lvl="0" indent="-4572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rajin</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berwawasan dan suka memegang tanggungjawab</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tidak mementingkan diri sendiri</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suka  menyumbang kepada kemajuan firma dan suka kepada perubahan yang positif</a:t>
                      </a:r>
                      <a:endParaRPr sz="2000" b="0" i="0" u="none" strike="noStrike" cap="none">
                        <a:solidFill>
                          <a:schemeClr val="dk1"/>
                        </a:solidFill>
                        <a:latin typeface="Tahoma"/>
                        <a:ea typeface="Tahoma"/>
                        <a:cs typeface="Tahoma"/>
                        <a:sym typeface="Tahoma"/>
                      </a:endParaRPr>
                    </a:p>
                    <a:p>
                      <a:pPr marL="525145" marR="0" lvl="0" indent="-45720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Tahoma"/>
                          <a:ea typeface="Tahoma"/>
                          <a:cs typeface="Tahoma"/>
                          <a:sym typeface="Tahoma"/>
                        </a:rPr>
                        <a:t>Pekerja adalah bijak</a:t>
                      </a:r>
                      <a:endParaRPr sz="2000" b="0" i="0" u="none" strike="noStrike" cap="none">
                        <a:solidFill>
                          <a:schemeClr val="dk1"/>
                        </a:solidFill>
                        <a:latin typeface="Tahoma"/>
                        <a:ea typeface="Tahoma"/>
                        <a:cs typeface="Tahoma"/>
                        <a:sym typeface="Tahoma"/>
                      </a:endParaRPr>
                    </a:p>
                  </a:txBody>
                  <a:tcPr marL="91450" marR="91450" marT="45725" marB="45725">
                    <a:solidFill>
                      <a:srgbClr val="D8E2F3"/>
                    </a:solidFill>
                  </a:tcPr>
                </a:tc>
                <a:extLst>
                  <a:ext uri="{0D108BD9-81ED-4DB2-BD59-A6C34878D82A}">
                    <a16:rowId xmlns:a16="http://schemas.microsoft.com/office/drawing/2014/main" val="10001"/>
                  </a:ext>
                </a:extLst>
              </a:tr>
            </a:tbl>
          </a:graphicData>
        </a:graphic>
      </p:graphicFrame>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7"/>
          <p:cNvSpPr txBox="1"/>
          <p:nvPr/>
        </p:nvSpPr>
        <p:spPr>
          <a:xfrm>
            <a:off x="1944370" y="180976"/>
            <a:ext cx="7945120"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Federo"/>
                <a:ea typeface="Federo"/>
                <a:cs typeface="Federo"/>
                <a:sym typeface="Federo"/>
              </a:rPr>
              <a:t>2.4.2 Pengenalan Motivasi</a:t>
            </a:r>
            <a:endParaRPr sz="3600" b="1" i="0" u="none" strike="noStrike" cap="none">
              <a:solidFill>
                <a:srgbClr val="000000"/>
              </a:solidFill>
              <a:latin typeface="Federo"/>
              <a:ea typeface="Federo"/>
              <a:cs typeface="Federo"/>
              <a:sym typeface="Federo"/>
            </a:endParaRPr>
          </a:p>
        </p:txBody>
      </p:sp>
      <p:sp>
        <p:nvSpPr>
          <p:cNvPr id="360" name="Google Shape;360;p47"/>
          <p:cNvSpPr txBox="1"/>
          <p:nvPr/>
        </p:nvSpPr>
        <p:spPr>
          <a:xfrm>
            <a:off x="2898140" y="877572"/>
            <a:ext cx="768286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b. Kaedah Memotivasikan Pekerja</a:t>
            </a:r>
            <a:endParaRPr sz="2000" b="0" i="0" u="none" strike="noStrike" cap="none">
              <a:solidFill>
                <a:schemeClr val="dk1"/>
              </a:solidFill>
              <a:latin typeface="Calibri"/>
              <a:ea typeface="Calibri"/>
              <a:cs typeface="Calibri"/>
              <a:sym typeface="Calibri"/>
            </a:endParaRPr>
          </a:p>
        </p:txBody>
      </p:sp>
      <p:sp>
        <p:nvSpPr>
          <p:cNvPr id="361" name="Google Shape;361;p47"/>
          <p:cNvSpPr/>
          <p:nvPr/>
        </p:nvSpPr>
        <p:spPr>
          <a:xfrm>
            <a:off x="3376295" y="1926591"/>
            <a:ext cx="8376920" cy="3784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  i. Kaedah Penetapan Matlamat (Goal Setting)</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  ii.Rekabentuk Kerja (Job Design)</a:t>
            </a:r>
            <a:endParaRPr sz="2000" b="0" i="0" u="none" strike="noStrike" cap="none">
              <a:solidFill>
                <a:schemeClr val="dk1"/>
              </a:solidFill>
              <a:latin typeface="Calibri"/>
              <a:ea typeface="Calibri"/>
              <a:cs typeface="Calibri"/>
              <a:sym typeface="Calibri"/>
            </a:endParaRPr>
          </a:p>
          <a:p>
            <a:pPr marL="800100" marR="0" lvl="1" indent="-342900" algn="l" rtl="0">
              <a:lnSpc>
                <a:spcPct val="100000"/>
              </a:lnSpc>
              <a:spcBef>
                <a:spcPts val="0"/>
              </a:spcBef>
              <a:spcAft>
                <a:spcPts val="0"/>
              </a:spcAft>
              <a:buClr>
                <a:schemeClr val="dk1"/>
              </a:buClr>
              <a:buSzPts val="2400"/>
              <a:buFont typeface="Arial"/>
              <a:buChar char="•"/>
            </a:pPr>
            <a:r>
              <a:rPr lang="en-US" sz="2800" b="0" i="0" u="none" strike="noStrike" cap="none">
                <a:solidFill>
                  <a:schemeClr val="dk1"/>
                </a:solidFill>
                <a:latin typeface="Calibri"/>
                <a:ea typeface="Calibri"/>
                <a:cs typeface="Calibri"/>
                <a:sym typeface="Calibri"/>
              </a:rPr>
              <a:t>Pusingan Kerja (Job Rotation)</a:t>
            </a:r>
            <a:endParaRPr sz="2000" b="0" i="0" u="none" strike="noStrike" cap="none">
              <a:solidFill>
                <a:schemeClr val="dk1"/>
              </a:solidFill>
              <a:latin typeface="Calibri"/>
              <a:ea typeface="Calibri"/>
              <a:cs typeface="Calibri"/>
              <a:sym typeface="Calibri"/>
            </a:endParaRPr>
          </a:p>
          <a:p>
            <a:pPr marL="800100" marR="0" lvl="1" indent="-342900" algn="l" rtl="0">
              <a:lnSpc>
                <a:spcPct val="100000"/>
              </a:lnSpc>
              <a:spcBef>
                <a:spcPts val="0"/>
              </a:spcBef>
              <a:spcAft>
                <a:spcPts val="0"/>
              </a:spcAft>
              <a:buClr>
                <a:schemeClr val="dk1"/>
              </a:buClr>
              <a:buSzPts val="2400"/>
              <a:buFont typeface="Arial"/>
              <a:buChar char="•"/>
            </a:pPr>
            <a:r>
              <a:rPr lang="en-US" sz="2800" b="0" i="0" u="none" strike="noStrike" cap="none">
                <a:solidFill>
                  <a:schemeClr val="dk1"/>
                </a:solidFill>
                <a:latin typeface="Calibri"/>
                <a:ea typeface="Calibri"/>
                <a:cs typeface="Calibri"/>
                <a:sym typeface="Calibri"/>
              </a:rPr>
              <a:t>Peluasan Kerja (Job Enlargement)</a:t>
            </a:r>
            <a:endParaRPr sz="2000" b="0" i="0" u="none" strike="noStrike" cap="none">
              <a:solidFill>
                <a:schemeClr val="dk1"/>
              </a:solidFill>
              <a:latin typeface="Calibri"/>
              <a:ea typeface="Calibri"/>
              <a:cs typeface="Calibri"/>
              <a:sym typeface="Calibri"/>
            </a:endParaRPr>
          </a:p>
          <a:p>
            <a:pPr marL="800100" marR="0" lvl="1" indent="-342900" algn="l" rtl="0">
              <a:lnSpc>
                <a:spcPct val="100000"/>
              </a:lnSpc>
              <a:spcBef>
                <a:spcPts val="0"/>
              </a:spcBef>
              <a:spcAft>
                <a:spcPts val="0"/>
              </a:spcAft>
              <a:buClr>
                <a:schemeClr val="dk1"/>
              </a:buClr>
              <a:buSzPts val="2400"/>
              <a:buFont typeface="Arial"/>
              <a:buChar char="•"/>
            </a:pPr>
            <a:r>
              <a:rPr lang="en-US" sz="2800" b="0" i="0" u="none" strike="noStrike" cap="none">
                <a:solidFill>
                  <a:schemeClr val="dk1"/>
                </a:solidFill>
                <a:latin typeface="Calibri"/>
                <a:ea typeface="Calibri"/>
                <a:cs typeface="Calibri"/>
                <a:sym typeface="Calibri"/>
              </a:rPr>
              <a:t>Penggayaan Kerja (Job Enrichment)</a:t>
            </a:r>
            <a:endParaRPr sz="2000" b="0" i="0" u="none" strike="noStrike" cap="none">
              <a:solidFill>
                <a:schemeClr val="dk1"/>
              </a:solidFill>
              <a:latin typeface="Calibri"/>
              <a:ea typeface="Calibri"/>
              <a:cs typeface="Calibri"/>
              <a:sym typeface="Calibri"/>
            </a:endParaRPr>
          </a:p>
          <a:p>
            <a:pPr marL="628650" marR="0" lvl="1" indent="-34290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iii. Kualiti Suasana Kerja (Quality Work Place)</a:t>
            </a:r>
            <a:endParaRPr sz="2000" b="0" i="0" u="none" strike="noStrike" cap="none">
              <a:solidFill>
                <a:schemeClr val="dk1"/>
              </a:solidFill>
              <a:latin typeface="Calibri"/>
              <a:ea typeface="Calibri"/>
              <a:cs typeface="Calibri"/>
              <a:sym typeface="Calibri"/>
            </a:endParaRPr>
          </a:p>
          <a:p>
            <a:pPr marL="285750" marR="0" lvl="1"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iv. Pengupayaan Empowerment</a:t>
            </a:r>
            <a:endParaRPr sz="2000" b="0" i="0" u="none" strike="noStrike" cap="none">
              <a:solidFill>
                <a:schemeClr val="dk1"/>
              </a:solidFill>
              <a:latin typeface="Calibri"/>
              <a:ea typeface="Calibri"/>
              <a:cs typeface="Calibri"/>
              <a:sym typeface="Calibri"/>
            </a:endParaRPr>
          </a:p>
          <a:p>
            <a:pPr marL="285750" marR="0" lvl="1"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v.  Ganjaran (Reward)</a:t>
            </a:r>
            <a:endParaRPr sz="2000" b="0" i="0" u="none" strike="noStrike" cap="none">
              <a:solidFill>
                <a:schemeClr val="dk1"/>
              </a:solidFill>
              <a:latin typeface="Calibri"/>
              <a:ea typeface="Calibri"/>
              <a:cs typeface="Calibri"/>
              <a:sym typeface="Calibri"/>
            </a:endParaRPr>
          </a:p>
          <a:p>
            <a:pPr marL="628650" marR="0" lvl="1" indent="-342900" algn="l" rtl="0">
              <a:lnSpc>
                <a:spcPct val="100000"/>
              </a:lnSpc>
              <a:spcBef>
                <a:spcPts val="0"/>
              </a:spcBef>
              <a:spcAft>
                <a:spcPts val="0"/>
              </a:spcAft>
              <a:buClr>
                <a:schemeClr val="lt2"/>
              </a:buClr>
              <a:buSzPts val="2400"/>
              <a:buFont typeface="Arial"/>
              <a:buChar char="•"/>
            </a:pPr>
            <a:r>
              <a:rPr lang="en-US" sz="2800" b="0" i="0" u="none" strike="noStrike" cap="none">
                <a:solidFill>
                  <a:schemeClr val="dk1"/>
                </a:solidFill>
                <a:latin typeface="Calibri"/>
                <a:ea typeface="Calibri"/>
                <a:cs typeface="Calibri"/>
                <a:sym typeface="Calibri"/>
              </a:rPr>
              <a:t> Kewangan</a:t>
            </a:r>
            <a:endParaRPr sz="2000" b="0" i="0" u="none" strike="noStrike" cap="none">
              <a:solidFill>
                <a:schemeClr val="dk1"/>
              </a:solidFill>
              <a:latin typeface="Calibri"/>
              <a:ea typeface="Calibri"/>
              <a:cs typeface="Calibri"/>
              <a:sym typeface="Calibri"/>
            </a:endParaRPr>
          </a:p>
          <a:p>
            <a:pPr marL="628650" marR="0" lvl="1" indent="-342900" algn="l" rtl="0">
              <a:lnSpc>
                <a:spcPct val="100000"/>
              </a:lnSpc>
              <a:spcBef>
                <a:spcPts val="0"/>
              </a:spcBef>
              <a:spcAft>
                <a:spcPts val="0"/>
              </a:spcAft>
              <a:buClr>
                <a:schemeClr val="lt2"/>
              </a:buClr>
              <a:buSzPts val="2400"/>
              <a:buFont typeface="Arial"/>
              <a:buChar char="•"/>
            </a:pPr>
            <a:r>
              <a:rPr lang="en-US" sz="2800" b="0" i="0" u="none" strike="noStrike" cap="none">
                <a:solidFill>
                  <a:schemeClr val="dk1"/>
                </a:solidFill>
                <a:latin typeface="Calibri"/>
                <a:ea typeface="Calibri"/>
                <a:cs typeface="Calibri"/>
                <a:sym typeface="Calibri"/>
              </a:rPr>
              <a:t> Bukan Kewangan</a:t>
            </a:r>
            <a:endParaRPr sz="2000" b="0" i="0" u="none" strike="noStrike" cap="none">
              <a:solidFill>
                <a:schemeClr val="dk1"/>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8"/>
          <p:cNvSpPr txBox="1">
            <a:spLocks noGrp="1"/>
          </p:cNvSpPr>
          <p:nvPr>
            <p:ph type="body" idx="1"/>
          </p:nvPr>
        </p:nvSpPr>
        <p:spPr>
          <a:xfrm>
            <a:off x="1137685" y="946152"/>
            <a:ext cx="10324212" cy="5775325"/>
          </a:xfrm>
          <a:prstGeom prst="rect">
            <a:avLst/>
          </a:prstGeom>
          <a:solidFill>
            <a:schemeClr val="lt1"/>
          </a:solidFill>
          <a:ln>
            <a:noFill/>
          </a:ln>
        </p:spPr>
        <p:txBody>
          <a:bodyPr spcFirstLastPara="1" wrap="square" lIns="91425" tIns="45700" rIns="91425" bIns="45700" anchor="t" anchorCtr="0">
            <a:noAutofit/>
          </a:bodyPr>
          <a:lstStyle/>
          <a:p>
            <a:pPr marL="177800" lvl="0" indent="-177800" algn="l" rtl="0">
              <a:lnSpc>
                <a:spcPct val="80000"/>
              </a:lnSpc>
              <a:spcBef>
                <a:spcPts val="0"/>
              </a:spcBef>
              <a:spcAft>
                <a:spcPts val="0"/>
              </a:spcAft>
              <a:buClr>
                <a:schemeClr val="accent1"/>
              </a:buClr>
              <a:buSzPts val="2240"/>
              <a:buNone/>
            </a:pPr>
            <a:r>
              <a:rPr lang="en-US" sz="2600" b="1"/>
              <a:t> </a:t>
            </a:r>
            <a:r>
              <a:rPr lang="en-US" sz="2600" b="1">
                <a:latin typeface="Federo"/>
                <a:ea typeface="Federo"/>
                <a:cs typeface="Federo"/>
                <a:sym typeface="Federo"/>
              </a:rPr>
              <a:t>i. Kaedah Penetapan Matlamat (Goal Setting)</a:t>
            </a:r>
            <a:r>
              <a:rPr lang="en-US" sz="2600">
                <a:solidFill>
                  <a:srgbClr val="3F3F3F"/>
                </a:solidFill>
              </a:rPr>
              <a:t>	</a:t>
            </a:r>
            <a:endParaRPr sz="2600"/>
          </a:p>
          <a:p>
            <a:pPr marL="177800" lvl="0" indent="-177800" algn="l" rtl="0">
              <a:lnSpc>
                <a:spcPct val="80000"/>
              </a:lnSpc>
              <a:spcBef>
                <a:spcPts val="1000"/>
              </a:spcBef>
              <a:spcAft>
                <a:spcPts val="0"/>
              </a:spcAft>
              <a:buClr>
                <a:schemeClr val="accent1"/>
              </a:buClr>
              <a:buSzPts val="1920"/>
              <a:buNone/>
            </a:pPr>
            <a:r>
              <a:rPr lang="en-US" sz="2600">
                <a:solidFill>
                  <a:srgbClr val="3F3F3F"/>
                </a:solidFill>
                <a:latin typeface="Tahoma"/>
                <a:ea typeface="Tahoma"/>
                <a:cs typeface="Tahoma"/>
                <a:sym typeface="Tahoma"/>
              </a:rPr>
              <a:t>  Penetapan matlamat dibuat bersama-sama antara pengurus dengan subordinat dalam ruang kemampuan mereka demi memastikan matlamat dapat dicapai dalam tempoh yang munasabah.</a:t>
            </a:r>
            <a:endParaRPr sz="2600"/>
          </a:p>
          <a:p>
            <a:pPr marL="177800" lvl="0" indent="-177800" algn="l" rtl="0">
              <a:lnSpc>
                <a:spcPct val="80000"/>
              </a:lnSpc>
              <a:spcBef>
                <a:spcPts val="1000"/>
              </a:spcBef>
              <a:spcAft>
                <a:spcPts val="0"/>
              </a:spcAft>
              <a:buClr>
                <a:schemeClr val="accent1"/>
              </a:buClr>
              <a:buSzPts val="1920"/>
              <a:buNone/>
            </a:pPr>
            <a:endParaRPr sz="2600">
              <a:solidFill>
                <a:srgbClr val="FF0000"/>
              </a:solidFill>
              <a:latin typeface="Tahoma"/>
              <a:ea typeface="Tahoma"/>
              <a:cs typeface="Tahoma"/>
              <a:sym typeface="Tahoma"/>
            </a:endParaRPr>
          </a:p>
          <a:p>
            <a:pPr marL="463550" lvl="0" indent="-231775" algn="l" rtl="0">
              <a:lnSpc>
                <a:spcPct val="80000"/>
              </a:lnSpc>
              <a:spcBef>
                <a:spcPts val="1000"/>
              </a:spcBef>
              <a:spcAft>
                <a:spcPts val="0"/>
              </a:spcAft>
              <a:buClr>
                <a:schemeClr val="accent1"/>
              </a:buClr>
              <a:buSzPts val="1920"/>
              <a:buFont typeface="Noto Sans Symbols"/>
              <a:buChar char="▪"/>
            </a:pPr>
            <a:r>
              <a:rPr lang="en-US" sz="2600">
                <a:solidFill>
                  <a:srgbClr val="3F3F3F"/>
                </a:solidFill>
                <a:latin typeface="Tahoma"/>
                <a:ea typeface="Tahoma"/>
                <a:cs typeface="Tahoma"/>
                <a:sym typeface="Tahoma"/>
              </a:rPr>
              <a:t>Motivasi pekerja akan meningkat dengan  penglibatan mereka dalam penetapan matlamat</a:t>
            </a:r>
            <a:endParaRPr sz="2600">
              <a:solidFill>
                <a:srgbClr val="3F3F3F"/>
              </a:solidFill>
              <a:latin typeface="Tahoma"/>
              <a:ea typeface="Tahoma"/>
              <a:cs typeface="Tahoma"/>
              <a:sym typeface="Tahoma"/>
            </a:endParaRPr>
          </a:p>
          <a:p>
            <a:pPr marL="463550" lvl="0" indent="-231775" algn="l" rtl="0">
              <a:lnSpc>
                <a:spcPct val="80000"/>
              </a:lnSpc>
              <a:spcBef>
                <a:spcPts val="1000"/>
              </a:spcBef>
              <a:spcAft>
                <a:spcPts val="0"/>
              </a:spcAft>
              <a:buClr>
                <a:schemeClr val="accent1"/>
              </a:buClr>
              <a:buSzPts val="1920"/>
              <a:buFont typeface="Noto Sans Symbols"/>
              <a:buChar char="▪"/>
            </a:pPr>
            <a:r>
              <a:rPr lang="en-US" sz="2600">
                <a:solidFill>
                  <a:srgbClr val="3F3F3F"/>
                </a:solidFill>
                <a:latin typeface="Tahoma"/>
                <a:ea typeface="Tahoma"/>
                <a:cs typeface="Tahoma"/>
                <a:sym typeface="Tahoma"/>
              </a:rPr>
              <a:t>Ciri-ciri matlamat yang dibentuk haruslah spesifik , jelas dan mencabar tetapi  tidak terlalu sukar</a:t>
            </a:r>
            <a:endParaRPr sz="2600">
              <a:solidFill>
                <a:srgbClr val="3F3F3F"/>
              </a:solidFill>
              <a:latin typeface="Tahoma"/>
              <a:ea typeface="Tahoma"/>
              <a:cs typeface="Tahoma"/>
              <a:sym typeface="Tahoma"/>
            </a:endParaRPr>
          </a:p>
          <a:p>
            <a:pPr marL="177800" lvl="0" indent="-177800" algn="l" rtl="0">
              <a:lnSpc>
                <a:spcPct val="80000"/>
              </a:lnSpc>
              <a:spcBef>
                <a:spcPts val="1000"/>
              </a:spcBef>
              <a:spcAft>
                <a:spcPts val="0"/>
              </a:spcAft>
              <a:buClr>
                <a:schemeClr val="accent1"/>
              </a:buClr>
              <a:buSzPts val="1920"/>
              <a:buNone/>
            </a:pPr>
            <a:r>
              <a:rPr lang="en-US" sz="2600">
                <a:solidFill>
                  <a:srgbClr val="3F3F3F"/>
                </a:solidFill>
                <a:latin typeface="Tahoma"/>
                <a:ea typeface="Tahoma"/>
                <a:cs typeface="Tahoma"/>
                <a:sym typeface="Tahoma"/>
              </a:rPr>
              <a:t>	</a:t>
            </a:r>
            <a:endParaRPr sz="2600"/>
          </a:p>
          <a:p>
            <a:pPr marL="177800" lvl="0" indent="0" algn="l" rtl="0">
              <a:lnSpc>
                <a:spcPct val="80000"/>
              </a:lnSpc>
              <a:spcBef>
                <a:spcPts val="1000"/>
              </a:spcBef>
              <a:spcAft>
                <a:spcPts val="0"/>
              </a:spcAft>
              <a:buClr>
                <a:schemeClr val="accent1"/>
              </a:buClr>
              <a:buSzPts val="1920"/>
              <a:buNone/>
            </a:pPr>
            <a:r>
              <a:rPr lang="en-US" sz="2600">
                <a:solidFill>
                  <a:srgbClr val="3F3F3F"/>
                </a:solidFill>
                <a:latin typeface="Tahoma"/>
                <a:ea typeface="Tahoma"/>
                <a:cs typeface="Tahoma"/>
                <a:sym typeface="Tahoma"/>
              </a:rPr>
              <a:t>Contoh: Pihak Pengurusan tertinggi bersama wakil jabatan bersetuju untuk menetapkan matlamat syarikat dengan pencapaian keuntungan sebanyak RM15 juta menjelang  akhir tahun ini berdasarkan kapasiti sumber organisasi yang mereka ada sekarang.</a:t>
            </a:r>
            <a:endParaRPr sz="2600">
              <a:solidFill>
                <a:srgbClr val="3F3F3F"/>
              </a:solidFill>
              <a:latin typeface="Tahoma"/>
              <a:ea typeface="Tahoma"/>
              <a:cs typeface="Tahoma"/>
              <a:sym typeface="Tahoma"/>
            </a:endParaRPr>
          </a:p>
        </p:txBody>
      </p:sp>
      <p:sp>
        <p:nvSpPr>
          <p:cNvPr id="368" name="Google Shape;368;p48"/>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32</a:t>
            </a:fld>
            <a:endParaRPr sz="900">
              <a:solidFill>
                <a:schemeClr val="accent1"/>
              </a:solidFill>
              <a:latin typeface="Tahoma"/>
              <a:ea typeface="Tahoma"/>
              <a:cs typeface="Tahoma"/>
              <a:sym typeface="Tahoma"/>
            </a:endParaRPr>
          </a:p>
        </p:txBody>
      </p:sp>
      <p:sp>
        <p:nvSpPr>
          <p:cNvPr id="369" name="Google Shape;369;p48"/>
          <p:cNvSpPr txBox="1"/>
          <p:nvPr/>
        </p:nvSpPr>
        <p:spPr>
          <a:xfrm>
            <a:off x="2131061" y="172085"/>
            <a:ext cx="7682865" cy="68643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b. Kaedah Memotivasikan Pekerja</a:t>
            </a: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7">
                                            <p:txEl>
                                              <p:pRg st="0" end="0"/>
                                            </p:txEl>
                                          </p:spTgt>
                                        </p:tgtEl>
                                        <p:attrNameLst>
                                          <p:attrName>style.visibility</p:attrName>
                                        </p:attrNameLst>
                                      </p:cBhvr>
                                      <p:to>
                                        <p:strVal val="visible"/>
                                      </p:to>
                                    </p:set>
                                    <p:animEffect transition="in" filter="fade">
                                      <p:cBhvr>
                                        <p:cTn id="7" dur="500"/>
                                        <p:tgtEl>
                                          <p:spTgt spid="3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7">
                                            <p:txEl>
                                              <p:pRg st="1" end="1"/>
                                            </p:txEl>
                                          </p:spTgt>
                                        </p:tgtEl>
                                        <p:attrNameLst>
                                          <p:attrName>style.visibility</p:attrName>
                                        </p:attrNameLst>
                                      </p:cBhvr>
                                      <p:to>
                                        <p:strVal val="visible"/>
                                      </p:to>
                                    </p:set>
                                    <p:animEffect transition="in" filter="fade">
                                      <p:cBhvr>
                                        <p:cTn id="12" dur="500"/>
                                        <p:tgtEl>
                                          <p:spTgt spid="3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7">
                                            <p:txEl>
                                              <p:pRg st="2" end="2"/>
                                            </p:txEl>
                                          </p:spTgt>
                                        </p:tgtEl>
                                        <p:attrNameLst>
                                          <p:attrName>style.visibility</p:attrName>
                                        </p:attrNameLst>
                                      </p:cBhvr>
                                      <p:to>
                                        <p:strVal val="visible"/>
                                      </p:to>
                                    </p:set>
                                    <p:animEffect transition="in" filter="fade">
                                      <p:cBhvr>
                                        <p:cTn id="17" dur="500"/>
                                        <p:tgtEl>
                                          <p:spTgt spid="3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7">
                                            <p:txEl>
                                              <p:pRg st="3" end="3"/>
                                            </p:txEl>
                                          </p:spTgt>
                                        </p:tgtEl>
                                        <p:attrNameLst>
                                          <p:attrName>style.visibility</p:attrName>
                                        </p:attrNameLst>
                                      </p:cBhvr>
                                      <p:to>
                                        <p:strVal val="visible"/>
                                      </p:to>
                                    </p:set>
                                    <p:animEffect transition="in" filter="fade">
                                      <p:cBhvr>
                                        <p:cTn id="22" dur="500"/>
                                        <p:tgtEl>
                                          <p:spTgt spid="3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7">
                                            <p:txEl>
                                              <p:pRg st="4" end="4"/>
                                            </p:txEl>
                                          </p:spTgt>
                                        </p:tgtEl>
                                        <p:attrNameLst>
                                          <p:attrName>style.visibility</p:attrName>
                                        </p:attrNameLst>
                                      </p:cBhvr>
                                      <p:to>
                                        <p:strVal val="visible"/>
                                      </p:to>
                                    </p:set>
                                    <p:animEffect transition="in" filter="fade">
                                      <p:cBhvr>
                                        <p:cTn id="27" dur="500"/>
                                        <p:tgtEl>
                                          <p:spTgt spid="3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7">
                                            <p:txEl>
                                              <p:pRg st="5" end="5"/>
                                            </p:txEl>
                                          </p:spTgt>
                                        </p:tgtEl>
                                        <p:attrNameLst>
                                          <p:attrName>style.visibility</p:attrName>
                                        </p:attrNameLst>
                                      </p:cBhvr>
                                      <p:to>
                                        <p:strVal val="visible"/>
                                      </p:to>
                                    </p:set>
                                    <p:animEffect transition="in" filter="fade">
                                      <p:cBhvr>
                                        <p:cTn id="32" dur="500"/>
                                        <p:tgtEl>
                                          <p:spTgt spid="3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7">
                                            <p:txEl>
                                              <p:pRg st="6" end="6"/>
                                            </p:txEl>
                                          </p:spTgt>
                                        </p:tgtEl>
                                        <p:attrNameLst>
                                          <p:attrName>style.visibility</p:attrName>
                                        </p:attrNameLst>
                                      </p:cBhvr>
                                      <p:to>
                                        <p:strVal val="visible"/>
                                      </p:to>
                                    </p:set>
                                    <p:animEffect transition="in" filter="fade">
                                      <p:cBhvr>
                                        <p:cTn id="37" dur="500"/>
                                        <p:tgtEl>
                                          <p:spTgt spid="3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9"/>
          <p:cNvSpPr txBox="1">
            <a:spLocks noGrp="1"/>
          </p:cNvSpPr>
          <p:nvPr>
            <p:ph type="body" idx="1"/>
          </p:nvPr>
        </p:nvSpPr>
        <p:spPr>
          <a:xfrm>
            <a:off x="1935127" y="615953"/>
            <a:ext cx="9988844" cy="6105524"/>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sz="2400" b="1"/>
              <a:t> </a:t>
            </a:r>
            <a:r>
              <a:rPr lang="en-US" b="1"/>
              <a:t>ii.Rekabentuk Kerja (Job Design)</a:t>
            </a:r>
            <a:endParaRPr/>
          </a:p>
          <a:p>
            <a:pPr marL="6350" lvl="0" indent="0" algn="just" rtl="0">
              <a:lnSpc>
                <a:spcPct val="90000"/>
              </a:lnSpc>
              <a:spcBef>
                <a:spcPts val="600"/>
              </a:spcBef>
              <a:spcAft>
                <a:spcPts val="0"/>
              </a:spcAft>
              <a:buClr>
                <a:schemeClr val="dk1"/>
              </a:buClr>
              <a:buSzPts val="2400"/>
              <a:buNone/>
            </a:pPr>
            <a:endParaRPr sz="2400" b="1">
              <a:solidFill>
                <a:schemeClr val="dk1"/>
              </a:solidFill>
            </a:endParaRPr>
          </a:p>
          <a:p>
            <a:pPr marL="349250" lvl="0" indent="-171450" algn="just" rtl="0">
              <a:lnSpc>
                <a:spcPct val="90000"/>
              </a:lnSpc>
              <a:spcBef>
                <a:spcPts val="600"/>
              </a:spcBef>
              <a:spcAft>
                <a:spcPts val="0"/>
              </a:spcAft>
              <a:buClr>
                <a:schemeClr val="dk1"/>
              </a:buClr>
              <a:buSzPts val="2400"/>
              <a:buChar char="•"/>
            </a:pPr>
            <a:r>
              <a:rPr lang="en-US" sz="2400">
                <a:solidFill>
                  <a:schemeClr val="dk1"/>
                </a:solidFill>
                <a:latin typeface="Tahoma"/>
                <a:ea typeface="Tahoma"/>
                <a:cs typeface="Tahoma"/>
                <a:sym typeface="Tahoma"/>
              </a:rPr>
              <a:t> Cara pengurus menggabungjalinkan tugas-tugas bagi membentuk kerja yang dapat dilaksanakan dengan baik oleh pekerja. </a:t>
            </a:r>
            <a:endParaRPr/>
          </a:p>
          <a:p>
            <a:pPr marL="349250" lvl="0" indent="-342900" algn="just" rtl="0">
              <a:lnSpc>
                <a:spcPct val="90000"/>
              </a:lnSpc>
              <a:spcBef>
                <a:spcPts val="600"/>
              </a:spcBef>
              <a:spcAft>
                <a:spcPts val="0"/>
              </a:spcAft>
              <a:buClr>
                <a:schemeClr val="dk1"/>
              </a:buClr>
              <a:buSzPts val="2400"/>
              <a:buChar char="•"/>
            </a:pPr>
            <a:r>
              <a:rPr lang="en-US" sz="2400">
                <a:solidFill>
                  <a:schemeClr val="dk1"/>
                </a:solidFill>
                <a:latin typeface="Tahoma"/>
                <a:ea typeface="Tahoma"/>
                <a:cs typeface="Tahoma"/>
                <a:sym typeface="Tahoma"/>
              </a:rPr>
              <a:t>Pengurus sepatutnya merekabentuk kerja dengan baik dan berhati-hati sebagai refleksi kepada perubahan dalam persekitaran, teknologi organisasi, dan skil pekerja, keupayaan dan keinginan.  </a:t>
            </a:r>
            <a:endParaRPr/>
          </a:p>
          <a:p>
            <a:pPr marL="349250" lvl="0" indent="-342900" algn="just" rtl="0">
              <a:lnSpc>
                <a:spcPct val="90000"/>
              </a:lnSpc>
              <a:spcBef>
                <a:spcPts val="600"/>
              </a:spcBef>
              <a:spcAft>
                <a:spcPts val="0"/>
              </a:spcAft>
              <a:buClr>
                <a:schemeClr val="dk1"/>
              </a:buClr>
              <a:buSzPts val="2400"/>
              <a:buChar char="•"/>
            </a:pPr>
            <a:r>
              <a:rPr lang="en-US" sz="2400">
                <a:solidFill>
                  <a:schemeClr val="dk1"/>
                </a:solidFill>
                <a:latin typeface="Tahoma"/>
                <a:ea typeface="Tahoma"/>
                <a:cs typeface="Tahoma"/>
                <a:sym typeface="Tahoma"/>
              </a:rPr>
              <a:t>Apabila kerja direkabentuk sedemikian rupa, pekerja akan bermotivasi untuk bekerja keras</a:t>
            </a:r>
            <a:endParaRPr sz="2400">
              <a:solidFill>
                <a:schemeClr val="dk1"/>
              </a:solidFill>
              <a:latin typeface="Tahoma"/>
              <a:ea typeface="Tahoma"/>
              <a:cs typeface="Tahoma"/>
              <a:sym typeface="Tahoma"/>
            </a:endParaRPr>
          </a:p>
          <a:p>
            <a:pPr marL="6350" lvl="0" indent="0" algn="just" rtl="0">
              <a:lnSpc>
                <a:spcPct val="90000"/>
              </a:lnSpc>
              <a:spcBef>
                <a:spcPts val="600"/>
              </a:spcBef>
              <a:spcAft>
                <a:spcPts val="0"/>
              </a:spcAft>
              <a:buClr>
                <a:schemeClr val="dk1"/>
              </a:buClr>
              <a:buSzPts val="2400"/>
              <a:buNone/>
            </a:pPr>
            <a:endParaRPr sz="2400">
              <a:solidFill>
                <a:schemeClr val="dk1"/>
              </a:solidFill>
              <a:latin typeface="Tahoma"/>
              <a:ea typeface="Tahoma"/>
              <a:cs typeface="Tahoma"/>
              <a:sym typeface="Tahoma"/>
            </a:endParaRPr>
          </a:p>
          <a:p>
            <a:pPr marL="349250" lvl="0" indent="-342900" algn="just" rtl="0">
              <a:lnSpc>
                <a:spcPct val="90000"/>
              </a:lnSpc>
              <a:spcBef>
                <a:spcPts val="600"/>
              </a:spcBef>
              <a:spcAft>
                <a:spcPts val="0"/>
              </a:spcAft>
              <a:buClr>
                <a:schemeClr val="dk1"/>
              </a:buClr>
              <a:buSzPts val="2400"/>
              <a:buChar char="•"/>
            </a:pPr>
            <a:r>
              <a:rPr lang="en-US" sz="2400" b="1">
                <a:solidFill>
                  <a:schemeClr val="dk1"/>
                </a:solidFill>
                <a:latin typeface="Tahoma"/>
                <a:ea typeface="Tahoma"/>
                <a:cs typeface="Tahoma"/>
                <a:sym typeface="Tahoma"/>
              </a:rPr>
              <a:t>3 jenis rekabentuk kerja</a:t>
            </a:r>
            <a:r>
              <a:rPr lang="en-US" sz="2400">
                <a:solidFill>
                  <a:schemeClr val="dk1"/>
                </a:solidFill>
                <a:latin typeface="Tahoma"/>
                <a:ea typeface="Tahoma"/>
                <a:cs typeface="Tahoma"/>
                <a:sym typeface="Tahoma"/>
              </a:rPr>
              <a:t> ialah </a:t>
            </a:r>
            <a:endParaRPr/>
          </a:p>
          <a:p>
            <a:pPr marL="806450" lvl="1" indent="-342900" algn="just" rtl="0">
              <a:lnSpc>
                <a:spcPct val="90000"/>
              </a:lnSpc>
              <a:spcBef>
                <a:spcPts val="600"/>
              </a:spcBef>
              <a:spcAft>
                <a:spcPts val="0"/>
              </a:spcAft>
              <a:buClr>
                <a:schemeClr val="dk1"/>
              </a:buClr>
              <a:buSzPts val="2200"/>
              <a:buFont typeface="Noto Sans Symbols"/>
              <a:buChar char="❖"/>
            </a:pPr>
            <a:r>
              <a:rPr lang="en-US" sz="2200">
                <a:solidFill>
                  <a:schemeClr val="dk1"/>
                </a:solidFill>
                <a:latin typeface="Tahoma"/>
                <a:ea typeface="Tahoma"/>
                <a:cs typeface="Tahoma"/>
                <a:sym typeface="Tahoma"/>
              </a:rPr>
              <a:t>Pusingan kerja, </a:t>
            </a:r>
            <a:endParaRPr/>
          </a:p>
          <a:p>
            <a:pPr marL="806450" lvl="1" indent="-342900" algn="just" rtl="0">
              <a:lnSpc>
                <a:spcPct val="90000"/>
              </a:lnSpc>
              <a:spcBef>
                <a:spcPts val="600"/>
              </a:spcBef>
              <a:spcAft>
                <a:spcPts val="0"/>
              </a:spcAft>
              <a:buClr>
                <a:schemeClr val="dk1"/>
              </a:buClr>
              <a:buSzPts val="2200"/>
              <a:buFont typeface="Noto Sans Symbols"/>
              <a:buChar char="❖"/>
            </a:pPr>
            <a:r>
              <a:rPr lang="en-US" sz="2200">
                <a:solidFill>
                  <a:schemeClr val="dk1"/>
                </a:solidFill>
                <a:latin typeface="Tahoma"/>
                <a:ea typeface="Tahoma"/>
                <a:cs typeface="Tahoma"/>
                <a:sym typeface="Tahoma"/>
              </a:rPr>
              <a:t>Peluasan kerja </a:t>
            </a:r>
            <a:endParaRPr/>
          </a:p>
          <a:p>
            <a:pPr marL="806450" lvl="1" indent="-342900" algn="just" rtl="0">
              <a:lnSpc>
                <a:spcPct val="90000"/>
              </a:lnSpc>
              <a:spcBef>
                <a:spcPts val="600"/>
              </a:spcBef>
              <a:spcAft>
                <a:spcPts val="0"/>
              </a:spcAft>
              <a:buClr>
                <a:schemeClr val="dk1"/>
              </a:buClr>
              <a:buSzPts val="2200"/>
              <a:buFont typeface="Noto Sans Symbols"/>
              <a:buChar char="❖"/>
            </a:pPr>
            <a:r>
              <a:rPr lang="en-US" sz="2200">
                <a:solidFill>
                  <a:schemeClr val="dk1"/>
                </a:solidFill>
                <a:latin typeface="Tahoma"/>
                <a:ea typeface="Tahoma"/>
                <a:cs typeface="Tahoma"/>
                <a:sym typeface="Tahoma"/>
              </a:rPr>
              <a:t>Pengayaan kerja.</a:t>
            </a:r>
            <a:endParaRPr/>
          </a:p>
          <a:p>
            <a:pPr marL="349250" lvl="0" indent="-190500" algn="just" rtl="0">
              <a:lnSpc>
                <a:spcPct val="90000"/>
              </a:lnSpc>
              <a:spcBef>
                <a:spcPts val="600"/>
              </a:spcBef>
              <a:spcAft>
                <a:spcPts val="0"/>
              </a:spcAft>
              <a:buClr>
                <a:schemeClr val="dk1"/>
              </a:buClr>
              <a:buSzPts val="2400"/>
              <a:buNone/>
            </a:pPr>
            <a:endParaRPr sz="2400">
              <a:solidFill>
                <a:schemeClr val="dk1"/>
              </a:solidFill>
              <a:latin typeface="Tahoma"/>
              <a:ea typeface="Tahoma"/>
              <a:cs typeface="Tahoma"/>
              <a:sym typeface="Tahoma"/>
            </a:endParaRPr>
          </a:p>
        </p:txBody>
      </p:sp>
      <p:sp>
        <p:nvSpPr>
          <p:cNvPr id="376" name="Google Shape;376;p49"/>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33</a:t>
            </a:fld>
            <a:endParaRPr sz="900">
              <a:solidFill>
                <a:schemeClr val="accent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5">
                                            <p:txEl>
                                              <p:pRg st="0" end="0"/>
                                            </p:txEl>
                                          </p:spTgt>
                                        </p:tgtEl>
                                        <p:attrNameLst>
                                          <p:attrName>style.visibility</p:attrName>
                                        </p:attrNameLst>
                                      </p:cBhvr>
                                      <p:to>
                                        <p:strVal val="visible"/>
                                      </p:to>
                                    </p:set>
                                    <p:animEffect transition="in" filter="fade">
                                      <p:cBhvr>
                                        <p:cTn id="7" dur="500"/>
                                        <p:tgtEl>
                                          <p:spTgt spid="3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5">
                                            <p:txEl>
                                              <p:pRg st="1" end="1"/>
                                            </p:txEl>
                                          </p:spTgt>
                                        </p:tgtEl>
                                        <p:attrNameLst>
                                          <p:attrName>style.visibility</p:attrName>
                                        </p:attrNameLst>
                                      </p:cBhvr>
                                      <p:to>
                                        <p:strVal val="visible"/>
                                      </p:to>
                                    </p:set>
                                    <p:animEffect transition="in" filter="fade">
                                      <p:cBhvr>
                                        <p:cTn id="12" dur="500"/>
                                        <p:tgtEl>
                                          <p:spTgt spid="3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5">
                                            <p:txEl>
                                              <p:pRg st="2" end="2"/>
                                            </p:txEl>
                                          </p:spTgt>
                                        </p:tgtEl>
                                        <p:attrNameLst>
                                          <p:attrName>style.visibility</p:attrName>
                                        </p:attrNameLst>
                                      </p:cBhvr>
                                      <p:to>
                                        <p:strVal val="visible"/>
                                      </p:to>
                                    </p:set>
                                    <p:animEffect transition="in" filter="fade">
                                      <p:cBhvr>
                                        <p:cTn id="17" dur="500"/>
                                        <p:tgtEl>
                                          <p:spTgt spid="3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5">
                                            <p:txEl>
                                              <p:pRg st="3" end="3"/>
                                            </p:txEl>
                                          </p:spTgt>
                                        </p:tgtEl>
                                        <p:attrNameLst>
                                          <p:attrName>style.visibility</p:attrName>
                                        </p:attrNameLst>
                                      </p:cBhvr>
                                      <p:to>
                                        <p:strVal val="visible"/>
                                      </p:to>
                                    </p:set>
                                    <p:animEffect transition="in" filter="fade">
                                      <p:cBhvr>
                                        <p:cTn id="22" dur="500"/>
                                        <p:tgtEl>
                                          <p:spTgt spid="3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5">
                                            <p:txEl>
                                              <p:pRg st="4" end="4"/>
                                            </p:txEl>
                                          </p:spTgt>
                                        </p:tgtEl>
                                        <p:attrNameLst>
                                          <p:attrName>style.visibility</p:attrName>
                                        </p:attrNameLst>
                                      </p:cBhvr>
                                      <p:to>
                                        <p:strVal val="visible"/>
                                      </p:to>
                                    </p:set>
                                    <p:animEffect transition="in" filter="fade">
                                      <p:cBhvr>
                                        <p:cTn id="27" dur="500"/>
                                        <p:tgtEl>
                                          <p:spTgt spid="3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5">
                                            <p:txEl>
                                              <p:pRg st="5" end="5"/>
                                            </p:txEl>
                                          </p:spTgt>
                                        </p:tgtEl>
                                        <p:attrNameLst>
                                          <p:attrName>style.visibility</p:attrName>
                                        </p:attrNameLst>
                                      </p:cBhvr>
                                      <p:to>
                                        <p:strVal val="visible"/>
                                      </p:to>
                                    </p:set>
                                    <p:animEffect transition="in" filter="fade">
                                      <p:cBhvr>
                                        <p:cTn id="32" dur="500"/>
                                        <p:tgtEl>
                                          <p:spTgt spid="3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5">
                                            <p:txEl>
                                              <p:pRg st="6" end="6"/>
                                            </p:txEl>
                                          </p:spTgt>
                                        </p:tgtEl>
                                        <p:attrNameLst>
                                          <p:attrName>style.visibility</p:attrName>
                                        </p:attrNameLst>
                                      </p:cBhvr>
                                      <p:to>
                                        <p:strVal val="visible"/>
                                      </p:to>
                                    </p:set>
                                    <p:animEffect transition="in" filter="fade">
                                      <p:cBhvr>
                                        <p:cTn id="37" dur="500"/>
                                        <p:tgtEl>
                                          <p:spTgt spid="37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5">
                                            <p:txEl>
                                              <p:pRg st="7" end="7"/>
                                            </p:txEl>
                                          </p:spTgt>
                                        </p:tgtEl>
                                        <p:attrNameLst>
                                          <p:attrName>style.visibility</p:attrName>
                                        </p:attrNameLst>
                                      </p:cBhvr>
                                      <p:to>
                                        <p:strVal val="visible"/>
                                      </p:to>
                                    </p:set>
                                    <p:animEffect transition="in" filter="fade">
                                      <p:cBhvr>
                                        <p:cTn id="42" dur="500"/>
                                        <p:tgtEl>
                                          <p:spTgt spid="37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75">
                                            <p:txEl>
                                              <p:pRg st="8" end="8"/>
                                            </p:txEl>
                                          </p:spTgt>
                                        </p:tgtEl>
                                        <p:attrNameLst>
                                          <p:attrName>style.visibility</p:attrName>
                                        </p:attrNameLst>
                                      </p:cBhvr>
                                      <p:to>
                                        <p:strVal val="visible"/>
                                      </p:to>
                                    </p:set>
                                    <p:animEffect transition="in" filter="fade">
                                      <p:cBhvr>
                                        <p:cTn id="47" dur="500"/>
                                        <p:tgtEl>
                                          <p:spTgt spid="37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75">
                                            <p:txEl>
                                              <p:pRg st="9" end="9"/>
                                            </p:txEl>
                                          </p:spTgt>
                                        </p:tgtEl>
                                        <p:attrNameLst>
                                          <p:attrName>style.visibility</p:attrName>
                                        </p:attrNameLst>
                                      </p:cBhvr>
                                      <p:to>
                                        <p:strVal val="visible"/>
                                      </p:to>
                                    </p:set>
                                    <p:animEffect transition="in" filter="fade">
                                      <p:cBhvr>
                                        <p:cTn id="52" dur="500"/>
                                        <p:tgtEl>
                                          <p:spTgt spid="37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75">
                                            <p:txEl>
                                              <p:pRg st="10" end="10"/>
                                            </p:txEl>
                                          </p:spTgt>
                                        </p:tgtEl>
                                        <p:attrNameLst>
                                          <p:attrName>style.visibility</p:attrName>
                                        </p:attrNameLst>
                                      </p:cBhvr>
                                      <p:to>
                                        <p:strVal val="visible"/>
                                      </p:to>
                                    </p:set>
                                    <p:animEffect transition="in" filter="fade">
                                      <p:cBhvr>
                                        <p:cTn id="57" dur="500"/>
                                        <p:tgtEl>
                                          <p:spTgt spid="37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0"/>
          <p:cNvSpPr txBox="1">
            <a:spLocks noGrp="1"/>
          </p:cNvSpPr>
          <p:nvPr>
            <p:ph type="body" idx="1"/>
          </p:nvPr>
        </p:nvSpPr>
        <p:spPr>
          <a:xfrm>
            <a:off x="1066800" y="189865"/>
            <a:ext cx="8382000" cy="4776237"/>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b="1"/>
              <a:t>ii.Rekabentuk Kerja (Job Design)</a:t>
            </a:r>
            <a:endParaRPr>
              <a:solidFill>
                <a:schemeClr val="dk1"/>
              </a:solidFill>
              <a:latin typeface="Tahoma"/>
              <a:ea typeface="Tahoma"/>
              <a:cs typeface="Tahoma"/>
              <a:sym typeface="Tahoma"/>
            </a:endParaRPr>
          </a:p>
        </p:txBody>
      </p:sp>
      <p:sp>
        <p:nvSpPr>
          <p:cNvPr id="383" name="Google Shape;383;p50"/>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34</a:t>
            </a:fld>
            <a:endParaRPr sz="900">
              <a:solidFill>
                <a:schemeClr val="accent1"/>
              </a:solidFill>
              <a:latin typeface="Tahoma"/>
              <a:ea typeface="Tahoma"/>
              <a:cs typeface="Tahoma"/>
              <a:sym typeface="Tahoma"/>
            </a:endParaRPr>
          </a:p>
        </p:txBody>
      </p:sp>
      <p:sp>
        <p:nvSpPr>
          <p:cNvPr id="384" name="Google Shape;384;p50"/>
          <p:cNvSpPr txBox="1"/>
          <p:nvPr/>
        </p:nvSpPr>
        <p:spPr>
          <a:xfrm>
            <a:off x="3429000" y="953135"/>
            <a:ext cx="8763000" cy="5143500"/>
          </a:xfrm>
          <a:prstGeom prst="rect">
            <a:avLst/>
          </a:prstGeom>
          <a:noFill/>
          <a:ln>
            <a:noFill/>
          </a:ln>
        </p:spPr>
        <p:txBody>
          <a:bodyPr spcFirstLastPara="1" wrap="square" lIns="91425" tIns="45700" rIns="91425" bIns="45700" anchor="t" anchorCtr="0">
            <a:noAutofit/>
          </a:bodyPr>
          <a:lstStyle/>
          <a:p>
            <a:pPr marL="0" marR="0" lvl="1" indent="0" algn="l" rtl="0">
              <a:lnSpc>
                <a:spcPct val="80000"/>
              </a:lnSpc>
              <a:spcBef>
                <a:spcPts val="0"/>
              </a:spcBef>
              <a:spcAft>
                <a:spcPts val="0"/>
              </a:spcAft>
              <a:buClr>
                <a:srgbClr val="000000"/>
              </a:buClr>
              <a:buSzPts val="2600"/>
              <a:buFont typeface="Arial"/>
              <a:buNone/>
            </a:pPr>
            <a:r>
              <a:rPr lang="en-US" sz="2600" b="1" i="0" u="none" strike="noStrike" cap="none">
                <a:solidFill>
                  <a:schemeClr val="dk1"/>
                </a:solidFill>
                <a:latin typeface="Federo"/>
                <a:ea typeface="Federo"/>
                <a:cs typeface="Federo"/>
                <a:sym typeface="Federo"/>
              </a:rPr>
              <a:t>Pusingan Kerja (Job Rotation)</a:t>
            </a:r>
            <a:endParaRPr sz="2600" b="1" i="0" u="none" strike="noStrike" cap="none">
              <a:solidFill>
                <a:schemeClr val="dk1"/>
              </a:solidFill>
              <a:latin typeface="Federo"/>
              <a:ea typeface="Federo"/>
              <a:cs typeface="Federo"/>
              <a:sym typeface="Federo"/>
            </a:endParaRPr>
          </a:p>
          <a:p>
            <a:pPr marL="410844" marR="0" lvl="0" indent="-200659" algn="l" rtl="0">
              <a:lnSpc>
                <a:spcPct val="80000"/>
              </a:lnSpc>
              <a:spcBef>
                <a:spcPts val="600"/>
              </a:spcBef>
              <a:spcAft>
                <a:spcPts val="0"/>
              </a:spcAft>
              <a:buClr>
                <a:srgbClr val="000000"/>
              </a:buClr>
              <a:buSzPts val="2600"/>
              <a:buFont typeface="Arial"/>
              <a:buNone/>
            </a:pPr>
            <a:endParaRPr sz="2600" b="0" i="0" u="none" strike="noStrike" cap="none">
              <a:solidFill>
                <a:srgbClr val="404040"/>
              </a:solidFill>
              <a:latin typeface="Tahoma"/>
              <a:ea typeface="Tahoma"/>
              <a:cs typeface="Tahoma"/>
              <a:sym typeface="Tahoma"/>
            </a:endParaRPr>
          </a:p>
          <a:p>
            <a:pPr marL="410844" marR="0" lvl="0" indent="-342900" algn="l" rtl="0">
              <a:lnSpc>
                <a:spcPct val="80000"/>
              </a:lnSpc>
              <a:spcBef>
                <a:spcPts val="600"/>
              </a:spcBef>
              <a:spcAft>
                <a:spcPts val="0"/>
              </a:spcAft>
              <a:buClr>
                <a:schemeClr val="accent1"/>
              </a:buClr>
              <a:buSzPts val="2240"/>
              <a:buFont typeface="Arial"/>
              <a:buChar char="•"/>
            </a:pPr>
            <a:r>
              <a:rPr lang="en-US" sz="2600" b="0" i="0" u="none" strike="noStrike" cap="none">
                <a:solidFill>
                  <a:srgbClr val="404040"/>
                </a:solidFill>
                <a:latin typeface="Tahoma"/>
                <a:ea typeface="Tahoma"/>
                <a:cs typeface="Tahoma"/>
                <a:sym typeface="Tahoma"/>
              </a:rPr>
              <a:t>Pekerja dipindahkan secara sistematik mengikut tempoh tertentu dari satu bahagian ke bahagian-bahagian yang lain </a:t>
            </a:r>
            <a:r>
              <a:rPr lang="en-US" sz="2600" b="0" i="1" u="none" strike="noStrike" cap="none">
                <a:solidFill>
                  <a:srgbClr val="404040"/>
                </a:solidFill>
                <a:latin typeface="Tahoma"/>
                <a:ea typeface="Tahoma"/>
                <a:cs typeface="Tahoma"/>
                <a:sym typeface="Tahoma"/>
              </a:rPr>
              <a:t>(di dalam skop atau bidang yang sama) </a:t>
            </a:r>
            <a:endParaRPr sz="2600" b="0" i="0" u="none" strike="noStrike" cap="none">
              <a:solidFill>
                <a:srgbClr val="3F3F3F"/>
              </a:solidFill>
              <a:latin typeface="Tahoma"/>
              <a:ea typeface="Tahoma"/>
              <a:cs typeface="Tahoma"/>
              <a:sym typeface="Tahoma"/>
            </a:endParaRPr>
          </a:p>
          <a:p>
            <a:pPr marL="410844" marR="0" lvl="0" indent="-342900" algn="l" rtl="0">
              <a:lnSpc>
                <a:spcPct val="80000"/>
              </a:lnSpc>
              <a:spcBef>
                <a:spcPts val="600"/>
              </a:spcBef>
              <a:spcAft>
                <a:spcPts val="0"/>
              </a:spcAft>
              <a:buClr>
                <a:schemeClr val="accent1"/>
              </a:buClr>
              <a:buSzPts val="2240"/>
              <a:buFont typeface="Arial"/>
              <a:buChar char="•"/>
            </a:pPr>
            <a:r>
              <a:rPr lang="en-US" sz="2600" b="0" i="0" u="none" strike="noStrike" cap="none">
                <a:solidFill>
                  <a:srgbClr val="404040"/>
                </a:solidFill>
                <a:latin typeface="Tahoma"/>
                <a:ea typeface="Tahoma"/>
                <a:cs typeface="Tahoma"/>
                <a:sym typeface="Tahoma"/>
              </a:rPr>
              <a:t>Dapat beri peluang kepada pekerja mencuba pelbagai kemahiran kerja yang boleh meningkatkan kemahiran mereka.</a:t>
            </a:r>
            <a:endParaRPr sz="2600" b="0" i="0" u="none" strike="noStrike" cap="none">
              <a:solidFill>
                <a:srgbClr val="000000"/>
              </a:solidFill>
              <a:latin typeface="Arial"/>
              <a:ea typeface="Arial"/>
              <a:cs typeface="Arial"/>
              <a:sym typeface="Arial"/>
            </a:endParaRPr>
          </a:p>
          <a:p>
            <a:pPr marL="67944" marR="0" lvl="0" indent="0" algn="l" rtl="0">
              <a:lnSpc>
                <a:spcPct val="80000"/>
              </a:lnSpc>
              <a:spcBef>
                <a:spcPts val="600"/>
              </a:spcBef>
              <a:spcAft>
                <a:spcPts val="0"/>
              </a:spcAft>
              <a:buClr>
                <a:srgbClr val="000000"/>
              </a:buClr>
              <a:buSzPts val="2600"/>
              <a:buFont typeface="Arial"/>
              <a:buNone/>
            </a:pPr>
            <a:endParaRPr sz="2600" b="0" i="0" u="none" strike="noStrike" cap="none">
              <a:solidFill>
                <a:srgbClr val="3F3F3F"/>
              </a:solidFill>
              <a:latin typeface="Tahoma"/>
              <a:ea typeface="Tahoma"/>
              <a:cs typeface="Tahoma"/>
              <a:sym typeface="Tahoma"/>
            </a:endParaRPr>
          </a:p>
          <a:p>
            <a:pPr marL="67945" marR="0" lvl="0" indent="0" algn="l" rtl="0">
              <a:lnSpc>
                <a:spcPct val="80000"/>
              </a:lnSpc>
              <a:spcBef>
                <a:spcPts val="600"/>
              </a:spcBef>
              <a:spcAft>
                <a:spcPts val="0"/>
              </a:spcAft>
              <a:buClr>
                <a:srgbClr val="000000"/>
              </a:buClr>
              <a:buSzPts val="2600"/>
              <a:buFont typeface="Arial"/>
              <a:buNone/>
            </a:pPr>
            <a:r>
              <a:rPr lang="en-US" sz="2600" b="1" i="0" u="none" strike="noStrike" cap="none">
                <a:solidFill>
                  <a:srgbClr val="404040"/>
                </a:solidFill>
                <a:latin typeface="Tahoma"/>
                <a:ea typeface="Tahoma"/>
                <a:cs typeface="Tahoma"/>
                <a:sym typeface="Tahoma"/>
              </a:rPr>
              <a:t>Contoh:</a:t>
            </a:r>
            <a:r>
              <a:rPr lang="en-US" sz="2600" b="0" i="0" u="none" strike="noStrike" cap="none">
                <a:solidFill>
                  <a:srgbClr val="404040"/>
                </a:solidFill>
                <a:latin typeface="Tahoma"/>
                <a:ea typeface="Tahoma"/>
                <a:cs typeface="Tahoma"/>
                <a:sym typeface="Tahoma"/>
              </a:rPr>
              <a:t>  Pusingan kerja kepada kakitangan yang berjawatan kerani di bahagian kewangan yang mengendalikan kerja penerimaan dan pembayaran </a:t>
            </a:r>
            <a:r>
              <a:rPr lang="en-US" sz="2600" b="0" i="1" u="none" strike="noStrike" cap="none">
                <a:solidFill>
                  <a:srgbClr val="404040"/>
                </a:solidFill>
                <a:latin typeface="Tahoma"/>
                <a:ea typeface="Tahoma"/>
                <a:cs typeface="Tahoma"/>
                <a:sym typeface="Tahoma"/>
              </a:rPr>
              <a:t>(juruwang) </a:t>
            </a:r>
            <a:r>
              <a:rPr lang="en-US" sz="2600" b="0" i="0" u="none" strike="noStrike" cap="none">
                <a:solidFill>
                  <a:srgbClr val="404040"/>
                </a:solidFill>
                <a:latin typeface="Tahoma"/>
                <a:ea typeface="Tahoma"/>
                <a:cs typeface="Tahoma"/>
                <a:sym typeface="Tahoma"/>
              </a:rPr>
              <a:t>dipindahkan secara pusingan </a:t>
            </a:r>
            <a:r>
              <a:rPr lang="en-US" sz="2600" b="0" i="1" u="none" strike="noStrike" cap="none">
                <a:solidFill>
                  <a:srgbClr val="404040"/>
                </a:solidFill>
                <a:latin typeface="Tahoma"/>
                <a:ea typeface="Tahoma"/>
                <a:cs typeface="Tahoma"/>
                <a:sym typeface="Tahoma"/>
              </a:rPr>
              <a:t>(bergilir)</a:t>
            </a:r>
            <a:r>
              <a:rPr lang="en-US" sz="2600" b="0" i="0" u="none" strike="noStrike" cap="none">
                <a:solidFill>
                  <a:srgbClr val="404040"/>
                </a:solidFill>
                <a:latin typeface="Tahoma"/>
                <a:ea typeface="Tahoma"/>
                <a:cs typeface="Tahoma"/>
                <a:sym typeface="Tahoma"/>
              </a:rPr>
              <a:t> untuk memproses bil dan invois pada minggu atau bulan yang berikutnya. </a:t>
            </a:r>
            <a:endParaRPr sz="2600" b="0" i="0" u="none" strike="noStrike" cap="none">
              <a:solidFill>
                <a:srgbClr val="404040"/>
              </a:solidFill>
              <a:latin typeface="Tahoma"/>
              <a:ea typeface="Tahoma"/>
              <a:cs typeface="Tahoma"/>
              <a:sym typeface="Tahoma"/>
            </a:endParaRPr>
          </a:p>
        </p:txBody>
      </p:sp>
      <p:sp>
        <p:nvSpPr>
          <p:cNvPr id="385" name="Google Shape;385;p50"/>
          <p:cNvSpPr/>
          <p:nvPr/>
        </p:nvSpPr>
        <p:spPr>
          <a:xfrm>
            <a:off x="2134708" y="953135"/>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1</a:t>
            </a:r>
            <a:endParaRPr sz="1800" b="1" i="0" u="none" strike="noStrike" cap="none">
              <a:solidFill>
                <a:schemeClr val="lt1"/>
              </a:solidFill>
              <a:latin typeface="Calibri"/>
              <a:ea typeface="Calibri"/>
              <a:cs typeface="Calibri"/>
              <a:sym typeface="Calibri"/>
            </a:endParaRPr>
          </a:p>
        </p:txBody>
      </p:sp>
      <p:pic>
        <p:nvPicPr>
          <p:cNvPr id="386" name="Google Shape;386;p50"/>
          <p:cNvPicPr preferRelativeResize="0"/>
          <p:nvPr/>
        </p:nvPicPr>
        <p:blipFill rotWithShape="1">
          <a:blip r:embed="rId3">
            <a:alphaModFix/>
          </a:blip>
          <a:srcRect/>
          <a:stretch/>
        </p:blipFill>
        <p:spPr>
          <a:xfrm>
            <a:off x="111863" y="4891674"/>
            <a:ext cx="3141700" cy="19663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2">
                                            <p:txEl>
                                              <p:pRg st="0" end="0"/>
                                            </p:txEl>
                                          </p:spTgt>
                                        </p:tgtEl>
                                        <p:attrNameLst>
                                          <p:attrName>style.visibility</p:attrName>
                                        </p:attrNameLst>
                                      </p:cBhvr>
                                      <p:to>
                                        <p:strVal val="visible"/>
                                      </p:to>
                                    </p:set>
                                    <p:animEffect transition="in" filter="fade">
                                      <p:cBhvr>
                                        <p:cTn id="7" dur="500"/>
                                        <p:tgtEl>
                                          <p:spTgt spid="3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4">
                                            <p:txEl>
                                              <p:pRg st="0" end="0"/>
                                            </p:txEl>
                                          </p:spTgt>
                                        </p:tgtEl>
                                        <p:attrNameLst>
                                          <p:attrName>style.visibility</p:attrName>
                                        </p:attrNameLst>
                                      </p:cBhvr>
                                      <p:to>
                                        <p:strVal val="visible"/>
                                      </p:to>
                                    </p:set>
                                    <p:animEffect transition="in" filter="fade">
                                      <p:cBhvr>
                                        <p:cTn id="12" dur="500"/>
                                        <p:tgtEl>
                                          <p:spTgt spid="38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4">
                                            <p:txEl>
                                              <p:pRg st="1" end="1"/>
                                            </p:txEl>
                                          </p:spTgt>
                                        </p:tgtEl>
                                        <p:attrNameLst>
                                          <p:attrName>style.visibility</p:attrName>
                                        </p:attrNameLst>
                                      </p:cBhvr>
                                      <p:to>
                                        <p:strVal val="visible"/>
                                      </p:to>
                                    </p:set>
                                    <p:animEffect transition="in" filter="fade">
                                      <p:cBhvr>
                                        <p:cTn id="17" dur="500"/>
                                        <p:tgtEl>
                                          <p:spTgt spid="38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4">
                                            <p:txEl>
                                              <p:pRg st="2" end="2"/>
                                            </p:txEl>
                                          </p:spTgt>
                                        </p:tgtEl>
                                        <p:attrNameLst>
                                          <p:attrName>style.visibility</p:attrName>
                                        </p:attrNameLst>
                                      </p:cBhvr>
                                      <p:to>
                                        <p:strVal val="visible"/>
                                      </p:to>
                                    </p:set>
                                    <p:animEffect transition="in" filter="fade">
                                      <p:cBhvr>
                                        <p:cTn id="22" dur="500"/>
                                        <p:tgtEl>
                                          <p:spTgt spid="38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4">
                                            <p:txEl>
                                              <p:pRg st="3" end="3"/>
                                            </p:txEl>
                                          </p:spTgt>
                                        </p:tgtEl>
                                        <p:attrNameLst>
                                          <p:attrName>style.visibility</p:attrName>
                                        </p:attrNameLst>
                                      </p:cBhvr>
                                      <p:to>
                                        <p:strVal val="visible"/>
                                      </p:to>
                                    </p:set>
                                    <p:animEffect transition="in" filter="fade">
                                      <p:cBhvr>
                                        <p:cTn id="27" dur="500"/>
                                        <p:tgtEl>
                                          <p:spTgt spid="38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4">
                                            <p:txEl>
                                              <p:pRg st="4" end="4"/>
                                            </p:txEl>
                                          </p:spTgt>
                                        </p:tgtEl>
                                        <p:attrNameLst>
                                          <p:attrName>style.visibility</p:attrName>
                                        </p:attrNameLst>
                                      </p:cBhvr>
                                      <p:to>
                                        <p:strVal val="visible"/>
                                      </p:to>
                                    </p:set>
                                    <p:animEffect transition="in" filter="fade">
                                      <p:cBhvr>
                                        <p:cTn id="32" dur="500"/>
                                        <p:tgtEl>
                                          <p:spTgt spid="38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4">
                                            <p:txEl>
                                              <p:pRg st="5" end="5"/>
                                            </p:txEl>
                                          </p:spTgt>
                                        </p:tgtEl>
                                        <p:attrNameLst>
                                          <p:attrName>style.visibility</p:attrName>
                                        </p:attrNameLst>
                                      </p:cBhvr>
                                      <p:to>
                                        <p:strVal val="visible"/>
                                      </p:to>
                                    </p:set>
                                    <p:animEffect transition="in" filter="fade">
                                      <p:cBhvr>
                                        <p:cTn id="37" dur="500"/>
                                        <p:tgtEl>
                                          <p:spTgt spid="38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1"/>
          <p:cNvSpPr txBox="1">
            <a:spLocks noGrp="1"/>
          </p:cNvSpPr>
          <p:nvPr>
            <p:ph type="body" idx="1"/>
          </p:nvPr>
        </p:nvSpPr>
        <p:spPr>
          <a:xfrm>
            <a:off x="2176935" y="-53211"/>
            <a:ext cx="8382000" cy="5385837"/>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sz="2400" b="1"/>
              <a:t> </a:t>
            </a:r>
            <a:endParaRPr sz="2400">
              <a:solidFill>
                <a:schemeClr val="dk1"/>
              </a:solidFill>
              <a:latin typeface="Tahoma"/>
              <a:ea typeface="Tahoma"/>
              <a:cs typeface="Tahoma"/>
              <a:sym typeface="Tahoma"/>
            </a:endParaRPr>
          </a:p>
        </p:txBody>
      </p:sp>
      <p:sp>
        <p:nvSpPr>
          <p:cNvPr id="393" name="Google Shape;393;p51"/>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35</a:t>
            </a:fld>
            <a:endParaRPr sz="900">
              <a:solidFill>
                <a:schemeClr val="accent1"/>
              </a:solidFill>
              <a:latin typeface="Tahoma"/>
              <a:ea typeface="Tahoma"/>
              <a:cs typeface="Tahoma"/>
              <a:sym typeface="Tahoma"/>
            </a:endParaRPr>
          </a:p>
        </p:txBody>
      </p:sp>
      <p:sp>
        <p:nvSpPr>
          <p:cNvPr id="394" name="Google Shape;394;p51"/>
          <p:cNvSpPr txBox="1"/>
          <p:nvPr/>
        </p:nvSpPr>
        <p:spPr>
          <a:xfrm>
            <a:off x="1754372" y="345597"/>
            <a:ext cx="5629409" cy="897785"/>
          </a:xfrm>
          <a:prstGeom prst="rect">
            <a:avLst/>
          </a:prstGeom>
          <a:noFill/>
          <a:ln>
            <a:noFill/>
          </a:ln>
        </p:spPr>
        <p:txBody>
          <a:bodyPr spcFirstLastPara="1" wrap="square" lIns="91425" tIns="45700" rIns="91425" bIns="45700" anchor="ctr" anchorCtr="0">
            <a:noAutofit/>
          </a:bodyPr>
          <a:lstStyle/>
          <a:p>
            <a:pPr marL="0" marR="0" lvl="1" indent="0" algn="l" rtl="0">
              <a:lnSpc>
                <a:spcPct val="80000"/>
              </a:lnSpc>
              <a:spcBef>
                <a:spcPts val="600"/>
              </a:spcBef>
              <a:spcAft>
                <a:spcPts val="0"/>
              </a:spcAft>
              <a:buClr>
                <a:srgbClr val="000000"/>
              </a:buClr>
              <a:buSzPts val="3200"/>
              <a:buFont typeface="Arial"/>
              <a:buNone/>
            </a:pPr>
            <a:r>
              <a:rPr lang="en-US" sz="3200" b="1" i="0" u="none" strike="noStrike" cap="none">
                <a:solidFill>
                  <a:schemeClr val="dk1"/>
                </a:solidFill>
                <a:latin typeface="Federo"/>
                <a:ea typeface="Federo"/>
                <a:cs typeface="Federo"/>
                <a:sym typeface="Federo"/>
              </a:rPr>
              <a:t>Pusingan Kerja (Job Rotation)</a:t>
            </a:r>
            <a:endParaRPr sz="3200" b="1" i="0" u="none" strike="noStrike" cap="none">
              <a:solidFill>
                <a:schemeClr val="dk1"/>
              </a:solidFill>
              <a:latin typeface="Federo"/>
              <a:ea typeface="Federo"/>
              <a:cs typeface="Federo"/>
              <a:sym typeface="Federo"/>
            </a:endParaRPr>
          </a:p>
        </p:txBody>
      </p:sp>
      <p:grpSp>
        <p:nvGrpSpPr>
          <p:cNvPr id="395" name="Google Shape;395;p51"/>
          <p:cNvGrpSpPr/>
          <p:nvPr/>
        </p:nvGrpSpPr>
        <p:grpSpPr>
          <a:xfrm>
            <a:off x="3122599" y="1973098"/>
            <a:ext cx="5809643" cy="4229428"/>
            <a:chOff x="1159178" y="1423"/>
            <a:chExt cx="5809643" cy="4229428"/>
          </a:xfrm>
        </p:grpSpPr>
        <p:sp>
          <p:nvSpPr>
            <p:cNvPr id="396" name="Google Shape;396;p51"/>
            <p:cNvSpPr/>
            <p:nvPr/>
          </p:nvSpPr>
          <p:spPr>
            <a:xfrm>
              <a:off x="2968624" y="1423"/>
              <a:ext cx="2190750" cy="1095375"/>
            </a:xfrm>
            <a:prstGeom prst="roundRect">
              <a:avLst>
                <a:gd name="adj" fmla="val 10000"/>
              </a:avLst>
            </a:prstGeom>
            <a:gradFill>
              <a:gsLst>
                <a:gs pos="0">
                  <a:srgbClr val="C49947"/>
                </a:gs>
                <a:gs pos="50000">
                  <a:srgbClr val="C39000"/>
                </a:gs>
                <a:gs pos="100000">
                  <a:srgbClr val="B48300"/>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7" name="Google Shape;397;p51"/>
            <p:cNvSpPr txBox="1"/>
            <p:nvPr/>
          </p:nvSpPr>
          <p:spPr>
            <a:xfrm>
              <a:off x="3000706" y="33505"/>
              <a:ext cx="2126586" cy="1031211"/>
            </a:xfrm>
            <a:prstGeom prst="rect">
              <a:avLst/>
            </a:prstGeom>
            <a:noFill/>
            <a:ln>
              <a:noFill/>
            </a:ln>
          </p:spPr>
          <p:txBody>
            <a:bodyPr spcFirstLastPara="1" wrap="square" lIns="64750" tIns="64750" rIns="64750" bIns="6475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Calibri"/>
                  <a:ea typeface="Calibri"/>
                  <a:cs typeface="Calibri"/>
                  <a:sym typeface="Calibri"/>
                </a:rPr>
                <a:t>Kerja perkeranian</a:t>
              </a:r>
              <a:endParaRPr sz="2000" b="0" i="0" u="none" strike="noStrike" cap="none">
                <a:solidFill>
                  <a:schemeClr val="dk1"/>
                </a:solidFill>
                <a:latin typeface="Calibri"/>
                <a:ea typeface="Calibri"/>
                <a:cs typeface="Calibri"/>
                <a:sym typeface="Calibri"/>
              </a:endParaRPr>
            </a:p>
            <a:p>
              <a:pPr marL="0" marR="0" lvl="0" indent="0" algn="ctr" rtl="0">
                <a:lnSpc>
                  <a:spcPct val="100000"/>
                </a:lnSpc>
                <a:spcBef>
                  <a:spcPts val="595"/>
                </a:spcBef>
                <a:spcAft>
                  <a:spcPts val="0"/>
                </a:spcAft>
                <a:buClr>
                  <a:srgbClr val="000000"/>
                </a:buClr>
                <a:buSzPts val="2000"/>
                <a:buFont typeface="Arial"/>
                <a:buNone/>
              </a:pPr>
              <a:r>
                <a:rPr lang="en-US" sz="2000" b="1" i="0" u="none" strike="noStrike" cap="none">
                  <a:solidFill>
                    <a:schemeClr val="lt1"/>
                  </a:solidFill>
                  <a:latin typeface="Calibri"/>
                  <a:ea typeface="Calibri"/>
                  <a:cs typeface="Calibri"/>
                  <a:sym typeface="Calibri"/>
                </a:rPr>
                <a:t>(proses bil dan invois)</a:t>
              </a:r>
              <a:endParaRPr sz="2000" b="0" i="0" u="none" strike="noStrike" cap="none">
                <a:solidFill>
                  <a:schemeClr val="dk1"/>
                </a:solidFill>
                <a:latin typeface="Calibri"/>
                <a:ea typeface="Calibri"/>
                <a:cs typeface="Calibri"/>
                <a:sym typeface="Calibri"/>
              </a:endParaRPr>
            </a:p>
          </p:txBody>
        </p:sp>
        <p:sp>
          <p:nvSpPr>
            <p:cNvPr id="398" name="Google Shape;398;p51"/>
            <p:cNvSpPr/>
            <p:nvPr/>
          </p:nvSpPr>
          <p:spPr>
            <a:xfrm rot="3600000">
              <a:off x="4397465" y="1924446"/>
              <a:ext cx="1142514" cy="383381"/>
            </a:xfrm>
            <a:prstGeom prst="leftRightArrow">
              <a:avLst>
                <a:gd name="adj1" fmla="val 60000"/>
                <a:gd name="adj2" fmla="val 50000"/>
              </a:avLst>
            </a:prstGeom>
            <a:gradFill>
              <a:gsLst>
                <a:gs pos="0">
                  <a:srgbClr val="FAC047"/>
                </a:gs>
                <a:gs pos="50000">
                  <a:srgbClr val="FFBD00"/>
                </a:gs>
                <a:gs pos="100000">
                  <a:srgbClr val="E3AC00"/>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9" name="Google Shape;399;p51"/>
            <p:cNvSpPr txBox="1"/>
            <p:nvPr/>
          </p:nvSpPr>
          <p:spPr>
            <a:xfrm rot="3600000">
              <a:off x="4512479" y="2001122"/>
              <a:ext cx="912486" cy="23002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00" name="Google Shape;400;p51"/>
            <p:cNvSpPr/>
            <p:nvPr/>
          </p:nvSpPr>
          <p:spPr>
            <a:xfrm>
              <a:off x="4778071" y="3135476"/>
              <a:ext cx="2190750" cy="1095375"/>
            </a:xfrm>
            <a:prstGeom prst="roundRect">
              <a:avLst>
                <a:gd name="adj" fmla="val 10000"/>
              </a:avLst>
            </a:prstGeom>
            <a:gradFill>
              <a:gsLst>
                <a:gs pos="0">
                  <a:srgbClr val="FFCB73"/>
                </a:gs>
                <a:gs pos="50000">
                  <a:srgbClr val="FFC757"/>
                </a:gs>
                <a:gs pos="100000">
                  <a:srgbClr val="E3B142"/>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1" name="Google Shape;401;p51"/>
            <p:cNvSpPr txBox="1"/>
            <p:nvPr/>
          </p:nvSpPr>
          <p:spPr>
            <a:xfrm>
              <a:off x="4810153" y="3167558"/>
              <a:ext cx="2126586" cy="1031211"/>
            </a:xfrm>
            <a:prstGeom prst="rect">
              <a:avLst/>
            </a:prstGeom>
            <a:noFill/>
            <a:ln>
              <a:noFill/>
            </a:ln>
          </p:spPr>
          <p:txBody>
            <a:bodyPr spcFirstLastPara="1" wrap="square" lIns="64750" tIns="64750" rIns="64750" bIns="6475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Juruwang  (Penerimaan dan Pembayaran )</a:t>
              </a:r>
              <a:endParaRPr sz="2000" b="0" i="0" u="none" strike="noStrike" cap="none">
                <a:solidFill>
                  <a:schemeClr val="dk1"/>
                </a:solidFill>
                <a:latin typeface="Calibri"/>
                <a:ea typeface="Calibri"/>
                <a:cs typeface="Calibri"/>
                <a:sym typeface="Calibri"/>
              </a:endParaRPr>
            </a:p>
          </p:txBody>
        </p:sp>
        <p:sp>
          <p:nvSpPr>
            <p:cNvPr id="402" name="Google Shape;402;p51"/>
            <p:cNvSpPr/>
            <p:nvPr/>
          </p:nvSpPr>
          <p:spPr>
            <a:xfrm rot="10800000">
              <a:off x="3492742" y="3491473"/>
              <a:ext cx="1142514" cy="383381"/>
            </a:xfrm>
            <a:prstGeom prst="leftRightArrow">
              <a:avLst>
                <a:gd name="adj1" fmla="val 60000"/>
                <a:gd name="adj2" fmla="val 50000"/>
              </a:avLst>
            </a:prstGeom>
            <a:gradFill>
              <a:gsLst>
                <a:gs pos="0">
                  <a:srgbClr val="FED288"/>
                </a:gs>
                <a:gs pos="50000">
                  <a:srgbClr val="FECE71"/>
                </a:gs>
                <a:gs pos="100000">
                  <a:srgbClr val="E3B85B"/>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3" name="Google Shape;403;p51"/>
            <p:cNvSpPr txBox="1"/>
            <p:nvPr/>
          </p:nvSpPr>
          <p:spPr>
            <a:xfrm>
              <a:off x="3607756" y="3568149"/>
              <a:ext cx="912486" cy="23002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04" name="Google Shape;404;p51"/>
            <p:cNvSpPr/>
            <p:nvPr/>
          </p:nvSpPr>
          <p:spPr>
            <a:xfrm>
              <a:off x="1159178" y="3135476"/>
              <a:ext cx="2190750" cy="1095375"/>
            </a:xfrm>
            <a:prstGeom prst="roundRect">
              <a:avLst>
                <a:gd name="adj" fmla="val 10000"/>
              </a:avLst>
            </a:prstGeom>
            <a:gradFill>
              <a:gsLst>
                <a:gs pos="0">
                  <a:srgbClr val="FFCB73"/>
                </a:gs>
                <a:gs pos="50000">
                  <a:srgbClr val="FFC757"/>
                </a:gs>
                <a:gs pos="100000">
                  <a:srgbClr val="E3B142"/>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5" name="Google Shape;405;p51"/>
            <p:cNvSpPr txBox="1"/>
            <p:nvPr/>
          </p:nvSpPr>
          <p:spPr>
            <a:xfrm>
              <a:off x="1191260" y="3167558"/>
              <a:ext cx="2126586" cy="1031211"/>
            </a:xfrm>
            <a:prstGeom prst="rect">
              <a:avLst/>
            </a:prstGeom>
            <a:noFill/>
            <a:ln>
              <a:noFill/>
            </a:ln>
          </p:spPr>
          <p:txBody>
            <a:bodyPr spcFirstLastPara="1" wrap="square" lIns="64750" tIns="64750" rIns="64750" bIns="6475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Kerani Stok</a:t>
              </a:r>
              <a:endParaRPr sz="2000" b="0" i="0" u="none" strike="noStrike" cap="none">
                <a:solidFill>
                  <a:schemeClr val="dk1"/>
                </a:solidFill>
                <a:latin typeface="Calibri"/>
                <a:ea typeface="Calibri"/>
                <a:cs typeface="Calibri"/>
                <a:sym typeface="Calibri"/>
              </a:endParaRPr>
            </a:p>
            <a:p>
              <a:pPr marL="0" marR="0" lvl="0" indent="0" algn="ctr" rtl="0">
                <a:lnSpc>
                  <a:spcPct val="100000"/>
                </a:lnSpc>
                <a:spcBef>
                  <a:spcPts val="595"/>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(Pencatit  keluar masuk stok)</a:t>
              </a:r>
              <a:endParaRPr sz="2000" b="0" i="0" u="none" strike="noStrike" cap="none">
                <a:solidFill>
                  <a:schemeClr val="dk1"/>
                </a:solidFill>
                <a:latin typeface="Calibri"/>
                <a:ea typeface="Calibri"/>
                <a:cs typeface="Calibri"/>
                <a:sym typeface="Calibri"/>
              </a:endParaRPr>
            </a:p>
          </p:txBody>
        </p:sp>
        <p:sp>
          <p:nvSpPr>
            <p:cNvPr id="406" name="Google Shape;406;p51"/>
            <p:cNvSpPr/>
            <p:nvPr/>
          </p:nvSpPr>
          <p:spPr>
            <a:xfrm rot="-3600000">
              <a:off x="2588019" y="1924446"/>
              <a:ext cx="1142514" cy="383381"/>
            </a:xfrm>
            <a:prstGeom prst="leftRightArrow">
              <a:avLst>
                <a:gd name="adj1" fmla="val 60000"/>
                <a:gd name="adj2" fmla="val 50000"/>
              </a:avLst>
            </a:prstGeom>
            <a:gradFill>
              <a:gsLst>
                <a:gs pos="0">
                  <a:srgbClr val="FED288"/>
                </a:gs>
                <a:gs pos="50000">
                  <a:srgbClr val="FECE71"/>
                </a:gs>
                <a:gs pos="100000">
                  <a:srgbClr val="E3B85B"/>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7" name="Google Shape;407;p51"/>
            <p:cNvSpPr txBox="1"/>
            <p:nvPr/>
          </p:nvSpPr>
          <p:spPr>
            <a:xfrm rot="-3600000">
              <a:off x="2703033" y="2001122"/>
              <a:ext cx="912486" cy="23002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408" name="Google Shape;408;p51"/>
          <p:cNvSpPr txBox="1"/>
          <p:nvPr/>
        </p:nvSpPr>
        <p:spPr>
          <a:xfrm>
            <a:off x="2751455" y="3571876"/>
            <a:ext cx="2316480" cy="5835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alibri"/>
                <a:ea typeface="Calibri"/>
                <a:cs typeface="Calibri"/>
                <a:sym typeface="Calibri"/>
              </a:rPr>
              <a:t>Pekerja C</a:t>
            </a:r>
            <a:endParaRPr sz="1800" b="0" i="0" u="none" strike="noStrike" cap="none">
              <a:solidFill>
                <a:schemeClr val="dk1"/>
              </a:solidFill>
              <a:latin typeface="Calibri"/>
              <a:ea typeface="Calibri"/>
              <a:cs typeface="Calibri"/>
              <a:sym typeface="Calibri"/>
            </a:endParaRPr>
          </a:p>
        </p:txBody>
      </p:sp>
      <p:sp>
        <p:nvSpPr>
          <p:cNvPr id="409" name="Google Shape;409;p51"/>
          <p:cNvSpPr txBox="1"/>
          <p:nvPr/>
        </p:nvSpPr>
        <p:spPr>
          <a:xfrm>
            <a:off x="4835525" y="6245226"/>
            <a:ext cx="2316480" cy="5835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alibri"/>
                <a:ea typeface="Calibri"/>
                <a:cs typeface="Calibri"/>
                <a:sym typeface="Calibri"/>
              </a:rPr>
              <a:t>Pekerja B</a:t>
            </a:r>
            <a:endParaRPr sz="1800" b="0" i="0" u="none" strike="noStrike" cap="none">
              <a:solidFill>
                <a:schemeClr val="dk1"/>
              </a:solidFill>
              <a:latin typeface="Calibri"/>
              <a:ea typeface="Calibri"/>
              <a:cs typeface="Calibri"/>
              <a:sym typeface="Calibri"/>
            </a:endParaRPr>
          </a:p>
        </p:txBody>
      </p:sp>
      <p:sp>
        <p:nvSpPr>
          <p:cNvPr id="410" name="Google Shape;410;p51"/>
          <p:cNvSpPr txBox="1"/>
          <p:nvPr/>
        </p:nvSpPr>
        <p:spPr>
          <a:xfrm>
            <a:off x="7366635" y="3698876"/>
            <a:ext cx="2316480" cy="5835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alibri"/>
                <a:ea typeface="Calibri"/>
                <a:cs typeface="Calibri"/>
                <a:sym typeface="Calibri"/>
              </a:rPr>
              <a:t>Pekerja A</a:t>
            </a:r>
            <a:endParaRPr sz="1800" b="0" i="0" u="none" strike="noStrike" cap="none">
              <a:solidFill>
                <a:schemeClr val="dk1"/>
              </a:solidFill>
              <a:latin typeface="Calibri"/>
              <a:ea typeface="Calibri"/>
              <a:cs typeface="Calibri"/>
              <a:sym typeface="Calibri"/>
            </a:endParaRPr>
          </a:p>
        </p:txBody>
      </p:sp>
      <p:sp>
        <p:nvSpPr>
          <p:cNvPr id="411" name="Google Shape;411;p51"/>
          <p:cNvSpPr txBox="1"/>
          <p:nvPr/>
        </p:nvSpPr>
        <p:spPr>
          <a:xfrm>
            <a:off x="7734300" y="1033041"/>
            <a:ext cx="3982085" cy="178458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1" u="none" strike="noStrike" cap="none">
                <a:solidFill>
                  <a:schemeClr val="dk1"/>
                </a:solidFill>
                <a:latin typeface="Calibri"/>
                <a:ea typeface="Calibri"/>
                <a:cs typeface="Calibri"/>
                <a:sym typeface="Calibri"/>
              </a:rPr>
              <a:t>*** Pekerja A, B dan C akan bertugas di mana-mana stesyen kerja secara bergilir-gilir   dalam tempoh tertentu</a:t>
            </a:r>
            <a:endParaRPr sz="2400" b="1" i="1"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2"/>
          <p:cNvSpPr txBox="1">
            <a:spLocks noGrp="1"/>
          </p:cNvSpPr>
          <p:nvPr>
            <p:ph type="body" idx="1"/>
          </p:nvPr>
        </p:nvSpPr>
        <p:spPr>
          <a:xfrm>
            <a:off x="2155373" y="533401"/>
            <a:ext cx="8382000" cy="5385837"/>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sz="2400" b="1">
                <a:latin typeface="Federo"/>
                <a:ea typeface="Federo"/>
                <a:cs typeface="Federo"/>
                <a:sym typeface="Federo"/>
              </a:rPr>
              <a:t> </a:t>
            </a:r>
            <a:endParaRPr sz="2400">
              <a:solidFill>
                <a:schemeClr val="dk1"/>
              </a:solidFill>
              <a:latin typeface="Tahoma"/>
              <a:ea typeface="Tahoma"/>
              <a:cs typeface="Tahoma"/>
              <a:sym typeface="Tahoma"/>
            </a:endParaRPr>
          </a:p>
        </p:txBody>
      </p:sp>
      <p:sp>
        <p:nvSpPr>
          <p:cNvPr id="418" name="Google Shape;418;p52"/>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36</a:t>
            </a:fld>
            <a:endParaRPr sz="900">
              <a:solidFill>
                <a:schemeClr val="accent1"/>
              </a:solidFill>
              <a:latin typeface="Tahoma"/>
              <a:ea typeface="Tahoma"/>
              <a:cs typeface="Tahoma"/>
              <a:sym typeface="Tahoma"/>
            </a:endParaRPr>
          </a:p>
        </p:txBody>
      </p:sp>
      <p:sp>
        <p:nvSpPr>
          <p:cNvPr id="419" name="Google Shape;419;p52"/>
          <p:cNvSpPr txBox="1"/>
          <p:nvPr/>
        </p:nvSpPr>
        <p:spPr>
          <a:xfrm>
            <a:off x="2588681" y="1494617"/>
            <a:ext cx="8694737" cy="4829982"/>
          </a:xfrm>
          <a:prstGeom prst="rect">
            <a:avLst/>
          </a:prstGeom>
          <a:noFill/>
          <a:ln>
            <a:noFill/>
          </a:ln>
        </p:spPr>
        <p:txBody>
          <a:bodyPr spcFirstLastPara="1" wrap="square" lIns="91425" tIns="45700" rIns="91425" bIns="45700" anchor="t" anchorCtr="0">
            <a:noAutofit/>
          </a:bodyPr>
          <a:lstStyle/>
          <a:p>
            <a:pPr marL="109220" marR="0" lvl="0" indent="0" algn="l" rtl="0">
              <a:lnSpc>
                <a:spcPct val="8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Peluasan Kerja</a:t>
            </a:r>
            <a:endParaRPr sz="2800" b="1" i="0" u="none" strike="noStrike" cap="none">
              <a:solidFill>
                <a:schemeClr val="dk1"/>
              </a:solidFill>
              <a:latin typeface="Federo"/>
              <a:ea typeface="Federo"/>
              <a:cs typeface="Federo"/>
              <a:sym typeface="Federo"/>
            </a:endParaRPr>
          </a:p>
          <a:p>
            <a:pPr marL="109220" marR="0" lvl="0" indent="0" algn="l" rtl="0">
              <a:lnSpc>
                <a:spcPct val="80000"/>
              </a:lnSpc>
              <a:spcBef>
                <a:spcPts val="1000"/>
              </a:spcBef>
              <a:spcAft>
                <a:spcPts val="0"/>
              </a:spcAft>
              <a:buClr>
                <a:srgbClr val="000000"/>
              </a:buClr>
              <a:buSzPts val="2800"/>
              <a:buFont typeface="Arial"/>
              <a:buNone/>
            </a:pPr>
            <a:endParaRPr sz="2800" b="1" i="0" u="none" strike="noStrike" cap="none">
              <a:solidFill>
                <a:schemeClr val="dk1"/>
              </a:solidFill>
              <a:latin typeface="Federo"/>
              <a:ea typeface="Federo"/>
              <a:cs typeface="Federo"/>
              <a:sym typeface="Federo"/>
            </a:endParaRPr>
          </a:p>
          <a:p>
            <a:pPr marL="566420" marR="0" lvl="0" indent="-457197" algn="l" rtl="0">
              <a:lnSpc>
                <a:spcPct val="80000"/>
              </a:lnSpc>
              <a:spcBef>
                <a:spcPts val="1000"/>
              </a:spcBef>
              <a:spcAft>
                <a:spcPts val="0"/>
              </a:spcAft>
              <a:buClr>
                <a:schemeClr val="accent1"/>
              </a:buClr>
              <a:buSzPts val="2560"/>
              <a:buFont typeface="Noto Sans Symbols"/>
              <a:buChar char="▶"/>
            </a:pPr>
            <a:r>
              <a:rPr lang="en-US" sz="2600" b="0" i="0" u="none" strike="noStrike" cap="none">
                <a:solidFill>
                  <a:schemeClr val="dk1"/>
                </a:solidFill>
                <a:latin typeface="Tahoma"/>
                <a:ea typeface="Tahoma"/>
                <a:cs typeface="Tahoma"/>
                <a:sym typeface="Tahoma"/>
              </a:rPr>
              <a:t>Kerja dikembangkan secara horizontal dengan menambah skop tugas.</a:t>
            </a:r>
            <a:endParaRPr sz="1800" b="0" i="0" u="none" strike="noStrike" cap="none">
              <a:solidFill>
                <a:schemeClr val="dk1"/>
              </a:solidFill>
              <a:latin typeface="Calibri"/>
              <a:ea typeface="Calibri"/>
              <a:cs typeface="Calibri"/>
              <a:sym typeface="Calibri"/>
            </a:endParaRPr>
          </a:p>
          <a:p>
            <a:pPr marL="566420" marR="0" lvl="0" indent="-457197" algn="l" rtl="0">
              <a:lnSpc>
                <a:spcPct val="80000"/>
              </a:lnSpc>
              <a:spcBef>
                <a:spcPts val="1000"/>
              </a:spcBef>
              <a:spcAft>
                <a:spcPts val="0"/>
              </a:spcAft>
              <a:buClr>
                <a:schemeClr val="accent1"/>
              </a:buClr>
              <a:buSzPts val="2560"/>
              <a:buFont typeface="Noto Sans Symbols"/>
              <a:buChar char="▶"/>
            </a:pPr>
            <a:r>
              <a:rPr lang="en-US" sz="2600" b="0" i="0" u="none" strike="noStrike" cap="none">
                <a:solidFill>
                  <a:schemeClr val="dk1"/>
                </a:solidFill>
                <a:latin typeface="Tahoma"/>
                <a:ea typeface="Tahoma"/>
                <a:cs typeface="Tahoma"/>
                <a:sym typeface="Tahoma"/>
              </a:rPr>
              <a:t>Proses menyatukan beberapa tugas yang menggunakan kemahiran yang sama bagi membentuk satu kerja baru dengan aktiviti yang lebih meluas.</a:t>
            </a:r>
            <a:endParaRPr sz="2600" b="0" i="0" u="none" strike="noStrike" cap="none">
              <a:solidFill>
                <a:schemeClr val="dk1"/>
              </a:solidFill>
              <a:latin typeface="Tahoma"/>
              <a:ea typeface="Tahoma"/>
              <a:cs typeface="Tahoma"/>
              <a:sym typeface="Tahoma"/>
            </a:endParaRPr>
          </a:p>
          <a:p>
            <a:pPr marL="566420" marR="0" lvl="0" indent="-457197" algn="l" rtl="0">
              <a:lnSpc>
                <a:spcPct val="80000"/>
              </a:lnSpc>
              <a:spcBef>
                <a:spcPts val="1000"/>
              </a:spcBef>
              <a:spcAft>
                <a:spcPts val="0"/>
              </a:spcAft>
              <a:buClr>
                <a:schemeClr val="accent1"/>
              </a:buClr>
              <a:buSzPts val="2560"/>
              <a:buFont typeface="Noto Sans Symbols"/>
              <a:buChar char="▶"/>
            </a:pPr>
            <a:r>
              <a:rPr lang="en-US" sz="2600" b="0" i="0" u="none" strike="noStrike" cap="none">
                <a:solidFill>
                  <a:schemeClr val="dk1"/>
                </a:solidFill>
                <a:latin typeface="Tahoma"/>
                <a:ea typeface="Tahoma"/>
                <a:cs typeface="Tahoma"/>
                <a:sym typeface="Tahoma"/>
              </a:rPr>
              <a:t>Pekerja akan bertanggungjawab mengawal dua atau tiga tugas dalam satu masa.</a:t>
            </a:r>
            <a:endParaRPr sz="2600" b="0" i="0" u="none" strike="noStrike" cap="none">
              <a:solidFill>
                <a:schemeClr val="dk1"/>
              </a:solidFill>
              <a:latin typeface="Tahoma"/>
              <a:ea typeface="Tahoma"/>
              <a:cs typeface="Tahoma"/>
              <a:sym typeface="Tahoma"/>
            </a:endParaRPr>
          </a:p>
          <a:p>
            <a:pPr marL="566420" marR="0" lvl="0" indent="-457197" algn="l" rtl="0">
              <a:lnSpc>
                <a:spcPct val="80000"/>
              </a:lnSpc>
              <a:spcBef>
                <a:spcPts val="1000"/>
              </a:spcBef>
              <a:spcAft>
                <a:spcPts val="0"/>
              </a:spcAft>
              <a:buClr>
                <a:schemeClr val="accent1"/>
              </a:buClr>
              <a:buSzPts val="2560"/>
              <a:buFont typeface="Noto Sans Symbols"/>
              <a:buChar char="▶"/>
            </a:pPr>
            <a:r>
              <a:rPr lang="en-US" sz="2600" b="0" i="0" u="none" strike="noStrike" cap="none">
                <a:solidFill>
                  <a:schemeClr val="dk1"/>
                </a:solidFill>
                <a:latin typeface="Tahoma"/>
                <a:ea typeface="Tahoma"/>
                <a:cs typeface="Tahoma"/>
                <a:sym typeface="Tahoma"/>
              </a:rPr>
              <a:t>Dengan menambahkan kepelbagaian tugas ia dapat mengurangkan kebosanan disamping meningkatkan kecekapan.</a:t>
            </a:r>
            <a:endParaRPr sz="2600" b="0" i="0" u="none" strike="noStrike" cap="none">
              <a:solidFill>
                <a:schemeClr val="dk1"/>
              </a:solidFill>
              <a:latin typeface="Tahoma"/>
              <a:ea typeface="Tahoma"/>
              <a:cs typeface="Tahoma"/>
              <a:sym typeface="Tahoma"/>
            </a:endParaRPr>
          </a:p>
        </p:txBody>
      </p:sp>
      <p:sp>
        <p:nvSpPr>
          <p:cNvPr id="420" name="Google Shape;420;p52"/>
          <p:cNvSpPr/>
          <p:nvPr/>
        </p:nvSpPr>
        <p:spPr>
          <a:xfrm>
            <a:off x="2279118" y="1125774"/>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2</a:t>
            </a:r>
            <a:endParaRPr sz="1800" b="1" i="0" u="none" strike="noStrike" cap="none">
              <a:solidFill>
                <a:schemeClr val="lt1"/>
              </a:solidFill>
              <a:latin typeface="Calibri"/>
              <a:ea typeface="Calibri"/>
              <a:cs typeface="Calibri"/>
              <a:sym typeface="Calibri"/>
            </a:endParaRPr>
          </a:p>
        </p:txBody>
      </p:sp>
      <p:sp>
        <p:nvSpPr>
          <p:cNvPr id="421" name="Google Shape;421;p52"/>
          <p:cNvSpPr txBox="1"/>
          <p:nvPr/>
        </p:nvSpPr>
        <p:spPr>
          <a:xfrm>
            <a:off x="1532915" y="251057"/>
            <a:ext cx="6096000" cy="523220"/>
          </a:xfrm>
          <a:prstGeom prst="rect">
            <a:avLst/>
          </a:prstGeom>
          <a:noFill/>
          <a:ln>
            <a:noFill/>
          </a:ln>
        </p:spPr>
        <p:txBody>
          <a:bodyPr spcFirstLastPara="1" wrap="square" lIns="91425" tIns="45700" rIns="91425" bIns="45700" anchor="t" anchorCtr="0">
            <a:spAutoFit/>
          </a:bodyPr>
          <a:lstStyle/>
          <a:p>
            <a:pPr marL="6350" marR="0" lvl="0" indent="0" algn="just" rtl="0">
              <a:lnSpc>
                <a:spcPct val="100000"/>
              </a:lnSpc>
              <a:spcBef>
                <a:spcPts val="0"/>
              </a:spcBef>
              <a:spcAft>
                <a:spcPts val="0"/>
              </a:spcAft>
              <a:buClr>
                <a:schemeClr val="dk1"/>
              </a:buClr>
              <a:buSzPts val="2400"/>
              <a:buFont typeface="Calibri"/>
              <a:buNone/>
            </a:pPr>
            <a:r>
              <a:rPr lang="en-US" sz="2800" b="1" i="0" u="none" strike="noStrike" cap="none">
                <a:solidFill>
                  <a:schemeClr val="dk1"/>
                </a:solidFill>
                <a:latin typeface="Calibri"/>
                <a:ea typeface="Calibri"/>
                <a:cs typeface="Calibri"/>
                <a:sym typeface="Calibri"/>
              </a:rPr>
              <a:t>ii.Rekabentuk Kerja (Job Design)</a:t>
            </a:r>
            <a:endParaRPr sz="2800" b="0" i="0" u="none" strike="noStrike" cap="none">
              <a:solidFill>
                <a:schemeClr val="dk1"/>
              </a:solidFill>
              <a:latin typeface="Tahoma"/>
              <a:ea typeface="Tahoma"/>
              <a:cs typeface="Tahoma"/>
              <a:sym typeface="Tahoma"/>
            </a:endParaRPr>
          </a:p>
        </p:txBody>
      </p:sp>
      <p:pic>
        <p:nvPicPr>
          <p:cNvPr id="422" name="Google Shape;422;p52"/>
          <p:cNvPicPr preferRelativeResize="0"/>
          <p:nvPr/>
        </p:nvPicPr>
        <p:blipFill rotWithShape="1">
          <a:blip r:embed="rId3">
            <a:alphaModFix/>
          </a:blip>
          <a:srcRect/>
          <a:stretch/>
        </p:blipFill>
        <p:spPr>
          <a:xfrm>
            <a:off x="8477249" y="107948"/>
            <a:ext cx="3552215" cy="203565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7">
                                            <p:txEl>
                                              <p:pRg st="0" end="0"/>
                                            </p:txEl>
                                          </p:spTgt>
                                        </p:tgtEl>
                                        <p:attrNameLst>
                                          <p:attrName>style.visibility</p:attrName>
                                        </p:attrNameLst>
                                      </p:cBhvr>
                                      <p:to>
                                        <p:strVal val="visible"/>
                                      </p:to>
                                    </p:set>
                                    <p:animEffect transition="in" filter="fade">
                                      <p:cBhvr>
                                        <p:cTn id="7" dur="500"/>
                                        <p:tgtEl>
                                          <p:spTgt spid="4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9">
                                            <p:txEl>
                                              <p:pRg st="0" end="0"/>
                                            </p:txEl>
                                          </p:spTgt>
                                        </p:tgtEl>
                                        <p:attrNameLst>
                                          <p:attrName>style.visibility</p:attrName>
                                        </p:attrNameLst>
                                      </p:cBhvr>
                                      <p:to>
                                        <p:strVal val="visible"/>
                                      </p:to>
                                    </p:set>
                                    <p:animEffect transition="in" filter="fade">
                                      <p:cBhvr>
                                        <p:cTn id="12" dur="500"/>
                                        <p:tgtEl>
                                          <p:spTgt spid="4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9">
                                            <p:txEl>
                                              <p:pRg st="1" end="1"/>
                                            </p:txEl>
                                          </p:spTgt>
                                        </p:tgtEl>
                                        <p:attrNameLst>
                                          <p:attrName>style.visibility</p:attrName>
                                        </p:attrNameLst>
                                      </p:cBhvr>
                                      <p:to>
                                        <p:strVal val="visible"/>
                                      </p:to>
                                    </p:set>
                                    <p:animEffect transition="in" filter="fade">
                                      <p:cBhvr>
                                        <p:cTn id="17" dur="500"/>
                                        <p:tgtEl>
                                          <p:spTgt spid="41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9">
                                            <p:txEl>
                                              <p:pRg st="2" end="2"/>
                                            </p:txEl>
                                          </p:spTgt>
                                        </p:tgtEl>
                                        <p:attrNameLst>
                                          <p:attrName>style.visibility</p:attrName>
                                        </p:attrNameLst>
                                      </p:cBhvr>
                                      <p:to>
                                        <p:strVal val="visible"/>
                                      </p:to>
                                    </p:set>
                                    <p:animEffect transition="in" filter="fade">
                                      <p:cBhvr>
                                        <p:cTn id="22" dur="500"/>
                                        <p:tgtEl>
                                          <p:spTgt spid="41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9">
                                            <p:txEl>
                                              <p:pRg st="3" end="3"/>
                                            </p:txEl>
                                          </p:spTgt>
                                        </p:tgtEl>
                                        <p:attrNameLst>
                                          <p:attrName>style.visibility</p:attrName>
                                        </p:attrNameLst>
                                      </p:cBhvr>
                                      <p:to>
                                        <p:strVal val="visible"/>
                                      </p:to>
                                    </p:set>
                                    <p:animEffect transition="in" filter="fade">
                                      <p:cBhvr>
                                        <p:cTn id="27" dur="500"/>
                                        <p:tgtEl>
                                          <p:spTgt spid="41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9">
                                            <p:txEl>
                                              <p:pRg st="4" end="4"/>
                                            </p:txEl>
                                          </p:spTgt>
                                        </p:tgtEl>
                                        <p:attrNameLst>
                                          <p:attrName>style.visibility</p:attrName>
                                        </p:attrNameLst>
                                      </p:cBhvr>
                                      <p:to>
                                        <p:strVal val="visible"/>
                                      </p:to>
                                    </p:set>
                                    <p:animEffect transition="in" filter="fade">
                                      <p:cBhvr>
                                        <p:cTn id="32" dur="500"/>
                                        <p:tgtEl>
                                          <p:spTgt spid="41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9">
                                            <p:txEl>
                                              <p:pRg st="5" end="5"/>
                                            </p:txEl>
                                          </p:spTgt>
                                        </p:tgtEl>
                                        <p:attrNameLst>
                                          <p:attrName>style.visibility</p:attrName>
                                        </p:attrNameLst>
                                      </p:cBhvr>
                                      <p:to>
                                        <p:strVal val="visible"/>
                                      </p:to>
                                    </p:set>
                                    <p:animEffect transition="in" filter="fade">
                                      <p:cBhvr>
                                        <p:cTn id="37" dur="500"/>
                                        <p:tgtEl>
                                          <p:spTgt spid="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3"/>
          <p:cNvSpPr txBox="1">
            <a:spLocks noGrp="1"/>
          </p:cNvSpPr>
          <p:nvPr>
            <p:ph type="body" idx="1"/>
          </p:nvPr>
        </p:nvSpPr>
        <p:spPr>
          <a:xfrm>
            <a:off x="2003425" y="608600"/>
            <a:ext cx="8878800" cy="6044400"/>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endParaRPr sz="2400" b="1">
              <a:solidFill>
                <a:schemeClr val="dk1"/>
              </a:solidFill>
              <a:latin typeface="Federo"/>
              <a:ea typeface="Federo"/>
              <a:cs typeface="Federo"/>
              <a:sym typeface="Federo"/>
            </a:endParaRPr>
          </a:p>
          <a:p>
            <a:pPr marL="6350" lvl="0" indent="0" algn="just" rtl="0">
              <a:lnSpc>
                <a:spcPct val="90000"/>
              </a:lnSpc>
              <a:spcBef>
                <a:spcPts val="600"/>
              </a:spcBef>
              <a:spcAft>
                <a:spcPts val="0"/>
              </a:spcAft>
              <a:buClr>
                <a:schemeClr val="dk1"/>
              </a:buClr>
              <a:buSzPts val="2800"/>
              <a:buNone/>
            </a:pPr>
            <a:endParaRPr b="1">
              <a:solidFill>
                <a:schemeClr val="dk1"/>
              </a:solidFill>
              <a:latin typeface="Federo"/>
              <a:ea typeface="Federo"/>
              <a:cs typeface="Federo"/>
              <a:sym typeface="Federo"/>
            </a:endParaRPr>
          </a:p>
        </p:txBody>
      </p:sp>
      <p:sp>
        <p:nvSpPr>
          <p:cNvPr id="429" name="Google Shape;429;p53"/>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37</a:t>
            </a:fld>
            <a:endParaRPr sz="900">
              <a:solidFill>
                <a:schemeClr val="accent1"/>
              </a:solidFill>
              <a:latin typeface="Tahoma"/>
              <a:ea typeface="Tahoma"/>
              <a:cs typeface="Tahoma"/>
              <a:sym typeface="Tahoma"/>
            </a:endParaRPr>
          </a:p>
        </p:txBody>
      </p:sp>
      <p:sp>
        <p:nvSpPr>
          <p:cNvPr id="430" name="Google Shape;430;p53"/>
          <p:cNvSpPr txBox="1"/>
          <p:nvPr/>
        </p:nvSpPr>
        <p:spPr>
          <a:xfrm>
            <a:off x="4191000" y="366800"/>
            <a:ext cx="8001000" cy="2081057"/>
          </a:xfrm>
          <a:prstGeom prst="rect">
            <a:avLst/>
          </a:prstGeom>
          <a:noFill/>
          <a:ln>
            <a:noFill/>
          </a:ln>
        </p:spPr>
        <p:txBody>
          <a:bodyPr spcFirstLastPara="1" wrap="square" lIns="91425" tIns="45700" rIns="91425" bIns="45700" anchor="t" anchorCtr="0">
            <a:noAutofit/>
          </a:bodyPr>
          <a:lstStyle/>
          <a:p>
            <a:pPr marL="8255" marR="0" lvl="0" indent="635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Contoh</a:t>
            </a:r>
            <a:r>
              <a:rPr lang="en-US" sz="2800" b="0" i="0" u="none" strike="noStrike" cap="none">
                <a:solidFill>
                  <a:schemeClr val="dk1"/>
                </a:solidFill>
                <a:latin typeface="Calibri"/>
                <a:ea typeface="Calibri"/>
                <a:cs typeface="Calibri"/>
                <a:sym typeface="Calibri"/>
              </a:rPr>
              <a:t>: Di sebuah Pusat Jualan Proton, seorang Eksekutif Jualan menjalankan tugas melatih pekerja baru. Beliau juga bertugas sebagai perunding pelanggan dan sambil  membuat juga penyelidikan pemasaran.</a:t>
            </a:r>
            <a:endParaRPr sz="1400" b="0" i="0" u="none" strike="noStrike" cap="none">
              <a:solidFill>
                <a:srgbClr val="000000"/>
              </a:solidFill>
              <a:latin typeface="Calibri"/>
              <a:ea typeface="Calibri"/>
              <a:cs typeface="Calibri"/>
              <a:sym typeface="Calibri"/>
            </a:endParaRPr>
          </a:p>
        </p:txBody>
      </p:sp>
      <p:grpSp>
        <p:nvGrpSpPr>
          <p:cNvPr id="431" name="Google Shape;431;p53"/>
          <p:cNvGrpSpPr/>
          <p:nvPr/>
        </p:nvGrpSpPr>
        <p:grpSpPr>
          <a:xfrm>
            <a:off x="3423401" y="2810006"/>
            <a:ext cx="8113712" cy="1281112"/>
            <a:chOff x="7143" y="333533"/>
            <a:chExt cx="8113712" cy="1281112"/>
          </a:xfrm>
        </p:grpSpPr>
        <p:sp>
          <p:nvSpPr>
            <p:cNvPr id="432" name="Google Shape;432;p53"/>
            <p:cNvSpPr/>
            <p:nvPr/>
          </p:nvSpPr>
          <p:spPr>
            <a:xfrm>
              <a:off x="7143" y="333533"/>
              <a:ext cx="2135187" cy="1281112"/>
            </a:xfrm>
            <a:prstGeom prst="roundRect">
              <a:avLst>
                <a:gd name="adj" fmla="val 10000"/>
              </a:avLst>
            </a:prstGeom>
            <a:gradFill>
              <a:gsLst>
                <a:gs pos="0">
                  <a:srgbClr val="AFAFAF"/>
                </a:gs>
                <a:gs pos="50000">
                  <a:schemeClr val="accent3"/>
                </a:gs>
                <a:gs pos="100000">
                  <a:srgbClr val="919191"/>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3" name="Google Shape;433;p53"/>
            <p:cNvSpPr txBox="1"/>
            <p:nvPr/>
          </p:nvSpPr>
          <p:spPr>
            <a:xfrm>
              <a:off x="44665" y="371055"/>
              <a:ext cx="2060143" cy="120606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ahoma"/>
                  <a:ea typeface="Tahoma"/>
                  <a:cs typeface="Tahoma"/>
                  <a:sym typeface="Tahoma"/>
                </a:rPr>
                <a:t>Latihan Pekerja Baru</a:t>
              </a:r>
              <a:endParaRPr sz="1800" b="0" i="0" u="none" strike="noStrike" cap="none">
                <a:solidFill>
                  <a:schemeClr val="dk1"/>
                </a:solidFill>
                <a:latin typeface="Calibri"/>
                <a:ea typeface="Calibri"/>
                <a:cs typeface="Calibri"/>
                <a:sym typeface="Calibri"/>
              </a:endParaRPr>
            </a:p>
          </p:txBody>
        </p:sp>
        <p:sp>
          <p:nvSpPr>
            <p:cNvPr id="434" name="Google Shape;434;p53"/>
            <p:cNvSpPr/>
            <p:nvPr/>
          </p:nvSpPr>
          <p:spPr>
            <a:xfrm>
              <a:off x="2355850" y="709326"/>
              <a:ext cx="452659" cy="529526"/>
            </a:xfrm>
            <a:prstGeom prst="rightArrow">
              <a:avLst>
                <a:gd name="adj1" fmla="val 60000"/>
                <a:gd name="adj2" fmla="val 50000"/>
              </a:avLst>
            </a:prstGeom>
            <a:gradFill>
              <a:gsLst>
                <a:gs pos="0">
                  <a:srgbClr val="AFAFAF"/>
                </a:gs>
                <a:gs pos="50000">
                  <a:schemeClr val="accent3"/>
                </a:gs>
                <a:gs pos="100000">
                  <a:srgbClr val="919191"/>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5" name="Google Shape;435;p53"/>
            <p:cNvSpPr txBox="1"/>
            <p:nvPr/>
          </p:nvSpPr>
          <p:spPr>
            <a:xfrm>
              <a:off x="2355850" y="815231"/>
              <a:ext cx="316861" cy="3177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436" name="Google Shape;436;p53"/>
            <p:cNvSpPr/>
            <p:nvPr/>
          </p:nvSpPr>
          <p:spPr>
            <a:xfrm>
              <a:off x="2996406" y="333533"/>
              <a:ext cx="2135187" cy="1281112"/>
            </a:xfrm>
            <a:prstGeom prst="roundRect">
              <a:avLst>
                <a:gd name="adj" fmla="val 10000"/>
              </a:avLst>
            </a:prstGeom>
            <a:gradFill>
              <a:gsLst>
                <a:gs pos="0">
                  <a:srgbClr val="CE7070"/>
                </a:gs>
                <a:gs pos="50000">
                  <a:srgbClr val="CD5455"/>
                </a:gs>
                <a:gs pos="100000">
                  <a:srgbClr val="BB4343"/>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7" name="Google Shape;437;p53"/>
            <p:cNvSpPr txBox="1"/>
            <p:nvPr/>
          </p:nvSpPr>
          <p:spPr>
            <a:xfrm>
              <a:off x="3033928" y="371055"/>
              <a:ext cx="2060143" cy="120606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ahoma"/>
                  <a:ea typeface="Tahoma"/>
                  <a:cs typeface="Tahoma"/>
                  <a:sym typeface="Tahoma"/>
                </a:rPr>
                <a:t>Perunding Pelanggan</a:t>
              </a:r>
              <a:endParaRPr sz="1800" b="0" i="0" u="none" strike="noStrike" cap="none">
                <a:solidFill>
                  <a:schemeClr val="dk1"/>
                </a:solidFill>
                <a:latin typeface="Calibri"/>
                <a:ea typeface="Calibri"/>
                <a:cs typeface="Calibri"/>
                <a:sym typeface="Calibri"/>
              </a:endParaRPr>
            </a:p>
          </p:txBody>
        </p:sp>
        <p:sp>
          <p:nvSpPr>
            <p:cNvPr id="438" name="Google Shape;438;p53"/>
            <p:cNvSpPr/>
            <p:nvPr/>
          </p:nvSpPr>
          <p:spPr>
            <a:xfrm>
              <a:off x="5345112" y="709326"/>
              <a:ext cx="452659" cy="529526"/>
            </a:xfrm>
            <a:prstGeom prst="rightArrow">
              <a:avLst>
                <a:gd name="adj1" fmla="val 60000"/>
                <a:gd name="adj2" fmla="val 50000"/>
              </a:avLst>
            </a:prstGeom>
            <a:gradFill>
              <a:gsLst>
                <a:gs pos="0">
                  <a:srgbClr val="FF4747"/>
                </a:gs>
                <a:gs pos="50000">
                  <a:srgbClr val="FF0000"/>
                </a:gs>
                <a:gs pos="100000">
                  <a:srgbClr val="E30000"/>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9" name="Google Shape;439;p53"/>
            <p:cNvSpPr txBox="1"/>
            <p:nvPr/>
          </p:nvSpPr>
          <p:spPr>
            <a:xfrm>
              <a:off x="5345112" y="815231"/>
              <a:ext cx="316861" cy="3177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2200"/>
                <a:buFont typeface="Arial"/>
                <a:buNone/>
              </a:pPr>
              <a:endParaRPr sz="2200" b="0" i="0" u="none" strike="noStrike" cap="none">
                <a:solidFill>
                  <a:schemeClr val="lt1"/>
                </a:solidFill>
                <a:latin typeface="Calibri"/>
                <a:ea typeface="Calibri"/>
                <a:cs typeface="Calibri"/>
                <a:sym typeface="Calibri"/>
              </a:endParaRPr>
            </a:p>
          </p:txBody>
        </p:sp>
        <p:sp>
          <p:nvSpPr>
            <p:cNvPr id="440" name="Google Shape;440;p53"/>
            <p:cNvSpPr/>
            <p:nvPr/>
          </p:nvSpPr>
          <p:spPr>
            <a:xfrm>
              <a:off x="5985668" y="333533"/>
              <a:ext cx="2135187" cy="1281112"/>
            </a:xfrm>
            <a:prstGeom prst="roundRect">
              <a:avLst>
                <a:gd name="adj" fmla="val 10000"/>
              </a:avLst>
            </a:prstGeom>
            <a:gradFill>
              <a:gsLst>
                <a:gs pos="0">
                  <a:srgbClr val="FF4747"/>
                </a:gs>
                <a:gs pos="50000">
                  <a:srgbClr val="FF0000"/>
                </a:gs>
                <a:gs pos="100000">
                  <a:srgbClr val="E30000"/>
                </a:gs>
              </a:gsLst>
              <a:lin ang="5400000" scaled="0"/>
            </a:gradFill>
            <a:ln>
              <a:noFill/>
            </a:ln>
            <a:effectLst>
              <a:outerShdw blurRad="57150" dist="19050" dir="5400000" algn="ctr" rotWithShape="0">
                <a:srgbClr val="000000">
                  <a:alpha val="6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41" name="Google Shape;441;p53"/>
            <p:cNvSpPr txBox="1"/>
            <p:nvPr/>
          </p:nvSpPr>
          <p:spPr>
            <a:xfrm>
              <a:off x="6023190" y="371055"/>
              <a:ext cx="2060143" cy="1206068"/>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D8D8D8"/>
                  </a:solidFill>
                  <a:latin typeface="Tahoma"/>
                  <a:ea typeface="Tahoma"/>
                  <a:cs typeface="Tahoma"/>
                  <a:sym typeface="Tahoma"/>
                </a:rPr>
                <a:t>Penyelidikan Pemasaran</a:t>
              </a:r>
              <a:endParaRPr sz="1800" b="0" i="0" u="none" strike="noStrike" cap="none">
                <a:solidFill>
                  <a:schemeClr val="dk1"/>
                </a:solidFill>
                <a:latin typeface="Calibri"/>
                <a:ea typeface="Calibri"/>
                <a:cs typeface="Calibri"/>
                <a:sym typeface="Calibri"/>
              </a:endParaRPr>
            </a:p>
          </p:txBody>
        </p:sp>
      </p:grpSp>
      <p:sp>
        <p:nvSpPr>
          <p:cNvPr id="442" name="Google Shape;442;p53"/>
          <p:cNvSpPr txBox="1"/>
          <p:nvPr/>
        </p:nvSpPr>
        <p:spPr>
          <a:xfrm>
            <a:off x="5695547" y="4839547"/>
            <a:ext cx="3722370" cy="662465"/>
          </a:xfrm>
          <a:prstGeom prst="rect">
            <a:avLst/>
          </a:prstGeom>
          <a:noFill/>
          <a:ln w="12700" cap="flat" cmpd="sng">
            <a:solidFill>
              <a:srgbClr val="31538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Eksekutif Jualan A</a:t>
            </a:r>
            <a:endParaRPr sz="1800" b="0" i="0" u="none" strike="noStrike" cap="none">
              <a:solidFill>
                <a:schemeClr val="dk1"/>
              </a:solidFill>
              <a:latin typeface="Calibri"/>
              <a:ea typeface="Calibri"/>
              <a:cs typeface="Calibri"/>
              <a:sym typeface="Calibri"/>
            </a:endParaRPr>
          </a:p>
        </p:txBody>
      </p:sp>
      <p:sp>
        <p:nvSpPr>
          <p:cNvPr id="443" name="Google Shape;443;p53"/>
          <p:cNvSpPr/>
          <p:nvPr/>
        </p:nvSpPr>
        <p:spPr>
          <a:xfrm rot="-2245519" flipH="1">
            <a:off x="5791257" y="3140847"/>
            <a:ext cx="859322" cy="1751041"/>
          </a:xfrm>
          <a:prstGeom prst="upArrow">
            <a:avLst>
              <a:gd name="adj1" fmla="val 64052"/>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 name="Google Shape;444;p53"/>
          <p:cNvSpPr/>
          <p:nvPr/>
        </p:nvSpPr>
        <p:spPr>
          <a:xfrm flipH="1">
            <a:off x="7251932" y="4201172"/>
            <a:ext cx="609600" cy="528320"/>
          </a:xfrm>
          <a:prstGeom prst="upArrow">
            <a:avLst>
              <a:gd name="adj1" fmla="val 64052"/>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 name="Google Shape;445;p53"/>
          <p:cNvSpPr/>
          <p:nvPr/>
        </p:nvSpPr>
        <p:spPr>
          <a:xfrm rot="2100000">
            <a:off x="8443164" y="3065812"/>
            <a:ext cx="823488" cy="1750517"/>
          </a:xfrm>
          <a:prstGeom prst="upArrow">
            <a:avLst>
              <a:gd name="adj1" fmla="val 64052"/>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46" name="Google Shape;446;p53"/>
          <p:cNvPicPr preferRelativeResize="0"/>
          <p:nvPr/>
        </p:nvPicPr>
        <p:blipFill rotWithShape="1">
          <a:blip r:embed="rId3">
            <a:alphaModFix/>
          </a:blip>
          <a:srcRect/>
          <a:stretch/>
        </p:blipFill>
        <p:spPr>
          <a:xfrm>
            <a:off x="-15964" y="4333875"/>
            <a:ext cx="3931742" cy="25241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4"/>
          <p:cNvSpPr txBox="1">
            <a:spLocks noGrp="1"/>
          </p:cNvSpPr>
          <p:nvPr>
            <p:ph type="body" idx="1"/>
          </p:nvPr>
        </p:nvSpPr>
        <p:spPr>
          <a:xfrm>
            <a:off x="2152650" y="457201"/>
            <a:ext cx="8382000" cy="1524000"/>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sz="2400" b="1"/>
              <a:t> </a:t>
            </a:r>
            <a:r>
              <a:rPr lang="en-US" sz="2400">
                <a:solidFill>
                  <a:schemeClr val="dk1"/>
                </a:solidFill>
                <a:latin typeface="Tahoma"/>
                <a:ea typeface="Tahoma"/>
                <a:cs typeface="Tahoma"/>
                <a:sym typeface="Tahoma"/>
              </a:rPr>
              <a:t>     </a:t>
            </a:r>
            <a:endParaRPr/>
          </a:p>
          <a:p>
            <a:pPr marL="6350" lvl="0" indent="0" algn="just" rtl="0">
              <a:lnSpc>
                <a:spcPct val="90000"/>
              </a:lnSpc>
              <a:spcBef>
                <a:spcPts val="600"/>
              </a:spcBef>
              <a:spcAft>
                <a:spcPts val="0"/>
              </a:spcAft>
              <a:buClr>
                <a:schemeClr val="dk1"/>
              </a:buClr>
              <a:buSzPts val="2400"/>
              <a:buNone/>
            </a:pPr>
            <a:r>
              <a:rPr lang="en-US" sz="2400" b="1">
                <a:solidFill>
                  <a:schemeClr val="dk1"/>
                </a:solidFill>
                <a:latin typeface="Federo"/>
                <a:ea typeface="Federo"/>
                <a:cs typeface="Federo"/>
                <a:sym typeface="Federo"/>
              </a:rPr>
              <a:t>       </a:t>
            </a:r>
            <a:r>
              <a:rPr lang="en-US" b="1">
                <a:solidFill>
                  <a:schemeClr val="dk1"/>
                </a:solidFill>
                <a:latin typeface="Federo"/>
                <a:ea typeface="Federo"/>
                <a:cs typeface="Federo"/>
                <a:sym typeface="Federo"/>
              </a:rPr>
              <a:t>Pengkayaan Kerja</a:t>
            </a:r>
            <a:endParaRPr/>
          </a:p>
        </p:txBody>
      </p:sp>
      <p:sp>
        <p:nvSpPr>
          <p:cNvPr id="453" name="Google Shape;453;p54"/>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38</a:t>
            </a:fld>
            <a:endParaRPr sz="900">
              <a:solidFill>
                <a:schemeClr val="accent1"/>
              </a:solidFill>
              <a:latin typeface="Tahoma"/>
              <a:ea typeface="Tahoma"/>
              <a:cs typeface="Tahoma"/>
              <a:sym typeface="Tahoma"/>
            </a:endParaRPr>
          </a:p>
        </p:txBody>
      </p:sp>
      <p:sp>
        <p:nvSpPr>
          <p:cNvPr id="454" name="Google Shape;454;p54"/>
          <p:cNvSpPr txBox="1"/>
          <p:nvPr/>
        </p:nvSpPr>
        <p:spPr>
          <a:xfrm>
            <a:off x="2152650" y="1511937"/>
            <a:ext cx="9585694" cy="4839335"/>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000000"/>
              </a:buClr>
              <a:buSzPts val="2600"/>
              <a:buFont typeface="Arial"/>
              <a:buNone/>
            </a:pPr>
            <a:endParaRPr sz="2600" b="0" i="0" u="none" strike="noStrike" cap="none">
              <a:solidFill>
                <a:schemeClr val="dk1"/>
              </a:solidFill>
              <a:latin typeface="Tahoma"/>
              <a:ea typeface="Tahoma"/>
              <a:cs typeface="Tahoma"/>
              <a:sym typeface="Tahoma"/>
            </a:endParaRPr>
          </a:p>
          <a:p>
            <a:pPr marL="457200" marR="0" lvl="0" indent="-457200" algn="l" rtl="0">
              <a:lnSpc>
                <a:spcPct val="80000"/>
              </a:lnSpc>
              <a:spcBef>
                <a:spcPts val="600"/>
              </a:spcBef>
              <a:spcAft>
                <a:spcPts val="0"/>
              </a:spcAft>
              <a:buClr>
                <a:schemeClr val="accent1"/>
              </a:buClr>
              <a:buSzPts val="2240"/>
              <a:buFont typeface="Arial"/>
              <a:buChar char="•"/>
            </a:pPr>
            <a:r>
              <a:rPr lang="en-US" sz="2600" b="0" i="0" u="none" strike="noStrike" cap="none">
                <a:solidFill>
                  <a:schemeClr val="dk1"/>
                </a:solidFill>
                <a:latin typeface="Tahoma"/>
                <a:ea typeface="Tahoma"/>
                <a:cs typeface="Tahoma"/>
                <a:sym typeface="Tahoma"/>
              </a:rPr>
              <a:t>Kerja dikembangkan secara vertikal dengan menambah </a:t>
            </a:r>
            <a:endParaRPr sz="2600" b="0" i="0" u="none" strike="noStrike" cap="none">
              <a:solidFill>
                <a:schemeClr val="dk1"/>
              </a:solidFill>
              <a:latin typeface="Calibri"/>
              <a:ea typeface="Calibri"/>
              <a:cs typeface="Calibri"/>
              <a:sym typeface="Calibri"/>
            </a:endParaRPr>
          </a:p>
          <a:p>
            <a:pPr marL="0" marR="0" lvl="0" indent="0" algn="l" rtl="0">
              <a:lnSpc>
                <a:spcPct val="80000"/>
              </a:lnSpc>
              <a:spcBef>
                <a:spcPts val="600"/>
              </a:spcBef>
              <a:spcAft>
                <a:spcPts val="0"/>
              </a:spcAft>
              <a:buClr>
                <a:srgbClr val="000000"/>
              </a:buClr>
              <a:buSzPts val="2600"/>
              <a:buFont typeface="Arial"/>
              <a:buNone/>
            </a:pPr>
            <a:r>
              <a:rPr lang="en-US" sz="2600" b="0" i="0" u="none" strike="noStrike" cap="none">
                <a:solidFill>
                  <a:schemeClr val="dk1"/>
                </a:solidFill>
                <a:latin typeface="Tahoma"/>
                <a:ea typeface="Tahoma"/>
                <a:cs typeface="Tahoma"/>
                <a:sym typeface="Tahoma"/>
              </a:rPr>
              <a:t>     tanggungjawab untuk merancang dan menilai. </a:t>
            </a:r>
            <a:endParaRPr sz="2600" b="0" i="0" u="none" strike="noStrike" cap="none">
              <a:solidFill>
                <a:schemeClr val="dk1"/>
              </a:solidFill>
              <a:latin typeface="Calibri"/>
              <a:ea typeface="Calibri"/>
              <a:cs typeface="Calibri"/>
              <a:sym typeface="Calibri"/>
            </a:endParaRPr>
          </a:p>
          <a:p>
            <a:pPr marL="457200" marR="0" lvl="0" indent="-457200" algn="l" rtl="0">
              <a:lnSpc>
                <a:spcPct val="80000"/>
              </a:lnSpc>
              <a:spcBef>
                <a:spcPts val="600"/>
              </a:spcBef>
              <a:spcAft>
                <a:spcPts val="0"/>
              </a:spcAft>
              <a:buClr>
                <a:schemeClr val="accent1"/>
              </a:buClr>
              <a:buSzPts val="2240"/>
              <a:buFont typeface="Arial"/>
              <a:buChar char="•"/>
            </a:pPr>
            <a:r>
              <a:rPr lang="en-US" sz="2600" b="0" i="0" u="none" strike="noStrike" cap="none">
                <a:solidFill>
                  <a:schemeClr val="dk1"/>
                </a:solidFill>
                <a:latin typeface="Tahoma"/>
                <a:ea typeface="Tahoma"/>
                <a:cs typeface="Tahoma"/>
                <a:sym typeface="Tahoma"/>
              </a:rPr>
              <a:t>Ia meningkatkan kedalaman kerja iaitu sebanyak mana kawalan seseorang pekerja ke atas kerja mereka  sehingga selesai. </a:t>
            </a:r>
            <a:endParaRPr sz="2600" b="0" i="0" u="none" strike="noStrike" cap="none">
              <a:solidFill>
                <a:schemeClr val="dk1"/>
              </a:solidFill>
              <a:latin typeface="Calibri"/>
              <a:ea typeface="Calibri"/>
              <a:cs typeface="Calibri"/>
              <a:sym typeface="Calibri"/>
            </a:endParaRPr>
          </a:p>
          <a:p>
            <a:pPr marL="457200" marR="0" lvl="0" indent="-457200" algn="l" rtl="0">
              <a:lnSpc>
                <a:spcPct val="80000"/>
              </a:lnSpc>
              <a:spcBef>
                <a:spcPts val="600"/>
              </a:spcBef>
              <a:spcAft>
                <a:spcPts val="0"/>
              </a:spcAft>
              <a:buClr>
                <a:schemeClr val="accent1"/>
              </a:buClr>
              <a:buSzPts val="2240"/>
              <a:buFont typeface="Arial"/>
              <a:buChar char="•"/>
            </a:pPr>
            <a:r>
              <a:rPr lang="en-US" sz="2600" b="0" i="0" u="none" strike="noStrike" cap="none">
                <a:solidFill>
                  <a:schemeClr val="dk1"/>
                </a:solidFill>
                <a:latin typeface="Tahoma"/>
                <a:ea typeface="Tahoma"/>
                <a:cs typeface="Tahoma"/>
                <a:sym typeface="Tahoma"/>
              </a:rPr>
              <a:t>Pekerja diberi kuasa untuk membuat andaian beberapa tugas yang biasanya dilakukan oleh pengurus mereka.</a:t>
            </a:r>
            <a:endParaRPr sz="2600" b="0" i="0" u="none" strike="noStrike" cap="none">
              <a:solidFill>
                <a:schemeClr val="dk1"/>
              </a:solidFill>
              <a:latin typeface="Calibri"/>
              <a:ea typeface="Calibri"/>
              <a:cs typeface="Calibri"/>
              <a:sym typeface="Calibri"/>
            </a:endParaRPr>
          </a:p>
          <a:p>
            <a:pPr marL="457200" marR="0" lvl="0" indent="-457200" algn="l" rtl="0">
              <a:lnSpc>
                <a:spcPct val="80000"/>
              </a:lnSpc>
              <a:spcBef>
                <a:spcPts val="600"/>
              </a:spcBef>
              <a:spcAft>
                <a:spcPts val="0"/>
              </a:spcAft>
              <a:buClr>
                <a:schemeClr val="accent1"/>
              </a:buClr>
              <a:buSzPts val="2240"/>
              <a:buFont typeface="Arial"/>
              <a:buChar char="•"/>
            </a:pPr>
            <a:r>
              <a:rPr lang="en-US" sz="2600" b="0" i="0" u="none" strike="noStrike" cap="none">
                <a:solidFill>
                  <a:schemeClr val="dk1"/>
                </a:solidFill>
                <a:latin typeface="Tahoma"/>
                <a:ea typeface="Tahoma"/>
                <a:cs typeface="Tahoma"/>
                <a:sym typeface="Tahoma"/>
              </a:rPr>
              <a:t>Ia membenarkan pekerja melaksanakan seluruh aktiviti dengan bebas, berdikari dan bertanggungjawab. </a:t>
            </a:r>
            <a:endParaRPr sz="2600" b="0" i="0" u="none" strike="noStrike" cap="none">
              <a:solidFill>
                <a:schemeClr val="dk1"/>
              </a:solidFill>
              <a:latin typeface="Calibri"/>
              <a:ea typeface="Calibri"/>
              <a:cs typeface="Calibri"/>
              <a:sym typeface="Calibri"/>
            </a:endParaRPr>
          </a:p>
          <a:p>
            <a:pPr marL="457200" marR="0" lvl="0" indent="-457200" algn="l" rtl="0">
              <a:lnSpc>
                <a:spcPct val="80000"/>
              </a:lnSpc>
              <a:spcBef>
                <a:spcPts val="600"/>
              </a:spcBef>
              <a:spcAft>
                <a:spcPts val="0"/>
              </a:spcAft>
              <a:buClr>
                <a:schemeClr val="accent1"/>
              </a:buClr>
              <a:buSzPts val="2240"/>
              <a:buFont typeface="Arial"/>
              <a:buChar char="•"/>
            </a:pPr>
            <a:r>
              <a:rPr lang="en-US" sz="2600" b="0" i="0" u="none" strike="noStrike" cap="none">
                <a:solidFill>
                  <a:schemeClr val="dk1"/>
                </a:solidFill>
                <a:latin typeface="Tahoma"/>
                <a:ea typeface="Tahoma"/>
                <a:cs typeface="Tahoma"/>
                <a:sym typeface="Tahoma"/>
              </a:rPr>
              <a:t>Contoh, pengurus perkhidmatan penerbangan diberi </a:t>
            </a:r>
            <a:r>
              <a:rPr lang="en-US" sz="2600" b="0" i="0" u="none" strike="noStrike" cap="none">
                <a:solidFill>
                  <a:srgbClr val="C00000"/>
                </a:solidFill>
                <a:latin typeface="Tahoma"/>
                <a:ea typeface="Tahoma"/>
                <a:cs typeface="Tahoma"/>
                <a:sym typeface="Tahoma"/>
              </a:rPr>
              <a:t>lebih tanggungjawab dan kuasa</a:t>
            </a:r>
            <a:r>
              <a:rPr lang="en-US" sz="2600" b="0" i="0" u="none" strike="noStrike" cap="none">
                <a:solidFill>
                  <a:schemeClr val="dk1"/>
                </a:solidFill>
                <a:latin typeface="Tahoma"/>
                <a:ea typeface="Tahoma"/>
                <a:cs typeface="Tahoma"/>
                <a:sym typeface="Tahoma"/>
              </a:rPr>
              <a:t> dalam mengagihkan tugas-tugas kepada krew penerbangan.</a:t>
            </a:r>
            <a:endParaRPr sz="2600" b="0" i="0" u="none" strike="noStrike" cap="none">
              <a:solidFill>
                <a:schemeClr val="dk1"/>
              </a:solidFill>
              <a:latin typeface="Tahoma"/>
              <a:ea typeface="Tahoma"/>
              <a:cs typeface="Tahoma"/>
              <a:sym typeface="Tahoma"/>
            </a:endParaRPr>
          </a:p>
          <a:p>
            <a:pPr marL="342900" marR="0" lvl="0" indent="-200660" algn="l" rtl="0">
              <a:lnSpc>
                <a:spcPct val="100000"/>
              </a:lnSpc>
              <a:spcBef>
                <a:spcPts val="600"/>
              </a:spcBef>
              <a:spcAft>
                <a:spcPts val="0"/>
              </a:spcAft>
              <a:buClr>
                <a:srgbClr val="000000"/>
              </a:buClr>
              <a:buSzPts val="2600"/>
              <a:buFont typeface="Arial"/>
              <a:buNone/>
            </a:pPr>
            <a:endParaRPr sz="2600" b="0" i="0" u="none" strike="noStrike" cap="none">
              <a:solidFill>
                <a:schemeClr val="dk1"/>
              </a:solidFill>
              <a:latin typeface="Tahoma"/>
              <a:ea typeface="Tahoma"/>
              <a:cs typeface="Tahoma"/>
              <a:sym typeface="Tahoma"/>
            </a:endParaRPr>
          </a:p>
        </p:txBody>
      </p:sp>
      <p:sp>
        <p:nvSpPr>
          <p:cNvPr id="455" name="Google Shape;455;p54"/>
          <p:cNvSpPr/>
          <p:nvPr/>
        </p:nvSpPr>
        <p:spPr>
          <a:xfrm>
            <a:off x="2079942" y="698819"/>
            <a:ext cx="619125" cy="571500"/>
          </a:xfrm>
          <a:prstGeom prst="diamond">
            <a:avLst/>
          </a:prstGeom>
          <a:solidFill>
            <a:srgbClr val="54813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3</a:t>
            </a:r>
            <a:endParaRPr sz="1800" b="1" i="0" u="none" strike="noStrike" cap="none">
              <a:solidFill>
                <a:schemeClr val="lt1"/>
              </a:solidFill>
              <a:latin typeface="Calibri"/>
              <a:ea typeface="Calibri"/>
              <a:cs typeface="Calibri"/>
              <a:sym typeface="Calibri"/>
            </a:endParaRPr>
          </a:p>
        </p:txBody>
      </p:sp>
      <p:sp>
        <p:nvSpPr>
          <p:cNvPr id="456" name="Google Shape;456;p54"/>
          <p:cNvSpPr txBox="1"/>
          <p:nvPr/>
        </p:nvSpPr>
        <p:spPr>
          <a:xfrm>
            <a:off x="2276475" y="208678"/>
            <a:ext cx="6096000" cy="523220"/>
          </a:xfrm>
          <a:prstGeom prst="rect">
            <a:avLst/>
          </a:prstGeom>
          <a:noFill/>
          <a:ln>
            <a:noFill/>
          </a:ln>
        </p:spPr>
        <p:txBody>
          <a:bodyPr spcFirstLastPara="1" wrap="square" lIns="91425" tIns="45700" rIns="91425" bIns="45700" anchor="t" anchorCtr="0">
            <a:spAutoFit/>
          </a:bodyPr>
          <a:lstStyle/>
          <a:p>
            <a:pPr marL="6350" marR="0" lvl="0" indent="0" algn="just" rtl="0">
              <a:lnSpc>
                <a:spcPct val="100000"/>
              </a:lnSpc>
              <a:spcBef>
                <a:spcPts val="0"/>
              </a:spcBef>
              <a:spcAft>
                <a:spcPts val="0"/>
              </a:spcAft>
              <a:buClr>
                <a:schemeClr val="dk1"/>
              </a:buClr>
              <a:buSzPts val="2400"/>
              <a:buFont typeface="Calibri"/>
              <a:buNone/>
            </a:pPr>
            <a:r>
              <a:rPr lang="en-US" sz="2800" b="1" i="0" u="none" strike="noStrike" cap="none">
                <a:solidFill>
                  <a:schemeClr val="dk1"/>
                </a:solidFill>
                <a:latin typeface="Calibri"/>
                <a:ea typeface="Calibri"/>
                <a:cs typeface="Calibri"/>
                <a:sym typeface="Calibri"/>
              </a:rPr>
              <a:t>ii.Rekabentuk Kerja (Job Design)</a:t>
            </a:r>
            <a:endParaRPr sz="2800" b="0" i="0" u="none" strike="noStrike" cap="none">
              <a:solidFill>
                <a:schemeClr val="dk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2">
                                            <p:txEl>
                                              <p:pRg st="0" end="0"/>
                                            </p:txEl>
                                          </p:spTgt>
                                        </p:tgtEl>
                                        <p:attrNameLst>
                                          <p:attrName>style.visibility</p:attrName>
                                        </p:attrNameLst>
                                      </p:cBhvr>
                                      <p:to>
                                        <p:strVal val="visible"/>
                                      </p:to>
                                    </p:set>
                                    <p:animEffect transition="in" filter="fade">
                                      <p:cBhvr>
                                        <p:cTn id="7" dur="500"/>
                                        <p:tgtEl>
                                          <p:spTgt spid="4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2">
                                            <p:txEl>
                                              <p:pRg st="1" end="1"/>
                                            </p:txEl>
                                          </p:spTgt>
                                        </p:tgtEl>
                                        <p:attrNameLst>
                                          <p:attrName>style.visibility</p:attrName>
                                        </p:attrNameLst>
                                      </p:cBhvr>
                                      <p:to>
                                        <p:strVal val="visible"/>
                                      </p:to>
                                    </p:set>
                                    <p:animEffect transition="in" filter="fade">
                                      <p:cBhvr>
                                        <p:cTn id="12" dur="500"/>
                                        <p:tgtEl>
                                          <p:spTgt spid="45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5"/>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39</a:t>
            </a:fld>
            <a:endParaRPr sz="900">
              <a:solidFill>
                <a:schemeClr val="accent1"/>
              </a:solidFill>
              <a:latin typeface="Tahoma"/>
              <a:ea typeface="Tahoma"/>
              <a:cs typeface="Tahoma"/>
              <a:sym typeface="Tahoma"/>
            </a:endParaRPr>
          </a:p>
        </p:txBody>
      </p:sp>
      <p:sp>
        <p:nvSpPr>
          <p:cNvPr id="463" name="Google Shape;463;p55"/>
          <p:cNvSpPr txBox="1"/>
          <p:nvPr/>
        </p:nvSpPr>
        <p:spPr>
          <a:xfrm>
            <a:off x="4294212" y="958805"/>
            <a:ext cx="3076483" cy="523220"/>
          </a:xfrm>
          <a:prstGeom prst="rect">
            <a:avLst/>
          </a:prstGeom>
          <a:noFill/>
          <a:ln>
            <a:noFill/>
          </a:ln>
        </p:spPr>
        <p:txBody>
          <a:bodyPr spcFirstLastPara="1" wrap="square" lIns="91425" tIns="45700" rIns="91425" bIns="45700" anchor="t" anchorCtr="0">
            <a:noAutofit/>
          </a:bodyPr>
          <a:lstStyle/>
          <a:p>
            <a:pPr marL="6350" marR="0" lvl="0" indent="0" algn="just"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Federo"/>
                <a:ea typeface="Federo"/>
                <a:cs typeface="Federo"/>
                <a:sym typeface="Federo"/>
              </a:rPr>
              <a:t>Pengkayaan Kerja</a:t>
            </a:r>
            <a:endParaRPr sz="1800" b="0" i="0" u="none" strike="noStrike" cap="none">
              <a:solidFill>
                <a:schemeClr val="dk1"/>
              </a:solidFill>
              <a:latin typeface="Calibri"/>
              <a:ea typeface="Calibri"/>
              <a:cs typeface="Calibri"/>
              <a:sym typeface="Calibri"/>
            </a:endParaRPr>
          </a:p>
        </p:txBody>
      </p:sp>
      <p:sp>
        <p:nvSpPr>
          <p:cNvPr id="464" name="Google Shape;464;p55"/>
          <p:cNvSpPr txBox="1"/>
          <p:nvPr/>
        </p:nvSpPr>
        <p:spPr>
          <a:xfrm>
            <a:off x="3895681" y="3242944"/>
            <a:ext cx="2113280" cy="829945"/>
          </a:xfrm>
          <a:prstGeom prst="rect">
            <a:avLst/>
          </a:prstGeom>
          <a:solidFill>
            <a:srgbClr val="385623"/>
          </a:solidFill>
          <a:ln>
            <a:noFill/>
          </a:ln>
          <a:effectLst>
            <a:outerShdw blurRad="44450" dist="27940" dir="5400000" algn="ctr">
              <a:srgbClr val="000000">
                <a:alpha val="31372"/>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Tahoma"/>
                <a:ea typeface="Tahoma"/>
                <a:cs typeface="Tahoma"/>
                <a:sym typeface="Tahoma"/>
              </a:rPr>
              <a:t>Pegawai</a:t>
            </a:r>
            <a:endParaRPr sz="18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Tahoma"/>
                <a:ea typeface="Tahoma"/>
                <a:cs typeface="Tahoma"/>
                <a:sym typeface="Tahoma"/>
              </a:rPr>
              <a:t>Pemasaran</a:t>
            </a:r>
            <a:endParaRPr sz="1800" b="0" i="0" u="none" strike="noStrike" cap="none">
              <a:solidFill>
                <a:schemeClr val="lt1"/>
              </a:solidFill>
              <a:latin typeface="Calibri"/>
              <a:ea typeface="Calibri"/>
              <a:cs typeface="Calibri"/>
              <a:sym typeface="Calibri"/>
            </a:endParaRPr>
          </a:p>
        </p:txBody>
      </p:sp>
      <p:sp>
        <p:nvSpPr>
          <p:cNvPr id="465" name="Google Shape;465;p55"/>
          <p:cNvSpPr txBox="1"/>
          <p:nvPr/>
        </p:nvSpPr>
        <p:spPr>
          <a:xfrm>
            <a:off x="7981950" y="2257425"/>
            <a:ext cx="2574290" cy="561974"/>
          </a:xfrm>
          <a:prstGeom prst="rect">
            <a:avLst/>
          </a:prstGeom>
          <a:solidFill>
            <a:srgbClr val="A8D08C"/>
          </a:solidFill>
          <a:ln>
            <a:noFill/>
          </a:ln>
          <a:effectLst>
            <a:outerShdw blurRad="44450" dist="27940" dir="5400000" algn="ctr">
              <a:srgbClr val="000000">
                <a:alpha val="31372"/>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Staff Pemasaran</a:t>
            </a:r>
            <a:endParaRPr sz="2400" b="0" i="0" u="none" strike="noStrike" cap="none">
              <a:solidFill>
                <a:schemeClr val="dk1"/>
              </a:solidFill>
              <a:latin typeface="Calibri"/>
              <a:ea typeface="Calibri"/>
              <a:cs typeface="Calibri"/>
              <a:sym typeface="Calibri"/>
            </a:endParaRPr>
          </a:p>
        </p:txBody>
      </p:sp>
      <p:sp>
        <p:nvSpPr>
          <p:cNvPr id="466" name="Google Shape;466;p55"/>
          <p:cNvSpPr txBox="1"/>
          <p:nvPr/>
        </p:nvSpPr>
        <p:spPr>
          <a:xfrm>
            <a:off x="8089265" y="3329305"/>
            <a:ext cx="2574290" cy="557529"/>
          </a:xfrm>
          <a:prstGeom prst="rect">
            <a:avLst/>
          </a:prstGeom>
          <a:solidFill>
            <a:srgbClr val="FF6699"/>
          </a:solidFill>
          <a:ln>
            <a:noFill/>
          </a:ln>
          <a:effectLst>
            <a:outerShdw blurRad="44450" dist="27940" dir="5400000" algn="ctr">
              <a:srgbClr val="000000">
                <a:alpha val="31372"/>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Staff Promosi</a:t>
            </a:r>
            <a:endParaRPr sz="2400" b="0" i="0" u="none" strike="noStrike" cap="none">
              <a:solidFill>
                <a:schemeClr val="dk1"/>
              </a:solidFill>
              <a:latin typeface="Calibri"/>
              <a:ea typeface="Calibri"/>
              <a:cs typeface="Calibri"/>
              <a:sym typeface="Calibri"/>
            </a:endParaRPr>
          </a:p>
        </p:txBody>
      </p:sp>
      <p:sp>
        <p:nvSpPr>
          <p:cNvPr id="467" name="Google Shape;467;p55"/>
          <p:cNvSpPr txBox="1"/>
          <p:nvPr/>
        </p:nvSpPr>
        <p:spPr>
          <a:xfrm>
            <a:off x="8097135" y="4396740"/>
            <a:ext cx="2574290" cy="545007"/>
          </a:xfrm>
          <a:prstGeom prst="rect">
            <a:avLst/>
          </a:prstGeom>
          <a:solidFill>
            <a:srgbClr val="F4B081"/>
          </a:solidFill>
          <a:ln>
            <a:noFill/>
          </a:ln>
          <a:effectLst>
            <a:outerShdw blurRad="44450" dist="27940" dir="5400000" algn="ctr">
              <a:srgbClr val="000000">
                <a:alpha val="31372"/>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Staff Jualan</a:t>
            </a:r>
            <a:endParaRPr sz="2400" b="0" i="0" u="none" strike="noStrike" cap="none">
              <a:solidFill>
                <a:schemeClr val="dk1"/>
              </a:solidFill>
              <a:latin typeface="Calibri"/>
              <a:ea typeface="Calibri"/>
              <a:cs typeface="Calibri"/>
              <a:sym typeface="Calibri"/>
            </a:endParaRPr>
          </a:p>
        </p:txBody>
      </p:sp>
      <p:sp>
        <p:nvSpPr>
          <p:cNvPr id="468" name="Google Shape;468;p55"/>
          <p:cNvSpPr/>
          <p:nvPr/>
        </p:nvSpPr>
        <p:spPr>
          <a:xfrm rot="1560000">
            <a:off x="6531097" y="4286252"/>
            <a:ext cx="919480" cy="478155"/>
          </a:xfrm>
          <a:prstGeom prst="rightArrow">
            <a:avLst>
              <a:gd name="adj1" fmla="val 465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 name="Google Shape;469;p55"/>
          <p:cNvSpPr/>
          <p:nvPr/>
        </p:nvSpPr>
        <p:spPr>
          <a:xfrm>
            <a:off x="6589373" y="3429000"/>
            <a:ext cx="919480" cy="457835"/>
          </a:xfrm>
          <a:prstGeom prst="rightArrow">
            <a:avLst>
              <a:gd name="adj1" fmla="val 465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 name="Google Shape;470;p55"/>
          <p:cNvSpPr/>
          <p:nvPr/>
        </p:nvSpPr>
        <p:spPr>
          <a:xfrm rot="-1080000">
            <a:off x="6541135" y="2535151"/>
            <a:ext cx="919480" cy="457835"/>
          </a:xfrm>
          <a:prstGeom prst="rightArrow">
            <a:avLst>
              <a:gd name="adj1" fmla="val 465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71" name="Google Shape;471;p55"/>
          <p:cNvPicPr preferRelativeResize="0"/>
          <p:nvPr/>
        </p:nvPicPr>
        <p:blipFill rotWithShape="1">
          <a:blip r:embed="rId3">
            <a:alphaModFix/>
          </a:blip>
          <a:srcRect/>
          <a:stretch/>
        </p:blipFill>
        <p:spPr>
          <a:xfrm>
            <a:off x="0" y="4941747"/>
            <a:ext cx="2814638" cy="1933575"/>
          </a:xfrm>
          <a:prstGeom prst="rect">
            <a:avLst/>
          </a:prstGeom>
          <a:noFill/>
          <a:ln>
            <a:noFill/>
          </a:ln>
        </p:spPr>
      </p:pic>
      <p:pic>
        <p:nvPicPr>
          <p:cNvPr id="472" name="Google Shape;472;p55"/>
          <p:cNvPicPr preferRelativeResize="0"/>
          <p:nvPr/>
        </p:nvPicPr>
        <p:blipFill rotWithShape="1">
          <a:blip r:embed="rId4">
            <a:alphaModFix/>
          </a:blip>
          <a:srcRect/>
          <a:stretch/>
        </p:blipFill>
        <p:spPr>
          <a:xfrm>
            <a:off x="638175" y="3222624"/>
            <a:ext cx="3016888" cy="19335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6"/>
          <p:cNvSpPr txBox="1">
            <a:spLocks noGrp="1"/>
          </p:cNvSpPr>
          <p:nvPr>
            <p:ph type="body" idx="1"/>
          </p:nvPr>
        </p:nvSpPr>
        <p:spPr>
          <a:xfrm>
            <a:off x="2724151" y="501648"/>
            <a:ext cx="7753350" cy="880745"/>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b="1"/>
              <a:t> iii. </a:t>
            </a:r>
            <a:r>
              <a:rPr lang="en-US" b="1">
                <a:latin typeface="Federo"/>
                <a:ea typeface="Federo"/>
                <a:cs typeface="Federo"/>
                <a:sym typeface="Federo"/>
              </a:rPr>
              <a:t>Kualiti Suasana Kerja (KSK)</a:t>
            </a:r>
            <a:endParaRPr b="1">
              <a:solidFill>
                <a:schemeClr val="dk1"/>
              </a:solidFill>
              <a:latin typeface="Federo"/>
              <a:ea typeface="Federo"/>
              <a:cs typeface="Federo"/>
              <a:sym typeface="Federo"/>
            </a:endParaRPr>
          </a:p>
          <a:p>
            <a:pPr marL="6350" lvl="0" indent="0" algn="just" rtl="0">
              <a:lnSpc>
                <a:spcPct val="90000"/>
              </a:lnSpc>
              <a:spcBef>
                <a:spcPts val="600"/>
              </a:spcBef>
              <a:spcAft>
                <a:spcPts val="0"/>
              </a:spcAft>
              <a:buClr>
                <a:schemeClr val="dk1"/>
              </a:buClr>
              <a:buSzPts val="2400"/>
              <a:buNone/>
            </a:pPr>
            <a:r>
              <a:rPr lang="en-US">
                <a:solidFill>
                  <a:schemeClr val="dk1"/>
                </a:solidFill>
                <a:latin typeface="Tahoma"/>
                <a:ea typeface="Tahoma"/>
                <a:cs typeface="Tahoma"/>
                <a:sym typeface="Tahoma"/>
              </a:rPr>
              <a:t>     </a:t>
            </a:r>
            <a:endParaRPr b="1">
              <a:solidFill>
                <a:schemeClr val="dk1"/>
              </a:solidFill>
              <a:latin typeface="Federo"/>
              <a:ea typeface="Federo"/>
              <a:cs typeface="Federo"/>
              <a:sym typeface="Federo"/>
            </a:endParaRPr>
          </a:p>
        </p:txBody>
      </p:sp>
      <p:sp>
        <p:nvSpPr>
          <p:cNvPr id="479" name="Google Shape;479;p56"/>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40</a:t>
            </a:fld>
            <a:endParaRPr sz="900">
              <a:solidFill>
                <a:schemeClr val="accent1"/>
              </a:solidFill>
              <a:latin typeface="Tahoma"/>
              <a:ea typeface="Tahoma"/>
              <a:cs typeface="Tahoma"/>
              <a:sym typeface="Tahoma"/>
            </a:endParaRPr>
          </a:p>
        </p:txBody>
      </p:sp>
      <p:sp>
        <p:nvSpPr>
          <p:cNvPr id="480" name="Google Shape;480;p56"/>
          <p:cNvSpPr txBox="1"/>
          <p:nvPr/>
        </p:nvSpPr>
        <p:spPr>
          <a:xfrm>
            <a:off x="3200398" y="1164415"/>
            <a:ext cx="8761229" cy="4800450"/>
          </a:xfrm>
          <a:prstGeom prst="rect">
            <a:avLst/>
          </a:prstGeom>
          <a:noFill/>
          <a:ln>
            <a:noFill/>
          </a:ln>
        </p:spPr>
        <p:txBody>
          <a:bodyPr spcFirstLastPara="1" wrap="square" lIns="91425" tIns="45700" rIns="91425" bIns="45700" anchor="t" anchorCtr="0">
            <a:noAutofit/>
          </a:bodyPr>
          <a:lstStyle/>
          <a:p>
            <a:pPr marL="396875" marR="0" lvl="0" indent="-342900" algn="l" rtl="0">
              <a:lnSpc>
                <a:spcPct val="100000"/>
              </a:lnSpc>
              <a:spcBef>
                <a:spcPts val="0"/>
              </a:spcBef>
              <a:spcAft>
                <a:spcPts val="0"/>
              </a:spcAft>
              <a:buClr>
                <a:schemeClr val="accent1"/>
              </a:buClr>
              <a:buSzPts val="1920"/>
              <a:buFont typeface="Arial"/>
              <a:buChar char="•"/>
            </a:pPr>
            <a:r>
              <a:rPr lang="en-US" sz="2600" b="0" i="0" u="none" strike="noStrike" cap="none">
                <a:solidFill>
                  <a:srgbClr val="404040"/>
                </a:solidFill>
                <a:latin typeface="Tahoma"/>
                <a:ea typeface="Tahoma"/>
                <a:cs typeface="Tahoma"/>
                <a:sym typeface="Tahoma"/>
              </a:rPr>
              <a:t>Melibatkan usaha mewujudkan suasana bekerja untuk meningkatkan motivasi pekerja, kepuasan dan komitmen sebagai faktor yang boleh menyumbang kepada peningkatan prestasi organisasi.</a:t>
            </a:r>
            <a:endParaRPr sz="2600" b="0" i="0" u="none" strike="noStrike" cap="none">
              <a:solidFill>
                <a:srgbClr val="3F3F3F"/>
              </a:solidFill>
              <a:latin typeface="Tahoma"/>
              <a:ea typeface="Tahoma"/>
              <a:cs typeface="Tahoma"/>
              <a:sym typeface="Tahoma"/>
            </a:endParaRPr>
          </a:p>
          <a:p>
            <a:pPr marL="396875" marR="0" lvl="0" indent="-342900" algn="just" rtl="0">
              <a:lnSpc>
                <a:spcPct val="100000"/>
              </a:lnSpc>
              <a:spcBef>
                <a:spcPts val="1000"/>
              </a:spcBef>
              <a:spcAft>
                <a:spcPts val="0"/>
              </a:spcAft>
              <a:buClr>
                <a:schemeClr val="accent1"/>
              </a:buClr>
              <a:buSzPts val="2240"/>
              <a:buFont typeface="Arial"/>
              <a:buChar char="•"/>
            </a:pPr>
            <a:r>
              <a:rPr lang="en-US" sz="2600" b="0" i="0" u="none" strike="noStrike" cap="none">
                <a:solidFill>
                  <a:srgbClr val="404040"/>
                </a:solidFill>
                <a:latin typeface="Tahoma"/>
                <a:ea typeface="Tahoma"/>
                <a:cs typeface="Tahoma"/>
                <a:sym typeface="Tahoma"/>
              </a:rPr>
              <a:t>Secara khususnya KSK merupakan cara untuk meningkatkan output organisasi dan memperbaiki kualiti dengan melibatkan pekerja dalam membuat keputusan yang boleh memberi kesan kepada pekerjaan mereka. </a:t>
            </a:r>
            <a:endParaRPr sz="2600" b="0" i="0" u="none" strike="noStrike" cap="none">
              <a:solidFill>
                <a:schemeClr val="dk2"/>
              </a:solidFill>
              <a:latin typeface="Tahoma"/>
              <a:ea typeface="Tahoma"/>
              <a:cs typeface="Tahoma"/>
              <a:sym typeface="Tahoma"/>
            </a:endParaRPr>
          </a:p>
          <a:p>
            <a:pPr marL="396875" marR="0" lvl="0" indent="-342900" algn="just" rtl="0">
              <a:lnSpc>
                <a:spcPct val="100000"/>
              </a:lnSpc>
              <a:spcBef>
                <a:spcPts val="1000"/>
              </a:spcBef>
              <a:spcAft>
                <a:spcPts val="0"/>
              </a:spcAft>
              <a:buClr>
                <a:schemeClr val="accent1"/>
              </a:buClr>
              <a:buSzPts val="2240"/>
              <a:buFont typeface="Arial"/>
              <a:buChar char="•"/>
            </a:pPr>
            <a:r>
              <a:rPr lang="en-US" sz="2600" b="0" i="0" u="none" strike="noStrike" cap="none">
                <a:solidFill>
                  <a:srgbClr val="000000"/>
                </a:solidFill>
                <a:latin typeface="Tahoma"/>
                <a:ea typeface="Tahoma"/>
                <a:cs typeface="Tahoma"/>
                <a:sym typeface="Tahoma"/>
              </a:rPr>
              <a:t>Pendekatan KSK dibentuk untuk membantu pekerja merasa seronok dengan diri, kerja dan organisasi mereka</a:t>
            </a:r>
            <a:endParaRPr sz="2600" b="0" i="0" u="none" strike="noStrike" cap="none">
              <a:solidFill>
                <a:srgbClr val="3F3F3F"/>
              </a:solidFill>
              <a:latin typeface="Tahoma"/>
              <a:ea typeface="Tahoma"/>
              <a:cs typeface="Tahoma"/>
              <a:sym typeface="Tahoma"/>
            </a:endParaRPr>
          </a:p>
        </p:txBody>
      </p:sp>
      <p:pic>
        <p:nvPicPr>
          <p:cNvPr id="481" name="Google Shape;481;p56"/>
          <p:cNvPicPr preferRelativeResize="0"/>
          <p:nvPr/>
        </p:nvPicPr>
        <p:blipFill rotWithShape="1">
          <a:blip r:embed="rId3">
            <a:alphaModFix/>
          </a:blip>
          <a:srcRect/>
          <a:stretch/>
        </p:blipFill>
        <p:spPr>
          <a:xfrm>
            <a:off x="-1" y="4629150"/>
            <a:ext cx="3434317" cy="2228850"/>
          </a:xfrm>
          <a:prstGeom prst="rect">
            <a:avLst/>
          </a:prstGeom>
          <a:noFill/>
          <a:ln>
            <a:noFill/>
          </a:ln>
          <a:effectLst>
            <a:outerShdw blurRad="292100" dist="139700" dir="2700000" algn="tl" rotWithShape="0">
              <a:srgbClr val="333333">
                <a:alpha val="6431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8">
                                            <p:txEl>
                                              <p:pRg st="0" end="0"/>
                                            </p:txEl>
                                          </p:spTgt>
                                        </p:tgtEl>
                                        <p:attrNameLst>
                                          <p:attrName>style.visibility</p:attrName>
                                        </p:attrNameLst>
                                      </p:cBhvr>
                                      <p:to>
                                        <p:strVal val="visible"/>
                                      </p:to>
                                    </p:set>
                                    <p:animEffect transition="in" filter="fade">
                                      <p:cBhvr>
                                        <p:cTn id="7" dur="500"/>
                                        <p:tgtEl>
                                          <p:spTgt spid="4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8">
                                            <p:txEl>
                                              <p:pRg st="1" end="1"/>
                                            </p:txEl>
                                          </p:spTgt>
                                        </p:tgtEl>
                                        <p:attrNameLst>
                                          <p:attrName>style.visibility</p:attrName>
                                        </p:attrNameLst>
                                      </p:cBhvr>
                                      <p:to>
                                        <p:strVal val="visible"/>
                                      </p:to>
                                    </p:set>
                                    <p:animEffect transition="in" filter="fade">
                                      <p:cBhvr>
                                        <p:cTn id="12" dur="500"/>
                                        <p:tgtEl>
                                          <p:spTgt spid="4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0">
                                            <p:txEl>
                                              <p:pRg st="0" end="0"/>
                                            </p:txEl>
                                          </p:spTgt>
                                        </p:tgtEl>
                                        <p:attrNameLst>
                                          <p:attrName>style.visibility</p:attrName>
                                        </p:attrNameLst>
                                      </p:cBhvr>
                                      <p:to>
                                        <p:strVal val="visible"/>
                                      </p:to>
                                    </p:set>
                                    <p:animEffect transition="in" filter="fade">
                                      <p:cBhvr>
                                        <p:cTn id="17" dur="500"/>
                                        <p:tgtEl>
                                          <p:spTgt spid="48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0">
                                            <p:txEl>
                                              <p:pRg st="1" end="1"/>
                                            </p:txEl>
                                          </p:spTgt>
                                        </p:tgtEl>
                                        <p:attrNameLst>
                                          <p:attrName>style.visibility</p:attrName>
                                        </p:attrNameLst>
                                      </p:cBhvr>
                                      <p:to>
                                        <p:strVal val="visible"/>
                                      </p:to>
                                    </p:set>
                                    <p:animEffect transition="in" filter="fade">
                                      <p:cBhvr>
                                        <p:cTn id="22" dur="500"/>
                                        <p:tgtEl>
                                          <p:spTgt spid="48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80">
                                            <p:txEl>
                                              <p:pRg st="2" end="2"/>
                                            </p:txEl>
                                          </p:spTgt>
                                        </p:tgtEl>
                                        <p:attrNameLst>
                                          <p:attrName>style.visibility</p:attrName>
                                        </p:attrNameLst>
                                      </p:cBhvr>
                                      <p:to>
                                        <p:strVal val="visible"/>
                                      </p:to>
                                    </p:set>
                                    <p:animEffect transition="in" filter="fade">
                                      <p:cBhvr>
                                        <p:cTn id="27" dur="500"/>
                                        <p:tgtEl>
                                          <p:spTgt spid="48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7"/>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41</a:t>
            </a:fld>
            <a:endParaRPr sz="900">
              <a:solidFill>
                <a:schemeClr val="accent1"/>
              </a:solidFill>
              <a:latin typeface="Tahoma"/>
              <a:ea typeface="Tahoma"/>
              <a:cs typeface="Tahoma"/>
              <a:sym typeface="Tahoma"/>
            </a:endParaRPr>
          </a:p>
        </p:txBody>
      </p:sp>
      <p:sp>
        <p:nvSpPr>
          <p:cNvPr id="488" name="Google Shape;488;p57"/>
          <p:cNvSpPr txBox="1"/>
          <p:nvPr/>
        </p:nvSpPr>
        <p:spPr>
          <a:xfrm>
            <a:off x="1295240" y="228602"/>
            <a:ext cx="10769071" cy="6127750"/>
          </a:xfrm>
          <a:prstGeom prst="rect">
            <a:avLst/>
          </a:prstGeom>
          <a:solidFill>
            <a:schemeClr val="lt1"/>
          </a:solid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00000"/>
              </a:buClr>
              <a:buSzPts val="2600"/>
              <a:buFont typeface="Arial"/>
              <a:buNone/>
            </a:pPr>
            <a:r>
              <a:rPr lang="en-US" sz="2600" b="1" i="0" u="none" strike="noStrike" cap="none" dirty="0" err="1">
                <a:solidFill>
                  <a:schemeClr val="dk1"/>
                </a:solidFill>
                <a:latin typeface="Tahoma"/>
                <a:ea typeface="Tahoma"/>
                <a:cs typeface="Tahoma"/>
                <a:sym typeface="Tahoma"/>
              </a:rPr>
              <a:t>Faktor-faktor</a:t>
            </a:r>
            <a:r>
              <a:rPr lang="en-US" sz="2600" b="1" i="0" u="none" strike="noStrike" cap="none" dirty="0">
                <a:solidFill>
                  <a:schemeClr val="dk1"/>
                </a:solidFill>
                <a:latin typeface="Tahoma"/>
                <a:ea typeface="Tahoma"/>
                <a:cs typeface="Tahoma"/>
                <a:sym typeface="Tahoma"/>
              </a:rPr>
              <a:t> yang </a:t>
            </a:r>
            <a:r>
              <a:rPr lang="en-US" sz="2600" b="1" i="0" u="none" strike="noStrike" cap="none" dirty="0" err="1">
                <a:solidFill>
                  <a:schemeClr val="dk1"/>
                </a:solidFill>
                <a:latin typeface="Tahoma"/>
                <a:ea typeface="Tahoma"/>
                <a:cs typeface="Tahoma"/>
                <a:sym typeface="Tahoma"/>
              </a:rPr>
              <a:t>dikaitkan</a:t>
            </a:r>
            <a:r>
              <a:rPr lang="en-US" sz="2600" b="1" i="0" u="none" strike="noStrike" cap="none" dirty="0">
                <a:solidFill>
                  <a:schemeClr val="dk1"/>
                </a:solidFill>
                <a:latin typeface="Tahoma"/>
                <a:ea typeface="Tahoma"/>
                <a:cs typeface="Tahoma"/>
                <a:sym typeface="Tahoma"/>
              </a:rPr>
              <a:t> </a:t>
            </a:r>
            <a:r>
              <a:rPr lang="en-US" sz="2600" b="1" i="0" u="none" strike="noStrike" cap="none" dirty="0" err="1">
                <a:solidFill>
                  <a:schemeClr val="dk1"/>
                </a:solidFill>
                <a:latin typeface="Tahoma"/>
                <a:ea typeface="Tahoma"/>
                <a:cs typeface="Tahoma"/>
                <a:sym typeface="Tahoma"/>
              </a:rPr>
              <a:t>dengan</a:t>
            </a:r>
            <a:r>
              <a:rPr lang="en-US" sz="2600" b="1" i="0" u="none" strike="noStrike" cap="none" dirty="0">
                <a:solidFill>
                  <a:schemeClr val="dk1"/>
                </a:solidFill>
                <a:latin typeface="Tahoma"/>
                <a:ea typeface="Tahoma"/>
                <a:cs typeface="Tahoma"/>
                <a:sym typeface="Tahoma"/>
              </a:rPr>
              <a:t> KSK:</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Pampasan</a:t>
            </a:r>
            <a:r>
              <a:rPr lang="en-US" sz="2600" b="0" i="0" u="none" strike="noStrike" cap="none" dirty="0">
                <a:solidFill>
                  <a:schemeClr val="dk1"/>
                </a:solidFill>
                <a:latin typeface="Tahoma"/>
                <a:ea typeface="Tahoma"/>
                <a:cs typeface="Tahoma"/>
                <a:sym typeface="Tahoma"/>
              </a:rPr>
              <a:t> yang </a:t>
            </a:r>
            <a:r>
              <a:rPr lang="en-US" sz="2600" b="0" i="0" u="none" strike="noStrike" cap="none" dirty="0" err="1">
                <a:solidFill>
                  <a:schemeClr val="dk1"/>
                </a:solidFill>
                <a:latin typeface="Tahoma"/>
                <a:ea typeface="Tahoma"/>
                <a:cs typeface="Tahoma"/>
                <a:sym typeface="Tahoma"/>
              </a:rPr>
              <a:t>sesuai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munasabah</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Persekitaran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r>
              <a:rPr lang="en-US" sz="2600" b="0" i="0" u="none" strike="noStrike" cap="none" dirty="0">
                <a:solidFill>
                  <a:schemeClr val="dk1"/>
                </a:solidFill>
                <a:latin typeface="Tahoma"/>
                <a:ea typeface="Tahoma"/>
                <a:cs typeface="Tahoma"/>
                <a:sym typeface="Tahoma"/>
              </a:rPr>
              <a:t> yang </a:t>
            </a:r>
            <a:r>
              <a:rPr lang="en-US" sz="2600" b="0" i="0" u="none" strike="noStrike" cap="none" dirty="0" err="1">
                <a:solidFill>
                  <a:schemeClr val="dk1"/>
                </a:solidFill>
                <a:latin typeface="Tahoma"/>
                <a:ea typeface="Tahoma"/>
                <a:cs typeface="Tahoma"/>
                <a:sym typeface="Tahoma"/>
              </a:rPr>
              <a:t>selamat</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sihat</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Peluang</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untuk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membangunkan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kebolehan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sumber</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manusia</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Peluang</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untuk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pembangunan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keselamatan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r>
              <a:rPr lang="en-US" sz="2600" b="0" i="0" u="none" strike="noStrike" cap="none" dirty="0">
                <a:solidFill>
                  <a:schemeClr val="dk1"/>
                </a:solidFill>
                <a:latin typeface="Tahoma"/>
                <a:ea typeface="Tahoma"/>
                <a:cs typeface="Tahoma"/>
                <a:sym typeface="Tahoma"/>
              </a:rPr>
              <a:t> yang </a:t>
            </a:r>
            <a:r>
              <a:rPr lang="en-US" sz="2600" b="0" i="0" u="none" strike="noStrike" cap="none" dirty="0" err="1">
                <a:solidFill>
                  <a:schemeClr val="dk1"/>
                </a:solidFill>
                <a:latin typeface="Tahoma"/>
                <a:ea typeface="Tahoma"/>
                <a:cs typeface="Tahoma"/>
                <a:sym typeface="Tahoma"/>
              </a:rPr>
              <a:t>berterusan</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Jadual</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tugasan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mudah</a:t>
            </a:r>
            <a:r>
              <a:rPr lang="en-US" sz="2600" b="0" i="0" u="none" strike="noStrike" cap="none" dirty="0">
                <a:solidFill>
                  <a:schemeClr val="dk1"/>
                </a:solidFill>
                <a:latin typeface="Tahoma"/>
                <a:ea typeface="Tahoma"/>
                <a:cs typeface="Tahoma"/>
                <a:sym typeface="Tahoma"/>
              </a:rPr>
              <a:t>/</a:t>
            </a:r>
            <a:r>
              <a:rPr lang="en-US" sz="2600" b="0" i="0" u="none" strike="noStrike" cap="none" dirty="0" err="1">
                <a:solidFill>
                  <a:schemeClr val="dk1"/>
                </a:solidFill>
                <a:latin typeface="Tahoma"/>
                <a:ea typeface="Tahoma"/>
                <a:cs typeface="Tahoma"/>
                <a:sym typeface="Tahoma"/>
              </a:rPr>
              <a:t>longgar</a:t>
            </a:r>
            <a:r>
              <a:rPr lang="en-US" sz="2600" b="0" i="0" u="none" strike="noStrike" cap="none" dirty="0">
                <a:solidFill>
                  <a:schemeClr val="dk1"/>
                </a:solidFill>
                <a:latin typeface="Tahoma"/>
                <a:ea typeface="Tahoma"/>
                <a:cs typeface="Tahoma"/>
                <a:sym typeface="Tahoma"/>
              </a:rPr>
              <a:t> </a:t>
            </a:r>
            <a:r>
              <a:rPr lang="en-US" sz="2600" b="0" i="1" u="none" strike="noStrike" cap="none" dirty="0">
                <a:solidFill>
                  <a:schemeClr val="dk1"/>
                </a:solidFill>
                <a:latin typeface="Tahoma"/>
                <a:ea typeface="Tahoma"/>
                <a:cs typeface="Tahoma"/>
                <a:sym typeface="Tahoma"/>
              </a:rPr>
              <a:t>(flexible)</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Perhatian</a:t>
            </a:r>
            <a:r>
              <a:rPr lang="en-US" sz="2600" b="0" i="0" u="none" strike="noStrike" cap="none" dirty="0">
                <a:solidFill>
                  <a:schemeClr val="dk1"/>
                </a:solidFill>
                <a:latin typeface="Tahoma"/>
                <a:ea typeface="Tahoma"/>
                <a:cs typeface="Tahoma"/>
                <a:sym typeface="Tahoma"/>
              </a:rPr>
              <a:t> yang </a:t>
            </a:r>
            <a:r>
              <a:rPr lang="en-US" sz="2600" b="0" i="0" u="none" strike="noStrike" cap="none" dirty="0" err="1">
                <a:solidFill>
                  <a:schemeClr val="dk1"/>
                </a:solidFill>
                <a:latin typeface="Tahoma"/>
                <a:ea typeface="Tahoma"/>
                <a:cs typeface="Tahoma"/>
                <a:sym typeface="Tahoma"/>
              </a:rPr>
              <a:t>berhati-hati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terhadap</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aliran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serta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rekabentuk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dilibatkan</a:t>
            </a:r>
            <a:r>
              <a:rPr lang="en-US" sz="2600" b="0" i="0" u="none" strike="noStrike" cap="none" dirty="0">
                <a:solidFill>
                  <a:schemeClr val="dk1"/>
                </a:solidFill>
                <a:latin typeface="Tahoma"/>
                <a:ea typeface="Tahoma"/>
                <a:cs typeface="Tahoma"/>
                <a:sym typeface="Tahoma"/>
              </a:rPr>
              <a:t> di </a:t>
            </a:r>
            <a:r>
              <a:rPr lang="en-US" sz="2600" b="0" i="0" u="none" strike="noStrike" cap="none" dirty="0" err="1">
                <a:solidFill>
                  <a:schemeClr val="dk1"/>
                </a:solidFill>
                <a:latin typeface="Tahoma"/>
                <a:ea typeface="Tahoma"/>
                <a:cs typeface="Tahoma"/>
                <a:sym typeface="Tahoma"/>
              </a:rPr>
              <a:t>dalam</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menghasilkan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rekabentuk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Kerjasama</a:t>
            </a:r>
            <a:r>
              <a:rPr lang="en-US" sz="2600" b="0" i="0" u="none" strike="noStrike" cap="none" dirty="0">
                <a:solidFill>
                  <a:schemeClr val="dk1"/>
                </a:solidFill>
                <a:latin typeface="Tahoma"/>
                <a:ea typeface="Tahoma"/>
                <a:cs typeface="Tahoma"/>
                <a:sym typeface="Tahoma"/>
              </a:rPr>
              <a:t> yang </a:t>
            </a:r>
            <a:r>
              <a:rPr lang="en-US" sz="2600" b="0" i="0" u="none" strike="noStrike" cap="none" dirty="0" err="1">
                <a:solidFill>
                  <a:schemeClr val="dk1"/>
                </a:solidFill>
                <a:latin typeface="Tahoma"/>
                <a:ea typeface="Tahoma"/>
                <a:cs typeface="Tahoma"/>
                <a:sym typeface="Tahoma"/>
              </a:rPr>
              <a:t>bertambah</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lebih</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baik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dalam</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kesatuan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pengurusan</a:t>
            </a:r>
            <a:endParaRPr sz="2600" b="0" i="0" u="none" strike="noStrike" cap="none" dirty="0">
              <a:solidFill>
                <a:schemeClr val="dk1"/>
              </a:solidFill>
              <a:latin typeface="Tahoma"/>
              <a:ea typeface="Tahoma"/>
              <a:cs typeface="Tahoma"/>
              <a:sym typeface="Tahoma"/>
            </a:endParaRPr>
          </a:p>
          <a:p>
            <a:pPr marL="342900" marR="0" lvl="0" indent="-342900" algn="l" rtl="0">
              <a:lnSpc>
                <a:spcPct val="100000"/>
              </a:lnSpc>
              <a:spcBef>
                <a:spcPts val="1000"/>
              </a:spcBef>
              <a:spcAft>
                <a:spcPts val="0"/>
              </a:spcAft>
              <a:buClr>
                <a:schemeClr val="dk1"/>
              </a:buClr>
              <a:buSzPts val="2400"/>
              <a:buFont typeface="Arial"/>
              <a:buChar char="•"/>
            </a:pPr>
            <a:r>
              <a:rPr lang="en-US" sz="2600" b="0" i="0" u="none" strike="noStrike" cap="none" dirty="0" err="1">
                <a:solidFill>
                  <a:schemeClr val="dk1"/>
                </a:solidFill>
                <a:latin typeface="Tahoma"/>
                <a:ea typeface="Tahoma"/>
                <a:cs typeface="Tahoma"/>
                <a:sym typeface="Tahoma"/>
              </a:rPr>
              <a:t>Kurang</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struktur</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penyeliaan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banyak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pembangunan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efektif</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dalam</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kumpulan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endParaRPr sz="26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8">
                                            <p:txEl>
                                              <p:pRg st="0" end="0"/>
                                            </p:txEl>
                                          </p:spTgt>
                                        </p:tgtEl>
                                        <p:attrNameLst>
                                          <p:attrName>style.visibility</p:attrName>
                                        </p:attrNameLst>
                                      </p:cBhvr>
                                      <p:to>
                                        <p:strVal val="visible"/>
                                      </p:to>
                                    </p:set>
                                    <p:animEffect transition="in" filter="fade">
                                      <p:cBhvr>
                                        <p:cTn id="7" dur="500"/>
                                        <p:tgtEl>
                                          <p:spTgt spid="4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8">
                                            <p:txEl>
                                              <p:pRg st="1" end="1"/>
                                            </p:txEl>
                                          </p:spTgt>
                                        </p:tgtEl>
                                        <p:attrNameLst>
                                          <p:attrName>style.visibility</p:attrName>
                                        </p:attrNameLst>
                                      </p:cBhvr>
                                      <p:to>
                                        <p:strVal val="visible"/>
                                      </p:to>
                                    </p:set>
                                    <p:animEffect transition="in" filter="fade">
                                      <p:cBhvr>
                                        <p:cTn id="12" dur="500"/>
                                        <p:tgtEl>
                                          <p:spTgt spid="4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8">
                                            <p:txEl>
                                              <p:pRg st="2" end="2"/>
                                            </p:txEl>
                                          </p:spTgt>
                                        </p:tgtEl>
                                        <p:attrNameLst>
                                          <p:attrName>style.visibility</p:attrName>
                                        </p:attrNameLst>
                                      </p:cBhvr>
                                      <p:to>
                                        <p:strVal val="visible"/>
                                      </p:to>
                                    </p:set>
                                    <p:animEffect transition="in" filter="fade">
                                      <p:cBhvr>
                                        <p:cTn id="17" dur="500"/>
                                        <p:tgtEl>
                                          <p:spTgt spid="4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8">
                                            <p:txEl>
                                              <p:pRg st="3" end="3"/>
                                            </p:txEl>
                                          </p:spTgt>
                                        </p:tgtEl>
                                        <p:attrNameLst>
                                          <p:attrName>style.visibility</p:attrName>
                                        </p:attrNameLst>
                                      </p:cBhvr>
                                      <p:to>
                                        <p:strVal val="visible"/>
                                      </p:to>
                                    </p:set>
                                    <p:animEffect transition="in" filter="fade">
                                      <p:cBhvr>
                                        <p:cTn id="22" dur="500"/>
                                        <p:tgtEl>
                                          <p:spTgt spid="48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88">
                                            <p:txEl>
                                              <p:pRg st="4" end="4"/>
                                            </p:txEl>
                                          </p:spTgt>
                                        </p:tgtEl>
                                        <p:attrNameLst>
                                          <p:attrName>style.visibility</p:attrName>
                                        </p:attrNameLst>
                                      </p:cBhvr>
                                      <p:to>
                                        <p:strVal val="visible"/>
                                      </p:to>
                                    </p:set>
                                    <p:animEffect transition="in" filter="fade">
                                      <p:cBhvr>
                                        <p:cTn id="27" dur="500"/>
                                        <p:tgtEl>
                                          <p:spTgt spid="48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88">
                                            <p:txEl>
                                              <p:pRg st="5" end="5"/>
                                            </p:txEl>
                                          </p:spTgt>
                                        </p:tgtEl>
                                        <p:attrNameLst>
                                          <p:attrName>style.visibility</p:attrName>
                                        </p:attrNameLst>
                                      </p:cBhvr>
                                      <p:to>
                                        <p:strVal val="visible"/>
                                      </p:to>
                                    </p:set>
                                    <p:animEffect transition="in" filter="fade">
                                      <p:cBhvr>
                                        <p:cTn id="32" dur="500"/>
                                        <p:tgtEl>
                                          <p:spTgt spid="48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88">
                                            <p:txEl>
                                              <p:pRg st="6" end="6"/>
                                            </p:txEl>
                                          </p:spTgt>
                                        </p:tgtEl>
                                        <p:attrNameLst>
                                          <p:attrName>style.visibility</p:attrName>
                                        </p:attrNameLst>
                                      </p:cBhvr>
                                      <p:to>
                                        <p:strVal val="visible"/>
                                      </p:to>
                                    </p:set>
                                    <p:animEffect transition="in" filter="fade">
                                      <p:cBhvr>
                                        <p:cTn id="37" dur="500"/>
                                        <p:tgtEl>
                                          <p:spTgt spid="48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88">
                                            <p:txEl>
                                              <p:pRg st="7" end="7"/>
                                            </p:txEl>
                                          </p:spTgt>
                                        </p:tgtEl>
                                        <p:attrNameLst>
                                          <p:attrName>style.visibility</p:attrName>
                                        </p:attrNameLst>
                                      </p:cBhvr>
                                      <p:to>
                                        <p:strVal val="visible"/>
                                      </p:to>
                                    </p:set>
                                    <p:animEffect transition="in" filter="fade">
                                      <p:cBhvr>
                                        <p:cTn id="42" dur="500"/>
                                        <p:tgtEl>
                                          <p:spTgt spid="48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88">
                                            <p:txEl>
                                              <p:pRg st="8" end="8"/>
                                            </p:txEl>
                                          </p:spTgt>
                                        </p:tgtEl>
                                        <p:attrNameLst>
                                          <p:attrName>style.visibility</p:attrName>
                                        </p:attrNameLst>
                                      </p:cBhvr>
                                      <p:to>
                                        <p:strVal val="visible"/>
                                      </p:to>
                                    </p:set>
                                    <p:animEffect transition="in" filter="fade">
                                      <p:cBhvr>
                                        <p:cTn id="47" dur="500"/>
                                        <p:tgtEl>
                                          <p:spTgt spid="48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58"/>
          <p:cNvSpPr txBox="1">
            <a:spLocks noGrp="1"/>
          </p:cNvSpPr>
          <p:nvPr>
            <p:ph type="body" idx="1"/>
          </p:nvPr>
        </p:nvSpPr>
        <p:spPr>
          <a:xfrm>
            <a:off x="2802123" y="136523"/>
            <a:ext cx="7753350" cy="880745"/>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b="1"/>
              <a:t> iv. </a:t>
            </a:r>
            <a:r>
              <a:rPr lang="en-US" b="1">
                <a:latin typeface="Federo"/>
                <a:ea typeface="Federo"/>
                <a:cs typeface="Federo"/>
                <a:sym typeface="Federo"/>
              </a:rPr>
              <a:t>Pengupayaan Kerja (Job Empowerment)</a:t>
            </a:r>
            <a:r>
              <a:rPr lang="en-US">
                <a:solidFill>
                  <a:schemeClr val="dk1"/>
                </a:solidFill>
                <a:latin typeface="Tahoma"/>
                <a:ea typeface="Tahoma"/>
                <a:cs typeface="Tahoma"/>
                <a:sym typeface="Tahoma"/>
              </a:rPr>
              <a:t>     </a:t>
            </a:r>
            <a:endParaRPr b="1">
              <a:solidFill>
                <a:schemeClr val="dk1"/>
              </a:solidFill>
              <a:latin typeface="Federo"/>
              <a:ea typeface="Federo"/>
              <a:cs typeface="Federo"/>
              <a:sym typeface="Federo"/>
            </a:endParaRPr>
          </a:p>
        </p:txBody>
      </p:sp>
      <p:sp>
        <p:nvSpPr>
          <p:cNvPr id="495" name="Google Shape;495;p58"/>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42</a:t>
            </a:fld>
            <a:endParaRPr sz="900">
              <a:solidFill>
                <a:schemeClr val="accent1"/>
              </a:solidFill>
              <a:latin typeface="Tahoma"/>
              <a:ea typeface="Tahoma"/>
              <a:cs typeface="Tahoma"/>
              <a:sym typeface="Tahoma"/>
            </a:endParaRPr>
          </a:p>
        </p:txBody>
      </p:sp>
      <p:sp>
        <p:nvSpPr>
          <p:cNvPr id="496" name="Google Shape;496;p58"/>
          <p:cNvSpPr txBox="1"/>
          <p:nvPr/>
        </p:nvSpPr>
        <p:spPr>
          <a:xfrm>
            <a:off x="902524" y="667453"/>
            <a:ext cx="10668223" cy="5688899"/>
          </a:xfrm>
          <a:prstGeom prst="rect">
            <a:avLst/>
          </a:prstGeom>
          <a:solidFill>
            <a:schemeClr val="lt1"/>
          </a:solidFill>
          <a:ln>
            <a:noFill/>
          </a:ln>
        </p:spPr>
        <p:txBody>
          <a:bodyPr spcFirstLastPara="1" wrap="square" lIns="91425" tIns="45700" rIns="91425" bIns="45700" anchor="t" anchorCtr="0">
            <a:noAutofit/>
          </a:bodyPr>
          <a:lstStyle/>
          <a:p>
            <a:pPr marL="466725" marR="0" lvl="0" indent="-466725" algn="l" rtl="0">
              <a:lnSpc>
                <a:spcPct val="80000"/>
              </a:lnSpc>
              <a:spcBef>
                <a:spcPts val="0"/>
              </a:spcBef>
              <a:spcAft>
                <a:spcPts val="0"/>
              </a:spcAft>
              <a:buClr>
                <a:schemeClr val="accent1"/>
              </a:buClr>
              <a:buSzPts val="1920"/>
              <a:buFont typeface="Noto Sans Symbols"/>
              <a:buChar char="▶"/>
            </a:pPr>
            <a:r>
              <a:rPr lang="en-US" sz="2600" b="0" i="0" u="none" strike="noStrike" cap="none" dirty="0" err="1">
                <a:solidFill>
                  <a:schemeClr val="dk1"/>
                </a:solidFill>
                <a:latin typeface="Tahoma"/>
                <a:ea typeface="Tahoma"/>
                <a:cs typeface="Tahoma"/>
                <a:sym typeface="Tahoma"/>
              </a:rPr>
              <a:t>Penurunan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kuasa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delegasi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kuasa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kepada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subordinat</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untuk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membuat</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keputusan</a:t>
            </a:r>
            <a:r>
              <a:rPr lang="en-US" sz="2600" b="0" i="0" u="none" strike="noStrike" cap="none" dirty="0">
                <a:solidFill>
                  <a:schemeClr val="dk1"/>
                </a:solidFill>
                <a:latin typeface="Tahoma"/>
                <a:ea typeface="Tahoma"/>
                <a:cs typeface="Tahoma"/>
                <a:sym typeface="Tahoma"/>
              </a:rPr>
              <a:t>.</a:t>
            </a:r>
            <a:endParaRPr sz="2600" b="0" i="0" u="none" strike="noStrike" cap="none" dirty="0">
              <a:solidFill>
                <a:schemeClr val="dk1"/>
              </a:solidFill>
              <a:latin typeface="Tahoma"/>
              <a:ea typeface="Tahoma"/>
              <a:cs typeface="Tahoma"/>
              <a:sym typeface="Tahoma"/>
            </a:endParaRPr>
          </a:p>
          <a:p>
            <a:pPr marL="466725" marR="0" lvl="0" indent="-466725" algn="l" rtl="0">
              <a:lnSpc>
                <a:spcPct val="80000"/>
              </a:lnSpc>
              <a:spcBef>
                <a:spcPts val="600"/>
              </a:spcBef>
              <a:spcAft>
                <a:spcPts val="0"/>
              </a:spcAft>
              <a:buClr>
                <a:schemeClr val="accent1"/>
              </a:buClr>
              <a:buSzPts val="2240"/>
              <a:buFont typeface="Noto Sans Symbols"/>
              <a:buChar char="▶"/>
            </a:pPr>
            <a:r>
              <a:rPr lang="en-US" sz="2600" b="0" i="0" u="none" strike="noStrike" cap="none" dirty="0" err="1">
                <a:solidFill>
                  <a:schemeClr val="dk1"/>
                </a:solidFill>
                <a:latin typeface="Tahoma"/>
                <a:ea typeface="Tahoma"/>
                <a:cs typeface="Tahoma"/>
                <a:sym typeface="Tahoma"/>
              </a:rPr>
              <a:t>Menerangkan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bagaimana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diberi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lebih</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autonomi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terhadap</a:t>
            </a:r>
            <a:r>
              <a:rPr lang="en-US" sz="2600" b="0" i="0" u="none" strike="noStrike" cap="none" dirty="0">
                <a:solidFill>
                  <a:schemeClr val="dk1"/>
                </a:solidFill>
                <a:latin typeface="Tahoma"/>
                <a:ea typeface="Tahoma"/>
                <a:cs typeface="Tahoma"/>
                <a:sym typeface="Tahoma"/>
              </a:rPr>
              <a:t> proses </a:t>
            </a:r>
            <a:r>
              <a:rPr lang="en-US" sz="2600" b="0" i="0" u="none" strike="noStrike" cap="none" dirty="0" err="1">
                <a:solidFill>
                  <a:schemeClr val="dk1"/>
                </a:solidFill>
                <a:latin typeface="Tahoma"/>
                <a:ea typeface="Tahoma"/>
                <a:cs typeface="Tahoma"/>
                <a:sym typeface="Tahoma"/>
              </a:rPr>
              <a:t>kerja</a:t>
            </a:r>
            <a:r>
              <a:rPr lang="en-US" sz="2600" b="0" i="0" u="none" strike="noStrike" cap="none" dirty="0">
                <a:solidFill>
                  <a:schemeClr val="dk1"/>
                </a:solidFill>
                <a:latin typeface="Tahoma"/>
                <a:ea typeface="Tahoma"/>
                <a:cs typeface="Tahoma"/>
                <a:sym typeface="Tahoma"/>
              </a:rPr>
              <a:t>.</a:t>
            </a:r>
            <a:endParaRPr sz="2600" b="0" i="0" u="none" strike="noStrike" cap="none" dirty="0">
              <a:solidFill>
                <a:schemeClr val="dk1"/>
              </a:solidFill>
              <a:latin typeface="Calibri"/>
              <a:ea typeface="Calibri"/>
              <a:cs typeface="Calibri"/>
              <a:sym typeface="Calibri"/>
            </a:endParaRPr>
          </a:p>
          <a:p>
            <a:pPr marL="466725" marR="0" lvl="0" indent="-466725" algn="l" rtl="0">
              <a:lnSpc>
                <a:spcPct val="80000"/>
              </a:lnSpc>
              <a:spcBef>
                <a:spcPts val="600"/>
              </a:spcBef>
              <a:spcAft>
                <a:spcPts val="0"/>
              </a:spcAft>
              <a:buClr>
                <a:schemeClr val="accent1"/>
              </a:buClr>
              <a:buSzPts val="2240"/>
              <a:buFont typeface="Noto Sans Symbols"/>
              <a:buChar char="▶"/>
            </a:pPr>
            <a:r>
              <a:rPr lang="en-US" sz="2600" b="0" i="0" u="none" strike="noStrike" cap="none" dirty="0" err="1">
                <a:solidFill>
                  <a:schemeClr val="dk1"/>
                </a:solidFill>
                <a:latin typeface="Tahoma"/>
                <a:ea typeface="Tahoma"/>
                <a:cs typeface="Tahoma"/>
                <a:sym typeface="Tahoma"/>
              </a:rPr>
              <a:t>Pekerja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diberi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autonomi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iaitu</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kebebasan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berdikari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menggunakan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budibicara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terhadap</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aktiviti-aktiviti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mereka</a:t>
            </a:r>
            <a:r>
              <a:rPr lang="en-US" sz="2600" b="0" i="0" u="none" strike="noStrike" cap="none" dirty="0">
                <a:solidFill>
                  <a:schemeClr val="dk1"/>
                </a:solidFill>
                <a:latin typeface="Tahoma"/>
                <a:ea typeface="Tahoma"/>
                <a:cs typeface="Tahoma"/>
                <a:sym typeface="Tahoma"/>
              </a:rPr>
              <a:t>.</a:t>
            </a:r>
            <a:endParaRPr sz="2600" b="0" i="0" u="none" strike="noStrike" cap="none" dirty="0">
              <a:solidFill>
                <a:schemeClr val="dk1"/>
              </a:solidFill>
              <a:latin typeface="Calibri"/>
              <a:ea typeface="Calibri"/>
              <a:cs typeface="Calibri"/>
              <a:sym typeface="Calibri"/>
            </a:endParaRPr>
          </a:p>
          <a:p>
            <a:pPr marL="466725" marR="0" lvl="0" indent="-466725" algn="l" rtl="0">
              <a:lnSpc>
                <a:spcPct val="80000"/>
              </a:lnSpc>
              <a:spcBef>
                <a:spcPts val="600"/>
              </a:spcBef>
              <a:spcAft>
                <a:spcPts val="0"/>
              </a:spcAft>
              <a:buClr>
                <a:schemeClr val="accent1"/>
              </a:buClr>
              <a:buSzPts val="2240"/>
              <a:buFont typeface="Noto Sans Symbols"/>
              <a:buChar char="▶"/>
            </a:pPr>
            <a:r>
              <a:rPr lang="en-US" sz="2600" b="0" i="0" u="none" strike="noStrike" cap="none" dirty="0" err="1">
                <a:solidFill>
                  <a:schemeClr val="dk1"/>
                </a:solidFill>
                <a:latin typeface="Tahoma"/>
                <a:ea typeface="Tahoma"/>
                <a:cs typeface="Tahoma"/>
                <a:sym typeface="Tahoma"/>
              </a:rPr>
              <a:t>Ini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termasuklah</a:t>
            </a:r>
            <a:r>
              <a:rPr lang="en-US" sz="2600" b="0" i="0" u="none" strike="noStrike" cap="none" dirty="0">
                <a:solidFill>
                  <a:schemeClr val="dk1"/>
                </a:solidFill>
                <a:latin typeface="Tahoma"/>
                <a:ea typeface="Tahoma"/>
                <a:cs typeface="Tahoma"/>
                <a:sym typeface="Tahoma"/>
              </a:rPr>
              <a:t>:</a:t>
            </a:r>
            <a:endParaRPr sz="2600" b="0" i="0" u="none" strike="noStrike" cap="none" dirty="0">
              <a:solidFill>
                <a:schemeClr val="dk1"/>
              </a:solidFill>
              <a:latin typeface="Tahoma"/>
              <a:ea typeface="Tahoma"/>
              <a:cs typeface="Tahoma"/>
              <a:sym typeface="Tahoma"/>
            </a:endParaRPr>
          </a:p>
          <a:p>
            <a:pPr marL="925195" marR="0" lvl="1" indent="-457200" algn="l" rtl="0">
              <a:lnSpc>
                <a:spcPct val="80000"/>
              </a:lnSpc>
              <a:spcBef>
                <a:spcPts val="600"/>
              </a:spcBef>
              <a:spcAft>
                <a:spcPts val="0"/>
              </a:spcAft>
              <a:buClr>
                <a:schemeClr val="dk1"/>
              </a:buClr>
              <a:buSzPts val="2000"/>
              <a:buFont typeface="Arial Narrow"/>
              <a:buAutoNum type="romanLcPeriod"/>
            </a:pPr>
            <a:r>
              <a:rPr lang="en-US" sz="2600" b="0" i="0" u="none" strike="noStrike" cap="none" dirty="0" err="1">
                <a:solidFill>
                  <a:schemeClr val="dk1"/>
                </a:solidFill>
                <a:latin typeface="Tahoma"/>
                <a:ea typeface="Tahoma"/>
                <a:cs typeface="Tahoma"/>
                <a:sym typeface="Tahoma"/>
              </a:rPr>
              <a:t>Membenarkan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menentukan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kaedah</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endParaRPr sz="2600" b="0" i="0" u="none" strike="noStrike" cap="none" dirty="0">
              <a:solidFill>
                <a:schemeClr val="dk1"/>
              </a:solidFill>
              <a:latin typeface="Tahoma"/>
              <a:ea typeface="Tahoma"/>
              <a:cs typeface="Tahoma"/>
              <a:sym typeface="Tahoma"/>
            </a:endParaRPr>
          </a:p>
          <a:p>
            <a:pPr marL="925195" marR="0" lvl="1" indent="-457200" algn="l" rtl="0">
              <a:lnSpc>
                <a:spcPct val="80000"/>
              </a:lnSpc>
              <a:spcBef>
                <a:spcPts val="600"/>
              </a:spcBef>
              <a:spcAft>
                <a:spcPts val="0"/>
              </a:spcAft>
              <a:buClr>
                <a:srgbClr val="404040"/>
              </a:buClr>
              <a:buSzPts val="2000"/>
              <a:buFont typeface="Arial Narrow"/>
              <a:buAutoNum type="romanLcPeriod"/>
            </a:pPr>
            <a:r>
              <a:rPr lang="en-US" sz="2600" b="0" i="0" u="none" strike="noStrike" cap="none" dirty="0" err="1">
                <a:solidFill>
                  <a:schemeClr val="dk1"/>
                </a:solidFill>
                <a:latin typeface="Tahoma"/>
                <a:ea typeface="Tahoma"/>
                <a:cs typeface="Tahoma"/>
                <a:sym typeface="Tahoma"/>
              </a:rPr>
              <a:t>Memberi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cadangan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bagaimana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menyelesaikan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masalah</a:t>
            </a:r>
            <a:endParaRPr sz="2600" b="0" i="0" u="none" strike="noStrike" cap="none" dirty="0">
              <a:solidFill>
                <a:schemeClr val="dk1"/>
              </a:solidFill>
              <a:latin typeface="Tahoma"/>
              <a:ea typeface="Tahoma"/>
              <a:cs typeface="Tahoma"/>
              <a:sym typeface="Tahoma"/>
            </a:endParaRPr>
          </a:p>
          <a:p>
            <a:pPr marL="925195" marR="0" lvl="1" indent="-457200" algn="l" rtl="0">
              <a:lnSpc>
                <a:spcPct val="80000"/>
              </a:lnSpc>
              <a:spcBef>
                <a:spcPts val="600"/>
              </a:spcBef>
              <a:spcAft>
                <a:spcPts val="0"/>
              </a:spcAft>
              <a:buClr>
                <a:srgbClr val="404040"/>
              </a:buClr>
              <a:buSzPts val="2000"/>
              <a:buFont typeface="Arial Narrow"/>
              <a:buAutoNum type="romanLcPeriod"/>
            </a:pPr>
            <a:r>
              <a:rPr lang="en-US" sz="2600" b="0" i="0" u="none" strike="noStrike" cap="none" dirty="0" err="1">
                <a:solidFill>
                  <a:schemeClr val="dk1"/>
                </a:solidFill>
                <a:latin typeface="Tahoma"/>
                <a:ea typeface="Tahoma"/>
                <a:cs typeface="Tahoma"/>
                <a:sym typeface="Tahoma"/>
              </a:rPr>
              <a:t>Menerima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maklumat</a:t>
            </a:r>
            <a:r>
              <a:rPr lang="en-US" sz="2600" b="0" i="0" u="none" strike="noStrike" cap="none" dirty="0">
                <a:solidFill>
                  <a:schemeClr val="dk1"/>
                </a:solidFill>
                <a:latin typeface="Tahoma"/>
                <a:ea typeface="Tahoma"/>
                <a:cs typeface="Tahoma"/>
                <a:sym typeface="Tahoma"/>
              </a:rPr>
              <a:t> yang </a:t>
            </a:r>
            <a:r>
              <a:rPr lang="en-US" sz="2600" b="0" i="0" u="none" strike="noStrike" cap="none" dirty="0" err="1">
                <a:solidFill>
                  <a:schemeClr val="dk1"/>
                </a:solidFill>
                <a:latin typeface="Tahoma"/>
                <a:ea typeface="Tahoma"/>
                <a:cs typeface="Tahoma"/>
                <a:sym typeface="Tahoma"/>
              </a:rPr>
              <a:t>berkesan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serta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mengawal</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belanjawan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kewangan</a:t>
            </a:r>
            <a:endParaRPr sz="2600" b="0" i="0" u="none" strike="noStrike" cap="none" dirty="0">
              <a:solidFill>
                <a:schemeClr val="dk1"/>
              </a:solidFill>
              <a:latin typeface="Tahoma"/>
              <a:ea typeface="Tahoma"/>
              <a:cs typeface="Tahoma"/>
              <a:sym typeface="Tahoma"/>
            </a:endParaRPr>
          </a:p>
          <a:p>
            <a:pPr marL="411480" marR="0" lvl="0" indent="-342900" algn="just" rtl="0">
              <a:lnSpc>
                <a:spcPct val="100000"/>
              </a:lnSpc>
              <a:spcBef>
                <a:spcPts val="600"/>
              </a:spcBef>
              <a:spcAft>
                <a:spcPts val="0"/>
              </a:spcAft>
              <a:buClr>
                <a:schemeClr val="accent1"/>
              </a:buClr>
              <a:buSzPts val="2240"/>
              <a:buFont typeface="Noto Sans Symbols"/>
              <a:buChar char="▶"/>
            </a:pPr>
            <a:r>
              <a:rPr lang="en-US" sz="2600" b="0" i="0" u="none" strike="noStrike" cap="none" dirty="0" err="1">
                <a:solidFill>
                  <a:schemeClr val="dk1"/>
                </a:solidFill>
                <a:latin typeface="Tahoma"/>
                <a:ea typeface="Tahoma"/>
                <a:cs typeface="Tahoma"/>
                <a:sym typeface="Tahoma"/>
              </a:rPr>
              <a:t>Pengupayaan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juga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membolehkan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mengawal</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maklumbalas</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prestasi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mereka</a:t>
            </a:r>
            <a:r>
              <a:rPr lang="en-US" sz="2600" b="0" i="0" u="none" strike="noStrike" cap="none" dirty="0">
                <a:solidFill>
                  <a:schemeClr val="dk1"/>
                </a:solidFill>
                <a:latin typeface="Tahoma"/>
                <a:ea typeface="Tahoma"/>
                <a:cs typeface="Tahoma"/>
                <a:sym typeface="Tahoma"/>
              </a:rPr>
              <a:t>.</a:t>
            </a:r>
            <a:endParaRPr sz="2600" b="0" i="0" u="none" strike="noStrike" cap="none" dirty="0">
              <a:solidFill>
                <a:schemeClr val="dk1"/>
              </a:solidFill>
              <a:latin typeface="Calibri"/>
              <a:ea typeface="Calibri"/>
              <a:cs typeface="Calibri"/>
              <a:sym typeface="Calibri"/>
            </a:endParaRPr>
          </a:p>
          <a:p>
            <a:pPr marL="411480" marR="0" lvl="0" indent="-342900" algn="just" rtl="0">
              <a:lnSpc>
                <a:spcPct val="100000"/>
              </a:lnSpc>
              <a:spcBef>
                <a:spcPts val="600"/>
              </a:spcBef>
              <a:spcAft>
                <a:spcPts val="0"/>
              </a:spcAft>
              <a:buClr>
                <a:schemeClr val="accent1"/>
              </a:buClr>
              <a:buSzPts val="2240"/>
              <a:buFont typeface="Noto Sans Symbols"/>
              <a:buChar char="▶"/>
            </a:pPr>
            <a:r>
              <a:rPr lang="en-US" sz="2600" b="0" i="0" u="none" strike="noStrike" cap="none" dirty="0" err="1">
                <a:solidFill>
                  <a:schemeClr val="dk1"/>
                </a:solidFill>
                <a:latin typeface="Tahoma"/>
                <a:ea typeface="Tahoma"/>
                <a:cs typeface="Tahoma"/>
                <a:sym typeface="Tahoma"/>
              </a:rPr>
              <a:t>Pekerja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percaya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pada</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keupayaan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diri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sendiri</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untuk</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menyelesaikan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tugas</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dengan</a:t>
            </a:r>
            <a:r>
              <a:rPr lang="en-US" sz="2600" b="0" i="0" u="none" strike="noStrike" cap="none" dirty="0">
                <a:solidFill>
                  <a:schemeClr val="dk1"/>
                </a:solidFill>
                <a:latin typeface="Tahoma"/>
                <a:ea typeface="Tahoma"/>
                <a:cs typeface="Tahoma"/>
                <a:sym typeface="Tahoma"/>
              </a:rPr>
              <a:t> </a:t>
            </a:r>
            <a:r>
              <a:rPr lang="en-US" sz="2600" b="0" i="0" u="none" strike="noStrike" cap="none" dirty="0" err="1">
                <a:solidFill>
                  <a:schemeClr val="dk1"/>
                </a:solidFill>
                <a:latin typeface="Tahoma"/>
                <a:ea typeface="Tahoma"/>
                <a:cs typeface="Tahoma"/>
                <a:sym typeface="Tahoma"/>
              </a:rPr>
              <a:t>jayanya</a:t>
            </a:r>
            <a:r>
              <a:rPr lang="en-US" sz="2600" b="0" i="0" u="none" strike="noStrike" cap="none" dirty="0">
                <a:solidFill>
                  <a:schemeClr val="dk1"/>
                </a:solidFill>
                <a:latin typeface="Tahoma"/>
                <a:ea typeface="Tahoma"/>
                <a:cs typeface="Tahoma"/>
                <a:sym typeface="Tahoma"/>
              </a:rPr>
              <a:t>.</a:t>
            </a:r>
            <a:endParaRPr sz="2600" b="0" i="0" u="none" strike="noStrike" cap="none" dirty="0">
              <a:solidFill>
                <a:schemeClr val="dk1"/>
              </a:solidFill>
              <a:latin typeface="Calibri"/>
              <a:ea typeface="Calibri"/>
              <a:cs typeface="Calibri"/>
              <a:sym typeface="Calibri"/>
            </a:endParaRPr>
          </a:p>
          <a:p>
            <a:pPr marL="468630" marR="0" lvl="1" indent="0" algn="l" rtl="0">
              <a:lnSpc>
                <a:spcPct val="80000"/>
              </a:lnSpc>
              <a:spcBef>
                <a:spcPts val="600"/>
              </a:spcBef>
              <a:spcAft>
                <a:spcPts val="0"/>
              </a:spcAft>
              <a:buClr>
                <a:srgbClr val="000000"/>
              </a:buClr>
              <a:buSzPts val="2600"/>
              <a:buFont typeface="Arial"/>
              <a:buNone/>
            </a:pPr>
            <a:endParaRPr sz="2600" b="0" i="0" u="none" strike="noStrike" cap="none" dirty="0">
              <a:solidFill>
                <a:schemeClr val="dk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4">
                                            <p:txEl>
                                              <p:pRg st="0" end="0"/>
                                            </p:txEl>
                                          </p:spTgt>
                                        </p:tgtEl>
                                        <p:attrNameLst>
                                          <p:attrName>style.visibility</p:attrName>
                                        </p:attrNameLst>
                                      </p:cBhvr>
                                      <p:to>
                                        <p:strVal val="visible"/>
                                      </p:to>
                                    </p:set>
                                    <p:animEffect transition="in" filter="fade">
                                      <p:cBhvr>
                                        <p:cTn id="7" dur="500"/>
                                        <p:tgtEl>
                                          <p:spTgt spid="4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9"/>
          <p:cNvSpPr txBox="1">
            <a:spLocks noGrp="1"/>
          </p:cNvSpPr>
          <p:nvPr>
            <p:ph type="body" idx="1"/>
          </p:nvPr>
        </p:nvSpPr>
        <p:spPr>
          <a:xfrm>
            <a:off x="3609975" y="504826"/>
            <a:ext cx="7753350" cy="880745"/>
          </a:xfrm>
          <a:prstGeom prst="rect">
            <a:avLst/>
          </a:prstGeom>
          <a:noFill/>
          <a:ln>
            <a:noFill/>
          </a:ln>
        </p:spPr>
        <p:txBody>
          <a:bodyPr spcFirstLastPara="1" wrap="square" lIns="91425" tIns="45700" rIns="91425" bIns="45700" anchor="t" anchorCtr="0">
            <a:noAutofit/>
          </a:bodyPr>
          <a:lstStyle/>
          <a:p>
            <a:pPr marL="6350" lvl="0" indent="0" algn="just" rtl="0">
              <a:lnSpc>
                <a:spcPct val="90000"/>
              </a:lnSpc>
              <a:spcBef>
                <a:spcPts val="600"/>
              </a:spcBef>
              <a:spcAft>
                <a:spcPts val="0"/>
              </a:spcAft>
              <a:buClr>
                <a:schemeClr val="dk1"/>
              </a:buClr>
              <a:buSzPts val="2400"/>
              <a:buNone/>
            </a:pPr>
            <a:r>
              <a:rPr lang="en-US" b="1"/>
              <a:t> v. </a:t>
            </a:r>
            <a:r>
              <a:rPr lang="en-US" b="1">
                <a:latin typeface="Federo"/>
                <a:ea typeface="Federo"/>
                <a:cs typeface="Federo"/>
                <a:sym typeface="Federo"/>
              </a:rPr>
              <a:t>Ganjaran</a:t>
            </a:r>
            <a:r>
              <a:rPr lang="en-US">
                <a:solidFill>
                  <a:schemeClr val="dk1"/>
                </a:solidFill>
                <a:latin typeface="Tahoma"/>
                <a:ea typeface="Tahoma"/>
                <a:cs typeface="Tahoma"/>
                <a:sym typeface="Tahoma"/>
              </a:rPr>
              <a:t>     </a:t>
            </a:r>
            <a:endParaRPr b="1">
              <a:solidFill>
                <a:schemeClr val="dk1"/>
              </a:solidFill>
              <a:latin typeface="Federo"/>
              <a:ea typeface="Federo"/>
              <a:cs typeface="Federo"/>
              <a:sym typeface="Federo"/>
            </a:endParaRPr>
          </a:p>
        </p:txBody>
      </p:sp>
      <p:sp>
        <p:nvSpPr>
          <p:cNvPr id="503" name="Google Shape;503;p59"/>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chemeClr val="accent1"/>
                </a:solidFill>
                <a:latin typeface="Tahoma"/>
                <a:ea typeface="Tahoma"/>
                <a:cs typeface="Tahoma"/>
                <a:sym typeface="Tahoma"/>
              </a:rPr>
              <a:t>43</a:t>
            </a:fld>
            <a:endParaRPr sz="900">
              <a:solidFill>
                <a:schemeClr val="accent1"/>
              </a:solidFill>
              <a:latin typeface="Tahoma"/>
              <a:ea typeface="Tahoma"/>
              <a:cs typeface="Tahoma"/>
              <a:sym typeface="Tahoma"/>
            </a:endParaRPr>
          </a:p>
        </p:txBody>
      </p:sp>
      <p:sp>
        <p:nvSpPr>
          <p:cNvPr id="504" name="Google Shape;504;p59"/>
          <p:cNvSpPr txBox="1"/>
          <p:nvPr/>
        </p:nvSpPr>
        <p:spPr>
          <a:xfrm>
            <a:off x="3820161" y="1385571"/>
            <a:ext cx="7762240" cy="5197475"/>
          </a:xfrm>
          <a:prstGeom prst="rect">
            <a:avLst/>
          </a:prstGeom>
          <a:noFill/>
          <a:ln>
            <a:noFill/>
          </a:ln>
        </p:spPr>
        <p:txBody>
          <a:bodyPr spcFirstLastPara="1" wrap="square" lIns="91425" tIns="45700" rIns="91425" bIns="45700" anchor="t" anchorCtr="0">
            <a:noAutofit/>
          </a:bodyPr>
          <a:lstStyle/>
          <a:p>
            <a:pPr marL="466725" marR="0" lvl="0" indent="-466725" algn="just" rtl="0">
              <a:lnSpc>
                <a:spcPct val="90000"/>
              </a:lnSpc>
              <a:spcBef>
                <a:spcPts val="0"/>
              </a:spcBef>
              <a:spcAft>
                <a:spcPts val="0"/>
              </a:spcAft>
              <a:buClr>
                <a:schemeClr val="accent1"/>
              </a:buClr>
              <a:buSzPts val="1920"/>
              <a:buFont typeface="Noto Sans Symbols"/>
              <a:buChar char="▶"/>
            </a:pPr>
            <a:r>
              <a:rPr lang="en-US" sz="2600" b="0" i="0" u="none" strike="noStrike" cap="none">
                <a:solidFill>
                  <a:schemeClr val="dk1"/>
                </a:solidFill>
                <a:latin typeface="Tahoma"/>
                <a:ea typeface="Tahoma"/>
                <a:cs typeface="Tahoma"/>
                <a:sym typeface="Tahoma"/>
              </a:rPr>
              <a:t>Suatu balasan yang diingini oleh pekerja terhadap usaha dan kerja yang mereka lakukan.</a:t>
            </a:r>
            <a:endParaRPr sz="2600" b="0" i="0" u="none" strike="noStrike" cap="none">
              <a:solidFill>
                <a:schemeClr val="dk1"/>
              </a:solidFill>
              <a:latin typeface="Tahoma"/>
              <a:ea typeface="Tahoma"/>
              <a:cs typeface="Tahoma"/>
              <a:sym typeface="Tahoma"/>
            </a:endParaRPr>
          </a:p>
          <a:p>
            <a:pPr marL="466725" marR="0" lvl="0" indent="-466725" algn="just" rtl="0">
              <a:lnSpc>
                <a:spcPct val="90000"/>
              </a:lnSpc>
              <a:spcBef>
                <a:spcPts val="600"/>
              </a:spcBef>
              <a:spcAft>
                <a:spcPts val="0"/>
              </a:spcAft>
              <a:buClr>
                <a:schemeClr val="accent1"/>
              </a:buClr>
              <a:buSzPts val="2400"/>
              <a:buFont typeface="Noto Sans Symbols"/>
              <a:buChar char="▶"/>
            </a:pPr>
            <a:r>
              <a:rPr lang="en-US" sz="2600" b="0" i="0" u="none" strike="noStrike" cap="none">
                <a:solidFill>
                  <a:schemeClr val="dk1"/>
                </a:solidFill>
                <a:latin typeface="Tahoma"/>
                <a:ea typeface="Tahoma"/>
                <a:cs typeface="Tahoma"/>
                <a:sym typeface="Tahoma"/>
              </a:rPr>
              <a:t>Melibatkan ganjaran kepada pekerja:</a:t>
            </a:r>
            <a:endParaRPr sz="2600" b="0" i="0" u="none" strike="noStrike" cap="none">
              <a:solidFill>
                <a:schemeClr val="dk1"/>
              </a:solidFill>
              <a:latin typeface="Tahoma"/>
              <a:ea typeface="Tahoma"/>
              <a:cs typeface="Tahoma"/>
              <a:sym typeface="Tahoma"/>
            </a:endParaRPr>
          </a:p>
          <a:p>
            <a:pPr marL="993775" marR="0" lvl="1" indent="-457200" algn="just" rtl="0">
              <a:lnSpc>
                <a:spcPct val="90000"/>
              </a:lnSpc>
              <a:spcBef>
                <a:spcPts val="600"/>
              </a:spcBef>
              <a:spcAft>
                <a:spcPts val="0"/>
              </a:spcAft>
              <a:buClr>
                <a:schemeClr val="accent1"/>
              </a:buClr>
              <a:buSzPts val="2240"/>
              <a:buFont typeface="Arial"/>
              <a:buChar char="•"/>
            </a:pPr>
            <a:r>
              <a:rPr lang="en-US" sz="2600" b="0" i="0" u="none" strike="noStrike" cap="none">
                <a:solidFill>
                  <a:schemeClr val="dk1"/>
                </a:solidFill>
                <a:latin typeface="Tahoma"/>
                <a:ea typeface="Tahoma"/>
                <a:cs typeface="Tahoma"/>
                <a:sym typeface="Tahoma"/>
              </a:rPr>
              <a:t>Kewangan – gaji, upah dan bonus, elaun, </a:t>
            </a:r>
            <a:endParaRPr sz="2600" b="0" i="0" u="none" strike="noStrike" cap="none">
              <a:solidFill>
                <a:schemeClr val="dk1"/>
              </a:solidFill>
              <a:latin typeface="Tahoma"/>
              <a:ea typeface="Tahoma"/>
              <a:cs typeface="Tahoma"/>
              <a:sym typeface="Tahoma"/>
            </a:endParaRPr>
          </a:p>
          <a:p>
            <a:pPr marL="993775" marR="0" lvl="1" indent="-457200" algn="l" rtl="0">
              <a:lnSpc>
                <a:spcPct val="90000"/>
              </a:lnSpc>
              <a:spcBef>
                <a:spcPts val="600"/>
              </a:spcBef>
              <a:spcAft>
                <a:spcPts val="0"/>
              </a:spcAft>
              <a:buClr>
                <a:schemeClr val="accent1"/>
              </a:buClr>
              <a:buSzPts val="2240"/>
              <a:buFont typeface="Arial"/>
              <a:buChar char="•"/>
            </a:pPr>
            <a:r>
              <a:rPr lang="en-US" sz="2600" b="0" i="0" u="none" strike="noStrike" cap="none">
                <a:solidFill>
                  <a:schemeClr val="dk1"/>
                </a:solidFill>
                <a:latin typeface="Tahoma"/>
                <a:ea typeface="Tahoma"/>
                <a:cs typeface="Tahoma"/>
                <a:sym typeface="Tahoma"/>
              </a:rPr>
              <a:t>Bukan Kewangan – anugerah khidmat cemerlang, hadiah percutian dan sijil pengiktirafan</a:t>
            </a:r>
            <a:endParaRPr sz="2600" b="0" i="0" u="none" strike="noStrike" cap="none">
              <a:solidFill>
                <a:schemeClr val="dk1"/>
              </a:solidFill>
              <a:latin typeface="Tahoma"/>
              <a:ea typeface="Tahoma"/>
              <a:cs typeface="Tahoma"/>
              <a:sym typeface="Tahoma"/>
            </a:endParaRPr>
          </a:p>
          <a:p>
            <a:pPr marL="466725" marR="0" lvl="0" indent="-466725" algn="just" rtl="0">
              <a:lnSpc>
                <a:spcPct val="90000"/>
              </a:lnSpc>
              <a:spcBef>
                <a:spcPts val="600"/>
              </a:spcBef>
              <a:spcAft>
                <a:spcPts val="0"/>
              </a:spcAft>
              <a:buClr>
                <a:schemeClr val="accent1"/>
              </a:buClr>
              <a:buSzPts val="2080"/>
              <a:buFont typeface="Noto Sans Symbols"/>
              <a:buChar char="▶"/>
            </a:pPr>
            <a:r>
              <a:rPr lang="en-US" sz="2600" b="0" i="0" u="none" strike="noStrike" cap="none">
                <a:solidFill>
                  <a:schemeClr val="dk1"/>
                </a:solidFill>
                <a:latin typeface="Tahoma"/>
                <a:ea typeface="Tahoma"/>
                <a:cs typeface="Tahoma"/>
                <a:sym typeface="Tahoma"/>
              </a:rPr>
              <a:t>Objektif utama adalah untuk memotivasikan pekerja dan menggalakkan pekerja bekerja dengan lebih tekun dan bersemangat.</a:t>
            </a:r>
            <a:endParaRPr sz="2600" b="0" i="0" u="none" strike="noStrike" cap="none">
              <a:solidFill>
                <a:schemeClr val="dk1"/>
              </a:solidFill>
              <a:latin typeface="Tahoma"/>
              <a:ea typeface="Tahoma"/>
              <a:cs typeface="Tahoma"/>
              <a:sym typeface="Tahoma"/>
            </a:endParaRPr>
          </a:p>
        </p:txBody>
      </p:sp>
      <p:pic>
        <p:nvPicPr>
          <p:cNvPr id="505" name="Google Shape;505;p59"/>
          <p:cNvPicPr preferRelativeResize="0"/>
          <p:nvPr/>
        </p:nvPicPr>
        <p:blipFill rotWithShape="1">
          <a:blip r:embed="rId3">
            <a:alphaModFix/>
          </a:blip>
          <a:srcRect/>
          <a:stretch/>
        </p:blipFill>
        <p:spPr>
          <a:xfrm>
            <a:off x="1" y="4539806"/>
            <a:ext cx="3276600" cy="231819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animEffect transition="in" filter="fade">
                                      <p:cBhvr>
                                        <p:cTn id="7" dur="500"/>
                                        <p:tgtEl>
                                          <p:spTgt spid="5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9"/>
        <p:cNvGrpSpPr/>
        <p:nvPr/>
      </p:nvGrpSpPr>
      <p:grpSpPr>
        <a:xfrm>
          <a:off x="0" y="0"/>
          <a:ext cx="0" cy="0"/>
          <a:chOff x="0" y="0"/>
          <a:chExt cx="0" cy="0"/>
        </a:xfrm>
      </p:grpSpPr>
      <p:sp>
        <p:nvSpPr>
          <p:cNvPr id="510" name="Google Shape;510;p60"/>
          <p:cNvSpPr txBox="1">
            <a:spLocks noGrp="1"/>
          </p:cNvSpPr>
          <p:nvPr>
            <p:ph type="sldNum" idx="12"/>
          </p:nvPr>
        </p:nvSpPr>
        <p:spPr>
          <a:xfrm>
            <a:off x="7981950" y="6356352"/>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4472C4"/>
              </a:buClr>
              <a:buSzPts val="900"/>
              <a:buNone/>
            </a:pPr>
            <a:fld id="{00000000-1234-1234-1234-123412341234}" type="slidenum">
              <a:rPr lang="en-US">
                <a:solidFill>
                  <a:srgbClr val="4472C4"/>
                </a:solidFill>
              </a:rPr>
              <a:t>44</a:t>
            </a:fld>
            <a:endParaRPr>
              <a:solidFill>
                <a:srgbClr val="4472C4"/>
              </a:solidFill>
            </a:endParaRPr>
          </a:p>
        </p:txBody>
      </p:sp>
      <p:sp>
        <p:nvSpPr>
          <p:cNvPr id="511" name="Google Shape;511;p60"/>
          <p:cNvSpPr txBox="1"/>
          <p:nvPr/>
        </p:nvSpPr>
        <p:spPr>
          <a:xfrm>
            <a:off x="5095875" y="2243137"/>
            <a:ext cx="4355680"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600"/>
              <a:buFont typeface="Arial"/>
              <a:buNone/>
            </a:pPr>
            <a:r>
              <a:rPr lang="en-US" sz="9600" b="0" i="0" u="none" strike="noStrike" cap="none">
                <a:solidFill>
                  <a:srgbClr val="7030A0"/>
                </a:solidFill>
                <a:latin typeface="Arial"/>
                <a:ea typeface="Arial"/>
                <a:cs typeface="Arial"/>
                <a:sym typeface="Arial"/>
              </a:rPr>
              <a:t>TAMAT</a:t>
            </a:r>
            <a:endParaRPr sz="1400" b="0" i="0" u="none" strike="noStrike" cap="none">
              <a:solidFill>
                <a:srgbClr val="000000"/>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name="www.jpppt.com">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2522</Words>
  <Application>Microsoft Office PowerPoint</Application>
  <PresentationFormat>宽屏</PresentationFormat>
  <Paragraphs>412</Paragraphs>
  <Slides>44</Slides>
  <Notes>44</Notes>
  <HiddenSlides>0</HiddenSlides>
  <MMClips>0</MMClips>
  <ScaleCrop>false</ScaleCrop>
  <HeadingPairs>
    <vt:vector size="4" baseType="variant">
      <vt:variant>
        <vt:lpstr>主题</vt:lpstr>
      </vt:variant>
      <vt:variant>
        <vt:i4>3</vt:i4>
      </vt:variant>
      <vt:variant>
        <vt:lpstr>幻灯片标题</vt:lpstr>
      </vt:variant>
      <vt:variant>
        <vt:i4>44</vt:i4>
      </vt:variant>
    </vt:vector>
  </HeadingPairs>
  <TitlesOfParts>
    <vt:vector size="47" baseType="lpstr">
      <vt:lpstr>www.jpppt.com</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Suhaida Binti. Abu Bakar</dc:creator>
  <cp:lastModifiedBy>SEE ZHI KAI</cp:lastModifiedBy>
  <cp:revision>3</cp:revision>
  <cp:lastPrinted>2022-08-05T01:27:59Z</cp:lastPrinted>
  <dcterms:modified xsi:type="dcterms:W3CDTF">2022-11-21T22:14:22Z</dcterms:modified>
</cp:coreProperties>
</file>