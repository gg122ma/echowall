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1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85" r:id="rId25"/>
    <p:sldId id="286" r:id="rId26"/>
    <p:sldId id="287" r:id="rId27"/>
    <p:sldId id="288" r:id="rId28"/>
    <p:sldId id="289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Federo" panose="02000000000000000000" pitchFamily="2" charset="0"/>
      <p:regular r:id="rId41"/>
    </p:embeddedFont>
    <p:embeddedFont>
      <p:font typeface="Tahoma" panose="020B0604030504040204" pitchFamily="34" charset="0"/>
      <p:regular r:id="rId42"/>
      <p:bold r:id="rId43"/>
    </p:embeddedFont>
    <p:embeddedFont>
      <p:font typeface="Trebuchet MS" panose="020B0603020202020204" pitchFamily="34" charset="0"/>
      <p:regular r:id="rId44"/>
      <p:bold r:id="rId45"/>
      <p:italic r:id="rId46"/>
      <p:boldItalic r:id="rId47"/>
    </p:embeddedFont>
    <p:embeddedFont>
      <p:font typeface="Verdana" panose="020B060403050404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5F77A7-ADA5-4C6B-A79D-C8FAF915ECD8}">
  <a:tblStyle styleId="{E65F77A7-ADA5-4C6B-A79D-C8FAF915EC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BF1E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BF1E8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6F09ACF-3A1E-44C0-99DD-44B6218DBB9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747DABC-5D81-445E-8A29-621083D7FE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8" y="44"/>
      </p:cViewPr>
      <p:guideLst>
        <p:guide orient="horz" pos="2137"/>
        <p:guide pos="2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font" Target="fonts/font3.fntdata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font" Target="fonts/font6.fntdata" /><Relationship Id="rId47" Type="http://schemas.openxmlformats.org/officeDocument/2006/relationships/font" Target="fonts/font11.fntdata" /><Relationship Id="rId50" Type="http://schemas.openxmlformats.org/officeDocument/2006/relationships/font" Target="fonts/font14.fntdata" /><Relationship Id="rId55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font" Target="fonts/font2.fntdata" /><Relationship Id="rId46" Type="http://schemas.openxmlformats.org/officeDocument/2006/relationships/font" Target="fonts/font10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font" Target="fonts/font5.fntdata" /><Relationship Id="rId5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font" Target="fonts/font1.fntdata" /><Relationship Id="rId40" Type="http://schemas.openxmlformats.org/officeDocument/2006/relationships/font" Target="fonts/font4.fntdata" /><Relationship Id="rId45" Type="http://schemas.openxmlformats.org/officeDocument/2006/relationships/font" Target="fonts/font9.fntdata" /><Relationship Id="rId53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notesMaster" Target="notesMasters/notesMaster1.xml" /><Relationship Id="rId49" Type="http://schemas.openxmlformats.org/officeDocument/2006/relationships/font" Target="fonts/font13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font" Target="fonts/font8.fntdata" /><Relationship Id="rId52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font" Target="fonts/font7.fntdata" /><Relationship Id="rId48" Type="http://schemas.openxmlformats.org/officeDocument/2006/relationships/font" Target="fonts/font12.fntdata" /><Relationship Id="rId8" Type="http://schemas.openxmlformats.org/officeDocument/2006/relationships/slide" Target="slides/slide7.xml" /><Relationship Id="rId51" Type="http://schemas.openxmlformats.org/officeDocument/2006/relationships/font" Target="fonts/font15.fntdata" /><Relationship Id="rId3" Type="http://schemas.openxmlformats.org/officeDocument/2006/relationships/slide" Target="slides/slide2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0213" cy="45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254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8" name="Google Shape;29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95325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3" name="Google Shape;36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87" name="Google Shape;87;p13"/>
          <p:cNvSpPr txBox="1"/>
          <p:nvPr/>
        </p:nvSpPr>
        <p:spPr>
          <a:xfrm>
            <a:off x="4091940" y="738108"/>
            <a:ext cx="59055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BAB 2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4400" b="1" i="0" u="none" strike="noStrike" cap="none" dirty="0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228599" y="3710763"/>
            <a:ext cx="5768163" cy="591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en-US" sz="4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2.5 Pengawalan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43573" y="2696210"/>
            <a:ext cx="6892290" cy="2667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381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1807535" y="1376045"/>
            <a:ext cx="7193589" cy="501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a.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Takrif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kawalan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3763" marR="0" lvl="0" indent="-630238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Proses di mana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pengurus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memantau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 	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membandingkan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dan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membuat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tindakan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pembetulan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bagi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memastikan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hasil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akhir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kerja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tercapai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seperti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dirancang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6725" marR="0" lvl="0" indent="-20320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	Proses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memantau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prestasi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dan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mengambil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	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tindakan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untuk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memastikan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hasil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tercapai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	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seperti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dijangkakan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0995" marR="0" lvl="0" indent="-340995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ahoma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0" y="147320"/>
            <a:ext cx="79248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2.5		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Pengawalan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2.5.1	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Pengenalan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Fungsi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Kawalan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1010920" y="136524"/>
            <a:ext cx="8229600" cy="501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b.Kepentingan kawalan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265680" y="736600"/>
            <a:ext cx="6772592" cy="513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Mengukur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pekerja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Mekanisma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kawalan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dapat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memantau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pekerja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kecekapan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membuat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keputusan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2.	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Jaminan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kualiti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produk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66725" marR="0" lvl="1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Mengawasi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memeriksa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meningkatkan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mutu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keluaran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3.	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Mengenalpasti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peluang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ancaman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66725" marR="0" lvl="0" indent="-466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Perniagaan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menganalisa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peluang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ancaman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terdapat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di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sekitar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perniagaan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seperti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persaingan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perubahan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teknologi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politik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undang-undang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ekonomi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dan lain-lain.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	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Bersedia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menghadapi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ancaman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46088" marR="0" lvl="2" indent="-44608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rebuchet M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Organisasi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sentiasa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berdepan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persekitaran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yang 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dinamik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sentiasa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berubah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terutamanya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apabila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melibatkan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perubahan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citarasa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keperluan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pengguna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2245360" y="921385"/>
            <a:ext cx="6441440" cy="501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AutoNum type="alphaLcPeriod"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Takrif Proses Kawalan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Proses kawalan ialah langkah-langkah yang perlu dilakukan untuk mengawal melibatkan </a:t>
            </a:r>
            <a:r>
              <a:rPr lang="en-US" sz="2800" b="0" i="1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penetapan piawai, mengukur prestasi sebenar, membuat perbandingan antara prestasi dan piawai dan melakukan tindakan pembaikan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supaya objektif yang dirancang tercapai.   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1657985" y="442913"/>
            <a:ext cx="7386320" cy="565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a. Rajah Proses Kawalan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893065" y="1340799"/>
            <a:ext cx="2331720" cy="64516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MENETAPKAN PIAWAIAN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2892430" y="2442524"/>
            <a:ext cx="2331720" cy="64516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PENCAPAIAN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893065" y="4884734"/>
            <a:ext cx="2331720" cy="922972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TERUSKAN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536060" y="3466144"/>
            <a:ext cx="2331720" cy="92202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PEMBETULAN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2661290" y="3466144"/>
            <a:ext cx="2794635" cy="92202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MEMBANDINGKAN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PENCAPAIAN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DENGAN PIAWAIAN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932560" y="1985959"/>
            <a:ext cx="544195" cy="45656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18"/>
          <p:cNvSpPr/>
          <p:nvPr/>
        </p:nvSpPr>
        <p:spPr>
          <a:xfrm rot="-5400000">
            <a:off x="5710874" y="3510910"/>
            <a:ext cx="615315" cy="92138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932560" y="3087684"/>
            <a:ext cx="544195" cy="45656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932560" y="4428169"/>
            <a:ext cx="544195" cy="45656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923410" y="4388164"/>
            <a:ext cx="544195" cy="65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18"/>
          <p:cNvSpPr/>
          <p:nvPr/>
        </p:nvSpPr>
        <p:spPr>
          <a:xfrm rot="5400000">
            <a:off x="5549592" y="4503099"/>
            <a:ext cx="516255" cy="1080770"/>
          </a:xfrm>
          <a:prstGeom prst="downArrow">
            <a:avLst>
              <a:gd name="adj1" fmla="val 52372"/>
              <a:gd name="adj2" fmla="val 37824"/>
            </a:avLst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5472122" y="3141024"/>
            <a:ext cx="1069340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TIDAK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411600" y="4884734"/>
            <a:ext cx="763270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512315" y="4522149"/>
            <a:ext cx="626745" cy="38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329070" y="254000"/>
            <a:ext cx="7656180" cy="5732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edero"/>
              <a:buAutoNum type="romanLcPeriod"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Menetapkan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Piawaian</a:t>
            </a:r>
            <a:endParaRPr sz="28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Proses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kawalan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bermula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membentuk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objektif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ingin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dicapai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merujuk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kepada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perancangan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rancangan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hendak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dilaksanakan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mengandungi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tertentu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hendak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dicapai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perlulah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ditetapkan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jelas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boleh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diukur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Contoh:Jabatan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pengeluaran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Syarikat Kek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Sedap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menetapkan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objektif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mengeluarkan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5000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pisang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sehari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Andaian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waktu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bekerja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9jam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sehari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8125" marR="0" lvl="4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endParaRPr sz="2600" b="1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87080" y="0"/>
            <a:ext cx="8516896" cy="6507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73405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edero"/>
              <a:buAutoNum type="romanLcPeriod" startAt="2"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Mengukur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Pencapaian</a:t>
            </a:r>
            <a:endParaRPr sz="28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19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519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mengukur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pencapaian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2519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Sebelum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mengukur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beberapa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perkara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dikenalpasti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2519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Antaranya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ialah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362075" marR="0" lvl="2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Char char="▪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ingin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dinilai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cth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bil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362075" marR="0" lvl="2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Char char="▪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Bagaimana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proses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penilaian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dilakukan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cth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mesin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automatik</a:t>
            </a: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362075" marR="0" lvl="2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Char char="▪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Kekerapan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penilaian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dilakukan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cth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3jam</a:t>
            </a:r>
          </a:p>
          <a:p>
            <a:pPr marL="904875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</a:pPr>
            <a:endParaRPr sz="26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14400" lvl="2" indent="-457200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Contohnya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masa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3 jam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pekerja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Syarikat 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Sedap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membuat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pengiraan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berapa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jumlah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pisang yang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telah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bejaya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dikeluarkan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didapati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syarikat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berjaya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mengeluarkan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1200 </a:t>
            </a:r>
            <a:r>
              <a:rPr lang="en-US" sz="26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r>
              <a:rPr lang="en-US" sz="2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pisang</a:t>
            </a:r>
            <a:endParaRPr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0" y="111760"/>
            <a:ext cx="9144000" cy="674624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18977" y="265113"/>
            <a:ext cx="8495414" cy="609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71500" marR="0" lvl="0" indent="-571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edero"/>
              <a:buAutoNum type="romanLcPeriod" startAt="3"/>
            </a:pPr>
            <a:r>
              <a:rPr lang="en-US" sz="23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Membandingkan</a:t>
            </a:r>
            <a:r>
              <a:rPr lang="en-US" sz="23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3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Pencapaian</a:t>
            </a:r>
            <a:r>
              <a:rPr lang="en-US" sz="23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3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dengan</a:t>
            </a:r>
            <a:r>
              <a:rPr lang="en-US" sz="23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23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Piawaian</a:t>
            </a:r>
            <a:endParaRPr sz="23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90678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membuat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perbandingan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antara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ditetapkan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3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0678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Perbandingan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dilakukan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tujuan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mengenalpasti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perbezaan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antara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maklumat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telah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dikumpulkan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daripada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penilaian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telah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ditetapkan</a:t>
            </a:r>
            <a:endParaRPr sz="23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0678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membuat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perbandingan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lazimnya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bergantung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kepada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laporan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diserahkan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kepadanya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oleh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staf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bawahan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bertanggungjawab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merekodkan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hasil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keputusan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kemajuan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  <a:p>
            <a:pPr marL="90678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lvl="0" indent="-4572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Contohnya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Syarikat 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Sedap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sepatutnya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mengeluarkan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sebanyak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5000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pisang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tapi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syarikat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hanya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berjaya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mengeluarkan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3600 </a:t>
            </a:r>
            <a:r>
              <a:rPr lang="en-US" sz="23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sahaja</a:t>
            </a:r>
            <a:r>
              <a:rPr lang="en-US" sz="23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(1200 x 3pusingan).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Terdapat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kekurangan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sebanyak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1400 </a:t>
            </a:r>
            <a:r>
              <a:rPr lang="en-US" sz="23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pisang</a:t>
            </a:r>
            <a:endParaRPr sz="23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81280" y="136524"/>
            <a:ext cx="9062720" cy="6584952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-159489" y="161288"/>
            <a:ext cx="9062719" cy="632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457200" marR="0" lvl="0" indent="-455294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iv.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Membuat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Langkah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Pembetulan</a:t>
            </a:r>
            <a:endParaRPr sz="24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5294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906780" marR="0" lvl="0" indent="-454025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boleh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memilih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diantara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3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tindakan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tidak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buat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apa-apa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membuat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pembetulan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keatas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prestasi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atau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menyemak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semula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piawaian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marR="0" lvl="0" indent="-454025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Tindakan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pembetulan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pembaikan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dilakukan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tahap-tahap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operasi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tertentu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dikenalpasti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menyebabkan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penyimpangan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06780" marR="0" lvl="0" indent="-454025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Jika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didapati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semua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faktor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dinilai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mencapai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diubahsuai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mungkin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piawaian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terlalu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tinggi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06780" marR="0" lvl="0" indent="-454025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Jika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penyimpangan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diteruskan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seperti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biasa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tindakan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susulan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dilaksanakan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6780" marR="0" lvl="0" indent="-454025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Contohnya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Syarikat Kek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Sedap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memastikan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bekalan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bahan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mentah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mencukupi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supaya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berlaku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lagi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masalah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kekurangan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pengeluaran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 masa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hadapan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-121743" y="98655"/>
            <a:ext cx="8766013" cy="648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contoh</a:t>
            </a:r>
            <a:endParaRPr sz="28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096162" y="676694"/>
            <a:ext cx="2331720" cy="64516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MENETAPKAN PIAWAIAN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177996" y="2215890"/>
            <a:ext cx="2331720" cy="64516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PENCAPAIAN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1327619" y="5108704"/>
            <a:ext cx="2331720" cy="92202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PEMBETULAN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6162" y="3609100"/>
            <a:ext cx="2794635" cy="92202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MEMBANDINGKAN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PENCAPAIAN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ahom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DENGAN PIAWAIAN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919930-D154-C9A7-81F7-FD6E8C0DB4E6}"/>
              </a:ext>
            </a:extLst>
          </p:cNvPr>
          <p:cNvSpPr/>
          <p:nvPr/>
        </p:nvSpPr>
        <p:spPr>
          <a:xfrm>
            <a:off x="4497572" y="490115"/>
            <a:ext cx="4017777" cy="922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5000 </a:t>
            </a:r>
            <a:r>
              <a:rPr lang="en-US" sz="1800" b="1" dirty="0" err="1"/>
              <a:t>kek</a:t>
            </a:r>
            <a:r>
              <a:rPr lang="en-US" sz="1800" b="1" dirty="0"/>
              <a:t> pisang </a:t>
            </a:r>
            <a:r>
              <a:rPr lang="en-US" sz="1800" b="1" dirty="0" err="1"/>
              <a:t>sehari</a:t>
            </a:r>
            <a:endParaRPr lang="en-MY" sz="1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CE8A62-1C13-AC80-572F-D0AFF54B3D61}"/>
              </a:ext>
            </a:extLst>
          </p:cNvPr>
          <p:cNvSpPr/>
          <p:nvPr/>
        </p:nvSpPr>
        <p:spPr>
          <a:xfrm>
            <a:off x="4497572" y="2108225"/>
            <a:ext cx="4017776" cy="1184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1200 </a:t>
            </a:r>
            <a:r>
              <a:rPr lang="en-US" sz="1800" b="1" dirty="0" err="1"/>
              <a:t>kek</a:t>
            </a:r>
            <a:r>
              <a:rPr lang="en-US" sz="1800" b="1" dirty="0"/>
              <a:t> pisang 3 jam</a:t>
            </a:r>
            <a:endParaRPr lang="en-MY" sz="18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B77ACF-994D-8CCA-6F20-6A99F995E829}"/>
              </a:ext>
            </a:extLst>
          </p:cNvPr>
          <p:cNvSpPr/>
          <p:nvPr/>
        </p:nvSpPr>
        <p:spPr>
          <a:xfrm>
            <a:off x="4449062" y="3756979"/>
            <a:ext cx="4017776" cy="1184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/>
              <a:t>kurang</a:t>
            </a:r>
            <a:r>
              <a:rPr lang="en-US" sz="1800" b="1" dirty="0"/>
              <a:t> 1400 </a:t>
            </a:r>
            <a:r>
              <a:rPr lang="en-US" sz="1800" b="1" dirty="0" err="1"/>
              <a:t>kek</a:t>
            </a:r>
            <a:r>
              <a:rPr lang="en-US" sz="1800" b="1" dirty="0"/>
              <a:t> </a:t>
            </a:r>
            <a:r>
              <a:rPr lang="en-US" sz="1800" b="1" dirty="0" err="1"/>
              <a:t>sehari</a:t>
            </a:r>
            <a:endParaRPr lang="en-MY" sz="1800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93442D-9DC0-6034-D748-31DFAA07A54B}"/>
              </a:ext>
            </a:extLst>
          </p:cNvPr>
          <p:cNvSpPr/>
          <p:nvPr/>
        </p:nvSpPr>
        <p:spPr>
          <a:xfrm>
            <a:off x="4449062" y="5108704"/>
            <a:ext cx="4017776" cy="1184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/>
              <a:t>Pastikan</a:t>
            </a:r>
            <a:r>
              <a:rPr lang="en-US" sz="1800" b="1" dirty="0"/>
              <a:t> </a:t>
            </a:r>
            <a:r>
              <a:rPr lang="en-US" sz="1800" b="1" dirty="0" err="1"/>
              <a:t>bahan</a:t>
            </a:r>
            <a:r>
              <a:rPr lang="en-US" sz="1800" b="1" dirty="0"/>
              <a:t> </a:t>
            </a:r>
            <a:r>
              <a:rPr lang="en-US" sz="1800" b="1" dirty="0" err="1"/>
              <a:t>mentah</a:t>
            </a:r>
            <a:r>
              <a:rPr lang="en-US" sz="1800" b="1" dirty="0"/>
              <a:t> </a:t>
            </a:r>
            <a:r>
              <a:rPr lang="en-US" sz="1800" b="1" dirty="0" err="1"/>
              <a:t>cukup</a:t>
            </a:r>
            <a:endParaRPr lang="en-MY" sz="1800" b="1" dirty="0"/>
          </a:p>
        </p:txBody>
      </p:sp>
    </p:spTree>
    <p:extLst>
      <p:ext uri="{BB962C8B-B14F-4D97-AF65-F5344CB8AC3E}">
        <p14:creationId xmlns:p14="http://schemas.microsoft.com/office/powerpoint/2010/main" val="31091852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1928813" y="244475"/>
            <a:ext cx="6124892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		Pengawalan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2.5.3		Alat-alat Kawalan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23"/>
          <p:cNvGrpSpPr/>
          <p:nvPr/>
        </p:nvGrpSpPr>
        <p:grpSpPr>
          <a:xfrm>
            <a:off x="1743075" y="1712595"/>
            <a:ext cx="6900863" cy="3432810"/>
            <a:chOff x="-1" y="0"/>
            <a:chExt cx="6958965" cy="3432810"/>
          </a:xfrm>
        </p:grpSpPr>
        <p:sp>
          <p:nvSpPr>
            <p:cNvPr id="168" name="Google Shape;168;p23"/>
            <p:cNvSpPr/>
            <p:nvPr/>
          </p:nvSpPr>
          <p:spPr>
            <a:xfrm rot="-5400000">
              <a:off x="881538" y="-881538"/>
              <a:ext cx="1716405" cy="3479482"/>
            </a:xfrm>
            <a:prstGeom prst="round1Rect">
              <a:avLst>
                <a:gd name="adj" fmla="val 16667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3"/>
            <p:cNvSpPr txBox="1"/>
            <p:nvPr/>
          </p:nvSpPr>
          <p:spPr>
            <a:xfrm>
              <a:off x="0" y="0"/>
              <a:ext cx="3479482" cy="1287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49350" bIns="149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100"/>
                <a:buFont typeface="Tahoma"/>
                <a:buNone/>
              </a:pPr>
              <a:r>
                <a:rPr lang="en-US" sz="3600" b="1" i="0" u="none" strike="noStrike" cap="none">
                  <a:solidFill>
                    <a:srgbClr val="990033"/>
                  </a:solidFill>
                  <a:latin typeface="Arial"/>
                  <a:ea typeface="Arial"/>
                  <a:cs typeface="Arial"/>
                  <a:sym typeface="Arial"/>
                </a:rPr>
                <a:t>Belanjawan</a:t>
              </a:r>
              <a:endParaRPr sz="3600" b="0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3479482" y="0"/>
              <a:ext cx="3479482" cy="1716405"/>
            </a:xfrm>
            <a:prstGeom prst="round1Rect">
              <a:avLst>
                <a:gd name="adj" fmla="val 16667"/>
              </a:avLst>
            </a:prstGeom>
            <a:gradFill>
              <a:gsLst>
                <a:gs pos="0">
                  <a:srgbClr val="76F24C"/>
                </a:gs>
                <a:gs pos="50000">
                  <a:srgbClr val="61F813"/>
                </a:gs>
                <a:gs pos="100000">
                  <a:srgbClr val="52E306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3"/>
            <p:cNvSpPr txBox="1"/>
            <p:nvPr/>
          </p:nvSpPr>
          <p:spPr>
            <a:xfrm>
              <a:off x="3479482" y="0"/>
              <a:ext cx="3479482" cy="1287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49350" bIns="149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ahoma"/>
                <a:buNone/>
              </a:pPr>
              <a:r>
                <a:rPr lang="en-US" sz="3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Carta Gantt</a:t>
              </a:r>
              <a:endPara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3"/>
            <p:cNvSpPr/>
            <p:nvPr/>
          </p:nvSpPr>
          <p:spPr>
            <a:xfrm rot="10800000">
              <a:off x="0" y="1716405"/>
              <a:ext cx="3479482" cy="1716405"/>
            </a:xfrm>
            <a:prstGeom prst="round1Rect">
              <a:avLst>
                <a:gd name="adj" fmla="val 16667"/>
              </a:avLst>
            </a:prstGeom>
            <a:gradFill>
              <a:gsLst>
                <a:gs pos="0">
                  <a:srgbClr val="5AE5A3"/>
                </a:gs>
                <a:gs pos="50000">
                  <a:srgbClr val="34E899"/>
                </a:gs>
                <a:gs pos="100000">
                  <a:srgbClr val="24D68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3"/>
            <p:cNvSpPr txBox="1"/>
            <p:nvPr/>
          </p:nvSpPr>
          <p:spPr>
            <a:xfrm>
              <a:off x="0" y="2145506"/>
              <a:ext cx="3479482" cy="1287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49350" bIns="149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ahoma"/>
                <a:buNone/>
              </a:pPr>
              <a:r>
                <a:rPr lang="en-US" sz="3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Carta PERT/CPM</a:t>
              </a:r>
              <a:endPara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 rot="5400000">
              <a:off x="4361021" y="834866"/>
              <a:ext cx="1716405" cy="3479482"/>
            </a:xfrm>
            <a:prstGeom prst="round1Rect">
              <a:avLst>
                <a:gd name="adj" fmla="val 16667"/>
              </a:avLst>
            </a:prstGeom>
            <a:gradFill>
              <a:gsLst>
                <a:gs pos="0">
                  <a:srgbClr val="6EA3DA"/>
                </a:gs>
                <a:gs pos="50000">
                  <a:srgbClr val="5299DA"/>
                </a:gs>
                <a:gs pos="100000">
                  <a:srgbClr val="4186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3"/>
            <p:cNvSpPr txBox="1"/>
            <p:nvPr/>
          </p:nvSpPr>
          <p:spPr>
            <a:xfrm>
              <a:off x="3479482" y="2145505"/>
              <a:ext cx="3479482" cy="1287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49350" bIns="149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ahoma"/>
                <a:buNone/>
              </a:pPr>
              <a:r>
                <a:rPr lang="en-US" sz="3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Titik Pulang Modal</a:t>
              </a:r>
              <a:endPara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2117223" y="1173480"/>
              <a:ext cx="2507679" cy="10858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EECD5"/>
                </a:gs>
                <a:gs pos="50000">
                  <a:srgbClr val="FFE8C7"/>
                </a:gs>
                <a:gs pos="100000">
                  <a:srgbClr val="E3CDAA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3"/>
            <p:cNvSpPr txBox="1"/>
            <p:nvPr/>
          </p:nvSpPr>
          <p:spPr>
            <a:xfrm>
              <a:off x="2368001" y="1329197"/>
              <a:ext cx="2003901" cy="774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Federo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Alat-alat Kawalan</a:t>
              </a:r>
              <a:endPara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1818166" y="457200"/>
            <a:ext cx="6921797" cy="560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571500" marR="0" lvl="0" indent="-5715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AutoNum type="romanLcPeriod"/>
            </a:pP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Belanjawan</a:t>
            </a:r>
            <a:endParaRPr sz="32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Satu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bentuk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perancangan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berangka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memperuntukkan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sumber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kewangan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pelaksanaan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sesuatu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sng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bagi</a:t>
            </a:r>
            <a:r>
              <a:rPr lang="en-US" sz="2400" b="0" i="0" u="sng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sng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sesuatu</a:t>
            </a:r>
            <a:r>
              <a:rPr lang="en-US" sz="2400" b="0" i="0" u="sng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sng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tempoh</a:t>
            </a:r>
            <a:r>
              <a:rPr lang="en-US" sz="2400" b="0" i="0" u="sng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sng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tertentu</a:t>
            </a:r>
            <a:r>
              <a:rPr lang="en-US" sz="2400" b="0" i="0" u="sng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b="0" i="1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KEGUNAAN: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sebagai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panduan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dimana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pihak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pengurusan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dapat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mengawal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perbelanjaan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seperti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ditetapkan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body" idx="1"/>
          </p:nvPr>
        </p:nvSpPr>
        <p:spPr>
          <a:xfrm>
            <a:off x="1477926" y="870585"/>
            <a:ext cx="7666074" cy="427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endParaRPr sz="2400" b="0" i="0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4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Contohnya</a:t>
            </a:r>
            <a:r>
              <a:rPr lang="en-US" sz="24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Belanjawan</a:t>
            </a:r>
            <a:r>
              <a:rPr lang="en-US" sz="24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4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Pada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bulan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Disember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Syarikat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Kejora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telah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membentangkan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perbelanjaan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operasian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peruntukkan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kewangan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sebanyak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RM20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juta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bagi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sepanjang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tahun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mesyuarat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0" i="0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kewangan</a:t>
            </a:r>
            <a:r>
              <a:rPr lang="en-US" sz="2800" b="0" i="0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800" dirty="0"/>
          </a:p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400" dirty="0"/>
          </a:p>
        </p:txBody>
      </p:sp>
      <p:sp>
        <p:nvSpPr>
          <p:cNvPr id="189" name="Google Shape;189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350430" y="168422"/>
            <a:ext cx="7877175" cy="78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   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ii.Carta Gantt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2094614" y="1002059"/>
            <a:ext cx="6658226" cy="485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Carta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berjadual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menunjukkan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output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dirancang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tempoh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masa.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Carta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menunjukkan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susunan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langkah-langkah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suatu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masa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diperuntukkan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bagi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menyelesaikan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langkah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tersebut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body" idx="1"/>
          </p:nvPr>
        </p:nvSpPr>
        <p:spPr>
          <a:xfrm>
            <a:off x="2296632" y="626744"/>
            <a:ext cx="6602819" cy="501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Gantt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menunjukkan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secara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grafik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bila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kegiatan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dilaksanakan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membandingkan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unjuran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tersebut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progres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bagi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kegiatan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Jadual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keseluruhan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dibentuk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dengan</a:t>
            </a:r>
            <a:r>
              <a:rPr lang="en-US" sz="2400" b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menetapkan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masa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permulaan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 masa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siap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kegiatan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perlu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disempurnakan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mengikut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turutan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sehingga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tamatnya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berkenaan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KEGUNAAN: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mengawal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atau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memastikan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perniagaan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dilaksanakan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seperti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masa yang </a:t>
            </a:r>
            <a:r>
              <a:rPr lang="en-US" sz="24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ditetapkan</a:t>
            </a:r>
            <a:r>
              <a:rPr lang="en-US" sz="24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400" dirty="0"/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title"/>
          </p:nvPr>
        </p:nvSpPr>
        <p:spPr>
          <a:xfrm>
            <a:off x="1371600" y="677545"/>
            <a:ext cx="7467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None/>
            </a:pPr>
            <a:r>
              <a:rPr lang="en-US" sz="2160">
                <a:latin typeface="Tahoma"/>
                <a:ea typeface="Tahoma"/>
                <a:cs typeface="Tahoma"/>
                <a:sym typeface="Tahoma"/>
              </a:rPr>
              <a:t>Contoh: Proses membuat baju Kurung Butik ZZA yang dirancangkan bagi bulan Februari</a:t>
            </a:r>
            <a:endParaRPr/>
          </a:p>
        </p:txBody>
      </p:sp>
      <p:graphicFrame>
        <p:nvGraphicFramePr>
          <p:cNvPr id="220" name="Google Shape;220;p29"/>
          <p:cNvGraphicFramePr/>
          <p:nvPr/>
        </p:nvGraphicFramePr>
        <p:xfrm>
          <a:off x="1889760" y="1645920"/>
          <a:ext cx="6248400" cy="2286050"/>
        </p:xfrm>
        <a:graphic>
          <a:graphicData uri="http://schemas.openxmlformats.org/drawingml/2006/table">
            <a:tbl>
              <a:tblPr firstRow="1" bandRow="1">
                <a:noFill/>
                <a:tableStyleId>{E65F77A7-ADA5-4C6B-A79D-C8FAF915ECD8}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Kerja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Masa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Melakar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1/2 – 7/2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Menggunting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7/2 -14/2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Menjahit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8/2–21/2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Membungkus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15/2 – 28/2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1" name="Google Shape;221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881686" y="495656"/>
            <a:ext cx="8849360" cy="833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Carta Gantt : Aktiviti Menyiapkan 500 helai baju Kurung yang  dijangkakan dalam bulan Februari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6108513" y="6201607"/>
            <a:ext cx="2371296" cy="58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Prestasi sebenar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28" name="Google Shape;228;p30"/>
          <p:cNvGraphicFramePr/>
          <p:nvPr>
            <p:extLst>
              <p:ext uri="{D42A27DB-BD31-4B8C-83A1-F6EECF244321}">
                <p14:modId xmlns:p14="http://schemas.microsoft.com/office/powerpoint/2010/main" val="3100872472"/>
              </p:ext>
            </p:extLst>
          </p:nvPr>
        </p:nvGraphicFramePr>
        <p:xfrm>
          <a:off x="531184" y="1600200"/>
          <a:ext cx="7948625" cy="4250290"/>
        </p:xfrm>
        <a:graphic>
          <a:graphicData uri="http://schemas.openxmlformats.org/drawingml/2006/table">
            <a:tbl>
              <a:tblPr firstRow="1" bandRow="1">
                <a:noFill/>
                <a:tableStyleId>{66F09ACF-3A1E-44C0-99DD-44B6218DBB93}</a:tableStyleId>
              </a:tblPr>
              <a:tblGrid>
                <a:gridCol w="20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Tarikh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/Aktiviti</a:t>
                      </a: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2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Melakar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2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2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Menggunting</a:t>
                      </a:r>
                      <a:endParaRPr sz="24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2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2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Menjahit</a:t>
                      </a:r>
                      <a:endParaRPr sz="24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2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2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Membungkus</a:t>
                      </a:r>
                      <a:endParaRPr sz="24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2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9" name="Google Shape;229;p30"/>
          <p:cNvSpPr txBox="1"/>
          <p:nvPr/>
        </p:nvSpPr>
        <p:spPr>
          <a:xfrm>
            <a:off x="661759" y="5968853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3858566" y="6378398"/>
            <a:ext cx="2895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Perancangan</a:t>
            </a: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299720" y="6049926"/>
            <a:ext cx="657210" cy="62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974365" y="6334694"/>
            <a:ext cx="533400" cy="34740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3174616" y="6421623"/>
            <a:ext cx="516891" cy="31366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6010663" y="5449019"/>
            <a:ext cx="195699" cy="586118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324599" y="5715000"/>
            <a:ext cx="25172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Tarikh pemantauan 19/2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2428858" y="1710438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3706434" y="1762933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5028541" y="1710438"/>
            <a:ext cx="667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6086847" y="1710438"/>
            <a:ext cx="6673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7145152" y="1710438"/>
            <a:ext cx="77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D03B01-EB11-CA16-2930-9E9369E2D189}"/>
              </a:ext>
            </a:extLst>
          </p:cNvPr>
          <p:cNvSpPr/>
          <p:nvPr/>
        </p:nvSpPr>
        <p:spPr>
          <a:xfrm>
            <a:off x="4305300" y="4056279"/>
            <a:ext cx="1034796" cy="4517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C5A61A-025E-56BB-DAF6-2095F4DE3A5E}"/>
              </a:ext>
            </a:extLst>
          </p:cNvPr>
          <p:cNvSpPr/>
          <p:nvPr/>
        </p:nvSpPr>
        <p:spPr>
          <a:xfrm>
            <a:off x="5535303" y="4960832"/>
            <a:ext cx="1034796" cy="4030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E517EC-C604-8477-F987-A9030142B057}"/>
              </a:ext>
            </a:extLst>
          </p:cNvPr>
          <p:cNvSpPr/>
          <p:nvPr/>
        </p:nvSpPr>
        <p:spPr>
          <a:xfrm>
            <a:off x="4747394" y="4501133"/>
            <a:ext cx="1263269" cy="4517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243840" y="0"/>
            <a:ext cx="8808720" cy="6721476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2113280" y="1270591"/>
            <a:ext cx="7122160" cy="474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Noto Sans Symbols"/>
              <a:buNone/>
            </a:pPr>
            <a:endParaRPr sz="23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A	Dapatkan kelulusan kewangan(13/4—20/4)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B	Alihkan kerusi dan meja keluar bilik(20/4—24/4)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C	Beli jubin baru(20/4—11/5)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D	Bawa kerusi dan meja ke bengkel perabut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	(24/4—27/4)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E	Keluarkan jubin lama dari bilik(24/4—8/5)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F	Pasang jubin baru(11/5—25/5)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G	Baik pulih kerusi dan meja(27/4—8/6)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H	Masukkan kerusi meja ke kelas(8/6—12/6)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35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I	Pasang kerusi dan meja(12/6—19/6)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          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00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333300"/>
                </a:solidFill>
                <a:latin typeface="Tahoma"/>
                <a:ea typeface="Tahoma"/>
                <a:cs typeface="Tahoma"/>
                <a:sym typeface="Tahoma"/>
              </a:rPr>
              <a:t> *nota: tarikh pemantauan kemajuan projek pada 4/5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57200" y="8382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Aktiviti Mengubah suai Bilik Tutoran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1981200" y="-76200"/>
            <a:ext cx="5945372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ii.Carta Gantt – contoh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/>
          <p:nvPr/>
        </p:nvSpPr>
        <p:spPr>
          <a:xfrm>
            <a:off x="0" y="96520"/>
            <a:ext cx="9143999" cy="68478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" name="Google Shape;255;p32"/>
          <p:cNvGraphicFramePr/>
          <p:nvPr/>
        </p:nvGraphicFramePr>
        <p:xfrm>
          <a:off x="1473200" y="1257300"/>
          <a:ext cx="6097600" cy="4686300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6" name="Google Shape;256;p32"/>
          <p:cNvSpPr/>
          <p:nvPr/>
        </p:nvSpPr>
        <p:spPr>
          <a:xfrm>
            <a:off x="2057400" y="1442720"/>
            <a:ext cx="609600" cy="15748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2590800" y="1905635"/>
            <a:ext cx="6096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2590800" y="2438400"/>
            <a:ext cx="16764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2"/>
          <p:cNvSpPr/>
          <p:nvPr/>
        </p:nvSpPr>
        <p:spPr>
          <a:xfrm>
            <a:off x="2895600" y="2971800"/>
            <a:ext cx="3048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2895600" y="3581400"/>
            <a:ext cx="838200" cy="152400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4267200" y="3886200"/>
            <a:ext cx="11430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3124200" y="4572000"/>
            <a:ext cx="9144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6477000" y="5029200"/>
            <a:ext cx="3810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6934200" y="5486400"/>
            <a:ext cx="381000" cy="15240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231775" y="5891530"/>
            <a:ext cx="99536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Tarikh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1602105" y="5984875"/>
            <a:ext cx="647223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13/4 20/4 27/4 4/5 11/5 18/5 25/5 1/6 8/6 15/6 22/6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7620000" y="2197100"/>
            <a:ext cx="304800" cy="152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7925435" y="2044700"/>
            <a:ext cx="121856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Rancang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8077834" y="2667000"/>
            <a:ext cx="1066165" cy="30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Sebenar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7620635" y="2743200"/>
            <a:ext cx="304800" cy="152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299720" y="1271270"/>
            <a:ext cx="10941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Aktiviti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3938270" y="6391910"/>
            <a:ext cx="2417445" cy="3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Tarikh pemantauan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74" name="Google Shape;274;p32"/>
          <p:cNvCxnSpPr/>
          <p:nvPr/>
        </p:nvCxnSpPr>
        <p:spPr>
          <a:xfrm rot="6960000" flipH="1">
            <a:off x="3505200" y="6493510"/>
            <a:ext cx="304800" cy="127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75" name="Google Shape;275;p32"/>
          <p:cNvSpPr txBox="1"/>
          <p:nvPr/>
        </p:nvSpPr>
        <p:spPr>
          <a:xfrm>
            <a:off x="481330" y="33655"/>
            <a:ext cx="828167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	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ii.Carta Gantt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2286000" y="1600200"/>
            <a:ext cx="609600" cy="152400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2870200" y="2058035"/>
            <a:ext cx="864235" cy="202565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2870200" y="2565400"/>
            <a:ext cx="1676400" cy="178435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2870200" y="3098800"/>
            <a:ext cx="304800" cy="152400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2867025" y="3371850"/>
            <a:ext cx="838200" cy="209550"/>
          </a:xfrm>
          <a:prstGeom prst="rect">
            <a:avLst/>
          </a:prstGeom>
          <a:solidFill>
            <a:schemeClr val="dk1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3098800" y="4725035"/>
            <a:ext cx="635635" cy="142240"/>
          </a:xfrm>
          <a:prstGeom prst="rect">
            <a:avLst/>
          </a:prstGeom>
          <a:solidFill>
            <a:srgbClr val="C00000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0" y="124119"/>
            <a:ext cx="7924800" cy="89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   iii. Carta PERT/CPM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419986" y="956784"/>
            <a:ext cx="8304028" cy="53783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Tahoma"/>
              <a:buChar char="•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Rajah yang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menggunakan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garisan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bagi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mewakili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turutan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aktiviti-aktiviti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masa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yang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diperuntukkan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di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menyiapkan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sesuatu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di mana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melaluinya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masa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terpanjang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laluan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genting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dapat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disiapkan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boleh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diketahui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ahoma"/>
              <a:buChar char="•"/>
            </a:pP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Jaringan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atau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gambarajah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menunjukkan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hubungan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serta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turutan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berlakunya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setiap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kegiatan-kegiatan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dalam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tersebut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ahoma"/>
              <a:buChar char="•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KEGUNAAN :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Digunakan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oleh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sng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mengenalpasti</a:t>
            </a:r>
            <a:r>
              <a:rPr lang="en-US" sz="2600" b="0" i="0" u="none" strike="sng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dan </a:t>
            </a:r>
            <a:r>
              <a:rPr lang="en-US" sz="26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mengawal</a:t>
            </a:r>
            <a:r>
              <a:rPr lang="en-US" sz="26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tindakan</a:t>
            </a:r>
            <a:r>
              <a:rPr lang="en-US" sz="2600" b="0" i="0" u="none" strike="noStrike" cap="none" dirty="0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990033"/>
                </a:solidFill>
                <a:latin typeface="Tahoma"/>
                <a:ea typeface="Tahoma"/>
                <a:cs typeface="Tahoma"/>
                <a:sym typeface="Tahoma"/>
              </a:rPr>
              <a:t>berasingan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yang 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dilakukan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untuk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menyiapkan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sesuatu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ahoma"/>
              <a:buChar char="•"/>
            </a:pPr>
            <a:b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6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1024255" y="367920"/>
            <a:ext cx="79248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   iii. Carta PERT/CPM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5" name="Google Shape;295;p34"/>
          <p:cNvGraphicFramePr/>
          <p:nvPr>
            <p:extLst>
              <p:ext uri="{D42A27DB-BD31-4B8C-83A1-F6EECF244321}">
                <p14:modId xmlns:p14="http://schemas.microsoft.com/office/powerpoint/2010/main" val="852097175"/>
              </p:ext>
            </p:extLst>
          </p:nvPr>
        </p:nvGraphicFramePr>
        <p:xfrm>
          <a:off x="2267712" y="1345848"/>
          <a:ext cx="6414988" cy="5375070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2024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0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1400" u="none" strike="noStrike" cap="none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 Sebelum</a:t>
                      </a:r>
                      <a:endParaRPr sz="1400" u="none" strike="noStrike" cap="none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1400" u="none" strike="noStrike" cap="none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6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4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42" y="3508222"/>
            <a:ext cx="1288573" cy="615722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73" y="3429001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6860603" y="3600864"/>
            <a:ext cx="1252093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034745"/>
              </p:ext>
            </p:extLst>
          </p:nvPr>
        </p:nvGraphicFramePr>
        <p:xfrm>
          <a:off x="7046085" y="127601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44096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89" y="3508223"/>
            <a:ext cx="1288573" cy="615722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5" y="3499424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7665909" y="3565145"/>
            <a:ext cx="1252093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/>
        </p:nvGraphicFramePr>
        <p:xfrm>
          <a:off x="7046085" y="127601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C76B3FE0-521C-4605-5B48-FA65CA64BA9E}"/>
              </a:ext>
            </a:extLst>
          </p:cNvPr>
          <p:cNvSpPr/>
          <p:nvPr/>
        </p:nvSpPr>
        <p:spPr>
          <a:xfrm>
            <a:off x="1916083" y="3509773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09;p35">
            <a:extLst>
              <a:ext uri="{FF2B5EF4-FFF2-40B4-BE49-F238E27FC236}">
                <a16:creationId xmlns:a16="http://schemas.microsoft.com/office/drawing/2014/main" id="{FD5B3B6A-61A4-F21E-8D48-94FB36239335}"/>
              </a:ext>
            </a:extLst>
          </p:cNvPr>
          <p:cNvCxnSpPr/>
          <p:nvPr/>
        </p:nvCxnSpPr>
        <p:spPr>
          <a:xfrm rot="10800000" flipH="1">
            <a:off x="1335058" y="3816084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" name="Google Shape;306;p35">
            <a:extLst>
              <a:ext uri="{FF2B5EF4-FFF2-40B4-BE49-F238E27FC236}">
                <a16:creationId xmlns:a16="http://schemas.microsoft.com/office/drawing/2014/main" id="{5CDD754C-BDB5-4181-A68F-3DF287419E2C}"/>
              </a:ext>
            </a:extLst>
          </p:cNvPr>
          <p:cNvSpPr/>
          <p:nvPr/>
        </p:nvSpPr>
        <p:spPr>
          <a:xfrm>
            <a:off x="3008774" y="3497073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;p35">
            <a:extLst>
              <a:ext uri="{FF2B5EF4-FFF2-40B4-BE49-F238E27FC236}">
                <a16:creationId xmlns:a16="http://schemas.microsoft.com/office/drawing/2014/main" id="{F761918A-5A48-8E42-6471-BDB6328AC938}"/>
              </a:ext>
            </a:extLst>
          </p:cNvPr>
          <p:cNvSpPr/>
          <p:nvPr/>
        </p:nvSpPr>
        <p:spPr>
          <a:xfrm>
            <a:off x="2373283" y="2466340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309;p35">
            <a:extLst>
              <a:ext uri="{FF2B5EF4-FFF2-40B4-BE49-F238E27FC236}">
                <a16:creationId xmlns:a16="http://schemas.microsoft.com/office/drawing/2014/main" id="{C5E91199-552D-CE18-D0CD-7E24F4794145}"/>
              </a:ext>
            </a:extLst>
          </p:cNvPr>
          <p:cNvCxnSpPr/>
          <p:nvPr/>
        </p:nvCxnSpPr>
        <p:spPr>
          <a:xfrm rot="10800000" flipH="1">
            <a:off x="2427749" y="3772663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2" name="Google Shape;309;p35">
            <a:extLst>
              <a:ext uri="{FF2B5EF4-FFF2-40B4-BE49-F238E27FC236}">
                <a16:creationId xmlns:a16="http://schemas.microsoft.com/office/drawing/2014/main" id="{784711F0-3C82-A3B8-43B4-721647ED665B}"/>
              </a:ext>
            </a:extLst>
          </p:cNvPr>
          <p:cNvCxnSpPr>
            <a:cxnSpLocks/>
            <a:stCxn id="2" idx="0"/>
            <a:endCxn id="10" idx="3"/>
          </p:cNvCxnSpPr>
          <p:nvPr/>
        </p:nvCxnSpPr>
        <p:spPr>
          <a:xfrm flipV="1">
            <a:off x="2144683" y="2819728"/>
            <a:ext cx="299740" cy="690045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96160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89" y="3508223"/>
            <a:ext cx="1288573" cy="615722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5" y="3499424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7665909" y="3565145"/>
            <a:ext cx="1252093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/>
        </p:nvGraphicFramePr>
        <p:xfrm>
          <a:off x="7046085" y="127601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C76B3FE0-521C-4605-5B48-FA65CA64BA9E}"/>
              </a:ext>
            </a:extLst>
          </p:cNvPr>
          <p:cNvSpPr/>
          <p:nvPr/>
        </p:nvSpPr>
        <p:spPr>
          <a:xfrm>
            <a:off x="1916083" y="3509773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09;p35">
            <a:extLst>
              <a:ext uri="{FF2B5EF4-FFF2-40B4-BE49-F238E27FC236}">
                <a16:creationId xmlns:a16="http://schemas.microsoft.com/office/drawing/2014/main" id="{FD5B3B6A-61A4-F21E-8D48-94FB36239335}"/>
              </a:ext>
            </a:extLst>
          </p:cNvPr>
          <p:cNvCxnSpPr/>
          <p:nvPr/>
        </p:nvCxnSpPr>
        <p:spPr>
          <a:xfrm rot="10800000" flipH="1">
            <a:off x="1335058" y="3816084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" name="Google Shape;306;p35">
            <a:extLst>
              <a:ext uri="{FF2B5EF4-FFF2-40B4-BE49-F238E27FC236}">
                <a16:creationId xmlns:a16="http://schemas.microsoft.com/office/drawing/2014/main" id="{5CDD754C-BDB5-4181-A68F-3DF287419E2C}"/>
              </a:ext>
            </a:extLst>
          </p:cNvPr>
          <p:cNvSpPr/>
          <p:nvPr/>
        </p:nvSpPr>
        <p:spPr>
          <a:xfrm>
            <a:off x="3008774" y="3497073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;p35">
            <a:extLst>
              <a:ext uri="{FF2B5EF4-FFF2-40B4-BE49-F238E27FC236}">
                <a16:creationId xmlns:a16="http://schemas.microsoft.com/office/drawing/2014/main" id="{F761918A-5A48-8E42-6471-BDB6328AC938}"/>
              </a:ext>
            </a:extLst>
          </p:cNvPr>
          <p:cNvSpPr/>
          <p:nvPr/>
        </p:nvSpPr>
        <p:spPr>
          <a:xfrm>
            <a:off x="2373283" y="2466340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309;p35">
            <a:extLst>
              <a:ext uri="{FF2B5EF4-FFF2-40B4-BE49-F238E27FC236}">
                <a16:creationId xmlns:a16="http://schemas.microsoft.com/office/drawing/2014/main" id="{C5E91199-552D-CE18-D0CD-7E24F4794145}"/>
              </a:ext>
            </a:extLst>
          </p:cNvPr>
          <p:cNvCxnSpPr/>
          <p:nvPr/>
        </p:nvCxnSpPr>
        <p:spPr>
          <a:xfrm rot="10800000" flipH="1">
            <a:off x="2427749" y="3772663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2" name="Google Shape;309;p35">
            <a:extLst>
              <a:ext uri="{FF2B5EF4-FFF2-40B4-BE49-F238E27FC236}">
                <a16:creationId xmlns:a16="http://schemas.microsoft.com/office/drawing/2014/main" id="{784711F0-3C82-A3B8-43B4-721647ED665B}"/>
              </a:ext>
            </a:extLst>
          </p:cNvPr>
          <p:cNvCxnSpPr>
            <a:cxnSpLocks/>
            <a:stCxn id="2" idx="0"/>
            <a:endCxn id="10" idx="3"/>
          </p:cNvCxnSpPr>
          <p:nvPr/>
        </p:nvCxnSpPr>
        <p:spPr>
          <a:xfrm flipV="1">
            <a:off x="2144683" y="2819728"/>
            <a:ext cx="299740" cy="690045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3" name="Google Shape;323;p35">
            <a:extLst>
              <a:ext uri="{FF2B5EF4-FFF2-40B4-BE49-F238E27FC236}">
                <a16:creationId xmlns:a16="http://schemas.microsoft.com/office/drawing/2014/main" id="{73374356-D94B-8C35-C92E-BCDE1E7905E4}"/>
              </a:ext>
            </a:extLst>
          </p:cNvPr>
          <p:cNvSpPr/>
          <p:nvPr/>
        </p:nvSpPr>
        <p:spPr>
          <a:xfrm>
            <a:off x="4251960" y="3505200"/>
            <a:ext cx="472440" cy="454152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0;p35">
            <a:extLst>
              <a:ext uri="{FF2B5EF4-FFF2-40B4-BE49-F238E27FC236}">
                <a16:creationId xmlns:a16="http://schemas.microsoft.com/office/drawing/2014/main" id="{37EE566F-095C-BBA1-7143-04958DCF7521}"/>
              </a:ext>
            </a:extLst>
          </p:cNvPr>
          <p:cNvSpPr/>
          <p:nvPr/>
        </p:nvSpPr>
        <p:spPr>
          <a:xfrm>
            <a:off x="3879344" y="2796757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09;p35">
            <a:extLst>
              <a:ext uri="{FF2B5EF4-FFF2-40B4-BE49-F238E27FC236}">
                <a16:creationId xmlns:a16="http://schemas.microsoft.com/office/drawing/2014/main" id="{A937BBC3-F18B-3AD4-1F4E-48390FD241B3}"/>
              </a:ext>
            </a:extLst>
          </p:cNvPr>
          <p:cNvCxnSpPr>
            <a:cxnSpLocks/>
            <a:stCxn id="9" idx="7"/>
            <a:endCxn id="14" idx="2"/>
          </p:cNvCxnSpPr>
          <p:nvPr/>
        </p:nvCxnSpPr>
        <p:spPr>
          <a:xfrm flipV="1">
            <a:off x="3386010" y="3025357"/>
            <a:ext cx="493334" cy="54358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" name="Google Shape;309;p35">
            <a:extLst>
              <a:ext uri="{FF2B5EF4-FFF2-40B4-BE49-F238E27FC236}">
                <a16:creationId xmlns:a16="http://schemas.microsoft.com/office/drawing/2014/main" id="{A6DF0993-D527-1351-2087-2AC9E0170640}"/>
              </a:ext>
            </a:extLst>
          </p:cNvPr>
          <p:cNvCxnSpPr>
            <a:cxnSpLocks/>
          </p:cNvCxnSpPr>
          <p:nvPr/>
        </p:nvCxnSpPr>
        <p:spPr>
          <a:xfrm>
            <a:off x="3533774" y="3776473"/>
            <a:ext cx="718186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554745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89" y="3508223"/>
            <a:ext cx="1288573" cy="615722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5" y="3499424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7665909" y="3565145"/>
            <a:ext cx="1252093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/>
        </p:nvGraphicFramePr>
        <p:xfrm>
          <a:off x="7046085" y="127601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C76B3FE0-521C-4605-5B48-FA65CA64BA9E}"/>
              </a:ext>
            </a:extLst>
          </p:cNvPr>
          <p:cNvSpPr/>
          <p:nvPr/>
        </p:nvSpPr>
        <p:spPr>
          <a:xfrm>
            <a:off x="1916083" y="3509773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09;p35">
            <a:extLst>
              <a:ext uri="{FF2B5EF4-FFF2-40B4-BE49-F238E27FC236}">
                <a16:creationId xmlns:a16="http://schemas.microsoft.com/office/drawing/2014/main" id="{FD5B3B6A-61A4-F21E-8D48-94FB36239335}"/>
              </a:ext>
            </a:extLst>
          </p:cNvPr>
          <p:cNvCxnSpPr/>
          <p:nvPr/>
        </p:nvCxnSpPr>
        <p:spPr>
          <a:xfrm rot="10800000" flipH="1">
            <a:off x="1335058" y="3816084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" name="Google Shape;306;p35">
            <a:extLst>
              <a:ext uri="{FF2B5EF4-FFF2-40B4-BE49-F238E27FC236}">
                <a16:creationId xmlns:a16="http://schemas.microsoft.com/office/drawing/2014/main" id="{5CDD754C-BDB5-4181-A68F-3DF287419E2C}"/>
              </a:ext>
            </a:extLst>
          </p:cNvPr>
          <p:cNvSpPr/>
          <p:nvPr/>
        </p:nvSpPr>
        <p:spPr>
          <a:xfrm>
            <a:off x="3008774" y="3497073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;p35">
            <a:extLst>
              <a:ext uri="{FF2B5EF4-FFF2-40B4-BE49-F238E27FC236}">
                <a16:creationId xmlns:a16="http://schemas.microsoft.com/office/drawing/2014/main" id="{F761918A-5A48-8E42-6471-BDB6328AC938}"/>
              </a:ext>
            </a:extLst>
          </p:cNvPr>
          <p:cNvSpPr/>
          <p:nvPr/>
        </p:nvSpPr>
        <p:spPr>
          <a:xfrm>
            <a:off x="2373283" y="2466340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309;p35">
            <a:extLst>
              <a:ext uri="{FF2B5EF4-FFF2-40B4-BE49-F238E27FC236}">
                <a16:creationId xmlns:a16="http://schemas.microsoft.com/office/drawing/2014/main" id="{C5E91199-552D-CE18-D0CD-7E24F4794145}"/>
              </a:ext>
            </a:extLst>
          </p:cNvPr>
          <p:cNvCxnSpPr/>
          <p:nvPr/>
        </p:nvCxnSpPr>
        <p:spPr>
          <a:xfrm rot="10800000" flipH="1">
            <a:off x="2427749" y="3772663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2" name="Google Shape;309;p35">
            <a:extLst>
              <a:ext uri="{FF2B5EF4-FFF2-40B4-BE49-F238E27FC236}">
                <a16:creationId xmlns:a16="http://schemas.microsoft.com/office/drawing/2014/main" id="{784711F0-3C82-A3B8-43B4-721647ED665B}"/>
              </a:ext>
            </a:extLst>
          </p:cNvPr>
          <p:cNvCxnSpPr>
            <a:cxnSpLocks/>
            <a:stCxn id="2" idx="0"/>
            <a:endCxn id="10" idx="3"/>
          </p:cNvCxnSpPr>
          <p:nvPr/>
        </p:nvCxnSpPr>
        <p:spPr>
          <a:xfrm flipV="1">
            <a:off x="2144683" y="2819728"/>
            <a:ext cx="299740" cy="690045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3" name="Google Shape;323;p35">
            <a:extLst>
              <a:ext uri="{FF2B5EF4-FFF2-40B4-BE49-F238E27FC236}">
                <a16:creationId xmlns:a16="http://schemas.microsoft.com/office/drawing/2014/main" id="{73374356-D94B-8C35-C92E-BCDE1E7905E4}"/>
              </a:ext>
            </a:extLst>
          </p:cNvPr>
          <p:cNvSpPr/>
          <p:nvPr/>
        </p:nvSpPr>
        <p:spPr>
          <a:xfrm>
            <a:off x="4251960" y="3505200"/>
            <a:ext cx="472440" cy="454152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0;p35">
            <a:extLst>
              <a:ext uri="{FF2B5EF4-FFF2-40B4-BE49-F238E27FC236}">
                <a16:creationId xmlns:a16="http://schemas.microsoft.com/office/drawing/2014/main" id="{37EE566F-095C-BBA1-7143-04958DCF7521}"/>
              </a:ext>
            </a:extLst>
          </p:cNvPr>
          <p:cNvSpPr/>
          <p:nvPr/>
        </p:nvSpPr>
        <p:spPr>
          <a:xfrm>
            <a:off x="3879344" y="2796757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09;p35">
            <a:extLst>
              <a:ext uri="{FF2B5EF4-FFF2-40B4-BE49-F238E27FC236}">
                <a16:creationId xmlns:a16="http://schemas.microsoft.com/office/drawing/2014/main" id="{A937BBC3-F18B-3AD4-1F4E-48390FD241B3}"/>
              </a:ext>
            </a:extLst>
          </p:cNvPr>
          <p:cNvCxnSpPr>
            <a:cxnSpLocks/>
            <a:stCxn id="9" idx="7"/>
            <a:endCxn id="14" idx="2"/>
          </p:cNvCxnSpPr>
          <p:nvPr/>
        </p:nvCxnSpPr>
        <p:spPr>
          <a:xfrm flipV="1">
            <a:off x="3386010" y="3025357"/>
            <a:ext cx="493334" cy="54358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" name="Google Shape;309;p35">
            <a:extLst>
              <a:ext uri="{FF2B5EF4-FFF2-40B4-BE49-F238E27FC236}">
                <a16:creationId xmlns:a16="http://schemas.microsoft.com/office/drawing/2014/main" id="{A6DF0993-D527-1351-2087-2AC9E0170640}"/>
              </a:ext>
            </a:extLst>
          </p:cNvPr>
          <p:cNvCxnSpPr>
            <a:cxnSpLocks/>
          </p:cNvCxnSpPr>
          <p:nvPr/>
        </p:nvCxnSpPr>
        <p:spPr>
          <a:xfrm>
            <a:off x="3533774" y="3776473"/>
            <a:ext cx="718186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" name="Google Shape;304;p35">
            <a:extLst>
              <a:ext uri="{FF2B5EF4-FFF2-40B4-BE49-F238E27FC236}">
                <a16:creationId xmlns:a16="http://schemas.microsoft.com/office/drawing/2014/main" id="{4C9CBC3E-F398-3E72-ACFB-F1F83154524B}"/>
              </a:ext>
            </a:extLst>
          </p:cNvPr>
          <p:cNvSpPr/>
          <p:nvPr/>
        </p:nvSpPr>
        <p:spPr>
          <a:xfrm>
            <a:off x="4232148" y="1644178"/>
            <a:ext cx="475488" cy="481584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309;p35">
            <a:extLst>
              <a:ext uri="{FF2B5EF4-FFF2-40B4-BE49-F238E27FC236}">
                <a16:creationId xmlns:a16="http://schemas.microsoft.com/office/drawing/2014/main" id="{77F16CFC-3EDF-88E9-C7E1-EB6723CA73A1}"/>
              </a:ext>
            </a:extLst>
          </p:cNvPr>
          <p:cNvCxnSpPr>
            <a:cxnSpLocks/>
            <a:stCxn id="10" idx="6"/>
            <a:endCxn id="17" idx="3"/>
          </p:cNvCxnSpPr>
          <p:nvPr/>
        </p:nvCxnSpPr>
        <p:spPr>
          <a:xfrm flipV="1">
            <a:off x="2859058" y="2055236"/>
            <a:ext cx="1442724" cy="618114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1" name="Google Shape;309;p35">
            <a:extLst>
              <a:ext uri="{FF2B5EF4-FFF2-40B4-BE49-F238E27FC236}">
                <a16:creationId xmlns:a16="http://schemas.microsoft.com/office/drawing/2014/main" id="{7B2927A8-9B3E-50FE-033A-A32CD56609B3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107944" y="2206751"/>
            <a:ext cx="351045" cy="590006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7088116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89" y="3508223"/>
            <a:ext cx="1288573" cy="615722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5" y="3499424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7665909" y="3565145"/>
            <a:ext cx="1252093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/>
        </p:nvGraphicFramePr>
        <p:xfrm>
          <a:off x="7046085" y="127601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C76B3FE0-521C-4605-5B48-FA65CA64BA9E}"/>
              </a:ext>
            </a:extLst>
          </p:cNvPr>
          <p:cNvSpPr/>
          <p:nvPr/>
        </p:nvSpPr>
        <p:spPr>
          <a:xfrm>
            <a:off x="1916083" y="3509773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09;p35">
            <a:extLst>
              <a:ext uri="{FF2B5EF4-FFF2-40B4-BE49-F238E27FC236}">
                <a16:creationId xmlns:a16="http://schemas.microsoft.com/office/drawing/2014/main" id="{FD5B3B6A-61A4-F21E-8D48-94FB36239335}"/>
              </a:ext>
            </a:extLst>
          </p:cNvPr>
          <p:cNvCxnSpPr/>
          <p:nvPr/>
        </p:nvCxnSpPr>
        <p:spPr>
          <a:xfrm rot="10800000" flipH="1">
            <a:off x="1335058" y="3816084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" name="Google Shape;306;p35">
            <a:extLst>
              <a:ext uri="{FF2B5EF4-FFF2-40B4-BE49-F238E27FC236}">
                <a16:creationId xmlns:a16="http://schemas.microsoft.com/office/drawing/2014/main" id="{5CDD754C-BDB5-4181-A68F-3DF287419E2C}"/>
              </a:ext>
            </a:extLst>
          </p:cNvPr>
          <p:cNvSpPr/>
          <p:nvPr/>
        </p:nvSpPr>
        <p:spPr>
          <a:xfrm>
            <a:off x="3008774" y="3497073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;p35">
            <a:extLst>
              <a:ext uri="{FF2B5EF4-FFF2-40B4-BE49-F238E27FC236}">
                <a16:creationId xmlns:a16="http://schemas.microsoft.com/office/drawing/2014/main" id="{F761918A-5A48-8E42-6471-BDB6328AC938}"/>
              </a:ext>
            </a:extLst>
          </p:cNvPr>
          <p:cNvSpPr/>
          <p:nvPr/>
        </p:nvSpPr>
        <p:spPr>
          <a:xfrm>
            <a:off x="2373283" y="2466340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309;p35">
            <a:extLst>
              <a:ext uri="{FF2B5EF4-FFF2-40B4-BE49-F238E27FC236}">
                <a16:creationId xmlns:a16="http://schemas.microsoft.com/office/drawing/2014/main" id="{C5E91199-552D-CE18-D0CD-7E24F4794145}"/>
              </a:ext>
            </a:extLst>
          </p:cNvPr>
          <p:cNvCxnSpPr/>
          <p:nvPr/>
        </p:nvCxnSpPr>
        <p:spPr>
          <a:xfrm rot="10800000" flipH="1">
            <a:off x="2427749" y="3772663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2" name="Google Shape;309;p35">
            <a:extLst>
              <a:ext uri="{FF2B5EF4-FFF2-40B4-BE49-F238E27FC236}">
                <a16:creationId xmlns:a16="http://schemas.microsoft.com/office/drawing/2014/main" id="{784711F0-3C82-A3B8-43B4-721647ED665B}"/>
              </a:ext>
            </a:extLst>
          </p:cNvPr>
          <p:cNvCxnSpPr>
            <a:cxnSpLocks/>
            <a:stCxn id="2" idx="0"/>
            <a:endCxn id="10" idx="3"/>
          </p:cNvCxnSpPr>
          <p:nvPr/>
        </p:nvCxnSpPr>
        <p:spPr>
          <a:xfrm flipV="1">
            <a:off x="2144683" y="2819728"/>
            <a:ext cx="299740" cy="690045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3" name="Google Shape;323;p35">
            <a:extLst>
              <a:ext uri="{FF2B5EF4-FFF2-40B4-BE49-F238E27FC236}">
                <a16:creationId xmlns:a16="http://schemas.microsoft.com/office/drawing/2014/main" id="{73374356-D94B-8C35-C92E-BCDE1E7905E4}"/>
              </a:ext>
            </a:extLst>
          </p:cNvPr>
          <p:cNvSpPr/>
          <p:nvPr/>
        </p:nvSpPr>
        <p:spPr>
          <a:xfrm>
            <a:off x="4251960" y="3505200"/>
            <a:ext cx="472440" cy="454152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0;p35">
            <a:extLst>
              <a:ext uri="{FF2B5EF4-FFF2-40B4-BE49-F238E27FC236}">
                <a16:creationId xmlns:a16="http://schemas.microsoft.com/office/drawing/2014/main" id="{37EE566F-095C-BBA1-7143-04958DCF7521}"/>
              </a:ext>
            </a:extLst>
          </p:cNvPr>
          <p:cNvSpPr/>
          <p:nvPr/>
        </p:nvSpPr>
        <p:spPr>
          <a:xfrm>
            <a:off x="3879344" y="2796757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09;p35">
            <a:extLst>
              <a:ext uri="{FF2B5EF4-FFF2-40B4-BE49-F238E27FC236}">
                <a16:creationId xmlns:a16="http://schemas.microsoft.com/office/drawing/2014/main" id="{A937BBC3-F18B-3AD4-1F4E-48390FD241B3}"/>
              </a:ext>
            </a:extLst>
          </p:cNvPr>
          <p:cNvCxnSpPr>
            <a:cxnSpLocks/>
            <a:stCxn id="9" idx="7"/>
            <a:endCxn id="14" idx="2"/>
          </p:cNvCxnSpPr>
          <p:nvPr/>
        </p:nvCxnSpPr>
        <p:spPr>
          <a:xfrm flipV="1">
            <a:off x="3386010" y="3025357"/>
            <a:ext cx="493334" cy="54358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" name="Google Shape;309;p35">
            <a:extLst>
              <a:ext uri="{FF2B5EF4-FFF2-40B4-BE49-F238E27FC236}">
                <a16:creationId xmlns:a16="http://schemas.microsoft.com/office/drawing/2014/main" id="{A6DF0993-D527-1351-2087-2AC9E0170640}"/>
              </a:ext>
            </a:extLst>
          </p:cNvPr>
          <p:cNvCxnSpPr>
            <a:cxnSpLocks/>
          </p:cNvCxnSpPr>
          <p:nvPr/>
        </p:nvCxnSpPr>
        <p:spPr>
          <a:xfrm>
            <a:off x="3533774" y="3776473"/>
            <a:ext cx="718186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" name="Google Shape;304;p35">
            <a:extLst>
              <a:ext uri="{FF2B5EF4-FFF2-40B4-BE49-F238E27FC236}">
                <a16:creationId xmlns:a16="http://schemas.microsoft.com/office/drawing/2014/main" id="{4C9CBC3E-F398-3E72-ACFB-F1F83154524B}"/>
              </a:ext>
            </a:extLst>
          </p:cNvPr>
          <p:cNvSpPr/>
          <p:nvPr/>
        </p:nvSpPr>
        <p:spPr>
          <a:xfrm>
            <a:off x="4232148" y="1644178"/>
            <a:ext cx="475488" cy="481584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309;p35">
            <a:extLst>
              <a:ext uri="{FF2B5EF4-FFF2-40B4-BE49-F238E27FC236}">
                <a16:creationId xmlns:a16="http://schemas.microsoft.com/office/drawing/2014/main" id="{77F16CFC-3EDF-88E9-C7E1-EB6723CA73A1}"/>
              </a:ext>
            </a:extLst>
          </p:cNvPr>
          <p:cNvCxnSpPr>
            <a:cxnSpLocks/>
            <a:stCxn id="10" idx="6"/>
            <a:endCxn id="17" idx="3"/>
          </p:cNvCxnSpPr>
          <p:nvPr/>
        </p:nvCxnSpPr>
        <p:spPr>
          <a:xfrm flipV="1">
            <a:off x="2859058" y="2055236"/>
            <a:ext cx="1442724" cy="618114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1" name="Google Shape;309;p35">
            <a:extLst>
              <a:ext uri="{FF2B5EF4-FFF2-40B4-BE49-F238E27FC236}">
                <a16:creationId xmlns:a16="http://schemas.microsoft.com/office/drawing/2014/main" id="{7B2927A8-9B3E-50FE-033A-A32CD56609B3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107944" y="2206751"/>
            <a:ext cx="351045" cy="590006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9" name="Google Shape;334;p35">
            <a:extLst>
              <a:ext uri="{FF2B5EF4-FFF2-40B4-BE49-F238E27FC236}">
                <a16:creationId xmlns:a16="http://schemas.microsoft.com/office/drawing/2014/main" id="{356DB16F-698B-34E8-CDB6-74FBA1CBE3F0}"/>
              </a:ext>
            </a:extLst>
          </p:cNvPr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05;p35">
            <a:extLst>
              <a:ext uri="{FF2B5EF4-FFF2-40B4-BE49-F238E27FC236}">
                <a16:creationId xmlns:a16="http://schemas.microsoft.com/office/drawing/2014/main" id="{14AB6E23-274A-21FF-D109-6DCED5EA3C94}"/>
              </a:ext>
            </a:extLst>
          </p:cNvPr>
          <p:cNvSpPr/>
          <p:nvPr/>
        </p:nvSpPr>
        <p:spPr>
          <a:xfrm>
            <a:off x="6259773" y="293615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309;p35">
            <a:extLst>
              <a:ext uri="{FF2B5EF4-FFF2-40B4-BE49-F238E27FC236}">
                <a16:creationId xmlns:a16="http://schemas.microsoft.com/office/drawing/2014/main" id="{E41705CC-DAB8-686E-3BB7-59FF36C9DFAA}"/>
              </a:ext>
            </a:extLst>
          </p:cNvPr>
          <p:cNvCxnSpPr>
            <a:cxnSpLocks/>
          </p:cNvCxnSpPr>
          <p:nvPr/>
        </p:nvCxnSpPr>
        <p:spPr>
          <a:xfrm>
            <a:off x="4724400" y="3772663"/>
            <a:ext cx="518160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3" name="Google Shape;309;p35">
            <a:extLst>
              <a:ext uri="{FF2B5EF4-FFF2-40B4-BE49-F238E27FC236}">
                <a16:creationId xmlns:a16="http://schemas.microsoft.com/office/drawing/2014/main" id="{E756C969-7568-6292-E07A-ED0E1076DB9F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4638002" y="2055236"/>
            <a:ext cx="1671358" cy="97012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4" name="Google Shape;309;p35">
            <a:extLst>
              <a:ext uri="{FF2B5EF4-FFF2-40B4-BE49-F238E27FC236}">
                <a16:creationId xmlns:a16="http://schemas.microsoft.com/office/drawing/2014/main" id="{948C76EE-E8EF-6005-489E-7854066DE85F}"/>
              </a:ext>
            </a:extLst>
          </p:cNvPr>
          <p:cNvCxnSpPr>
            <a:cxnSpLocks/>
          </p:cNvCxnSpPr>
          <p:nvPr/>
        </p:nvCxnSpPr>
        <p:spPr>
          <a:xfrm flipV="1">
            <a:off x="5646038" y="3392488"/>
            <a:ext cx="663322" cy="172657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4744293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522-D9B1-7F9B-019A-A63312B3E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44953-7BDF-8001-D218-873D7F0E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054" y="2880360"/>
            <a:ext cx="1067946" cy="512128"/>
          </a:xfrm>
          <a:prstGeom prst="rect">
            <a:avLst/>
          </a:prstGeom>
        </p:spPr>
      </p:pic>
      <p:sp>
        <p:nvSpPr>
          <p:cNvPr id="5" name="Google Shape;336;p35">
            <a:extLst>
              <a:ext uri="{FF2B5EF4-FFF2-40B4-BE49-F238E27FC236}">
                <a16:creationId xmlns:a16="http://schemas.microsoft.com/office/drawing/2014/main" id="{504D3790-70F8-2A85-8332-328C0CD7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5" y="3499424"/>
            <a:ext cx="1288573" cy="694944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7;p35">
            <a:extLst>
              <a:ext uri="{FF2B5EF4-FFF2-40B4-BE49-F238E27FC236}">
                <a16:creationId xmlns:a16="http://schemas.microsoft.com/office/drawing/2014/main" id="{A37B2A8D-E300-BAFC-6658-560B473EF5F2}"/>
              </a:ext>
            </a:extLst>
          </p:cNvPr>
          <p:cNvSpPr txBox="1"/>
          <p:nvPr/>
        </p:nvSpPr>
        <p:spPr>
          <a:xfrm>
            <a:off x="8169286" y="2936150"/>
            <a:ext cx="941832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295;p34">
            <a:extLst>
              <a:ext uri="{FF2B5EF4-FFF2-40B4-BE49-F238E27FC236}">
                <a16:creationId xmlns:a16="http://schemas.microsoft.com/office/drawing/2014/main" id="{06303661-322A-8ADB-753E-7D09F1DBA9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1620"/>
              </p:ext>
            </p:extLst>
          </p:nvPr>
        </p:nvGraphicFramePr>
        <p:xfrm>
          <a:off x="-38324" y="-984"/>
          <a:ext cx="1871917" cy="2672077"/>
        </p:xfrm>
        <a:graphic>
          <a:graphicData uri="http://schemas.openxmlformats.org/drawingml/2006/table">
            <a:tbl>
              <a:tblPr>
                <a:noFill/>
                <a:tableStyleId>{C747DABC-5D81-445E-8A29-621083D7FEB1}</a:tableStyleId>
              </a:tblPr>
              <a:tblGrid>
                <a:gridCol w="59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b="1" i="0" u="none" strike="noStrike" cap="none" dirty="0" err="1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Sebelum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Masa</a:t>
                      </a:r>
                      <a:endParaRPr sz="800" u="none" strike="noStrike" cap="none" dirty="0"/>
                    </a:p>
                  </a:txBody>
                  <a:tcPr marL="90000" marR="90000" marT="468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E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F, G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000" u="none" strike="noStrike" cap="none"/>
                    </a:p>
                  </a:txBody>
                  <a:tcPr marL="90000" marR="90000" marT="71500" marB="46800">
                    <a:lnL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strike="noStrike" cap="none" dirty="0"/>
                    </a:p>
                  </a:txBody>
                  <a:tcPr marL="90000" marR="90000" marT="71500" marB="468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3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C76B3FE0-521C-4605-5B48-FA65CA64BA9E}"/>
              </a:ext>
            </a:extLst>
          </p:cNvPr>
          <p:cNvSpPr/>
          <p:nvPr/>
        </p:nvSpPr>
        <p:spPr>
          <a:xfrm>
            <a:off x="1916083" y="3509773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09;p35">
            <a:extLst>
              <a:ext uri="{FF2B5EF4-FFF2-40B4-BE49-F238E27FC236}">
                <a16:creationId xmlns:a16="http://schemas.microsoft.com/office/drawing/2014/main" id="{FD5B3B6A-61A4-F21E-8D48-94FB36239335}"/>
              </a:ext>
            </a:extLst>
          </p:cNvPr>
          <p:cNvCxnSpPr/>
          <p:nvPr/>
        </p:nvCxnSpPr>
        <p:spPr>
          <a:xfrm rot="10800000" flipH="1">
            <a:off x="1335058" y="3816084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" name="Google Shape;306;p35">
            <a:extLst>
              <a:ext uri="{FF2B5EF4-FFF2-40B4-BE49-F238E27FC236}">
                <a16:creationId xmlns:a16="http://schemas.microsoft.com/office/drawing/2014/main" id="{5CDD754C-BDB5-4181-A68F-3DF287419E2C}"/>
              </a:ext>
            </a:extLst>
          </p:cNvPr>
          <p:cNvSpPr/>
          <p:nvPr/>
        </p:nvSpPr>
        <p:spPr>
          <a:xfrm>
            <a:off x="3008774" y="3497073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;p35">
            <a:extLst>
              <a:ext uri="{FF2B5EF4-FFF2-40B4-BE49-F238E27FC236}">
                <a16:creationId xmlns:a16="http://schemas.microsoft.com/office/drawing/2014/main" id="{F761918A-5A48-8E42-6471-BDB6328AC938}"/>
              </a:ext>
            </a:extLst>
          </p:cNvPr>
          <p:cNvSpPr/>
          <p:nvPr/>
        </p:nvSpPr>
        <p:spPr>
          <a:xfrm>
            <a:off x="2373283" y="2466340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309;p35">
            <a:extLst>
              <a:ext uri="{FF2B5EF4-FFF2-40B4-BE49-F238E27FC236}">
                <a16:creationId xmlns:a16="http://schemas.microsoft.com/office/drawing/2014/main" id="{C5E91199-552D-CE18-D0CD-7E24F4794145}"/>
              </a:ext>
            </a:extLst>
          </p:cNvPr>
          <p:cNvCxnSpPr/>
          <p:nvPr/>
        </p:nvCxnSpPr>
        <p:spPr>
          <a:xfrm rot="10800000" flipH="1">
            <a:off x="2427749" y="3772663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2" name="Google Shape;309;p35">
            <a:extLst>
              <a:ext uri="{FF2B5EF4-FFF2-40B4-BE49-F238E27FC236}">
                <a16:creationId xmlns:a16="http://schemas.microsoft.com/office/drawing/2014/main" id="{784711F0-3C82-A3B8-43B4-721647ED665B}"/>
              </a:ext>
            </a:extLst>
          </p:cNvPr>
          <p:cNvCxnSpPr>
            <a:cxnSpLocks/>
            <a:stCxn id="2" idx="0"/>
            <a:endCxn id="10" idx="3"/>
          </p:cNvCxnSpPr>
          <p:nvPr/>
        </p:nvCxnSpPr>
        <p:spPr>
          <a:xfrm flipV="1">
            <a:off x="2144683" y="2819728"/>
            <a:ext cx="299740" cy="690045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3" name="Google Shape;323;p35">
            <a:extLst>
              <a:ext uri="{FF2B5EF4-FFF2-40B4-BE49-F238E27FC236}">
                <a16:creationId xmlns:a16="http://schemas.microsoft.com/office/drawing/2014/main" id="{73374356-D94B-8C35-C92E-BCDE1E7905E4}"/>
              </a:ext>
            </a:extLst>
          </p:cNvPr>
          <p:cNvSpPr/>
          <p:nvPr/>
        </p:nvSpPr>
        <p:spPr>
          <a:xfrm>
            <a:off x="4251960" y="3505200"/>
            <a:ext cx="472440" cy="454152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0;p35">
            <a:extLst>
              <a:ext uri="{FF2B5EF4-FFF2-40B4-BE49-F238E27FC236}">
                <a16:creationId xmlns:a16="http://schemas.microsoft.com/office/drawing/2014/main" id="{37EE566F-095C-BBA1-7143-04958DCF7521}"/>
              </a:ext>
            </a:extLst>
          </p:cNvPr>
          <p:cNvSpPr/>
          <p:nvPr/>
        </p:nvSpPr>
        <p:spPr>
          <a:xfrm>
            <a:off x="3879344" y="2796757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09;p35">
            <a:extLst>
              <a:ext uri="{FF2B5EF4-FFF2-40B4-BE49-F238E27FC236}">
                <a16:creationId xmlns:a16="http://schemas.microsoft.com/office/drawing/2014/main" id="{A937BBC3-F18B-3AD4-1F4E-48390FD241B3}"/>
              </a:ext>
            </a:extLst>
          </p:cNvPr>
          <p:cNvCxnSpPr>
            <a:cxnSpLocks/>
            <a:stCxn id="9" idx="7"/>
            <a:endCxn id="14" idx="2"/>
          </p:cNvCxnSpPr>
          <p:nvPr/>
        </p:nvCxnSpPr>
        <p:spPr>
          <a:xfrm flipV="1">
            <a:off x="3386010" y="3025357"/>
            <a:ext cx="493334" cy="54358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6" name="Google Shape;309;p35">
            <a:extLst>
              <a:ext uri="{FF2B5EF4-FFF2-40B4-BE49-F238E27FC236}">
                <a16:creationId xmlns:a16="http://schemas.microsoft.com/office/drawing/2014/main" id="{A6DF0993-D527-1351-2087-2AC9E0170640}"/>
              </a:ext>
            </a:extLst>
          </p:cNvPr>
          <p:cNvCxnSpPr>
            <a:cxnSpLocks/>
          </p:cNvCxnSpPr>
          <p:nvPr/>
        </p:nvCxnSpPr>
        <p:spPr>
          <a:xfrm>
            <a:off x="3533774" y="3776473"/>
            <a:ext cx="718186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" name="Google Shape;304;p35">
            <a:extLst>
              <a:ext uri="{FF2B5EF4-FFF2-40B4-BE49-F238E27FC236}">
                <a16:creationId xmlns:a16="http://schemas.microsoft.com/office/drawing/2014/main" id="{4C9CBC3E-F398-3E72-ACFB-F1F83154524B}"/>
              </a:ext>
            </a:extLst>
          </p:cNvPr>
          <p:cNvSpPr/>
          <p:nvPr/>
        </p:nvSpPr>
        <p:spPr>
          <a:xfrm>
            <a:off x="4232148" y="1644178"/>
            <a:ext cx="475488" cy="481584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309;p35">
            <a:extLst>
              <a:ext uri="{FF2B5EF4-FFF2-40B4-BE49-F238E27FC236}">
                <a16:creationId xmlns:a16="http://schemas.microsoft.com/office/drawing/2014/main" id="{77F16CFC-3EDF-88E9-C7E1-EB6723CA73A1}"/>
              </a:ext>
            </a:extLst>
          </p:cNvPr>
          <p:cNvCxnSpPr>
            <a:cxnSpLocks/>
            <a:stCxn id="10" idx="6"/>
            <a:endCxn id="17" idx="3"/>
          </p:cNvCxnSpPr>
          <p:nvPr/>
        </p:nvCxnSpPr>
        <p:spPr>
          <a:xfrm flipV="1">
            <a:off x="2859058" y="2055236"/>
            <a:ext cx="1442724" cy="618114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1" name="Google Shape;309;p35">
            <a:extLst>
              <a:ext uri="{FF2B5EF4-FFF2-40B4-BE49-F238E27FC236}">
                <a16:creationId xmlns:a16="http://schemas.microsoft.com/office/drawing/2014/main" id="{7B2927A8-9B3E-50FE-033A-A32CD56609B3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107944" y="2206751"/>
            <a:ext cx="351045" cy="590006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9" name="Google Shape;334;p35">
            <a:extLst>
              <a:ext uri="{FF2B5EF4-FFF2-40B4-BE49-F238E27FC236}">
                <a16:creationId xmlns:a16="http://schemas.microsoft.com/office/drawing/2014/main" id="{356DB16F-698B-34E8-CDB6-74FBA1CBE3F0}"/>
              </a:ext>
            </a:extLst>
          </p:cNvPr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05;p35">
            <a:extLst>
              <a:ext uri="{FF2B5EF4-FFF2-40B4-BE49-F238E27FC236}">
                <a16:creationId xmlns:a16="http://schemas.microsoft.com/office/drawing/2014/main" id="{14AB6E23-274A-21FF-D109-6DCED5EA3C94}"/>
              </a:ext>
            </a:extLst>
          </p:cNvPr>
          <p:cNvSpPr/>
          <p:nvPr/>
        </p:nvSpPr>
        <p:spPr>
          <a:xfrm>
            <a:off x="6259773" y="293615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309;p35">
            <a:extLst>
              <a:ext uri="{FF2B5EF4-FFF2-40B4-BE49-F238E27FC236}">
                <a16:creationId xmlns:a16="http://schemas.microsoft.com/office/drawing/2014/main" id="{E41705CC-DAB8-686E-3BB7-59FF36C9DFAA}"/>
              </a:ext>
            </a:extLst>
          </p:cNvPr>
          <p:cNvCxnSpPr>
            <a:cxnSpLocks/>
          </p:cNvCxnSpPr>
          <p:nvPr/>
        </p:nvCxnSpPr>
        <p:spPr>
          <a:xfrm>
            <a:off x="4724400" y="3772663"/>
            <a:ext cx="518160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3" name="Google Shape;309;p35">
            <a:extLst>
              <a:ext uri="{FF2B5EF4-FFF2-40B4-BE49-F238E27FC236}">
                <a16:creationId xmlns:a16="http://schemas.microsoft.com/office/drawing/2014/main" id="{E756C969-7568-6292-E07A-ED0E1076DB9F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4638002" y="2055236"/>
            <a:ext cx="1671358" cy="970121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4" name="Google Shape;309;p35">
            <a:extLst>
              <a:ext uri="{FF2B5EF4-FFF2-40B4-BE49-F238E27FC236}">
                <a16:creationId xmlns:a16="http://schemas.microsoft.com/office/drawing/2014/main" id="{948C76EE-E8EF-6005-489E-7854066DE85F}"/>
              </a:ext>
            </a:extLst>
          </p:cNvPr>
          <p:cNvCxnSpPr>
            <a:cxnSpLocks/>
          </p:cNvCxnSpPr>
          <p:nvPr/>
        </p:nvCxnSpPr>
        <p:spPr>
          <a:xfrm flipV="1">
            <a:off x="5646038" y="3392488"/>
            <a:ext cx="663322" cy="172657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5" name="Google Shape;307;p35">
            <a:extLst>
              <a:ext uri="{FF2B5EF4-FFF2-40B4-BE49-F238E27FC236}">
                <a16:creationId xmlns:a16="http://schemas.microsoft.com/office/drawing/2014/main" id="{D1FC726E-100A-F466-6043-AA65AD824C2E}"/>
              </a:ext>
            </a:extLst>
          </p:cNvPr>
          <p:cNvSpPr/>
          <p:nvPr/>
        </p:nvSpPr>
        <p:spPr>
          <a:xfrm>
            <a:off x="7208709" y="2905748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309;p35">
            <a:extLst>
              <a:ext uri="{FF2B5EF4-FFF2-40B4-BE49-F238E27FC236}">
                <a16:creationId xmlns:a16="http://schemas.microsoft.com/office/drawing/2014/main" id="{E2950083-B242-D652-E86C-981DB594143F}"/>
              </a:ext>
            </a:extLst>
          </p:cNvPr>
          <p:cNvCxnSpPr>
            <a:cxnSpLocks/>
          </p:cNvCxnSpPr>
          <p:nvPr/>
        </p:nvCxnSpPr>
        <p:spPr>
          <a:xfrm>
            <a:off x="7665909" y="3164750"/>
            <a:ext cx="438912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7" name="Google Shape;309;p35">
            <a:extLst>
              <a:ext uri="{FF2B5EF4-FFF2-40B4-BE49-F238E27FC236}">
                <a16:creationId xmlns:a16="http://schemas.microsoft.com/office/drawing/2014/main" id="{39864050-8F99-0D80-7344-50D795ED38F3}"/>
              </a:ext>
            </a:extLst>
          </p:cNvPr>
          <p:cNvCxnSpPr>
            <a:cxnSpLocks/>
          </p:cNvCxnSpPr>
          <p:nvPr/>
        </p:nvCxnSpPr>
        <p:spPr>
          <a:xfrm>
            <a:off x="6716973" y="3164750"/>
            <a:ext cx="510944" cy="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1758665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>
            <a:off x="38735" y="178816"/>
            <a:ext cx="8973185" cy="6436996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914400" y="6858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1676400" y="3429000"/>
            <a:ext cx="457200" cy="5334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2438400" y="2051812"/>
            <a:ext cx="485775" cy="41402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4553712" y="1905000"/>
            <a:ext cx="475488" cy="481584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6248400" y="350520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3063240" y="3505200"/>
            <a:ext cx="441960" cy="490728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7360411" y="3520282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8060564" y="3505200"/>
            <a:ext cx="894524" cy="530226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35"/>
          <p:cNvCxnSpPr/>
          <p:nvPr/>
        </p:nvCxnSpPr>
        <p:spPr>
          <a:xfrm rot="10800000" flipH="1">
            <a:off x="1095375" y="3653790"/>
            <a:ext cx="581025" cy="381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0" name="Google Shape;310;p35"/>
          <p:cNvCxnSpPr/>
          <p:nvPr/>
        </p:nvCxnSpPr>
        <p:spPr>
          <a:xfrm rot="10800000" flipH="1">
            <a:off x="1890395" y="2438400"/>
            <a:ext cx="624840" cy="1066800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1" name="Google Shape;311;p35"/>
          <p:cNvCxnSpPr/>
          <p:nvPr/>
        </p:nvCxnSpPr>
        <p:spPr>
          <a:xfrm>
            <a:off x="2864485" y="2023110"/>
            <a:ext cx="1676400" cy="1588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2" name="Google Shape;312;p35"/>
          <p:cNvCxnSpPr/>
          <p:nvPr/>
        </p:nvCxnSpPr>
        <p:spPr>
          <a:xfrm>
            <a:off x="4953000" y="2286000"/>
            <a:ext cx="1371600" cy="1295400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3" name="Google Shape;313;p35"/>
          <p:cNvCxnSpPr/>
          <p:nvPr/>
        </p:nvCxnSpPr>
        <p:spPr>
          <a:xfrm rot="10800000" flipH="1">
            <a:off x="2055813" y="3641725"/>
            <a:ext cx="1047750" cy="11113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4" name="Google Shape;314;p35"/>
          <p:cNvCxnSpPr/>
          <p:nvPr/>
        </p:nvCxnSpPr>
        <p:spPr>
          <a:xfrm>
            <a:off x="3467100" y="3698875"/>
            <a:ext cx="828675" cy="30163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5" name="Google Shape;315;p35"/>
          <p:cNvCxnSpPr>
            <a:cxnSpLocks/>
          </p:cNvCxnSpPr>
          <p:nvPr/>
        </p:nvCxnSpPr>
        <p:spPr>
          <a:xfrm>
            <a:off x="6629400" y="3733800"/>
            <a:ext cx="704088" cy="15082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16" name="Google Shape;316;p35"/>
          <p:cNvCxnSpPr>
            <a:cxnSpLocks/>
          </p:cNvCxnSpPr>
          <p:nvPr/>
        </p:nvCxnSpPr>
        <p:spPr>
          <a:xfrm>
            <a:off x="7781353" y="3779204"/>
            <a:ext cx="364364" cy="0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17" name="Google Shape;317;p35"/>
          <p:cNvSpPr txBox="1"/>
          <p:nvPr/>
        </p:nvSpPr>
        <p:spPr>
          <a:xfrm>
            <a:off x="8145717" y="3537554"/>
            <a:ext cx="785749" cy="42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b="1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Tamat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1371600" y="5867400"/>
            <a:ext cx="208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Laluan genting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704850" y="5286375"/>
            <a:ext cx="167576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Petunjuk: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3886200" y="2822575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35"/>
          <p:cNvCxnSpPr/>
          <p:nvPr/>
        </p:nvCxnSpPr>
        <p:spPr>
          <a:xfrm rot="10800000" flipH="1">
            <a:off x="3437255" y="3279775"/>
            <a:ext cx="496570" cy="361950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22" name="Google Shape;322;p35"/>
          <p:cNvCxnSpPr/>
          <p:nvPr/>
        </p:nvCxnSpPr>
        <p:spPr>
          <a:xfrm rot="10800000" flipH="1">
            <a:off x="4295775" y="2362835"/>
            <a:ext cx="427990" cy="459740"/>
          </a:xfrm>
          <a:prstGeom prst="straightConnector1">
            <a:avLst/>
          </a:prstGeom>
          <a:noFill/>
          <a:ln w="57225" cap="flat" cmpd="sng">
            <a:solidFill>
              <a:srgbClr val="00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23" name="Google Shape;323;p35"/>
          <p:cNvSpPr/>
          <p:nvPr/>
        </p:nvSpPr>
        <p:spPr>
          <a:xfrm>
            <a:off x="4251960" y="3505200"/>
            <a:ext cx="472440" cy="454152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35"/>
          <p:cNvCxnSpPr/>
          <p:nvPr/>
        </p:nvCxnSpPr>
        <p:spPr>
          <a:xfrm rot="10800000" flipH="1">
            <a:off x="4675188" y="3733800"/>
            <a:ext cx="614362" cy="30163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25" name="Google Shape;325;p35"/>
          <p:cNvSpPr txBox="1"/>
          <p:nvPr/>
        </p:nvSpPr>
        <p:spPr>
          <a:xfrm>
            <a:off x="6324600" y="3048000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 txBox="1"/>
          <p:nvPr/>
        </p:nvSpPr>
        <p:spPr>
          <a:xfrm>
            <a:off x="1371600" y="3119755"/>
            <a:ext cx="5187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3886200" y="2438400"/>
            <a:ext cx="485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4648200" y="1371600"/>
            <a:ext cx="485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5257800" y="3048000"/>
            <a:ext cx="485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5"/>
          <p:cNvSpPr txBox="1"/>
          <p:nvPr/>
        </p:nvSpPr>
        <p:spPr>
          <a:xfrm>
            <a:off x="2438400" y="1447800"/>
            <a:ext cx="48577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3124200" y="3124200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5"/>
          <p:cNvSpPr txBox="1"/>
          <p:nvPr/>
        </p:nvSpPr>
        <p:spPr>
          <a:xfrm>
            <a:off x="4419600" y="3048000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7543800" y="3124200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35"/>
          <p:cNvCxnSpPr/>
          <p:nvPr/>
        </p:nvCxnSpPr>
        <p:spPr>
          <a:xfrm>
            <a:off x="5700713" y="3713163"/>
            <a:ext cx="511175" cy="6350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36" name="Google Shape;336;p35"/>
          <p:cNvSpPr/>
          <p:nvPr/>
        </p:nvSpPr>
        <p:spPr>
          <a:xfrm>
            <a:off x="38735" y="3429000"/>
            <a:ext cx="1056640" cy="534035"/>
          </a:xfrm>
          <a:prstGeom prst="rect">
            <a:avLst/>
          </a:prstGeom>
          <a:solidFill>
            <a:srgbClr val="8DA9DB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2514600" y="4381500"/>
            <a:ext cx="50419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Rajah carta PERT/CPM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35"/>
          <p:cNvCxnSpPr/>
          <p:nvPr/>
        </p:nvCxnSpPr>
        <p:spPr>
          <a:xfrm>
            <a:off x="609600" y="6080125"/>
            <a:ext cx="762000" cy="1588"/>
          </a:xfrm>
          <a:prstGeom prst="straightConnector1">
            <a:avLst/>
          </a:prstGeom>
          <a:noFill/>
          <a:ln w="5722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339" name="Google Shape;339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1400175" y="382270"/>
            <a:ext cx="7924800" cy="81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    iv. Titik Pulang Modal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443230" y="1487170"/>
            <a:ext cx="8001000" cy="424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457200" marR="0" lvl="0" indent="-4559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59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1488558" y="1295400"/>
            <a:ext cx="7412555" cy="359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4805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mengkaji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kos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 mana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menyamai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kos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iaitu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pulang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modal.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294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tercapai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Hasil = 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Kos</a:t>
            </a:r>
            <a:endParaRPr sz="2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body" idx="1"/>
          </p:nvPr>
        </p:nvSpPr>
        <p:spPr>
          <a:xfrm>
            <a:off x="2326640" y="1253331"/>
            <a:ext cx="631063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5294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firma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mempastikan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output yang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dijual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melebihi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telah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ditetapkan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supaya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memperolehi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keuntungan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600" dirty="0"/>
          </a:p>
          <a:p>
            <a:pPr marL="457200" marR="0" lvl="0" indent="-455294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KEGUNAAN: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sng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memastikan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unit minima 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yang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patut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dikeluarkan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dijual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mendapat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pulangan</a:t>
            </a:r>
            <a:r>
              <a:rPr lang="en-US" sz="26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modal</a:t>
            </a:r>
            <a:r>
              <a:rPr lang="en-US" sz="2400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/>
          <p:nvPr/>
        </p:nvSpPr>
        <p:spPr>
          <a:xfrm>
            <a:off x="365760" y="182880"/>
            <a:ext cx="8578214" cy="6538596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1557337" y="393405"/>
            <a:ext cx="7386637" cy="506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Contoh: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Apakah kuantiti pulang modal jika harga jualan seunit ialah RM 25, Kos Berubah seunit ialah RM 10 dan Kos Tetap seunit RM 150,000?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Jawapan: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TPM (unit)	= 	</a:t>
            </a:r>
            <a:r>
              <a:rPr lang="en-US" sz="2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Kos Tetap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Harga – Kos Berubah seunit	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=	</a:t>
            </a:r>
            <a:r>
              <a:rPr lang="en-US" sz="2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150,000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25 – 10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=	10,000 unit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TPM (RM)	=	10,000 x 25	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ahoma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=	RM250,000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/>
          <p:nvPr/>
        </p:nvSpPr>
        <p:spPr>
          <a:xfrm>
            <a:off x="314960" y="300038"/>
            <a:ext cx="8708719" cy="6344602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914400" y="6858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1847861" y="1462088"/>
            <a:ext cx="1588" cy="3657600"/>
          </a:xfrm>
          <a:custGeom>
            <a:avLst/>
            <a:gdLst/>
            <a:ahLst/>
            <a:cxnLst/>
            <a:rect l="l" t="t" r="r" b="b"/>
            <a:pathLst>
              <a:path w="1" h="10161" extrusionOk="0">
                <a:moveTo>
                  <a:pt x="0" y="10160"/>
                </a:moveTo>
                <a:lnTo>
                  <a:pt x="0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628660" y="1316038"/>
            <a:ext cx="1357313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Kos/hasil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1847861" y="5119688"/>
            <a:ext cx="6477000" cy="1588"/>
          </a:xfrm>
          <a:custGeom>
            <a:avLst/>
            <a:gdLst/>
            <a:ahLst/>
            <a:cxnLst/>
            <a:rect l="l" t="t" r="r" b="b"/>
            <a:pathLst>
              <a:path w="17992" h="1" extrusionOk="0">
                <a:moveTo>
                  <a:pt x="0" y="0"/>
                </a:moveTo>
                <a:lnTo>
                  <a:pt x="17991" y="0"/>
                </a:lnTo>
              </a:path>
            </a:pathLst>
          </a:custGeom>
          <a:noFill/>
          <a:ln w="763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9"/>
          <p:cNvSpPr txBox="1"/>
          <p:nvPr/>
        </p:nvSpPr>
        <p:spPr>
          <a:xfrm>
            <a:off x="7624774" y="5126038"/>
            <a:ext cx="139890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Kuantiti(Q)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(Unit)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1847861" y="1995488"/>
            <a:ext cx="5410200" cy="3124200"/>
          </a:xfrm>
          <a:custGeom>
            <a:avLst/>
            <a:gdLst/>
            <a:ahLst/>
            <a:cxnLst/>
            <a:rect l="l" t="t" r="r" b="b"/>
            <a:pathLst>
              <a:path w="15029" h="8680" extrusionOk="0">
                <a:moveTo>
                  <a:pt x="0" y="8679"/>
                </a:moveTo>
                <a:lnTo>
                  <a:pt x="15028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7318386" y="1697038"/>
            <a:ext cx="1304925" cy="39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Jum. hasil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1847861" y="3748088"/>
            <a:ext cx="5486400" cy="1588"/>
          </a:xfrm>
          <a:custGeom>
            <a:avLst/>
            <a:gdLst/>
            <a:ahLst/>
            <a:cxnLst/>
            <a:rect l="l" t="t" r="r" b="b"/>
            <a:pathLst>
              <a:path w="15241" h="1" extrusionOk="0">
                <a:moveTo>
                  <a:pt x="0" y="0"/>
                </a:moveTo>
                <a:lnTo>
                  <a:pt x="15240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7312036" y="3449638"/>
            <a:ext cx="1241425" cy="39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Kos tetap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5200661" y="4967288"/>
            <a:ext cx="1588" cy="304800"/>
          </a:xfrm>
          <a:custGeom>
            <a:avLst/>
            <a:gdLst/>
            <a:ahLst/>
            <a:cxnLst/>
            <a:rect l="l" t="t" r="r" b="b"/>
            <a:pathLst>
              <a:path w="1" h="848" extrusionOk="0">
                <a:moveTo>
                  <a:pt x="0" y="0"/>
                </a:moveTo>
                <a:lnTo>
                  <a:pt x="0" y="847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9"/>
          <p:cNvSpPr/>
          <p:nvPr/>
        </p:nvSpPr>
        <p:spPr>
          <a:xfrm>
            <a:off x="1847861" y="2833688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15241" h="2541" extrusionOk="0">
                <a:moveTo>
                  <a:pt x="0" y="2540"/>
                </a:moveTo>
                <a:lnTo>
                  <a:pt x="15240" y="0"/>
                </a:lnTo>
              </a:path>
            </a:pathLst>
          </a:custGeom>
          <a:noFill/>
          <a:ln w="572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7334261" y="2535238"/>
            <a:ext cx="1585913" cy="39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Kos berubah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9"/>
          <p:cNvSpPr/>
          <p:nvPr/>
        </p:nvSpPr>
        <p:spPr>
          <a:xfrm>
            <a:off x="5198756" y="3138488"/>
            <a:ext cx="1588" cy="1981200"/>
          </a:xfrm>
          <a:custGeom>
            <a:avLst/>
            <a:gdLst/>
            <a:ahLst/>
            <a:cxnLst/>
            <a:rect l="l" t="t" r="r" b="b"/>
            <a:pathLst>
              <a:path w="1" h="5505" extrusionOk="0">
                <a:moveTo>
                  <a:pt x="0" y="0"/>
                </a:moveTo>
                <a:lnTo>
                  <a:pt x="0" y="5504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9"/>
          <p:cNvSpPr/>
          <p:nvPr/>
        </p:nvSpPr>
        <p:spPr>
          <a:xfrm>
            <a:off x="1847861" y="3138488"/>
            <a:ext cx="3352800" cy="1588"/>
          </a:xfrm>
          <a:custGeom>
            <a:avLst/>
            <a:gdLst/>
            <a:ahLst/>
            <a:cxnLst/>
            <a:rect l="l" t="t" r="r" b="b"/>
            <a:pathLst>
              <a:path w="9314" h="1" extrusionOk="0">
                <a:moveTo>
                  <a:pt x="9313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4527244" y="2709228"/>
            <a:ext cx="7366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590561" y="300038"/>
            <a:ext cx="7924800" cy="76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       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iv. Titik Pulang Modal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9"/>
          <p:cNvSpPr txBox="1"/>
          <p:nvPr/>
        </p:nvSpPr>
        <p:spPr>
          <a:xfrm>
            <a:off x="552461" y="2712715"/>
            <a:ext cx="12954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250,000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4565661" y="5322888"/>
            <a:ext cx="12954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10,000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9"/>
          <p:cNvSpPr txBox="1"/>
          <p:nvPr/>
        </p:nvSpPr>
        <p:spPr>
          <a:xfrm>
            <a:off x="1456701" y="5119688"/>
            <a:ext cx="26733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9"/>
          <p:cNvSpPr txBox="1"/>
          <p:nvPr/>
        </p:nvSpPr>
        <p:spPr>
          <a:xfrm>
            <a:off x="527061" y="3296915"/>
            <a:ext cx="12954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150,000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3653155" y="2832417"/>
            <a:ext cx="435568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TAMAT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1581</Words>
  <Application>Microsoft Office PowerPoint</Application>
  <PresentationFormat>On-screen Show (4:3)</PresentationFormat>
  <Paragraphs>521</Paragraphs>
  <Slides>34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Contoh: Proses membuat baju Kurung Butik ZZA yang dirancangkan bagi bulan Februari</vt:lpstr>
      <vt:lpstr>Carta Gantt : Aktiviti Menyiapkan 500 helai baju Kurung yang  dijangkakan dalam bulan Februari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SEE ZHI KAI Moe</cp:lastModifiedBy>
  <cp:revision>11</cp:revision>
  <dcterms:modified xsi:type="dcterms:W3CDTF">2022-11-24T03:09:40Z</dcterms:modified>
</cp:coreProperties>
</file>