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7" r:id="rId1"/>
  </p:sldMasterIdLst>
  <p:notesMasterIdLst>
    <p:notesMasterId r:id="rId10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Lst>
  <p:sldSz cx="9144000" cy="6858000" type="screen4x3"/>
  <p:notesSz cx="6858000" cy="9313863"/>
  <p:embeddedFontLst>
    <p:embeddedFont>
      <p:font typeface="Calibri" panose="020F0502020204030204" pitchFamily="34" charset="0"/>
      <p:regular r:id="rId109"/>
      <p:bold r:id="rId110"/>
      <p:italic r:id="rId111"/>
      <p:boldItalic r:id="rId112"/>
    </p:embeddedFont>
    <p:embeddedFont>
      <p:font typeface="Calibri Light" panose="020F0302020204030204" pitchFamily="34" charset="0"/>
      <p:regular r:id="rId113"/>
      <p:italic r:id="rId114"/>
    </p:embeddedFont>
    <p:embeddedFont>
      <p:font typeface="Tahoma" panose="020B0604030504040204" pitchFamily="34" charset="0"/>
      <p:regular r:id="rId115"/>
      <p:bold r:id="rId1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3BA780-5EA6-48F8-90CF-626E18444947}">
  <a:tblStyle styleId="{583BA780-5EA6-48F8-90CF-626E18444947}"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112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117" Type="http://schemas.openxmlformats.org/officeDocument/2006/relationships/presProps" Target="presProps.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font" Target="fonts/font4.fntdata"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87" Type="http://schemas.openxmlformats.org/officeDocument/2006/relationships/slide" Target="slides/slide86.xml" /><Relationship Id="rId102" Type="http://schemas.openxmlformats.org/officeDocument/2006/relationships/slide" Target="slides/slide101.xml" /><Relationship Id="rId110" Type="http://schemas.openxmlformats.org/officeDocument/2006/relationships/font" Target="fonts/font2.fntdata" /><Relationship Id="rId115" Type="http://schemas.openxmlformats.org/officeDocument/2006/relationships/font" Target="fonts/font7.fntdata"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slide" Target="slides/slide81.xml" /><Relationship Id="rId90" Type="http://schemas.openxmlformats.org/officeDocument/2006/relationships/slide" Target="slides/slide89.xml" /><Relationship Id="rId95" Type="http://schemas.openxmlformats.org/officeDocument/2006/relationships/slide" Target="slides/slide94.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13" Type="http://schemas.openxmlformats.org/officeDocument/2006/relationships/font" Target="fonts/font5.fntdata" /><Relationship Id="rId118" Type="http://schemas.openxmlformats.org/officeDocument/2006/relationships/viewProps" Target="viewProps.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slide" Target="slides/slide92.xml" /><Relationship Id="rId98" Type="http://schemas.openxmlformats.org/officeDocument/2006/relationships/slide" Target="slides/slide97.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03" Type="http://schemas.openxmlformats.org/officeDocument/2006/relationships/slide" Target="slides/slide102.xml" /><Relationship Id="rId108" Type="http://schemas.openxmlformats.org/officeDocument/2006/relationships/notesMaster" Target="notesMasters/notesMaster1.xml" /><Relationship Id="rId116" Type="http://schemas.openxmlformats.org/officeDocument/2006/relationships/font" Target="fonts/font8.fntdata"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96" Type="http://schemas.openxmlformats.org/officeDocument/2006/relationships/slide" Target="slides/slide95.xml" /><Relationship Id="rId111" Type="http://schemas.openxmlformats.org/officeDocument/2006/relationships/font" Target="fonts/font3.fntdata"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6" Type="http://schemas.openxmlformats.org/officeDocument/2006/relationships/slide" Target="slides/slide105.xml" /><Relationship Id="rId114" Type="http://schemas.openxmlformats.org/officeDocument/2006/relationships/font" Target="fonts/font6.fntdata" /><Relationship Id="rId119" Type="http://schemas.openxmlformats.org/officeDocument/2006/relationships/theme" Target="theme/theme1.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font" Target="fonts/font1.fntdata"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120" Type="http://schemas.openxmlformats.org/officeDocument/2006/relationships/tableStyles" Target="tableStyles.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29" Type="http://schemas.openxmlformats.org/officeDocument/2006/relationships/slide" Target="slides/slide2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6569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6569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24085"/>
            <a:ext cx="5486400" cy="41912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46553"/>
            <a:ext cx="2971800" cy="46569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846553"/>
            <a:ext cx="2971800" cy="46569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 /><Relationship Id="rId1" Type="http://schemas.openxmlformats.org/officeDocument/2006/relationships/notesMaster" Target="../notesMasters/notesMaster1.xml" /></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 /><Relationship Id="rId1" Type="http://schemas.openxmlformats.org/officeDocument/2006/relationships/notesMaster" Target="../notesMasters/notesMaster1.xml" /></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 /><Relationship Id="rId1" Type="http://schemas.openxmlformats.org/officeDocument/2006/relationships/notesMaster" Target="../notesMasters/notesMaster1.xml" /></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 /><Relationship Id="rId1" Type="http://schemas.openxmlformats.org/officeDocument/2006/relationships/notesMaster" Target="../notesMasters/notesMaster1.xml" /></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2" name="Google Shape;92;p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9" name="Google Shape;99;p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6" name="Google Shape;116;p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3" name="Google Shape;123;p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2" name="Google Shape;132;p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9" name="Google Shape;139;p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8" name="Google Shape;178;p1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p1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2" name="Google Shape;192;p1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9" name="Google Shape;199;p1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4" name="Google Shape;224;p1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9" name="Google Shape;249;p1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5" name="Google Shape;255;p1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9" name="Google Shape;309;p1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6" name="Google Shape;316;p1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3" name="Google Shape;323;p1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0: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6" name="Google Shape;336;p2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9" name="Google Shape;349;p2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5" name="Google Shape;365;p2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8" name="Google Shape;378;p2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6" name="Google Shape;426;p2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2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7" name="Google Shape;437;p2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4" name="Google Shape;464;p2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2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1" name="Google Shape;471;p2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2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0" name="Google Shape;480;p2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2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4" name="Google Shape;494;p2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30: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1" name="Google Shape;501;p3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3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9" name="Google Shape;529;p3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3" name="Google Shape;543;p3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3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4" name="Google Shape;554;p3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3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80" name="Google Shape;580;p3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6" name="Google Shape;596;p3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3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28" name="Google Shape;628;p3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3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3" name="Google Shape;643;p3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3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6" name="Google Shape;666;p3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3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76" name="Google Shape;676;p3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40:notes"/>
          <p:cNvSpPr txBox="1">
            <a:spLocks noGrp="1"/>
          </p:cNvSpPr>
          <p:nvPr>
            <p:ph type="sldNum" idx="12"/>
          </p:nvPr>
        </p:nvSpPr>
        <p:spPr>
          <a:xfrm>
            <a:off x="3884613" y="8846553"/>
            <a:ext cx="2971800" cy="46569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40</a:t>
            </a:fld>
            <a:endParaRPr sz="1200">
              <a:solidFill>
                <a:schemeClr val="dk1"/>
              </a:solidFill>
              <a:latin typeface="Times New Roman"/>
              <a:ea typeface="Times New Roman"/>
              <a:cs typeface="Times New Roman"/>
              <a:sym typeface="Times New Roman"/>
            </a:endParaRPr>
          </a:p>
        </p:txBody>
      </p:sp>
      <p:sp>
        <p:nvSpPr>
          <p:cNvPr id="687" name="Google Shape;687;p4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88" name="Google Shape;688;p40:notes"/>
          <p:cNvSpPr txBox="1">
            <a:spLocks noGrp="1"/>
          </p:cNvSpPr>
          <p:nvPr>
            <p:ph type="body" idx="1"/>
          </p:nvPr>
        </p:nvSpPr>
        <p:spPr>
          <a:xfrm>
            <a:off x="685800" y="4424085"/>
            <a:ext cx="5486400" cy="41912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4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29" name="Google Shape;729;p4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4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76" name="Google Shape;776;p4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4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99" name="Google Shape;799;p4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4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22" name="Google Shape;822;p4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4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29" name="Google Shape;829;p4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4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8" name="Google Shape;868;p4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p4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82" name="Google Shape;882;p4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4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97" name="Google Shape;897;p4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4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1" name="Google Shape;931;p4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p50: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41" name="Google Shape;941;p5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p5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95" name="Google Shape;995;p5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5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02" name="Google Shape;1002;p5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5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44" name="Google Shape;1044;p5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p5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58" name="Google Shape;1058;p5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p5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72" name="Google Shape;1072;p5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5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22" name="Google Shape;1122;p5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p5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29" name="Google Shape;1129;p5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5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39" name="Google Shape;1139;p5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p5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49" name="Google Shape;1149;p5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7"/>
        <p:cNvGrpSpPr/>
        <p:nvPr/>
      </p:nvGrpSpPr>
      <p:grpSpPr>
        <a:xfrm>
          <a:off x="0" y="0"/>
          <a:ext cx="0" cy="0"/>
          <a:chOff x="0" y="0"/>
          <a:chExt cx="0" cy="0"/>
        </a:xfrm>
      </p:grpSpPr>
      <p:sp>
        <p:nvSpPr>
          <p:cNvPr id="1178" name="Google Shape;1178;p60: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79" name="Google Shape;1179;p6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p6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94" name="Google Shape;1194;p6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p:cNvGrpSpPr/>
        <p:nvPr/>
      </p:nvGrpSpPr>
      <p:grpSpPr>
        <a:xfrm>
          <a:off x="0" y="0"/>
          <a:ext cx="0" cy="0"/>
          <a:chOff x="0" y="0"/>
          <a:chExt cx="0" cy="0"/>
        </a:xfrm>
      </p:grpSpPr>
      <p:sp>
        <p:nvSpPr>
          <p:cNvPr id="1208" name="Google Shape;1208;p6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09" name="Google Shape;1209;p6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3"/>
        <p:cNvGrpSpPr/>
        <p:nvPr/>
      </p:nvGrpSpPr>
      <p:grpSpPr>
        <a:xfrm>
          <a:off x="0" y="0"/>
          <a:ext cx="0" cy="0"/>
          <a:chOff x="0" y="0"/>
          <a:chExt cx="0" cy="0"/>
        </a:xfrm>
      </p:grpSpPr>
      <p:sp>
        <p:nvSpPr>
          <p:cNvPr id="1234" name="Google Shape;1234;p6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35" name="Google Shape;1235;p6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p6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9" name="Google Shape;1249;p6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p6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62" name="Google Shape;1262;p6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p:cNvGrpSpPr/>
        <p:nvPr/>
      </p:nvGrpSpPr>
      <p:grpSpPr>
        <a:xfrm>
          <a:off x="0" y="0"/>
          <a:ext cx="0" cy="0"/>
          <a:chOff x="0" y="0"/>
          <a:chExt cx="0" cy="0"/>
        </a:xfrm>
      </p:grpSpPr>
      <p:sp>
        <p:nvSpPr>
          <p:cNvPr id="1296" name="Google Shape;1296;p6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97" name="Google Shape;1297;p6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p6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25" name="Google Shape;1325;p6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1"/>
        <p:cNvGrpSpPr/>
        <p:nvPr/>
      </p:nvGrpSpPr>
      <p:grpSpPr>
        <a:xfrm>
          <a:off x="0" y="0"/>
          <a:ext cx="0" cy="0"/>
          <a:chOff x="0" y="0"/>
          <a:chExt cx="0" cy="0"/>
        </a:xfrm>
      </p:grpSpPr>
      <p:sp>
        <p:nvSpPr>
          <p:cNvPr id="1332" name="Google Shape;1332;p6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33" name="Google Shape;1333;p6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4"/>
        <p:cNvGrpSpPr/>
        <p:nvPr/>
      </p:nvGrpSpPr>
      <p:grpSpPr>
        <a:xfrm>
          <a:off x="0" y="0"/>
          <a:ext cx="0" cy="0"/>
          <a:chOff x="0" y="0"/>
          <a:chExt cx="0" cy="0"/>
        </a:xfrm>
      </p:grpSpPr>
      <p:sp>
        <p:nvSpPr>
          <p:cNvPr id="1375" name="Google Shape;1375;p6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76" name="Google Shape;1376;p6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3"/>
        <p:cNvGrpSpPr/>
        <p:nvPr/>
      </p:nvGrpSpPr>
      <p:grpSpPr>
        <a:xfrm>
          <a:off x="0" y="0"/>
          <a:ext cx="0" cy="0"/>
          <a:chOff x="0" y="0"/>
          <a:chExt cx="0" cy="0"/>
        </a:xfrm>
      </p:grpSpPr>
      <p:sp>
        <p:nvSpPr>
          <p:cNvPr id="1424" name="Google Shape;1424;p70: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25" name="Google Shape;1425;p7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p7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65" name="Google Shape;1465;p7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2"/>
        <p:cNvGrpSpPr/>
        <p:nvPr/>
      </p:nvGrpSpPr>
      <p:grpSpPr>
        <a:xfrm>
          <a:off x="0" y="0"/>
          <a:ext cx="0" cy="0"/>
          <a:chOff x="0" y="0"/>
          <a:chExt cx="0" cy="0"/>
        </a:xfrm>
      </p:grpSpPr>
      <p:sp>
        <p:nvSpPr>
          <p:cNvPr id="1473" name="Google Shape;1473;p7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74" name="Google Shape;1474;p7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7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13" name="Google Shape;1513;p7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1"/>
        <p:cNvGrpSpPr/>
        <p:nvPr/>
      </p:nvGrpSpPr>
      <p:grpSpPr>
        <a:xfrm>
          <a:off x="0" y="0"/>
          <a:ext cx="0" cy="0"/>
          <a:chOff x="0" y="0"/>
          <a:chExt cx="0" cy="0"/>
        </a:xfrm>
      </p:grpSpPr>
      <p:sp>
        <p:nvSpPr>
          <p:cNvPr id="1552" name="Google Shape;1552;p7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53" name="Google Shape;1553;p7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8"/>
        <p:cNvGrpSpPr/>
        <p:nvPr/>
      </p:nvGrpSpPr>
      <p:grpSpPr>
        <a:xfrm>
          <a:off x="0" y="0"/>
          <a:ext cx="0" cy="0"/>
          <a:chOff x="0" y="0"/>
          <a:chExt cx="0" cy="0"/>
        </a:xfrm>
      </p:grpSpPr>
      <p:sp>
        <p:nvSpPr>
          <p:cNvPr id="1559" name="Google Shape;1559;p7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60" name="Google Shape;1560;p7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p7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3" name="Google Shape;1573;p7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1"/>
        <p:cNvGrpSpPr/>
        <p:nvPr/>
      </p:nvGrpSpPr>
      <p:grpSpPr>
        <a:xfrm>
          <a:off x="0" y="0"/>
          <a:ext cx="0" cy="0"/>
          <a:chOff x="0" y="0"/>
          <a:chExt cx="0" cy="0"/>
        </a:xfrm>
      </p:grpSpPr>
      <p:sp>
        <p:nvSpPr>
          <p:cNvPr id="1582" name="Google Shape;1582;p7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83" name="Google Shape;1583;p7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0"/>
        <p:cNvGrpSpPr/>
        <p:nvPr/>
      </p:nvGrpSpPr>
      <p:grpSpPr>
        <a:xfrm>
          <a:off x="0" y="0"/>
          <a:ext cx="0" cy="0"/>
          <a:chOff x="0" y="0"/>
          <a:chExt cx="0" cy="0"/>
        </a:xfrm>
      </p:grpSpPr>
      <p:sp>
        <p:nvSpPr>
          <p:cNvPr id="1591" name="Google Shape;1591;p7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2" name="Google Shape;1592;p7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2"/>
        <p:cNvGrpSpPr/>
        <p:nvPr/>
      </p:nvGrpSpPr>
      <p:grpSpPr>
        <a:xfrm>
          <a:off x="0" y="0"/>
          <a:ext cx="0" cy="0"/>
          <a:chOff x="0" y="0"/>
          <a:chExt cx="0" cy="0"/>
        </a:xfrm>
      </p:grpSpPr>
      <p:sp>
        <p:nvSpPr>
          <p:cNvPr id="1603" name="Google Shape;1603;p7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04" name="Google Shape;1604;p7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p:cNvGrpSpPr/>
        <p:nvPr/>
      </p:nvGrpSpPr>
      <p:grpSpPr>
        <a:xfrm>
          <a:off x="0" y="0"/>
          <a:ext cx="0" cy="0"/>
          <a:chOff x="0" y="0"/>
          <a:chExt cx="0" cy="0"/>
        </a:xfrm>
      </p:grpSpPr>
      <p:sp>
        <p:nvSpPr>
          <p:cNvPr id="1631" name="Google Shape;1631;p80: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32" name="Google Shape;1632;p8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p:cNvGrpSpPr/>
        <p:nvPr/>
      </p:nvGrpSpPr>
      <p:grpSpPr>
        <a:xfrm>
          <a:off x="0" y="0"/>
          <a:ext cx="0" cy="0"/>
          <a:chOff x="0" y="0"/>
          <a:chExt cx="0" cy="0"/>
        </a:xfrm>
      </p:grpSpPr>
      <p:sp>
        <p:nvSpPr>
          <p:cNvPr id="1636" name="Google Shape;1636;p8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37" name="Google Shape;1637;p8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7"/>
        <p:cNvGrpSpPr/>
        <p:nvPr/>
      </p:nvGrpSpPr>
      <p:grpSpPr>
        <a:xfrm>
          <a:off x="0" y="0"/>
          <a:ext cx="0" cy="0"/>
          <a:chOff x="0" y="0"/>
          <a:chExt cx="0" cy="0"/>
        </a:xfrm>
      </p:grpSpPr>
      <p:sp>
        <p:nvSpPr>
          <p:cNvPr id="1648" name="Google Shape;1648;p8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49" name="Google Shape;1649;p8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
        <p:cNvGrpSpPr/>
        <p:nvPr/>
      </p:nvGrpSpPr>
      <p:grpSpPr>
        <a:xfrm>
          <a:off x="0" y="0"/>
          <a:ext cx="0" cy="0"/>
          <a:chOff x="0" y="0"/>
          <a:chExt cx="0" cy="0"/>
        </a:xfrm>
      </p:grpSpPr>
      <p:sp>
        <p:nvSpPr>
          <p:cNvPr id="1654" name="Google Shape;1654;p8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55" name="Google Shape;1655;p8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p8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64" name="Google Shape;1664;p8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0"/>
        <p:cNvGrpSpPr/>
        <p:nvPr/>
      </p:nvGrpSpPr>
      <p:grpSpPr>
        <a:xfrm>
          <a:off x="0" y="0"/>
          <a:ext cx="0" cy="0"/>
          <a:chOff x="0" y="0"/>
          <a:chExt cx="0" cy="0"/>
        </a:xfrm>
      </p:grpSpPr>
      <p:sp>
        <p:nvSpPr>
          <p:cNvPr id="1671" name="Google Shape;1671;p8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72" name="Google Shape;1672;p8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p8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79" name="Google Shape;1679;p8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4"/>
        <p:cNvGrpSpPr/>
        <p:nvPr/>
      </p:nvGrpSpPr>
      <p:grpSpPr>
        <a:xfrm>
          <a:off x="0" y="0"/>
          <a:ext cx="0" cy="0"/>
          <a:chOff x="0" y="0"/>
          <a:chExt cx="0" cy="0"/>
        </a:xfrm>
      </p:grpSpPr>
      <p:sp>
        <p:nvSpPr>
          <p:cNvPr id="1685" name="Google Shape;1685;p8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86" name="Google Shape;1686;p8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2"/>
        <p:cNvGrpSpPr/>
        <p:nvPr/>
      </p:nvGrpSpPr>
      <p:grpSpPr>
        <a:xfrm>
          <a:off x="0" y="0"/>
          <a:ext cx="0" cy="0"/>
          <a:chOff x="0" y="0"/>
          <a:chExt cx="0" cy="0"/>
        </a:xfrm>
      </p:grpSpPr>
      <p:sp>
        <p:nvSpPr>
          <p:cNvPr id="1693" name="Google Shape;1693;p8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4" name="Google Shape;1694;p8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p8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01" name="Google Shape;1701;p8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7"/>
        <p:cNvGrpSpPr/>
        <p:nvPr/>
      </p:nvGrpSpPr>
      <p:grpSpPr>
        <a:xfrm>
          <a:off x="0" y="0"/>
          <a:ext cx="0" cy="0"/>
          <a:chOff x="0" y="0"/>
          <a:chExt cx="0" cy="0"/>
        </a:xfrm>
      </p:grpSpPr>
      <p:sp>
        <p:nvSpPr>
          <p:cNvPr id="1738" name="Google Shape;1738;p90: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39" name="Google Shape;1739;p9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3"/>
        <p:cNvGrpSpPr/>
        <p:nvPr/>
      </p:nvGrpSpPr>
      <p:grpSpPr>
        <a:xfrm>
          <a:off x="0" y="0"/>
          <a:ext cx="0" cy="0"/>
          <a:chOff x="0" y="0"/>
          <a:chExt cx="0" cy="0"/>
        </a:xfrm>
      </p:grpSpPr>
      <p:sp>
        <p:nvSpPr>
          <p:cNvPr id="1774" name="Google Shape;1774;p9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75" name="Google Shape;1775;p9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9"/>
        <p:cNvGrpSpPr/>
        <p:nvPr/>
      </p:nvGrpSpPr>
      <p:grpSpPr>
        <a:xfrm>
          <a:off x="0" y="0"/>
          <a:ext cx="0" cy="0"/>
          <a:chOff x="0" y="0"/>
          <a:chExt cx="0" cy="0"/>
        </a:xfrm>
      </p:grpSpPr>
      <p:sp>
        <p:nvSpPr>
          <p:cNvPr id="1800" name="Google Shape;1800;p9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01" name="Google Shape;1801;p9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0"/>
        <p:cNvGrpSpPr/>
        <p:nvPr/>
      </p:nvGrpSpPr>
      <p:grpSpPr>
        <a:xfrm>
          <a:off x="0" y="0"/>
          <a:ext cx="0" cy="0"/>
          <a:chOff x="0" y="0"/>
          <a:chExt cx="0" cy="0"/>
        </a:xfrm>
      </p:grpSpPr>
      <p:sp>
        <p:nvSpPr>
          <p:cNvPr id="1811" name="Google Shape;1811;p9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12" name="Google Shape;1812;p9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2"/>
        <p:cNvGrpSpPr/>
        <p:nvPr/>
      </p:nvGrpSpPr>
      <p:grpSpPr>
        <a:xfrm>
          <a:off x="0" y="0"/>
          <a:ext cx="0" cy="0"/>
          <a:chOff x="0" y="0"/>
          <a:chExt cx="0" cy="0"/>
        </a:xfrm>
      </p:grpSpPr>
      <p:sp>
        <p:nvSpPr>
          <p:cNvPr id="1823" name="Google Shape;1823;p9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24" name="Google Shape;1824;p9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4"/>
        <p:cNvGrpSpPr/>
        <p:nvPr/>
      </p:nvGrpSpPr>
      <p:grpSpPr>
        <a:xfrm>
          <a:off x="0" y="0"/>
          <a:ext cx="0" cy="0"/>
          <a:chOff x="0" y="0"/>
          <a:chExt cx="0" cy="0"/>
        </a:xfrm>
      </p:grpSpPr>
      <p:sp>
        <p:nvSpPr>
          <p:cNvPr id="1835" name="Google Shape;1835;p9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36" name="Google Shape;1836;p9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1"/>
        <p:cNvGrpSpPr/>
        <p:nvPr/>
      </p:nvGrpSpPr>
      <p:grpSpPr>
        <a:xfrm>
          <a:off x="0" y="0"/>
          <a:ext cx="0" cy="0"/>
          <a:chOff x="0" y="0"/>
          <a:chExt cx="0" cy="0"/>
        </a:xfrm>
      </p:grpSpPr>
      <p:sp>
        <p:nvSpPr>
          <p:cNvPr id="1842" name="Google Shape;1842;p9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43" name="Google Shape;1843;p9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3"/>
        <p:cNvGrpSpPr/>
        <p:nvPr/>
      </p:nvGrpSpPr>
      <p:grpSpPr>
        <a:xfrm>
          <a:off x="0" y="0"/>
          <a:ext cx="0" cy="0"/>
          <a:chOff x="0" y="0"/>
          <a:chExt cx="0" cy="0"/>
        </a:xfrm>
      </p:grpSpPr>
      <p:sp>
        <p:nvSpPr>
          <p:cNvPr id="1874" name="Google Shape;1874;p97: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75" name="Google Shape;1875;p97: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p98: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84" name="Google Shape;1884;p98: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8"/>
        <p:cNvGrpSpPr/>
        <p:nvPr/>
      </p:nvGrpSpPr>
      <p:grpSpPr>
        <a:xfrm>
          <a:off x="0" y="0"/>
          <a:ext cx="0" cy="0"/>
          <a:chOff x="0" y="0"/>
          <a:chExt cx="0" cy="0"/>
        </a:xfrm>
      </p:grpSpPr>
      <p:sp>
        <p:nvSpPr>
          <p:cNvPr id="1919" name="Google Shape;1919;p99: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20" name="Google Shape;1920;p99: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7"/>
        <p:cNvGrpSpPr/>
        <p:nvPr/>
      </p:nvGrpSpPr>
      <p:grpSpPr>
        <a:xfrm>
          <a:off x="0" y="0"/>
          <a:ext cx="0" cy="0"/>
          <a:chOff x="0" y="0"/>
          <a:chExt cx="0" cy="0"/>
        </a:xfrm>
      </p:grpSpPr>
      <p:sp>
        <p:nvSpPr>
          <p:cNvPr id="1958" name="Google Shape;1958;p100: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9" name="Google Shape;1959;p100: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3"/>
        <p:cNvGrpSpPr/>
        <p:nvPr/>
      </p:nvGrpSpPr>
      <p:grpSpPr>
        <a:xfrm>
          <a:off x="0" y="0"/>
          <a:ext cx="0" cy="0"/>
          <a:chOff x="0" y="0"/>
          <a:chExt cx="0" cy="0"/>
        </a:xfrm>
      </p:grpSpPr>
      <p:sp>
        <p:nvSpPr>
          <p:cNvPr id="2004" name="Google Shape;2004;p101: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05" name="Google Shape;2005;p101: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3"/>
        <p:cNvGrpSpPr/>
        <p:nvPr/>
      </p:nvGrpSpPr>
      <p:grpSpPr>
        <a:xfrm>
          <a:off x="0" y="0"/>
          <a:ext cx="0" cy="0"/>
          <a:chOff x="0" y="0"/>
          <a:chExt cx="0" cy="0"/>
        </a:xfrm>
      </p:grpSpPr>
      <p:sp>
        <p:nvSpPr>
          <p:cNvPr id="2014" name="Google Shape;2014;p102: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15" name="Google Shape;2015;p102: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6"/>
        <p:cNvGrpSpPr/>
        <p:nvPr/>
      </p:nvGrpSpPr>
      <p:grpSpPr>
        <a:xfrm>
          <a:off x="0" y="0"/>
          <a:ext cx="0" cy="0"/>
          <a:chOff x="0" y="0"/>
          <a:chExt cx="0" cy="0"/>
        </a:xfrm>
      </p:grpSpPr>
      <p:sp>
        <p:nvSpPr>
          <p:cNvPr id="2027" name="Google Shape;2027;p103: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2028" name="Google Shape;2028;p103: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1"/>
        <p:cNvGrpSpPr/>
        <p:nvPr/>
      </p:nvGrpSpPr>
      <p:grpSpPr>
        <a:xfrm>
          <a:off x="0" y="0"/>
          <a:ext cx="0" cy="0"/>
          <a:chOff x="0" y="0"/>
          <a:chExt cx="0" cy="0"/>
        </a:xfrm>
      </p:grpSpPr>
      <p:sp>
        <p:nvSpPr>
          <p:cNvPr id="2072" name="Google Shape;2072;p104: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73" name="Google Shape;2073;p104: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2"/>
        <p:cNvGrpSpPr/>
        <p:nvPr/>
      </p:nvGrpSpPr>
      <p:grpSpPr>
        <a:xfrm>
          <a:off x="0" y="0"/>
          <a:ext cx="0" cy="0"/>
          <a:chOff x="0" y="0"/>
          <a:chExt cx="0" cy="0"/>
        </a:xfrm>
      </p:grpSpPr>
      <p:sp>
        <p:nvSpPr>
          <p:cNvPr id="2083" name="Google Shape;2083;p105: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84" name="Google Shape;2084;p105: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p106:notes"/>
          <p:cNvSpPr txBox="1">
            <a:spLocks noGrp="1"/>
          </p:cNvSpPr>
          <p:nvPr>
            <p:ph type="body" idx="1"/>
          </p:nvPr>
        </p:nvSpPr>
        <p:spPr>
          <a:xfrm>
            <a:off x="685800" y="4424085"/>
            <a:ext cx="5486400" cy="4191238"/>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92" name="Google Shape;2092;p106:notes"/>
          <p:cNvSpPr>
            <a:spLocks noGrp="1" noRot="1" noChangeAspect="1"/>
          </p:cNvSpPr>
          <p:nvPr>
            <p:ph type="sldImg" idx="2"/>
          </p:nvPr>
        </p:nvSpPr>
        <p:spPr>
          <a:xfrm>
            <a:off x="1101725" y="698500"/>
            <a:ext cx="4654550" cy="3492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2581915"/>
      </p:ext>
    </p:extLst>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33233517"/>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5237476"/>
      </p:ext>
    </p:extLst>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58399149"/>
      </p:ext>
    </p:extLst>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6830580"/>
      </p:ext>
    </p:extLst>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13280341"/>
      </p:ext>
    </p:extLst>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MY"/>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MY"/>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29272806"/>
      </p:ext>
    </p:extLst>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endParaRPr lang="en-MY"/>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MY"/>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70223846"/>
      </p:ext>
    </p:extLst>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35966886"/>
      </p:ext>
    </p:extLst>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43623456"/>
      </p:ext>
    </p:extLst>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02484254"/>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endParaRPr lang="en-MY"/>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MY"/>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34538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ransition>
    <p:fade thruBlk="1"/>
  </p:transition>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notesSlide" Target="../notesSlides/notesSlide21.xml"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22.xml.rels><?xml version="1.0" encoding="UTF-8" standalone="yes"?>
<Relationships xmlns="http://schemas.openxmlformats.org/package/2006/relationships"><Relationship Id="rId8" Type="http://schemas.openxmlformats.org/officeDocument/2006/relationships/image" Target="../media/image12.png" /><Relationship Id="rId3" Type="http://schemas.openxmlformats.org/officeDocument/2006/relationships/image" Target="../media/image7.png" /><Relationship Id="rId7" Type="http://schemas.openxmlformats.org/officeDocument/2006/relationships/image" Target="../media/image11.png" /><Relationship Id="rId2" Type="http://schemas.openxmlformats.org/officeDocument/2006/relationships/notesSlide" Target="../notesSlides/notesSlide22.xml" /><Relationship Id="rId1" Type="http://schemas.openxmlformats.org/officeDocument/2006/relationships/slideLayout" Target="../slideLayouts/slideLayout7.xml" /><Relationship Id="rId6" Type="http://schemas.openxmlformats.org/officeDocument/2006/relationships/image" Target="../media/image10.png" /><Relationship Id="rId5" Type="http://schemas.openxmlformats.org/officeDocument/2006/relationships/image" Target="../media/image9.png" /><Relationship Id="rId4" Type="http://schemas.openxmlformats.org/officeDocument/2006/relationships/image" Target="../media/image8.png"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28.xml" /><Relationship Id="rId1" Type="http://schemas.openxmlformats.org/officeDocument/2006/relationships/slideLayout" Target="../slideLayouts/slideLayout7.xml" /><Relationship Id="rId6" Type="http://schemas.openxmlformats.org/officeDocument/2006/relationships/image" Target="../media/image16.png" /><Relationship Id="rId5" Type="http://schemas.openxmlformats.org/officeDocument/2006/relationships/image" Target="../media/image15.png" /><Relationship Id="rId4" Type="http://schemas.openxmlformats.org/officeDocument/2006/relationships/image" Target="../media/image14.png"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30.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31.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31.xml" /><Relationship Id="rId1" Type="http://schemas.openxmlformats.org/officeDocument/2006/relationships/slideLayout" Target="../slideLayouts/slideLayout7.xml" /><Relationship Id="rId6" Type="http://schemas.openxmlformats.org/officeDocument/2006/relationships/image" Target="../media/image23.png" /><Relationship Id="rId5" Type="http://schemas.openxmlformats.org/officeDocument/2006/relationships/image" Target="../media/image22.png" /><Relationship Id="rId4" Type="http://schemas.openxmlformats.org/officeDocument/2006/relationships/image" Target="../media/image21.png"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notesSlide" Target="../notesSlides/notesSlide34.xml" /><Relationship Id="rId1" Type="http://schemas.openxmlformats.org/officeDocument/2006/relationships/slideLayout" Target="../slideLayouts/slideLayout7.xml" /><Relationship Id="rId6" Type="http://schemas.openxmlformats.org/officeDocument/2006/relationships/image" Target="../media/image27.png" /><Relationship Id="rId5" Type="http://schemas.openxmlformats.org/officeDocument/2006/relationships/image" Target="../media/image26.png" /><Relationship Id="rId4" Type="http://schemas.openxmlformats.org/officeDocument/2006/relationships/image" Target="../media/image25.png" /></Relationships>
</file>

<file path=ppt/slides/_rels/slide35.xml.rels><?xml version="1.0" encoding="UTF-8" standalone="yes"?>
<Relationships xmlns="http://schemas.openxmlformats.org/package/2006/relationships"><Relationship Id="rId3" Type="http://schemas.openxmlformats.org/officeDocument/2006/relationships/image" Target="../media/image28.png" /><Relationship Id="rId2" Type="http://schemas.openxmlformats.org/officeDocument/2006/relationships/notesSlide" Target="../notesSlides/notesSlide35.xml" /><Relationship Id="rId1" Type="http://schemas.openxmlformats.org/officeDocument/2006/relationships/slideLayout" Target="../slideLayouts/slideLayout7.xml" /><Relationship Id="rId6" Type="http://schemas.openxmlformats.org/officeDocument/2006/relationships/image" Target="../media/image31.png" /><Relationship Id="rId5" Type="http://schemas.openxmlformats.org/officeDocument/2006/relationships/image" Target="../media/image30.png" /><Relationship Id="rId4" Type="http://schemas.openxmlformats.org/officeDocument/2006/relationships/image" Target="../media/image29.png" /></Relationships>
</file>

<file path=ppt/slides/_rels/slide36.xml.rels><?xml version="1.0" encoding="UTF-8" standalone="yes"?>
<Relationships xmlns="http://schemas.openxmlformats.org/package/2006/relationships"><Relationship Id="rId3" Type="http://schemas.openxmlformats.org/officeDocument/2006/relationships/image" Target="../media/image32.png" /><Relationship Id="rId2" Type="http://schemas.openxmlformats.org/officeDocument/2006/relationships/notesSlide" Target="../notesSlides/notesSlide36.xml" /><Relationship Id="rId1" Type="http://schemas.openxmlformats.org/officeDocument/2006/relationships/slideLayout" Target="../slideLayouts/slideLayout7.xml" /><Relationship Id="rId6" Type="http://schemas.openxmlformats.org/officeDocument/2006/relationships/image" Target="../media/image34.png" /><Relationship Id="rId5" Type="http://schemas.openxmlformats.org/officeDocument/2006/relationships/image" Target="../media/image33.png" /><Relationship Id="rId4" Type="http://schemas.openxmlformats.org/officeDocument/2006/relationships/image" Target="../media/image27.png"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Relationship Id="rId3" Type="http://schemas.openxmlformats.org/officeDocument/2006/relationships/image" Target="../media/image35.png" /><Relationship Id="rId2" Type="http://schemas.openxmlformats.org/officeDocument/2006/relationships/notesSlide" Target="../notesSlides/notesSlide46.xml" /><Relationship Id="rId1" Type="http://schemas.openxmlformats.org/officeDocument/2006/relationships/slideLayout" Target="../slideLayouts/slideLayout7.xml" /><Relationship Id="rId5" Type="http://schemas.openxmlformats.org/officeDocument/2006/relationships/image" Target="../media/image37.png" /><Relationship Id="rId4" Type="http://schemas.openxmlformats.org/officeDocument/2006/relationships/image" Target="../media/image36.png" /></Relationships>
</file>

<file path=ppt/slides/_rels/slide47.xml.rels><?xml version="1.0" encoding="UTF-8" standalone="yes"?>
<Relationships xmlns="http://schemas.openxmlformats.org/package/2006/relationships"><Relationship Id="rId3" Type="http://schemas.openxmlformats.org/officeDocument/2006/relationships/image" Target="../media/image38.png" /><Relationship Id="rId2" Type="http://schemas.openxmlformats.org/officeDocument/2006/relationships/notesSlide" Target="../notesSlides/notesSlide47.xml" /><Relationship Id="rId1" Type="http://schemas.openxmlformats.org/officeDocument/2006/relationships/slideLayout" Target="../slideLayouts/slideLayout7.xml" /><Relationship Id="rId6" Type="http://schemas.openxmlformats.org/officeDocument/2006/relationships/image" Target="../media/image41.png" /><Relationship Id="rId5" Type="http://schemas.openxmlformats.org/officeDocument/2006/relationships/image" Target="../media/image40.png" /><Relationship Id="rId4" Type="http://schemas.openxmlformats.org/officeDocument/2006/relationships/image" Target="../media/image39.png" /></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 /><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Relationship Id="rId3" Type="http://schemas.openxmlformats.org/officeDocument/2006/relationships/image" Target="../media/image42.png" /><Relationship Id="rId2" Type="http://schemas.openxmlformats.org/officeDocument/2006/relationships/notesSlide" Target="../notesSlides/notesSlide49.xml" /><Relationship Id="rId1" Type="http://schemas.openxmlformats.org/officeDocument/2006/relationships/slideLayout" Target="../slideLayouts/slideLayout7.xml" /><Relationship Id="rId6" Type="http://schemas.openxmlformats.org/officeDocument/2006/relationships/image" Target="../media/image45.png" /><Relationship Id="rId5" Type="http://schemas.openxmlformats.org/officeDocument/2006/relationships/image" Target="../media/image44.png" /><Relationship Id="rId4" Type="http://schemas.openxmlformats.org/officeDocument/2006/relationships/image" Target="../media/image43.png" /></Relationships>
</file>

<file path=ppt/slides/_rels/slide50.xml.rels><?xml version="1.0" encoding="UTF-8" standalone="yes"?>
<Relationships xmlns="http://schemas.openxmlformats.org/package/2006/relationships"><Relationship Id="rId8" Type="http://schemas.openxmlformats.org/officeDocument/2006/relationships/image" Target="../media/image51.png" /><Relationship Id="rId3" Type="http://schemas.openxmlformats.org/officeDocument/2006/relationships/image" Target="../media/image46.png" /><Relationship Id="rId7" Type="http://schemas.openxmlformats.org/officeDocument/2006/relationships/image" Target="../media/image50.png" /><Relationship Id="rId2" Type="http://schemas.openxmlformats.org/officeDocument/2006/relationships/notesSlide" Target="../notesSlides/notesSlide50.xml" /><Relationship Id="rId1" Type="http://schemas.openxmlformats.org/officeDocument/2006/relationships/slideLayout" Target="../slideLayouts/slideLayout7.xml" /><Relationship Id="rId6" Type="http://schemas.openxmlformats.org/officeDocument/2006/relationships/image" Target="../media/image49.png" /><Relationship Id="rId5" Type="http://schemas.openxmlformats.org/officeDocument/2006/relationships/image" Target="../media/image48.png" /><Relationship Id="rId4" Type="http://schemas.openxmlformats.org/officeDocument/2006/relationships/image" Target="../media/image47.png" /><Relationship Id="rId9" Type="http://schemas.openxmlformats.org/officeDocument/2006/relationships/image" Target="../media/image52.png" /></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Relationship Id="rId3" Type="http://schemas.openxmlformats.org/officeDocument/2006/relationships/image" Target="../media/image53.png" /><Relationship Id="rId2" Type="http://schemas.openxmlformats.org/officeDocument/2006/relationships/notesSlide" Target="../notesSlides/notesSlide53.xml" /><Relationship Id="rId1" Type="http://schemas.openxmlformats.org/officeDocument/2006/relationships/slideLayout" Target="../slideLayouts/slideLayout7.xml" /><Relationship Id="rId6" Type="http://schemas.openxmlformats.org/officeDocument/2006/relationships/image" Target="../media/image56.png" /><Relationship Id="rId5" Type="http://schemas.openxmlformats.org/officeDocument/2006/relationships/image" Target="../media/image55.png" /><Relationship Id="rId4" Type="http://schemas.openxmlformats.org/officeDocument/2006/relationships/image" Target="../media/image54.png" /></Relationships>
</file>

<file path=ppt/slides/_rels/slide54.xml.rels><?xml version="1.0" encoding="UTF-8" standalone="yes"?>
<Relationships xmlns="http://schemas.openxmlformats.org/package/2006/relationships"><Relationship Id="rId3" Type="http://schemas.openxmlformats.org/officeDocument/2006/relationships/image" Target="../media/image57.png" /><Relationship Id="rId2" Type="http://schemas.openxmlformats.org/officeDocument/2006/relationships/notesSlide" Target="../notesSlides/notesSlide54.xml" /><Relationship Id="rId1" Type="http://schemas.openxmlformats.org/officeDocument/2006/relationships/slideLayout" Target="../slideLayouts/slideLayout7.xml" /><Relationship Id="rId6" Type="http://schemas.openxmlformats.org/officeDocument/2006/relationships/image" Target="../media/image60.png" /><Relationship Id="rId5" Type="http://schemas.openxmlformats.org/officeDocument/2006/relationships/image" Target="../media/image59.png" /><Relationship Id="rId4" Type="http://schemas.openxmlformats.org/officeDocument/2006/relationships/image" Target="../media/image58.png" /></Relationships>
</file>

<file path=ppt/slides/_rels/slide55.xml.rels><?xml version="1.0" encoding="UTF-8" standalone="yes"?>
<Relationships xmlns="http://schemas.openxmlformats.org/package/2006/relationships"><Relationship Id="rId8" Type="http://schemas.openxmlformats.org/officeDocument/2006/relationships/image" Target="../media/image66.png" /><Relationship Id="rId3" Type="http://schemas.openxmlformats.org/officeDocument/2006/relationships/image" Target="../media/image61.png" /><Relationship Id="rId7" Type="http://schemas.openxmlformats.org/officeDocument/2006/relationships/image" Target="../media/image65.png" /><Relationship Id="rId2" Type="http://schemas.openxmlformats.org/officeDocument/2006/relationships/notesSlide" Target="../notesSlides/notesSlide55.xml" /><Relationship Id="rId1" Type="http://schemas.openxmlformats.org/officeDocument/2006/relationships/slideLayout" Target="../slideLayouts/slideLayout7.xml" /><Relationship Id="rId6" Type="http://schemas.openxmlformats.org/officeDocument/2006/relationships/image" Target="../media/image64.png" /><Relationship Id="rId5" Type="http://schemas.openxmlformats.org/officeDocument/2006/relationships/image" Target="../media/image63.png" /><Relationship Id="rId4" Type="http://schemas.openxmlformats.org/officeDocument/2006/relationships/image" Target="../media/image62.png" /></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 /><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Relationship Id="rId3" Type="http://schemas.openxmlformats.org/officeDocument/2006/relationships/image" Target="../media/image67.png" /><Relationship Id="rId2" Type="http://schemas.openxmlformats.org/officeDocument/2006/relationships/notesSlide" Target="../notesSlides/notesSlide60.xml" /><Relationship Id="rId1" Type="http://schemas.openxmlformats.org/officeDocument/2006/relationships/slideLayout" Target="../slideLayouts/slideLayout7.xml" /><Relationship Id="rId6" Type="http://schemas.openxmlformats.org/officeDocument/2006/relationships/image" Target="../media/image70.png" /><Relationship Id="rId5" Type="http://schemas.openxmlformats.org/officeDocument/2006/relationships/image" Target="../media/image69.png" /><Relationship Id="rId4" Type="http://schemas.openxmlformats.org/officeDocument/2006/relationships/image" Target="../media/image68.png" /></Relationships>
</file>

<file path=ppt/slides/_rels/slide61.xml.rels><?xml version="1.0" encoding="UTF-8" standalone="yes"?>
<Relationships xmlns="http://schemas.openxmlformats.org/package/2006/relationships"><Relationship Id="rId3" Type="http://schemas.openxmlformats.org/officeDocument/2006/relationships/image" Target="../media/image70.png" /><Relationship Id="rId2" Type="http://schemas.openxmlformats.org/officeDocument/2006/relationships/notesSlide" Target="../notesSlides/notesSlide61.xml" /><Relationship Id="rId1" Type="http://schemas.openxmlformats.org/officeDocument/2006/relationships/slideLayout" Target="../slideLayouts/slideLayout7.xml" /><Relationship Id="rId6" Type="http://schemas.openxmlformats.org/officeDocument/2006/relationships/image" Target="../media/image73.png" /><Relationship Id="rId5" Type="http://schemas.openxmlformats.org/officeDocument/2006/relationships/image" Target="../media/image72.png" /><Relationship Id="rId4" Type="http://schemas.openxmlformats.org/officeDocument/2006/relationships/image" Target="../media/image71.png" /></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 /><Relationship Id="rId1" Type="http://schemas.openxmlformats.org/officeDocument/2006/relationships/slideLayout" Target="../slideLayouts/slideLayout7.xml" /></Relationships>
</file>

<file path=ppt/slides/_rels/slide63.xml.rels><?xml version="1.0" encoding="UTF-8" standalone="yes"?>
<Relationships xmlns="http://schemas.openxmlformats.org/package/2006/relationships"><Relationship Id="rId3" Type="http://schemas.openxmlformats.org/officeDocument/2006/relationships/image" Target="../media/image74.png" /><Relationship Id="rId2" Type="http://schemas.openxmlformats.org/officeDocument/2006/relationships/notesSlide" Target="../notesSlides/notesSlide63.xml" /><Relationship Id="rId1" Type="http://schemas.openxmlformats.org/officeDocument/2006/relationships/slideLayout" Target="../slideLayouts/slideLayout7.xml" /><Relationship Id="rId6" Type="http://schemas.openxmlformats.org/officeDocument/2006/relationships/image" Target="../media/image77.png" /><Relationship Id="rId5" Type="http://schemas.openxmlformats.org/officeDocument/2006/relationships/image" Target="../media/image76.png" /><Relationship Id="rId4" Type="http://schemas.openxmlformats.org/officeDocument/2006/relationships/image" Target="../media/image75.png" /></Relationships>
</file>

<file path=ppt/slides/_rels/slide64.xml.rels><?xml version="1.0" encoding="UTF-8" standalone="yes"?>
<Relationships xmlns="http://schemas.openxmlformats.org/package/2006/relationships"><Relationship Id="rId3" Type="http://schemas.openxmlformats.org/officeDocument/2006/relationships/image" Target="../media/image78.png" /><Relationship Id="rId2" Type="http://schemas.openxmlformats.org/officeDocument/2006/relationships/notesSlide" Target="../notesSlides/notesSlide64.xml" /><Relationship Id="rId1" Type="http://schemas.openxmlformats.org/officeDocument/2006/relationships/slideLayout" Target="../slideLayouts/slideLayout7.xml" /><Relationship Id="rId6" Type="http://schemas.openxmlformats.org/officeDocument/2006/relationships/image" Target="../media/image81.png" /><Relationship Id="rId5" Type="http://schemas.openxmlformats.org/officeDocument/2006/relationships/image" Target="../media/image80.png" /><Relationship Id="rId4" Type="http://schemas.openxmlformats.org/officeDocument/2006/relationships/image" Target="../media/image79.png" /></Relationships>
</file>

<file path=ppt/slides/_rels/slide65.xml.rels><?xml version="1.0" encoding="UTF-8" standalone="yes"?>
<Relationships xmlns="http://schemas.openxmlformats.org/package/2006/relationships"><Relationship Id="rId3" Type="http://schemas.openxmlformats.org/officeDocument/2006/relationships/image" Target="../media/image82.png" /><Relationship Id="rId2" Type="http://schemas.openxmlformats.org/officeDocument/2006/relationships/notesSlide" Target="../notesSlides/notesSlide65.xml" /><Relationship Id="rId1" Type="http://schemas.openxmlformats.org/officeDocument/2006/relationships/slideLayout" Target="../slideLayouts/slideLayout7.xml" /><Relationship Id="rId5" Type="http://schemas.openxmlformats.org/officeDocument/2006/relationships/image" Target="../media/image84.png" /><Relationship Id="rId4" Type="http://schemas.openxmlformats.org/officeDocument/2006/relationships/image" Target="../media/image83.png" /></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 /><Relationship Id="rId1" Type="http://schemas.openxmlformats.org/officeDocument/2006/relationships/slideLayout" Target="../slideLayouts/slideLayout7.xml" /></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 /><Relationship Id="rId1" Type="http://schemas.openxmlformats.org/officeDocument/2006/relationships/slideLayout" Target="../slideLayouts/slideLayout7.xml" /></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 /><Relationship Id="rId1" Type="http://schemas.openxmlformats.org/officeDocument/2006/relationships/slideLayout" Target="../slideLayouts/slideLayout7.xml" /></Relationships>
</file>

<file path=ppt/slides/_rels/slide69.xml.rels><?xml version="1.0" encoding="UTF-8" standalone="yes"?>
<Relationships xmlns="http://schemas.openxmlformats.org/package/2006/relationships"><Relationship Id="rId3" Type="http://schemas.openxmlformats.org/officeDocument/2006/relationships/image" Target="../media/image85.png" /><Relationship Id="rId2" Type="http://schemas.openxmlformats.org/officeDocument/2006/relationships/notesSlide" Target="../notesSlides/notesSlide69.xml" /><Relationship Id="rId1" Type="http://schemas.openxmlformats.org/officeDocument/2006/relationships/slideLayout" Target="../slideLayouts/slideLayout7.xml" /></Relationships>
</file>

<file path=ppt/slides/_rels/slide70.xml.rels><?xml version="1.0" encoding="UTF-8" standalone="yes"?>
<Relationships xmlns="http://schemas.openxmlformats.org/package/2006/relationships"><Relationship Id="rId3" Type="http://schemas.openxmlformats.org/officeDocument/2006/relationships/image" Target="../media/image86.png" /><Relationship Id="rId2" Type="http://schemas.openxmlformats.org/officeDocument/2006/relationships/notesSlide" Target="../notesSlides/notesSlide70.xml" /><Relationship Id="rId1" Type="http://schemas.openxmlformats.org/officeDocument/2006/relationships/slideLayout" Target="../slideLayouts/slideLayout7.xml" /><Relationship Id="rId6" Type="http://schemas.openxmlformats.org/officeDocument/2006/relationships/image" Target="../media/image89.png" /><Relationship Id="rId5" Type="http://schemas.openxmlformats.org/officeDocument/2006/relationships/image" Target="../media/image88.png" /><Relationship Id="rId4" Type="http://schemas.openxmlformats.org/officeDocument/2006/relationships/image" Target="../media/image87.png" /></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 /><Relationship Id="rId1" Type="http://schemas.openxmlformats.org/officeDocument/2006/relationships/slideLayout" Target="../slideLayouts/slideLayout7.xml" /></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 /><Relationship Id="rId1" Type="http://schemas.openxmlformats.org/officeDocument/2006/relationships/slideLayout" Target="../slideLayouts/slideLayout7.xml" /></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 /><Relationship Id="rId1" Type="http://schemas.openxmlformats.org/officeDocument/2006/relationships/slideLayout" Target="../slideLayouts/slideLayout7.xml" /></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 /><Relationship Id="rId1" Type="http://schemas.openxmlformats.org/officeDocument/2006/relationships/slideLayout" Target="../slideLayouts/slideLayout7.xml" /></Relationships>
</file>

<file path=ppt/slides/_rels/slide75.xml.rels><?xml version="1.0" encoding="UTF-8" standalone="yes"?>
<Relationships xmlns="http://schemas.openxmlformats.org/package/2006/relationships"><Relationship Id="rId3" Type="http://schemas.openxmlformats.org/officeDocument/2006/relationships/image" Target="../media/image90.png" /><Relationship Id="rId2" Type="http://schemas.openxmlformats.org/officeDocument/2006/relationships/notesSlide" Target="../notesSlides/notesSlide75.xml" /><Relationship Id="rId1" Type="http://schemas.openxmlformats.org/officeDocument/2006/relationships/slideLayout" Target="../slideLayouts/slideLayout7.xml" /><Relationship Id="rId4" Type="http://schemas.openxmlformats.org/officeDocument/2006/relationships/image" Target="../media/image91.png" /></Relationships>
</file>

<file path=ppt/slides/_rels/slide76.xml.rels><?xml version="1.0" encoding="UTF-8" standalone="yes"?>
<Relationships xmlns="http://schemas.openxmlformats.org/package/2006/relationships"><Relationship Id="rId3" Type="http://schemas.openxmlformats.org/officeDocument/2006/relationships/image" Target="../media/image92.png" /><Relationship Id="rId2" Type="http://schemas.openxmlformats.org/officeDocument/2006/relationships/notesSlide" Target="../notesSlides/notesSlide76.xml" /><Relationship Id="rId1" Type="http://schemas.openxmlformats.org/officeDocument/2006/relationships/slideLayout" Target="../slideLayouts/slideLayout7.xml" /><Relationship Id="rId5" Type="http://schemas.openxmlformats.org/officeDocument/2006/relationships/image" Target="../media/image94.png" /><Relationship Id="rId4" Type="http://schemas.openxmlformats.org/officeDocument/2006/relationships/image" Target="../media/image93.png" /></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 /><Relationship Id="rId1" Type="http://schemas.openxmlformats.org/officeDocument/2006/relationships/slideLayout" Target="../slideLayouts/slideLayout7.xml" /></Relationships>
</file>

<file path=ppt/slides/_rels/slide78.xml.rels><?xml version="1.0" encoding="UTF-8" standalone="yes"?>
<Relationships xmlns="http://schemas.openxmlformats.org/package/2006/relationships"><Relationship Id="rId3" Type="http://schemas.openxmlformats.org/officeDocument/2006/relationships/image" Target="../media/image95.png" /><Relationship Id="rId2" Type="http://schemas.openxmlformats.org/officeDocument/2006/relationships/notesSlide" Target="../notesSlides/notesSlide78.xml" /><Relationship Id="rId1" Type="http://schemas.openxmlformats.org/officeDocument/2006/relationships/slideLayout" Target="../slideLayouts/slideLayout7.xml" /><Relationship Id="rId4" Type="http://schemas.openxmlformats.org/officeDocument/2006/relationships/image" Target="../media/image96.png" /></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 /><Relationship Id="rId1" Type="http://schemas.openxmlformats.org/officeDocument/2006/relationships/slideLayout" Target="../slideLayouts/slideLayout7.xml" /></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 /><Relationship Id="rId1" Type="http://schemas.openxmlformats.org/officeDocument/2006/relationships/slideLayout" Target="../slideLayouts/slideLayout7.xml" /></Relationships>
</file>

<file path=ppt/slides/_rels/slide81.xml.rels><?xml version="1.0" encoding="UTF-8" standalone="yes"?>
<Relationships xmlns="http://schemas.openxmlformats.org/package/2006/relationships"><Relationship Id="rId3" Type="http://schemas.openxmlformats.org/officeDocument/2006/relationships/image" Target="../media/image97.png" /><Relationship Id="rId2" Type="http://schemas.openxmlformats.org/officeDocument/2006/relationships/notesSlide" Target="../notesSlides/notesSlide81.xml" /><Relationship Id="rId1" Type="http://schemas.openxmlformats.org/officeDocument/2006/relationships/slideLayout" Target="../slideLayouts/slideLayout7.xml" /><Relationship Id="rId4" Type="http://schemas.openxmlformats.org/officeDocument/2006/relationships/image" Target="../media/image98.png" /></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 /><Relationship Id="rId1" Type="http://schemas.openxmlformats.org/officeDocument/2006/relationships/slideLayout" Target="../slideLayouts/slideLayout7.xml" /></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 /><Relationship Id="rId1" Type="http://schemas.openxmlformats.org/officeDocument/2006/relationships/slideLayout" Target="../slideLayouts/slideLayout7.xml" /></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 /><Relationship Id="rId1" Type="http://schemas.openxmlformats.org/officeDocument/2006/relationships/slideLayout" Target="../slideLayouts/slideLayout7.xml" /></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 /><Relationship Id="rId1" Type="http://schemas.openxmlformats.org/officeDocument/2006/relationships/slideLayout" Target="../slideLayouts/slideLayout7.xml" /></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 /><Relationship Id="rId1" Type="http://schemas.openxmlformats.org/officeDocument/2006/relationships/slideLayout" Target="../slideLayouts/slideLayout7.xml" /></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 /><Relationship Id="rId1" Type="http://schemas.openxmlformats.org/officeDocument/2006/relationships/slideLayout" Target="../slideLayouts/slideLayout7.xml" /></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 /><Relationship Id="rId1" Type="http://schemas.openxmlformats.org/officeDocument/2006/relationships/slideLayout" Target="../slideLayouts/slideLayout7.xml" /></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 /><Relationship Id="rId1" Type="http://schemas.openxmlformats.org/officeDocument/2006/relationships/slideLayout" Target="../slideLayouts/slideLayout7.xml" /></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 /><Relationship Id="rId1" Type="http://schemas.openxmlformats.org/officeDocument/2006/relationships/slideLayout" Target="../slideLayouts/slideLayout7.xml" /></Relationships>
</file>

<file path=ppt/slides/_rels/slide91.xml.rels><?xml version="1.0" encoding="UTF-8" standalone="yes"?>
<Relationships xmlns="http://schemas.openxmlformats.org/package/2006/relationships"><Relationship Id="rId3" Type="http://schemas.openxmlformats.org/officeDocument/2006/relationships/image" Target="../media/image99.png" /><Relationship Id="rId2" Type="http://schemas.openxmlformats.org/officeDocument/2006/relationships/notesSlide" Target="../notesSlides/notesSlide91.xml" /><Relationship Id="rId1" Type="http://schemas.openxmlformats.org/officeDocument/2006/relationships/slideLayout" Target="../slideLayouts/slideLayout7.xml" /><Relationship Id="rId6" Type="http://schemas.openxmlformats.org/officeDocument/2006/relationships/image" Target="../media/image102.png" /><Relationship Id="rId5" Type="http://schemas.openxmlformats.org/officeDocument/2006/relationships/image" Target="../media/image101.png" /><Relationship Id="rId4" Type="http://schemas.openxmlformats.org/officeDocument/2006/relationships/image" Target="../media/image100.png" /></Relationships>
</file>

<file path=ppt/slides/_rels/slide92.xml.rels><?xml version="1.0" encoding="UTF-8" standalone="yes"?>
<Relationships xmlns="http://schemas.openxmlformats.org/package/2006/relationships"><Relationship Id="rId3" Type="http://schemas.openxmlformats.org/officeDocument/2006/relationships/image" Target="../media/image103.png" /><Relationship Id="rId2" Type="http://schemas.openxmlformats.org/officeDocument/2006/relationships/notesSlide" Target="../notesSlides/notesSlide92.xml" /><Relationship Id="rId1" Type="http://schemas.openxmlformats.org/officeDocument/2006/relationships/slideLayout" Target="../slideLayouts/slideLayout7.xml" /><Relationship Id="rId6" Type="http://schemas.openxmlformats.org/officeDocument/2006/relationships/image" Target="../media/image106.png" /><Relationship Id="rId5" Type="http://schemas.openxmlformats.org/officeDocument/2006/relationships/image" Target="../media/image105.png" /><Relationship Id="rId4" Type="http://schemas.openxmlformats.org/officeDocument/2006/relationships/image" Target="../media/image104.png" /></Relationships>
</file>

<file path=ppt/slides/_rels/slide93.xml.rels><?xml version="1.0" encoding="UTF-8" standalone="yes"?>
<Relationships xmlns="http://schemas.openxmlformats.org/package/2006/relationships"><Relationship Id="rId3" Type="http://schemas.openxmlformats.org/officeDocument/2006/relationships/image" Target="../media/image107.png" /><Relationship Id="rId2" Type="http://schemas.openxmlformats.org/officeDocument/2006/relationships/notesSlide" Target="../notesSlides/notesSlide93.xml" /><Relationship Id="rId1" Type="http://schemas.openxmlformats.org/officeDocument/2006/relationships/slideLayout" Target="../slideLayouts/slideLayout7.xml" /><Relationship Id="rId5" Type="http://schemas.openxmlformats.org/officeDocument/2006/relationships/image" Target="../media/image109.png" /><Relationship Id="rId4" Type="http://schemas.openxmlformats.org/officeDocument/2006/relationships/image" Target="../media/image108.png" /></Relationships>
</file>

<file path=ppt/slides/_rels/slide94.xml.rels><?xml version="1.0" encoding="UTF-8" standalone="yes"?>
<Relationships xmlns="http://schemas.openxmlformats.org/package/2006/relationships"><Relationship Id="rId3" Type="http://schemas.openxmlformats.org/officeDocument/2006/relationships/image" Target="../media/image110.png" /><Relationship Id="rId7" Type="http://schemas.openxmlformats.org/officeDocument/2006/relationships/image" Target="../media/image114.png" /><Relationship Id="rId2" Type="http://schemas.openxmlformats.org/officeDocument/2006/relationships/notesSlide" Target="../notesSlides/notesSlide94.xml" /><Relationship Id="rId1" Type="http://schemas.openxmlformats.org/officeDocument/2006/relationships/slideLayout" Target="../slideLayouts/slideLayout7.xml" /><Relationship Id="rId6" Type="http://schemas.openxmlformats.org/officeDocument/2006/relationships/image" Target="../media/image113.png" /><Relationship Id="rId5" Type="http://schemas.openxmlformats.org/officeDocument/2006/relationships/image" Target="../media/image112.png" /><Relationship Id="rId4" Type="http://schemas.openxmlformats.org/officeDocument/2006/relationships/image" Target="../media/image111.png" /></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 /><Relationship Id="rId1" Type="http://schemas.openxmlformats.org/officeDocument/2006/relationships/slideLayout" Target="../slideLayouts/slideLayout7.xml" /></Relationships>
</file>

<file path=ppt/slides/_rels/slide96.xml.rels><?xml version="1.0" encoding="UTF-8" standalone="yes"?>
<Relationships xmlns="http://schemas.openxmlformats.org/package/2006/relationships"><Relationship Id="rId3" Type="http://schemas.openxmlformats.org/officeDocument/2006/relationships/image" Target="../media/image115.png" /><Relationship Id="rId2" Type="http://schemas.openxmlformats.org/officeDocument/2006/relationships/notesSlide" Target="../notesSlides/notesSlide96.xml" /><Relationship Id="rId1" Type="http://schemas.openxmlformats.org/officeDocument/2006/relationships/slideLayout" Target="../slideLayouts/slideLayout7.xml" /><Relationship Id="rId4" Type="http://schemas.openxmlformats.org/officeDocument/2006/relationships/image" Target="../media/image116.png" /></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 /><Relationship Id="rId1" Type="http://schemas.openxmlformats.org/officeDocument/2006/relationships/slideLayout" Target="../slideLayouts/slideLayout7.xml" /></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 /><Relationship Id="rId1" Type="http://schemas.openxmlformats.org/officeDocument/2006/relationships/slideLayout" Target="../slideLayouts/slideLayout7.xml" /></Relationships>
</file>

<file path=ppt/slides/_rels/slide99.xml.rels><?xml version="1.0" encoding="UTF-8" standalone="yes"?>
<Relationships xmlns="http://schemas.openxmlformats.org/package/2006/relationships"><Relationship Id="rId3" Type="http://schemas.openxmlformats.org/officeDocument/2006/relationships/image" Target="../media/image117.png" /><Relationship Id="rId2" Type="http://schemas.openxmlformats.org/officeDocument/2006/relationships/notesSlide" Target="../notesSlides/notesSlide99.xml" /><Relationship Id="rId1" Type="http://schemas.openxmlformats.org/officeDocument/2006/relationships/slideLayout" Target="../slideLayouts/slideLayout7.xml" /><Relationship Id="rId4" Type="http://schemas.openxmlformats.org/officeDocument/2006/relationships/image" Target="../media/image118.png" /></Relationships>
</file>

<file path=ppt/slides/_rels/slide100.xml.rels><?xml version="1.0" encoding="UTF-8" standalone="yes"?>
<Relationships xmlns="http://schemas.openxmlformats.org/package/2006/relationships"><Relationship Id="rId8" Type="http://schemas.openxmlformats.org/officeDocument/2006/relationships/image" Target="../media/image124.png" /><Relationship Id="rId3" Type="http://schemas.openxmlformats.org/officeDocument/2006/relationships/image" Target="../media/image119.png" /><Relationship Id="rId7" Type="http://schemas.openxmlformats.org/officeDocument/2006/relationships/image" Target="../media/image123.png" /><Relationship Id="rId2" Type="http://schemas.openxmlformats.org/officeDocument/2006/relationships/notesSlide" Target="../notesSlides/notesSlide100.xml" /><Relationship Id="rId1" Type="http://schemas.openxmlformats.org/officeDocument/2006/relationships/slideLayout" Target="../slideLayouts/slideLayout7.xml" /><Relationship Id="rId6" Type="http://schemas.openxmlformats.org/officeDocument/2006/relationships/image" Target="../media/image122.png" /><Relationship Id="rId5" Type="http://schemas.openxmlformats.org/officeDocument/2006/relationships/image" Target="../media/image121.png" /><Relationship Id="rId4" Type="http://schemas.openxmlformats.org/officeDocument/2006/relationships/image" Target="../media/image120.png" /></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 /><Relationship Id="rId1" Type="http://schemas.openxmlformats.org/officeDocument/2006/relationships/slideLayout" Target="../slideLayouts/slideLayout7.xml" /></Relationships>
</file>

<file path=ppt/slides/_rels/slide102.xml.rels><?xml version="1.0" encoding="UTF-8" standalone="yes"?>
<Relationships xmlns="http://schemas.openxmlformats.org/package/2006/relationships"><Relationship Id="rId3" Type="http://schemas.openxmlformats.org/officeDocument/2006/relationships/image" Target="../media/image125.png" /><Relationship Id="rId2" Type="http://schemas.openxmlformats.org/officeDocument/2006/relationships/notesSlide" Target="../notesSlides/notesSlide102.xml" /><Relationship Id="rId1" Type="http://schemas.openxmlformats.org/officeDocument/2006/relationships/slideLayout" Target="../slideLayouts/slideLayout7.xml" /><Relationship Id="rId6" Type="http://schemas.openxmlformats.org/officeDocument/2006/relationships/image" Target="../media/image128.png" /><Relationship Id="rId5" Type="http://schemas.openxmlformats.org/officeDocument/2006/relationships/image" Target="../media/image127.png" /><Relationship Id="rId4" Type="http://schemas.openxmlformats.org/officeDocument/2006/relationships/image" Target="../media/image126.png" /></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 /><Relationship Id="rId1" Type="http://schemas.openxmlformats.org/officeDocument/2006/relationships/slideLayout" Target="../slideLayouts/slideLayout7.xml" /></Relationships>
</file>

<file path=ppt/slides/_rels/slide104.xml.rels><?xml version="1.0" encoding="UTF-8" standalone="yes"?>
<Relationships xmlns="http://schemas.openxmlformats.org/package/2006/relationships"><Relationship Id="rId3" Type="http://schemas.openxmlformats.org/officeDocument/2006/relationships/image" Target="../media/image129.png" /><Relationship Id="rId2" Type="http://schemas.openxmlformats.org/officeDocument/2006/relationships/notesSlide" Target="../notesSlides/notesSlide104.xml" /><Relationship Id="rId1" Type="http://schemas.openxmlformats.org/officeDocument/2006/relationships/slideLayout" Target="../slideLayouts/slideLayout7.xml" /><Relationship Id="rId5" Type="http://schemas.openxmlformats.org/officeDocument/2006/relationships/image" Target="../media/image131.png" /><Relationship Id="rId4" Type="http://schemas.openxmlformats.org/officeDocument/2006/relationships/image" Target="../media/image130.png" /></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 /><Relationship Id="rId1" Type="http://schemas.openxmlformats.org/officeDocument/2006/relationships/slideLayout" Target="../slideLayouts/slideLayout7.xml" /></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9" name="Google Shape;89;p13"/>
          <p:cNvSpPr/>
          <p:nvPr/>
        </p:nvSpPr>
        <p:spPr>
          <a:xfrm>
            <a:off x="533400" y="1981200"/>
            <a:ext cx="7924800" cy="173124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800" b="1" i="0" u="none" strike="noStrike" cap="none">
                <a:solidFill>
                  <a:schemeClr val="dk1"/>
                </a:solidFill>
                <a:latin typeface="Balthazar"/>
                <a:ea typeface="Balthazar"/>
                <a:cs typeface="Balthazar"/>
                <a:sym typeface="Balthazar"/>
              </a:rPr>
              <a:t>BAB 7</a:t>
            </a:r>
            <a:endParaRPr/>
          </a:p>
          <a:p>
            <a:pPr marL="0" marR="0" lvl="0" indent="0" algn="ctr" rtl="0">
              <a:spcBef>
                <a:spcPts val="0"/>
              </a:spcBef>
              <a:spcAft>
                <a:spcPts val="0"/>
              </a:spcAft>
              <a:buNone/>
            </a:pPr>
            <a:endParaRPr sz="1050" b="1" i="0" u="none" strike="noStrike" cap="none">
              <a:solidFill>
                <a:schemeClr val="dk1"/>
              </a:solidFill>
              <a:latin typeface="Balthazar"/>
              <a:ea typeface="Balthazar"/>
              <a:cs typeface="Balthazar"/>
              <a:sym typeface="Balthazar"/>
            </a:endParaRPr>
          </a:p>
          <a:p>
            <a:pPr marL="0" marR="0" lvl="0" indent="0" algn="ctr" rtl="0">
              <a:spcBef>
                <a:spcPts val="0"/>
              </a:spcBef>
              <a:spcAft>
                <a:spcPts val="0"/>
              </a:spcAft>
              <a:buNone/>
            </a:pPr>
            <a:r>
              <a:rPr lang="en-US" sz="4800" b="1" i="0" u="none" strike="noStrike" cap="none">
                <a:solidFill>
                  <a:schemeClr val="dk1"/>
                </a:solidFill>
                <a:latin typeface="Balthazar"/>
                <a:ea typeface="Balthazar"/>
                <a:cs typeface="Balthazar"/>
                <a:sym typeface="Balthazar"/>
              </a:rPr>
              <a:t>Nilai Masa Wang</a:t>
            </a:r>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p:nvPr/>
        </p:nvSpPr>
        <p:spPr>
          <a:xfrm>
            <a:off x="381000" y="1371600"/>
            <a:ext cx="8458200" cy="51816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7.1 Pengenalan Nilai Masa Wang</a:t>
            </a:r>
            <a:endParaRPr/>
          </a:p>
          <a:p>
            <a:pPr marL="914400" marR="0" lvl="2" indent="-457200" algn="just" rtl="0">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Menjelaskan Konsep Nilai Masa Wang &amp; </a:t>
            </a:r>
            <a:endParaRPr/>
          </a:p>
          <a:p>
            <a:pPr marL="457200" marR="0" lvl="2" indent="457200" algn="just" rtl="0">
              <a:spcBef>
                <a:spcPts val="0"/>
              </a:spcBef>
              <a:spcAft>
                <a:spcPts val="0"/>
              </a:spcAft>
              <a:buNone/>
            </a:pPr>
            <a:r>
              <a:rPr lang="en-US" sz="1800" b="0" i="0" u="none" strike="noStrike" cap="none">
                <a:solidFill>
                  <a:schemeClr val="dk1"/>
                </a:solidFill>
                <a:latin typeface="Arial"/>
                <a:ea typeface="Arial"/>
                <a:cs typeface="Arial"/>
                <a:sym typeface="Arial"/>
              </a:rPr>
              <a:t>Kepentingannya.</a:t>
            </a:r>
            <a:endParaRPr/>
          </a:p>
          <a:p>
            <a:pPr marL="914400" marR="0" lvl="2" indent="-457200" algn="just" rtl="0">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Menjelaskan Konsep Kompaun Dan Diskaun</a:t>
            </a:r>
            <a:endParaRPr sz="1800" b="0" i="0" u="none" strike="noStrike" cap="none">
              <a:solidFill>
                <a:schemeClr val="dk1"/>
              </a:solidFill>
              <a:latin typeface="Arial"/>
              <a:ea typeface="Arial"/>
              <a:cs typeface="Arial"/>
              <a:sym typeface="Arial"/>
            </a:endParaRPr>
          </a:p>
          <a:p>
            <a:pPr marL="457200" marR="0" lvl="0" indent="-457200" algn="just" rtl="0">
              <a:spcBef>
                <a:spcPts val="0"/>
              </a:spcBef>
              <a:spcAft>
                <a:spcPts val="0"/>
              </a:spcAft>
              <a:buNone/>
            </a:pPr>
            <a:r>
              <a:rPr lang="en-US" sz="1800" b="0" i="0" u="none" strike="noStrike" cap="none">
                <a:solidFill>
                  <a:schemeClr val="dk1"/>
                </a:solidFill>
                <a:latin typeface="Arial"/>
                <a:ea typeface="Arial"/>
                <a:cs typeface="Arial"/>
                <a:sym typeface="Arial"/>
              </a:rPr>
              <a:t>7.2 Alat-alat Bantuan Pengiraan Nilai Masa Wang</a:t>
            </a:r>
            <a:endParaRPr/>
          </a:p>
          <a:p>
            <a:pPr marL="914400" marR="0" lvl="2" indent="-457200" algn="just" rtl="0">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Melakarkan Garis Masa</a:t>
            </a:r>
            <a:endParaRPr/>
          </a:p>
          <a:p>
            <a:pPr marL="914400" marR="0" lvl="2" indent="-457200" algn="just" rtl="0">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Menunjukkan/menjelaskan cara pengiraan NMW </a:t>
            </a:r>
            <a:endParaRPr/>
          </a:p>
          <a:p>
            <a:pPr marL="457200" marR="0" lvl="2" indent="457200" algn="just" rtl="0">
              <a:spcBef>
                <a:spcPts val="0"/>
              </a:spcBef>
              <a:spcAft>
                <a:spcPts val="0"/>
              </a:spcAft>
              <a:buNone/>
            </a:pPr>
            <a:r>
              <a:rPr lang="en-US" sz="1800" b="0" i="0" u="none" strike="noStrike" cap="none">
                <a:solidFill>
                  <a:schemeClr val="dk1"/>
                </a:solidFill>
                <a:latin typeface="Arial"/>
                <a:ea typeface="Arial"/>
                <a:cs typeface="Arial"/>
                <a:sym typeface="Arial"/>
              </a:rPr>
              <a:t>menggunakan rumus dan Jadual Faktor </a:t>
            </a:r>
            <a:endParaRPr/>
          </a:p>
          <a:p>
            <a:pPr marL="457200" marR="0" lvl="0" indent="-457200" algn="just" rtl="0">
              <a:spcBef>
                <a:spcPts val="0"/>
              </a:spcBef>
              <a:spcAft>
                <a:spcPts val="0"/>
              </a:spcAft>
              <a:buNone/>
            </a:pPr>
            <a:r>
              <a:rPr lang="en-US" sz="1800" b="0" i="0" u="none" strike="noStrike" cap="none">
                <a:solidFill>
                  <a:schemeClr val="dk1"/>
                </a:solidFill>
                <a:latin typeface="Arial"/>
                <a:ea typeface="Arial"/>
                <a:cs typeface="Arial"/>
                <a:sym typeface="Arial"/>
              </a:rPr>
              <a:t>7.3 Bentuk-bentuk Nilai Masa Wang</a:t>
            </a:r>
            <a:endParaRPr/>
          </a:p>
          <a:p>
            <a:pPr marL="914400" marR="0" lvl="2" indent="-457200" algn="just" rtl="0">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Mengaplikasi bentuk NMW (Nilai Masa Depan &amp; </a:t>
            </a:r>
            <a:endParaRPr/>
          </a:p>
          <a:p>
            <a:pPr marL="457200" marR="0" lvl="2" indent="457200" algn="just" rtl="0">
              <a:spcBef>
                <a:spcPts val="0"/>
              </a:spcBef>
              <a:spcAft>
                <a:spcPts val="0"/>
              </a:spcAft>
              <a:buNone/>
            </a:pPr>
            <a:r>
              <a:rPr lang="en-US" sz="1800" b="0" i="0" u="none" strike="noStrike" cap="none">
                <a:solidFill>
                  <a:schemeClr val="dk1"/>
                </a:solidFill>
                <a:latin typeface="Arial"/>
                <a:ea typeface="Arial"/>
                <a:cs typeface="Arial"/>
                <a:sym typeface="Arial"/>
              </a:rPr>
              <a:t>Nilai Masa Kini)</a:t>
            </a:r>
            <a:endParaRPr/>
          </a:p>
          <a:p>
            <a:pPr marL="914400" marR="0" lvl="2" indent="-457200" algn="just" rtl="0">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Mengaplikasi kaedah NMW (Perubahan kadar</a:t>
            </a:r>
            <a:endParaRPr sz="1800" b="0" i="0" u="none" strike="noStrike" cap="none">
              <a:solidFill>
                <a:schemeClr val="dk1"/>
              </a:solidFill>
              <a:latin typeface="Arial"/>
              <a:ea typeface="Arial"/>
              <a:cs typeface="Arial"/>
              <a:sym typeface="Arial"/>
            </a:endParaRPr>
          </a:p>
          <a:p>
            <a:pPr marL="457200" marR="0" lvl="2" indent="457200" algn="just" rtl="0">
              <a:spcBef>
                <a:spcPts val="0"/>
              </a:spcBef>
              <a:spcAft>
                <a:spcPts val="0"/>
              </a:spcAft>
              <a:buNone/>
            </a:pPr>
            <a:r>
              <a:rPr lang="en-US" sz="1800" b="0" i="0" u="none" strike="noStrike" cap="none">
                <a:solidFill>
                  <a:schemeClr val="dk1"/>
                </a:solidFill>
                <a:latin typeface="Arial"/>
                <a:ea typeface="Arial"/>
                <a:cs typeface="Arial"/>
                <a:sym typeface="Arial"/>
              </a:rPr>
              <a:t>faedah, tempoh dan amaun)</a:t>
            </a:r>
            <a:endParaRPr/>
          </a:p>
          <a:p>
            <a:pPr marL="1371600" marR="0" lvl="2" indent="-342900" algn="l"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 name="Google Shape;95;p1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1D4577"/>
                </a:solidFill>
                <a:latin typeface="Arial"/>
                <a:ea typeface="Arial"/>
                <a:cs typeface="Arial"/>
                <a:sym typeface="Arial"/>
              </a:rPr>
              <a:t>2</a:t>
            </a:fld>
            <a:endParaRPr sz="1200" b="0" i="0" u="none" strike="noStrike" cap="none">
              <a:solidFill>
                <a:srgbClr val="1D4577"/>
              </a:solidFill>
              <a:latin typeface="Arial"/>
              <a:ea typeface="Arial"/>
              <a:cs typeface="Arial"/>
              <a:sym typeface="Arial"/>
            </a:endParaRPr>
          </a:p>
        </p:txBody>
      </p:sp>
      <p:sp>
        <p:nvSpPr>
          <p:cNvPr id="96" name="Google Shape;96;p14"/>
          <p:cNvSpPr/>
          <p:nvPr/>
        </p:nvSpPr>
        <p:spPr>
          <a:xfrm>
            <a:off x="838200" y="188913"/>
            <a:ext cx="7391400" cy="9906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HASIL PEMBELAJARAN</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p:nvPr/>
        </p:nvSpPr>
        <p:spPr>
          <a:xfrm>
            <a:off x="685800" y="1600200"/>
            <a:ext cx="7848600" cy="48768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215900" algn="just" rtl="0">
              <a:spcBef>
                <a:spcPts val="0"/>
              </a:spcBef>
              <a:spcAft>
                <a:spcPts val="0"/>
              </a:spcAft>
              <a:buClr>
                <a:schemeClr val="dk1"/>
              </a:buClr>
              <a:buSzPts val="2000"/>
              <a:buFont typeface="Noto Sans Symbols"/>
              <a:buNone/>
            </a:pPr>
            <a:endParaRPr sz="2000" b="0" i="0" u="none" strike="noStrike" cap="none">
              <a:solidFill>
                <a:schemeClr val="dk1"/>
              </a:solidFill>
              <a:latin typeface="Arial"/>
              <a:ea typeface="Arial"/>
              <a:cs typeface="Arial"/>
              <a:sym typeface="Arial"/>
            </a:endParaRPr>
          </a:p>
          <a:p>
            <a:pPr marL="342900" marR="0" lvl="0" indent="-342900" algn="just" rtl="0">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DEFINISI - Wang di tangan anda pada hari ini lebih bernilai jika dibandingkan dengan wang yang dijangka akan diterima pada masa depan.</a:t>
            </a:r>
            <a:endParaRPr/>
          </a:p>
          <a:p>
            <a:pPr marL="0" marR="0" lvl="0" indent="0" algn="just" rtl="0">
              <a:spcBef>
                <a:spcPts val="0"/>
              </a:spcBef>
              <a:spcAft>
                <a:spcPts val="0"/>
              </a:spcAft>
              <a:buNone/>
            </a:pPr>
            <a:endParaRPr sz="2000" b="0" i="0" u="none" strike="noStrike" cap="none">
              <a:solidFill>
                <a:schemeClr val="dk1"/>
              </a:solidFill>
              <a:latin typeface="Arial"/>
              <a:ea typeface="Arial"/>
              <a:cs typeface="Arial"/>
              <a:sym typeface="Arial"/>
            </a:endParaRPr>
          </a:p>
          <a:p>
            <a:pPr marL="342900" marR="0" lvl="0" indent="-342900" algn="just" rtl="0">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Contoh : RM100 dilaburkan selama 3 tahun pada kadar faedah 5% setahun akan menghasilkan RM 115.76.</a:t>
            </a:r>
            <a:endParaRPr/>
          </a:p>
          <a:p>
            <a:pPr marL="342900" marR="0" lvl="0" indent="-342900" algn="just" rtl="0">
              <a:spcBef>
                <a:spcPts val="0"/>
              </a:spcBef>
              <a:spcAft>
                <a:spcPts val="0"/>
              </a:spcAft>
              <a:buNone/>
            </a:pPr>
            <a:endParaRPr sz="2000" b="0" i="0" u="none" strike="noStrike" cap="none">
              <a:solidFill>
                <a:schemeClr val="dk1"/>
              </a:solidFill>
              <a:latin typeface="Arial"/>
              <a:ea typeface="Arial"/>
              <a:cs typeface="Arial"/>
              <a:sym typeface="Arial"/>
            </a:endParaRPr>
          </a:p>
          <a:p>
            <a:pPr marL="342900" marR="0" lvl="0" indent="-342900" algn="just" rtl="0">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Berdasarkan kepada konsep ini, kita dapati bahawa RM100 pada hari ini adalah lebih bernilai daripada RM100 yang akan diterima 3 tahun dari sekarang kerana nilai RM100 yang ada di tangan pada hari ini akan meningkat jika dilaburkan semula dengan kadar faedah tertentu</a:t>
            </a:r>
            <a:endParaRPr sz="2000" b="0" i="0" u="none" strike="noStrike" cap="none">
              <a:solidFill>
                <a:schemeClr val="dk1"/>
              </a:solidFill>
              <a:latin typeface="Arial"/>
              <a:ea typeface="Arial"/>
              <a:cs typeface="Arial"/>
              <a:sym typeface="Arial"/>
            </a:endParaRPr>
          </a:p>
          <a:p>
            <a:pPr marL="0" marR="0" lvl="0" indent="0" algn="just" rtl="0">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p:txBody>
      </p:sp>
      <p:sp>
        <p:nvSpPr>
          <p:cNvPr id="102" name="Google Shape;102;p15"/>
          <p:cNvSpPr/>
          <p:nvPr/>
        </p:nvSpPr>
        <p:spPr>
          <a:xfrm>
            <a:off x="914400" y="304800"/>
            <a:ext cx="7391400" cy="9906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7.1 (a) -  NILAI  MASA  WANG</a:t>
            </a:r>
            <a:endParaRPr/>
          </a:p>
        </p:txBody>
      </p:sp>
      <p:sp>
        <p:nvSpPr>
          <p:cNvPr id="103" name="Google Shape;103;p1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3</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p:nvPr/>
        </p:nvSpPr>
        <p:spPr>
          <a:xfrm>
            <a:off x="2400300" y="2690813"/>
            <a:ext cx="4648200" cy="13716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7.1 (a) - KEPENTINGAN</a:t>
            </a:r>
            <a:endParaRPr/>
          </a:p>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 NILAI MASA WANG</a:t>
            </a:r>
            <a:endParaRPr/>
          </a:p>
        </p:txBody>
      </p:sp>
      <p:sp>
        <p:nvSpPr>
          <p:cNvPr id="109" name="Google Shape;109;p16"/>
          <p:cNvSpPr txBox="1"/>
          <p:nvPr/>
        </p:nvSpPr>
        <p:spPr>
          <a:xfrm>
            <a:off x="228600" y="762000"/>
            <a:ext cx="4343400" cy="120032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err="1">
                <a:solidFill>
                  <a:schemeClr val="dk1"/>
                </a:solidFill>
                <a:latin typeface="Arial"/>
                <a:ea typeface="Arial"/>
                <a:cs typeface="Arial"/>
                <a:sym typeface="Arial"/>
              </a:rPr>
              <a:t>Membantu</a:t>
            </a:r>
            <a:r>
              <a:rPr lang="en-US" sz="1800" b="1" i="0" u="none" strike="noStrike" cap="none" dirty="0">
                <a:solidFill>
                  <a:schemeClr val="dk1"/>
                </a:solidFill>
                <a:latin typeface="Arial"/>
                <a:ea typeface="Arial"/>
                <a:cs typeface="Arial"/>
                <a:sym typeface="Arial"/>
              </a:rPr>
              <a:t> </a:t>
            </a:r>
            <a:r>
              <a:rPr lang="en-US" sz="1800" b="1" i="0" u="none" strike="noStrike" cap="none" dirty="0" err="1">
                <a:solidFill>
                  <a:schemeClr val="dk1"/>
                </a:solidFill>
                <a:latin typeface="Arial"/>
                <a:ea typeface="Arial"/>
                <a:cs typeface="Arial"/>
                <a:sym typeface="Arial"/>
              </a:rPr>
              <a:t>pengurus</a:t>
            </a:r>
            <a:r>
              <a:rPr lang="en-US" sz="1800" b="1" i="0" u="none" strike="noStrike" cap="none" dirty="0">
                <a:solidFill>
                  <a:schemeClr val="dk1"/>
                </a:solidFill>
                <a:latin typeface="Arial"/>
                <a:ea typeface="Arial"/>
                <a:cs typeface="Arial"/>
                <a:sym typeface="Arial"/>
              </a:rPr>
              <a:t> </a:t>
            </a:r>
            <a:r>
              <a:rPr lang="en-US" sz="1800" b="1" i="0" u="none" strike="noStrike" cap="none" dirty="0" err="1">
                <a:solidFill>
                  <a:schemeClr val="dk1"/>
                </a:solidFill>
                <a:latin typeface="Arial"/>
                <a:ea typeface="Arial"/>
                <a:cs typeface="Arial"/>
                <a:sym typeface="Arial"/>
              </a:rPr>
              <a:t>membuat</a:t>
            </a:r>
            <a:r>
              <a:rPr lang="en-US" sz="1800" b="1" i="0" u="none" strike="noStrike" cap="none" dirty="0">
                <a:solidFill>
                  <a:schemeClr val="dk1"/>
                </a:solidFill>
                <a:latin typeface="Arial"/>
                <a:ea typeface="Arial"/>
                <a:cs typeface="Arial"/>
                <a:sym typeface="Arial"/>
              </a:rPr>
              <a:t> </a:t>
            </a:r>
            <a:r>
              <a:rPr lang="en-US" sz="1800" b="1" i="0" u="none" strike="noStrike" cap="none" dirty="0" err="1">
                <a:solidFill>
                  <a:schemeClr val="dk1"/>
                </a:solidFill>
                <a:latin typeface="Arial"/>
                <a:ea typeface="Arial"/>
                <a:cs typeface="Arial"/>
                <a:sym typeface="Arial"/>
              </a:rPr>
              <a:t>keputusan</a:t>
            </a:r>
            <a:r>
              <a:rPr lang="en-US" sz="1800" b="1" i="0" u="none" strike="noStrike" cap="none" dirty="0">
                <a:solidFill>
                  <a:schemeClr val="dk1"/>
                </a:solidFill>
                <a:latin typeface="Arial"/>
                <a:ea typeface="Arial"/>
                <a:cs typeface="Arial"/>
                <a:sym typeface="Arial"/>
              </a:rPr>
              <a:t> </a:t>
            </a:r>
            <a:r>
              <a:rPr lang="en-US" sz="1800" b="1" i="0" u="none" strike="noStrike" cap="none" dirty="0" err="1">
                <a:solidFill>
                  <a:schemeClr val="dk1"/>
                </a:solidFill>
                <a:latin typeface="Arial"/>
                <a:ea typeface="Arial"/>
                <a:cs typeface="Arial"/>
                <a:sym typeface="Arial"/>
              </a:rPr>
              <a:t>pelaburan</a:t>
            </a:r>
            <a:endParaRPr sz="1800" b="1" i="0" u="none" strike="noStrike" cap="none" dirty="0">
              <a:solidFill>
                <a:schemeClr val="dk1"/>
              </a:solidFill>
              <a:latin typeface="Arial"/>
              <a:ea typeface="Arial"/>
              <a:cs typeface="Arial"/>
              <a:sym typeface="Arial"/>
            </a:endParaRPr>
          </a:p>
        </p:txBody>
      </p:sp>
      <p:sp>
        <p:nvSpPr>
          <p:cNvPr id="110" name="Google Shape;110;p16"/>
          <p:cNvSpPr txBox="1"/>
          <p:nvPr/>
        </p:nvSpPr>
        <p:spPr>
          <a:xfrm>
            <a:off x="4724400" y="533400"/>
            <a:ext cx="4213225" cy="193899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Arial"/>
                <a:ea typeface="Arial"/>
                <a:cs typeface="Arial"/>
                <a:sym typeface="Arial"/>
              </a:rPr>
              <a:t>Membantu pengurus menilai sumber pembiayaan yang dapat merendahkan kos pembiayaan</a:t>
            </a:r>
            <a:endParaRPr sz="1800" b="1" i="0" u="none" strike="noStrike" cap="none">
              <a:solidFill>
                <a:schemeClr val="dk1"/>
              </a:solidFill>
              <a:latin typeface="Arial"/>
              <a:ea typeface="Arial"/>
              <a:cs typeface="Arial"/>
              <a:sym typeface="Arial"/>
            </a:endParaRPr>
          </a:p>
        </p:txBody>
      </p:sp>
      <p:sp>
        <p:nvSpPr>
          <p:cNvPr id="111" name="Google Shape;111;p16"/>
          <p:cNvSpPr txBox="1"/>
          <p:nvPr/>
        </p:nvSpPr>
        <p:spPr>
          <a:xfrm>
            <a:off x="304800" y="4551363"/>
            <a:ext cx="3962400" cy="156966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Arial"/>
                <a:ea typeface="Arial"/>
                <a:cs typeface="Arial"/>
                <a:sym typeface="Arial"/>
              </a:rPr>
              <a:t>Membantu pengurus membuat keputusan belanjawan modal.</a:t>
            </a:r>
            <a:endParaRPr/>
          </a:p>
          <a:p>
            <a:pPr marL="0" marR="0" lvl="0" indent="0" algn="l"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112" name="Google Shape;112;p16"/>
          <p:cNvSpPr txBox="1"/>
          <p:nvPr/>
        </p:nvSpPr>
        <p:spPr>
          <a:xfrm>
            <a:off x="4648200" y="4572000"/>
            <a:ext cx="4330700" cy="120015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Arial"/>
                <a:ea typeface="Arial"/>
                <a:cs typeface="Arial"/>
                <a:sym typeface="Arial"/>
              </a:rPr>
              <a:t>Membantu pengurus menyediakan jadual pelunasan pinjaman.</a:t>
            </a:r>
            <a:endParaRPr/>
          </a:p>
        </p:txBody>
      </p:sp>
      <p:sp>
        <p:nvSpPr>
          <p:cNvPr id="113" name="Google Shape;113;p1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a:t>
            </a:fld>
            <a:endParaRPr sz="1200" b="0" i="0" u="none" strike="noStrike" cap="none">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300"/>
                                        <p:tgtEl>
                                          <p:spTgt spid="10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0"/>
                                        </p:tgtEl>
                                        <p:attrNameLst>
                                          <p:attrName>style.visibility</p:attrName>
                                        </p:attrNameLst>
                                      </p:cBhvr>
                                      <p:to>
                                        <p:strVal val="visible"/>
                                      </p:to>
                                    </p:set>
                                    <p:anim calcmode="lin" valueType="num">
                                      <p:cBhvr additive="base">
                                        <p:cTn id="12" dur="300"/>
                                        <p:tgtEl>
                                          <p:spTgt spid="110"/>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1"/>
                                        </p:tgtEl>
                                        <p:attrNameLst>
                                          <p:attrName>style.visibility</p:attrName>
                                        </p:attrNameLst>
                                      </p:cBhvr>
                                      <p:to>
                                        <p:strVal val="visible"/>
                                      </p:to>
                                    </p:set>
                                    <p:anim calcmode="lin" valueType="num">
                                      <p:cBhvr additive="base">
                                        <p:cTn id="17" dur="300"/>
                                        <p:tgtEl>
                                          <p:spTgt spid="111"/>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12"/>
                                        </p:tgtEl>
                                        <p:attrNameLst>
                                          <p:attrName>style.visibility</p:attrName>
                                        </p:attrNameLst>
                                      </p:cBhvr>
                                      <p:to>
                                        <p:strVal val="visible"/>
                                      </p:to>
                                    </p:set>
                                    <p:anim calcmode="lin" valueType="num">
                                      <p:cBhvr additive="base">
                                        <p:cTn id="22" dur="300"/>
                                        <p:tgtEl>
                                          <p:spTgt spid="11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p:nvPr/>
        </p:nvSpPr>
        <p:spPr>
          <a:xfrm>
            <a:off x="819150" y="2743200"/>
            <a:ext cx="7696200" cy="25146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Konsep kompaun ialah kaedah mendapatkan nilai masa depan bagi sejumlah wang pada hari ini yang dikompaunkan pada suatu kadar faedah/kadar kompaun tertentu. </a:t>
            </a:r>
            <a:endParaRPr sz="2400" b="0" i="0" u="none" strike="noStrike" cap="none">
              <a:solidFill>
                <a:schemeClr val="dk1"/>
              </a:solidFill>
              <a:latin typeface="Arial"/>
              <a:ea typeface="Arial"/>
              <a:cs typeface="Arial"/>
              <a:sym typeface="Arial"/>
            </a:endParaRPr>
          </a:p>
        </p:txBody>
      </p:sp>
      <p:sp>
        <p:nvSpPr>
          <p:cNvPr id="119" name="Google Shape;119;p17"/>
          <p:cNvSpPr/>
          <p:nvPr/>
        </p:nvSpPr>
        <p:spPr>
          <a:xfrm>
            <a:off x="704850" y="990600"/>
            <a:ext cx="7924800" cy="9144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7.1(b) - KONSEP KOMPAUN (Compounding)</a:t>
            </a:r>
            <a:endParaRPr/>
          </a:p>
        </p:txBody>
      </p:sp>
      <p:sp>
        <p:nvSpPr>
          <p:cNvPr id="120" name="Google Shape;120;p1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5</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8"/>
          <p:cNvSpPr txBox="1"/>
          <p:nvPr/>
        </p:nvSpPr>
        <p:spPr>
          <a:xfrm>
            <a:off x="195263" y="182563"/>
            <a:ext cx="7569200"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Bagaimana Pengkompaunan Berlaku ?</a:t>
            </a:r>
            <a:endParaRPr/>
          </a:p>
        </p:txBody>
      </p:sp>
      <p:sp>
        <p:nvSpPr>
          <p:cNvPr id="126" name="Google Shape;126;p18"/>
          <p:cNvSpPr/>
          <p:nvPr/>
        </p:nvSpPr>
        <p:spPr>
          <a:xfrm>
            <a:off x="457200" y="592138"/>
            <a:ext cx="7948613" cy="1541462"/>
          </a:xfrm>
          <a:custGeom>
            <a:avLst/>
            <a:gdLst/>
            <a:ahLst/>
            <a:cxnLst/>
            <a:rect l="l" t="t" r="r" b="b"/>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27" name="Google Shape;127;p18"/>
          <p:cNvSpPr txBox="1"/>
          <p:nvPr/>
        </p:nvSpPr>
        <p:spPr>
          <a:xfrm>
            <a:off x="1479550" y="768350"/>
            <a:ext cx="7186613" cy="12001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Aishah menyimpan RM10 di dalam sebuah</a:t>
            </a:r>
            <a:endParaRPr sz="2400" b="1"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bank dengan kadar keuntungan 10%</a:t>
            </a:r>
            <a:endParaRPr/>
          </a:p>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setahun selama 4 tahun</a:t>
            </a:r>
            <a:endParaRPr sz="2400" b="1" i="0" u="none" strike="noStrike" cap="none">
              <a:solidFill>
                <a:schemeClr val="dk1"/>
              </a:solidFill>
              <a:latin typeface="Arial"/>
              <a:ea typeface="Arial"/>
              <a:cs typeface="Arial"/>
              <a:sym typeface="Arial"/>
            </a:endParaRPr>
          </a:p>
        </p:txBody>
      </p:sp>
      <p:graphicFrame>
        <p:nvGraphicFramePr>
          <p:cNvPr id="128" name="Google Shape;128;p18"/>
          <p:cNvGraphicFramePr/>
          <p:nvPr/>
        </p:nvGraphicFramePr>
        <p:xfrm>
          <a:off x="304800" y="2214563"/>
          <a:ext cx="8631225" cy="4160825"/>
        </p:xfrm>
        <a:graphic>
          <a:graphicData uri="http://schemas.openxmlformats.org/drawingml/2006/table">
            <a:tbl>
              <a:tblPr>
                <a:noFill/>
                <a:tableStyleId>{583BA780-5EA6-48F8-90CF-626E18444947}</a:tableStyleId>
              </a:tblPr>
              <a:tblGrid>
                <a:gridCol w="1367325">
                  <a:extLst>
                    <a:ext uri="{9D8B030D-6E8A-4147-A177-3AD203B41FA5}">
                      <a16:colId xmlns:a16="http://schemas.microsoft.com/office/drawing/2014/main" val="20000"/>
                    </a:ext>
                  </a:extLst>
                </a:gridCol>
                <a:gridCol w="2118650">
                  <a:extLst>
                    <a:ext uri="{9D8B030D-6E8A-4147-A177-3AD203B41FA5}">
                      <a16:colId xmlns:a16="http://schemas.microsoft.com/office/drawing/2014/main" val="20001"/>
                    </a:ext>
                  </a:extLst>
                </a:gridCol>
                <a:gridCol w="1470575">
                  <a:extLst>
                    <a:ext uri="{9D8B030D-6E8A-4147-A177-3AD203B41FA5}">
                      <a16:colId xmlns:a16="http://schemas.microsoft.com/office/drawing/2014/main" val="20002"/>
                    </a:ext>
                  </a:extLst>
                </a:gridCol>
                <a:gridCol w="1709150">
                  <a:extLst>
                    <a:ext uri="{9D8B030D-6E8A-4147-A177-3AD203B41FA5}">
                      <a16:colId xmlns:a16="http://schemas.microsoft.com/office/drawing/2014/main" val="20003"/>
                    </a:ext>
                  </a:extLst>
                </a:gridCol>
                <a:gridCol w="1965525">
                  <a:extLst>
                    <a:ext uri="{9D8B030D-6E8A-4147-A177-3AD203B41FA5}">
                      <a16:colId xmlns:a16="http://schemas.microsoft.com/office/drawing/2014/main" val="20004"/>
                    </a:ext>
                  </a:extLst>
                </a:gridCol>
              </a:tblGrid>
              <a:tr h="8345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TAHUN</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PRINSIPAL</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KADAR FAEDAH</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JUMLAH FAEDAH</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JUMLAH AKHIR THN</a:t>
                      </a:r>
                      <a:endParaRPr sz="2400" b="1" i="0" u="none" strike="noStrike" cap="none">
                        <a:solidFill>
                          <a:schemeClr val="dk1"/>
                        </a:solidFill>
                        <a:latin typeface="Arial"/>
                        <a:ea typeface="Arial"/>
                        <a:cs typeface="Arial"/>
                        <a:sym typeface="Arial"/>
                      </a:endParaRPr>
                    </a:p>
                  </a:txBody>
                  <a:tcPr marL="91425" marR="91425" marT="45725" marB="45725" anchor="ctr"/>
                </a:tc>
                <a:extLst>
                  <a:ext uri="{0D108BD9-81ED-4DB2-BD59-A6C34878D82A}">
                    <a16:rowId xmlns:a16="http://schemas.microsoft.com/office/drawing/2014/main" val="10000"/>
                  </a:ext>
                </a:extLst>
              </a:tr>
              <a:tr h="816450">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RM10</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RM11</a:t>
                      </a:r>
                      <a:endParaRPr sz="2400" b="1" i="0" u="none" strike="noStrike" cap="none">
                        <a:solidFill>
                          <a:schemeClr val="dk1"/>
                        </a:solidFill>
                        <a:latin typeface="Arial"/>
                        <a:ea typeface="Arial"/>
                        <a:cs typeface="Arial"/>
                        <a:sym typeface="Arial"/>
                      </a:endParaRPr>
                    </a:p>
                  </a:txBody>
                  <a:tcPr marL="91425" marR="91425" marT="45725" marB="45725" anchor="ctr"/>
                </a:tc>
                <a:extLst>
                  <a:ext uri="{0D108BD9-81ED-4DB2-BD59-A6C34878D82A}">
                    <a16:rowId xmlns:a16="http://schemas.microsoft.com/office/drawing/2014/main" val="10001"/>
                  </a:ext>
                </a:extLst>
              </a:tr>
              <a:tr h="72572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2</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RM11</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RM1.10</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RM12.10</a:t>
                      </a:r>
                      <a:endParaRPr sz="2400" b="1" i="0" u="none" strike="noStrike" cap="none">
                        <a:solidFill>
                          <a:schemeClr val="dk1"/>
                        </a:solidFill>
                        <a:latin typeface="Arial"/>
                        <a:ea typeface="Arial"/>
                        <a:cs typeface="Arial"/>
                        <a:sym typeface="Arial"/>
                      </a:endParaRPr>
                    </a:p>
                  </a:txBody>
                  <a:tcPr marL="91425" marR="91425" marT="45725" marB="45725" anchor="ctr"/>
                </a:tc>
                <a:extLst>
                  <a:ext uri="{0D108BD9-81ED-4DB2-BD59-A6C34878D82A}">
                    <a16:rowId xmlns:a16="http://schemas.microsoft.com/office/drawing/2014/main" val="10002"/>
                  </a:ext>
                </a:extLst>
              </a:tr>
              <a:tr h="816450">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3</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RM12.10</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RM1.21</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RM13.31</a:t>
                      </a:r>
                      <a:endParaRPr sz="2400" b="1" i="0" u="none" strike="noStrike" cap="none">
                        <a:solidFill>
                          <a:schemeClr val="dk1"/>
                        </a:solidFill>
                        <a:latin typeface="Arial"/>
                        <a:ea typeface="Arial"/>
                        <a:cs typeface="Arial"/>
                        <a:sym typeface="Arial"/>
                      </a:endParaRPr>
                    </a:p>
                  </a:txBody>
                  <a:tcPr marL="91425" marR="91425" marT="45725" marB="45725" anchor="ctr"/>
                </a:tc>
                <a:extLst>
                  <a:ext uri="{0D108BD9-81ED-4DB2-BD59-A6C34878D82A}">
                    <a16:rowId xmlns:a16="http://schemas.microsoft.com/office/drawing/2014/main" val="10003"/>
                  </a:ext>
                </a:extLst>
              </a:tr>
              <a:tr h="96762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4</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RM13.31</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RM1.33</a:t>
                      </a:r>
                      <a:endParaRPr sz="2400" b="1" i="0" u="none" strike="noStrike" cap="none">
                        <a:solidFill>
                          <a:schemeClr val="dk1"/>
                        </a:solidFill>
                        <a:latin typeface="Arial"/>
                        <a:ea typeface="Arial"/>
                        <a:cs typeface="Arial"/>
                        <a:sym typeface="Arial"/>
                      </a:endParaRPr>
                    </a:p>
                  </a:txBody>
                  <a:tcPr marL="91425" marR="91425"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RM14.64</a:t>
                      </a:r>
                      <a:endParaRPr sz="2400" b="1" i="0" u="none" strike="noStrike" cap="none">
                        <a:solidFill>
                          <a:schemeClr val="dk1"/>
                        </a:solidFill>
                        <a:latin typeface="Arial"/>
                        <a:ea typeface="Arial"/>
                        <a:cs typeface="Arial"/>
                        <a:sym typeface="Arial"/>
                      </a:endParaRPr>
                    </a:p>
                  </a:txBody>
                  <a:tcPr marL="91425" marR="91425" marT="45725" marB="45725" anchor="ctr"/>
                </a:tc>
                <a:extLst>
                  <a:ext uri="{0D108BD9-81ED-4DB2-BD59-A6C34878D82A}">
                    <a16:rowId xmlns:a16="http://schemas.microsoft.com/office/drawing/2014/main" val="10004"/>
                  </a:ext>
                </a:extLst>
              </a:tr>
            </a:tbl>
          </a:graphicData>
        </a:graphic>
      </p:graphicFrame>
      <p:sp>
        <p:nvSpPr>
          <p:cNvPr id="129" name="Google Shape;129;p18"/>
          <p:cNvSpPr txBox="1">
            <a:spLocks noGrp="1"/>
          </p:cNvSpPr>
          <p:nvPr>
            <p:ph type="sldNum" sz="quarter" idx="12"/>
          </p:nvPr>
        </p:nvSpPr>
        <p:spPr>
          <a:xfrm>
            <a:off x="6305550" y="6423025"/>
            <a:ext cx="2308225" cy="43497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6</a:t>
            </a:fld>
            <a:endParaRPr sz="1200" b="0" i="0" u="none" strike="noStrike" cap="none">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1000"/>
                                        <p:tgtEl>
                                          <p:spTgt spid="126"/>
                                        </p:tgtEl>
                                      </p:cBhvr>
                                    </p:animEffect>
                                  </p:childTnLst>
                                </p:cTn>
                              </p:par>
                              <p:par>
                                <p:cTn id="8" presetID="10" presetClass="entr" presetSubtype="0" fill="hold" nodeType="with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1000"/>
                                        <p:tgtEl>
                                          <p:spTgt spid="12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128"/>
                                        </p:tgtEl>
                                        <p:attrNameLst>
                                          <p:attrName>style.visibility</p:attrName>
                                        </p:attrNameLst>
                                      </p:cBhvr>
                                      <p:to>
                                        <p:strVal val="visible"/>
                                      </p:to>
                                    </p:set>
                                    <p:anim calcmode="lin" valueType="num">
                                      <p:cBhvr additive="base">
                                        <p:cTn id="15" dur="500"/>
                                        <p:tgtEl>
                                          <p:spTgt spid="12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9"/>
          <p:cNvSpPr/>
          <p:nvPr/>
        </p:nvSpPr>
        <p:spPr>
          <a:xfrm>
            <a:off x="696913" y="2286000"/>
            <a:ext cx="7848600" cy="23622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Konsep diskaun ialah kaedah mendapatkan nilai masa kini bagi sejumlah wang yang diterima/dibayar pada masa akan datang yang didiskaunkan pada suatu kadar faedah/kadar diskaun tertentu.</a:t>
            </a:r>
            <a:endParaRPr/>
          </a:p>
        </p:txBody>
      </p:sp>
      <p:sp>
        <p:nvSpPr>
          <p:cNvPr id="135" name="Google Shape;135;p19"/>
          <p:cNvSpPr/>
          <p:nvPr/>
        </p:nvSpPr>
        <p:spPr>
          <a:xfrm>
            <a:off x="620713" y="762000"/>
            <a:ext cx="7924800" cy="9144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7.1 (b) - KONSEP DISKAUN (Discounting)</a:t>
            </a:r>
            <a:endParaRPr/>
          </a:p>
        </p:txBody>
      </p:sp>
      <p:sp>
        <p:nvSpPr>
          <p:cNvPr id="136" name="Google Shape;136;p1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7</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graphicFrame>
        <p:nvGraphicFramePr>
          <p:cNvPr id="141" name="Google Shape;141;p20"/>
          <p:cNvGraphicFramePr/>
          <p:nvPr>
            <p:extLst>
              <p:ext uri="{D42A27DB-BD31-4B8C-83A1-F6EECF244321}">
                <p14:modId xmlns:p14="http://schemas.microsoft.com/office/powerpoint/2010/main" val="1817228779"/>
              </p:ext>
            </p:extLst>
          </p:nvPr>
        </p:nvGraphicFramePr>
        <p:xfrm>
          <a:off x="440141" y="2683726"/>
          <a:ext cx="8305825" cy="3623235"/>
        </p:xfrm>
        <a:graphic>
          <a:graphicData uri="http://schemas.openxmlformats.org/drawingml/2006/table">
            <a:tbl>
              <a:tblPr>
                <a:noFill/>
                <a:tableStyleId>{583BA780-5EA6-48F8-90CF-626E18444947}</a:tableStyleId>
              </a:tblPr>
              <a:tblGrid>
                <a:gridCol w="1175350">
                  <a:extLst>
                    <a:ext uri="{9D8B030D-6E8A-4147-A177-3AD203B41FA5}">
                      <a16:colId xmlns:a16="http://schemas.microsoft.com/office/drawing/2014/main" val="20000"/>
                    </a:ext>
                  </a:extLst>
                </a:gridCol>
                <a:gridCol w="1802200">
                  <a:extLst>
                    <a:ext uri="{9D8B030D-6E8A-4147-A177-3AD203B41FA5}">
                      <a16:colId xmlns:a16="http://schemas.microsoft.com/office/drawing/2014/main" val="20001"/>
                    </a:ext>
                  </a:extLst>
                </a:gridCol>
                <a:gridCol w="1645500">
                  <a:extLst>
                    <a:ext uri="{9D8B030D-6E8A-4147-A177-3AD203B41FA5}">
                      <a16:colId xmlns:a16="http://schemas.microsoft.com/office/drawing/2014/main" val="20002"/>
                    </a:ext>
                  </a:extLst>
                </a:gridCol>
                <a:gridCol w="1645500">
                  <a:extLst>
                    <a:ext uri="{9D8B030D-6E8A-4147-A177-3AD203B41FA5}">
                      <a16:colId xmlns:a16="http://schemas.microsoft.com/office/drawing/2014/main" val="20003"/>
                    </a:ext>
                  </a:extLst>
                </a:gridCol>
                <a:gridCol w="2037275">
                  <a:extLst>
                    <a:ext uri="{9D8B030D-6E8A-4147-A177-3AD203B41FA5}">
                      <a16:colId xmlns:a16="http://schemas.microsoft.com/office/drawing/2014/main" val="20004"/>
                    </a:ext>
                  </a:extLst>
                </a:gridCol>
              </a:tblGrid>
              <a:tr h="701175">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TAHUN</a:t>
                      </a:r>
                      <a:endParaRPr sz="22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PRINSIPAL AWAL THN.</a:t>
                      </a:r>
                      <a:endParaRPr sz="22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KADAR FAEDAH</a:t>
                      </a:r>
                      <a:endParaRPr sz="22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JUMLAH FAEDAH</a:t>
                      </a:r>
                      <a:endParaRPr sz="22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JUM. AKHIR THN.</a:t>
                      </a:r>
                      <a:endParaRPr sz="2200" b="1" i="0" u="none" strike="noStrike" cap="none">
                        <a:solidFill>
                          <a:srgbClr val="FF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57002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5</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RM14.64</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RM1.464</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RM16.11</a:t>
                      </a:r>
                      <a:endParaRPr sz="2400" b="1" i="0" u="none" strike="noStrike" cap="none">
                        <a:solidFill>
                          <a:srgbClr val="FF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5747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4</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RM13.31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RM1.33</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RM14.64</a:t>
                      </a:r>
                      <a:endParaRPr sz="2400" b="1"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573200">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3</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RM12.10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RM1.21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RM13.31</a:t>
                      </a:r>
                      <a:endParaRPr sz="2400" b="1"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57002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2</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RM12.10</a:t>
                      </a:r>
                      <a:endParaRPr sz="2400" b="1"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573200">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RM10</a:t>
                      </a:r>
                      <a:endParaRPr sz="24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dirty="0">
                          <a:latin typeface="Arial"/>
                          <a:ea typeface="Arial"/>
                          <a:cs typeface="Arial"/>
                          <a:sym typeface="Arial"/>
                        </a:rPr>
                        <a:t>RM11</a:t>
                      </a:r>
                      <a:endParaRPr sz="2400" b="1" i="0" u="none" strike="noStrike" cap="none" dirty="0">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bl>
          </a:graphicData>
        </a:graphic>
      </p:graphicFrame>
      <p:sp>
        <p:nvSpPr>
          <p:cNvPr id="142" name="Google Shape;142;p20"/>
          <p:cNvSpPr txBox="1"/>
          <p:nvPr/>
        </p:nvSpPr>
        <p:spPr>
          <a:xfrm>
            <a:off x="642938" y="152400"/>
            <a:ext cx="674846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dk1"/>
                </a:solidFill>
                <a:latin typeface="Arial"/>
                <a:ea typeface="Arial"/>
                <a:cs typeface="Arial"/>
                <a:sym typeface="Arial"/>
              </a:rPr>
              <a:t>Bagaimana Pendiskaunan Berlaku ?</a:t>
            </a:r>
            <a:endParaRPr/>
          </a:p>
        </p:txBody>
      </p:sp>
      <p:sp>
        <p:nvSpPr>
          <p:cNvPr id="143" name="Google Shape;143;p20"/>
          <p:cNvSpPr/>
          <p:nvPr/>
        </p:nvSpPr>
        <p:spPr>
          <a:xfrm>
            <a:off x="440141" y="675621"/>
            <a:ext cx="8229600" cy="2008106"/>
          </a:xfrm>
          <a:custGeom>
            <a:avLst/>
            <a:gdLst/>
            <a:ahLst/>
            <a:cxnLst/>
            <a:rect l="l" t="t" r="r" b="b"/>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44" name="Google Shape;144;p20"/>
          <p:cNvSpPr txBox="1"/>
          <p:nvPr/>
        </p:nvSpPr>
        <p:spPr>
          <a:xfrm>
            <a:off x="1676400" y="914400"/>
            <a:ext cx="64770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Berapakah Aishah perlu simpan hari ini supaya pada akhir tahun ke 5 nanti jumlah simpanannya mencapai RM16.11 jika bank memberikan kadar keuntungan sebanyak 10% setahun?</a:t>
            </a:r>
            <a:endParaRPr/>
          </a:p>
        </p:txBody>
      </p:sp>
      <p:sp>
        <p:nvSpPr>
          <p:cNvPr id="145" name="Google Shape;145;p2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8</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1000"/>
                                        <p:tgtEl>
                                          <p:spTgt spid="143"/>
                                        </p:tgtEl>
                                      </p:cBhvr>
                                    </p:animEffect>
                                  </p:childTnLst>
                                </p:cTn>
                              </p:par>
                              <p:par>
                                <p:cTn id="8" presetID="10" presetClass="entr" presetSubtype="0" fill="hold" nodeType="withEffect">
                                  <p:stCondLst>
                                    <p:cond delay="0"/>
                                  </p:stCondLst>
                                  <p:childTnLst>
                                    <p:set>
                                      <p:cBhvr>
                                        <p:cTn id="9" dur="1" fill="hold">
                                          <p:stCondLst>
                                            <p:cond delay="0"/>
                                          </p:stCondLst>
                                        </p:cTn>
                                        <p:tgtEl>
                                          <p:spTgt spid="144"/>
                                        </p:tgtEl>
                                        <p:attrNameLst>
                                          <p:attrName>style.visibility</p:attrName>
                                        </p:attrNameLst>
                                      </p:cBhvr>
                                      <p:to>
                                        <p:strVal val="visible"/>
                                      </p:to>
                                    </p:set>
                                    <p:animEffect transition="in" filter="fade">
                                      <p:cBhvr>
                                        <p:cTn id="10" dur="1000"/>
                                        <p:tgtEl>
                                          <p:spTgt spid="144"/>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141"/>
                                        </p:tgtEl>
                                        <p:attrNameLst>
                                          <p:attrName>style.visibility</p:attrName>
                                        </p:attrNameLst>
                                      </p:cBhvr>
                                      <p:to>
                                        <p:strVal val="visible"/>
                                      </p:to>
                                    </p:set>
                                    <p:anim calcmode="lin" valueType="num">
                                      <p:cBhvr additive="base">
                                        <p:cTn id="15" dur="500"/>
                                        <p:tgtEl>
                                          <p:spTgt spid="14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1"/>
          <p:cNvSpPr/>
          <p:nvPr/>
        </p:nvSpPr>
        <p:spPr>
          <a:xfrm>
            <a:off x="357181" y="381000"/>
            <a:ext cx="8253419"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600" b="1" i="0" u="none" strike="noStrike" cap="none">
                <a:solidFill>
                  <a:schemeClr val="dk1"/>
                </a:solidFill>
                <a:latin typeface="Arial"/>
                <a:ea typeface="Arial"/>
                <a:cs typeface="Arial"/>
                <a:sym typeface="Arial"/>
              </a:rPr>
              <a:t>KONSEP KOMPAUN DAN DISKAUN</a:t>
            </a:r>
            <a:endParaRPr/>
          </a:p>
        </p:txBody>
      </p:sp>
      <p:cxnSp>
        <p:nvCxnSpPr>
          <p:cNvPr id="151" name="Google Shape;151;p21"/>
          <p:cNvCxnSpPr/>
          <p:nvPr/>
        </p:nvCxnSpPr>
        <p:spPr>
          <a:xfrm>
            <a:off x="1752600" y="3810000"/>
            <a:ext cx="5943600" cy="0"/>
          </a:xfrm>
          <a:prstGeom prst="straightConnector1">
            <a:avLst/>
          </a:prstGeom>
          <a:noFill/>
          <a:ln w="9525" cap="flat" cmpd="sng">
            <a:solidFill>
              <a:schemeClr val="dk1"/>
            </a:solidFill>
            <a:prstDash val="solid"/>
            <a:miter lim="800000"/>
            <a:headEnd type="none" w="med" len="med"/>
            <a:tailEnd type="none" w="med" len="med"/>
          </a:ln>
        </p:spPr>
      </p:cxnSp>
      <p:cxnSp>
        <p:nvCxnSpPr>
          <p:cNvPr id="152" name="Google Shape;152;p21"/>
          <p:cNvCxnSpPr/>
          <p:nvPr/>
        </p:nvCxnSpPr>
        <p:spPr>
          <a:xfrm>
            <a:off x="1981200" y="3429000"/>
            <a:ext cx="0" cy="762000"/>
          </a:xfrm>
          <a:prstGeom prst="straightConnector1">
            <a:avLst/>
          </a:prstGeom>
          <a:noFill/>
          <a:ln w="9525" cap="flat" cmpd="sng">
            <a:solidFill>
              <a:schemeClr val="dk1"/>
            </a:solidFill>
            <a:prstDash val="solid"/>
            <a:miter lim="800000"/>
            <a:headEnd type="none" w="med" len="med"/>
            <a:tailEnd type="none" w="med" len="med"/>
          </a:ln>
        </p:spPr>
      </p:cxnSp>
      <p:cxnSp>
        <p:nvCxnSpPr>
          <p:cNvPr id="153" name="Google Shape;153;p21"/>
          <p:cNvCxnSpPr/>
          <p:nvPr/>
        </p:nvCxnSpPr>
        <p:spPr>
          <a:xfrm>
            <a:off x="3581400" y="3429000"/>
            <a:ext cx="0" cy="762000"/>
          </a:xfrm>
          <a:prstGeom prst="straightConnector1">
            <a:avLst/>
          </a:prstGeom>
          <a:noFill/>
          <a:ln w="9525" cap="flat" cmpd="sng">
            <a:solidFill>
              <a:schemeClr val="dk1"/>
            </a:solidFill>
            <a:prstDash val="solid"/>
            <a:miter lim="800000"/>
            <a:headEnd type="none" w="med" len="med"/>
            <a:tailEnd type="none" w="med" len="med"/>
          </a:ln>
        </p:spPr>
      </p:cxnSp>
      <p:cxnSp>
        <p:nvCxnSpPr>
          <p:cNvPr id="154" name="Google Shape;154;p21"/>
          <p:cNvCxnSpPr/>
          <p:nvPr/>
        </p:nvCxnSpPr>
        <p:spPr>
          <a:xfrm>
            <a:off x="5410200" y="3429000"/>
            <a:ext cx="0" cy="762000"/>
          </a:xfrm>
          <a:prstGeom prst="straightConnector1">
            <a:avLst/>
          </a:prstGeom>
          <a:noFill/>
          <a:ln w="9525" cap="flat" cmpd="sng">
            <a:solidFill>
              <a:schemeClr val="dk1"/>
            </a:solidFill>
            <a:prstDash val="solid"/>
            <a:miter lim="800000"/>
            <a:headEnd type="none" w="med" len="med"/>
            <a:tailEnd type="none" w="med" len="med"/>
          </a:ln>
        </p:spPr>
      </p:cxnSp>
      <p:cxnSp>
        <p:nvCxnSpPr>
          <p:cNvPr id="155" name="Google Shape;155;p21"/>
          <p:cNvCxnSpPr/>
          <p:nvPr/>
        </p:nvCxnSpPr>
        <p:spPr>
          <a:xfrm>
            <a:off x="7162800" y="3429000"/>
            <a:ext cx="0" cy="762000"/>
          </a:xfrm>
          <a:prstGeom prst="straightConnector1">
            <a:avLst/>
          </a:prstGeom>
          <a:noFill/>
          <a:ln w="9525" cap="flat" cmpd="sng">
            <a:solidFill>
              <a:schemeClr val="dk1"/>
            </a:solidFill>
            <a:prstDash val="solid"/>
            <a:miter lim="800000"/>
            <a:headEnd type="none" w="med" len="med"/>
            <a:tailEnd type="none" w="med" len="med"/>
          </a:ln>
        </p:spPr>
      </p:cxnSp>
      <p:sp>
        <p:nvSpPr>
          <p:cNvPr id="156" name="Google Shape;156;p21"/>
          <p:cNvSpPr txBox="1"/>
          <p:nvPr/>
        </p:nvSpPr>
        <p:spPr>
          <a:xfrm>
            <a:off x="504333" y="2965448"/>
            <a:ext cx="109196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MASA</a:t>
            </a:r>
            <a:endParaRPr/>
          </a:p>
        </p:txBody>
      </p:sp>
      <p:sp>
        <p:nvSpPr>
          <p:cNvPr id="157" name="Google Shape;157;p21"/>
          <p:cNvSpPr txBox="1"/>
          <p:nvPr/>
        </p:nvSpPr>
        <p:spPr>
          <a:xfrm>
            <a:off x="357181" y="4114799"/>
            <a:ext cx="133241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AMAUN</a:t>
            </a:r>
            <a:endParaRPr/>
          </a:p>
        </p:txBody>
      </p:sp>
      <p:sp>
        <p:nvSpPr>
          <p:cNvPr id="158" name="Google Shape;158;p21"/>
          <p:cNvSpPr txBox="1"/>
          <p:nvPr/>
        </p:nvSpPr>
        <p:spPr>
          <a:xfrm>
            <a:off x="1812925" y="297180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0</a:t>
            </a:r>
            <a:endParaRPr/>
          </a:p>
        </p:txBody>
      </p:sp>
      <p:sp>
        <p:nvSpPr>
          <p:cNvPr id="159" name="Google Shape;159;p21"/>
          <p:cNvSpPr txBox="1"/>
          <p:nvPr/>
        </p:nvSpPr>
        <p:spPr>
          <a:xfrm>
            <a:off x="3413125" y="297180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1</a:t>
            </a:r>
            <a:endParaRPr/>
          </a:p>
        </p:txBody>
      </p:sp>
      <p:sp>
        <p:nvSpPr>
          <p:cNvPr id="160" name="Google Shape;160;p21"/>
          <p:cNvSpPr txBox="1"/>
          <p:nvPr/>
        </p:nvSpPr>
        <p:spPr>
          <a:xfrm>
            <a:off x="5181600" y="297180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2</a:t>
            </a:r>
            <a:endParaRPr/>
          </a:p>
        </p:txBody>
      </p:sp>
      <p:sp>
        <p:nvSpPr>
          <p:cNvPr id="161" name="Google Shape;161;p21"/>
          <p:cNvSpPr txBox="1"/>
          <p:nvPr/>
        </p:nvSpPr>
        <p:spPr>
          <a:xfrm>
            <a:off x="7013575" y="297180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3</a:t>
            </a:r>
            <a:endParaRPr/>
          </a:p>
        </p:txBody>
      </p:sp>
      <p:sp>
        <p:nvSpPr>
          <p:cNvPr id="162" name="Google Shape;162;p21"/>
          <p:cNvSpPr txBox="1"/>
          <p:nvPr/>
        </p:nvSpPr>
        <p:spPr>
          <a:xfrm>
            <a:off x="2346325" y="3200400"/>
            <a:ext cx="80182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10%</a:t>
            </a:r>
            <a:endParaRPr/>
          </a:p>
        </p:txBody>
      </p:sp>
      <p:sp>
        <p:nvSpPr>
          <p:cNvPr id="163" name="Google Shape;163;p21"/>
          <p:cNvSpPr txBox="1"/>
          <p:nvPr/>
        </p:nvSpPr>
        <p:spPr>
          <a:xfrm>
            <a:off x="1736725" y="4114800"/>
            <a:ext cx="100700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RM10</a:t>
            </a:r>
            <a:endParaRPr/>
          </a:p>
        </p:txBody>
      </p:sp>
      <p:sp>
        <p:nvSpPr>
          <p:cNvPr id="164" name="Google Shape;164;p21"/>
          <p:cNvSpPr txBox="1"/>
          <p:nvPr/>
        </p:nvSpPr>
        <p:spPr>
          <a:xfrm>
            <a:off x="3124200" y="4114800"/>
            <a:ext cx="9900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RM11</a:t>
            </a:r>
            <a:endParaRPr/>
          </a:p>
        </p:txBody>
      </p:sp>
      <p:sp>
        <p:nvSpPr>
          <p:cNvPr id="165" name="Google Shape;165;p21"/>
          <p:cNvSpPr txBox="1"/>
          <p:nvPr/>
        </p:nvSpPr>
        <p:spPr>
          <a:xfrm>
            <a:off x="4724400" y="4114800"/>
            <a:ext cx="143500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RM12.10</a:t>
            </a:r>
            <a:endParaRPr/>
          </a:p>
        </p:txBody>
      </p:sp>
      <p:sp>
        <p:nvSpPr>
          <p:cNvPr id="166" name="Google Shape;166;p21"/>
          <p:cNvSpPr txBox="1"/>
          <p:nvPr/>
        </p:nvSpPr>
        <p:spPr>
          <a:xfrm>
            <a:off x="6477000" y="4114800"/>
            <a:ext cx="143500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RM13.31</a:t>
            </a:r>
            <a:endParaRPr/>
          </a:p>
        </p:txBody>
      </p:sp>
      <p:sp>
        <p:nvSpPr>
          <p:cNvPr id="167" name="Google Shape;167;p21"/>
          <p:cNvSpPr txBox="1"/>
          <p:nvPr/>
        </p:nvSpPr>
        <p:spPr>
          <a:xfrm>
            <a:off x="6477000" y="1758950"/>
            <a:ext cx="1905000" cy="83185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NILAI </a:t>
            </a:r>
            <a:endParaRPr/>
          </a:p>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DEPAN</a:t>
            </a:r>
            <a:endParaRPr/>
          </a:p>
        </p:txBody>
      </p:sp>
      <p:sp>
        <p:nvSpPr>
          <p:cNvPr id="168" name="Google Shape;168;p21"/>
          <p:cNvSpPr txBox="1"/>
          <p:nvPr/>
        </p:nvSpPr>
        <p:spPr>
          <a:xfrm>
            <a:off x="838200" y="5264150"/>
            <a:ext cx="1905000" cy="83185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NILAI </a:t>
            </a:r>
            <a:endParaRPr/>
          </a:p>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KINI</a:t>
            </a:r>
            <a:endParaRPr/>
          </a:p>
        </p:txBody>
      </p:sp>
      <p:cxnSp>
        <p:nvCxnSpPr>
          <p:cNvPr id="169" name="Google Shape;169;p21"/>
          <p:cNvCxnSpPr/>
          <p:nvPr/>
        </p:nvCxnSpPr>
        <p:spPr>
          <a:xfrm>
            <a:off x="7239000" y="4800600"/>
            <a:ext cx="0" cy="838200"/>
          </a:xfrm>
          <a:prstGeom prst="straightConnector1">
            <a:avLst/>
          </a:prstGeom>
          <a:noFill/>
          <a:ln w="57150" cap="flat" cmpd="sng">
            <a:solidFill>
              <a:schemeClr val="dk1"/>
            </a:solidFill>
            <a:prstDash val="solid"/>
            <a:miter lim="800000"/>
            <a:headEnd type="none" w="med" len="med"/>
            <a:tailEnd type="none" w="med" len="med"/>
          </a:ln>
        </p:spPr>
      </p:cxnSp>
      <p:cxnSp>
        <p:nvCxnSpPr>
          <p:cNvPr id="170" name="Google Shape;170;p21"/>
          <p:cNvCxnSpPr/>
          <p:nvPr/>
        </p:nvCxnSpPr>
        <p:spPr>
          <a:xfrm rot="10800000">
            <a:off x="2743200" y="5638800"/>
            <a:ext cx="4495800" cy="0"/>
          </a:xfrm>
          <a:prstGeom prst="straightConnector1">
            <a:avLst/>
          </a:prstGeom>
          <a:noFill/>
          <a:ln w="57150" cap="flat" cmpd="sng">
            <a:solidFill>
              <a:schemeClr val="dk1"/>
            </a:solidFill>
            <a:prstDash val="solid"/>
            <a:miter lim="800000"/>
            <a:headEnd type="none" w="med" len="med"/>
            <a:tailEnd type="triangle" w="med" len="med"/>
          </a:ln>
        </p:spPr>
      </p:cxnSp>
      <p:cxnSp>
        <p:nvCxnSpPr>
          <p:cNvPr id="171" name="Google Shape;171;p21"/>
          <p:cNvCxnSpPr/>
          <p:nvPr/>
        </p:nvCxnSpPr>
        <p:spPr>
          <a:xfrm rot="10800000">
            <a:off x="1981200" y="2133600"/>
            <a:ext cx="0" cy="838200"/>
          </a:xfrm>
          <a:prstGeom prst="straightConnector1">
            <a:avLst/>
          </a:prstGeom>
          <a:noFill/>
          <a:ln w="57150" cap="flat" cmpd="sng">
            <a:solidFill>
              <a:schemeClr val="dk1"/>
            </a:solidFill>
            <a:prstDash val="solid"/>
            <a:miter lim="800000"/>
            <a:headEnd type="none" w="med" len="med"/>
            <a:tailEnd type="none" w="med" len="med"/>
          </a:ln>
        </p:spPr>
      </p:cxnSp>
      <p:cxnSp>
        <p:nvCxnSpPr>
          <p:cNvPr id="172" name="Google Shape;172;p21"/>
          <p:cNvCxnSpPr/>
          <p:nvPr/>
        </p:nvCxnSpPr>
        <p:spPr>
          <a:xfrm>
            <a:off x="1981200" y="2133600"/>
            <a:ext cx="4495800" cy="0"/>
          </a:xfrm>
          <a:prstGeom prst="straightConnector1">
            <a:avLst/>
          </a:prstGeom>
          <a:noFill/>
          <a:ln w="57150" cap="flat" cmpd="sng">
            <a:solidFill>
              <a:schemeClr val="dk1"/>
            </a:solidFill>
            <a:prstDash val="solid"/>
            <a:miter lim="800000"/>
            <a:headEnd type="none" w="med" len="med"/>
            <a:tailEnd type="triangle" w="med" len="med"/>
          </a:ln>
        </p:spPr>
      </p:cxnSp>
      <p:sp>
        <p:nvSpPr>
          <p:cNvPr id="173" name="Google Shape;173;p21"/>
          <p:cNvSpPr txBox="1"/>
          <p:nvPr/>
        </p:nvSpPr>
        <p:spPr>
          <a:xfrm>
            <a:off x="2471738" y="1709738"/>
            <a:ext cx="3393803"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dirty="0">
                <a:solidFill>
                  <a:schemeClr val="dk1"/>
                </a:solidFill>
                <a:latin typeface="Arial"/>
                <a:ea typeface="Arial"/>
                <a:cs typeface="Arial"/>
                <a:sym typeface="Arial"/>
              </a:rPr>
              <a:t>PENGKOMPAUNAN</a:t>
            </a:r>
            <a:endParaRPr dirty="0"/>
          </a:p>
        </p:txBody>
      </p:sp>
      <p:sp>
        <p:nvSpPr>
          <p:cNvPr id="174" name="Google Shape;174;p21"/>
          <p:cNvSpPr txBox="1"/>
          <p:nvPr/>
        </p:nvSpPr>
        <p:spPr>
          <a:xfrm>
            <a:off x="3989388" y="5672138"/>
            <a:ext cx="2701925"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PENDISKAUNAN</a:t>
            </a:r>
            <a:endParaRPr/>
          </a:p>
        </p:txBody>
      </p:sp>
      <p:sp>
        <p:nvSpPr>
          <p:cNvPr id="175" name="Google Shape;175;p2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9</a:t>
            </a:fld>
            <a:endParaRPr sz="1200" b="0" i="0" u="none" strike="noStrike" cap="none">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 calcmode="lin" valueType="num">
                                      <p:cBhvr additive="base">
                                        <p:cTn id="7" dur="500"/>
                                        <p:tgtEl>
                                          <p:spTgt spid="173"/>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74"/>
                                        </p:tgtEl>
                                        <p:attrNameLst>
                                          <p:attrName>style.visibility</p:attrName>
                                        </p:attrNameLst>
                                      </p:cBhvr>
                                      <p:to>
                                        <p:strVal val="visible"/>
                                      </p:to>
                                    </p:set>
                                    <p:anim calcmode="lin" valueType="num">
                                      <p:cBhvr additive="base">
                                        <p:cTn id="12" dur="500"/>
                                        <p:tgtEl>
                                          <p:spTgt spid="17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graphicFrame>
        <p:nvGraphicFramePr>
          <p:cNvPr id="180" name="Google Shape;180;p22"/>
          <p:cNvGraphicFramePr/>
          <p:nvPr/>
        </p:nvGraphicFramePr>
        <p:xfrm>
          <a:off x="457200" y="1752600"/>
          <a:ext cx="8077200" cy="4495800"/>
        </p:xfrm>
        <a:graphic>
          <a:graphicData uri="http://schemas.openxmlformats.org/drawingml/2006/table">
            <a:tbl>
              <a:tblPr>
                <a:noFill/>
                <a:tableStyleId>{583BA780-5EA6-48F8-90CF-626E18444947}</a:tableStyleId>
              </a:tblPr>
              <a:tblGrid>
                <a:gridCol w="60390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779250">
                  <a:extLst>
                    <a:ext uri="{9D8B030D-6E8A-4147-A177-3AD203B41FA5}">
                      <a16:colId xmlns:a16="http://schemas.microsoft.com/office/drawing/2014/main" val="20002"/>
                    </a:ext>
                  </a:extLst>
                </a:gridCol>
              </a:tblGrid>
              <a:tr h="1021775">
                <a:tc>
                  <a:txBody>
                    <a:bodyPr/>
                    <a:lstStyle/>
                    <a:p>
                      <a:pPr marL="0" marR="0" lvl="0" indent="0" algn="l" rtl="0">
                        <a:lnSpc>
                          <a:spcPct val="100000"/>
                        </a:lnSpc>
                        <a:spcBef>
                          <a:spcPts val="0"/>
                        </a:spcBef>
                        <a:spcAft>
                          <a:spcPts val="0"/>
                        </a:spcAft>
                        <a:buClr>
                          <a:schemeClr val="dk1"/>
                        </a:buClr>
                        <a:buSzPts val="2400"/>
                        <a:buFont typeface="Calibri"/>
                        <a:buNone/>
                      </a:pPr>
                      <a:endParaRPr sz="2400" b="1" i="0" u="none" strike="noStrike" cap="none">
                        <a:solidFill>
                          <a:srgbClr val="FFFFFF"/>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400"/>
                        <a:buFont typeface="Arial"/>
                        <a:buNone/>
                      </a:pPr>
                      <a:r>
                        <a:rPr lang="en-US" sz="2400" b="1" u="none" strike="noStrike" cap="none">
                          <a:latin typeface="Arial"/>
                          <a:ea typeface="Arial"/>
                          <a:cs typeface="Arial"/>
                          <a:sym typeface="Arial"/>
                        </a:rPr>
                        <a:t>PENGKOMPAUNAN</a:t>
                      </a:r>
                      <a:endParaRPr sz="2400" b="1" i="0" u="none" strike="noStrike" cap="none">
                        <a:solidFill>
                          <a:srgbClr val="FFFF00"/>
                        </a:solidFill>
                        <a:latin typeface="Arial"/>
                        <a:ea typeface="Arial"/>
                        <a:cs typeface="Arial"/>
                        <a:sym typeface="Arial"/>
                      </a:endParaRPr>
                    </a:p>
                  </a:txBody>
                  <a:tcPr marL="91450" marR="91450" marT="45725" marB="45725" anchor="ctr" anchorCtr="1"/>
                </a:tc>
                <a:tc>
                  <a:txBody>
                    <a:bodyPr/>
                    <a:lstStyle/>
                    <a:p>
                      <a:pPr marL="0" marR="0" lvl="0" indent="0" algn="l" rtl="0">
                        <a:lnSpc>
                          <a:spcPct val="100000"/>
                        </a:lnSpc>
                        <a:spcBef>
                          <a:spcPts val="0"/>
                        </a:spcBef>
                        <a:spcAft>
                          <a:spcPts val="0"/>
                        </a:spcAft>
                        <a:buClr>
                          <a:schemeClr val="dk1"/>
                        </a:buClr>
                        <a:buSzPts val="2400"/>
                        <a:buFont typeface="Arial"/>
                        <a:buNone/>
                      </a:pPr>
                      <a:r>
                        <a:rPr lang="en-US" sz="2400" b="1" u="none" strike="noStrike" cap="none">
                          <a:latin typeface="Arial"/>
                          <a:ea typeface="Arial"/>
                          <a:cs typeface="Arial"/>
                          <a:sym typeface="Arial"/>
                        </a:rPr>
                        <a:t>PENDISKAUNAN</a:t>
                      </a:r>
                      <a:endParaRPr sz="2400" b="1" i="0" u="none" strike="noStrike" cap="none">
                        <a:solidFill>
                          <a:srgbClr val="FFFF00"/>
                        </a:solidFill>
                        <a:latin typeface="Arial"/>
                        <a:ea typeface="Arial"/>
                        <a:cs typeface="Arial"/>
                        <a:sym typeface="Arial"/>
                      </a:endParaRPr>
                    </a:p>
                  </a:txBody>
                  <a:tcPr marL="91450" marR="91450" marT="45725" marB="45725" anchor="ctr" anchorCtr="1"/>
                </a:tc>
                <a:extLst>
                  <a:ext uri="{0D108BD9-81ED-4DB2-BD59-A6C34878D82A}">
                    <a16:rowId xmlns:a16="http://schemas.microsoft.com/office/drawing/2014/main" val="10000"/>
                  </a:ext>
                </a:extLst>
              </a:tr>
              <a:tr h="2145725">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1.</a:t>
                      </a:r>
                      <a:endParaRPr sz="2400" b="0" i="0" u="none" strike="noStrike" cap="none">
                        <a:solidFill>
                          <a:srgbClr val="000000"/>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Kaedah mendapatkan nilai masa depan bagi sejumlah wang yang dilaburkan pada hari ini. </a:t>
                      </a:r>
                      <a:endParaRPr sz="2400" b="0" i="0" u="none" strike="noStrike" cap="none">
                        <a:solidFill>
                          <a:srgbClr val="000000"/>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Kaedah mendapatkan nilai masa kini / nilai hari ini bagi sejumlah wang yang dilaburkan pada masa akan datang</a:t>
                      </a:r>
                      <a:endParaRPr sz="2400" b="0" i="0" u="none" strike="noStrike" cap="none">
                        <a:solidFill>
                          <a:srgbClr val="00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1328300">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2.</a:t>
                      </a:r>
                      <a:endParaRPr sz="2400" b="0" i="0" u="none" strike="noStrike" cap="none">
                        <a:solidFill>
                          <a:srgbClr val="000000"/>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Pengkompaunan akan menyebabkan nilai hadapan bertambah. </a:t>
                      </a:r>
                      <a:endParaRPr sz="2400" b="0" i="0" u="none" strike="noStrike" cap="none">
                        <a:solidFill>
                          <a:srgbClr val="FF0000"/>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Pendiskaunan akan menyebabkan nilai kini berkurang. </a:t>
                      </a:r>
                      <a:endParaRPr sz="2400" b="0" i="0" u="none" strike="noStrike" cap="none">
                        <a:solidFill>
                          <a:srgbClr val="FF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bl>
          </a:graphicData>
        </a:graphic>
      </p:graphicFrame>
      <p:sp>
        <p:nvSpPr>
          <p:cNvPr id="181" name="Google Shape;181;p22"/>
          <p:cNvSpPr txBox="1"/>
          <p:nvPr/>
        </p:nvSpPr>
        <p:spPr>
          <a:xfrm>
            <a:off x="421943" y="533400"/>
            <a:ext cx="8112458" cy="8925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i="0" u="none" strike="noStrike" cap="none">
                <a:solidFill>
                  <a:schemeClr val="dk1"/>
                </a:solidFill>
                <a:latin typeface="Arial"/>
                <a:ea typeface="Arial"/>
                <a:cs typeface="Arial"/>
                <a:sym typeface="Arial"/>
              </a:rPr>
              <a:t>Apakah perbezaan di antara pengkompaunan dan pendiskaunan ?</a:t>
            </a:r>
            <a:endParaRPr/>
          </a:p>
        </p:txBody>
      </p:sp>
      <p:sp>
        <p:nvSpPr>
          <p:cNvPr id="182" name="Google Shape;182;p22"/>
          <p:cNvSpPr txBox="1">
            <a:spLocks noGrp="1"/>
          </p:cNvSpPr>
          <p:nvPr>
            <p:ph type="sldNum" sz="quarter" idx="12"/>
          </p:nvPr>
        </p:nvSpPr>
        <p:spPr>
          <a:xfrm>
            <a:off x="6457949" y="6356350"/>
            <a:ext cx="236956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10</a:t>
            </a:fld>
            <a:endParaRPr sz="1200" b="1" i="0" u="none" strike="noStrike" cap="none">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fade">
                                      <p:cBhvr>
                                        <p:cTn id="7" dur="5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11</a:t>
            </a:fld>
            <a:endParaRPr sz="1200" b="0" i="0" u="none" strike="noStrike" cap="none">
              <a:solidFill>
                <a:srgbClr val="1D4577"/>
              </a:solidFill>
              <a:latin typeface="Times New Roman"/>
              <a:ea typeface="Times New Roman"/>
              <a:cs typeface="Times New Roman"/>
              <a:sym typeface="Times New Roman"/>
            </a:endParaRPr>
          </a:p>
        </p:txBody>
      </p:sp>
      <p:sp>
        <p:nvSpPr>
          <p:cNvPr id="188" name="Google Shape;188;p23"/>
          <p:cNvSpPr/>
          <p:nvPr/>
        </p:nvSpPr>
        <p:spPr>
          <a:xfrm>
            <a:off x="381000" y="471333"/>
            <a:ext cx="85344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7.2 ALAT-ALAT BANTU PENGIRAAN NILAI MASA WANG</a:t>
            </a:r>
            <a:endParaRPr/>
          </a:p>
        </p:txBody>
      </p:sp>
      <p:sp>
        <p:nvSpPr>
          <p:cNvPr id="189" name="Google Shape;189;p23"/>
          <p:cNvSpPr/>
          <p:nvPr/>
        </p:nvSpPr>
        <p:spPr>
          <a:xfrm>
            <a:off x="1905000" y="2667000"/>
            <a:ext cx="5181600" cy="1752600"/>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chemeClr val="dk1"/>
              </a:buClr>
              <a:buSzPts val="2400"/>
              <a:buFont typeface="Arial"/>
              <a:buAutoNum type="arabicPeriod"/>
            </a:pPr>
            <a:r>
              <a:rPr lang="en-US" sz="2400" b="0" i="0" u="none" strike="noStrike" cap="none">
                <a:solidFill>
                  <a:schemeClr val="dk1"/>
                </a:solidFill>
                <a:latin typeface="Arial"/>
                <a:ea typeface="Arial"/>
                <a:cs typeface="Arial"/>
                <a:sym typeface="Arial"/>
              </a:rPr>
              <a:t>Garis masa</a:t>
            </a:r>
            <a:endParaRPr/>
          </a:p>
          <a:p>
            <a:pPr marL="342900" marR="0" lvl="0" indent="-342900" algn="l" rtl="0">
              <a:spcBef>
                <a:spcPts val="0"/>
              </a:spcBef>
              <a:spcAft>
                <a:spcPts val="0"/>
              </a:spcAft>
              <a:buClr>
                <a:schemeClr val="dk1"/>
              </a:buClr>
              <a:buSzPts val="2400"/>
              <a:buFont typeface="Arial"/>
              <a:buAutoNum type="arabicPeriod"/>
            </a:pPr>
            <a:r>
              <a:rPr lang="en-US" sz="2400" b="0" i="0" u="none" strike="noStrike" cap="none">
                <a:solidFill>
                  <a:schemeClr val="dk1"/>
                </a:solidFill>
                <a:latin typeface="Arial"/>
                <a:ea typeface="Arial"/>
                <a:cs typeface="Arial"/>
                <a:sym typeface="Arial"/>
              </a:rPr>
              <a:t>Jadual Faktor Nilai Masa Wang</a:t>
            </a:r>
            <a:endParaRPr/>
          </a:p>
          <a:p>
            <a:pPr marL="342900" marR="0" lvl="0" indent="-342900" algn="l" rtl="0">
              <a:spcBef>
                <a:spcPts val="0"/>
              </a:spcBef>
              <a:spcAft>
                <a:spcPts val="0"/>
              </a:spcAft>
              <a:buClr>
                <a:schemeClr val="dk1"/>
              </a:buClr>
              <a:buSzPts val="2400"/>
              <a:buFont typeface="Arial"/>
              <a:buAutoNum type="arabicPeriod"/>
            </a:pPr>
            <a:r>
              <a:rPr lang="en-US" sz="2400" b="0" i="0" u="none" strike="noStrike" cap="none">
                <a:solidFill>
                  <a:schemeClr val="dk1"/>
                </a:solidFill>
                <a:latin typeface="Arial"/>
                <a:ea typeface="Arial"/>
                <a:cs typeface="Arial"/>
                <a:sym typeface="Arial"/>
              </a:rPr>
              <a:t>Rumus Algebra</a:t>
            </a:r>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4"/>
          <p:cNvSpPr/>
          <p:nvPr/>
        </p:nvSpPr>
        <p:spPr>
          <a:xfrm>
            <a:off x="685800" y="1600200"/>
            <a:ext cx="7829550" cy="29718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DEFINISI </a:t>
            </a:r>
            <a:endParaRPr/>
          </a:p>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  </a:t>
            </a:r>
            <a:endParaRPr/>
          </a:p>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Gambaran secara grafik yang digunakan untuk menunjukkan masa  sesuatu aliran tunai (masuk atau keluar) berlaku. (Brigham et. al, 2010)</a:t>
            </a:r>
            <a:endParaRPr/>
          </a:p>
          <a:p>
            <a:pPr marL="0" marR="0" lvl="0" indent="0" algn="just"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195" name="Google Shape;195;p24"/>
          <p:cNvSpPr txBox="1"/>
          <p:nvPr/>
        </p:nvSpPr>
        <p:spPr>
          <a:xfrm>
            <a:off x="685800" y="816630"/>
            <a:ext cx="7442200" cy="4924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i="0" u="none" strike="noStrike" cap="none">
                <a:solidFill>
                  <a:schemeClr val="dk1"/>
                </a:solidFill>
                <a:latin typeface="Arial"/>
                <a:ea typeface="Arial"/>
                <a:cs typeface="Arial"/>
                <a:sym typeface="Arial"/>
              </a:rPr>
              <a:t>Apakah itu garis masa (</a:t>
            </a:r>
            <a:r>
              <a:rPr lang="en-US" sz="2600" b="1" i="1" u="none" strike="noStrike" cap="none">
                <a:solidFill>
                  <a:schemeClr val="dk1"/>
                </a:solidFill>
                <a:latin typeface="Arial"/>
                <a:ea typeface="Arial"/>
                <a:cs typeface="Arial"/>
                <a:sym typeface="Arial"/>
              </a:rPr>
              <a:t>Time Line </a:t>
            </a:r>
            <a:r>
              <a:rPr lang="en-US" sz="2600" b="1" i="0" u="none" strike="noStrike" cap="none">
                <a:solidFill>
                  <a:schemeClr val="dk1"/>
                </a:solidFill>
                <a:latin typeface="Arial"/>
                <a:ea typeface="Arial"/>
                <a:cs typeface="Arial"/>
                <a:sym typeface="Arial"/>
              </a:rPr>
              <a:t>)?</a:t>
            </a:r>
            <a:endParaRPr/>
          </a:p>
        </p:txBody>
      </p:sp>
      <p:sp>
        <p:nvSpPr>
          <p:cNvPr id="196" name="Google Shape;196;p2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12</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5"/>
          <p:cNvSpPr txBox="1"/>
          <p:nvPr/>
        </p:nvSpPr>
        <p:spPr>
          <a:xfrm>
            <a:off x="367127" y="473303"/>
            <a:ext cx="8353425" cy="49244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i="0" u="none" strike="noStrike" cap="none">
                <a:solidFill>
                  <a:schemeClr val="dk1"/>
                </a:solidFill>
                <a:latin typeface="Arial"/>
                <a:ea typeface="Arial"/>
                <a:cs typeface="Arial"/>
                <a:sym typeface="Arial"/>
              </a:rPr>
              <a:t>7.2 (a) Bagaimanakah cara melakar garis masa ?</a:t>
            </a:r>
            <a:endParaRPr/>
          </a:p>
        </p:txBody>
      </p:sp>
      <p:cxnSp>
        <p:nvCxnSpPr>
          <p:cNvPr id="202" name="Google Shape;202;p25"/>
          <p:cNvCxnSpPr/>
          <p:nvPr/>
        </p:nvCxnSpPr>
        <p:spPr>
          <a:xfrm>
            <a:off x="1951869" y="2051050"/>
            <a:ext cx="6151562" cy="7938"/>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03" name="Google Shape;203;p25"/>
          <p:cNvCxnSpPr/>
          <p:nvPr/>
        </p:nvCxnSpPr>
        <p:spPr>
          <a:xfrm>
            <a:off x="1951869" y="163830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04" name="Google Shape;204;p25"/>
          <p:cNvCxnSpPr/>
          <p:nvPr/>
        </p:nvCxnSpPr>
        <p:spPr>
          <a:xfrm>
            <a:off x="3379031" y="167640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05" name="Google Shape;205;p25"/>
          <p:cNvCxnSpPr/>
          <p:nvPr/>
        </p:nvCxnSpPr>
        <p:spPr>
          <a:xfrm>
            <a:off x="4979231" y="167640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06" name="Google Shape;206;p25"/>
          <p:cNvCxnSpPr/>
          <p:nvPr/>
        </p:nvCxnSpPr>
        <p:spPr>
          <a:xfrm>
            <a:off x="6579431" y="168275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07" name="Google Shape;207;p25"/>
          <p:cNvCxnSpPr/>
          <p:nvPr/>
        </p:nvCxnSpPr>
        <p:spPr>
          <a:xfrm>
            <a:off x="8103431" y="167640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sp>
        <p:nvSpPr>
          <p:cNvPr id="208" name="Google Shape;208;p25"/>
          <p:cNvSpPr txBox="1"/>
          <p:nvPr/>
        </p:nvSpPr>
        <p:spPr>
          <a:xfrm>
            <a:off x="404522" y="1219200"/>
            <a:ext cx="1164293" cy="707886"/>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Tempoh</a:t>
            </a:r>
            <a:endParaRPr/>
          </a:p>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masa</a:t>
            </a:r>
            <a:endParaRPr/>
          </a:p>
        </p:txBody>
      </p:sp>
      <p:sp>
        <p:nvSpPr>
          <p:cNvPr id="209" name="Google Shape;209;p25"/>
          <p:cNvSpPr txBox="1"/>
          <p:nvPr/>
        </p:nvSpPr>
        <p:spPr>
          <a:xfrm>
            <a:off x="536018" y="2324100"/>
            <a:ext cx="910827" cy="707886"/>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Aliran</a:t>
            </a:r>
            <a:endParaRPr/>
          </a:p>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tunai</a:t>
            </a:r>
            <a:endParaRPr/>
          </a:p>
        </p:txBody>
      </p:sp>
      <p:sp>
        <p:nvSpPr>
          <p:cNvPr id="210" name="Google Shape;210;p25"/>
          <p:cNvSpPr txBox="1"/>
          <p:nvPr/>
        </p:nvSpPr>
        <p:spPr>
          <a:xfrm>
            <a:off x="1738850" y="1106488"/>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0</a:t>
            </a:r>
            <a:endParaRPr/>
          </a:p>
        </p:txBody>
      </p:sp>
      <p:sp>
        <p:nvSpPr>
          <p:cNvPr id="211" name="Google Shape;211;p25"/>
          <p:cNvSpPr txBox="1"/>
          <p:nvPr/>
        </p:nvSpPr>
        <p:spPr>
          <a:xfrm>
            <a:off x="3200938" y="1104900"/>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1</a:t>
            </a:r>
            <a:endParaRPr/>
          </a:p>
        </p:txBody>
      </p:sp>
      <p:sp>
        <p:nvSpPr>
          <p:cNvPr id="212" name="Google Shape;212;p25"/>
          <p:cNvSpPr txBox="1"/>
          <p:nvPr/>
        </p:nvSpPr>
        <p:spPr>
          <a:xfrm>
            <a:off x="4823363" y="1079500"/>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2</a:t>
            </a:r>
            <a:endParaRPr/>
          </a:p>
        </p:txBody>
      </p:sp>
      <p:sp>
        <p:nvSpPr>
          <p:cNvPr id="213" name="Google Shape;213;p25"/>
          <p:cNvSpPr txBox="1"/>
          <p:nvPr/>
        </p:nvSpPr>
        <p:spPr>
          <a:xfrm>
            <a:off x="6401338" y="1079500"/>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3</a:t>
            </a:r>
            <a:endParaRPr/>
          </a:p>
        </p:txBody>
      </p:sp>
      <p:sp>
        <p:nvSpPr>
          <p:cNvPr id="214" name="Google Shape;214;p25"/>
          <p:cNvSpPr txBox="1"/>
          <p:nvPr/>
        </p:nvSpPr>
        <p:spPr>
          <a:xfrm>
            <a:off x="7888825" y="1095375"/>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4</a:t>
            </a:r>
            <a:endParaRPr/>
          </a:p>
        </p:txBody>
      </p:sp>
      <p:sp>
        <p:nvSpPr>
          <p:cNvPr id="215" name="Google Shape;215;p25"/>
          <p:cNvSpPr txBox="1"/>
          <p:nvPr/>
        </p:nvSpPr>
        <p:spPr>
          <a:xfrm>
            <a:off x="1702684" y="2332038"/>
            <a:ext cx="612667" cy="40011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150</a:t>
            </a:r>
            <a:endParaRPr/>
          </a:p>
        </p:txBody>
      </p:sp>
      <p:cxnSp>
        <p:nvCxnSpPr>
          <p:cNvPr id="216" name="Google Shape;216;p25"/>
          <p:cNvCxnSpPr/>
          <p:nvPr/>
        </p:nvCxnSpPr>
        <p:spPr>
          <a:xfrm>
            <a:off x="1978856" y="2789238"/>
            <a:ext cx="0" cy="4572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17" name="Google Shape;217;p25"/>
          <p:cNvCxnSpPr/>
          <p:nvPr/>
        </p:nvCxnSpPr>
        <p:spPr>
          <a:xfrm>
            <a:off x="1951869" y="3246438"/>
            <a:ext cx="6151562" cy="0"/>
          </a:xfrm>
          <a:prstGeom prst="straightConnector1">
            <a:avLst/>
          </a:prstGeom>
          <a:solidFill>
            <a:schemeClr val="lt1"/>
          </a:solidFill>
          <a:ln w="12700" cap="flat" cmpd="sng">
            <a:solidFill>
              <a:schemeClr val="dk1"/>
            </a:solidFill>
            <a:prstDash val="solid"/>
            <a:miter lim="800000"/>
            <a:headEnd type="none" w="med" len="med"/>
            <a:tailEnd type="triangle" w="med" len="med"/>
          </a:ln>
        </p:spPr>
      </p:cxnSp>
      <p:sp>
        <p:nvSpPr>
          <p:cNvPr id="218" name="Google Shape;218;p25"/>
          <p:cNvSpPr txBox="1"/>
          <p:nvPr/>
        </p:nvSpPr>
        <p:spPr>
          <a:xfrm>
            <a:off x="8143213" y="3046383"/>
            <a:ext cx="819455" cy="40011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FV=?</a:t>
            </a:r>
            <a:endParaRPr/>
          </a:p>
        </p:txBody>
      </p:sp>
      <p:sp>
        <p:nvSpPr>
          <p:cNvPr id="219" name="Google Shape;219;p25"/>
          <p:cNvSpPr txBox="1"/>
          <p:nvPr/>
        </p:nvSpPr>
        <p:spPr>
          <a:xfrm>
            <a:off x="2268218" y="1468438"/>
            <a:ext cx="697627" cy="40011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12%</a:t>
            </a:r>
            <a:endParaRPr/>
          </a:p>
        </p:txBody>
      </p:sp>
      <p:sp>
        <p:nvSpPr>
          <p:cNvPr id="220" name="Google Shape;220;p25"/>
          <p:cNvSpPr txBox="1">
            <a:spLocks noGrp="1"/>
          </p:cNvSpPr>
          <p:nvPr>
            <p:ph type="sldNum" sz="quarter" idx="12"/>
          </p:nvPr>
        </p:nvSpPr>
        <p:spPr>
          <a:prstGeom prst="rect">
            <a:avLst/>
          </a:prstGeom>
          <a:solidFill>
            <a:schemeClr val="lt1"/>
          </a:solid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13</a:t>
            </a:fld>
            <a:endParaRPr sz="1200" b="0" i="0" u="none" strike="noStrike" cap="none">
              <a:solidFill>
                <a:schemeClr val="dk1"/>
              </a:solidFill>
              <a:latin typeface="Arial"/>
              <a:ea typeface="Arial"/>
              <a:cs typeface="Arial"/>
              <a:sym typeface="Arial"/>
            </a:endParaRPr>
          </a:p>
        </p:txBody>
      </p:sp>
      <p:sp>
        <p:nvSpPr>
          <p:cNvPr id="221" name="Google Shape;221;p25"/>
          <p:cNvSpPr txBox="1"/>
          <p:nvPr/>
        </p:nvSpPr>
        <p:spPr>
          <a:xfrm>
            <a:off x="536018" y="3600450"/>
            <a:ext cx="7484862" cy="286232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	0 	= 	</a:t>
            </a:r>
            <a:r>
              <a:rPr lang="en-US" sz="2000" b="1" i="0" u="none" strike="noStrike" cap="none" dirty="0" err="1">
                <a:solidFill>
                  <a:schemeClr val="dk1"/>
                </a:solidFill>
                <a:latin typeface="Arial"/>
                <a:ea typeface="Arial"/>
                <a:cs typeface="Arial"/>
                <a:sym typeface="Arial"/>
              </a:rPr>
              <a:t>hari</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ini</a:t>
            </a:r>
            <a:r>
              <a:rPr lang="en-US" sz="2000" b="1" i="0" u="none" strike="noStrike" cap="none" dirty="0">
                <a:solidFill>
                  <a:schemeClr val="dk1"/>
                </a:solidFill>
                <a:latin typeface="Arial"/>
                <a:ea typeface="Arial"/>
                <a:cs typeface="Arial"/>
                <a:sym typeface="Arial"/>
              </a:rPr>
              <a:t> / </a:t>
            </a:r>
            <a:r>
              <a:rPr lang="en-US" sz="2000" b="1" i="0" u="none" strike="noStrike" cap="none" dirty="0" err="1">
                <a:solidFill>
                  <a:schemeClr val="dk1"/>
                </a:solidFill>
                <a:latin typeface="Arial"/>
                <a:ea typeface="Arial"/>
                <a:cs typeface="Arial"/>
                <a:sym typeface="Arial"/>
              </a:rPr>
              <a:t>sekarang</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awal</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Tempoh</a:t>
            </a:r>
            <a:r>
              <a:rPr lang="en-US" sz="2000" b="1" i="0" u="none" strike="noStrike" cap="none" dirty="0">
                <a:solidFill>
                  <a:schemeClr val="dk1"/>
                </a:solidFill>
                <a:latin typeface="Arial"/>
                <a:ea typeface="Arial"/>
                <a:cs typeface="Arial"/>
                <a:sym typeface="Arial"/>
              </a:rPr>
              <a:t> 1</a:t>
            </a:r>
            <a:endParaRPr dirty="0"/>
          </a:p>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	1 	= 	</a:t>
            </a:r>
            <a:r>
              <a:rPr lang="en-US" sz="2000" b="1" i="0" u="none" strike="noStrike" cap="none" dirty="0" err="1">
                <a:solidFill>
                  <a:schemeClr val="dk1"/>
                </a:solidFill>
                <a:latin typeface="Arial"/>
                <a:ea typeface="Arial"/>
                <a:cs typeface="Arial"/>
                <a:sym typeface="Arial"/>
              </a:rPr>
              <a:t>akhir</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Tempoh</a:t>
            </a:r>
            <a:r>
              <a:rPr lang="en-US" sz="2000" b="1" i="0" u="none" strike="noStrike" cap="none" dirty="0">
                <a:solidFill>
                  <a:schemeClr val="dk1"/>
                </a:solidFill>
                <a:latin typeface="Arial"/>
                <a:ea typeface="Arial"/>
                <a:cs typeface="Arial"/>
                <a:sym typeface="Arial"/>
              </a:rPr>
              <a:t> 1, </a:t>
            </a:r>
            <a:r>
              <a:rPr lang="en-US" sz="2000" b="1" i="0" u="none" strike="noStrike" cap="none" dirty="0" err="1">
                <a:solidFill>
                  <a:schemeClr val="dk1"/>
                </a:solidFill>
                <a:latin typeface="Arial"/>
                <a:ea typeface="Arial"/>
                <a:cs typeface="Arial"/>
                <a:sym typeface="Arial"/>
              </a:rPr>
              <a:t>awal</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Tempoh</a:t>
            </a:r>
            <a:r>
              <a:rPr lang="en-US" sz="2000" b="1" i="0" u="none" strike="noStrike" cap="none" dirty="0">
                <a:solidFill>
                  <a:schemeClr val="dk1"/>
                </a:solidFill>
                <a:latin typeface="Arial"/>
                <a:ea typeface="Arial"/>
                <a:cs typeface="Arial"/>
                <a:sym typeface="Arial"/>
              </a:rPr>
              <a:t> 2</a:t>
            </a:r>
            <a:endParaRPr dirty="0"/>
          </a:p>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	2 	= 	</a:t>
            </a:r>
            <a:r>
              <a:rPr lang="en-US" sz="2000" b="1" i="0" u="none" strike="noStrike" cap="none" dirty="0" err="1">
                <a:solidFill>
                  <a:schemeClr val="dk1"/>
                </a:solidFill>
                <a:latin typeface="Arial"/>
                <a:ea typeface="Arial"/>
                <a:cs typeface="Arial"/>
                <a:sym typeface="Arial"/>
              </a:rPr>
              <a:t>akhir</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Tempoh</a:t>
            </a:r>
            <a:r>
              <a:rPr lang="en-US" sz="2000" b="1" i="0" u="none" strike="noStrike" cap="none" dirty="0">
                <a:solidFill>
                  <a:schemeClr val="dk1"/>
                </a:solidFill>
                <a:latin typeface="Arial"/>
                <a:ea typeface="Arial"/>
                <a:cs typeface="Arial"/>
                <a:sym typeface="Arial"/>
              </a:rPr>
              <a:t> 2, </a:t>
            </a:r>
            <a:r>
              <a:rPr lang="en-US" sz="2000" b="1" i="0" u="none" strike="noStrike" cap="none" dirty="0" err="1">
                <a:solidFill>
                  <a:schemeClr val="dk1"/>
                </a:solidFill>
                <a:latin typeface="Arial"/>
                <a:ea typeface="Arial"/>
                <a:cs typeface="Arial"/>
                <a:sym typeface="Arial"/>
              </a:rPr>
              <a:t>awal</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Tempoh</a:t>
            </a:r>
            <a:r>
              <a:rPr lang="en-US" sz="2000" b="1" i="0" u="none" strike="noStrike" cap="none" dirty="0">
                <a:solidFill>
                  <a:schemeClr val="dk1"/>
                </a:solidFill>
                <a:latin typeface="Arial"/>
                <a:ea typeface="Arial"/>
                <a:cs typeface="Arial"/>
                <a:sym typeface="Arial"/>
              </a:rPr>
              <a:t> 3</a:t>
            </a:r>
            <a:endParaRPr dirty="0"/>
          </a:p>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	3 	= 	</a:t>
            </a:r>
            <a:r>
              <a:rPr lang="en-US" sz="2000" b="1" i="0" u="none" strike="noStrike" cap="none" dirty="0" err="1">
                <a:solidFill>
                  <a:schemeClr val="dk1"/>
                </a:solidFill>
                <a:latin typeface="Arial"/>
                <a:ea typeface="Arial"/>
                <a:cs typeface="Arial"/>
                <a:sym typeface="Arial"/>
              </a:rPr>
              <a:t>akhir</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Tempoh</a:t>
            </a:r>
            <a:r>
              <a:rPr lang="en-US" sz="2000" b="1" i="0" u="none" strike="noStrike" cap="none" dirty="0">
                <a:solidFill>
                  <a:schemeClr val="dk1"/>
                </a:solidFill>
                <a:latin typeface="Arial"/>
                <a:ea typeface="Arial"/>
                <a:cs typeface="Arial"/>
                <a:sym typeface="Arial"/>
              </a:rPr>
              <a:t> 3, </a:t>
            </a:r>
            <a:r>
              <a:rPr lang="en-US" sz="2000" b="1" i="0" u="none" strike="noStrike" cap="none" dirty="0" err="1">
                <a:solidFill>
                  <a:schemeClr val="dk1"/>
                </a:solidFill>
                <a:latin typeface="Arial"/>
                <a:ea typeface="Arial"/>
                <a:cs typeface="Arial"/>
                <a:sym typeface="Arial"/>
              </a:rPr>
              <a:t>awal</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Tempoh</a:t>
            </a:r>
            <a:r>
              <a:rPr lang="en-US" sz="2000" b="1" i="0" u="none" strike="noStrike" cap="none" dirty="0">
                <a:solidFill>
                  <a:schemeClr val="dk1"/>
                </a:solidFill>
                <a:latin typeface="Arial"/>
                <a:ea typeface="Arial"/>
                <a:cs typeface="Arial"/>
                <a:sym typeface="Arial"/>
              </a:rPr>
              <a:t> 4</a:t>
            </a:r>
            <a:endParaRPr dirty="0"/>
          </a:p>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	4 	= 	</a:t>
            </a:r>
            <a:r>
              <a:rPr lang="en-US" sz="2000" b="1" i="0" u="none" strike="noStrike" cap="none" dirty="0" err="1">
                <a:solidFill>
                  <a:schemeClr val="dk1"/>
                </a:solidFill>
                <a:latin typeface="Arial"/>
                <a:ea typeface="Arial"/>
                <a:cs typeface="Arial"/>
                <a:sym typeface="Arial"/>
              </a:rPr>
              <a:t>akhir</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Tempoh</a:t>
            </a:r>
            <a:r>
              <a:rPr lang="en-US" sz="2000" b="1" i="0" u="none" strike="noStrike" cap="none" dirty="0">
                <a:solidFill>
                  <a:schemeClr val="dk1"/>
                </a:solidFill>
                <a:latin typeface="Arial"/>
                <a:ea typeface="Arial"/>
                <a:cs typeface="Arial"/>
                <a:sym typeface="Arial"/>
              </a:rPr>
              <a:t> 4, </a:t>
            </a:r>
            <a:r>
              <a:rPr lang="en-US" sz="2000" b="1" i="0" u="none" strike="noStrike" cap="none" dirty="0" err="1">
                <a:solidFill>
                  <a:schemeClr val="dk1"/>
                </a:solidFill>
                <a:latin typeface="Arial"/>
                <a:ea typeface="Arial"/>
                <a:cs typeface="Arial"/>
                <a:sym typeface="Arial"/>
              </a:rPr>
              <a:t>awal</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Tempoh</a:t>
            </a:r>
            <a:r>
              <a:rPr lang="en-US" sz="2000" b="1" i="0" u="none" strike="noStrike" cap="none" dirty="0">
                <a:solidFill>
                  <a:schemeClr val="dk1"/>
                </a:solidFill>
                <a:latin typeface="Arial"/>
                <a:ea typeface="Arial"/>
                <a:cs typeface="Arial"/>
                <a:sym typeface="Arial"/>
              </a:rPr>
              <a:t> 5</a:t>
            </a:r>
            <a:endParaRPr dirty="0"/>
          </a:p>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   12% 	= 	</a:t>
            </a:r>
            <a:r>
              <a:rPr lang="en-US" sz="2000" b="1" i="0" u="none" strike="noStrike" cap="none" dirty="0" err="1">
                <a:solidFill>
                  <a:schemeClr val="dk1"/>
                </a:solidFill>
                <a:latin typeface="Arial"/>
                <a:ea typeface="Arial"/>
                <a:cs typeface="Arial"/>
                <a:sym typeface="Arial"/>
              </a:rPr>
              <a:t>kadar</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faedah</a:t>
            </a:r>
            <a:r>
              <a:rPr lang="en-US" sz="2000" b="1" i="0" u="none" strike="noStrike" cap="none" dirty="0">
                <a:solidFill>
                  <a:schemeClr val="dk1"/>
                </a:solidFill>
                <a:latin typeface="Arial"/>
                <a:ea typeface="Arial"/>
                <a:cs typeface="Arial"/>
                <a:sym typeface="Arial"/>
              </a:rPr>
              <a:t> 12%</a:t>
            </a:r>
            <a:endParaRPr dirty="0"/>
          </a:p>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   150 	= 	</a:t>
            </a:r>
            <a:r>
              <a:rPr lang="en-US" sz="2000" b="1" i="0" u="none" strike="noStrike" cap="none" dirty="0" err="1">
                <a:solidFill>
                  <a:schemeClr val="dk1"/>
                </a:solidFill>
                <a:latin typeface="Arial"/>
                <a:ea typeface="Arial"/>
                <a:cs typeface="Arial"/>
                <a:sym typeface="Arial"/>
              </a:rPr>
              <a:t>aliran</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tunai</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masuk</a:t>
            </a:r>
            <a:r>
              <a:rPr lang="en-US" sz="2000" b="1" i="0" u="none" strike="noStrike" cap="none" dirty="0">
                <a:solidFill>
                  <a:schemeClr val="dk1"/>
                </a:solidFill>
                <a:latin typeface="Arial"/>
                <a:ea typeface="Arial"/>
                <a:cs typeface="Arial"/>
                <a:sym typeface="Arial"/>
              </a:rPr>
              <a:t> RM 150</a:t>
            </a:r>
            <a:endParaRPr dirty="0"/>
          </a:p>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     FV 	= 	</a:t>
            </a:r>
            <a:r>
              <a:rPr lang="en-US" sz="2000" b="1" i="0" u="none" strike="noStrike" cap="none" dirty="0" err="1">
                <a:solidFill>
                  <a:schemeClr val="dk1"/>
                </a:solidFill>
                <a:latin typeface="Arial"/>
                <a:ea typeface="Arial"/>
                <a:cs typeface="Arial"/>
                <a:sym typeface="Arial"/>
              </a:rPr>
              <a:t>Nilai</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depan</a:t>
            </a:r>
            <a:endParaRPr sz="2000" b="1"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	? 	= 	</a:t>
            </a:r>
            <a:r>
              <a:rPr lang="en-US" sz="2000" b="1" i="0" u="none" strike="noStrike" cap="none" dirty="0" err="1">
                <a:solidFill>
                  <a:schemeClr val="dk1"/>
                </a:solidFill>
                <a:latin typeface="Arial"/>
                <a:ea typeface="Arial"/>
                <a:cs typeface="Arial"/>
                <a:sym typeface="Arial"/>
              </a:rPr>
              <a:t>Nilai</a:t>
            </a:r>
            <a:r>
              <a:rPr lang="en-US" sz="2000" b="1" i="0" u="none" strike="noStrike" cap="none" dirty="0">
                <a:solidFill>
                  <a:schemeClr val="dk1"/>
                </a:solidFill>
                <a:latin typeface="Arial"/>
                <a:ea typeface="Arial"/>
                <a:cs typeface="Arial"/>
                <a:sym typeface="Arial"/>
              </a:rPr>
              <a:t> yang </a:t>
            </a:r>
            <a:r>
              <a:rPr lang="en-US" sz="2000" b="1" i="0" u="none" strike="noStrike" cap="none" dirty="0" err="1">
                <a:solidFill>
                  <a:schemeClr val="dk1"/>
                </a:solidFill>
                <a:latin typeface="Arial"/>
                <a:ea typeface="Arial"/>
                <a:cs typeface="Arial"/>
                <a:sym typeface="Arial"/>
              </a:rPr>
              <a:t>tidak</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diketahui</a:t>
            </a:r>
            <a:r>
              <a:rPr lang="en-US" sz="2000" b="1" i="0" u="none" strike="noStrike" cap="none" dirty="0">
                <a:solidFill>
                  <a:schemeClr val="dk1"/>
                </a:solidFill>
                <a:latin typeface="Arial"/>
                <a:ea typeface="Arial"/>
                <a:cs typeface="Arial"/>
                <a:sym typeface="Arial"/>
              </a:rPr>
              <a:t>/</a:t>
            </a:r>
            <a:r>
              <a:rPr lang="en-US" sz="2000" b="1" i="0" u="none" strike="noStrike" cap="none" dirty="0" err="1">
                <a:solidFill>
                  <a:schemeClr val="dk1"/>
                </a:solidFill>
                <a:latin typeface="Arial"/>
                <a:ea typeface="Arial"/>
                <a:cs typeface="Arial"/>
                <a:sym typeface="Arial"/>
              </a:rPr>
              <a:t>ingin</a:t>
            </a:r>
            <a:r>
              <a:rPr lang="en-US" sz="2000" b="1" i="0" u="none" strike="noStrike" cap="none" dirty="0">
                <a:solidFill>
                  <a:schemeClr val="dk1"/>
                </a:solidFill>
                <a:latin typeface="Arial"/>
                <a:ea typeface="Arial"/>
                <a:cs typeface="Arial"/>
                <a:sym typeface="Arial"/>
              </a:rPr>
              <a:t> </a:t>
            </a:r>
            <a:r>
              <a:rPr lang="en-US" sz="2000" b="1" i="0" u="none" strike="noStrike" cap="none" dirty="0" err="1">
                <a:solidFill>
                  <a:schemeClr val="dk1"/>
                </a:solidFill>
                <a:latin typeface="Arial"/>
                <a:ea typeface="Arial"/>
                <a:cs typeface="Arial"/>
                <a:sym typeface="Arial"/>
              </a:rPr>
              <a:t>dicari</a:t>
            </a:r>
            <a:endParaRPr sz="2000" b="1" i="0" u="none" strike="noStrike" cap="none" dirty="0">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 calcmode="lin" valueType="num">
                                      <p:cBhvr additive="base">
                                        <p:cTn id="7" dur="500"/>
                                        <p:tgtEl>
                                          <p:spTgt spid="202"/>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03"/>
                                        </p:tgtEl>
                                        <p:attrNameLst>
                                          <p:attrName>style.visibility</p:attrName>
                                        </p:attrNameLst>
                                      </p:cBhvr>
                                      <p:to>
                                        <p:strVal val="visible"/>
                                      </p:to>
                                    </p:set>
                                    <p:anim calcmode="lin" valueType="num">
                                      <p:cBhvr additive="base">
                                        <p:cTn id="12" dur="500"/>
                                        <p:tgtEl>
                                          <p:spTgt spid="20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04"/>
                                        </p:tgtEl>
                                        <p:attrNameLst>
                                          <p:attrName>style.visibility</p:attrName>
                                        </p:attrNameLst>
                                      </p:cBhvr>
                                      <p:to>
                                        <p:strVal val="visible"/>
                                      </p:to>
                                    </p:set>
                                    <p:anim calcmode="lin" valueType="num">
                                      <p:cBhvr additive="base">
                                        <p:cTn id="17" dur="500"/>
                                        <p:tgtEl>
                                          <p:spTgt spid="204"/>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05"/>
                                        </p:tgtEl>
                                        <p:attrNameLst>
                                          <p:attrName>style.visibility</p:attrName>
                                        </p:attrNameLst>
                                      </p:cBhvr>
                                      <p:to>
                                        <p:strVal val="visible"/>
                                      </p:to>
                                    </p:set>
                                    <p:anim calcmode="lin" valueType="num">
                                      <p:cBhvr additive="base">
                                        <p:cTn id="22" dur="500"/>
                                        <p:tgtEl>
                                          <p:spTgt spid="205"/>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06"/>
                                        </p:tgtEl>
                                        <p:attrNameLst>
                                          <p:attrName>style.visibility</p:attrName>
                                        </p:attrNameLst>
                                      </p:cBhvr>
                                      <p:to>
                                        <p:strVal val="visible"/>
                                      </p:to>
                                    </p:set>
                                    <p:anim calcmode="lin" valueType="num">
                                      <p:cBhvr additive="base">
                                        <p:cTn id="27" dur="500"/>
                                        <p:tgtEl>
                                          <p:spTgt spid="206"/>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07"/>
                                        </p:tgtEl>
                                        <p:attrNameLst>
                                          <p:attrName>style.visibility</p:attrName>
                                        </p:attrNameLst>
                                      </p:cBhvr>
                                      <p:to>
                                        <p:strVal val="visible"/>
                                      </p:to>
                                    </p:set>
                                    <p:anim calcmode="lin" valueType="num">
                                      <p:cBhvr additive="base">
                                        <p:cTn id="32" dur="500"/>
                                        <p:tgtEl>
                                          <p:spTgt spid="207"/>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08"/>
                                        </p:tgtEl>
                                        <p:attrNameLst>
                                          <p:attrName>style.visibility</p:attrName>
                                        </p:attrNameLst>
                                      </p:cBhvr>
                                      <p:to>
                                        <p:strVal val="visible"/>
                                      </p:to>
                                    </p:set>
                                    <p:anim calcmode="lin" valueType="num">
                                      <p:cBhvr additive="base">
                                        <p:cTn id="37" dur="500"/>
                                        <p:tgtEl>
                                          <p:spTgt spid="208"/>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210"/>
                                        </p:tgtEl>
                                        <p:attrNameLst>
                                          <p:attrName>style.visibility</p:attrName>
                                        </p:attrNameLst>
                                      </p:cBhvr>
                                      <p:to>
                                        <p:strVal val="visible"/>
                                      </p:to>
                                    </p:set>
                                    <p:anim calcmode="lin" valueType="num">
                                      <p:cBhvr additive="base">
                                        <p:cTn id="42" dur="500"/>
                                        <p:tgtEl>
                                          <p:spTgt spid="210"/>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211"/>
                                        </p:tgtEl>
                                        <p:attrNameLst>
                                          <p:attrName>style.visibility</p:attrName>
                                        </p:attrNameLst>
                                      </p:cBhvr>
                                      <p:to>
                                        <p:strVal val="visible"/>
                                      </p:to>
                                    </p:set>
                                    <p:anim calcmode="lin" valueType="num">
                                      <p:cBhvr additive="base">
                                        <p:cTn id="47" dur="500"/>
                                        <p:tgtEl>
                                          <p:spTgt spid="211"/>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212"/>
                                        </p:tgtEl>
                                        <p:attrNameLst>
                                          <p:attrName>style.visibility</p:attrName>
                                        </p:attrNameLst>
                                      </p:cBhvr>
                                      <p:to>
                                        <p:strVal val="visible"/>
                                      </p:to>
                                    </p:set>
                                    <p:anim calcmode="lin" valueType="num">
                                      <p:cBhvr additive="base">
                                        <p:cTn id="52" dur="500"/>
                                        <p:tgtEl>
                                          <p:spTgt spid="212"/>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213"/>
                                        </p:tgtEl>
                                        <p:attrNameLst>
                                          <p:attrName>style.visibility</p:attrName>
                                        </p:attrNameLst>
                                      </p:cBhvr>
                                      <p:to>
                                        <p:strVal val="visible"/>
                                      </p:to>
                                    </p:set>
                                    <p:anim calcmode="lin" valueType="num">
                                      <p:cBhvr additive="base">
                                        <p:cTn id="57" dur="500"/>
                                        <p:tgtEl>
                                          <p:spTgt spid="213"/>
                                        </p:tgtEl>
                                        <p:attrNameLst>
                                          <p:attrName>ppt_x</p:attrName>
                                        </p:attrNameLst>
                                      </p:cBhvr>
                                      <p:tavLst>
                                        <p:tav tm="0">
                                          <p:val>
                                            <p:strVal val="#ppt_x-1"/>
                                          </p:val>
                                        </p:tav>
                                        <p:tav tm="100000">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214"/>
                                        </p:tgtEl>
                                        <p:attrNameLst>
                                          <p:attrName>style.visibility</p:attrName>
                                        </p:attrNameLst>
                                      </p:cBhvr>
                                      <p:to>
                                        <p:strVal val="visible"/>
                                      </p:to>
                                    </p:set>
                                    <p:anim calcmode="lin" valueType="num">
                                      <p:cBhvr additive="base">
                                        <p:cTn id="62" dur="500"/>
                                        <p:tgtEl>
                                          <p:spTgt spid="214"/>
                                        </p:tgtEl>
                                        <p:attrNameLst>
                                          <p:attrName>ppt_x</p:attrName>
                                        </p:attrNameLst>
                                      </p:cBhvr>
                                      <p:tavLst>
                                        <p:tav tm="0">
                                          <p:val>
                                            <p:strVal val="#ppt_x-1"/>
                                          </p:val>
                                        </p:tav>
                                        <p:tav tm="100000">
                                          <p:val>
                                            <p:strVal val="#ppt_x"/>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209"/>
                                        </p:tgtEl>
                                        <p:attrNameLst>
                                          <p:attrName>style.visibility</p:attrName>
                                        </p:attrNameLst>
                                      </p:cBhvr>
                                      <p:to>
                                        <p:strVal val="visible"/>
                                      </p:to>
                                    </p:set>
                                    <p:anim calcmode="lin" valueType="num">
                                      <p:cBhvr additive="base">
                                        <p:cTn id="67" dur="500"/>
                                        <p:tgtEl>
                                          <p:spTgt spid="209"/>
                                        </p:tgtEl>
                                        <p:attrNameLst>
                                          <p:attrName>ppt_x</p:attrName>
                                        </p:attrNameLst>
                                      </p:cBhvr>
                                      <p:tavLst>
                                        <p:tav tm="0">
                                          <p:val>
                                            <p:strVal val="#ppt_x-1"/>
                                          </p:val>
                                        </p:tav>
                                        <p:tav tm="100000">
                                          <p:val>
                                            <p:strVal val="#ppt_x"/>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nodeType="clickEffect">
                                  <p:stCondLst>
                                    <p:cond delay="0"/>
                                  </p:stCondLst>
                                  <p:childTnLst>
                                    <p:set>
                                      <p:cBhvr>
                                        <p:cTn id="71" dur="1" fill="hold">
                                          <p:stCondLst>
                                            <p:cond delay="0"/>
                                          </p:stCondLst>
                                        </p:cTn>
                                        <p:tgtEl>
                                          <p:spTgt spid="215"/>
                                        </p:tgtEl>
                                        <p:attrNameLst>
                                          <p:attrName>style.visibility</p:attrName>
                                        </p:attrNameLst>
                                      </p:cBhvr>
                                      <p:to>
                                        <p:strVal val="visible"/>
                                      </p:to>
                                    </p:set>
                                    <p:anim calcmode="lin" valueType="num">
                                      <p:cBhvr additive="base">
                                        <p:cTn id="72" dur="500"/>
                                        <p:tgtEl>
                                          <p:spTgt spid="215"/>
                                        </p:tgtEl>
                                        <p:attrNameLst>
                                          <p:attrName>ppt_x</p:attrName>
                                        </p:attrNameLst>
                                      </p:cBhvr>
                                      <p:tavLst>
                                        <p:tav tm="0">
                                          <p:val>
                                            <p:strVal val="#ppt_x-1"/>
                                          </p:val>
                                        </p:tav>
                                        <p:tav tm="100000">
                                          <p:val>
                                            <p:strVal val="#ppt_x"/>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nodeType="clickEffect">
                                  <p:stCondLst>
                                    <p:cond delay="0"/>
                                  </p:stCondLst>
                                  <p:childTnLst>
                                    <p:set>
                                      <p:cBhvr>
                                        <p:cTn id="76" dur="1" fill="hold">
                                          <p:stCondLst>
                                            <p:cond delay="0"/>
                                          </p:stCondLst>
                                        </p:cTn>
                                        <p:tgtEl>
                                          <p:spTgt spid="216"/>
                                        </p:tgtEl>
                                        <p:attrNameLst>
                                          <p:attrName>style.visibility</p:attrName>
                                        </p:attrNameLst>
                                      </p:cBhvr>
                                      <p:to>
                                        <p:strVal val="visible"/>
                                      </p:to>
                                    </p:set>
                                    <p:anim calcmode="lin" valueType="num">
                                      <p:cBhvr additive="base">
                                        <p:cTn id="77" dur="500"/>
                                        <p:tgtEl>
                                          <p:spTgt spid="216"/>
                                        </p:tgtEl>
                                        <p:attrNameLst>
                                          <p:attrName>ppt_x</p:attrName>
                                        </p:attrNameLst>
                                      </p:cBhvr>
                                      <p:tavLst>
                                        <p:tav tm="0">
                                          <p:val>
                                            <p:strVal val="#ppt_x-1"/>
                                          </p:val>
                                        </p:tav>
                                        <p:tav tm="100000">
                                          <p:val>
                                            <p:strVal val="#ppt_x"/>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nodeType="clickEffect">
                                  <p:stCondLst>
                                    <p:cond delay="0"/>
                                  </p:stCondLst>
                                  <p:childTnLst>
                                    <p:set>
                                      <p:cBhvr>
                                        <p:cTn id="81" dur="1" fill="hold">
                                          <p:stCondLst>
                                            <p:cond delay="0"/>
                                          </p:stCondLst>
                                        </p:cTn>
                                        <p:tgtEl>
                                          <p:spTgt spid="217"/>
                                        </p:tgtEl>
                                        <p:attrNameLst>
                                          <p:attrName>style.visibility</p:attrName>
                                        </p:attrNameLst>
                                      </p:cBhvr>
                                      <p:to>
                                        <p:strVal val="visible"/>
                                      </p:to>
                                    </p:set>
                                    <p:anim calcmode="lin" valueType="num">
                                      <p:cBhvr additive="base">
                                        <p:cTn id="82" dur="500"/>
                                        <p:tgtEl>
                                          <p:spTgt spid="217"/>
                                        </p:tgtEl>
                                        <p:attrNameLst>
                                          <p:attrName>ppt_x</p:attrName>
                                        </p:attrNameLst>
                                      </p:cBhvr>
                                      <p:tavLst>
                                        <p:tav tm="0">
                                          <p:val>
                                            <p:strVal val="#ppt_x-1"/>
                                          </p:val>
                                        </p:tav>
                                        <p:tav tm="100000">
                                          <p:val>
                                            <p:strVal val="#ppt_x"/>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nodeType="clickEffect">
                                  <p:stCondLst>
                                    <p:cond delay="0"/>
                                  </p:stCondLst>
                                  <p:childTnLst>
                                    <p:set>
                                      <p:cBhvr>
                                        <p:cTn id="86" dur="1" fill="hold">
                                          <p:stCondLst>
                                            <p:cond delay="0"/>
                                          </p:stCondLst>
                                        </p:cTn>
                                        <p:tgtEl>
                                          <p:spTgt spid="218"/>
                                        </p:tgtEl>
                                        <p:attrNameLst>
                                          <p:attrName>style.visibility</p:attrName>
                                        </p:attrNameLst>
                                      </p:cBhvr>
                                      <p:to>
                                        <p:strVal val="visible"/>
                                      </p:to>
                                    </p:set>
                                    <p:anim calcmode="lin" valueType="num">
                                      <p:cBhvr additive="base">
                                        <p:cTn id="87" dur="500"/>
                                        <p:tgtEl>
                                          <p:spTgt spid="218"/>
                                        </p:tgtEl>
                                        <p:attrNameLst>
                                          <p:attrName>ppt_x</p:attrName>
                                        </p:attrNameLst>
                                      </p:cBhvr>
                                      <p:tavLst>
                                        <p:tav tm="0">
                                          <p:val>
                                            <p:strVal val="#ppt_x-1"/>
                                          </p:val>
                                        </p:tav>
                                        <p:tav tm="100000">
                                          <p:val>
                                            <p:strVal val="#ppt_x"/>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8" fill="hold" nodeType="clickEffect">
                                  <p:stCondLst>
                                    <p:cond delay="0"/>
                                  </p:stCondLst>
                                  <p:childTnLst>
                                    <p:set>
                                      <p:cBhvr>
                                        <p:cTn id="91" dur="1" fill="hold">
                                          <p:stCondLst>
                                            <p:cond delay="0"/>
                                          </p:stCondLst>
                                        </p:cTn>
                                        <p:tgtEl>
                                          <p:spTgt spid="219"/>
                                        </p:tgtEl>
                                        <p:attrNameLst>
                                          <p:attrName>style.visibility</p:attrName>
                                        </p:attrNameLst>
                                      </p:cBhvr>
                                      <p:to>
                                        <p:strVal val="visible"/>
                                      </p:to>
                                    </p:set>
                                    <p:anim calcmode="lin" valueType="num">
                                      <p:cBhvr additive="base">
                                        <p:cTn id="92" dur="500"/>
                                        <p:tgtEl>
                                          <p:spTgt spid="21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6"/>
          <p:cNvSpPr/>
          <p:nvPr/>
        </p:nvSpPr>
        <p:spPr>
          <a:xfrm>
            <a:off x="394994" y="1200097"/>
            <a:ext cx="8382000" cy="1685609"/>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Amsyar menyimpan sebanyak RM250 hari ini ke dalam akaun yang memberikan  kadar keuntungan sebanyak 12% setahun. Berapakah amaun yang terkumpul di dalam akaun Amsyar pada akhir tahun ke empat?</a:t>
            </a:r>
            <a:endParaRPr/>
          </a:p>
        </p:txBody>
      </p:sp>
      <p:sp>
        <p:nvSpPr>
          <p:cNvPr id="227" name="Google Shape;227;p26"/>
          <p:cNvSpPr txBox="1"/>
          <p:nvPr/>
        </p:nvSpPr>
        <p:spPr>
          <a:xfrm>
            <a:off x="358254" y="448277"/>
            <a:ext cx="8382000" cy="49244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i="0" u="none" strike="noStrike" cap="none">
                <a:solidFill>
                  <a:schemeClr val="dk1"/>
                </a:solidFill>
                <a:latin typeface="Arial"/>
                <a:ea typeface="Arial"/>
                <a:cs typeface="Arial"/>
                <a:sym typeface="Arial"/>
              </a:rPr>
              <a:t>7.2 (a) Bagaimanakah cara melakar garis masa ?</a:t>
            </a:r>
            <a:endParaRPr/>
          </a:p>
        </p:txBody>
      </p:sp>
      <p:cxnSp>
        <p:nvCxnSpPr>
          <p:cNvPr id="228" name="Google Shape;228;p26"/>
          <p:cNvCxnSpPr/>
          <p:nvPr/>
        </p:nvCxnSpPr>
        <p:spPr>
          <a:xfrm>
            <a:off x="1371600" y="3962400"/>
            <a:ext cx="7010400" cy="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29" name="Google Shape;229;p26"/>
          <p:cNvCxnSpPr/>
          <p:nvPr/>
        </p:nvCxnSpPr>
        <p:spPr>
          <a:xfrm>
            <a:off x="1447800" y="365760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30" name="Google Shape;230;p26"/>
          <p:cNvCxnSpPr/>
          <p:nvPr/>
        </p:nvCxnSpPr>
        <p:spPr>
          <a:xfrm>
            <a:off x="3124200" y="365760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31" name="Google Shape;231;p26"/>
          <p:cNvCxnSpPr/>
          <p:nvPr/>
        </p:nvCxnSpPr>
        <p:spPr>
          <a:xfrm>
            <a:off x="4800600" y="365760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32" name="Google Shape;232;p26"/>
          <p:cNvCxnSpPr/>
          <p:nvPr/>
        </p:nvCxnSpPr>
        <p:spPr>
          <a:xfrm>
            <a:off x="6477000" y="365760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33" name="Google Shape;233;p26"/>
          <p:cNvCxnSpPr/>
          <p:nvPr/>
        </p:nvCxnSpPr>
        <p:spPr>
          <a:xfrm>
            <a:off x="8153400" y="3657600"/>
            <a:ext cx="0" cy="685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sp>
        <p:nvSpPr>
          <p:cNvPr id="234" name="Google Shape;234;p26"/>
          <p:cNvSpPr txBox="1"/>
          <p:nvPr/>
        </p:nvSpPr>
        <p:spPr>
          <a:xfrm>
            <a:off x="395828" y="3233738"/>
            <a:ext cx="840294" cy="40011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masa</a:t>
            </a:r>
            <a:endParaRPr/>
          </a:p>
        </p:txBody>
      </p:sp>
      <p:sp>
        <p:nvSpPr>
          <p:cNvPr id="235" name="Google Shape;235;p26"/>
          <p:cNvSpPr txBox="1"/>
          <p:nvPr/>
        </p:nvSpPr>
        <p:spPr>
          <a:xfrm>
            <a:off x="239912" y="4452938"/>
            <a:ext cx="910827" cy="707886"/>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Aliran</a:t>
            </a:r>
            <a:endParaRPr/>
          </a:p>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tunai</a:t>
            </a:r>
            <a:endParaRPr/>
          </a:p>
        </p:txBody>
      </p:sp>
      <p:sp>
        <p:nvSpPr>
          <p:cNvPr id="236" name="Google Shape;236;p26"/>
          <p:cNvSpPr txBox="1"/>
          <p:nvPr/>
        </p:nvSpPr>
        <p:spPr>
          <a:xfrm>
            <a:off x="1271294" y="3081338"/>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0</a:t>
            </a:r>
            <a:endParaRPr/>
          </a:p>
        </p:txBody>
      </p:sp>
      <p:sp>
        <p:nvSpPr>
          <p:cNvPr id="237" name="Google Shape;237;p26"/>
          <p:cNvSpPr txBox="1"/>
          <p:nvPr/>
        </p:nvSpPr>
        <p:spPr>
          <a:xfrm>
            <a:off x="2985794" y="3124200"/>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1</a:t>
            </a:r>
            <a:endParaRPr/>
          </a:p>
        </p:txBody>
      </p:sp>
      <p:sp>
        <p:nvSpPr>
          <p:cNvPr id="238" name="Google Shape;238;p26"/>
          <p:cNvSpPr txBox="1"/>
          <p:nvPr/>
        </p:nvSpPr>
        <p:spPr>
          <a:xfrm>
            <a:off x="4585994" y="3124200"/>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2</a:t>
            </a:r>
            <a:endParaRPr/>
          </a:p>
        </p:txBody>
      </p:sp>
      <p:sp>
        <p:nvSpPr>
          <p:cNvPr id="239" name="Google Shape;239;p26"/>
          <p:cNvSpPr txBox="1"/>
          <p:nvPr/>
        </p:nvSpPr>
        <p:spPr>
          <a:xfrm>
            <a:off x="6262394" y="3124200"/>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3</a:t>
            </a:r>
            <a:endParaRPr/>
          </a:p>
        </p:txBody>
      </p:sp>
      <p:sp>
        <p:nvSpPr>
          <p:cNvPr id="240" name="Google Shape;240;p26"/>
          <p:cNvSpPr txBox="1"/>
          <p:nvPr/>
        </p:nvSpPr>
        <p:spPr>
          <a:xfrm>
            <a:off x="8011819" y="3124200"/>
            <a:ext cx="35618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4</a:t>
            </a:r>
            <a:endParaRPr/>
          </a:p>
        </p:txBody>
      </p:sp>
      <p:sp>
        <p:nvSpPr>
          <p:cNvPr id="241" name="Google Shape;241;p26"/>
          <p:cNvSpPr txBox="1"/>
          <p:nvPr/>
        </p:nvSpPr>
        <p:spPr>
          <a:xfrm>
            <a:off x="1295453" y="4724400"/>
            <a:ext cx="612667" cy="40011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250</a:t>
            </a:r>
            <a:endParaRPr/>
          </a:p>
        </p:txBody>
      </p:sp>
      <p:cxnSp>
        <p:nvCxnSpPr>
          <p:cNvPr id="242" name="Google Shape;242;p26"/>
          <p:cNvCxnSpPr/>
          <p:nvPr/>
        </p:nvCxnSpPr>
        <p:spPr>
          <a:xfrm>
            <a:off x="1371600" y="5334000"/>
            <a:ext cx="0" cy="4572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243" name="Google Shape;243;p26"/>
          <p:cNvCxnSpPr/>
          <p:nvPr/>
        </p:nvCxnSpPr>
        <p:spPr>
          <a:xfrm>
            <a:off x="1371600" y="5791200"/>
            <a:ext cx="6705600" cy="0"/>
          </a:xfrm>
          <a:prstGeom prst="straightConnector1">
            <a:avLst/>
          </a:prstGeom>
          <a:solidFill>
            <a:schemeClr val="lt1"/>
          </a:solidFill>
          <a:ln w="12700" cap="flat" cmpd="sng">
            <a:solidFill>
              <a:schemeClr val="dk1"/>
            </a:solidFill>
            <a:prstDash val="solid"/>
            <a:miter lim="800000"/>
            <a:headEnd type="none" w="med" len="med"/>
            <a:tailEnd type="triangle" w="med" len="med"/>
          </a:ln>
        </p:spPr>
      </p:cxnSp>
      <p:sp>
        <p:nvSpPr>
          <p:cNvPr id="244" name="Google Shape;244;p26"/>
          <p:cNvSpPr txBox="1"/>
          <p:nvPr/>
        </p:nvSpPr>
        <p:spPr>
          <a:xfrm>
            <a:off x="8086572" y="5562600"/>
            <a:ext cx="819455" cy="40011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FV=?</a:t>
            </a:r>
            <a:endParaRPr/>
          </a:p>
        </p:txBody>
      </p:sp>
      <p:sp>
        <p:nvSpPr>
          <p:cNvPr id="245" name="Google Shape;245;p26"/>
          <p:cNvSpPr txBox="1"/>
          <p:nvPr/>
        </p:nvSpPr>
        <p:spPr>
          <a:xfrm>
            <a:off x="2002274" y="3505200"/>
            <a:ext cx="697627" cy="40011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Arial"/>
                <a:ea typeface="Arial"/>
                <a:cs typeface="Arial"/>
                <a:sym typeface="Arial"/>
              </a:rPr>
              <a:t>12%</a:t>
            </a:r>
            <a:endParaRPr/>
          </a:p>
        </p:txBody>
      </p:sp>
      <p:sp>
        <p:nvSpPr>
          <p:cNvPr id="246" name="Google Shape;246;p2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14</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500"/>
                                        <p:tgtEl>
                                          <p:spTgt spid="22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29"/>
                                        </p:tgtEl>
                                        <p:attrNameLst>
                                          <p:attrName>style.visibility</p:attrName>
                                        </p:attrNameLst>
                                      </p:cBhvr>
                                      <p:to>
                                        <p:strVal val="visible"/>
                                      </p:to>
                                    </p:set>
                                    <p:anim calcmode="lin" valueType="num">
                                      <p:cBhvr additive="base">
                                        <p:cTn id="12" dur="500"/>
                                        <p:tgtEl>
                                          <p:spTgt spid="229"/>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30"/>
                                        </p:tgtEl>
                                        <p:attrNameLst>
                                          <p:attrName>style.visibility</p:attrName>
                                        </p:attrNameLst>
                                      </p:cBhvr>
                                      <p:to>
                                        <p:strVal val="visible"/>
                                      </p:to>
                                    </p:set>
                                    <p:anim calcmode="lin" valueType="num">
                                      <p:cBhvr additive="base">
                                        <p:cTn id="17" dur="500"/>
                                        <p:tgtEl>
                                          <p:spTgt spid="230"/>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31"/>
                                        </p:tgtEl>
                                        <p:attrNameLst>
                                          <p:attrName>style.visibility</p:attrName>
                                        </p:attrNameLst>
                                      </p:cBhvr>
                                      <p:to>
                                        <p:strVal val="visible"/>
                                      </p:to>
                                    </p:set>
                                    <p:anim calcmode="lin" valueType="num">
                                      <p:cBhvr additive="base">
                                        <p:cTn id="22" dur="500"/>
                                        <p:tgtEl>
                                          <p:spTgt spid="231"/>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32"/>
                                        </p:tgtEl>
                                        <p:attrNameLst>
                                          <p:attrName>style.visibility</p:attrName>
                                        </p:attrNameLst>
                                      </p:cBhvr>
                                      <p:to>
                                        <p:strVal val="visible"/>
                                      </p:to>
                                    </p:set>
                                    <p:anim calcmode="lin" valueType="num">
                                      <p:cBhvr additive="base">
                                        <p:cTn id="27" dur="500"/>
                                        <p:tgtEl>
                                          <p:spTgt spid="232"/>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33"/>
                                        </p:tgtEl>
                                        <p:attrNameLst>
                                          <p:attrName>style.visibility</p:attrName>
                                        </p:attrNameLst>
                                      </p:cBhvr>
                                      <p:to>
                                        <p:strVal val="visible"/>
                                      </p:to>
                                    </p:set>
                                    <p:anim calcmode="lin" valueType="num">
                                      <p:cBhvr additive="base">
                                        <p:cTn id="32" dur="500"/>
                                        <p:tgtEl>
                                          <p:spTgt spid="233"/>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34"/>
                                        </p:tgtEl>
                                        <p:attrNameLst>
                                          <p:attrName>style.visibility</p:attrName>
                                        </p:attrNameLst>
                                      </p:cBhvr>
                                      <p:to>
                                        <p:strVal val="visible"/>
                                      </p:to>
                                    </p:set>
                                    <p:anim calcmode="lin" valueType="num">
                                      <p:cBhvr additive="base">
                                        <p:cTn id="37" dur="500"/>
                                        <p:tgtEl>
                                          <p:spTgt spid="234"/>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236"/>
                                        </p:tgtEl>
                                        <p:attrNameLst>
                                          <p:attrName>style.visibility</p:attrName>
                                        </p:attrNameLst>
                                      </p:cBhvr>
                                      <p:to>
                                        <p:strVal val="visible"/>
                                      </p:to>
                                    </p:set>
                                    <p:anim calcmode="lin" valueType="num">
                                      <p:cBhvr additive="base">
                                        <p:cTn id="42" dur="500"/>
                                        <p:tgtEl>
                                          <p:spTgt spid="236"/>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237"/>
                                        </p:tgtEl>
                                        <p:attrNameLst>
                                          <p:attrName>style.visibility</p:attrName>
                                        </p:attrNameLst>
                                      </p:cBhvr>
                                      <p:to>
                                        <p:strVal val="visible"/>
                                      </p:to>
                                    </p:set>
                                    <p:anim calcmode="lin" valueType="num">
                                      <p:cBhvr additive="base">
                                        <p:cTn id="47" dur="500"/>
                                        <p:tgtEl>
                                          <p:spTgt spid="237"/>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238"/>
                                        </p:tgtEl>
                                        <p:attrNameLst>
                                          <p:attrName>style.visibility</p:attrName>
                                        </p:attrNameLst>
                                      </p:cBhvr>
                                      <p:to>
                                        <p:strVal val="visible"/>
                                      </p:to>
                                    </p:set>
                                    <p:anim calcmode="lin" valueType="num">
                                      <p:cBhvr additive="base">
                                        <p:cTn id="52" dur="500"/>
                                        <p:tgtEl>
                                          <p:spTgt spid="238"/>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239"/>
                                        </p:tgtEl>
                                        <p:attrNameLst>
                                          <p:attrName>style.visibility</p:attrName>
                                        </p:attrNameLst>
                                      </p:cBhvr>
                                      <p:to>
                                        <p:strVal val="visible"/>
                                      </p:to>
                                    </p:set>
                                    <p:anim calcmode="lin" valueType="num">
                                      <p:cBhvr additive="base">
                                        <p:cTn id="57" dur="500"/>
                                        <p:tgtEl>
                                          <p:spTgt spid="239"/>
                                        </p:tgtEl>
                                        <p:attrNameLst>
                                          <p:attrName>ppt_x</p:attrName>
                                        </p:attrNameLst>
                                      </p:cBhvr>
                                      <p:tavLst>
                                        <p:tav tm="0">
                                          <p:val>
                                            <p:strVal val="#ppt_x-1"/>
                                          </p:val>
                                        </p:tav>
                                        <p:tav tm="100000">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240"/>
                                        </p:tgtEl>
                                        <p:attrNameLst>
                                          <p:attrName>style.visibility</p:attrName>
                                        </p:attrNameLst>
                                      </p:cBhvr>
                                      <p:to>
                                        <p:strVal val="visible"/>
                                      </p:to>
                                    </p:set>
                                    <p:anim calcmode="lin" valueType="num">
                                      <p:cBhvr additive="base">
                                        <p:cTn id="62" dur="500"/>
                                        <p:tgtEl>
                                          <p:spTgt spid="240"/>
                                        </p:tgtEl>
                                        <p:attrNameLst>
                                          <p:attrName>ppt_x</p:attrName>
                                        </p:attrNameLst>
                                      </p:cBhvr>
                                      <p:tavLst>
                                        <p:tav tm="0">
                                          <p:val>
                                            <p:strVal val="#ppt_x-1"/>
                                          </p:val>
                                        </p:tav>
                                        <p:tav tm="100000">
                                          <p:val>
                                            <p:strVal val="#ppt_x"/>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235"/>
                                        </p:tgtEl>
                                        <p:attrNameLst>
                                          <p:attrName>style.visibility</p:attrName>
                                        </p:attrNameLst>
                                      </p:cBhvr>
                                      <p:to>
                                        <p:strVal val="visible"/>
                                      </p:to>
                                    </p:set>
                                    <p:anim calcmode="lin" valueType="num">
                                      <p:cBhvr additive="base">
                                        <p:cTn id="67" dur="500"/>
                                        <p:tgtEl>
                                          <p:spTgt spid="235"/>
                                        </p:tgtEl>
                                        <p:attrNameLst>
                                          <p:attrName>ppt_x</p:attrName>
                                        </p:attrNameLst>
                                      </p:cBhvr>
                                      <p:tavLst>
                                        <p:tav tm="0">
                                          <p:val>
                                            <p:strVal val="#ppt_x-1"/>
                                          </p:val>
                                        </p:tav>
                                        <p:tav tm="100000">
                                          <p:val>
                                            <p:strVal val="#ppt_x"/>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nodeType="clickEffect">
                                  <p:stCondLst>
                                    <p:cond delay="0"/>
                                  </p:stCondLst>
                                  <p:childTnLst>
                                    <p:set>
                                      <p:cBhvr>
                                        <p:cTn id="71" dur="1" fill="hold">
                                          <p:stCondLst>
                                            <p:cond delay="0"/>
                                          </p:stCondLst>
                                        </p:cTn>
                                        <p:tgtEl>
                                          <p:spTgt spid="241"/>
                                        </p:tgtEl>
                                        <p:attrNameLst>
                                          <p:attrName>style.visibility</p:attrName>
                                        </p:attrNameLst>
                                      </p:cBhvr>
                                      <p:to>
                                        <p:strVal val="visible"/>
                                      </p:to>
                                    </p:set>
                                    <p:anim calcmode="lin" valueType="num">
                                      <p:cBhvr additive="base">
                                        <p:cTn id="72" dur="500"/>
                                        <p:tgtEl>
                                          <p:spTgt spid="241"/>
                                        </p:tgtEl>
                                        <p:attrNameLst>
                                          <p:attrName>ppt_x</p:attrName>
                                        </p:attrNameLst>
                                      </p:cBhvr>
                                      <p:tavLst>
                                        <p:tav tm="0">
                                          <p:val>
                                            <p:strVal val="#ppt_x-1"/>
                                          </p:val>
                                        </p:tav>
                                        <p:tav tm="100000">
                                          <p:val>
                                            <p:strVal val="#ppt_x"/>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nodeType="clickEffect">
                                  <p:stCondLst>
                                    <p:cond delay="0"/>
                                  </p:stCondLst>
                                  <p:childTnLst>
                                    <p:set>
                                      <p:cBhvr>
                                        <p:cTn id="76" dur="1" fill="hold">
                                          <p:stCondLst>
                                            <p:cond delay="0"/>
                                          </p:stCondLst>
                                        </p:cTn>
                                        <p:tgtEl>
                                          <p:spTgt spid="242"/>
                                        </p:tgtEl>
                                        <p:attrNameLst>
                                          <p:attrName>style.visibility</p:attrName>
                                        </p:attrNameLst>
                                      </p:cBhvr>
                                      <p:to>
                                        <p:strVal val="visible"/>
                                      </p:to>
                                    </p:set>
                                    <p:anim calcmode="lin" valueType="num">
                                      <p:cBhvr additive="base">
                                        <p:cTn id="77" dur="500"/>
                                        <p:tgtEl>
                                          <p:spTgt spid="242"/>
                                        </p:tgtEl>
                                        <p:attrNameLst>
                                          <p:attrName>ppt_x</p:attrName>
                                        </p:attrNameLst>
                                      </p:cBhvr>
                                      <p:tavLst>
                                        <p:tav tm="0">
                                          <p:val>
                                            <p:strVal val="#ppt_x-1"/>
                                          </p:val>
                                        </p:tav>
                                        <p:tav tm="100000">
                                          <p:val>
                                            <p:strVal val="#ppt_x"/>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nodeType="clickEffect">
                                  <p:stCondLst>
                                    <p:cond delay="0"/>
                                  </p:stCondLst>
                                  <p:childTnLst>
                                    <p:set>
                                      <p:cBhvr>
                                        <p:cTn id="81" dur="1" fill="hold">
                                          <p:stCondLst>
                                            <p:cond delay="0"/>
                                          </p:stCondLst>
                                        </p:cTn>
                                        <p:tgtEl>
                                          <p:spTgt spid="243"/>
                                        </p:tgtEl>
                                        <p:attrNameLst>
                                          <p:attrName>style.visibility</p:attrName>
                                        </p:attrNameLst>
                                      </p:cBhvr>
                                      <p:to>
                                        <p:strVal val="visible"/>
                                      </p:to>
                                    </p:set>
                                    <p:anim calcmode="lin" valueType="num">
                                      <p:cBhvr additive="base">
                                        <p:cTn id="82" dur="500"/>
                                        <p:tgtEl>
                                          <p:spTgt spid="243"/>
                                        </p:tgtEl>
                                        <p:attrNameLst>
                                          <p:attrName>ppt_x</p:attrName>
                                        </p:attrNameLst>
                                      </p:cBhvr>
                                      <p:tavLst>
                                        <p:tav tm="0">
                                          <p:val>
                                            <p:strVal val="#ppt_x-1"/>
                                          </p:val>
                                        </p:tav>
                                        <p:tav tm="100000">
                                          <p:val>
                                            <p:strVal val="#ppt_x"/>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nodeType="clickEffect">
                                  <p:stCondLst>
                                    <p:cond delay="0"/>
                                  </p:stCondLst>
                                  <p:childTnLst>
                                    <p:set>
                                      <p:cBhvr>
                                        <p:cTn id="86" dur="1" fill="hold">
                                          <p:stCondLst>
                                            <p:cond delay="0"/>
                                          </p:stCondLst>
                                        </p:cTn>
                                        <p:tgtEl>
                                          <p:spTgt spid="244"/>
                                        </p:tgtEl>
                                        <p:attrNameLst>
                                          <p:attrName>style.visibility</p:attrName>
                                        </p:attrNameLst>
                                      </p:cBhvr>
                                      <p:to>
                                        <p:strVal val="visible"/>
                                      </p:to>
                                    </p:set>
                                    <p:anim calcmode="lin" valueType="num">
                                      <p:cBhvr additive="base">
                                        <p:cTn id="87" dur="500"/>
                                        <p:tgtEl>
                                          <p:spTgt spid="244"/>
                                        </p:tgtEl>
                                        <p:attrNameLst>
                                          <p:attrName>ppt_x</p:attrName>
                                        </p:attrNameLst>
                                      </p:cBhvr>
                                      <p:tavLst>
                                        <p:tav tm="0">
                                          <p:val>
                                            <p:strVal val="#ppt_x-1"/>
                                          </p:val>
                                        </p:tav>
                                        <p:tav tm="100000">
                                          <p:val>
                                            <p:strVal val="#ppt_x"/>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8" fill="hold" nodeType="clickEffect">
                                  <p:stCondLst>
                                    <p:cond delay="0"/>
                                  </p:stCondLst>
                                  <p:childTnLst>
                                    <p:set>
                                      <p:cBhvr>
                                        <p:cTn id="91" dur="1" fill="hold">
                                          <p:stCondLst>
                                            <p:cond delay="0"/>
                                          </p:stCondLst>
                                        </p:cTn>
                                        <p:tgtEl>
                                          <p:spTgt spid="245"/>
                                        </p:tgtEl>
                                        <p:attrNameLst>
                                          <p:attrName>style.visibility</p:attrName>
                                        </p:attrNameLst>
                                      </p:cBhvr>
                                      <p:to>
                                        <p:strVal val="visible"/>
                                      </p:to>
                                    </p:set>
                                    <p:anim calcmode="lin" valueType="num">
                                      <p:cBhvr additive="base">
                                        <p:cTn id="92" dur="500"/>
                                        <p:tgtEl>
                                          <p:spTgt spid="24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7"/>
          <p:cNvSpPr txBox="1"/>
          <p:nvPr/>
        </p:nvSpPr>
        <p:spPr>
          <a:xfrm>
            <a:off x="228600" y="609600"/>
            <a:ext cx="8686800" cy="563231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None/>
            </a:pPr>
            <a:r>
              <a:rPr lang="en-US" sz="2400" b="1" i="0" u="none" strike="noStrike" cap="none">
                <a:solidFill>
                  <a:schemeClr val="dk1"/>
                </a:solidFill>
                <a:latin typeface="Arial"/>
                <a:ea typeface="Arial"/>
                <a:cs typeface="Arial"/>
                <a:sym typeface="Arial"/>
              </a:rPr>
              <a:t>Contoh 1</a:t>
            </a:r>
            <a:endParaRPr/>
          </a:p>
          <a:p>
            <a:pPr marL="457200" marR="0" lvl="0" indent="-457200" algn="l" rtl="0">
              <a:spcBef>
                <a:spcPts val="0"/>
              </a:spcBef>
              <a:spcAft>
                <a:spcPts val="0"/>
              </a:spcAft>
              <a:buNone/>
            </a:pPr>
            <a:endParaRPr sz="2400" b="1" i="0" u="none" strike="noStrike" cap="none">
              <a:solidFill>
                <a:schemeClr val="dk1"/>
              </a:solidFill>
              <a:latin typeface="Arial"/>
              <a:ea typeface="Arial"/>
              <a:cs typeface="Arial"/>
              <a:sym typeface="Arial"/>
            </a:endParaRPr>
          </a:p>
          <a:p>
            <a:pPr marL="457200" marR="0" lvl="0" indent="-457200" algn="l" rtl="0">
              <a:spcBef>
                <a:spcPts val="0"/>
              </a:spcBef>
              <a:spcAft>
                <a:spcPts val="0"/>
              </a:spcAft>
              <a:buNone/>
            </a:pPr>
            <a:r>
              <a:rPr lang="en-US" sz="2400" b="1" i="0" u="none" strike="noStrike" cap="none">
                <a:solidFill>
                  <a:schemeClr val="dk1"/>
                </a:solidFill>
                <a:latin typeface="Arial"/>
                <a:ea typeface="Arial"/>
                <a:cs typeface="Arial"/>
                <a:sym typeface="Arial"/>
              </a:rPr>
              <a:t>LUKIS GARIS MASA BAGI SITUASI DI BAWAH INI </a:t>
            </a:r>
            <a:endParaRPr/>
          </a:p>
          <a:p>
            <a:pPr marL="457200" marR="0" lvl="0" indent="-457200" algn="l" rtl="0">
              <a:spcBef>
                <a:spcPts val="0"/>
              </a:spcBef>
              <a:spcAft>
                <a:spcPts val="0"/>
              </a:spcAft>
              <a:buNone/>
            </a:pPr>
            <a:endParaRPr sz="2400" b="0" i="0" u="none" strike="noStrike" cap="none">
              <a:solidFill>
                <a:schemeClr val="dk1"/>
              </a:solidFill>
              <a:latin typeface="Arial"/>
              <a:ea typeface="Arial"/>
              <a:cs typeface="Arial"/>
              <a:sym typeface="Arial"/>
            </a:endParaRPr>
          </a:p>
          <a:p>
            <a:pPr marL="457200" marR="0" lvl="0" indent="-457200" algn="l" rtl="0">
              <a:spcBef>
                <a:spcPts val="0"/>
              </a:spcBef>
              <a:spcAft>
                <a:spcPts val="0"/>
              </a:spcAft>
              <a:buClr>
                <a:schemeClr val="dk1"/>
              </a:buClr>
              <a:buSzPts val="2400"/>
              <a:buFont typeface="Arial"/>
              <a:buAutoNum type="arabicPeriod"/>
            </a:pPr>
            <a:r>
              <a:rPr lang="en-US" sz="2400" b="0" i="0" u="none" strike="noStrike" cap="none">
                <a:solidFill>
                  <a:schemeClr val="dk1"/>
                </a:solidFill>
                <a:latin typeface="Arial"/>
                <a:ea typeface="Arial"/>
                <a:cs typeface="Arial"/>
                <a:sym typeface="Arial"/>
              </a:rPr>
              <a:t>Jika Azhar melabur hari  ini sebanyak RM1200 dengan kadar keuntungan  10% setahun, berapakah jumlah wang yang terkumpul 4 tahun lagi?</a:t>
            </a:r>
            <a:endParaRPr/>
          </a:p>
          <a:p>
            <a:pPr marL="457200" marR="0" lvl="0" indent="-304800" algn="l" rtl="0">
              <a:spcBef>
                <a:spcPts val="0"/>
              </a:spcBef>
              <a:spcAft>
                <a:spcPts val="0"/>
              </a:spcAft>
              <a:buClr>
                <a:schemeClr val="dk1"/>
              </a:buClr>
              <a:buSzPts val="2400"/>
              <a:buFont typeface="Times New Roman"/>
              <a:buNone/>
            </a:pPr>
            <a:endParaRPr sz="2400" b="0" i="0" u="none" strike="noStrike" cap="none">
              <a:solidFill>
                <a:schemeClr val="dk1"/>
              </a:solidFill>
              <a:latin typeface="Arial"/>
              <a:ea typeface="Arial"/>
              <a:cs typeface="Arial"/>
              <a:sym typeface="Arial"/>
            </a:endParaRPr>
          </a:p>
          <a:p>
            <a:pPr marL="457200" marR="0" lvl="0" indent="-457200" algn="l" rtl="0">
              <a:spcBef>
                <a:spcPts val="0"/>
              </a:spcBef>
              <a:spcAft>
                <a:spcPts val="0"/>
              </a:spcAft>
              <a:buClr>
                <a:schemeClr val="dk1"/>
              </a:buClr>
              <a:buSzPts val="2400"/>
              <a:buFont typeface="Arial"/>
              <a:buAutoNum type="arabicPeriod"/>
            </a:pPr>
            <a:r>
              <a:rPr lang="en-US" sz="2400" b="0" i="0" u="none" strike="noStrike" cap="none">
                <a:solidFill>
                  <a:schemeClr val="dk1"/>
                </a:solidFill>
                <a:latin typeface="Arial"/>
                <a:ea typeface="Arial"/>
                <a:cs typeface="Arial"/>
                <a:sym typeface="Arial"/>
              </a:rPr>
              <a:t>Berikut adalah jadual simpanan Azizah di dalam sebuah bank yang membayar kadar keuntungan 2% sebulan:</a:t>
            </a:r>
            <a:endParaRPr/>
          </a:p>
          <a:p>
            <a:pPr marL="457200" marR="0" lvl="0" indent="-457200" algn="l" rtl="0">
              <a:spcBef>
                <a:spcPts val="0"/>
              </a:spcBef>
              <a:spcAft>
                <a:spcPts val="0"/>
              </a:spcAft>
              <a:buNone/>
            </a:pPr>
            <a:r>
              <a:rPr lang="en-US" sz="2400" b="0" i="0" u="none" strike="noStrike" cap="none">
                <a:solidFill>
                  <a:schemeClr val="dk1"/>
                </a:solidFill>
                <a:latin typeface="Arial"/>
                <a:ea typeface="Arial"/>
                <a:cs typeface="Arial"/>
                <a:sym typeface="Arial"/>
              </a:rPr>
              <a:t>	1.4.2021 – RM200</a:t>
            </a:r>
            <a:endParaRPr/>
          </a:p>
          <a:p>
            <a:pPr marL="457200" marR="0" lvl="0" indent="-457200" algn="l" rtl="0">
              <a:spcBef>
                <a:spcPts val="0"/>
              </a:spcBef>
              <a:spcAft>
                <a:spcPts val="0"/>
              </a:spcAft>
              <a:buNone/>
            </a:pPr>
            <a:r>
              <a:rPr lang="en-US" sz="2400" b="0" i="0" u="none" strike="noStrike" cap="none">
                <a:solidFill>
                  <a:schemeClr val="dk1"/>
                </a:solidFill>
                <a:latin typeface="Arial"/>
                <a:ea typeface="Arial"/>
                <a:cs typeface="Arial"/>
                <a:sym typeface="Arial"/>
              </a:rPr>
              <a:t>	1.7.2021 – RM100</a:t>
            </a:r>
            <a:endParaRPr/>
          </a:p>
          <a:p>
            <a:pPr marL="457200" marR="0" lvl="0" indent="-457200" algn="l" rtl="0">
              <a:spcBef>
                <a:spcPts val="0"/>
              </a:spcBef>
              <a:spcAft>
                <a:spcPts val="0"/>
              </a:spcAft>
              <a:buNone/>
            </a:pPr>
            <a:r>
              <a:rPr lang="en-US" sz="2400" b="0" i="0" u="none" strike="noStrike" cap="none">
                <a:solidFill>
                  <a:schemeClr val="dk1"/>
                </a:solidFill>
                <a:latin typeface="Arial"/>
                <a:ea typeface="Arial"/>
                <a:cs typeface="Arial"/>
                <a:sym typeface="Arial"/>
              </a:rPr>
              <a:t>	1.9.2021 – RM50</a:t>
            </a:r>
            <a:endParaRPr/>
          </a:p>
          <a:p>
            <a:pPr marL="457200" marR="0" lvl="0" indent="-457200" algn="l" rtl="0">
              <a:spcBef>
                <a:spcPts val="0"/>
              </a:spcBef>
              <a:spcAft>
                <a:spcPts val="0"/>
              </a:spcAft>
              <a:buNone/>
            </a:pPr>
            <a:r>
              <a:rPr lang="en-US" sz="2400" b="0" i="0" u="none" strike="noStrike" cap="none">
                <a:solidFill>
                  <a:schemeClr val="dk1"/>
                </a:solidFill>
                <a:latin typeface="Arial"/>
                <a:ea typeface="Arial"/>
                <a:cs typeface="Arial"/>
                <a:sym typeface="Arial"/>
              </a:rPr>
              <a:t>	Berapakah jumlah wang yang ada di dalam akaun Azizah pada 31.12.2021?   </a:t>
            </a:r>
            <a:endParaRPr/>
          </a:p>
        </p:txBody>
      </p:sp>
      <p:sp>
        <p:nvSpPr>
          <p:cNvPr id="252" name="Google Shape;252;p2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15</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16</a:t>
            </a:fld>
            <a:endParaRPr sz="1200" b="0" i="0" u="none" strike="noStrike" cap="none">
              <a:solidFill>
                <a:srgbClr val="1D4577"/>
              </a:solidFill>
              <a:latin typeface="Times New Roman"/>
              <a:ea typeface="Times New Roman"/>
              <a:cs typeface="Times New Roman"/>
              <a:sym typeface="Times New Roman"/>
            </a:endParaRPr>
          </a:p>
        </p:txBody>
      </p:sp>
      <p:sp>
        <p:nvSpPr>
          <p:cNvPr id="258" name="Google Shape;258;p28"/>
          <p:cNvSpPr txBox="1">
            <a:spLocks noGrp="1"/>
          </p:cNvSpPr>
          <p:nvPr>
            <p:ph type="body" idx="4294967295"/>
          </p:nvPr>
        </p:nvSpPr>
        <p:spPr>
          <a:xfrm>
            <a:off x="457200" y="1001713"/>
            <a:ext cx="8686800" cy="2286000"/>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100"/>
              <a:buFont typeface="Calibri"/>
              <a:buAutoNum type="arabicPeriod"/>
            </a:pPr>
            <a:r>
              <a:rPr lang="en-US">
                <a:latin typeface="Arial"/>
                <a:ea typeface="Arial"/>
                <a:cs typeface="Arial"/>
                <a:sym typeface="Arial"/>
              </a:rPr>
              <a:t> 		  	          	        		     		</a:t>
            </a:r>
            <a:endParaRPr/>
          </a:p>
          <a:p>
            <a:pPr marL="514350" lvl="0" indent="-381000" algn="l" rtl="0">
              <a:lnSpc>
                <a:spcPct val="90000"/>
              </a:lnSpc>
              <a:spcBef>
                <a:spcPts val="0"/>
              </a:spcBef>
              <a:spcAft>
                <a:spcPts val="0"/>
              </a:spcAft>
              <a:buClr>
                <a:schemeClr val="dk1"/>
              </a:buClr>
              <a:buSzPts val="2100"/>
              <a:buFont typeface="Calibri"/>
              <a:buNone/>
            </a:pPr>
            <a:endParaRPr>
              <a:latin typeface="Arial"/>
              <a:ea typeface="Arial"/>
              <a:cs typeface="Arial"/>
              <a:sym typeface="Arial"/>
            </a:endParaRPr>
          </a:p>
          <a:p>
            <a:pPr marL="514350" lvl="0" indent="-514350" algn="l" rtl="0">
              <a:lnSpc>
                <a:spcPct val="90000"/>
              </a:lnSpc>
              <a:spcBef>
                <a:spcPts val="0"/>
              </a:spcBef>
              <a:spcAft>
                <a:spcPts val="0"/>
              </a:spcAft>
              <a:buClr>
                <a:schemeClr val="dk1"/>
              </a:buClr>
              <a:buSzPts val="2100"/>
              <a:buFont typeface="Arial"/>
              <a:buNone/>
            </a:pPr>
            <a:r>
              <a:rPr lang="en-US">
                <a:latin typeface="Arial"/>
                <a:ea typeface="Arial"/>
                <a:cs typeface="Arial"/>
                <a:sym typeface="Arial"/>
              </a:rPr>
              <a:t>    </a:t>
            </a:r>
            <a:endParaRPr/>
          </a:p>
        </p:txBody>
      </p:sp>
      <p:cxnSp>
        <p:nvCxnSpPr>
          <p:cNvPr id="259" name="Google Shape;259;p28"/>
          <p:cNvCxnSpPr/>
          <p:nvPr/>
        </p:nvCxnSpPr>
        <p:spPr>
          <a:xfrm>
            <a:off x="914400" y="1657350"/>
            <a:ext cx="7086600" cy="0"/>
          </a:xfrm>
          <a:prstGeom prst="straightConnector1">
            <a:avLst/>
          </a:prstGeom>
          <a:noFill/>
          <a:ln w="38100" cap="flat" cmpd="sng">
            <a:solidFill>
              <a:schemeClr val="dk1"/>
            </a:solidFill>
            <a:prstDash val="solid"/>
            <a:miter lim="800000"/>
            <a:headEnd type="none" w="sm" len="sm"/>
            <a:tailEnd type="none" w="sm" len="sm"/>
          </a:ln>
        </p:spPr>
      </p:cxnSp>
      <p:cxnSp>
        <p:nvCxnSpPr>
          <p:cNvPr id="260" name="Google Shape;260;p28"/>
          <p:cNvCxnSpPr/>
          <p:nvPr/>
        </p:nvCxnSpPr>
        <p:spPr>
          <a:xfrm>
            <a:off x="914400" y="15049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61" name="Google Shape;261;p28"/>
          <p:cNvCxnSpPr/>
          <p:nvPr/>
        </p:nvCxnSpPr>
        <p:spPr>
          <a:xfrm>
            <a:off x="2362200" y="15049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62" name="Google Shape;262;p28"/>
          <p:cNvCxnSpPr/>
          <p:nvPr/>
        </p:nvCxnSpPr>
        <p:spPr>
          <a:xfrm>
            <a:off x="3886200" y="15049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63" name="Google Shape;263;p28"/>
          <p:cNvCxnSpPr/>
          <p:nvPr/>
        </p:nvCxnSpPr>
        <p:spPr>
          <a:xfrm>
            <a:off x="5562600" y="15049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64" name="Google Shape;264;p28"/>
          <p:cNvCxnSpPr/>
          <p:nvPr/>
        </p:nvCxnSpPr>
        <p:spPr>
          <a:xfrm>
            <a:off x="7239000" y="15049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65" name="Google Shape;265;p28"/>
          <p:cNvCxnSpPr/>
          <p:nvPr/>
        </p:nvCxnSpPr>
        <p:spPr>
          <a:xfrm>
            <a:off x="914400" y="2343150"/>
            <a:ext cx="0" cy="228600"/>
          </a:xfrm>
          <a:prstGeom prst="straightConnector1">
            <a:avLst/>
          </a:prstGeom>
          <a:noFill/>
          <a:ln w="38100" cap="flat" cmpd="sng">
            <a:solidFill>
              <a:schemeClr val="dk1"/>
            </a:solidFill>
            <a:prstDash val="solid"/>
            <a:miter lim="800000"/>
            <a:headEnd type="none" w="sm" len="sm"/>
            <a:tailEnd type="none" w="sm" len="sm"/>
          </a:ln>
        </p:spPr>
      </p:cxnSp>
      <p:cxnSp>
        <p:nvCxnSpPr>
          <p:cNvPr id="266" name="Google Shape;266;p28"/>
          <p:cNvCxnSpPr/>
          <p:nvPr/>
        </p:nvCxnSpPr>
        <p:spPr>
          <a:xfrm>
            <a:off x="914400" y="2571750"/>
            <a:ext cx="6324600" cy="0"/>
          </a:xfrm>
          <a:prstGeom prst="straightConnector1">
            <a:avLst/>
          </a:prstGeom>
          <a:noFill/>
          <a:ln w="38100" cap="flat" cmpd="sng">
            <a:solidFill>
              <a:schemeClr val="dk1"/>
            </a:solidFill>
            <a:prstDash val="solid"/>
            <a:miter lim="800000"/>
            <a:headEnd type="none" w="sm" len="sm"/>
            <a:tailEnd type="stealth" w="med" len="med"/>
          </a:ln>
        </p:spPr>
      </p:cxnSp>
      <p:sp>
        <p:nvSpPr>
          <p:cNvPr id="267" name="Google Shape;267;p28"/>
          <p:cNvSpPr txBox="1"/>
          <p:nvPr/>
        </p:nvSpPr>
        <p:spPr>
          <a:xfrm>
            <a:off x="1295400" y="1200150"/>
            <a:ext cx="7143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10%</a:t>
            </a:r>
            <a:endParaRPr/>
          </a:p>
        </p:txBody>
      </p:sp>
      <p:sp>
        <p:nvSpPr>
          <p:cNvPr id="268" name="Google Shape;268;p28"/>
          <p:cNvSpPr txBox="1"/>
          <p:nvPr/>
        </p:nvSpPr>
        <p:spPr>
          <a:xfrm>
            <a:off x="603408" y="1962150"/>
            <a:ext cx="755335"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1200</a:t>
            </a:r>
            <a:endParaRPr/>
          </a:p>
        </p:txBody>
      </p:sp>
      <p:sp>
        <p:nvSpPr>
          <p:cNvPr id="269" name="Google Shape;269;p28"/>
          <p:cNvSpPr txBox="1"/>
          <p:nvPr/>
        </p:nvSpPr>
        <p:spPr>
          <a:xfrm>
            <a:off x="7284161" y="2419350"/>
            <a:ext cx="805029"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FV=?</a:t>
            </a:r>
            <a:endParaRPr/>
          </a:p>
        </p:txBody>
      </p:sp>
      <p:cxnSp>
        <p:nvCxnSpPr>
          <p:cNvPr id="270" name="Google Shape;270;p28"/>
          <p:cNvCxnSpPr/>
          <p:nvPr/>
        </p:nvCxnSpPr>
        <p:spPr>
          <a:xfrm>
            <a:off x="1066800" y="4610100"/>
            <a:ext cx="7086600" cy="0"/>
          </a:xfrm>
          <a:prstGeom prst="straightConnector1">
            <a:avLst/>
          </a:prstGeom>
          <a:noFill/>
          <a:ln w="38100" cap="flat" cmpd="sng">
            <a:solidFill>
              <a:schemeClr val="dk1"/>
            </a:solidFill>
            <a:prstDash val="solid"/>
            <a:miter lim="800000"/>
            <a:headEnd type="none" w="sm" len="sm"/>
            <a:tailEnd type="none" w="sm" len="sm"/>
          </a:ln>
        </p:spPr>
      </p:cxnSp>
      <p:cxnSp>
        <p:nvCxnSpPr>
          <p:cNvPr id="271" name="Google Shape;271;p28"/>
          <p:cNvCxnSpPr/>
          <p:nvPr/>
        </p:nvCxnSpPr>
        <p:spPr>
          <a:xfrm>
            <a:off x="1066800" y="445770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72" name="Google Shape;272;p28"/>
          <p:cNvCxnSpPr/>
          <p:nvPr/>
        </p:nvCxnSpPr>
        <p:spPr>
          <a:xfrm>
            <a:off x="2514600" y="44005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73" name="Google Shape;273;p28"/>
          <p:cNvCxnSpPr/>
          <p:nvPr/>
        </p:nvCxnSpPr>
        <p:spPr>
          <a:xfrm>
            <a:off x="4038600" y="44005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74" name="Google Shape;274;p28"/>
          <p:cNvCxnSpPr/>
          <p:nvPr/>
        </p:nvCxnSpPr>
        <p:spPr>
          <a:xfrm>
            <a:off x="5638800" y="44005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75" name="Google Shape;275;p28"/>
          <p:cNvCxnSpPr/>
          <p:nvPr/>
        </p:nvCxnSpPr>
        <p:spPr>
          <a:xfrm>
            <a:off x="7239000" y="44005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76" name="Google Shape;276;p28"/>
          <p:cNvCxnSpPr/>
          <p:nvPr/>
        </p:nvCxnSpPr>
        <p:spPr>
          <a:xfrm>
            <a:off x="1066800" y="5295900"/>
            <a:ext cx="0" cy="228600"/>
          </a:xfrm>
          <a:prstGeom prst="straightConnector1">
            <a:avLst/>
          </a:prstGeom>
          <a:noFill/>
          <a:ln w="38100" cap="flat" cmpd="sng">
            <a:solidFill>
              <a:schemeClr val="dk1"/>
            </a:solidFill>
            <a:prstDash val="solid"/>
            <a:miter lim="800000"/>
            <a:headEnd type="none" w="sm" len="sm"/>
            <a:tailEnd type="none" w="sm" len="sm"/>
          </a:ln>
        </p:spPr>
      </p:cxnSp>
      <p:cxnSp>
        <p:nvCxnSpPr>
          <p:cNvPr id="277" name="Google Shape;277;p28"/>
          <p:cNvCxnSpPr/>
          <p:nvPr/>
        </p:nvCxnSpPr>
        <p:spPr>
          <a:xfrm>
            <a:off x="1066800" y="5543550"/>
            <a:ext cx="7010400" cy="0"/>
          </a:xfrm>
          <a:prstGeom prst="straightConnector1">
            <a:avLst/>
          </a:prstGeom>
          <a:noFill/>
          <a:ln w="38100" cap="flat" cmpd="sng">
            <a:solidFill>
              <a:schemeClr val="dk1"/>
            </a:solidFill>
            <a:prstDash val="solid"/>
            <a:miter lim="800000"/>
            <a:headEnd type="none" w="sm" len="sm"/>
            <a:tailEnd type="stealth" w="med" len="med"/>
          </a:ln>
        </p:spPr>
      </p:cxnSp>
      <p:sp>
        <p:nvSpPr>
          <p:cNvPr id="278" name="Google Shape;278;p28"/>
          <p:cNvSpPr txBox="1"/>
          <p:nvPr/>
        </p:nvSpPr>
        <p:spPr>
          <a:xfrm>
            <a:off x="1136650" y="4229100"/>
            <a:ext cx="5746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2%</a:t>
            </a:r>
            <a:endParaRPr/>
          </a:p>
        </p:txBody>
      </p:sp>
      <p:sp>
        <p:nvSpPr>
          <p:cNvPr id="279" name="Google Shape;279;p28"/>
          <p:cNvSpPr txBox="1"/>
          <p:nvPr/>
        </p:nvSpPr>
        <p:spPr>
          <a:xfrm>
            <a:off x="827141" y="4914900"/>
            <a:ext cx="61266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200</a:t>
            </a:r>
            <a:endParaRPr/>
          </a:p>
        </p:txBody>
      </p:sp>
      <p:sp>
        <p:nvSpPr>
          <p:cNvPr id="280" name="Google Shape;280;p28"/>
          <p:cNvSpPr txBox="1"/>
          <p:nvPr/>
        </p:nvSpPr>
        <p:spPr>
          <a:xfrm>
            <a:off x="8063623" y="5314950"/>
            <a:ext cx="805029"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FV=?</a:t>
            </a:r>
            <a:endParaRPr/>
          </a:p>
        </p:txBody>
      </p:sp>
      <p:cxnSp>
        <p:nvCxnSpPr>
          <p:cNvPr id="281" name="Google Shape;281;p28"/>
          <p:cNvCxnSpPr/>
          <p:nvPr/>
        </p:nvCxnSpPr>
        <p:spPr>
          <a:xfrm>
            <a:off x="1752600" y="4400550"/>
            <a:ext cx="0" cy="381000"/>
          </a:xfrm>
          <a:prstGeom prst="straightConnector1">
            <a:avLst/>
          </a:prstGeom>
          <a:noFill/>
          <a:ln w="38100" cap="flat" cmpd="sng">
            <a:solidFill>
              <a:schemeClr val="dk1"/>
            </a:solidFill>
            <a:prstDash val="solid"/>
            <a:miter lim="800000"/>
            <a:headEnd type="none" w="sm" len="sm"/>
            <a:tailEnd type="none" w="sm" len="sm"/>
          </a:ln>
        </p:spPr>
      </p:cxnSp>
      <p:sp>
        <p:nvSpPr>
          <p:cNvPr id="282" name="Google Shape;282;p28"/>
          <p:cNvSpPr txBox="1"/>
          <p:nvPr/>
        </p:nvSpPr>
        <p:spPr>
          <a:xfrm>
            <a:off x="762000" y="4019550"/>
            <a:ext cx="5619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1/4</a:t>
            </a:r>
            <a:endParaRPr/>
          </a:p>
        </p:txBody>
      </p:sp>
      <p:sp>
        <p:nvSpPr>
          <p:cNvPr id="283" name="Google Shape;283;p28"/>
          <p:cNvSpPr txBox="1"/>
          <p:nvPr/>
        </p:nvSpPr>
        <p:spPr>
          <a:xfrm>
            <a:off x="1462088" y="4019550"/>
            <a:ext cx="5619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1/5</a:t>
            </a:r>
            <a:endParaRPr/>
          </a:p>
        </p:txBody>
      </p:sp>
      <p:sp>
        <p:nvSpPr>
          <p:cNvPr id="284" name="Google Shape;284;p28"/>
          <p:cNvSpPr txBox="1"/>
          <p:nvPr/>
        </p:nvSpPr>
        <p:spPr>
          <a:xfrm>
            <a:off x="2224088" y="4019550"/>
            <a:ext cx="5619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1/6</a:t>
            </a:r>
            <a:endParaRPr/>
          </a:p>
        </p:txBody>
      </p:sp>
      <p:sp>
        <p:nvSpPr>
          <p:cNvPr id="285" name="Google Shape;285;p28"/>
          <p:cNvSpPr txBox="1"/>
          <p:nvPr/>
        </p:nvSpPr>
        <p:spPr>
          <a:xfrm>
            <a:off x="2909888" y="4019550"/>
            <a:ext cx="5619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1/7</a:t>
            </a:r>
            <a:endParaRPr/>
          </a:p>
        </p:txBody>
      </p:sp>
      <p:cxnSp>
        <p:nvCxnSpPr>
          <p:cNvPr id="286" name="Google Shape;286;p28"/>
          <p:cNvCxnSpPr/>
          <p:nvPr/>
        </p:nvCxnSpPr>
        <p:spPr>
          <a:xfrm>
            <a:off x="3200400" y="4400550"/>
            <a:ext cx="0" cy="381000"/>
          </a:xfrm>
          <a:prstGeom prst="straightConnector1">
            <a:avLst/>
          </a:prstGeom>
          <a:noFill/>
          <a:ln w="38100" cap="flat" cmpd="sng">
            <a:solidFill>
              <a:schemeClr val="dk1"/>
            </a:solidFill>
            <a:prstDash val="solid"/>
            <a:miter lim="800000"/>
            <a:headEnd type="none" w="sm" len="sm"/>
            <a:tailEnd type="none" w="sm" len="sm"/>
          </a:ln>
        </p:spPr>
      </p:cxnSp>
      <p:sp>
        <p:nvSpPr>
          <p:cNvPr id="287" name="Google Shape;287;p28"/>
          <p:cNvSpPr txBox="1"/>
          <p:nvPr/>
        </p:nvSpPr>
        <p:spPr>
          <a:xfrm>
            <a:off x="3748088" y="4019550"/>
            <a:ext cx="5619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1/8</a:t>
            </a:r>
            <a:endParaRPr/>
          </a:p>
        </p:txBody>
      </p:sp>
      <p:sp>
        <p:nvSpPr>
          <p:cNvPr id="288" name="Google Shape;288;p28"/>
          <p:cNvSpPr txBox="1"/>
          <p:nvPr/>
        </p:nvSpPr>
        <p:spPr>
          <a:xfrm>
            <a:off x="4510088" y="4019550"/>
            <a:ext cx="5619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1/9</a:t>
            </a:r>
            <a:endParaRPr/>
          </a:p>
        </p:txBody>
      </p:sp>
      <p:cxnSp>
        <p:nvCxnSpPr>
          <p:cNvPr id="289" name="Google Shape;289;p28"/>
          <p:cNvCxnSpPr/>
          <p:nvPr/>
        </p:nvCxnSpPr>
        <p:spPr>
          <a:xfrm>
            <a:off x="4800600" y="4400550"/>
            <a:ext cx="0" cy="381000"/>
          </a:xfrm>
          <a:prstGeom prst="straightConnector1">
            <a:avLst/>
          </a:prstGeom>
          <a:noFill/>
          <a:ln w="38100" cap="flat" cmpd="sng">
            <a:solidFill>
              <a:schemeClr val="dk1"/>
            </a:solidFill>
            <a:prstDash val="solid"/>
            <a:miter lim="800000"/>
            <a:headEnd type="none" w="sm" len="sm"/>
            <a:tailEnd type="none" w="sm" len="sm"/>
          </a:ln>
        </p:spPr>
      </p:cxnSp>
      <p:cxnSp>
        <p:nvCxnSpPr>
          <p:cNvPr id="290" name="Google Shape;290;p28"/>
          <p:cNvCxnSpPr/>
          <p:nvPr/>
        </p:nvCxnSpPr>
        <p:spPr>
          <a:xfrm>
            <a:off x="6477000" y="4400550"/>
            <a:ext cx="0" cy="381000"/>
          </a:xfrm>
          <a:prstGeom prst="straightConnector1">
            <a:avLst/>
          </a:prstGeom>
          <a:noFill/>
          <a:ln w="38100" cap="flat" cmpd="sng">
            <a:solidFill>
              <a:schemeClr val="dk1"/>
            </a:solidFill>
            <a:prstDash val="solid"/>
            <a:miter lim="800000"/>
            <a:headEnd type="none" w="sm" len="sm"/>
            <a:tailEnd type="none" w="sm" len="sm"/>
          </a:ln>
        </p:spPr>
      </p:cxnSp>
      <p:sp>
        <p:nvSpPr>
          <p:cNvPr id="291" name="Google Shape;291;p28"/>
          <p:cNvSpPr txBox="1"/>
          <p:nvPr/>
        </p:nvSpPr>
        <p:spPr>
          <a:xfrm>
            <a:off x="5278438" y="4019550"/>
            <a:ext cx="7016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1/10</a:t>
            </a:r>
            <a:endParaRPr/>
          </a:p>
        </p:txBody>
      </p:sp>
      <p:sp>
        <p:nvSpPr>
          <p:cNvPr id="292" name="Google Shape;292;p28"/>
          <p:cNvSpPr txBox="1"/>
          <p:nvPr/>
        </p:nvSpPr>
        <p:spPr>
          <a:xfrm>
            <a:off x="6135397" y="4019550"/>
            <a:ext cx="664156"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1/11</a:t>
            </a:r>
            <a:endParaRPr/>
          </a:p>
        </p:txBody>
      </p:sp>
      <p:sp>
        <p:nvSpPr>
          <p:cNvPr id="293" name="Google Shape;293;p28"/>
          <p:cNvSpPr txBox="1"/>
          <p:nvPr/>
        </p:nvSpPr>
        <p:spPr>
          <a:xfrm>
            <a:off x="7031038" y="4019550"/>
            <a:ext cx="70167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1/12</a:t>
            </a:r>
            <a:endParaRPr/>
          </a:p>
        </p:txBody>
      </p:sp>
      <p:cxnSp>
        <p:nvCxnSpPr>
          <p:cNvPr id="294" name="Google Shape;294;p28"/>
          <p:cNvCxnSpPr/>
          <p:nvPr/>
        </p:nvCxnSpPr>
        <p:spPr>
          <a:xfrm>
            <a:off x="8077200" y="4400550"/>
            <a:ext cx="0" cy="381000"/>
          </a:xfrm>
          <a:prstGeom prst="straightConnector1">
            <a:avLst/>
          </a:prstGeom>
          <a:noFill/>
          <a:ln w="38100" cap="flat" cmpd="sng">
            <a:solidFill>
              <a:schemeClr val="dk1"/>
            </a:solidFill>
            <a:prstDash val="solid"/>
            <a:miter lim="800000"/>
            <a:headEnd type="none" w="sm" len="sm"/>
            <a:tailEnd type="none" w="sm" len="sm"/>
          </a:ln>
        </p:spPr>
      </p:cxnSp>
      <p:sp>
        <p:nvSpPr>
          <p:cNvPr id="295" name="Google Shape;295;p28"/>
          <p:cNvSpPr txBox="1"/>
          <p:nvPr/>
        </p:nvSpPr>
        <p:spPr>
          <a:xfrm>
            <a:off x="7921895" y="4019550"/>
            <a:ext cx="896399"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1/1/22</a:t>
            </a:r>
            <a:endParaRPr/>
          </a:p>
        </p:txBody>
      </p:sp>
      <p:sp>
        <p:nvSpPr>
          <p:cNvPr id="296" name="Google Shape;296;p28"/>
          <p:cNvSpPr txBox="1"/>
          <p:nvPr/>
        </p:nvSpPr>
        <p:spPr>
          <a:xfrm>
            <a:off x="220752" y="4019550"/>
            <a:ext cx="44114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2.</a:t>
            </a:r>
            <a:endParaRPr/>
          </a:p>
        </p:txBody>
      </p:sp>
      <p:sp>
        <p:nvSpPr>
          <p:cNvPr id="297" name="Google Shape;297;p28"/>
          <p:cNvSpPr txBox="1"/>
          <p:nvPr/>
        </p:nvSpPr>
        <p:spPr>
          <a:xfrm>
            <a:off x="2897241" y="4933950"/>
            <a:ext cx="61266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100</a:t>
            </a:r>
            <a:endParaRPr/>
          </a:p>
        </p:txBody>
      </p:sp>
      <p:sp>
        <p:nvSpPr>
          <p:cNvPr id="298" name="Google Shape;298;p28"/>
          <p:cNvSpPr txBox="1"/>
          <p:nvPr/>
        </p:nvSpPr>
        <p:spPr>
          <a:xfrm>
            <a:off x="4568775" y="4933950"/>
            <a:ext cx="470001"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50</a:t>
            </a:r>
            <a:endParaRPr/>
          </a:p>
        </p:txBody>
      </p:sp>
      <p:cxnSp>
        <p:nvCxnSpPr>
          <p:cNvPr id="299" name="Google Shape;299;p28"/>
          <p:cNvCxnSpPr/>
          <p:nvPr/>
        </p:nvCxnSpPr>
        <p:spPr>
          <a:xfrm>
            <a:off x="3200400" y="5314950"/>
            <a:ext cx="0" cy="228600"/>
          </a:xfrm>
          <a:prstGeom prst="straightConnector1">
            <a:avLst/>
          </a:prstGeom>
          <a:noFill/>
          <a:ln w="38100" cap="flat" cmpd="sng">
            <a:solidFill>
              <a:schemeClr val="dk1"/>
            </a:solidFill>
            <a:prstDash val="solid"/>
            <a:miter lim="800000"/>
            <a:headEnd type="none" w="sm" len="sm"/>
            <a:tailEnd type="none" w="sm" len="sm"/>
          </a:ln>
        </p:spPr>
      </p:cxnSp>
      <p:cxnSp>
        <p:nvCxnSpPr>
          <p:cNvPr id="300" name="Google Shape;300;p28"/>
          <p:cNvCxnSpPr/>
          <p:nvPr/>
        </p:nvCxnSpPr>
        <p:spPr>
          <a:xfrm>
            <a:off x="4800600" y="5314950"/>
            <a:ext cx="0" cy="228600"/>
          </a:xfrm>
          <a:prstGeom prst="straightConnector1">
            <a:avLst/>
          </a:prstGeom>
          <a:noFill/>
          <a:ln w="38100" cap="flat" cmpd="sng">
            <a:solidFill>
              <a:schemeClr val="dk1"/>
            </a:solidFill>
            <a:prstDash val="solid"/>
            <a:miter lim="800000"/>
            <a:headEnd type="none" w="sm" len="sm"/>
            <a:tailEnd type="none" w="sm" len="sm"/>
          </a:ln>
        </p:spPr>
      </p:cxnSp>
      <p:sp>
        <p:nvSpPr>
          <p:cNvPr id="301" name="Google Shape;301;p28"/>
          <p:cNvSpPr txBox="1"/>
          <p:nvPr/>
        </p:nvSpPr>
        <p:spPr>
          <a:xfrm>
            <a:off x="760258" y="1104900"/>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0</a:t>
            </a:r>
            <a:endParaRPr/>
          </a:p>
        </p:txBody>
      </p:sp>
      <p:sp>
        <p:nvSpPr>
          <p:cNvPr id="302" name="Google Shape;302;p28"/>
          <p:cNvSpPr txBox="1"/>
          <p:nvPr/>
        </p:nvSpPr>
        <p:spPr>
          <a:xfrm>
            <a:off x="2189008" y="1123950"/>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a:t>
            </a:r>
            <a:endParaRPr/>
          </a:p>
        </p:txBody>
      </p:sp>
      <p:sp>
        <p:nvSpPr>
          <p:cNvPr id="303" name="Google Shape;303;p28"/>
          <p:cNvSpPr txBox="1"/>
          <p:nvPr/>
        </p:nvSpPr>
        <p:spPr>
          <a:xfrm>
            <a:off x="3713008" y="1123950"/>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2</a:t>
            </a:r>
            <a:endParaRPr/>
          </a:p>
        </p:txBody>
      </p:sp>
      <p:sp>
        <p:nvSpPr>
          <p:cNvPr id="304" name="Google Shape;304;p28"/>
          <p:cNvSpPr txBox="1"/>
          <p:nvPr/>
        </p:nvSpPr>
        <p:spPr>
          <a:xfrm>
            <a:off x="5389408" y="1123950"/>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3</a:t>
            </a:r>
            <a:endParaRPr/>
          </a:p>
        </p:txBody>
      </p:sp>
      <p:sp>
        <p:nvSpPr>
          <p:cNvPr id="305" name="Google Shape;305;p28"/>
          <p:cNvSpPr txBox="1"/>
          <p:nvPr/>
        </p:nvSpPr>
        <p:spPr>
          <a:xfrm>
            <a:off x="7065808" y="1123950"/>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4</a:t>
            </a:r>
            <a:endParaRPr/>
          </a:p>
        </p:txBody>
      </p:sp>
      <p:sp>
        <p:nvSpPr>
          <p:cNvPr id="306" name="Google Shape;306;p28"/>
          <p:cNvSpPr txBox="1"/>
          <p:nvPr/>
        </p:nvSpPr>
        <p:spPr>
          <a:xfrm>
            <a:off x="381000" y="304800"/>
            <a:ext cx="3495675"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JAWAPAN</a:t>
            </a:r>
            <a:r>
              <a:rPr lang="en-US" sz="2400" b="0" i="0" u="none" strike="noStrike" cap="none">
                <a:solidFill>
                  <a:schemeClr val="dk1"/>
                </a:solidFill>
                <a:latin typeface="Arial"/>
                <a:ea typeface="Arial"/>
                <a:cs typeface="Arial"/>
                <a:sym typeface="Arial"/>
              </a:rPr>
              <a:t>:</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8">
                                            <p:txEl>
                                              <p:pRg st="0" end="0"/>
                                            </p:txEl>
                                          </p:spTgt>
                                        </p:tgtEl>
                                        <p:attrNameLst>
                                          <p:attrName>style.visibility</p:attrName>
                                        </p:attrNameLst>
                                      </p:cBhvr>
                                      <p:to>
                                        <p:strVal val="visible"/>
                                      </p:to>
                                    </p:set>
                                    <p:animEffect transition="in" filter="fade">
                                      <p:cBhvr>
                                        <p:cTn id="7" dur="500"/>
                                        <p:tgtEl>
                                          <p:spTgt spid="2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8">
                                            <p:txEl>
                                              <p:pRg st="1" end="1"/>
                                            </p:txEl>
                                          </p:spTgt>
                                        </p:tgtEl>
                                        <p:attrNameLst>
                                          <p:attrName>style.visibility</p:attrName>
                                        </p:attrNameLst>
                                      </p:cBhvr>
                                      <p:to>
                                        <p:strVal val="visible"/>
                                      </p:to>
                                    </p:set>
                                    <p:animEffect transition="in" filter="fade">
                                      <p:cBhvr>
                                        <p:cTn id="12" dur="500"/>
                                        <p:tgtEl>
                                          <p:spTgt spid="2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8">
                                            <p:txEl>
                                              <p:pRg st="2" end="2"/>
                                            </p:txEl>
                                          </p:spTgt>
                                        </p:tgtEl>
                                        <p:attrNameLst>
                                          <p:attrName>style.visibility</p:attrName>
                                        </p:attrNameLst>
                                      </p:cBhvr>
                                      <p:to>
                                        <p:strVal val="visible"/>
                                      </p:to>
                                    </p:set>
                                    <p:animEffect transition="in" filter="fade">
                                      <p:cBhvr>
                                        <p:cTn id="17" dur="500"/>
                                        <p:tgtEl>
                                          <p:spTgt spid="2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9"/>
                                        </p:tgtEl>
                                        <p:attrNameLst>
                                          <p:attrName>style.visibility</p:attrName>
                                        </p:attrNameLst>
                                      </p:cBhvr>
                                      <p:to>
                                        <p:strVal val="visible"/>
                                      </p:to>
                                    </p:set>
                                    <p:animEffect transition="in" filter="fade">
                                      <p:cBhvr>
                                        <p:cTn id="22" dur="500"/>
                                        <p:tgtEl>
                                          <p:spTgt spid="259"/>
                                        </p:tgtEl>
                                      </p:cBhvr>
                                    </p:animEffect>
                                  </p:childTnLst>
                                </p:cTn>
                              </p:par>
                              <p:par>
                                <p:cTn id="23" presetID="10" presetClass="entr" presetSubtype="0" fill="hold" nodeType="withEffect">
                                  <p:stCondLst>
                                    <p:cond delay="0"/>
                                  </p:stCondLst>
                                  <p:childTnLst>
                                    <p:set>
                                      <p:cBhvr>
                                        <p:cTn id="24" dur="1" fill="hold">
                                          <p:stCondLst>
                                            <p:cond delay="0"/>
                                          </p:stCondLst>
                                        </p:cTn>
                                        <p:tgtEl>
                                          <p:spTgt spid="260"/>
                                        </p:tgtEl>
                                        <p:attrNameLst>
                                          <p:attrName>style.visibility</p:attrName>
                                        </p:attrNameLst>
                                      </p:cBhvr>
                                      <p:to>
                                        <p:strVal val="visible"/>
                                      </p:to>
                                    </p:set>
                                    <p:animEffect transition="in" filter="fade">
                                      <p:cBhvr>
                                        <p:cTn id="25" dur="500"/>
                                        <p:tgtEl>
                                          <p:spTgt spid="260"/>
                                        </p:tgtEl>
                                      </p:cBhvr>
                                    </p:animEffect>
                                  </p:childTnLst>
                                </p:cTn>
                              </p:par>
                              <p:par>
                                <p:cTn id="26" presetID="10" presetClass="entr" presetSubtype="0" fill="hold" nodeType="withEffect">
                                  <p:stCondLst>
                                    <p:cond delay="0"/>
                                  </p:stCondLst>
                                  <p:childTnLst>
                                    <p:set>
                                      <p:cBhvr>
                                        <p:cTn id="27" dur="1" fill="hold">
                                          <p:stCondLst>
                                            <p:cond delay="0"/>
                                          </p:stCondLst>
                                        </p:cTn>
                                        <p:tgtEl>
                                          <p:spTgt spid="261"/>
                                        </p:tgtEl>
                                        <p:attrNameLst>
                                          <p:attrName>style.visibility</p:attrName>
                                        </p:attrNameLst>
                                      </p:cBhvr>
                                      <p:to>
                                        <p:strVal val="visible"/>
                                      </p:to>
                                    </p:set>
                                    <p:animEffect transition="in" filter="fade">
                                      <p:cBhvr>
                                        <p:cTn id="28" dur="500"/>
                                        <p:tgtEl>
                                          <p:spTgt spid="261"/>
                                        </p:tgtEl>
                                      </p:cBhvr>
                                    </p:animEffect>
                                  </p:childTnLst>
                                </p:cTn>
                              </p:par>
                              <p:par>
                                <p:cTn id="29" presetID="10" presetClass="entr" presetSubtype="0" fill="hold" nodeType="withEffect">
                                  <p:stCondLst>
                                    <p:cond delay="0"/>
                                  </p:stCondLst>
                                  <p:childTnLst>
                                    <p:set>
                                      <p:cBhvr>
                                        <p:cTn id="30" dur="1" fill="hold">
                                          <p:stCondLst>
                                            <p:cond delay="0"/>
                                          </p:stCondLst>
                                        </p:cTn>
                                        <p:tgtEl>
                                          <p:spTgt spid="262"/>
                                        </p:tgtEl>
                                        <p:attrNameLst>
                                          <p:attrName>style.visibility</p:attrName>
                                        </p:attrNameLst>
                                      </p:cBhvr>
                                      <p:to>
                                        <p:strVal val="visible"/>
                                      </p:to>
                                    </p:set>
                                    <p:animEffect transition="in" filter="fade">
                                      <p:cBhvr>
                                        <p:cTn id="31" dur="500"/>
                                        <p:tgtEl>
                                          <p:spTgt spid="262"/>
                                        </p:tgtEl>
                                      </p:cBhvr>
                                    </p:animEffect>
                                  </p:childTnLst>
                                </p:cTn>
                              </p:par>
                              <p:par>
                                <p:cTn id="32" presetID="10" presetClass="entr" presetSubtype="0" fill="hold" nodeType="withEffect">
                                  <p:stCondLst>
                                    <p:cond delay="0"/>
                                  </p:stCondLst>
                                  <p:childTnLst>
                                    <p:set>
                                      <p:cBhvr>
                                        <p:cTn id="33" dur="1" fill="hold">
                                          <p:stCondLst>
                                            <p:cond delay="0"/>
                                          </p:stCondLst>
                                        </p:cTn>
                                        <p:tgtEl>
                                          <p:spTgt spid="263"/>
                                        </p:tgtEl>
                                        <p:attrNameLst>
                                          <p:attrName>style.visibility</p:attrName>
                                        </p:attrNameLst>
                                      </p:cBhvr>
                                      <p:to>
                                        <p:strVal val="visible"/>
                                      </p:to>
                                    </p:set>
                                    <p:animEffect transition="in" filter="fade">
                                      <p:cBhvr>
                                        <p:cTn id="34" dur="500"/>
                                        <p:tgtEl>
                                          <p:spTgt spid="263"/>
                                        </p:tgtEl>
                                      </p:cBhvr>
                                    </p:animEffect>
                                  </p:childTnLst>
                                </p:cTn>
                              </p:par>
                              <p:par>
                                <p:cTn id="35" presetID="10" presetClass="entr" presetSubtype="0" fill="hold" nodeType="withEffect">
                                  <p:stCondLst>
                                    <p:cond delay="0"/>
                                  </p:stCondLst>
                                  <p:childTnLst>
                                    <p:set>
                                      <p:cBhvr>
                                        <p:cTn id="36" dur="1" fill="hold">
                                          <p:stCondLst>
                                            <p:cond delay="0"/>
                                          </p:stCondLst>
                                        </p:cTn>
                                        <p:tgtEl>
                                          <p:spTgt spid="264"/>
                                        </p:tgtEl>
                                        <p:attrNameLst>
                                          <p:attrName>style.visibility</p:attrName>
                                        </p:attrNameLst>
                                      </p:cBhvr>
                                      <p:to>
                                        <p:strVal val="visible"/>
                                      </p:to>
                                    </p:set>
                                    <p:animEffect transition="in" filter="fade">
                                      <p:cBhvr>
                                        <p:cTn id="37" dur="500"/>
                                        <p:tgtEl>
                                          <p:spTgt spid="264"/>
                                        </p:tgtEl>
                                      </p:cBhvr>
                                    </p:animEffect>
                                  </p:childTnLst>
                                </p:cTn>
                              </p:par>
                              <p:par>
                                <p:cTn id="38" presetID="10" presetClass="entr" presetSubtype="0" fill="hold" nodeType="withEffect">
                                  <p:stCondLst>
                                    <p:cond delay="0"/>
                                  </p:stCondLst>
                                  <p:childTnLst>
                                    <p:set>
                                      <p:cBhvr>
                                        <p:cTn id="39" dur="1" fill="hold">
                                          <p:stCondLst>
                                            <p:cond delay="0"/>
                                          </p:stCondLst>
                                        </p:cTn>
                                        <p:tgtEl>
                                          <p:spTgt spid="265"/>
                                        </p:tgtEl>
                                        <p:attrNameLst>
                                          <p:attrName>style.visibility</p:attrName>
                                        </p:attrNameLst>
                                      </p:cBhvr>
                                      <p:to>
                                        <p:strVal val="visible"/>
                                      </p:to>
                                    </p:set>
                                    <p:animEffect transition="in" filter="fade">
                                      <p:cBhvr>
                                        <p:cTn id="40" dur="500"/>
                                        <p:tgtEl>
                                          <p:spTgt spid="265"/>
                                        </p:tgtEl>
                                      </p:cBhvr>
                                    </p:animEffect>
                                  </p:childTnLst>
                                </p:cTn>
                              </p:par>
                              <p:par>
                                <p:cTn id="41" presetID="10" presetClass="entr" presetSubtype="0" fill="hold" nodeType="withEffect">
                                  <p:stCondLst>
                                    <p:cond delay="0"/>
                                  </p:stCondLst>
                                  <p:childTnLst>
                                    <p:set>
                                      <p:cBhvr>
                                        <p:cTn id="42" dur="1" fill="hold">
                                          <p:stCondLst>
                                            <p:cond delay="0"/>
                                          </p:stCondLst>
                                        </p:cTn>
                                        <p:tgtEl>
                                          <p:spTgt spid="266"/>
                                        </p:tgtEl>
                                        <p:attrNameLst>
                                          <p:attrName>style.visibility</p:attrName>
                                        </p:attrNameLst>
                                      </p:cBhvr>
                                      <p:to>
                                        <p:strVal val="visible"/>
                                      </p:to>
                                    </p:set>
                                    <p:animEffect transition="in" filter="fade">
                                      <p:cBhvr>
                                        <p:cTn id="43" dur="500"/>
                                        <p:tgtEl>
                                          <p:spTgt spid="266"/>
                                        </p:tgtEl>
                                      </p:cBhvr>
                                    </p:animEffect>
                                  </p:childTnLst>
                                </p:cTn>
                              </p:par>
                              <p:par>
                                <p:cTn id="44" presetID="10" presetClass="entr" presetSubtype="0" fill="hold" nodeType="withEffect">
                                  <p:stCondLst>
                                    <p:cond delay="0"/>
                                  </p:stCondLst>
                                  <p:childTnLst>
                                    <p:set>
                                      <p:cBhvr>
                                        <p:cTn id="45" dur="1" fill="hold">
                                          <p:stCondLst>
                                            <p:cond delay="0"/>
                                          </p:stCondLst>
                                        </p:cTn>
                                        <p:tgtEl>
                                          <p:spTgt spid="267"/>
                                        </p:tgtEl>
                                        <p:attrNameLst>
                                          <p:attrName>style.visibility</p:attrName>
                                        </p:attrNameLst>
                                      </p:cBhvr>
                                      <p:to>
                                        <p:strVal val="visible"/>
                                      </p:to>
                                    </p:set>
                                    <p:animEffect transition="in" filter="fade">
                                      <p:cBhvr>
                                        <p:cTn id="46" dur="500"/>
                                        <p:tgtEl>
                                          <p:spTgt spid="267"/>
                                        </p:tgtEl>
                                      </p:cBhvr>
                                    </p:animEffect>
                                  </p:childTnLst>
                                </p:cTn>
                              </p:par>
                              <p:par>
                                <p:cTn id="47" presetID="10" presetClass="entr" presetSubtype="0" fill="hold" nodeType="withEffect">
                                  <p:stCondLst>
                                    <p:cond delay="0"/>
                                  </p:stCondLst>
                                  <p:childTnLst>
                                    <p:set>
                                      <p:cBhvr>
                                        <p:cTn id="48" dur="1" fill="hold">
                                          <p:stCondLst>
                                            <p:cond delay="0"/>
                                          </p:stCondLst>
                                        </p:cTn>
                                        <p:tgtEl>
                                          <p:spTgt spid="268"/>
                                        </p:tgtEl>
                                        <p:attrNameLst>
                                          <p:attrName>style.visibility</p:attrName>
                                        </p:attrNameLst>
                                      </p:cBhvr>
                                      <p:to>
                                        <p:strVal val="visible"/>
                                      </p:to>
                                    </p:set>
                                    <p:animEffect transition="in" filter="fade">
                                      <p:cBhvr>
                                        <p:cTn id="49" dur="500"/>
                                        <p:tgtEl>
                                          <p:spTgt spid="268"/>
                                        </p:tgtEl>
                                      </p:cBhvr>
                                    </p:animEffect>
                                  </p:childTnLst>
                                </p:cTn>
                              </p:par>
                              <p:par>
                                <p:cTn id="50" presetID="10" presetClass="entr" presetSubtype="0" fill="hold" nodeType="withEffect">
                                  <p:stCondLst>
                                    <p:cond delay="0"/>
                                  </p:stCondLst>
                                  <p:childTnLst>
                                    <p:set>
                                      <p:cBhvr>
                                        <p:cTn id="51" dur="1" fill="hold">
                                          <p:stCondLst>
                                            <p:cond delay="0"/>
                                          </p:stCondLst>
                                        </p:cTn>
                                        <p:tgtEl>
                                          <p:spTgt spid="269"/>
                                        </p:tgtEl>
                                        <p:attrNameLst>
                                          <p:attrName>style.visibility</p:attrName>
                                        </p:attrNameLst>
                                      </p:cBhvr>
                                      <p:to>
                                        <p:strVal val="visible"/>
                                      </p:to>
                                    </p:set>
                                    <p:animEffect transition="in" filter="fade">
                                      <p:cBhvr>
                                        <p:cTn id="52" dur="500"/>
                                        <p:tgtEl>
                                          <p:spTgt spid="269"/>
                                        </p:tgtEl>
                                      </p:cBhvr>
                                    </p:animEffect>
                                  </p:childTnLst>
                                </p:cTn>
                              </p:par>
                              <p:par>
                                <p:cTn id="53" presetID="10" presetClass="entr" presetSubtype="0" fill="hold" nodeType="withEffect">
                                  <p:stCondLst>
                                    <p:cond delay="0"/>
                                  </p:stCondLst>
                                  <p:childTnLst>
                                    <p:set>
                                      <p:cBhvr>
                                        <p:cTn id="54" dur="1" fill="hold">
                                          <p:stCondLst>
                                            <p:cond delay="0"/>
                                          </p:stCondLst>
                                        </p:cTn>
                                        <p:tgtEl>
                                          <p:spTgt spid="301"/>
                                        </p:tgtEl>
                                        <p:attrNameLst>
                                          <p:attrName>style.visibility</p:attrName>
                                        </p:attrNameLst>
                                      </p:cBhvr>
                                      <p:to>
                                        <p:strVal val="visible"/>
                                      </p:to>
                                    </p:set>
                                    <p:animEffect transition="in" filter="fade">
                                      <p:cBhvr>
                                        <p:cTn id="55" dur="500"/>
                                        <p:tgtEl>
                                          <p:spTgt spid="301"/>
                                        </p:tgtEl>
                                      </p:cBhvr>
                                    </p:animEffect>
                                  </p:childTnLst>
                                </p:cTn>
                              </p:par>
                              <p:par>
                                <p:cTn id="56" presetID="10" presetClass="entr" presetSubtype="0" fill="hold" nodeType="withEffect">
                                  <p:stCondLst>
                                    <p:cond delay="0"/>
                                  </p:stCondLst>
                                  <p:childTnLst>
                                    <p:set>
                                      <p:cBhvr>
                                        <p:cTn id="57" dur="1" fill="hold">
                                          <p:stCondLst>
                                            <p:cond delay="0"/>
                                          </p:stCondLst>
                                        </p:cTn>
                                        <p:tgtEl>
                                          <p:spTgt spid="302"/>
                                        </p:tgtEl>
                                        <p:attrNameLst>
                                          <p:attrName>style.visibility</p:attrName>
                                        </p:attrNameLst>
                                      </p:cBhvr>
                                      <p:to>
                                        <p:strVal val="visible"/>
                                      </p:to>
                                    </p:set>
                                    <p:animEffect transition="in" filter="fade">
                                      <p:cBhvr>
                                        <p:cTn id="58" dur="500"/>
                                        <p:tgtEl>
                                          <p:spTgt spid="302"/>
                                        </p:tgtEl>
                                      </p:cBhvr>
                                    </p:animEffect>
                                  </p:childTnLst>
                                </p:cTn>
                              </p:par>
                              <p:par>
                                <p:cTn id="59" presetID="10" presetClass="entr" presetSubtype="0" fill="hold" nodeType="withEffect">
                                  <p:stCondLst>
                                    <p:cond delay="0"/>
                                  </p:stCondLst>
                                  <p:childTnLst>
                                    <p:set>
                                      <p:cBhvr>
                                        <p:cTn id="60" dur="1" fill="hold">
                                          <p:stCondLst>
                                            <p:cond delay="0"/>
                                          </p:stCondLst>
                                        </p:cTn>
                                        <p:tgtEl>
                                          <p:spTgt spid="303"/>
                                        </p:tgtEl>
                                        <p:attrNameLst>
                                          <p:attrName>style.visibility</p:attrName>
                                        </p:attrNameLst>
                                      </p:cBhvr>
                                      <p:to>
                                        <p:strVal val="visible"/>
                                      </p:to>
                                    </p:set>
                                    <p:animEffect transition="in" filter="fade">
                                      <p:cBhvr>
                                        <p:cTn id="61" dur="500"/>
                                        <p:tgtEl>
                                          <p:spTgt spid="303"/>
                                        </p:tgtEl>
                                      </p:cBhvr>
                                    </p:animEffect>
                                  </p:childTnLst>
                                </p:cTn>
                              </p:par>
                              <p:par>
                                <p:cTn id="62" presetID="10" presetClass="entr" presetSubtype="0" fill="hold" nodeType="withEffect">
                                  <p:stCondLst>
                                    <p:cond delay="0"/>
                                  </p:stCondLst>
                                  <p:childTnLst>
                                    <p:set>
                                      <p:cBhvr>
                                        <p:cTn id="63" dur="1" fill="hold">
                                          <p:stCondLst>
                                            <p:cond delay="0"/>
                                          </p:stCondLst>
                                        </p:cTn>
                                        <p:tgtEl>
                                          <p:spTgt spid="304"/>
                                        </p:tgtEl>
                                        <p:attrNameLst>
                                          <p:attrName>style.visibility</p:attrName>
                                        </p:attrNameLst>
                                      </p:cBhvr>
                                      <p:to>
                                        <p:strVal val="visible"/>
                                      </p:to>
                                    </p:set>
                                    <p:animEffect transition="in" filter="fade">
                                      <p:cBhvr>
                                        <p:cTn id="64" dur="500"/>
                                        <p:tgtEl>
                                          <p:spTgt spid="304"/>
                                        </p:tgtEl>
                                      </p:cBhvr>
                                    </p:animEffect>
                                  </p:childTnLst>
                                </p:cTn>
                              </p:par>
                              <p:par>
                                <p:cTn id="65" presetID="10" presetClass="entr" presetSubtype="0" fill="hold" nodeType="withEffect">
                                  <p:stCondLst>
                                    <p:cond delay="0"/>
                                  </p:stCondLst>
                                  <p:childTnLst>
                                    <p:set>
                                      <p:cBhvr>
                                        <p:cTn id="66" dur="1" fill="hold">
                                          <p:stCondLst>
                                            <p:cond delay="0"/>
                                          </p:stCondLst>
                                        </p:cTn>
                                        <p:tgtEl>
                                          <p:spTgt spid="305"/>
                                        </p:tgtEl>
                                        <p:attrNameLst>
                                          <p:attrName>style.visibility</p:attrName>
                                        </p:attrNameLst>
                                      </p:cBhvr>
                                      <p:to>
                                        <p:strVal val="visible"/>
                                      </p:to>
                                    </p:set>
                                    <p:animEffect transition="in" filter="fade">
                                      <p:cBhvr>
                                        <p:cTn id="67" dur="500"/>
                                        <p:tgtEl>
                                          <p:spTgt spid="30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70"/>
                                        </p:tgtEl>
                                        <p:attrNameLst>
                                          <p:attrName>style.visibility</p:attrName>
                                        </p:attrNameLst>
                                      </p:cBhvr>
                                      <p:to>
                                        <p:strVal val="visible"/>
                                      </p:to>
                                    </p:set>
                                    <p:animEffect transition="in" filter="fade">
                                      <p:cBhvr>
                                        <p:cTn id="72" dur="500"/>
                                        <p:tgtEl>
                                          <p:spTgt spid="270"/>
                                        </p:tgtEl>
                                      </p:cBhvr>
                                    </p:animEffect>
                                  </p:childTnLst>
                                </p:cTn>
                              </p:par>
                              <p:par>
                                <p:cTn id="73" presetID="10" presetClass="entr" presetSubtype="0" fill="hold" nodeType="withEffect">
                                  <p:stCondLst>
                                    <p:cond delay="0"/>
                                  </p:stCondLst>
                                  <p:childTnLst>
                                    <p:set>
                                      <p:cBhvr>
                                        <p:cTn id="74" dur="1" fill="hold">
                                          <p:stCondLst>
                                            <p:cond delay="0"/>
                                          </p:stCondLst>
                                        </p:cTn>
                                        <p:tgtEl>
                                          <p:spTgt spid="271"/>
                                        </p:tgtEl>
                                        <p:attrNameLst>
                                          <p:attrName>style.visibility</p:attrName>
                                        </p:attrNameLst>
                                      </p:cBhvr>
                                      <p:to>
                                        <p:strVal val="visible"/>
                                      </p:to>
                                    </p:set>
                                    <p:animEffect transition="in" filter="fade">
                                      <p:cBhvr>
                                        <p:cTn id="75" dur="500"/>
                                        <p:tgtEl>
                                          <p:spTgt spid="271"/>
                                        </p:tgtEl>
                                      </p:cBhvr>
                                    </p:animEffect>
                                  </p:childTnLst>
                                </p:cTn>
                              </p:par>
                              <p:par>
                                <p:cTn id="76" presetID="10" presetClass="entr" presetSubtype="0" fill="hold" nodeType="withEffect">
                                  <p:stCondLst>
                                    <p:cond delay="0"/>
                                  </p:stCondLst>
                                  <p:childTnLst>
                                    <p:set>
                                      <p:cBhvr>
                                        <p:cTn id="77" dur="1" fill="hold">
                                          <p:stCondLst>
                                            <p:cond delay="0"/>
                                          </p:stCondLst>
                                        </p:cTn>
                                        <p:tgtEl>
                                          <p:spTgt spid="272"/>
                                        </p:tgtEl>
                                        <p:attrNameLst>
                                          <p:attrName>style.visibility</p:attrName>
                                        </p:attrNameLst>
                                      </p:cBhvr>
                                      <p:to>
                                        <p:strVal val="visible"/>
                                      </p:to>
                                    </p:set>
                                    <p:animEffect transition="in" filter="fade">
                                      <p:cBhvr>
                                        <p:cTn id="78" dur="500"/>
                                        <p:tgtEl>
                                          <p:spTgt spid="272"/>
                                        </p:tgtEl>
                                      </p:cBhvr>
                                    </p:animEffect>
                                  </p:childTnLst>
                                </p:cTn>
                              </p:par>
                              <p:par>
                                <p:cTn id="79" presetID="10" presetClass="entr" presetSubtype="0" fill="hold" nodeType="withEffect">
                                  <p:stCondLst>
                                    <p:cond delay="0"/>
                                  </p:stCondLst>
                                  <p:childTnLst>
                                    <p:set>
                                      <p:cBhvr>
                                        <p:cTn id="80" dur="1" fill="hold">
                                          <p:stCondLst>
                                            <p:cond delay="0"/>
                                          </p:stCondLst>
                                        </p:cTn>
                                        <p:tgtEl>
                                          <p:spTgt spid="273"/>
                                        </p:tgtEl>
                                        <p:attrNameLst>
                                          <p:attrName>style.visibility</p:attrName>
                                        </p:attrNameLst>
                                      </p:cBhvr>
                                      <p:to>
                                        <p:strVal val="visible"/>
                                      </p:to>
                                    </p:set>
                                    <p:animEffect transition="in" filter="fade">
                                      <p:cBhvr>
                                        <p:cTn id="81" dur="500"/>
                                        <p:tgtEl>
                                          <p:spTgt spid="273"/>
                                        </p:tgtEl>
                                      </p:cBhvr>
                                    </p:animEffect>
                                  </p:childTnLst>
                                </p:cTn>
                              </p:par>
                              <p:par>
                                <p:cTn id="82" presetID="10" presetClass="entr" presetSubtype="0" fill="hold" nodeType="withEffect">
                                  <p:stCondLst>
                                    <p:cond delay="0"/>
                                  </p:stCondLst>
                                  <p:childTnLst>
                                    <p:set>
                                      <p:cBhvr>
                                        <p:cTn id="83" dur="1" fill="hold">
                                          <p:stCondLst>
                                            <p:cond delay="0"/>
                                          </p:stCondLst>
                                        </p:cTn>
                                        <p:tgtEl>
                                          <p:spTgt spid="274"/>
                                        </p:tgtEl>
                                        <p:attrNameLst>
                                          <p:attrName>style.visibility</p:attrName>
                                        </p:attrNameLst>
                                      </p:cBhvr>
                                      <p:to>
                                        <p:strVal val="visible"/>
                                      </p:to>
                                    </p:set>
                                    <p:animEffect transition="in" filter="fade">
                                      <p:cBhvr>
                                        <p:cTn id="84" dur="500"/>
                                        <p:tgtEl>
                                          <p:spTgt spid="274"/>
                                        </p:tgtEl>
                                      </p:cBhvr>
                                    </p:animEffect>
                                  </p:childTnLst>
                                </p:cTn>
                              </p:par>
                              <p:par>
                                <p:cTn id="85" presetID="10" presetClass="entr" presetSubtype="0" fill="hold" nodeType="withEffect">
                                  <p:stCondLst>
                                    <p:cond delay="0"/>
                                  </p:stCondLst>
                                  <p:childTnLst>
                                    <p:set>
                                      <p:cBhvr>
                                        <p:cTn id="86" dur="1" fill="hold">
                                          <p:stCondLst>
                                            <p:cond delay="0"/>
                                          </p:stCondLst>
                                        </p:cTn>
                                        <p:tgtEl>
                                          <p:spTgt spid="275"/>
                                        </p:tgtEl>
                                        <p:attrNameLst>
                                          <p:attrName>style.visibility</p:attrName>
                                        </p:attrNameLst>
                                      </p:cBhvr>
                                      <p:to>
                                        <p:strVal val="visible"/>
                                      </p:to>
                                    </p:set>
                                    <p:animEffect transition="in" filter="fade">
                                      <p:cBhvr>
                                        <p:cTn id="87" dur="500"/>
                                        <p:tgtEl>
                                          <p:spTgt spid="275"/>
                                        </p:tgtEl>
                                      </p:cBhvr>
                                    </p:animEffect>
                                  </p:childTnLst>
                                </p:cTn>
                              </p:par>
                              <p:par>
                                <p:cTn id="88" presetID="10" presetClass="entr" presetSubtype="0" fill="hold" nodeType="withEffect">
                                  <p:stCondLst>
                                    <p:cond delay="0"/>
                                  </p:stCondLst>
                                  <p:childTnLst>
                                    <p:set>
                                      <p:cBhvr>
                                        <p:cTn id="89" dur="1" fill="hold">
                                          <p:stCondLst>
                                            <p:cond delay="0"/>
                                          </p:stCondLst>
                                        </p:cTn>
                                        <p:tgtEl>
                                          <p:spTgt spid="276"/>
                                        </p:tgtEl>
                                        <p:attrNameLst>
                                          <p:attrName>style.visibility</p:attrName>
                                        </p:attrNameLst>
                                      </p:cBhvr>
                                      <p:to>
                                        <p:strVal val="visible"/>
                                      </p:to>
                                    </p:set>
                                    <p:animEffect transition="in" filter="fade">
                                      <p:cBhvr>
                                        <p:cTn id="90" dur="500"/>
                                        <p:tgtEl>
                                          <p:spTgt spid="276"/>
                                        </p:tgtEl>
                                      </p:cBhvr>
                                    </p:animEffect>
                                  </p:childTnLst>
                                </p:cTn>
                              </p:par>
                              <p:par>
                                <p:cTn id="91" presetID="10" presetClass="entr" presetSubtype="0" fill="hold" nodeType="withEffect">
                                  <p:stCondLst>
                                    <p:cond delay="0"/>
                                  </p:stCondLst>
                                  <p:childTnLst>
                                    <p:set>
                                      <p:cBhvr>
                                        <p:cTn id="92" dur="1" fill="hold">
                                          <p:stCondLst>
                                            <p:cond delay="0"/>
                                          </p:stCondLst>
                                        </p:cTn>
                                        <p:tgtEl>
                                          <p:spTgt spid="277"/>
                                        </p:tgtEl>
                                        <p:attrNameLst>
                                          <p:attrName>style.visibility</p:attrName>
                                        </p:attrNameLst>
                                      </p:cBhvr>
                                      <p:to>
                                        <p:strVal val="visible"/>
                                      </p:to>
                                    </p:set>
                                    <p:animEffect transition="in" filter="fade">
                                      <p:cBhvr>
                                        <p:cTn id="93" dur="500"/>
                                        <p:tgtEl>
                                          <p:spTgt spid="277"/>
                                        </p:tgtEl>
                                      </p:cBhvr>
                                    </p:animEffect>
                                  </p:childTnLst>
                                </p:cTn>
                              </p:par>
                              <p:par>
                                <p:cTn id="94" presetID="10" presetClass="entr" presetSubtype="0" fill="hold" nodeType="withEffect">
                                  <p:stCondLst>
                                    <p:cond delay="0"/>
                                  </p:stCondLst>
                                  <p:childTnLst>
                                    <p:set>
                                      <p:cBhvr>
                                        <p:cTn id="95" dur="1" fill="hold">
                                          <p:stCondLst>
                                            <p:cond delay="0"/>
                                          </p:stCondLst>
                                        </p:cTn>
                                        <p:tgtEl>
                                          <p:spTgt spid="278"/>
                                        </p:tgtEl>
                                        <p:attrNameLst>
                                          <p:attrName>style.visibility</p:attrName>
                                        </p:attrNameLst>
                                      </p:cBhvr>
                                      <p:to>
                                        <p:strVal val="visible"/>
                                      </p:to>
                                    </p:set>
                                    <p:animEffect transition="in" filter="fade">
                                      <p:cBhvr>
                                        <p:cTn id="96" dur="500"/>
                                        <p:tgtEl>
                                          <p:spTgt spid="278"/>
                                        </p:tgtEl>
                                      </p:cBhvr>
                                    </p:animEffect>
                                  </p:childTnLst>
                                </p:cTn>
                              </p:par>
                              <p:par>
                                <p:cTn id="97" presetID="10" presetClass="entr" presetSubtype="0" fill="hold" nodeType="withEffect">
                                  <p:stCondLst>
                                    <p:cond delay="0"/>
                                  </p:stCondLst>
                                  <p:childTnLst>
                                    <p:set>
                                      <p:cBhvr>
                                        <p:cTn id="98" dur="1" fill="hold">
                                          <p:stCondLst>
                                            <p:cond delay="0"/>
                                          </p:stCondLst>
                                        </p:cTn>
                                        <p:tgtEl>
                                          <p:spTgt spid="279"/>
                                        </p:tgtEl>
                                        <p:attrNameLst>
                                          <p:attrName>style.visibility</p:attrName>
                                        </p:attrNameLst>
                                      </p:cBhvr>
                                      <p:to>
                                        <p:strVal val="visible"/>
                                      </p:to>
                                    </p:set>
                                    <p:animEffect transition="in" filter="fade">
                                      <p:cBhvr>
                                        <p:cTn id="99" dur="500"/>
                                        <p:tgtEl>
                                          <p:spTgt spid="279"/>
                                        </p:tgtEl>
                                      </p:cBhvr>
                                    </p:animEffect>
                                  </p:childTnLst>
                                </p:cTn>
                              </p:par>
                              <p:par>
                                <p:cTn id="100" presetID="10" presetClass="entr" presetSubtype="0" fill="hold" nodeType="withEffect">
                                  <p:stCondLst>
                                    <p:cond delay="0"/>
                                  </p:stCondLst>
                                  <p:childTnLst>
                                    <p:set>
                                      <p:cBhvr>
                                        <p:cTn id="101" dur="1" fill="hold">
                                          <p:stCondLst>
                                            <p:cond delay="0"/>
                                          </p:stCondLst>
                                        </p:cTn>
                                        <p:tgtEl>
                                          <p:spTgt spid="280"/>
                                        </p:tgtEl>
                                        <p:attrNameLst>
                                          <p:attrName>style.visibility</p:attrName>
                                        </p:attrNameLst>
                                      </p:cBhvr>
                                      <p:to>
                                        <p:strVal val="visible"/>
                                      </p:to>
                                    </p:set>
                                    <p:animEffect transition="in" filter="fade">
                                      <p:cBhvr>
                                        <p:cTn id="102" dur="500"/>
                                        <p:tgtEl>
                                          <p:spTgt spid="280"/>
                                        </p:tgtEl>
                                      </p:cBhvr>
                                    </p:animEffect>
                                  </p:childTnLst>
                                </p:cTn>
                              </p:par>
                              <p:par>
                                <p:cTn id="103" presetID="10" presetClass="entr" presetSubtype="0" fill="hold" nodeType="withEffect">
                                  <p:stCondLst>
                                    <p:cond delay="0"/>
                                  </p:stCondLst>
                                  <p:childTnLst>
                                    <p:set>
                                      <p:cBhvr>
                                        <p:cTn id="104" dur="1" fill="hold">
                                          <p:stCondLst>
                                            <p:cond delay="0"/>
                                          </p:stCondLst>
                                        </p:cTn>
                                        <p:tgtEl>
                                          <p:spTgt spid="281"/>
                                        </p:tgtEl>
                                        <p:attrNameLst>
                                          <p:attrName>style.visibility</p:attrName>
                                        </p:attrNameLst>
                                      </p:cBhvr>
                                      <p:to>
                                        <p:strVal val="visible"/>
                                      </p:to>
                                    </p:set>
                                    <p:animEffect transition="in" filter="fade">
                                      <p:cBhvr>
                                        <p:cTn id="105" dur="500"/>
                                        <p:tgtEl>
                                          <p:spTgt spid="281"/>
                                        </p:tgtEl>
                                      </p:cBhvr>
                                    </p:animEffect>
                                  </p:childTnLst>
                                </p:cTn>
                              </p:par>
                              <p:par>
                                <p:cTn id="106" presetID="10" presetClass="entr" presetSubtype="0" fill="hold" nodeType="withEffect">
                                  <p:stCondLst>
                                    <p:cond delay="0"/>
                                  </p:stCondLst>
                                  <p:childTnLst>
                                    <p:set>
                                      <p:cBhvr>
                                        <p:cTn id="107" dur="1" fill="hold">
                                          <p:stCondLst>
                                            <p:cond delay="0"/>
                                          </p:stCondLst>
                                        </p:cTn>
                                        <p:tgtEl>
                                          <p:spTgt spid="282"/>
                                        </p:tgtEl>
                                        <p:attrNameLst>
                                          <p:attrName>style.visibility</p:attrName>
                                        </p:attrNameLst>
                                      </p:cBhvr>
                                      <p:to>
                                        <p:strVal val="visible"/>
                                      </p:to>
                                    </p:set>
                                    <p:animEffect transition="in" filter="fade">
                                      <p:cBhvr>
                                        <p:cTn id="108" dur="500"/>
                                        <p:tgtEl>
                                          <p:spTgt spid="282"/>
                                        </p:tgtEl>
                                      </p:cBhvr>
                                    </p:animEffect>
                                  </p:childTnLst>
                                </p:cTn>
                              </p:par>
                              <p:par>
                                <p:cTn id="109" presetID="10" presetClass="entr" presetSubtype="0" fill="hold" nodeType="withEffect">
                                  <p:stCondLst>
                                    <p:cond delay="0"/>
                                  </p:stCondLst>
                                  <p:childTnLst>
                                    <p:set>
                                      <p:cBhvr>
                                        <p:cTn id="110" dur="1" fill="hold">
                                          <p:stCondLst>
                                            <p:cond delay="0"/>
                                          </p:stCondLst>
                                        </p:cTn>
                                        <p:tgtEl>
                                          <p:spTgt spid="283"/>
                                        </p:tgtEl>
                                        <p:attrNameLst>
                                          <p:attrName>style.visibility</p:attrName>
                                        </p:attrNameLst>
                                      </p:cBhvr>
                                      <p:to>
                                        <p:strVal val="visible"/>
                                      </p:to>
                                    </p:set>
                                    <p:animEffect transition="in" filter="fade">
                                      <p:cBhvr>
                                        <p:cTn id="111" dur="500"/>
                                        <p:tgtEl>
                                          <p:spTgt spid="283"/>
                                        </p:tgtEl>
                                      </p:cBhvr>
                                    </p:animEffect>
                                  </p:childTnLst>
                                </p:cTn>
                              </p:par>
                              <p:par>
                                <p:cTn id="112" presetID="10" presetClass="entr" presetSubtype="0" fill="hold" nodeType="withEffect">
                                  <p:stCondLst>
                                    <p:cond delay="0"/>
                                  </p:stCondLst>
                                  <p:childTnLst>
                                    <p:set>
                                      <p:cBhvr>
                                        <p:cTn id="113" dur="1" fill="hold">
                                          <p:stCondLst>
                                            <p:cond delay="0"/>
                                          </p:stCondLst>
                                        </p:cTn>
                                        <p:tgtEl>
                                          <p:spTgt spid="284"/>
                                        </p:tgtEl>
                                        <p:attrNameLst>
                                          <p:attrName>style.visibility</p:attrName>
                                        </p:attrNameLst>
                                      </p:cBhvr>
                                      <p:to>
                                        <p:strVal val="visible"/>
                                      </p:to>
                                    </p:set>
                                    <p:animEffect transition="in" filter="fade">
                                      <p:cBhvr>
                                        <p:cTn id="114" dur="500"/>
                                        <p:tgtEl>
                                          <p:spTgt spid="284"/>
                                        </p:tgtEl>
                                      </p:cBhvr>
                                    </p:animEffect>
                                  </p:childTnLst>
                                </p:cTn>
                              </p:par>
                              <p:par>
                                <p:cTn id="115" presetID="10" presetClass="entr" presetSubtype="0" fill="hold" nodeType="withEffect">
                                  <p:stCondLst>
                                    <p:cond delay="0"/>
                                  </p:stCondLst>
                                  <p:childTnLst>
                                    <p:set>
                                      <p:cBhvr>
                                        <p:cTn id="116" dur="1" fill="hold">
                                          <p:stCondLst>
                                            <p:cond delay="0"/>
                                          </p:stCondLst>
                                        </p:cTn>
                                        <p:tgtEl>
                                          <p:spTgt spid="285"/>
                                        </p:tgtEl>
                                        <p:attrNameLst>
                                          <p:attrName>style.visibility</p:attrName>
                                        </p:attrNameLst>
                                      </p:cBhvr>
                                      <p:to>
                                        <p:strVal val="visible"/>
                                      </p:to>
                                    </p:set>
                                    <p:animEffect transition="in" filter="fade">
                                      <p:cBhvr>
                                        <p:cTn id="117" dur="500"/>
                                        <p:tgtEl>
                                          <p:spTgt spid="285"/>
                                        </p:tgtEl>
                                      </p:cBhvr>
                                    </p:animEffect>
                                  </p:childTnLst>
                                </p:cTn>
                              </p:par>
                              <p:par>
                                <p:cTn id="118" presetID="10" presetClass="entr" presetSubtype="0" fill="hold" nodeType="withEffect">
                                  <p:stCondLst>
                                    <p:cond delay="0"/>
                                  </p:stCondLst>
                                  <p:childTnLst>
                                    <p:set>
                                      <p:cBhvr>
                                        <p:cTn id="119" dur="1" fill="hold">
                                          <p:stCondLst>
                                            <p:cond delay="0"/>
                                          </p:stCondLst>
                                        </p:cTn>
                                        <p:tgtEl>
                                          <p:spTgt spid="286"/>
                                        </p:tgtEl>
                                        <p:attrNameLst>
                                          <p:attrName>style.visibility</p:attrName>
                                        </p:attrNameLst>
                                      </p:cBhvr>
                                      <p:to>
                                        <p:strVal val="visible"/>
                                      </p:to>
                                    </p:set>
                                    <p:animEffect transition="in" filter="fade">
                                      <p:cBhvr>
                                        <p:cTn id="120" dur="500"/>
                                        <p:tgtEl>
                                          <p:spTgt spid="286"/>
                                        </p:tgtEl>
                                      </p:cBhvr>
                                    </p:animEffect>
                                  </p:childTnLst>
                                </p:cTn>
                              </p:par>
                              <p:par>
                                <p:cTn id="121" presetID="10" presetClass="entr" presetSubtype="0" fill="hold" nodeType="withEffect">
                                  <p:stCondLst>
                                    <p:cond delay="0"/>
                                  </p:stCondLst>
                                  <p:childTnLst>
                                    <p:set>
                                      <p:cBhvr>
                                        <p:cTn id="122" dur="1" fill="hold">
                                          <p:stCondLst>
                                            <p:cond delay="0"/>
                                          </p:stCondLst>
                                        </p:cTn>
                                        <p:tgtEl>
                                          <p:spTgt spid="287"/>
                                        </p:tgtEl>
                                        <p:attrNameLst>
                                          <p:attrName>style.visibility</p:attrName>
                                        </p:attrNameLst>
                                      </p:cBhvr>
                                      <p:to>
                                        <p:strVal val="visible"/>
                                      </p:to>
                                    </p:set>
                                    <p:animEffect transition="in" filter="fade">
                                      <p:cBhvr>
                                        <p:cTn id="123" dur="500"/>
                                        <p:tgtEl>
                                          <p:spTgt spid="287"/>
                                        </p:tgtEl>
                                      </p:cBhvr>
                                    </p:animEffect>
                                  </p:childTnLst>
                                </p:cTn>
                              </p:par>
                              <p:par>
                                <p:cTn id="124" presetID="10" presetClass="entr" presetSubtype="0" fill="hold" nodeType="withEffect">
                                  <p:stCondLst>
                                    <p:cond delay="0"/>
                                  </p:stCondLst>
                                  <p:childTnLst>
                                    <p:set>
                                      <p:cBhvr>
                                        <p:cTn id="125" dur="1" fill="hold">
                                          <p:stCondLst>
                                            <p:cond delay="0"/>
                                          </p:stCondLst>
                                        </p:cTn>
                                        <p:tgtEl>
                                          <p:spTgt spid="288"/>
                                        </p:tgtEl>
                                        <p:attrNameLst>
                                          <p:attrName>style.visibility</p:attrName>
                                        </p:attrNameLst>
                                      </p:cBhvr>
                                      <p:to>
                                        <p:strVal val="visible"/>
                                      </p:to>
                                    </p:set>
                                    <p:animEffect transition="in" filter="fade">
                                      <p:cBhvr>
                                        <p:cTn id="126" dur="500"/>
                                        <p:tgtEl>
                                          <p:spTgt spid="288"/>
                                        </p:tgtEl>
                                      </p:cBhvr>
                                    </p:animEffect>
                                  </p:childTnLst>
                                </p:cTn>
                              </p:par>
                              <p:par>
                                <p:cTn id="127" presetID="10" presetClass="entr" presetSubtype="0" fill="hold" nodeType="withEffect">
                                  <p:stCondLst>
                                    <p:cond delay="0"/>
                                  </p:stCondLst>
                                  <p:childTnLst>
                                    <p:set>
                                      <p:cBhvr>
                                        <p:cTn id="128" dur="1" fill="hold">
                                          <p:stCondLst>
                                            <p:cond delay="0"/>
                                          </p:stCondLst>
                                        </p:cTn>
                                        <p:tgtEl>
                                          <p:spTgt spid="289"/>
                                        </p:tgtEl>
                                        <p:attrNameLst>
                                          <p:attrName>style.visibility</p:attrName>
                                        </p:attrNameLst>
                                      </p:cBhvr>
                                      <p:to>
                                        <p:strVal val="visible"/>
                                      </p:to>
                                    </p:set>
                                    <p:animEffect transition="in" filter="fade">
                                      <p:cBhvr>
                                        <p:cTn id="129" dur="500"/>
                                        <p:tgtEl>
                                          <p:spTgt spid="289"/>
                                        </p:tgtEl>
                                      </p:cBhvr>
                                    </p:animEffect>
                                  </p:childTnLst>
                                </p:cTn>
                              </p:par>
                              <p:par>
                                <p:cTn id="130" presetID="10" presetClass="entr" presetSubtype="0" fill="hold" nodeType="withEffect">
                                  <p:stCondLst>
                                    <p:cond delay="0"/>
                                  </p:stCondLst>
                                  <p:childTnLst>
                                    <p:set>
                                      <p:cBhvr>
                                        <p:cTn id="131" dur="1" fill="hold">
                                          <p:stCondLst>
                                            <p:cond delay="0"/>
                                          </p:stCondLst>
                                        </p:cTn>
                                        <p:tgtEl>
                                          <p:spTgt spid="290"/>
                                        </p:tgtEl>
                                        <p:attrNameLst>
                                          <p:attrName>style.visibility</p:attrName>
                                        </p:attrNameLst>
                                      </p:cBhvr>
                                      <p:to>
                                        <p:strVal val="visible"/>
                                      </p:to>
                                    </p:set>
                                    <p:animEffect transition="in" filter="fade">
                                      <p:cBhvr>
                                        <p:cTn id="132" dur="500"/>
                                        <p:tgtEl>
                                          <p:spTgt spid="290"/>
                                        </p:tgtEl>
                                      </p:cBhvr>
                                    </p:animEffect>
                                  </p:childTnLst>
                                </p:cTn>
                              </p:par>
                              <p:par>
                                <p:cTn id="133" presetID="10" presetClass="entr" presetSubtype="0" fill="hold" nodeType="withEffect">
                                  <p:stCondLst>
                                    <p:cond delay="0"/>
                                  </p:stCondLst>
                                  <p:childTnLst>
                                    <p:set>
                                      <p:cBhvr>
                                        <p:cTn id="134" dur="1" fill="hold">
                                          <p:stCondLst>
                                            <p:cond delay="0"/>
                                          </p:stCondLst>
                                        </p:cTn>
                                        <p:tgtEl>
                                          <p:spTgt spid="291"/>
                                        </p:tgtEl>
                                        <p:attrNameLst>
                                          <p:attrName>style.visibility</p:attrName>
                                        </p:attrNameLst>
                                      </p:cBhvr>
                                      <p:to>
                                        <p:strVal val="visible"/>
                                      </p:to>
                                    </p:set>
                                    <p:animEffect transition="in" filter="fade">
                                      <p:cBhvr>
                                        <p:cTn id="135" dur="500"/>
                                        <p:tgtEl>
                                          <p:spTgt spid="291"/>
                                        </p:tgtEl>
                                      </p:cBhvr>
                                    </p:animEffect>
                                  </p:childTnLst>
                                </p:cTn>
                              </p:par>
                              <p:par>
                                <p:cTn id="136" presetID="10" presetClass="entr" presetSubtype="0" fill="hold" nodeType="withEffect">
                                  <p:stCondLst>
                                    <p:cond delay="0"/>
                                  </p:stCondLst>
                                  <p:childTnLst>
                                    <p:set>
                                      <p:cBhvr>
                                        <p:cTn id="137" dur="1" fill="hold">
                                          <p:stCondLst>
                                            <p:cond delay="0"/>
                                          </p:stCondLst>
                                        </p:cTn>
                                        <p:tgtEl>
                                          <p:spTgt spid="292"/>
                                        </p:tgtEl>
                                        <p:attrNameLst>
                                          <p:attrName>style.visibility</p:attrName>
                                        </p:attrNameLst>
                                      </p:cBhvr>
                                      <p:to>
                                        <p:strVal val="visible"/>
                                      </p:to>
                                    </p:set>
                                    <p:animEffect transition="in" filter="fade">
                                      <p:cBhvr>
                                        <p:cTn id="138" dur="500"/>
                                        <p:tgtEl>
                                          <p:spTgt spid="292"/>
                                        </p:tgtEl>
                                      </p:cBhvr>
                                    </p:animEffect>
                                  </p:childTnLst>
                                </p:cTn>
                              </p:par>
                              <p:par>
                                <p:cTn id="139" presetID="10" presetClass="entr" presetSubtype="0" fill="hold" nodeType="withEffect">
                                  <p:stCondLst>
                                    <p:cond delay="0"/>
                                  </p:stCondLst>
                                  <p:childTnLst>
                                    <p:set>
                                      <p:cBhvr>
                                        <p:cTn id="140" dur="1" fill="hold">
                                          <p:stCondLst>
                                            <p:cond delay="0"/>
                                          </p:stCondLst>
                                        </p:cTn>
                                        <p:tgtEl>
                                          <p:spTgt spid="293"/>
                                        </p:tgtEl>
                                        <p:attrNameLst>
                                          <p:attrName>style.visibility</p:attrName>
                                        </p:attrNameLst>
                                      </p:cBhvr>
                                      <p:to>
                                        <p:strVal val="visible"/>
                                      </p:to>
                                    </p:set>
                                    <p:animEffect transition="in" filter="fade">
                                      <p:cBhvr>
                                        <p:cTn id="141" dur="500"/>
                                        <p:tgtEl>
                                          <p:spTgt spid="293"/>
                                        </p:tgtEl>
                                      </p:cBhvr>
                                    </p:animEffect>
                                  </p:childTnLst>
                                </p:cTn>
                              </p:par>
                              <p:par>
                                <p:cTn id="142" presetID="10" presetClass="entr" presetSubtype="0" fill="hold" nodeType="withEffect">
                                  <p:stCondLst>
                                    <p:cond delay="0"/>
                                  </p:stCondLst>
                                  <p:childTnLst>
                                    <p:set>
                                      <p:cBhvr>
                                        <p:cTn id="143" dur="1" fill="hold">
                                          <p:stCondLst>
                                            <p:cond delay="0"/>
                                          </p:stCondLst>
                                        </p:cTn>
                                        <p:tgtEl>
                                          <p:spTgt spid="294"/>
                                        </p:tgtEl>
                                        <p:attrNameLst>
                                          <p:attrName>style.visibility</p:attrName>
                                        </p:attrNameLst>
                                      </p:cBhvr>
                                      <p:to>
                                        <p:strVal val="visible"/>
                                      </p:to>
                                    </p:set>
                                    <p:animEffect transition="in" filter="fade">
                                      <p:cBhvr>
                                        <p:cTn id="144" dur="500"/>
                                        <p:tgtEl>
                                          <p:spTgt spid="294"/>
                                        </p:tgtEl>
                                      </p:cBhvr>
                                    </p:animEffect>
                                  </p:childTnLst>
                                </p:cTn>
                              </p:par>
                              <p:par>
                                <p:cTn id="145" presetID="10" presetClass="entr" presetSubtype="0" fill="hold" nodeType="withEffect">
                                  <p:stCondLst>
                                    <p:cond delay="0"/>
                                  </p:stCondLst>
                                  <p:childTnLst>
                                    <p:set>
                                      <p:cBhvr>
                                        <p:cTn id="146" dur="1" fill="hold">
                                          <p:stCondLst>
                                            <p:cond delay="0"/>
                                          </p:stCondLst>
                                        </p:cTn>
                                        <p:tgtEl>
                                          <p:spTgt spid="295"/>
                                        </p:tgtEl>
                                        <p:attrNameLst>
                                          <p:attrName>style.visibility</p:attrName>
                                        </p:attrNameLst>
                                      </p:cBhvr>
                                      <p:to>
                                        <p:strVal val="visible"/>
                                      </p:to>
                                    </p:set>
                                    <p:animEffect transition="in" filter="fade">
                                      <p:cBhvr>
                                        <p:cTn id="147" dur="500"/>
                                        <p:tgtEl>
                                          <p:spTgt spid="295"/>
                                        </p:tgtEl>
                                      </p:cBhvr>
                                    </p:animEffect>
                                  </p:childTnLst>
                                </p:cTn>
                              </p:par>
                              <p:par>
                                <p:cTn id="148" presetID="10" presetClass="entr" presetSubtype="0" fill="hold" nodeType="withEffect">
                                  <p:stCondLst>
                                    <p:cond delay="0"/>
                                  </p:stCondLst>
                                  <p:childTnLst>
                                    <p:set>
                                      <p:cBhvr>
                                        <p:cTn id="149" dur="1" fill="hold">
                                          <p:stCondLst>
                                            <p:cond delay="0"/>
                                          </p:stCondLst>
                                        </p:cTn>
                                        <p:tgtEl>
                                          <p:spTgt spid="296"/>
                                        </p:tgtEl>
                                        <p:attrNameLst>
                                          <p:attrName>style.visibility</p:attrName>
                                        </p:attrNameLst>
                                      </p:cBhvr>
                                      <p:to>
                                        <p:strVal val="visible"/>
                                      </p:to>
                                    </p:set>
                                    <p:animEffect transition="in" filter="fade">
                                      <p:cBhvr>
                                        <p:cTn id="150" dur="500"/>
                                        <p:tgtEl>
                                          <p:spTgt spid="296"/>
                                        </p:tgtEl>
                                      </p:cBhvr>
                                    </p:animEffect>
                                  </p:childTnLst>
                                </p:cTn>
                              </p:par>
                              <p:par>
                                <p:cTn id="151" presetID="10" presetClass="entr" presetSubtype="0" fill="hold" nodeType="withEffect">
                                  <p:stCondLst>
                                    <p:cond delay="0"/>
                                  </p:stCondLst>
                                  <p:childTnLst>
                                    <p:set>
                                      <p:cBhvr>
                                        <p:cTn id="152" dur="1" fill="hold">
                                          <p:stCondLst>
                                            <p:cond delay="0"/>
                                          </p:stCondLst>
                                        </p:cTn>
                                        <p:tgtEl>
                                          <p:spTgt spid="297"/>
                                        </p:tgtEl>
                                        <p:attrNameLst>
                                          <p:attrName>style.visibility</p:attrName>
                                        </p:attrNameLst>
                                      </p:cBhvr>
                                      <p:to>
                                        <p:strVal val="visible"/>
                                      </p:to>
                                    </p:set>
                                    <p:animEffect transition="in" filter="fade">
                                      <p:cBhvr>
                                        <p:cTn id="153" dur="500"/>
                                        <p:tgtEl>
                                          <p:spTgt spid="297"/>
                                        </p:tgtEl>
                                      </p:cBhvr>
                                    </p:animEffect>
                                  </p:childTnLst>
                                </p:cTn>
                              </p:par>
                              <p:par>
                                <p:cTn id="154" presetID="10" presetClass="entr" presetSubtype="0" fill="hold" nodeType="withEffect">
                                  <p:stCondLst>
                                    <p:cond delay="0"/>
                                  </p:stCondLst>
                                  <p:childTnLst>
                                    <p:set>
                                      <p:cBhvr>
                                        <p:cTn id="155" dur="1" fill="hold">
                                          <p:stCondLst>
                                            <p:cond delay="0"/>
                                          </p:stCondLst>
                                        </p:cTn>
                                        <p:tgtEl>
                                          <p:spTgt spid="298"/>
                                        </p:tgtEl>
                                        <p:attrNameLst>
                                          <p:attrName>style.visibility</p:attrName>
                                        </p:attrNameLst>
                                      </p:cBhvr>
                                      <p:to>
                                        <p:strVal val="visible"/>
                                      </p:to>
                                    </p:set>
                                    <p:animEffect transition="in" filter="fade">
                                      <p:cBhvr>
                                        <p:cTn id="156" dur="500"/>
                                        <p:tgtEl>
                                          <p:spTgt spid="298"/>
                                        </p:tgtEl>
                                      </p:cBhvr>
                                    </p:animEffect>
                                  </p:childTnLst>
                                </p:cTn>
                              </p:par>
                              <p:par>
                                <p:cTn id="157" presetID="10" presetClass="entr" presetSubtype="0" fill="hold" nodeType="withEffect">
                                  <p:stCondLst>
                                    <p:cond delay="0"/>
                                  </p:stCondLst>
                                  <p:childTnLst>
                                    <p:set>
                                      <p:cBhvr>
                                        <p:cTn id="158" dur="1" fill="hold">
                                          <p:stCondLst>
                                            <p:cond delay="0"/>
                                          </p:stCondLst>
                                        </p:cTn>
                                        <p:tgtEl>
                                          <p:spTgt spid="299"/>
                                        </p:tgtEl>
                                        <p:attrNameLst>
                                          <p:attrName>style.visibility</p:attrName>
                                        </p:attrNameLst>
                                      </p:cBhvr>
                                      <p:to>
                                        <p:strVal val="visible"/>
                                      </p:to>
                                    </p:set>
                                    <p:animEffect transition="in" filter="fade">
                                      <p:cBhvr>
                                        <p:cTn id="159" dur="500"/>
                                        <p:tgtEl>
                                          <p:spTgt spid="299"/>
                                        </p:tgtEl>
                                      </p:cBhvr>
                                    </p:animEffect>
                                  </p:childTnLst>
                                </p:cTn>
                              </p:par>
                              <p:par>
                                <p:cTn id="160" presetID="10" presetClass="entr" presetSubtype="0" fill="hold" nodeType="withEffect">
                                  <p:stCondLst>
                                    <p:cond delay="0"/>
                                  </p:stCondLst>
                                  <p:childTnLst>
                                    <p:set>
                                      <p:cBhvr>
                                        <p:cTn id="161" dur="1" fill="hold">
                                          <p:stCondLst>
                                            <p:cond delay="0"/>
                                          </p:stCondLst>
                                        </p:cTn>
                                        <p:tgtEl>
                                          <p:spTgt spid="300"/>
                                        </p:tgtEl>
                                        <p:attrNameLst>
                                          <p:attrName>style.visibility</p:attrName>
                                        </p:attrNameLst>
                                      </p:cBhvr>
                                      <p:to>
                                        <p:strVal val="visible"/>
                                      </p:to>
                                    </p:set>
                                    <p:animEffect transition="in" filter="fade">
                                      <p:cBhvr>
                                        <p:cTn id="162" dur="500"/>
                                        <p:tgtEl>
                                          <p:spTgt spid="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9"/>
          <p:cNvSpPr txBox="1"/>
          <p:nvPr/>
        </p:nvSpPr>
        <p:spPr>
          <a:xfrm>
            <a:off x="381000" y="761681"/>
            <a:ext cx="8458200" cy="492443"/>
          </a:xfrm>
          <a:prstGeom prst="rect">
            <a:avLst/>
          </a:prstGeom>
          <a:noFill/>
          <a:ln>
            <a:noFill/>
          </a:ln>
        </p:spPr>
        <p:txBody>
          <a:bodyPr spcFirstLastPara="1" wrap="square" lIns="91425" tIns="45700" rIns="91425" bIns="45700" anchor="t" anchorCtr="0">
            <a:spAutoFit/>
          </a:bodyPr>
          <a:lstStyle/>
          <a:p>
            <a:pPr marL="1262063" marR="0" lvl="0" indent="-1262063" algn="l" rtl="0">
              <a:spcBef>
                <a:spcPts val="0"/>
              </a:spcBef>
              <a:spcAft>
                <a:spcPts val="0"/>
              </a:spcAft>
              <a:buNone/>
            </a:pPr>
            <a:r>
              <a:rPr lang="en-US" sz="2600" b="1" i="0" u="none" strike="noStrike" cap="none">
                <a:solidFill>
                  <a:schemeClr val="dk1"/>
                </a:solidFill>
                <a:latin typeface="Arial"/>
                <a:ea typeface="Arial"/>
                <a:cs typeface="Arial"/>
                <a:sym typeface="Arial"/>
              </a:rPr>
              <a:t>7.2 (b)  Apakah itu Jadual Faktor Nilai  Masa Wang ?</a:t>
            </a:r>
            <a:endParaRPr/>
          </a:p>
        </p:txBody>
      </p:sp>
      <p:sp>
        <p:nvSpPr>
          <p:cNvPr id="312" name="Google Shape;312;p29"/>
          <p:cNvSpPr txBox="1"/>
          <p:nvPr/>
        </p:nvSpPr>
        <p:spPr>
          <a:xfrm>
            <a:off x="966716" y="2303412"/>
            <a:ext cx="7548634"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DEFINISI</a:t>
            </a:r>
            <a:endParaRPr/>
          </a:p>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 </a:t>
            </a:r>
            <a:endParaRPr/>
          </a:p>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Jadual yang menyenaraikan faktor nilai kini dan faktor nilai depan untuk tempoh  tertentu (n) dan pada kadar  faedah tertentu (i).</a:t>
            </a:r>
            <a:endParaRPr/>
          </a:p>
          <a:p>
            <a:pPr marL="0" marR="0" lvl="0" indent="0" algn="just"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313" name="Google Shape;313;p2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17</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2"/>
                                        </p:tgtEl>
                                        <p:attrNameLst>
                                          <p:attrName>style.visibility</p:attrName>
                                        </p:attrNameLst>
                                      </p:cBhvr>
                                      <p:to>
                                        <p:strVal val="visible"/>
                                      </p:to>
                                    </p:set>
                                    <p:animEffect transition="in" filter="fade">
                                      <p:cBhvr>
                                        <p:cTn id="7" dur="1000"/>
                                        <p:tgtEl>
                                          <p:spTgt spid="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0"/>
          <p:cNvSpPr txBox="1"/>
          <p:nvPr/>
        </p:nvSpPr>
        <p:spPr>
          <a:xfrm>
            <a:off x="477672" y="861041"/>
            <a:ext cx="8193206" cy="49244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i="0" u="none" strike="noStrike" cap="none">
                <a:solidFill>
                  <a:schemeClr val="dk1"/>
                </a:solidFill>
                <a:latin typeface="Arial"/>
                <a:ea typeface="Arial"/>
                <a:cs typeface="Arial"/>
                <a:sym typeface="Arial"/>
              </a:rPr>
              <a:t>Ada berapa jenis Jadual Faktor Nilai Masa Wang ?</a:t>
            </a:r>
            <a:endParaRPr/>
          </a:p>
        </p:txBody>
      </p:sp>
      <p:sp>
        <p:nvSpPr>
          <p:cNvPr id="319" name="Google Shape;319;p30"/>
          <p:cNvSpPr/>
          <p:nvPr/>
        </p:nvSpPr>
        <p:spPr>
          <a:xfrm>
            <a:off x="441278" y="1676400"/>
            <a:ext cx="8229600" cy="3276600"/>
          </a:xfrm>
          <a:prstGeom prst="foldedCorner">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463550" marR="0" lvl="0" indent="-463550" algn="l" rtl="0">
              <a:spcBef>
                <a:spcPts val="0"/>
              </a:spcBef>
              <a:spcAft>
                <a:spcPts val="0"/>
              </a:spcAft>
              <a:buNone/>
            </a:pPr>
            <a:r>
              <a:rPr lang="en-US" sz="2400" b="0" i="0" u="none" strike="noStrike" cap="none">
                <a:solidFill>
                  <a:schemeClr val="dk1"/>
                </a:solidFill>
                <a:latin typeface="Arial"/>
                <a:ea typeface="Arial"/>
                <a:cs typeface="Arial"/>
                <a:sym typeface="Arial"/>
              </a:rPr>
              <a:t>TERDAPAT 4 JENIS JADUAL</a:t>
            </a:r>
            <a:endParaRPr/>
          </a:p>
          <a:p>
            <a:pPr marL="463550" marR="0" lvl="0" indent="-463550" algn="l" rtl="0">
              <a:spcBef>
                <a:spcPts val="0"/>
              </a:spcBef>
              <a:spcAft>
                <a:spcPts val="0"/>
              </a:spcAft>
              <a:buNone/>
            </a:pPr>
            <a:endParaRPr sz="2400" b="0" i="0" u="none" strike="noStrike" cap="none">
              <a:solidFill>
                <a:schemeClr val="dk1"/>
              </a:solidFill>
              <a:latin typeface="Arial"/>
              <a:ea typeface="Arial"/>
              <a:cs typeface="Arial"/>
              <a:sym typeface="Arial"/>
            </a:endParaRPr>
          </a:p>
          <a:p>
            <a:pPr marL="463550" marR="0" lvl="0" indent="-463550" algn="l" rtl="0">
              <a:spcBef>
                <a:spcPts val="0"/>
              </a:spcBef>
              <a:spcAft>
                <a:spcPts val="0"/>
              </a:spcAft>
              <a:buClr>
                <a:schemeClr val="dk1"/>
              </a:buClr>
              <a:buSzPts val="2400"/>
              <a:buFont typeface="Calibri"/>
              <a:buAutoNum type="arabicPeriod"/>
            </a:pPr>
            <a:r>
              <a:rPr lang="en-US" sz="2400" b="0" i="0" u="none" strike="noStrike" cap="none">
                <a:solidFill>
                  <a:schemeClr val="dk1"/>
                </a:solidFill>
                <a:latin typeface="Arial"/>
                <a:ea typeface="Arial"/>
                <a:cs typeface="Arial"/>
                <a:sym typeface="Arial"/>
              </a:rPr>
              <a:t>JADUAL NILAI DEPAN AMAUN SEKALIGUS (FVIF)</a:t>
            </a:r>
            <a:endParaRPr/>
          </a:p>
          <a:p>
            <a:pPr marL="463550" marR="0" lvl="0" indent="-463550" algn="l" rtl="0">
              <a:spcBef>
                <a:spcPts val="0"/>
              </a:spcBef>
              <a:spcAft>
                <a:spcPts val="0"/>
              </a:spcAft>
              <a:buClr>
                <a:schemeClr val="dk1"/>
              </a:buClr>
              <a:buSzPts val="2400"/>
              <a:buFont typeface="Calibri"/>
              <a:buAutoNum type="arabicPeriod"/>
            </a:pPr>
            <a:r>
              <a:rPr lang="en-US" sz="2400" b="0" i="0" u="none" strike="noStrike" cap="none">
                <a:solidFill>
                  <a:schemeClr val="dk1"/>
                </a:solidFill>
                <a:latin typeface="Arial"/>
                <a:ea typeface="Arial"/>
                <a:cs typeface="Arial"/>
                <a:sym typeface="Arial"/>
              </a:rPr>
              <a:t>JADUAL NILAI KINI AMAUN SEKALIGUS (PVIF)</a:t>
            </a:r>
            <a:endParaRPr/>
          </a:p>
          <a:p>
            <a:pPr marL="463550" marR="0" lvl="0" indent="-463550" algn="l" rtl="0">
              <a:spcBef>
                <a:spcPts val="0"/>
              </a:spcBef>
              <a:spcAft>
                <a:spcPts val="0"/>
              </a:spcAft>
              <a:buClr>
                <a:schemeClr val="dk1"/>
              </a:buClr>
              <a:buSzPts val="2400"/>
              <a:buFont typeface="Calibri"/>
              <a:buAutoNum type="arabicPeriod"/>
            </a:pPr>
            <a:r>
              <a:rPr lang="en-US" sz="2400" b="0" i="0" u="none" strike="noStrike" cap="none">
                <a:solidFill>
                  <a:schemeClr val="dk1"/>
                </a:solidFill>
                <a:latin typeface="Arial"/>
                <a:ea typeface="Arial"/>
                <a:cs typeface="Arial"/>
                <a:sym typeface="Arial"/>
              </a:rPr>
              <a:t>JADUAL NILAI DEPAN AMAUN ANUITI (FVIFA)</a:t>
            </a:r>
            <a:endParaRPr/>
          </a:p>
          <a:p>
            <a:pPr marL="463550" marR="0" lvl="0" indent="-463550" algn="l" rtl="0">
              <a:spcBef>
                <a:spcPts val="0"/>
              </a:spcBef>
              <a:spcAft>
                <a:spcPts val="0"/>
              </a:spcAft>
              <a:buClr>
                <a:schemeClr val="dk1"/>
              </a:buClr>
              <a:buSzPts val="2400"/>
              <a:buFont typeface="Calibri"/>
              <a:buAutoNum type="arabicPeriod"/>
            </a:pPr>
            <a:r>
              <a:rPr lang="en-US" sz="2400" b="0" i="0" u="none" strike="noStrike" cap="none">
                <a:solidFill>
                  <a:schemeClr val="dk1"/>
                </a:solidFill>
                <a:latin typeface="Arial"/>
                <a:ea typeface="Arial"/>
                <a:cs typeface="Arial"/>
                <a:sym typeface="Arial"/>
              </a:rPr>
              <a:t>JADUAL NILAI KINI AMAUN ANUITI (PVIFA)</a:t>
            </a:r>
            <a:endParaRPr/>
          </a:p>
        </p:txBody>
      </p:sp>
      <p:sp>
        <p:nvSpPr>
          <p:cNvPr id="320" name="Google Shape;320;p3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18</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9">
                                            <p:txEl>
                                              <p:pRg st="0" end="0"/>
                                            </p:txEl>
                                          </p:spTgt>
                                        </p:tgtEl>
                                        <p:attrNameLst>
                                          <p:attrName>style.visibility</p:attrName>
                                        </p:attrNameLst>
                                      </p:cBhvr>
                                      <p:to>
                                        <p:strVal val="visible"/>
                                      </p:to>
                                    </p:set>
                                    <p:animEffect transition="in" filter="fade">
                                      <p:cBhvr>
                                        <p:cTn id="7" dur="500"/>
                                        <p:tgtEl>
                                          <p:spTgt spid="3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9">
                                            <p:txEl>
                                              <p:pRg st="1" end="1"/>
                                            </p:txEl>
                                          </p:spTgt>
                                        </p:tgtEl>
                                        <p:attrNameLst>
                                          <p:attrName>style.visibility</p:attrName>
                                        </p:attrNameLst>
                                      </p:cBhvr>
                                      <p:to>
                                        <p:strVal val="visible"/>
                                      </p:to>
                                    </p:set>
                                    <p:animEffect transition="in" filter="fade">
                                      <p:cBhvr>
                                        <p:cTn id="12" dur="500"/>
                                        <p:tgtEl>
                                          <p:spTgt spid="3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9">
                                            <p:txEl>
                                              <p:pRg st="2" end="2"/>
                                            </p:txEl>
                                          </p:spTgt>
                                        </p:tgtEl>
                                        <p:attrNameLst>
                                          <p:attrName>style.visibility</p:attrName>
                                        </p:attrNameLst>
                                      </p:cBhvr>
                                      <p:to>
                                        <p:strVal val="visible"/>
                                      </p:to>
                                    </p:set>
                                    <p:animEffect transition="in" filter="fade">
                                      <p:cBhvr>
                                        <p:cTn id="17" dur="500"/>
                                        <p:tgtEl>
                                          <p:spTgt spid="3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9">
                                            <p:txEl>
                                              <p:pRg st="3" end="3"/>
                                            </p:txEl>
                                          </p:spTgt>
                                        </p:tgtEl>
                                        <p:attrNameLst>
                                          <p:attrName>style.visibility</p:attrName>
                                        </p:attrNameLst>
                                      </p:cBhvr>
                                      <p:to>
                                        <p:strVal val="visible"/>
                                      </p:to>
                                    </p:set>
                                    <p:animEffect transition="in" filter="fade">
                                      <p:cBhvr>
                                        <p:cTn id="22" dur="500"/>
                                        <p:tgtEl>
                                          <p:spTgt spid="3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9">
                                            <p:txEl>
                                              <p:pRg st="4" end="4"/>
                                            </p:txEl>
                                          </p:spTgt>
                                        </p:tgtEl>
                                        <p:attrNameLst>
                                          <p:attrName>style.visibility</p:attrName>
                                        </p:attrNameLst>
                                      </p:cBhvr>
                                      <p:to>
                                        <p:strVal val="visible"/>
                                      </p:to>
                                    </p:set>
                                    <p:animEffect transition="in" filter="fade">
                                      <p:cBhvr>
                                        <p:cTn id="27" dur="500"/>
                                        <p:tgtEl>
                                          <p:spTgt spid="3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9">
                                            <p:txEl>
                                              <p:pRg st="5" end="5"/>
                                            </p:txEl>
                                          </p:spTgt>
                                        </p:tgtEl>
                                        <p:attrNameLst>
                                          <p:attrName>style.visibility</p:attrName>
                                        </p:attrNameLst>
                                      </p:cBhvr>
                                      <p:to>
                                        <p:strVal val="visible"/>
                                      </p:to>
                                    </p:set>
                                    <p:animEffect transition="in" filter="fade">
                                      <p:cBhvr>
                                        <p:cTn id="32" dur="500"/>
                                        <p:tgtEl>
                                          <p:spTgt spid="3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1"/>
          <p:cNvSpPr txBox="1"/>
          <p:nvPr/>
        </p:nvSpPr>
        <p:spPr>
          <a:xfrm>
            <a:off x="381000" y="228600"/>
            <a:ext cx="8077200"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Bagaimana cara membaca Jadual Faktor Nilai Masa Wang?</a:t>
            </a:r>
            <a:endParaRPr/>
          </a:p>
        </p:txBody>
      </p:sp>
      <p:sp>
        <p:nvSpPr>
          <p:cNvPr id="326" name="Google Shape;326;p31"/>
          <p:cNvSpPr/>
          <p:nvPr/>
        </p:nvSpPr>
        <p:spPr>
          <a:xfrm>
            <a:off x="381000" y="1059597"/>
            <a:ext cx="8305800" cy="2750403"/>
          </a:xfrm>
          <a:custGeom>
            <a:avLst/>
            <a:gdLst/>
            <a:ahLst/>
            <a:cxnLst/>
            <a:rect l="l" t="t" r="r" b="b"/>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27" name="Google Shape;327;p31"/>
          <p:cNvSpPr txBox="1"/>
          <p:nvPr/>
        </p:nvSpPr>
        <p:spPr>
          <a:xfrm>
            <a:off x="1196586" y="1615984"/>
            <a:ext cx="6524542" cy="156966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Contoh:</a:t>
            </a:r>
            <a:endParaRPr/>
          </a:p>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Apakah nilai faktor masa depan bagi </a:t>
            </a:r>
            <a:endParaRPr/>
          </a:p>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pelaburan yang mendapat pulangan sebanyak</a:t>
            </a:r>
            <a:endParaRPr sz="2400" b="0"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4% setahun selama 4 tahun ?</a:t>
            </a:r>
            <a:endParaRPr/>
          </a:p>
        </p:txBody>
      </p:sp>
      <p:sp>
        <p:nvSpPr>
          <p:cNvPr id="328" name="Google Shape;328;p31"/>
          <p:cNvSpPr txBox="1"/>
          <p:nvPr/>
        </p:nvSpPr>
        <p:spPr>
          <a:xfrm>
            <a:off x="533400" y="3960268"/>
            <a:ext cx="8083550" cy="120015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Oleh kerana nilai faktor yang dikehendaki melibatkan nilai depan bagi kadar faedah (i) 4% dan tempoh (n) 4 tahun ia boleh ditulis sebagai:  </a:t>
            </a:r>
            <a:endParaRPr/>
          </a:p>
        </p:txBody>
      </p:sp>
      <p:grpSp>
        <p:nvGrpSpPr>
          <p:cNvPr id="329" name="Google Shape;329;p31"/>
          <p:cNvGrpSpPr/>
          <p:nvPr/>
        </p:nvGrpSpPr>
        <p:grpSpPr>
          <a:xfrm>
            <a:off x="1714391" y="5460728"/>
            <a:ext cx="5772259" cy="554037"/>
            <a:chOff x="1714391" y="5460728"/>
            <a:chExt cx="5772259" cy="554037"/>
          </a:xfrm>
        </p:grpSpPr>
        <p:sp>
          <p:nvSpPr>
            <p:cNvPr id="330" name="Google Shape;330;p31"/>
            <p:cNvSpPr txBox="1"/>
            <p:nvPr/>
          </p:nvSpPr>
          <p:spPr>
            <a:xfrm>
              <a:off x="1714391" y="5460728"/>
              <a:ext cx="1720343"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 FVIF i, n )</a:t>
              </a:r>
              <a:endParaRPr/>
            </a:p>
          </p:txBody>
        </p:sp>
        <p:sp>
          <p:nvSpPr>
            <p:cNvPr id="331" name="Google Shape;331;p31"/>
            <p:cNvSpPr/>
            <p:nvPr/>
          </p:nvSpPr>
          <p:spPr>
            <a:xfrm>
              <a:off x="3886631" y="5633765"/>
              <a:ext cx="1143000" cy="381000"/>
            </a:xfrm>
            <a:prstGeom prst="rightArrow">
              <a:avLst>
                <a:gd name="adj1" fmla="val 50000"/>
                <a:gd name="adj2" fmla="val 75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332" name="Google Shape;332;p31"/>
            <p:cNvSpPr txBox="1"/>
            <p:nvPr/>
          </p:nvSpPr>
          <p:spPr>
            <a:xfrm>
              <a:off x="5474561" y="5481365"/>
              <a:ext cx="2012089"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 FVIF 4%,4 )</a:t>
              </a:r>
              <a:endParaRPr/>
            </a:p>
          </p:txBody>
        </p:sp>
      </p:grpSp>
      <p:sp>
        <p:nvSpPr>
          <p:cNvPr id="333" name="Google Shape;333;p3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19</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500"/>
                                        <p:tgtEl>
                                          <p:spTgt spid="326"/>
                                        </p:tgtEl>
                                      </p:cBhvr>
                                    </p:animEffect>
                                  </p:childTnLst>
                                </p:cTn>
                              </p:par>
                              <p:par>
                                <p:cTn id="8" presetID="10" presetClass="entr" presetSubtype="0" fill="hold" nodeType="withEffect">
                                  <p:stCondLst>
                                    <p:cond delay="0"/>
                                  </p:stCondLst>
                                  <p:childTnLst>
                                    <p:set>
                                      <p:cBhvr>
                                        <p:cTn id="9" dur="1" fill="hold">
                                          <p:stCondLst>
                                            <p:cond delay="0"/>
                                          </p:stCondLst>
                                        </p:cTn>
                                        <p:tgtEl>
                                          <p:spTgt spid="327"/>
                                        </p:tgtEl>
                                        <p:attrNameLst>
                                          <p:attrName>style.visibility</p:attrName>
                                        </p:attrNameLst>
                                      </p:cBhvr>
                                      <p:to>
                                        <p:strVal val="visible"/>
                                      </p:to>
                                    </p:set>
                                    <p:animEffect transition="in" filter="fade">
                                      <p:cBhvr>
                                        <p:cTn id="10" dur="500"/>
                                        <p:tgtEl>
                                          <p:spTgt spid="3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8"/>
                                        </p:tgtEl>
                                        <p:attrNameLst>
                                          <p:attrName>style.visibility</p:attrName>
                                        </p:attrNameLst>
                                      </p:cBhvr>
                                      <p:to>
                                        <p:strVal val="visible"/>
                                      </p:to>
                                    </p:set>
                                    <p:animEffect transition="in" filter="fade">
                                      <p:cBhvr>
                                        <p:cTn id="15" dur="300"/>
                                        <p:tgtEl>
                                          <p:spTgt spid="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2"/>
          <p:cNvSpPr txBox="1"/>
          <p:nvPr/>
        </p:nvSpPr>
        <p:spPr>
          <a:xfrm>
            <a:off x="266700" y="510678"/>
            <a:ext cx="8763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Bagaimana cara membaca Jadual Faktor Nilai Masa Wang?</a:t>
            </a:r>
            <a:endParaRPr/>
          </a:p>
        </p:txBody>
      </p:sp>
      <p:sp>
        <p:nvSpPr>
          <p:cNvPr id="339" name="Google Shape;339;p32"/>
          <p:cNvSpPr txBox="1"/>
          <p:nvPr/>
        </p:nvSpPr>
        <p:spPr>
          <a:xfrm>
            <a:off x="506843" y="1295400"/>
            <a:ext cx="2012089"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 FVIF 4%,4 )</a:t>
            </a:r>
            <a:endParaRPr/>
          </a:p>
        </p:txBody>
      </p:sp>
      <p:sp>
        <p:nvSpPr>
          <p:cNvPr id="340" name="Google Shape;340;p32"/>
          <p:cNvSpPr/>
          <p:nvPr/>
        </p:nvSpPr>
        <p:spPr>
          <a:xfrm>
            <a:off x="2667000" y="1371600"/>
            <a:ext cx="914400" cy="381000"/>
          </a:xfrm>
          <a:prstGeom prst="rightArrow">
            <a:avLst>
              <a:gd name="adj1" fmla="val 50000"/>
              <a:gd name="adj2" fmla="val 6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341" name="Google Shape;341;p32"/>
          <p:cNvSpPr txBox="1"/>
          <p:nvPr/>
        </p:nvSpPr>
        <p:spPr>
          <a:xfrm>
            <a:off x="3679825" y="1111250"/>
            <a:ext cx="443903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Lihat jadual faktor</a:t>
            </a:r>
            <a:endParaRPr sz="2400" b="1"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nilai depan amaun sekaligus</a:t>
            </a:r>
            <a:r>
              <a:rPr lang="en-US" sz="2400" b="0" i="0" u="none" strike="noStrike" cap="none">
                <a:solidFill>
                  <a:schemeClr val="dk1"/>
                </a:solidFill>
                <a:latin typeface="Arial"/>
                <a:ea typeface="Arial"/>
                <a:cs typeface="Arial"/>
                <a:sym typeface="Arial"/>
              </a:rPr>
              <a:t> </a:t>
            </a:r>
            <a:endParaRPr/>
          </a:p>
        </p:txBody>
      </p:sp>
      <p:graphicFrame>
        <p:nvGraphicFramePr>
          <p:cNvPr id="342" name="Google Shape;342;p32"/>
          <p:cNvGraphicFramePr/>
          <p:nvPr/>
        </p:nvGraphicFramePr>
        <p:xfrm>
          <a:off x="457200" y="2057400"/>
          <a:ext cx="8382000" cy="4290400"/>
        </p:xfrm>
        <a:graphic>
          <a:graphicData uri="http://schemas.openxmlformats.org/drawingml/2006/table">
            <a:tbl>
              <a:tblPr>
                <a:noFill/>
                <a:tableStyleId>{583BA780-5EA6-48F8-90CF-626E18444947}</a:tableStyleId>
              </a:tblPr>
              <a:tblGrid>
                <a:gridCol w="1233500">
                  <a:extLst>
                    <a:ext uri="{9D8B030D-6E8A-4147-A177-3AD203B41FA5}">
                      <a16:colId xmlns:a16="http://schemas.microsoft.com/office/drawing/2014/main" val="20000"/>
                    </a:ext>
                  </a:extLst>
                </a:gridCol>
                <a:gridCol w="1235075">
                  <a:extLst>
                    <a:ext uri="{9D8B030D-6E8A-4147-A177-3AD203B41FA5}">
                      <a16:colId xmlns:a16="http://schemas.microsoft.com/office/drawing/2014/main" val="20001"/>
                    </a:ext>
                  </a:extLst>
                </a:gridCol>
                <a:gridCol w="1112825">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295400">
                  <a:extLst>
                    <a:ext uri="{9D8B030D-6E8A-4147-A177-3AD203B41FA5}">
                      <a16:colId xmlns:a16="http://schemas.microsoft.com/office/drawing/2014/main" val="20006"/>
                    </a:ext>
                  </a:extLst>
                </a:gridCol>
              </a:tblGrid>
              <a:tr h="635000">
                <a:tc>
                  <a:txBody>
                    <a:bodyPr/>
                    <a:lstStyle/>
                    <a:p>
                      <a:pPr marL="0" marR="0" lvl="0" indent="0" algn="l" rtl="0">
                        <a:lnSpc>
                          <a:spcPct val="100000"/>
                        </a:lnSpc>
                        <a:spcBef>
                          <a:spcPts val="0"/>
                        </a:spcBef>
                        <a:spcAft>
                          <a:spcPts val="0"/>
                        </a:spcAft>
                        <a:buClr>
                          <a:schemeClr val="accent2"/>
                        </a:buClr>
                        <a:buSzPts val="1600"/>
                        <a:buFont typeface="Noto Sans Symbols"/>
                        <a:buNone/>
                      </a:pPr>
                      <a:endParaRPr sz="2000" b="0" i="0" u="none" strike="noStrike" cap="none">
                        <a:solidFill>
                          <a:srgbClr val="FF0000"/>
                        </a:solidFill>
                        <a:latin typeface="Arial"/>
                        <a:ea typeface="Arial"/>
                        <a:cs typeface="Arial"/>
                        <a:sym typeface="Arial"/>
                      </a:endParaRPr>
                    </a:p>
                  </a:txBody>
                  <a:tcPr marL="91450" marR="91450" marT="45725" marB="45725" anchor="ctr"/>
                </a:tc>
                <a:tc gridSpan="6">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Kadar Faedah (i)</a:t>
                      </a:r>
                      <a:endParaRPr sz="2000" b="1" i="0" u="none" strike="noStrike" cap="none">
                        <a:solidFill>
                          <a:srgbClr val="FF0000"/>
                        </a:solidFill>
                        <a:latin typeface="Arial"/>
                        <a:ea typeface="Arial"/>
                        <a:cs typeface="Arial"/>
                        <a:sym typeface="Arial"/>
                      </a:endParaRPr>
                    </a:p>
                  </a:txBody>
                  <a:tcPr marL="91450" marR="91450" marT="45725" marB="457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9450">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Tempoh</a:t>
                      </a:r>
                      <a:endParaRPr sz="2000" u="none" strike="noStrike" cap="none">
                        <a:latin typeface="Arial"/>
                        <a:ea typeface="Arial"/>
                        <a:cs typeface="Arial"/>
                        <a:sym typeface="Arial"/>
                      </a:endParaRPr>
                    </a:p>
                    <a:p>
                      <a:pPr marL="0" marR="0" lvl="0" indent="0" algn="ctr" rtl="0">
                        <a:lnSpc>
                          <a:spcPct val="100000"/>
                        </a:lnSpc>
                        <a:spcBef>
                          <a:spcPts val="400"/>
                        </a:spcBef>
                        <a:spcAft>
                          <a:spcPts val="0"/>
                        </a:spcAft>
                        <a:buClr>
                          <a:schemeClr val="accent2"/>
                        </a:buClr>
                        <a:buSzPts val="1600"/>
                        <a:buFont typeface="Noto Sans Symbols"/>
                        <a:buNone/>
                      </a:pPr>
                      <a:r>
                        <a:rPr lang="en-US" sz="2000" u="none" strike="noStrike" cap="none">
                          <a:latin typeface="Arial"/>
                          <a:ea typeface="Arial"/>
                          <a:cs typeface="Arial"/>
                          <a:sym typeface="Arial"/>
                        </a:rPr>
                        <a:t>(n)</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0%</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2%</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3%</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4%</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5%</a:t>
                      </a:r>
                      <a:endParaRPr sz="2000" b="1" i="0" u="none" strike="noStrike" cap="none">
                        <a:solidFill>
                          <a:srgbClr val="0033CC"/>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581025">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1.0000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1.0100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1.0200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1.0300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1.0400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1.0500</a:t>
                      </a:r>
                      <a:endParaRPr sz="2000" b="1" i="0" u="none" strike="noStrike" cap="none">
                        <a:solidFill>
                          <a:srgbClr val="FF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581025">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2</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1.0000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1.0201</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1.0404</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1.0609</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1.0816</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1.1025</a:t>
                      </a:r>
                      <a:endParaRPr sz="2000" b="1" i="0" u="none" strike="noStrike" cap="none">
                        <a:solidFill>
                          <a:srgbClr val="FF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581025">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3</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1.0000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1.0303</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1.0612</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1.0927</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1.1249</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1.1576</a:t>
                      </a:r>
                      <a:endParaRPr sz="2000" b="1" i="0" u="none" strike="noStrike" cap="none">
                        <a:solidFill>
                          <a:srgbClr val="FF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579450">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4</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1.0000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1.0406</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1.0824</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1.1255</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1.1699</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1.2155</a:t>
                      </a:r>
                      <a:endParaRPr sz="2000" b="1" i="0" u="none" strike="noStrike" cap="none">
                        <a:solidFill>
                          <a:srgbClr val="FF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r h="581025">
                <a:tc>
                  <a:txBody>
                    <a:bodyPr/>
                    <a:lstStyle/>
                    <a:p>
                      <a:pPr marL="0" marR="0" lvl="0" indent="0" algn="ctr"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5</a:t>
                      </a:r>
                      <a:endParaRPr sz="2000" b="1" i="0" u="none" strike="noStrike" cap="none">
                        <a:solidFill>
                          <a:srgbClr val="0033CC"/>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1.0000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1.0510</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1.1041</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1.1593</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1.2167</a:t>
                      </a:r>
                      <a:endParaRPr sz="20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1.2763</a:t>
                      </a:r>
                      <a:endParaRPr sz="2000" b="1" i="0" u="none" strike="noStrike" cap="none">
                        <a:solidFill>
                          <a:srgbClr val="FF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6"/>
                  </a:ext>
                </a:extLst>
              </a:tr>
            </a:tbl>
          </a:graphicData>
        </a:graphic>
      </p:graphicFrame>
      <p:sp>
        <p:nvSpPr>
          <p:cNvPr id="343" name="Google Shape;343;p3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20</a:t>
            </a:fld>
            <a:endParaRPr sz="1200" b="0" i="0" u="none" strike="noStrike" cap="none">
              <a:solidFill>
                <a:srgbClr val="1D4577"/>
              </a:solidFill>
              <a:latin typeface="Times New Roman"/>
              <a:ea typeface="Times New Roman"/>
              <a:cs typeface="Times New Roman"/>
              <a:sym typeface="Times New Roman"/>
            </a:endParaRPr>
          </a:p>
        </p:txBody>
      </p:sp>
      <p:sp>
        <p:nvSpPr>
          <p:cNvPr id="344" name="Google Shape;344;p32"/>
          <p:cNvSpPr/>
          <p:nvPr/>
        </p:nvSpPr>
        <p:spPr>
          <a:xfrm>
            <a:off x="6477000" y="2703513"/>
            <a:ext cx="863600" cy="725487"/>
          </a:xfrm>
          <a:prstGeom prst="donut">
            <a:avLst>
              <a:gd name="adj" fmla="val 3922"/>
            </a:avLst>
          </a:prstGeom>
          <a:solidFill>
            <a:srgbClr val="0C0C0C"/>
          </a:solidFill>
          <a:ln w="9525"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5" name="Google Shape;345;p32"/>
          <p:cNvSpPr/>
          <p:nvPr/>
        </p:nvSpPr>
        <p:spPr>
          <a:xfrm>
            <a:off x="649288" y="5181600"/>
            <a:ext cx="863600" cy="609600"/>
          </a:xfrm>
          <a:prstGeom prst="donut">
            <a:avLst>
              <a:gd name="adj" fmla="val 3922"/>
            </a:avLst>
          </a:prstGeom>
          <a:solidFill>
            <a:srgbClr val="0C0C0C"/>
          </a:solidFill>
          <a:ln w="9525"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6" name="Google Shape;346;p32"/>
          <p:cNvSpPr/>
          <p:nvPr/>
        </p:nvSpPr>
        <p:spPr>
          <a:xfrm>
            <a:off x="6400800" y="5181600"/>
            <a:ext cx="1085850" cy="609600"/>
          </a:xfrm>
          <a:prstGeom prst="donut">
            <a:avLst>
              <a:gd name="adj" fmla="val 3922"/>
            </a:avLst>
          </a:prstGeom>
          <a:solidFill>
            <a:srgbClr val="0C0C0C"/>
          </a:solidFill>
          <a:ln w="9525"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9"/>
                                        </p:tgtEl>
                                        <p:attrNameLst>
                                          <p:attrName>style.visibility</p:attrName>
                                        </p:attrNameLst>
                                      </p:cBhvr>
                                      <p:to>
                                        <p:strVal val="visible"/>
                                      </p:to>
                                    </p:set>
                                    <p:anim calcmode="lin" valueType="num">
                                      <p:cBhvr additive="base">
                                        <p:cTn id="7" dur="500"/>
                                        <p:tgtEl>
                                          <p:spTgt spid="33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0"/>
                                        </p:tgtEl>
                                        <p:attrNameLst>
                                          <p:attrName>style.visibility</p:attrName>
                                        </p:attrNameLst>
                                      </p:cBhvr>
                                      <p:to>
                                        <p:strVal val="visible"/>
                                      </p:to>
                                    </p:set>
                                    <p:anim calcmode="lin" valueType="num">
                                      <p:cBhvr additive="base">
                                        <p:cTn id="12" dur="500"/>
                                        <p:tgtEl>
                                          <p:spTgt spid="340"/>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41"/>
                                        </p:tgtEl>
                                        <p:attrNameLst>
                                          <p:attrName>style.visibility</p:attrName>
                                        </p:attrNameLst>
                                      </p:cBhvr>
                                      <p:to>
                                        <p:strVal val="visible"/>
                                      </p:to>
                                    </p:set>
                                    <p:anim calcmode="lin" valueType="num">
                                      <p:cBhvr additive="base">
                                        <p:cTn id="17" dur="500"/>
                                        <p:tgtEl>
                                          <p:spTgt spid="341"/>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42"/>
                                        </p:tgtEl>
                                        <p:attrNameLst>
                                          <p:attrName>style.visibility</p:attrName>
                                        </p:attrNameLst>
                                      </p:cBhvr>
                                      <p:to>
                                        <p:strVal val="visible"/>
                                      </p:to>
                                    </p:set>
                                    <p:anim calcmode="lin" valueType="num">
                                      <p:cBhvr additive="base">
                                        <p:cTn id="22" dur="500"/>
                                        <p:tgtEl>
                                          <p:spTgt spid="34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3"/>
          <p:cNvSpPr txBox="1"/>
          <p:nvPr/>
        </p:nvSpPr>
        <p:spPr>
          <a:xfrm>
            <a:off x="457201" y="639635"/>
            <a:ext cx="8265234"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chemeClr val="dk1"/>
                </a:solidFill>
                <a:latin typeface="Arial"/>
                <a:ea typeface="Arial"/>
                <a:cs typeface="Arial"/>
                <a:sym typeface="Arial"/>
              </a:rPr>
              <a:t>Bolehkah berikan contoh pengiraan untuk mencari nilai faktor?</a:t>
            </a:r>
            <a:endParaRPr/>
          </a:p>
        </p:txBody>
      </p:sp>
      <p:sp>
        <p:nvSpPr>
          <p:cNvPr id="352" name="Google Shape;352;p33"/>
          <p:cNvSpPr txBox="1"/>
          <p:nvPr/>
        </p:nvSpPr>
        <p:spPr>
          <a:xfrm>
            <a:off x="554915" y="1624226"/>
            <a:ext cx="8167520" cy="120032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Apakah nilai faktor masa depan dan nilai kini bagi pelaburan yang mendapat pulangan sebanyak 4% setahun selama 4 tahun ?</a:t>
            </a:r>
            <a:endParaRPr/>
          </a:p>
        </p:txBody>
      </p:sp>
      <p:sp>
        <p:nvSpPr>
          <p:cNvPr id="353" name="Google Shape;353;p33"/>
          <p:cNvSpPr txBox="1"/>
          <p:nvPr/>
        </p:nvSpPr>
        <p:spPr>
          <a:xfrm>
            <a:off x="4556125" y="3775075"/>
            <a:ext cx="18415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54" name="Google Shape;354;p3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21</a:t>
            </a:fld>
            <a:endParaRPr sz="1200" b="0" i="0" u="none" strike="noStrike" cap="none">
              <a:solidFill>
                <a:srgbClr val="1D4577"/>
              </a:solidFill>
              <a:latin typeface="Times New Roman"/>
              <a:ea typeface="Times New Roman"/>
              <a:cs typeface="Times New Roman"/>
              <a:sym typeface="Times New Roman"/>
            </a:endParaRPr>
          </a:p>
        </p:txBody>
      </p:sp>
      <p:graphicFrame>
        <p:nvGraphicFramePr>
          <p:cNvPr id="355" name="Google Shape;355;p33"/>
          <p:cNvGraphicFramePr/>
          <p:nvPr/>
        </p:nvGraphicFramePr>
        <p:xfrm>
          <a:off x="987425" y="3512706"/>
          <a:ext cx="7137400" cy="3095275"/>
        </p:xfrm>
        <a:graphic>
          <a:graphicData uri="http://schemas.openxmlformats.org/drawingml/2006/table">
            <a:tbl>
              <a:tblPr firstRow="1" bandRow="1">
                <a:noFill/>
                <a:tableStyleId>{583BA780-5EA6-48F8-90CF-626E18444947}</a:tableStyleId>
              </a:tblPr>
              <a:tblGrid>
                <a:gridCol w="3568700">
                  <a:extLst>
                    <a:ext uri="{9D8B030D-6E8A-4147-A177-3AD203B41FA5}">
                      <a16:colId xmlns:a16="http://schemas.microsoft.com/office/drawing/2014/main" val="20000"/>
                    </a:ext>
                  </a:extLst>
                </a:gridCol>
                <a:gridCol w="3568700">
                  <a:extLst>
                    <a:ext uri="{9D8B030D-6E8A-4147-A177-3AD203B41FA5}">
                      <a16:colId xmlns:a16="http://schemas.microsoft.com/office/drawing/2014/main" val="20001"/>
                    </a:ext>
                  </a:extLst>
                </a:gridCol>
              </a:tblGrid>
              <a:tr h="944875">
                <a:tc>
                  <a:txBody>
                    <a:bodyPr/>
                    <a:lstStyle/>
                    <a:p>
                      <a:pPr marL="0" marR="0" lvl="0" indent="0" algn="ctr" rtl="0">
                        <a:spcBef>
                          <a:spcPts val="0"/>
                        </a:spcBef>
                        <a:spcAft>
                          <a:spcPts val="0"/>
                        </a:spcAft>
                        <a:buNone/>
                      </a:pPr>
                      <a:r>
                        <a:rPr lang="en-US" sz="2400" b="1" u="none" strike="noStrike" cap="none">
                          <a:latin typeface="Arial"/>
                          <a:ea typeface="Arial"/>
                          <a:cs typeface="Arial"/>
                          <a:sym typeface="Arial"/>
                        </a:rPr>
                        <a:t>Faktor Nilai Depan (FV)</a:t>
                      </a:r>
                      <a:endParaRPr/>
                    </a:p>
                  </a:txBody>
                  <a:tcPr marL="91450" marR="91450" marT="45725" marB="45725" anchor="ctr"/>
                </a:tc>
                <a:tc>
                  <a:txBody>
                    <a:bodyPr/>
                    <a:lstStyle/>
                    <a:p>
                      <a:pPr marL="0" marR="0" lvl="0" indent="0" algn="ctr" rtl="0">
                        <a:spcBef>
                          <a:spcPts val="0"/>
                        </a:spcBef>
                        <a:spcAft>
                          <a:spcPts val="0"/>
                        </a:spcAft>
                        <a:buNone/>
                      </a:pPr>
                      <a:r>
                        <a:rPr lang="en-US" sz="2400" b="1" u="none" strike="noStrike" cap="none">
                          <a:solidFill>
                            <a:schemeClr val="dk1"/>
                          </a:solidFill>
                          <a:latin typeface="Arial"/>
                          <a:ea typeface="Arial"/>
                          <a:cs typeface="Arial"/>
                          <a:sym typeface="Arial"/>
                        </a:rPr>
                        <a:t>Faktor Nilai Kini (PV)</a:t>
                      </a:r>
                      <a:endParaRPr sz="2400" b="1"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740225">
                <a:tc>
                  <a:txBody>
                    <a:bodyPr/>
                    <a:lstStyle/>
                    <a:p>
                      <a:pPr marL="0" marR="0" lvl="0" indent="0" algn="l" rtl="0">
                        <a:spcBef>
                          <a:spcPts val="0"/>
                        </a:spcBef>
                        <a:spcAft>
                          <a:spcPts val="0"/>
                        </a:spcAft>
                        <a:buNone/>
                      </a:pPr>
                      <a:r>
                        <a:rPr lang="en-US" sz="2400" u="none" strike="noStrike" cap="none">
                          <a:latin typeface="Arial"/>
                          <a:ea typeface="Arial"/>
                          <a:cs typeface="Arial"/>
                          <a:sym typeface="Arial"/>
                        </a:rPr>
                        <a:t>= </a:t>
                      </a:r>
                      <a:endParaRPr/>
                    </a:p>
                  </a:txBody>
                  <a:tcPr marL="91450" marR="91450" marT="45725" marB="45725" anchor="ctr"/>
                </a:tc>
                <a:tc>
                  <a:txBody>
                    <a:bodyPr/>
                    <a:lstStyle/>
                    <a:p>
                      <a:pPr marL="0" marR="0" lvl="0" indent="0" algn="l" rtl="0">
                        <a:spcBef>
                          <a:spcPts val="0"/>
                        </a:spcBef>
                        <a:spcAft>
                          <a:spcPts val="0"/>
                        </a:spcAft>
                        <a:buNone/>
                      </a:pPr>
                      <a:endParaRPr sz="2400">
                        <a:solidFill>
                          <a:srgbClr val="FF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740225">
                <a:tc>
                  <a:txBody>
                    <a:bodyPr/>
                    <a:lstStyle/>
                    <a:p>
                      <a:pPr marL="0" marR="0" lvl="0" indent="0" algn="l" rtl="0">
                        <a:spcBef>
                          <a:spcPts val="0"/>
                        </a:spcBef>
                        <a:spcAft>
                          <a:spcPts val="0"/>
                        </a:spcAft>
                        <a:buNone/>
                      </a:pPr>
                      <a:r>
                        <a:rPr lang="en-US" sz="2400">
                          <a:latin typeface="Arial"/>
                          <a:ea typeface="Arial"/>
                          <a:cs typeface="Arial"/>
                          <a:sym typeface="Arial"/>
                        </a:rPr>
                        <a:t>= </a:t>
                      </a:r>
                      <a:endParaRPr/>
                    </a:p>
                  </a:txBody>
                  <a:tcPr marL="91450" marR="91450" marT="45725" marB="45725" anchor="ctr"/>
                </a:tc>
                <a:tc>
                  <a:txBody>
                    <a:bodyPr/>
                    <a:lstStyle/>
                    <a:p>
                      <a:pPr marL="0" marR="0" lvl="0" indent="0" algn="l" rtl="0">
                        <a:spcBef>
                          <a:spcPts val="0"/>
                        </a:spcBef>
                        <a:spcAft>
                          <a:spcPts val="0"/>
                        </a:spcAft>
                        <a:buNone/>
                      </a:pPr>
                      <a:endParaRPr sz="2400">
                        <a:solidFill>
                          <a:srgbClr val="FF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669950">
                <a:tc>
                  <a:txBody>
                    <a:bodyPr/>
                    <a:lstStyle/>
                    <a:p>
                      <a:pPr marL="0" marR="0" lvl="0" indent="0" algn="l" rtl="0">
                        <a:spcBef>
                          <a:spcPts val="0"/>
                        </a:spcBef>
                        <a:spcAft>
                          <a:spcPts val="0"/>
                        </a:spcAft>
                        <a:buNone/>
                      </a:pPr>
                      <a:r>
                        <a:rPr lang="en-US" sz="2400">
                          <a:latin typeface="Arial"/>
                          <a:ea typeface="Arial"/>
                          <a:cs typeface="Arial"/>
                          <a:sym typeface="Arial"/>
                        </a:rPr>
                        <a:t>= </a:t>
                      </a:r>
                      <a:endParaRPr/>
                    </a:p>
                  </a:txBody>
                  <a:tcPr marL="91450" marR="91450" marT="45725" marB="45725" anchor="ctr"/>
                </a:tc>
                <a:tc>
                  <a:txBody>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  = 0.8548</a:t>
                      </a:r>
                      <a:endParaRPr/>
                    </a:p>
                  </a:txBody>
                  <a:tcPr marL="91450" marR="91450" marT="45725" marB="45725"/>
                </a:tc>
                <a:extLst>
                  <a:ext uri="{0D108BD9-81ED-4DB2-BD59-A6C34878D82A}">
                    <a16:rowId xmlns:a16="http://schemas.microsoft.com/office/drawing/2014/main" val="10003"/>
                  </a:ext>
                </a:extLst>
              </a:tr>
            </a:tbl>
          </a:graphicData>
        </a:graphic>
      </p:graphicFrame>
      <p:pic>
        <p:nvPicPr>
          <p:cNvPr id="356" name="Google Shape;356;p33"/>
          <p:cNvPicPr preferRelativeResize="0"/>
          <p:nvPr/>
        </p:nvPicPr>
        <p:blipFill rotWithShape="1">
          <a:blip r:embed="rId3">
            <a:alphaModFix/>
          </a:blip>
          <a:srcRect/>
          <a:stretch/>
        </p:blipFill>
        <p:spPr>
          <a:xfrm>
            <a:off x="1398588" y="4579938"/>
            <a:ext cx="1470025" cy="454025"/>
          </a:xfrm>
          <a:prstGeom prst="rect">
            <a:avLst/>
          </a:prstGeom>
          <a:noFill/>
          <a:ln>
            <a:noFill/>
          </a:ln>
        </p:spPr>
      </p:pic>
      <p:pic>
        <p:nvPicPr>
          <p:cNvPr id="357" name="Google Shape;357;p33"/>
          <p:cNvPicPr preferRelativeResize="0"/>
          <p:nvPr/>
        </p:nvPicPr>
        <p:blipFill rotWithShape="1">
          <a:blip r:embed="rId4">
            <a:alphaModFix/>
          </a:blip>
          <a:srcRect/>
          <a:stretch/>
        </p:blipFill>
        <p:spPr>
          <a:xfrm>
            <a:off x="1376363" y="5297488"/>
            <a:ext cx="1676400" cy="441325"/>
          </a:xfrm>
          <a:prstGeom prst="rect">
            <a:avLst/>
          </a:prstGeom>
          <a:noFill/>
          <a:ln>
            <a:noFill/>
          </a:ln>
        </p:spPr>
      </p:pic>
      <p:pic>
        <p:nvPicPr>
          <p:cNvPr id="358" name="Google Shape;358;p33"/>
          <p:cNvPicPr preferRelativeResize="0"/>
          <p:nvPr/>
        </p:nvPicPr>
        <p:blipFill rotWithShape="1">
          <a:blip r:embed="rId5">
            <a:alphaModFix/>
          </a:blip>
          <a:srcRect/>
          <a:stretch/>
        </p:blipFill>
        <p:spPr>
          <a:xfrm>
            <a:off x="1398588" y="6043613"/>
            <a:ext cx="1514475" cy="422275"/>
          </a:xfrm>
          <a:prstGeom prst="rect">
            <a:avLst/>
          </a:prstGeom>
          <a:noFill/>
          <a:ln>
            <a:noFill/>
          </a:ln>
        </p:spPr>
      </p:pic>
      <p:sp>
        <p:nvSpPr>
          <p:cNvPr id="359" name="Google Shape;359;p33"/>
          <p:cNvSpPr txBox="1"/>
          <p:nvPr/>
        </p:nvSpPr>
        <p:spPr>
          <a:xfrm>
            <a:off x="2590800" y="2971800"/>
            <a:ext cx="10647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i = 4%</a:t>
            </a:r>
            <a:endParaRPr/>
          </a:p>
        </p:txBody>
      </p:sp>
      <p:sp>
        <p:nvSpPr>
          <p:cNvPr id="360" name="Google Shape;360;p33"/>
          <p:cNvSpPr txBox="1"/>
          <p:nvPr/>
        </p:nvSpPr>
        <p:spPr>
          <a:xfrm>
            <a:off x="4237038" y="2978150"/>
            <a:ext cx="89319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n = 4</a:t>
            </a:r>
            <a:endParaRPr/>
          </a:p>
        </p:txBody>
      </p:sp>
      <p:pic>
        <p:nvPicPr>
          <p:cNvPr id="361" name="Google Shape;361;p33"/>
          <p:cNvPicPr preferRelativeResize="0"/>
          <p:nvPr/>
        </p:nvPicPr>
        <p:blipFill rotWithShape="1">
          <a:blip r:embed="rId6">
            <a:alphaModFix/>
          </a:blip>
          <a:srcRect/>
          <a:stretch/>
        </p:blipFill>
        <p:spPr>
          <a:xfrm>
            <a:off x="5302250" y="4464050"/>
            <a:ext cx="923925" cy="685800"/>
          </a:xfrm>
          <a:prstGeom prst="rect">
            <a:avLst/>
          </a:prstGeom>
          <a:noFill/>
          <a:ln>
            <a:noFill/>
          </a:ln>
        </p:spPr>
      </p:pic>
      <p:pic>
        <p:nvPicPr>
          <p:cNvPr id="362" name="Google Shape;362;p33"/>
          <p:cNvPicPr preferRelativeResize="0"/>
          <p:nvPr/>
        </p:nvPicPr>
        <p:blipFill rotWithShape="1">
          <a:blip r:embed="rId7">
            <a:alphaModFix/>
          </a:blip>
          <a:srcRect/>
          <a:stretch/>
        </p:blipFill>
        <p:spPr>
          <a:xfrm>
            <a:off x="5135563" y="5222875"/>
            <a:ext cx="1258887" cy="68580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2"/>
                                        </p:tgtEl>
                                        <p:attrNameLst>
                                          <p:attrName>style.visibility</p:attrName>
                                        </p:attrNameLst>
                                      </p:cBhvr>
                                      <p:to>
                                        <p:strVal val="visible"/>
                                      </p:to>
                                    </p:set>
                                    <p:animEffect transition="in" filter="fade">
                                      <p:cBhvr>
                                        <p:cTn id="7" dur="300"/>
                                        <p:tgtEl>
                                          <p:spTgt spid="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4"/>
          <p:cNvSpPr txBox="1"/>
          <p:nvPr/>
        </p:nvSpPr>
        <p:spPr>
          <a:xfrm>
            <a:off x="2133600" y="330200"/>
            <a:ext cx="5181600"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i="0" u="none" strike="noStrike" cap="none">
                <a:solidFill>
                  <a:schemeClr val="dk1"/>
                </a:solidFill>
                <a:latin typeface="Arial"/>
                <a:ea typeface="Arial"/>
                <a:cs typeface="Arial"/>
                <a:sym typeface="Arial"/>
              </a:rPr>
              <a:t>RUMUS NILAI MASA WANG</a:t>
            </a:r>
            <a:endParaRPr/>
          </a:p>
        </p:txBody>
      </p:sp>
      <p:graphicFrame>
        <p:nvGraphicFramePr>
          <p:cNvPr id="368" name="Google Shape;368;p34"/>
          <p:cNvGraphicFramePr/>
          <p:nvPr/>
        </p:nvGraphicFramePr>
        <p:xfrm>
          <a:off x="304800" y="990600"/>
          <a:ext cx="8534400" cy="5789600"/>
        </p:xfrm>
        <a:graphic>
          <a:graphicData uri="http://schemas.openxmlformats.org/drawingml/2006/table">
            <a:tbl>
              <a:tblPr>
                <a:noFill/>
                <a:tableStyleId>{583BA780-5EA6-48F8-90CF-626E18444947}</a:tableStyleId>
              </a:tblPr>
              <a:tblGrid>
                <a:gridCol w="3454975">
                  <a:extLst>
                    <a:ext uri="{9D8B030D-6E8A-4147-A177-3AD203B41FA5}">
                      <a16:colId xmlns:a16="http://schemas.microsoft.com/office/drawing/2014/main" val="20000"/>
                    </a:ext>
                  </a:extLst>
                </a:gridCol>
                <a:gridCol w="2566700">
                  <a:extLst>
                    <a:ext uri="{9D8B030D-6E8A-4147-A177-3AD203B41FA5}">
                      <a16:colId xmlns:a16="http://schemas.microsoft.com/office/drawing/2014/main" val="20001"/>
                    </a:ext>
                  </a:extLst>
                </a:gridCol>
                <a:gridCol w="2512725">
                  <a:extLst>
                    <a:ext uri="{9D8B030D-6E8A-4147-A177-3AD203B41FA5}">
                      <a16:colId xmlns:a16="http://schemas.microsoft.com/office/drawing/2014/main" val="20002"/>
                    </a:ext>
                  </a:extLst>
                </a:gridCol>
              </a:tblGrid>
              <a:tr h="823050">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BENTUK NILAI </a:t>
                      </a:r>
                      <a:endParaRPr/>
                    </a:p>
                    <a:p>
                      <a:pPr marL="0" marR="0" lvl="0" indent="0" algn="ctr"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MASA WANG</a:t>
                      </a:r>
                      <a:endParaRPr sz="24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RUMUS</a:t>
                      </a:r>
                      <a:endParaRPr sz="2400" b="1" i="0" u="none" strike="noStrike" cap="none">
                        <a:solidFill>
                          <a:srgbClr val="FF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JADUAL</a:t>
                      </a:r>
                      <a:endParaRPr sz="2400" b="1" i="0" u="none" strike="noStrike" cap="none">
                        <a:solidFill>
                          <a:srgbClr val="FF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772950">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Nilai depan sekaligus</a:t>
                      </a:r>
                      <a:endParaRPr sz="2400" b="0"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PV(FVIF </a:t>
                      </a:r>
                      <a:r>
                        <a:rPr lang="en-US" sz="2000" u="none" strike="noStrike" cap="none" baseline="-25000">
                          <a:latin typeface="Arial"/>
                          <a:ea typeface="Arial"/>
                          <a:cs typeface="Arial"/>
                          <a:sym typeface="Arial"/>
                        </a:rPr>
                        <a:t>i,n</a:t>
                      </a:r>
                      <a:r>
                        <a:rPr lang="en-US" sz="2000" u="none" strike="noStrike" cap="none">
                          <a:latin typeface="Arial"/>
                          <a:ea typeface="Arial"/>
                          <a:cs typeface="Arial"/>
                          <a:sym typeface="Arial"/>
                        </a:rPr>
                        <a:t>)</a:t>
                      </a:r>
                      <a:endParaRPr sz="2000" b="0"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775075">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Nilai depan anuiti biasa</a:t>
                      </a:r>
                      <a:endParaRPr sz="2400" b="0"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PMT(FVIFA </a:t>
                      </a:r>
                      <a:r>
                        <a:rPr lang="en-US" sz="2000" u="none" strike="noStrike" cap="none" baseline="-25000">
                          <a:latin typeface="Arial"/>
                          <a:ea typeface="Arial"/>
                          <a:cs typeface="Arial"/>
                          <a:sym typeface="Arial"/>
                        </a:rPr>
                        <a:t>i,n</a:t>
                      </a:r>
                      <a:r>
                        <a:rPr lang="en-US" sz="2000" u="none" strike="noStrike" cap="none">
                          <a:latin typeface="Arial"/>
                          <a:ea typeface="Arial"/>
                          <a:cs typeface="Arial"/>
                          <a:sym typeface="Arial"/>
                        </a:rPr>
                        <a:t>)</a:t>
                      </a:r>
                      <a:endParaRPr sz="2000" b="0"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935250">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Nilai depan anuiti matang</a:t>
                      </a:r>
                      <a:endParaRPr sz="2400" b="0"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PMT(FVIFA </a:t>
                      </a:r>
                      <a:r>
                        <a:rPr lang="en-US" sz="2000" u="none" strike="noStrike" cap="none" baseline="-25000">
                          <a:latin typeface="Arial"/>
                          <a:ea typeface="Arial"/>
                          <a:cs typeface="Arial"/>
                          <a:sym typeface="Arial"/>
                        </a:rPr>
                        <a:t>i,n</a:t>
                      </a:r>
                      <a:r>
                        <a:rPr lang="en-US" sz="2000" u="none" strike="noStrike" cap="none">
                          <a:latin typeface="Arial"/>
                          <a:ea typeface="Arial"/>
                          <a:cs typeface="Arial"/>
                          <a:sym typeface="Arial"/>
                        </a:rPr>
                        <a:t>) (1+i)</a:t>
                      </a:r>
                      <a:endParaRPr sz="2000" b="0"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775075">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Nilai kini sekaligus</a:t>
                      </a:r>
                      <a:endParaRPr sz="2400" b="0"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FV(PVIF </a:t>
                      </a:r>
                      <a:r>
                        <a:rPr lang="en-US" sz="2000" u="none" strike="noStrike" cap="none" baseline="-25000">
                          <a:latin typeface="Arial"/>
                          <a:ea typeface="Arial"/>
                          <a:cs typeface="Arial"/>
                          <a:sym typeface="Arial"/>
                        </a:rPr>
                        <a:t>i,n</a:t>
                      </a:r>
                      <a:r>
                        <a:rPr lang="en-US" sz="2000" u="none" strike="noStrike" cap="none">
                          <a:latin typeface="Arial"/>
                          <a:ea typeface="Arial"/>
                          <a:cs typeface="Arial"/>
                          <a:sym typeface="Arial"/>
                        </a:rPr>
                        <a:t>)</a:t>
                      </a:r>
                      <a:endParaRPr sz="2000" b="0"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772950">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Nilai kini anuiti biasa</a:t>
                      </a:r>
                      <a:endParaRPr sz="2400" b="0"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PMT(PVIFA </a:t>
                      </a:r>
                      <a:r>
                        <a:rPr lang="en-US" sz="2000" u="none" strike="noStrike" cap="none" baseline="-25000">
                          <a:latin typeface="Arial"/>
                          <a:ea typeface="Arial"/>
                          <a:cs typeface="Arial"/>
                          <a:sym typeface="Arial"/>
                        </a:rPr>
                        <a:t>i,n</a:t>
                      </a:r>
                      <a:r>
                        <a:rPr lang="en-US" sz="2000" u="none" strike="noStrike" cap="none">
                          <a:latin typeface="Arial"/>
                          <a:ea typeface="Arial"/>
                          <a:cs typeface="Arial"/>
                          <a:sym typeface="Arial"/>
                        </a:rPr>
                        <a:t>)</a:t>
                      </a:r>
                      <a:endParaRPr sz="2000" b="0"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r h="935250">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Nilai kini anuiti matang</a:t>
                      </a:r>
                      <a:endParaRPr sz="2400" b="0"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accent2"/>
                        </a:buClr>
                        <a:buSzPts val="1600"/>
                        <a:buFont typeface="Noto Sans Symbols"/>
                        <a:buNone/>
                      </a:pPr>
                      <a:r>
                        <a:rPr lang="en-US" sz="2000" u="none" strike="noStrike" cap="none">
                          <a:latin typeface="Arial"/>
                          <a:ea typeface="Arial"/>
                          <a:cs typeface="Arial"/>
                          <a:sym typeface="Arial"/>
                        </a:rPr>
                        <a:t>PMT(PVIFA </a:t>
                      </a:r>
                      <a:r>
                        <a:rPr lang="en-US" sz="2000" u="none" strike="noStrike" cap="none" baseline="-25000">
                          <a:latin typeface="Arial"/>
                          <a:ea typeface="Arial"/>
                          <a:cs typeface="Arial"/>
                          <a:sym typeface="Arial"/>
                        </a:rPr>
                        <a:t>i,n</a:t>
                      </a:r>
                      <a:r>
                        <a:rPr lang="en-US" sz="2000" u="none" strike="noStrike" cap="none">
                          <a:latin typeface="Arial"/>
                          <a:ea typeface="Arial"/>
                          <a:cs typeface="Arial"/>
                          <a:sym typeface="Arial"/>
                        </a:rPr>
                        <a:t>) (1+i)</a:t>
                      </a:r>
                      <a:endParaRPr sz="2000" b="0"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6"/>
                  </a:ext>
                </a:extLst>
              </a:tr>
            </a:tbl>
          </a:graphicData>
        </a:graphic>
      </p:graphicFrame>
      <p:pic>
        <p:nvPicPr>
          <p:cNvPr id="369" name="Google Shape;369;p34"/>
          <p:cNvPicPr preferRelativeResize="0"/>
          <p:nvPr/>
        </p:nvPicPr>
        <p:blipFill rotWithShape="1">
          <a:blip r:embed="rId3">
            <a:alphaModFix/>
          </a:blip>
          <a:srcRect/>
          <a:stretch/>
        </p:blipFill>
        <p:spPr>
          <a:xfrm>
            <a:off x="4249738" y="1981200"/>
            <a:ext cx="1576387" cy="457200"/>
          </a:xfrm>
          <a:prstGeom prst="rect">
            <a:avLst/>
          </a:prstGeom>
          <a:noFill/>
          <a:ln>
            <a:noFill/>
          </a:ln>
        </p:spPr>
      </p:pic>
      <p:pic>
        <p:nvPicPr>
          <p:cNvPr id="370" name="Google Shape;370;p34"/>
          <p:cNvPicPr preferRelativeResize="0"/>
          <p:nvPr/>
        </p:nvPicPr>
        <p:blipFill rotWithShape="1">
          <a:blip r:embed="rId4">
            <a:alphaModFix/>
          </a:blip>
          <a:srcRect/>
          <a:stretch/>
        </p:blipFill>
        <p:spPr>
          <a:xfrm>
            <a:off x="3976688" y="2590800"/>
            <a:ext cx="2020887" cy="762000"/>
          </a:xfrm>
          <a:prstGeom prst="rect">
            <a:avLst/>
          </a:prstGeom>
          <a:noFill/>
          <a:ln>
            <a:noFill/>
          </a:ln>
        </p:spPr>
      </p:pic>
      <p:pic>
        <p:nvPicPr>
          <p:cNvPr id="371" name="Google Shape;371;p34"/>
          <p:cNvPicPr preferRelativeResize="0"/>
          <p:nvPr/>
        </p:nvPicPr>
        <p:blipFill rotWithShape="1">
          <a:blip r:embed="rId5">
            <a:alphaModFix/>
          </a:blip>
          <a:srcRect/>
          <a:stretch/>
        </p:blipFill>
        <p:spPr>
          <a:xfrm>
            <a:off x="3733800" y="3429000"/>
            <a:ext cx="2381250" cy="838200"/>
          </a:xfrm>
          <a:prstGeom prst="rect">
            <a:avLst/>
          </a:prstGeom>
          <a:noFill/>
          <a:ln>
            <a:noFill/>
          </a:ln>
        </p:spPr>
      </p:pic>
      <p:pic>
        <p:nvPicPr>
          <p:cNvPr id="372" name="Google Shape;372;p34"/>
          <p:cNvPicPr preferRelativeResize="0"/>
          <p:nvPr/>
        </p:nvPicPr>
        <p:blipFill rotWithShape="1">
          <a:blip r:embed="rId6">
            <a:alphaModFix/>
          </a:blip>
          <a:srcRect/>
          <a:stretch/>
        </p:blipFill>
        <p:spPr>
          <a:xfrm>
            <a:off x="4191000" y="4343400"/>
            <a:ext cx="1277938" cy="685800"/>
          </a:xfrm>
          <a:prstGeom prst="rect">
            <a:avLst/>
          </a:prstGeom>
          <a:noFill/>
          <a:ln>
            <a:noFill/>
          </a:ln>
        </p:spPr>
      </p:pic>
      <p:pic>
        <p:nvPicPr>
          <p:cNvPr id="373" name="Google Shape;373;p34"/>
          <p:cNvPicPr preferRelativeResize="0"/>
          <p:nvPr/>
        </p:nvPicPr>
        <p:blipFill rotWithShape="1">
          <a:blip r:embed="rId7">
            <a:alphaModFix/>
          </a:blip>
          <a:srcRect/>
          <a:stretch/>
        </p:blipFill>
        <p:spPr>
          <a:xfrm>
            <a:off x="4054475" y="5029200"/>
            <a:ext cx="1739900" cy="762000"/>
          </a:xfrm>
          <a:prstGeom prst="rect">
            <a:avLst/>
          </a:prstGeom>
          <a:noFill/>
          <a:ln>
            <a:noFill/>
          </a:ln>
        </p:spPr>
      </p:pic>
      <p:pic>
        <p:nvPicPr>
          <p:cNvPr id="374" name="Google Shape;374;p34"/>
          <p:cNvPicPr preferRelativeResize="0"/>
          <p:nvPr/>
        </p:nvPicPr>
        <p:blipFill rotWithShape="1">
          <a:blip r:embed="rId8">
            <a:alphaModFix/>
          </a:blip>
          <a:srcRect/>
          <a:stretch/>
        </p:blipFill>
        <p:spPr>
          <a:xfrm>
            <a:off x="3886200" y="5937250"/>
            <a:ext cx="2171700" cy="768350"/>
          </a:xfrm>
          <a:prstGeom prst="rect">
            <a:avLst/>
          </a:prstGeom>
          <a:noFill/>
          <a:ln>
            <a:noFill/>
          </a:ln>
        </p:spPr>
      </p:pic>
      <p:sp>
        <p:nvSpPr>
          <p:cNvPr id="375" name="Google Shape;375;p3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22</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8"/>
                                        </p:tgtEl>
                                        <p:attrNameLst>
                                          <p:attrName>style.visibility</p:attrName>
                                        </p:attrNameLst>
                                      </p:cBhvr>
                                      <p:to>
                                        <p:strVal val="visible"/>
                                      </p:to>
                                    </p:set>
                                    <p:anim calcmode="lin" valueType="num">
                                      <p:cBhvr additive="base">
                                        <p:cTn id="7" dur="500"/>
                                        <p:tgtEl>
                                          <p:spTgt spid="36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381" name="Google Shape;381;p35"/>
          <p:cNvSpPr/>
          <p:nvPr/>
        </p:nvSpPr>
        <p:spPr>
          <a:xfrm>
            <a:off x="590550" y="533400"/>
            <a:ext cx="79248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7.3  BENTUK-BENTUK NILAI MASA WANG</a:t>
            </a:r>
            <a:endParaRPr/>
          </a:p>
        </p:txBody>
      </p:sp>
      <p:grpSp>
        <p:nvGrpSpPr>
          <p:cNvPr id="382" name="Google Shape;382;p35"/>
          <p:cNvGrpSpPr/>
          <p:nvPr/>
        </p:nvGrpSpPr>
        <p:grpSpPr>
          <a:xfrm>
            <a:off x="326056" y="1885015"/>
            <a:ext cx="8453786" cy="3418359"/>
            <a:chOff x="2206" y="1580215"/>
            <a:chExt cx="8453786" cy="3418359"/>
          </a:xfrm>
        </p:grpSpPr>
        <p:sp>
          <p:nvSpPr>
            <p:cNvPr id="383" name="Google Shape;383;p35"/>
            <p:cNvSpPr/>
            <p:nvPr/>
          </p:nvSpPr>
          <p:spPr>
            <a:xfrm>
              <a:off x="6086681" y="2818603"/>
              <a:ext cx="1857581" cy="214926"/>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chemeClr val="dk1"/>
              </a:solidFill>
              <a:prstDash val="solid"/>
              <a:miter lim="800000"/>
              <a:headEnd type="none" w="sm" len="sm"/>
              <a:tailEnd type="none" w="sm" len="sm"/>
            </a:ln>
          </p:spPr>
        </p:sp>
        <p:sp>
          <p:nvSpPr>
            <p:cNvPr id="384" name="Google Shape;384;p35"/>
            <p:cNvSpPr/>
            <p:nvPr/>
          </p:nvSpPr>
          <p:spPr>
            <a:xfrm>
              <a:off x="6296490" y="3545260"/>
              <a:ext cx="153519" cy="1197449"/>
            </a:xfrm>
            <a:custGeom>
              <a:avLst/>
              <a:gdLst/>
              <a:ahLst/>
              <a:cxnLst/>
              <a:rect l="l" t="t" r="r" b="b"/>
              <a:pathLst>
                <a:path w="120000" h="120000" extrusionOk="0">
                  <a:moveTo>
                    <a:pt x="0" y="0"/>
                  </a:moveTo>
                  <a:lnTo>
                    <a:pt x="0" y="120000"/>
                  </a:lnTo>
                  <a:lnTo>
                    <a:pt x="120000" y="120000"/>
                  </a:lnTo>
                </a:path>
              </a:pathLst>
            </a:custGeom>
            <a:noFill/>
            <a:ln w="12700" cap="flat" cmpd="sng">
              <a:solidFill>
                <a:schemeClr val="dk1"/>
              </a:solidFill>
              <a:prstDash val="solid"/>
              <a:miter lim="800000"/>
              <a:headEnd type="none" w="sm" len="sm"/>
              <a:tailEnd type="none" w="sm" len="sm"/>
            </a:ln>
          </p:spPr>
        </p:sp>
        <p:sp>
          <p:nvSpPr>
            <p:cNvPr id="385" name="Google Shape;385;p35"/>
            <p:cNvSpPr/>
            <p:nvPr/>
          </p:nvSpPr>
          <p:spPr>
            <a:xfrm>
              <a:off x="6296490" y="3545260"/>
              <a:ext cx="153519" cy="470791"/>
            </a:xfrm>
            <a:custGeom>
              <a:avLst/>
              <a:gdLst/>
              <a:ahLst/>
              <a:cxnLst/>
              <a:rect l="l" t="t" r="r" b="b"/>
              <a:pathLst>
                <a:path w="120000" h="120000" extrusionOk="0">
                  <a:moveTo>
                    <a:pt x="0" y="0"/>
                  </a:moveTo>
                  <a:lnTo>
                    <a:pt x="0" y="120000"/>
                  </a:lnTo>
                  <a:lnTo>
                    <a:pt x="120000" y="120000"/>
                  </a:lnTo>
                </a:path>
              </a:pathLst>
            </a:custGeom>
            <a:noFill/>
            <a:ln w="12700" cap="flat" cmpd="sng">
              <a:solidFill>
                <a:schemeClr val="dk1"/>
              </a:solidFill>
              <a:prstDash val="solid"/>
              <a:miter lim="800000"/>
              <a:headEnd type="none" w="sm" len="sm"/>
              <a:tailEnd type="none" w="sm" len="sm"/>
            </a:ln>
          </p:spPr>
        </p:sp>
        <p:sp>
          <p:nvSpPr>
            <p:cNvPr id="386" name="Google Shape;386;p35"/>
            <p:cNvSpPr/>
            <p:nvPr/>
          </p:nvSpPr>
          <p:spPr>
            <a:xfrm>
              <a:off x="6086681" y="2818603"/>
              <a:ext cx="619193" cy="214926"/>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chemeClr val="dk1"/>
              </a:solidFill>
              <a:prstDash val="solid"/>
              <a:miter lim="800000"/>
              <a:headEnd type="none" w="sm" len="sm"/>
              <a:tailEnd type="none" w="sm" len="sm"/>
            </a:ln>
          </p:spPr>
        </p:sp>
        <p:sp>
          <p:nvSpPr>
            <p:cNvPr id="387" name="Google Shape;387;p35"/>
            <p:cNvSpPr/>
            <p:nvPr/>
          </p:nvSpPr>
          <p:spPr>
            <a:xfrm>
              <a:off x="5467487" y="2818603"/>
              <a:ext cx="619193" cy="214926"/>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chemeClr val="dk1"/>
              </a:solidFill>
              <a:prstDash val="solid"/>
              <a:miter lim="800000"/>
              <a:headEnd type="none" w="sm" len="sm"/>
              <a:tailEnd type="none" w="sm" len="sm"/>
            </a:ln>
          </p:spPr>
        </p:sp>
        <p:sp>
          <p:nvSpPr>
            <p:cNvPr id="388" name="Google Shape;388;p35"/>
            <p:cNvSpPr/>
            <p:nvPr/>
          </p:nvSpPr>
          <p:spPr>
            <a:xfrm>
              <a:off x="4229100" y="2818603"/>
              <a:ext cx="1857581" cy="214926"/>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chemeClr val="dk1"/>
              </a:solidFill>
              <a:prstDash val="solid"/>
              <a:miter lim="800000"/>
              <a:headEnd type="none" w="sm" len="sm"/>
              <a:tailEnd type="none" w="sm" len="sm"/>
            </a:ln>
          </p:spPr>
        </p:sp>
        <p:sp>
          <p:nvSpPr>
            <p:cNvPr id="389" name="Google Shape;389;p35"/>
            <p:cNvSpPr/>
            <p:nvPr/>
          </p:nvSpPr>
          <p:spPr>
            <a:xfrm>
              <a:off x="3919503" y="2091945"/>
              <a:ext cx="2167178" cy="214926"/>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chemeClr val="dk1"/>
              </a:solidFill>
              <a:prstDash val="solid"/>
              <a:miter lim="800000"/>
              <a:headEnd type="none" w="sm" len="sm"/>
              <a:tailEnd type="none" w="sm" len="sm"/>
            </a:ln>
          </p:spPr>
        </p:sp>
        <p:sp>
          <p:nvSpPr>
            <p:cNvPr id="390" name="Google Shape;390;p35"/>
            <p:cNvSpPr/>
            <p:nvPr/>
          </p:nvSpPr>
          <p:spPr>
            <a:xfrm>
              <a:off x="2581328" y="3545260"/>
              <a:ext cx="153519" cy="1197449"/>
            </a:xfrm>
            <a:custGeom>
              <a:avLst/>
              <a:gdLst/>
              <a:ahLst/>
              <a:cxnLst/>
              <a:rect l="l" t="t" r="r" b="b"/>
              <a:pathLst>
                <a:path w="120000" h="120000" extrusionOk="0">
                  <a:moveTo>
                    <a:pt x="0" y="0"/>
                  </a:moveTo>
                  <a:lnTo>
                    <a:pt x="0" y="120000"/>
                  </a:lnTo>
                  <a:lnTo>
                    <a:pt x="120000" y="120000"/>
                  </a:lnTo>
                </a:path>
              </a:pathLst>
            </a:custGeom>
            <a:noFill/>
            <a:ln w="12700" cap="flat" cmpd="sng">
              <a:solidFill>
                <a:schemeClr val="dk1"/>
              </a:solidFill>
              <a:prstDash val="solid"/>
              <a:miter lim="800000"/>
              <a:headEnd type="none" w="sm" len="sm"/>
              <a:tailEnd type="none" w="sm" len="sm"/>
            </a:ln>
          </p:spPr>
        </p:sp>
        <p:sp>
          <p:nvSpPr>
            <p:cNvPr id="391" name="Google Shape;391;p35"/>
            <p:cNvSpPr/>
            <p:nvPr/>
          </p:nvSpPr>
          <p:spPr>
            <a:xfrm>
              <a:off x="2581328" y="3545260"/>
              <a:ext cx="153519" cy="470791"/>
            </a:xfrm>
            <a:custGeom>
              <a:avLst/>
              <a:gdLst/>
              <a:ahLst/>
              <a:cxnLst/>
              <a:rect l="l" t="t" r="r" b="b"/>
              <a:pathLst>
                <a:path w="120000" h="120000" extrusionOk="0">
                  <a:moveTo>
                    <a:pt x="0" y="0"/>
                  </a:moveTo>
                  <a:lnTo>
                    <a:pt x="0" y="120000"/>
                  </a:lnTo>
                  <a:lnTo>
                    <a:pt x="120000" y="120000"/>
                  </a:lnTo>
                </a:path>
              </a:pathLst>
            </a:custGeom>
            <a:noFill/>
            <a:ln w="12700" cap="flat" cmpd="sng">
              <a:solidFill>
                <a:schemeClr val="dk1"/>
              </a:solidFill>
              <a:prstDash val="solid"/>
              <a:miter lim="800000"/>
              <a:headEnd type="none" w="sm" len="sm"/>
              <a:tailEnd type="none" w="sm" len="sm"/>
            </a:ln>
          </p:spPr>
        </p:sp>
        <p:sp>
          <p:nvSpPr>
            <p:cNvPr id="392" name="Google Shape;392;p35"/>
            <p:cNvSpPr/>
            <p:nvPr/>
          </p:nvSpPr>
          <p:spPr>
            <a:xfrm>
              <a:off x="1752324" y="2818603"/>
              <a:ext cx="1238387" cy="214926"/>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chemeClr val="dk1"/>
              </a:solidFill>
              <a:prstDash val="solid"/>
              <a:miter lim="800000"/>
              <a:headEnd type="none" w="sm" len="sm"/>
              <a:tailEnd type="none" w="sm" len="sm"/>
            </a:ln>
          </p:spPr>
        </p:sp>
        <p:sp>
          <p:nvSpPr>
            <p:cNvPr id="393" name="Google Shape;393;p35"/>
            <p:cNvSpPr/>
            <p:nvPr/>
          </p:nvSpPr>
          <p:spPr>
            <a:xfrm>
              <a:off x="1706604" y="2818603"/>
              <a:ext cx="91440" cy="214926"/>
            </a:xfrm>
            <a:custGeom>
              <a:avLst/>
              <a:gdLst/>
              <a:ahLst/>
              <a:cxnLst/>
              <a:rect l="l" t="t" r="r" b="b"/>
              <a:pathLst>
                <a:path w="120000" h="120000" extrusionOk="0">
                  <a:moveTo>
                    <a:pt x="60000" y="0"/>
                  </a:moveTo>
                  <a:lnTo>
                    <a:pt x="60000" y="120000"/>
                  </a:lnTo>
                </a:path>
              </a:pathLst>
            </a:custGeom>
            <a:noFill/>
            <a:ln w="12700" cap="flat" cmpd="sng">
              <a:solidFill>
                <a:schemeClr val="dk1"/>
              </a:solidFill>
              <a:prstDash val="solid"/>
              <a:miter lim="800000"/>
              <a:headEnd type="none" w="sm" len="sm"/>
              <a:tailEnd type="none" w="sm" len="sm"/>
            </a:ln>
          </p:spPr>
        </p:sp>
        <p:sp>
          <p:nvSpPr>
            <p:cNvPr id="394" name="Google Shape;394;p35"/>
            <p:cNvSpPr/>
            <p:nvPr/>
          </p:nvSpPr>
          <p:spPr>
            <a:xfrm>
              <a:off x="513937" y="2818603"/>
              <a:ext cx="1238387" cy="214926"/>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chemeClr val="dk1"/>
              </a:solidFill>
              <a:prstDash val="solid"/>
              <a:miter lim="800000"/>
              <a:headEnd type="none" w="sm" len="sm"/>
              <a:tailEnd type="none" w="sm" len="sm"/>
            </a:ln>
          </p:spPr>
        </p:sp>
        <p:sp>
          <p:nvSpPr>
            <p:cNvPr id="395" name="Google Shape;395;p35"/>
            <p:cNvSpPr/>
            <p:nvPr/>
          </p:nvSpPr>
          <p:spPr>
            <a:xfrm>
              <a:off x="1752324" y="2091945"/>
              <a:ext cx="2167178" cy="214926"/>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chemeClr val="dk1"/>
              </a:solidFill>
              <a:prstDash val="solid"/>
              <a:miter lim="800000"/>
              <a:headEnd type="none" w="sm" len="sm"/>
              <a:tailEnd type="none" w="sm" len="sm"/>
            </a:ln>
          </p:spPr>
        </p:sp>
        <p:sp>
          <p:nvSpPr>
            <p:cNvPr id="396" name="Google Shape;396;p35"/>
            <p:cNvSpPr/>
            <p:nvPr/>
          </p:nvSpPr>
          <p:spPr>
            <a:xfrm>
              <a:off x="2352605" y="1580215"/>
              <a:ext cx="3133795"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5"/>
            <p:cNvSpPr txBox="1"/>
            <p:nvPr/>
          </p:nvSpPr>
          <p:spPr>
            <a:xfrm>
              <a:off x="2352605" y="1580215"/>
              <a:ext cx="3133795"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1" i="0" u="none" strike="noStrike" cap="none" dirty="0" err="1">
                  <a:solidFill>
                    <a:schemeClr val="tx1"/>
                  </a:solidFill>
                  <a:latin typeface="Arial"/>
                  <a:ea typeface="Arial"/>
                  <a:cs typeface="Arial"/>
                  <a:sym typeface="Arial"/>
                </a:rPr>
                <a:t>Bentuk</a:t>
              </a:r>
              <a:r>
                <a:rPr lang="en-US" sz="1800" b="1" i="0" u="none" strike="noStrike" cap="none" dirty="0">
                  <a:solidFill>
                    <a:schemeClr val="tx1"/>
                  </a:solidFill>
                  <a:latin typeface="Arial"/>
                  <a:ea typeface="Arial"/>
                  <a:cs typeface="Arial"/>
                  <a:sym typeface="Arial"/>
                </a:rPr>
                <a:t> </a:t>
              </a:r>
              <a:r>
                <a:rPr lang="en-US" sz="1800" b="1" i="0" u="none" strike="noStrike" cap="none" dirty="0" err="1">
                  <a:solidFill>
                    <a:schemeClr val="tx1"/>
                  </a:solidFill>
                  <a:latin typeface="Arial"/>
                  <a:ea typeface="Arial"/>
                  <a:cs typeface="Arial"/>
                  <a:sym typeface="Arial"/>
                </a:rPr>
                <a:t>Nilai</a:t>
              </a:r>
              <a:r>
                <a:rPr lang="en-US" sz="1800" b="1" i="0" u="none" strike="noStrike" cap="none" dirty="0">
                  <a:solidFill>
                    <a:schemeClr val="tx1"/>
                  </a:solidFill>
                  <a:sym typeface="Arial"/>
                </a:rPr>
                <a:t> Masa Wang</a:t>
              </a:r>
              <a:endParaRPr dirty="0">
                <a:solidFill>
                  <a:schemeClr val="tx1"/>
                </a:solidFill>
              </a:endParaRPr>
            </a:p>
          </p:txBody>
        </p:sp>
        <p:sp>
          <p:nvSpPr>
            <p:cNvPr id="398" name="Google Shape;398;p35"/>
            <p:cNvSpPr/>
            <p:nvPr/>
          </p:nvSpPr>
          <p:spPr>
            <a:xfrm>
              <a:off x="1240594" y="2306872"/>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5"/>
            <p:cNvSpPr txBox="1"/>
            <p:nvPr/>
          </p:nvSpPr>
          <p:spPr>
            <a:xfrm>
              <a:off x="1240594" y="2306872"/>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Nilai</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Depan</a:t>
              </a:r>
              <a:endParaRPr sz="1800" b="0" i="0" u="none" strike="noStrike" cap="none" dirty="0">
                <a:solidFill>
                  <a:schemeClr val="tx1"/>
                </a:solidFill>
                <a:latin typeface="Arial"/>
                <a:ea typeface="Arial"/>
                <a:cs typeface="Arial"/>
                <a:sym typeface="Arial"/>
              </a:endParaRPr>
            </a:p>
          </p:txBody>
        </p:sp>
        <p:sp>
          <p:nvSpPr>
            <p:cNvPr id="400" name="Google Shape;400;p35"/>
            <p:cNvSpPr/>
            <p:nvPr/>
          </p:nvSpPr>
          <p:spPr>
            <a:xfrm>
              <a:off x="2206" y="3033529"/>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5"/>
            <p:cNvSpPr txBox="1"/>
            <p:nvPr/>
          </p:nvSpPr>
          <p:spPr>
            <a:xfrm>
              <a:off x="2206" y="3033529"/>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Amaun</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Sekaligus</a:t>
              </a:r>
              <a:endParaRPr sz="1800" b="0" i="0" u="none" strike="noStrike" cap="none" dirty="0">
                <a:solidFill>
                  <a:schemeClr val="tx1"/>
                </a:solidFill>
                <a:latin typeface="Arial"/>
                <a:ea typeface="Arial"/>
                <a:cs typeface="Arial"/>
                <a:sym typeface="Arial"/>
              </a:endParaRPr>
            </a:p>
          </p:txBody>
        </p:sp>
        <p:sp>
          <p:nvSpPr>
            <p:cNvPr id="402" name="Google Shape;402;p35"/>
            <p:cNvSpPr/>
            <p:nvPr/>
          </p:nvSpPr>
          <p:spPr>
            <a:xfrm>
              <a:off x="1240594" y="3033529"/>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5"/>
            <p:cNvSpPr txBox="1"/>
            <p:nvPr/>
          </p:nvSpPr>
          <p:spPr>
            <a:xfrm>
              <a:off x="1240594" y="3033529"/>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Amaun</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Berubah</a:t>
              </a:r>
              <a:endParaRPr sz="1800" b="0" i="0" u="none" strike="noStrike" cap="none" dirty="0">
                <a:solidFill>
                  <a:schemeClr val="tx1"/>
                </a:solidFill>
                <a:latin typeface="Arial"/>
                <a:ea typeface="Arial"/>
                <a:cs typeface="Arial"/>
                <a:sym typeface="Arial"/>
              </a:endParaRPr>
            </a:p>
          </p:txBody>
        </p:sp>
        <p:sp>
          <p:nvSpPr>
            <p:cNvPr id="404" name="Google Shape;404;p35"/>
            <p:cNvSpPr/>
            <p:nvPr/>
          </p:nvSpPr>
          <p:spPr>
            <a:xfrm>
              <a:off x="2478982" y="3033529"/>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5"/>
            <p:cNvSpPr txBox="1"/>
            <p:nvPr/>
          </p:nvSpPr>
          <p:spPr>
            <a:xfrm>
              <a:off x="2478982" y="3033529"/>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Anuiti</a:t>
              </a:r>
              <a:endParaRPr sz="1800" b="0" i="0" u="none" strike="noStrike" cap="none" dirty="0">
                <a:solidFill>
                  <a:schemeClr val="tx1"/>
                </a:solidFill>
                <a:latin typeface="Arial"/>
                <a:ea typeface="Arial"/>
                <a:cs typeface="Arial"/>
                <a:sym typeface="Arial"/>
              </a:endParaRPr>
            </a:p>
          </p:txBody>
        </p:sp>
        <p:sp>
          <p:nvSpPr>
            <p:cNvPr id="406" name="Google Shape;406;p35"/>
            <p:cNvSpPr/>
            <p:nvPr/>
          </p:nvSpPr>
          <p:spPr>
            <a:xfrm>
              <a:off x="2734847" y="3760186"/>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5"/>
            <p:cNvSpPr txBox="1"/>
            <p:nvPr/>
          </p:nvSpPr>
          <p:spPr>
            <a:xfrm>
              <a:off x="2734847" y="3760186"/>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Anuiti</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Biasa</a:t>
              </a:r>
              <a:endParaRPr sz="1800" b="0" i="0" u="none" strike="noStrike" cap="none" dirty="0">
                <a:solidFill>
                  <a:schemeClr val="tx1"/>
                </a:solidFill>
                <a:latin typeface="Arial"/>
                <a:ea typeface="Arial"/>
                <a:cs typeface="Arial"/>
                <a:sym typeface="Arial"/>
              </a:endParaRPr>
            </a:p>
          </p:txBody>
        </p:sp>
        <p:sp>
          <p:nvSpPr>
            <p:cNvPr id="408" name="Google Shape;408;p35"/>
            <p:cNvSpPr/>
            <p:nvPr/>
          </p:nvSpPr>
          <p:spPr>
            <a:xfrm>
              <a:off x="2734847" y="4486844"/>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5"/>
            <p:cNvSpPr txBox="1"/>
            <p:nvPr/>
          </p:nvSpPr>
          <p:spPr>
            <a:xfrm>
              <a:off x="2734847" y="4486844"/>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Anuiti</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Matang</a:t>
              </a:r>
              <a:endParaRPr sz="1800" b="0" i="0" u="none" strike="noStrike" cap="none" dirty="0">
                <a:solidFill>
                  <a:schemeClr val="tx1"/>
                </a:solidFill>
                <a:latin typeface="Arial"/>
                <a:ea typeface="Arial"/>
                <a:cs typeface="Arial"/>
                <a:sym typeface="Arial"/>
              </a:endParaRPr>
            </a:p>
          </p:txBody>
        </p:sp>
        <p:sp>
          <p:nvSpPr>
            <p:cNvPr id="410" name="Google Shape;410;p35"/>
            <p:cNvSpPr/>
            <p:nvPr/>
          </p:nvSpPr>
          <p:spPr>
            <a:xfrm>
              <a:off x="5574950" y="2306872"/>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5"/>
            <p:cNvSpPr txBox="1"/>
            <p:nvPr/>
          </p:nvSpPr>
          <p:spPr>
            <a:xfrm>
              <a:off x="5574950" y="2306872"/>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Nilai</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Kini</a:t>
              </a:r>
              <a:endParaRPr sz="1800" b="0" i="0" u="none" strike="noStrike" cap="none" dirty="0">
                <a:solidFill>
                  <a:schemeClr val="tx1"/>
                </a:solidFill>
                <a:latin typeface="Arial"/>
                <a:ea typeface="Arial"/>
                <a:cs typeface="Arial"/>
                <a:sym typeface="Arial"/>
              </a:endParaRPr>
            </a:p>
          </p:txBody>
        </p:sp>
        <p:sp>
          <p:nvSpPr>
            <p:cNvPr id="412" name="Google Shape;412;p35"/>
            <p:cNvSpPr/>
            <p:nvPr/>
          </p:nvSpPr>
          <p:spPr>
            <a:xfrm>
              <a:off x="3717369" y="3033529"/>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5"/>
            <p:cNvSpPr txBox="1"/>
            <p:nvPr/>
          </p:nvSpPr>
          <p:spPr>
            <a:xfrm>
              <a:off x="3717369" y="3033529"/>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Amaun</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Sekaligus</a:t>
              </a:r>
              <a:endParaRPr sz="1800" b="0" i="0" u="none" strike="noStrike" cap="none" dirty="0">
                <a:solidFill>
                  <a:schemeClr val="tx1"/>
                </a:solidFill>
                <a:latin typeface="Arial"/>
                <a:ea typeface="Arial"/>
                <a:cs typeface="Arial"/>
                <a:sym typeface="Arial"/>
              </a:endParaRPr>
            </a:p>
          </p:txBody>
        </p:sp>
        <p:sp>
          <p:nvSpPr>
            <p:cNvPr id="414" name="Google Shape;414;p35"/>
            <p:cNvSpPr/>
            <p:nvPr/>
          </p:nvSpPr>
          <p:spPr>
            <a:xfrm>
              <a:off x="4955757" y="3033529"/>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5"/>
            <p:cNvSpPr txBox="1"/>
            <p:nvPr/>
          </p:nvSpPr>
          <p:spPr>
            <a:xfrm>
              <a:off x="4955757" y="3033529"/>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Amaun</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Berubah</a:t>
              </a:r>
              <a:endParaRPr sz="1800" b="0" i="0" u="none" strike="noStrike" cap="none" dirty="0">
                <a:solidFill>
                  <a:schemeClr val="tx1"/>
                </a:solidFill>
                <a:latin typeface="Arial"/>
                <a:ea typeface="Arial"/>
                <a:cs typeface="Arial"/>
                <a:sym typeface="Arial"/>
              </a:endParaRPr>
            </a:p>
          </p:txBody>
        </p:sp>
        <p:sp>
          <p:nvSpPr>
            <p:cNvPr id="416" name="Google Shape;416;p35"/>
            <p:cNvSpPr/>
            <p:nvPr/>
          </p:nvSpPr>
          <p:spPr>
            <a:xfrm>
              <a:off x="6194144" y="3033529"/>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p:cNvSpPr txBox="1"/>
            <p:nvPr/>
          </p:nvSpPr>
          <p:spPr>
            <a:xfrm>
              <a:off x="6194144" y="3033529"/>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Anuiti</a:t>
              </a:r>
              <a:endParaRPr sz="1800" b="0" i="0" u="none" strike="noStrike" cap="none" dirty="0">
                <a:solidFill>
                  <a:schemeClr val="tx1"/>
                </a:solidFill>
                <a:latin typeface="Arial"/>
                <a:ea typeface="Arial"/>
                <a:cs typeface="Arial"/>
                <a:sym typeface="Arial"/>
              </a:endParaRPr>
            </a:p>
          </p:txBody>
        </p:sp>
        <p:sp>
          <p:nvSpPr>
            <p:cNvPr id="418" name="Google Shape;418;p35"/>
            <p:cNvSpPr/>
            <p:nvPr/>
          </p:nvSpPr>
          <p:spPr>
            <a:xfrm>
              <a:off x="6450009" y="3760186"/>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5"/>
            <p:cNvSpPr txBox="1"/>
            <p:nvPr/>
          </p:nvSpPr>
          <p:spPr>
            <a:xfrm>
              <a:off x="6450009" y="3760186"/>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Anuiti</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Biasa</a:t>
              </a:r>
              <a:endParaRPr sz="1800" b="0" i="0" u="none" strike="noStrike" cap="none" dirty="0">
                <a:solidFill>
                  <a:schemeClr val="tx1"/>
                </a:solidFill>
                <a:latin typeface="Arial"/>
                <a:ea typeface="Arial"/>
                <a:cs typeface="Arial"/>
                <a:sym typeface="Arial"/>
              </a:endParaRPr>
            </a:p>
          </p:txBody>
        </p:sp>
        <p:sp>
          <p:nvSpPr>
            <p:cNvPr id="420" name="Google Shape;420;p35"/>
            <p:cNvSpPr/>
            <p:nvPr/>
          </p:nvSpPr>
          <p:spPr>
            <a:xfrm>
              <a:off x="6450009" y="4486844"/>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5"/>
            <p:cNvSpPr txBox="1"/>
            <p:nvPr/>
          </p:nvSpPr>
          <p:spPr>
            <a:xfrm>
              <a:off x="6450009" y="4486844"/>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Anuiti</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Matang</a:t>
              </a:r>
              <a:endParaRPr sz="1800" b="0" i="0" u="none" strike="noStrike" cap="none" dirty="0">
                <a:solidFill>
                  <a:schemeClr val="tx1"/>
                </a:solidFill>
                <a:latin typeface="Arial"/>
                <a:ea typeface="Arial"/>
                <a:cs typeface="Arial"/>
                <a:sym typeface="Arial"/>
              </a:endParaRPr>
            </a:p>
          </p:txBody>
        </p:sp>
        <p:sp>
          <p:nvSpPr>
            <p:cNvPr id="422" name="Google Shape;422;p35"/>
            <p:cNvSpPr/>
            <p:nvPr/>
          </p:nvSpPr>
          <p:spPr>
            <a:xfrm>
              <a:off x="7432532" y="3033529"/>
              <a:ext cx="1023460" cy="51173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5"/>
            <p:cNvSpPr txBox="1"/>
            <p:nvPr/>
          </p:nvSpPr>
          <p:spPr>
            <a:xfrm>
              <a:off x="7432532" y="3033529"/>
              <a:ext cx="1023460" cy="511730"/>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dirty="0" err="1">
                  <a:solidFill>
                    <a:schemeClr val="tx1"/>
                  </a:solidFill>
                  <a:latin typeface="Arial"/>
                  <a:ea typeface="Arial"/>
                  <a:cs typeface="Arial"/>
                  <a:sym typeface="Arial"/>
                </a:rPr>
                <a:t>Perpetuiti</a:t>
              </a:r>
              <a:endParaRPr sz="1800" b="0" i="0" u="none" strike="noStrike" cap="none" dirty="0">
                <a:solidFill>
                  <a:schemeClr val="tx1"/>
                </a:solidFill>
                <a:latin typeface="Arial"/>
                <a:ea typeface="Arial"/>
                <a:cs typeface="Arial"/>
                <a:sym typeface="Arial"/>
              </a:endParaRPr>
            </a:p>
          </p:txBody>
        </p:sp>
      </p:gr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6"/>
          <p:cNvSpPr txBox="1"/>
          <p:nvPr/>
        </p:nvSpPr>
        <p:spPr>
          <a:xfrm>
            <a:off x="936024" y="500718"/>
            <a:ext cx="719575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7.3 (a) - NILAI DEPAN ( FUTURE VALUE ) </a:t>
            </a:r>
            <a:endParaRPr/>
          </a:p>
        </p:txBody>
      </p:sp>
      <p:grpSp>
        <p:nvGrpSpPr>
          <p:cNvPr id="429" name="Google Shape;429;p36"/>
          <p:cNvGrpSpPr/>
          <p:nvPr/>
        </p:nvGrpSpPr>
        <p:grpSpPr>
          <a:xfrm>
            <a:off x="701794" y="4463175"/>
            <a:ext cx="7429982" cy="1524000"/>
            <a:chOff x="701794" y="4463175"/>
            <a:chExt cx="7429982" cy="1524000"/>
          </a:xfrm>
        </p:grpSpPr>
        <p:sp>
          <p:nvSpPr>
            <p:cNvPr id="430" name="Google Shape;430;p36"/>
            <p:cNvSpPr/>
            <p:nvPr/>
          </p:nvSpPr>
          <p:spPr>
            <a:xfrm>
              <a:off x="3606964" y="4463175"/>
              <a:ext cx="1650836" cy="1524000"/>
            </a:xfrm>
            <a:prstGeom prst="leftRightArrow">
              <a:avLst>
                <a:gd name="adj1" fmla="val 50000"/>
                <a:gd name="adj2" fmla="val 21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2 jenis</a:t>
              </a:r>
              <a:endParaRPr/>
            </a:p>
          </p:txBody>
        </p:sp>
        <p:sp>
          <p:nvSpPr>
            <p:cNvPr id="431" name="Google Shape;431;p36"/>
            <p:cNvSpPr txBox="1"/>
            <p:nvPr/>
          </p:nvSpPr>
          <p:spPr>
            <a:xfrm>
              <a:off x="701794" y="4725872"/>
              <a:ext cx="2854570" cy="83099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Nilai Depan</a:t>
              </a:r>
              <a:endParaRPr sz="2400" b="0"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Amaun Sekaligus</a:t>
              </a:r>
              <a:endParaRPr sz="2400" b="0" i="0" u="none" strike="noStrike" cap="none">
                <a:solidFill>
                  <a:schemeClr val="dk1"/>
                </a:solidFill>
                <a:latin typeface="Arial"/>
                <a:ea typeface="Arial"/>
                <a:cs typeface="Arial"/>
                <a:sym typeface="Arial"/>
              </a:endParaRPr>
            </a:p>
          </p:txBody>
        </p:sp>
        <p:sp>
          <p:nvSpPr>
            <p:cNvPr id="432" name="Google Shape;432;p36"/>
            <p:cNvSpPr txBox="1"/>
            <p:nvPr/>
          </p:nvSpPr>
          <p:spPr>
            <a:xfrm>
              <a:off x="5277206" y="4691775"/>
              <a:ext cx="2854570" cy="83099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Nilai Depan</a:t>
              </a:r>
              <a:endParaRPr sz="2400" b="0"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Anuiti</a:t>
              </a:r>
              <a:endParaRPr sz="2400" b="0" i="0" u="none" strike="noStrike" cap="none">
                <a:solidFill>
                  <a:schemeClr val="dk1"/>
                </a:solidFill>
                <a:latin typeface="Arial"/>
                <a:ea typeface="Arial"/>
                <a:cs typeface="Arial"/>
                <a:sym typeface="Arial"/>
              </a:endParaRPr>
            </a:p>
          </p:txBody>
        </p:sp>
      </p:grpSp>
      <p:sp>
        <p:nvSpPr>
          <p:cNvPr id="433" name="Google Shape;433;p3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24</a:t>
            </a:fld>
            <a:endParaRPr sz="1200" b="0" i="0" u="none" strike="noStrike" cap="none">
              <a:solidFill>
                <a:srgbClr val="1D4577"/>
              </a:solidFill>
              <a:latin typeface="Times New Roman"/>
              <a:ea typeface="Times New Roman"/>
              <a:cs typeface="Times New Roman"/>
              <a:sym typeface="Times New Roman"/>
            </a:endParaRPr>
          </a:p>
        </p:txBody>
      </p:sp>
      <p:sp>
        <p:nvSpPr>
          <p:cNvPr id="434" name="Google Shape;434;p36"/>
          <p:cNvSpPr/>
          <p:nvPr/>
        </p:nvSpPr>
        <p:spPr>
          <a:xfrm>
            <a:off x="677910" y="1295400"/>
            <a:ext cx="7453866" cy="2819400"/>
          </a:xfrm>
          <a:prstGeom prst="foldedCorner">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endParaRPr sz="2400" b="0" i="0" u="none" strike="noStrike" cap="none">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a:solidFill>
                <a:schemeClr val="dk1"/>
              </a:solidFill>
              <a:latin typeface="Arial"/>
              <a:ea typeface="Arial"/>
              <a:cs typeface="Arial"/>
              <a:sym typeface="Arial"/>
            </a:endParaRPr>
          </a:p>
          <a:p>
            <a:pPr marL="109538"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DEFINISI </a:t>
            </a:r>
            <a:endParaRPr/>
          </a:p>
          <a:p>
            <a:pPr marL="109538"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Amaun di mana aliran tunai atau siri  aliran tunai akan meningkat dalam tempoh masa yang tertentu apabila dikompaun pada sesuatu kadar faedah (Brigham et al., 2010)</a:t>
            </a:r>
            <a:endParaRPr/>
          </a:p>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7"/>
          <p:cNvSpPr/>
          <p:nvPr/>
        </p:nvSpPr>
        <p:spPr>
          <a:xfrm>
            <a:off x="152400" y="1295400"/>
            <a:ext cx="8839200" cy="1924798"/>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Anda menyimpan RM 100 di dalam sebuah bank pada hari ini dan akan mengeluarkannya lima tahun akan datang. Berapakah jumlah yang terkumpul pada ketika itu jika pihak bank membayar kadar keuntungan sebanyak 10% setahun?</a:t>
            </a:r>
            <a:endParaRPr sz="2400" b="0" i="0" u="none" strike="noStrike" cap="none">
              <a:solidFill>
                <a:schemeClr val="dk1"/>
              </a:solidFill>
              <a:latin typeface="Arial"/>
              <a:ea typeface="Arial"/>
              <a:cs typeface="Arial"/>
              <a:sym typeface="Arial"/>
            </a:endParaRPr>
          </a:p>
        </p:txBody>
      </p:sp>
      <p:sp>
        <p:nvSpPr>
          <p:cNvPr id="440" name="Google Shape;440;p37"/>
          <p:cNvSpPr/>
          <p:nvPr/>
        </p:nvSpPr>
        <p:spPr>
          <a:xfrm>
            <a:off x="609600" y="304800"/>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NILAI DEPAN AMAUN SEKALIGUS</a:t>
            </a:r>
            <a:endParaRPr/>
          </a:p>
        </p:txBody>
      </p:sp>
      <p:sp>
        <p:nvSpPr>
          <p:cNvPr id="441" name="Google Shape;441;p37"/>
          <p:cNvSpPr txBox="1"/>
          <p:nvPr/>
        </p:nvSpPr>
        <p:spPr>
          <a:xfrm>
            <a:off x="655638" y="3321528"/>
            <a:ext cx="6718506"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Bagaimanakah  hendak melukis garis masa?</a:t>
            </a:r>
            <a:endParaRPr/>
          </a:p>
        </p:txBody>
      </p:sp>
      <p:grpSp>
        <p:nvGrpSpPr>
          <p:cNvPr id="442" name="Google Shape;442;p37"/>
          <p:cNvGrpSpPr/>
          <p:nvPr/>
        </p:nvGrpSpPr>
        <p:grpSpPr>
          <a:xfrm>
            <a:off x="392585" y="3912348"/>
            <a:ext cx="8535841" cy="2065006"/>
            <a:chOff x="392585" y="3912348"/>
            <a:chExt cx="8535841" cy="2065006"/>
          </a:xfrm>
        </p:grpSpPr>
        <p:cxnSp>
          <p:nvCxnSpPr>
            <p:cNvPr id="443" name="Google Shape;443;p37"/>
            <p:cNvCxnSpPr/>
            <p:nvPr/>
          </p:nvCxnSpPr>
          <p:spPr>
            <a:xfrm>
              <a:off x="609600" y="4690223"/>
              <a:ext cx="7620000" cy="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444" name="Google Shape;444;p37"/>
            <p:cNvCxnSpPr/>
            <p:nvPr/>
          </p:nvCxnSpPr>
          <p:spPr>
            <a:xfrm>
              <a:off x="609600" y="4385423"/>
              <a:ext cx="0" cy="6096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445" name="Google Shape;445;p37"/>
            <p:cNvCxnSpPr/>
            <p:nvPr/>
          </p:nvCxnSpPr>
          <p:spPr>
            <a:xfrm>
              <a:off x="2133600" y="4385423"/>
              <a:ext cx="0" cy="6096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446" name="Google Shape;446;p37"/>
            <p:cNvCxnSpPr/>
            <p:nvPr/>
          </p:nvCxnSpPr>
          <p:spPr>
            <a:xfrm>
              <a:off x="3657600" y="4385423"/>
              <a:ext cx="0" cy="6096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447" name="Google Shape;447;p37"/>
            <p:cNvCxnSpPr/>
            <p:nvPr/>
          </p:nvCxnSpPr>
          <p:spPr>
            <a:xfrm>
              <a:off x="5181600" y="4385423"/>
              <a:ext cx="0" cy="6096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448" name="Google Shape;448;p37"/>
            <p:cNvCxnSpPr/>
            <p:nvPr/>
          </p:nvCxnSpPr>
          <p:spPr>
            <a:xfrm>
              <a:off x="6705600" y="4385423"/>
              <a:ext cx="0" cy="6096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449" name="Google Shape;449;p37"/>
            <p:cNvCxnSpPr/>
            <p:nvPr/>
          </p:nvCxnSpPr>
          <p:spPr>
            <a:xfrm>
              <a:off x="8229600" y="4385423"/>
              <a:ext cx="0" cy="6096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sp>
          <p:nvSpPr>
            <p:cNvPr id="450" name="Google Shape;450;p37"/>
            <p:cNvSpPr txBox="1"/>
            <p:nvPr/>
          </p:nvSpPr>
          <p:spPr>
            <a:xfrm>
              <a:off x="480997" y="3912348"/>
              <a:ext cx="298480" cy="58477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0" u="none" strike="noStrike" cap="none">
                  <a:solidFill>
                    <a:schemeClr val="dk1"/>
                  </a:solidFill>
                  <a:latin typeface="Arial"/>
                  <a:ea typeface="Arial"/>
                  <a:cs typeface="Arial"/>
                  <a:sym typeface="Arial"/>
                </a:rPr>
                <a:t>0</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p:txBody>
        </p:sp>
        <p:sp>
          <p:nvSpPr>
            <p:cNvPr id="451" name="Google Shape;451;p37"/>
            <p:cNvSpPr txBox="1"/>
            <p:nvPr/>
          </p:nvSpPr>
          <p:spPr>
            <a:xfrm>
              <a:off x="2039922" y="3928223"/>
              <a:ext cx="298480" cy="58477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0" u="none" strike="noStrike" cap="none">
                  <a:solidFill>
                    <a:schemeClr val="dk1"/>
                  </a:solidFill>
                  <a:latin typeface="Arial"/>
                  <a:ea typeface="Arial"/>
                  <a:cs typeface="Arial"/>
                  <a:sym typeface="Arial"/>
                </a:rPr>
                <a:t>1</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p:txBody>
        </p:sp>
        <p:sp>
          <p:nvSpPr>
            <p:cNvPr id="452" name="Google Shape;452;p37"/>
            <p:cNvSpPr txBox="1"/>
            <p:nvPr/>
          </p:nvSpPr>
          <p:spPr>
            <a:xfrm>
              <a:off x="3563922" y="3928223"/>
              <a:ext cx="298480" cy="58477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0" u="none" strike="noStrike" cap="none">
                  <a:solidFill>
                    <a:schemeClr val="dk1"/>
                  </a:solidFill>
                  <a:latin typeface="Arial"/>
                  <a:ea typeface="Arial"/>
                  <a:cs typeface="Arial"/>
                  <a:sym typeface="Arial"/>
                </a:rPr>
                <a:t>2</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p:txBody>
        </p:sp>
        <p:sp>
          <p:nvSpPr>
            <p:cNvPr id="453" name="Google Shape;453;p37"/>
            <p:cNvSpPr txBox="1"/>
            <p:nvPr/>
          </p:nvSpPr>
          <p:spPr>
            <a:xfrm>
              <a:off x="5011722" y="3928223"/>
              <a:ext cx="298480" cy="58477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0" u="none" strike="noStrike" cap="none">
                  <a:solidFill>
                    <a:schemeClr val="dk1"/>
                  </a:solidFill>
                  <a:latin typeface="Arial"/>
                  <a:ea typeface="Arial"/>
                  <a:cs typeface="Arial"/>
                  <a:sym typeface="Arial"/>
                </a:rPr>
                <a:t>3</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p:txBody>
        </p:sp>
        <p:sp>
          <p:nvSpPr>
            <p:cNvPr id="454" name="Google Shape;454;p37"/>
            <p:cNvSpPr txBox="1"/>
            <p:nvPr/>
          </p:nvSpPr>
          <p:spPr>
            <a:xfrm>
              <a:off x="6611922" y="3928223"/>
              <a:ext cx="298480" cy="58477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0" u="none" strike="noStrike" cap="none">
                  <a:solidFill>
                    <a:schemeClr val="dk1"/>
                  </a:solidFill>
                  <a:latin typeface="Arial"/>
                  <a:ea typeface="Arial"/>
                  <a:cs typeface="Arial"/>
                  <a:sym typeface="Arial"/>
                </a:rPr>
                <a:t>4</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p:txBody>
        </p:sp>
        <p:sp>
          <p:nvSpPr>
            <p:cNvPr id="455" name="Google Shape;455;p37"/>
            <p:cNvSpPr txBox="1"/>
            <p:nvPr/>
          </p:nvSpPr>
          <p:spPr>
            <a:xfrm>
              <a:off x="8059722" y="3928223"/>
              <a:ext cx="298480" cy="58477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0" u="none" strike="noStrike" cap="none">
                  <a:solidFill>
                    <a:schemeClr val="dk1"/>
                  </a:solidFill>
                  <a:latin typeface="Arial"/>
                  <a:ea typeface="Arial"/>
                  <a:cs typeface="Arial"/>
                  <a:sym typeface="Arial"/>
                </a:rPr>
                <a:t>5</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p:txBody>
        </p:sp>
        <p:sp>
          <p:nvSpPr>
            <p:cNvPr id="456" name="Google Shape;456;p37"/>
            <p:cNvSpPr txBox="1"/>
            <p:nvPr/>
          </p:nvSpPr>
          <p:spPr>
            <a:xfrm>
              <a:off x="392585" y="5147423"/>
              <a:ext cx="526106"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0" u="none" strike="noStrike" cap="none">
                  <a:solidFill>
                    <a:schemeClr val="dk1"/>
                  </a:solidFill>
                  <a:latin typeface="Arial"/>
                  <a:ea typeface="Arial"/>
                  <a:cs typeface="Arial"/>
                  <a:sym typeface="Arial"/>
                </a:rPr>
                <a:t>100</a:t>
              </a:r>
              <a:endParaRPr/>
            </a:p>
          </p:txBody>
        </p:sp>
        <p:cxnSp>
          <p:nvCxnSpPr>
            <p:cNvPr id="457" name="Google Shape;457;p37"/>
            <p:cNvCxnSpPr/>
            <p:nvPr/>
          </p:nvCxnSpPr>
          <p:spPr>
            <a:xfrm>
              <a:off x="609600" y="5410200"/>
              <a:ext cx="0" cy="4572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458" name="Google Shape;458;p37"/>
            <p:cNvCxnSpPr/>
            <p:nvPr/>
          </p:nvCxnSpPr>
          <p:spPr>
            <a:xfrm>
              <a:off x="609600" y="5867400"/>
              <a:ext cx="7543800" cy="0"/>
            </a:xfrm>
            <a:prstGeom prst="straightConnector1">
              <a:avLst/>
            </a:prstGeom>
            <a:solidFill>
              <a:schemeClr val="lt1"/>
            </a:solidFill>
            <a:ln w="12700" cap="flat" cmpd="sng">
              <a:solidFill>
                <a:schemeClr val="dk1"/>
              </a:solidFill>
              <a:prstDash val="solid"/>
              <a:miter lim="800000"/>
              <a:headEnd type="none" w="med" len="med"/>
              <a:tailEnd type="triangle" w="med" len="med"/>
            </a:ln>
          </p:spPr>
        </p:cxnSp>
        <p:sp>
          <p:nvSpPr>
            <p:cNvPr id="459" name="Google Shape;459;p37"/>
            <p:cNvSpPr txBox="1"/>
            <p:nvPr/>
          </p:nvSpPr>
          <p:spPr>
            <a:xfrm>
              <a:off x="1129645" y="4041106"/>
              <a:ext cx="595035" cy="58477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0" u="none" strike="noStrike" cap="none">
                  <a:solidFill>
                    <a:schemeClr val="dk1"/>
                  </a:solidFill>
                  <a:latin typeface="Arial"/>
                  <a:ea typeface="Arial"/>
                  <a:cs typeface="Arial"/>
                  <a:sym typeface="Arial"/>
                </a:rPr>
                <a:t>10%</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p:txBody>
        </p:sp>
        <p:sp>
          <p:nvSpPr>
            <p:cNvPr id="460" name="Google Shape;460;p37"/>
            <p:cNvSpPr txBox="1"/>
            <p:nvPr/>
          </p:nvSpPr>
          <p:spPr>
            <a:xfrm>
              <a:off x="8237211" y="5638800"/>
              <a:ext cx="691215"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i="0" u="none" strike="noStrike" cap="none">
                  <a:solidFill>
                    <a:schemeClr val="dk1"/>
                  </a:solidFill>
                  <a:latin typeface="Arial"/>
                  <a:ea typeface="Arial"/>
                  <a:cs typeface="Arial"/>
                  <a:sym typeface="Arial"/>
                </a:rPr>
                <a:t>FV=?</a:t>
              </a:r>
              <a:endParaRPr/>
            </a:p>
          </p:txBody>
        </p:sp>
      </p:grpSp>
      <p:sp>
        <p:nvSpPr>
          <p:cNvPr id="461" name="Google Shape;461;p37"/>
          <p:cNvSpPr txBox="1">
            <a:spLocks noGrp="1"/>
          </p:cNvSpPr>
          <p:nvPr>
            <p:ph type="sldNum" sz="quarter" idx="12"/>
          </p:nvPr>
        </p:nvSpPr>
        <p:spPr>
          <a:prstGeom prst="rect">
            <a:avLst/>
          </a:prstGeom>
          <a:solidFill>
            <a:schemeClr val="lt1"/>
          </a:solid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25</a:t>
            </a:fld>
            <a:endParaRPr sz="1200" b="0" i="0" u="none" strike="noStrike" cap="none">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1"/>
                                        </p:tgtEl>
                                        <p:attrNameLst>
                                          <p:attrName>style.visibility</p:attrName>
                                        </p:attrNameLst>
                                      </p:cBhvr>
                                      <p:to>
                                        <p:strVal val="visible"/>
                                      </p:to>
                                    </p:set>
                                    <p:animEffect transition="in" filter="fade">
                                      <p:cBhvr>
                                        <p:cTn id="7" dur="500"/>
                                        <p:tgtEl>
                                          <p:spTgt spid="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8"/>
          <p:cNvSpPr txBox="1"/>
          <p:nvPr/>
        </p:nvSpPr>
        <p:spPr>
          <a:xfrm>
            <a:off x="495300" y="609600"/>
            <a:ext cx="80772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Arial"/>
                <a:ea typeface="Arial"/>
                <a:cs typeface="Arial"/>
                <a:sym typeface="Arial"/>
              </a:rPr>
              <a:t>Dengan menggunakan konsep pengkompaunan kadar faedah, berapakah amaun yang terkumpul?</a:t>
            </a:r>
            <a:endParaRPr/>
          </a:p>
        </p:txBody>
      </p:sp>
      <p:graphicFrame>
        <p:nvGraphicFramePr>
          <p:cNvPr id="467" name="Google Shape;467;p38"/>
          <p:cNvGraphicFramePr/>
          <p:nvPr/>
        </p:nvGraphicFramePr>
        <p:xfrm>
          <a:off x="533400" y="1916122"/>
          <a:ext cx="8153400" cy="4148685"/>
        </p:xfrm>
        <a:graphic>
          <a:graphicData uri="http://schemas.openxmlformats.org/drawingml/2006/table">
            <a:tbl>
              <a:tblPr>
                <a:noFill/>
                <a:tableStyleId>{583BA780-5EA6-48F8-90CF-626E18444947}</a:tableStyleId>
              </a:tblPr>
              <a:tblGrid>
                <a:gridCol w="1143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701150">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TAHUN</a:t>
                      </a:r>
                      <a:endParaRPr sz="2200" b="1" i="0" u="none" strike="noStrike" cap="none">
                        <a:solidFill>
                          <a:srgbClr val="0000FF"/>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PRINSIPAL</a:t>
                      </a:r>
                      <a:endParaRPr sz="2200" b="1" i="0" u="none" strike="noStrike" cap="none">
                        <a:solidFill>
                          <a:srgbClr val="0000FF"/>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KADAR FAEDAH</a:t>
                      </a:r>
                      <a:endParaRPr sz="2200" b="1" i="0" u="none" strike="noStrike" cap="none">
                        <a:solidFill>
                          <a:srgbClr val="0000FF"/>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JUMLAH FAEDAH</a:t>
                      </a:r>
                      <a:endParaRPr sz="2200" b="1" i="0" u="none" strike="noStrike" cap="none">
                        <a:solidFill>
                          <a:srgbClr val="0000FF"/>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760"/>
                        <a:buFont typeface="Noto Sans Symbols"/>
                        <a:buNone/>
                      </a:pPr>
                      <a:r>
                        <a:rPr lang="en-US" sz="2200" b="1" u="none" strike="noStrike" cap="none">
                          <a:latin typeface="Arial"/>
                          <a:ea typeface="Arial"/>
                          <a:cs typeface="Arial"/>
                          <a:sym typeface="Arial"/>
                        </a:rPr>
                        <a:t>JUMLAH AKHIR</a:t>
                      </a:r>
                      <a:endParaRPr sz="2200" b="1" i="0" u="none" strike="noStrike" cap="none">
                        <a:solidFill>
                          <a:srgbClr val="0000FF"/>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6763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a:t>
                      </a:r>
                      <a:endParaRPr sz="2400" b="1" i="0" u="none" strike="noStrike" cap="none">
                        <a:solidFill>
                          <a:srgbClr val="0000FF"/>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100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110</a:t>
                      </a:r>
                      <a:endParaRPr sz="2400" b="1"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6779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2</a:t>
                      </a:r>
                      <a:endParaRPr sz="2400" b="1" i="0" u="none" strike="noStrike" cap="none">
                        <a:solidFill>
                          <a:srgbClr val="0000FF"/>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121</a:t>
                      </a:r>
                      <a:endParaRPr sz="2400" b="1"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6779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3</a:t>
                      </a:r>
                      <a:endParaRPr sz="2400" b="1" i="0" u="none" strike="noStrike" cap="none">
                        <a:solidFill>
                          <a:srgbClr val="0000FF"/>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121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12.10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133.10</a:t>
                      </a:r>
                      <a:endParaRPr sz="2400" b="1"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6763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4</a:t>
                      </a:r>
                      <a:endParaRPr sz="2400" b="1" i="0" u="none" strike="noStrike" cap="none">
                        <a:solidFill>
                          <a:srgbClr val="0000FF"/>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133.10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13.31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146.41</a:t>
                      </a:r>
                      <a:endParaRPr sz="2400" b="1" i="0" u="none" strike="noStrike" cap="none">
                        <a:solidFill>
                          <a:schemeClr val="dk1"/>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6779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5</a:t>
                      </a:r>
                      <a:endParaRPr sz="2400" b="1" i="0" u="none" strike="noStrike" cap="none">
                        <a:solidFill>
                          <a:srgbClr val="0000FF"/>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146.41</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14.64</a:t>
                      </a:r>
                      <a:endParaRPr sz="2400" b="1" i="0" u="none" strike="noStrike" cap="none">
                        <a:solidFill>
                          <a:schemeClr val="dk1"/>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RM 161.05</a:t>
                      </a:r>
                      <a:endParaRPr sz="2400" b="1" i="0" u="none" strike="noStrike" cap="none">
                        <a:solidFill>
                          <a:srgbClr val="FF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bl>
          </a:graphicData>
        </a:graphic>
      </p:graphicFrame>
      <p:sp>
        <p:nvSpPr>
          <p:cNvPr id="468" name="Google Shape;468;p3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26</a:t>
            </a:fld>
            <a:endParaRPr sz="1200" b="0" i="0" u="none" strike="noStrike" cap="none">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7"/>
                                        </p:tgtEl>
                                        <p:attrNameLst>
                                          <p:attrName>style.visibility</p:attrName>
                                        </p:attrNameLst>
                                      </p:cBhvr>
                                      <p:to>
                                        <p:strVal val="visible"/>
                                      </p:to>
                                    </p:set>
                                    <p:animEffect transition="in" filter="fade">
                                      <p:cBhvr>
                                        <p:cTn id="7" dur="500"/>
                                        <p:tgtEl>
                                          <p:spTgt spid="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39"/>
          <p:cNvSpPr txBox="1"/>
          <p:nvPr/>
        </p:nvSpPr>
        <p:spPr>
          <a:xfrm>
            <a:off x="762000" y="685800"/>
            <a:ext cx="7753350" cy="4924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i="0" u="none" strike="noStrike" cap="none">
                <a:solidFill>
                  <a:schemeClr val="dk1"/>
                </a:solidFill>
                <a:latin typeface="Arial"/>
                <a:ea typeface="Arial"/>
                <a:cs typeface="Arial"/>
                <a:sym typeface="Arial"/>
              </a:rPr>
              <a:t>Apakah cara untuk mengira ?</a:t>
            </a:r>
            <a:endParaRPr/>
          </a:p>
        </p:txBody>
      </p:sp>
      <p:sp>
        <p:nvSpPr>
          <p:cNvPr id="474" name="Google Shape;474;p39"/>
          <p:cNvSpPr txBox="1"/>
          <p:nvPr/>
        </p:nvSpPr>
        <p:spPr>
          <a:xfrm>
            <a:off x="762000" y="1371600"/>
            <a:ext cx="6985554" cy="90794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AutoNum type="arabicPeriod"/>
            </a:pPr>
            <a:r>
              <a:rPr lang="en-US" sz="2400" b="1" i="0" u="none" strike="noStrike" cap="none">
                <a:solidFill>
                  <a:schemeClr val="dk1"/>
                </a:solidFill>
                <a:latin typeface="Arial"/>
                <a:ea typeface="Arial"/>
                <a:cs typeface="Arial"/>
                <a:sym typeface="Arial"/>
              </a:rPr>
              <a:t>Menggunakan jadual nilai faktor</a:t>
            </a:r>
            <a:endParaRPr sz="2400" b="1" i="0" u="none" strike="noStrike" cap="none">
              <a:solidFill>
                <a:schemeClr val="dk1"/>
              </a:solidFill>
              <a:latin typeface="Arial"/>
              <a:ea typeface="Arial"/>
              <a:cs typeface="Arial"/>
              <a:sym typeface="Arial"/>
            </a:endParaRPr>
          </a:p>
          <a:p>
            <a:pPr marL="457200" marR="0" lvl="0" indent="-457200" algn="l" rtl="0">
              <a:spcBef>
                <a:spcPts val="600"/>
              </a:spcBef>
              <a:spcAft>
                <a:spcPts val="0"/>
              </a:spcAft>
              <a:buClr>
                <a:schemeClr val="dk1"/>
              </a:buClr>
              <a:buSzPts val="2400"/>
              <a:buFont typeface="Arial"/>
              <a:buAutoNum type="arabicPeriod"/>
            </a:pPr>
            <a:r>
              <a:rPr lang="en-US" sz="2400" b="1" i="0" u="none" strike="noStrike" cap="none">
                <a:solidFill>
                  <a:schemeClr val="dk1"/>
                </a:solidFill>
                <a:latin typeface="Arial"/>
                <a:ea typeface="Arial"/>
                <a:cs typeface="Arial"/>
                <a:sym typeface="Arial"/>
              </a:rPr>
              <a:t>Menggunakan rumus algebra</a:t>
            </a:r>
            <a:endParaRPr/>
          </a:p>
        </p:txBody>
      </p:sp>
      <p:sp>
        <p:nvSpPr>
          <p:cNvPr id="475" name="Google Shape;475;p3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27</a:t>
            </a:fld>
            <a:endParaRPr sz="1200" b="0" i="0" u="none" strike="noStrike" cap="none">
              <a:solidFill>
                <a:srgbClr val="1D4577"/>
              </a:solidFill>
              <a:latin typeface="Times New Roman"/>
              <a:ea typeface="Times New Roman"/>
              <a:cs typeface="Times New Roman"/>
              <a:sym typeface="Times New Roman"/>
            </a:endParaRPr>
          </a:p>
        </p:txBody>
      </p:sp>
      <p:sp>
        <p:nvSpPr>
          <p:cNvPr id="476" name="Google Shape;476;p39"/>
          <p:cNvSpPr/>
          <p:nvPr/>
        </p:nvSpPr>
        <p:spPr>
          <a:xfrm>
            <a:off x="180975" y="3461605"/>
            <a:ext cx="8810625" cy="2100995"/>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Anda menyimpan RM 100 di dalam sebuah bank pada 1 Januari tahun ini dan akan mengeluarkannya pada akhir tahun kelima nanti. Berapakah jumlah yang terkumpul pada ketika itu jika pihak bank membayar kadar keuntungan sebanyak 10% setahun?</a:t>
            </a:r>
            <a:endParaRPr/>
          </a:p>
        </p:txBody>
      </p:sp>
      <p:sp>
        <p:nvSpPr>
          <p:cNvPr id="477" name="Google Shape;477;p39"/>
          <p:cNvSpPr txBox="1"/>
          <p:nvPr/>
        </p:nvSpPr>
        <p:spPr>
          <a:xfrm>
            <a:off x="194422" y="2662535"/>
            <a:ext cx="1675582"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chemeClr val="dk1"/>
                </a:solidFill>
                <a:latin typeface="Arial"/>
                <a:ea typeface="Arial"/>
                <a:cs typeface="Arial"/>
                <a:sym typeface="Arial"/>
              </a:rPr>
              <a:t>Contoh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4"/>
                                        </p:tgtEl>
                                        <p:attrNameLst>
                                          <p:attrName>style.visibility</p:attrName>
                                        </p:attrNameLst>
                                      </p:cBhvr>
                                      <p:to>
                                        <p:strVal val="visible"/>
                                      </p:to>
                                    </p:set>
                                    <p:anim calcmode="lin" valueType="num">
                                      <p:cBhvr additive="base">
                                        <p:cTn id="7" dur="500"/>
                                        <p:tgtEl>
                                          <p:spTgt spid="47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0"/>
          <p:cNvSpPr txBox="1"/>
          <p:nvPr/>
        </p:nvSpPr>
        <p:spPr>
          <a:xfrm>
            <a:off x="379557" y="1678081"/>
            <a:ext cx="33554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Jadual yang digunakan</a:t>
            </a:r>
            <a:endParaRPr sz="2400" b="0" i="0" u="none" strike="noStrike" cap="none">
              <a:solidFill>
                <a:schemeClr val="dk1"/>
              </a:solidFill>
              <a:latin typeface="Arial"/>
              <a:ea typeface="Arial"/>
              <a:cs typeface="Arial"/>
              <a:sym typeface="Arial"/>
            </a:endParaRPr>
          </a:p>
        </p:txBody>
      </p:sp>
      <p:sp>
        <p:nvSpPr>
          <p:cNvPr id="483" name="Google Shape;483;p40"/>
          <p:cNvSpPr/>
          <p:nvPr/>
        </p:nvSpPr>
        <p:spPr>
          <a:xfrm>
            <a:off x="3807478" y="1720943"/>
            <a:ext cx="976313" cy="381000"/>
          </a:xfrm>
          <a:prstGeom prst="rightArrow">
            <a:avLst>
              <a:gd name="adj1" fmla="val 50000"/>
              <a:gd name="adj2" fmla="val 64063"/>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484" name="Google Shape;484;p40"/>
          <p:cNvSpPr txBox="1"/>
          <p:nvPr/>
        </p:nvSpPr>
        <p:spPr>
          <a:xfrm>
            <a:off x="4993341" y="1601881"/>
            <a:ext cx="36102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Jadual faktor nilai depan </a:t>
            </a:r>
            <a:endParaRPr/>
          </a:p>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amaun sekaligus  (FVIF)</a:t>
            </a:r>
            <a:endParaRPr/>
          </a:p>
        </p:txBody>
      </p:sp>
      <p:sp>
        <p:nvSpPr>
          <p:cNvPr id="485" name="Google Shape;485;p40"/>
          <p:cNvSpPr txBox="1"/>
          <p:nvPr/>
        </p:nvSpPr>
        <p:spPr>
          <a:xfrm>
            <a:off x="607078" y="2635343"/>
            <a:ext cx="677781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Di mana:    PV=100,     i=10%,      n=5,       FV=?</a:t>
            </a:r>
            <a:endParaRPr/>
          </a:p>
        </p:txBody>
      </p:sp>
      <p:pic>
        <p:nvPicPr>
          <p:cNvPr id="486" name="Google Shape;486;p40"/>
          <p:cNvPicPr preferRelativeResize="0"/>
          <p:nvPr/>
        </p:nvPicPr>
        <p:blipFill rotWithShape="1">
          <a:blip r:embed="rId3">
            <a:alphaModFix/>
          </a:blip>
          <a:srcRect/>
          <a:stretch/>
        </p:blipFill>
        <p:spPr>
          <a:xfrm>
            <a:off x="1223182" y="3544690"/>
            <a:ext cx="2898371" cy="493910"/>
          </a:xfrm>
          <a:prstGeom prst="rect">
            <a:avLst/>
          </a:prstGeom>
          <a:noFill/>
          <a:ln>
            <a:noFill/>
          </a:ln>
        </p:spPr>
      </p:pic>
      <p:pic>
        <p:nvPicPr>
          <p:cNvPr id="487" name="Google Shape;487;p40"/>
          <p:cNvPicPr preferRelativeResize="0"/>
          <p:nvPr/>
        </p:nvPicPr>
        <p:blipFill rotWithShape="1">
          <a:blip r:embed="rId4">
            <a:alphaModFix/>
          </a:blip>
          <a:srcRect/>
          <a:stretch/>
        </p:blipFill>
        <p:spPr>
          <a:xfrm>
            <a:off x="1224770" y="4171230"/>
            <a:ext cx="3179109" cy="493910"/>
          </a:xfrm>
          <a:prstGeom prst="rect">
            <a:avLst/>
          </a:prstGeom>
          <a:noFill/>
          <a:ln>
            <a:noFill/>
          </a:ln>
        </p:spPr>
      </p:pic>
      <p:pic>
        <p:nvPicPr>
          <p:cNvPr id="488" name="Google Shape;488;p40"/>
          <p:cNvPicPr preferRelativeResize="0"/>
          <p:nvPr/>
        </p:nvPicPr>
        <p:blipFill rotWithShape="1">
          <a:blip r:embed="rId5">
            <a:alphaModFix/>
          </a:blip>
          <a:srcRect/>
          <a:stretch/>
        </p:blipFill>
        <p:spPr>
          <a:xfrm>
            <a:off x="1196196" y="4800600"/>
            <a:ext cx="2772982" cy="416602"/>
          </a:xfrm>
          <a:prstGeom prst="rect">
            <a:avLst/>
          </a:prstGeom>
          <a:noFill/>
          <a:ln>
            <a:noFill/>
          </a:ln>
        </p:spPr>
      </p:pic>
      <p:pic>
        <p:nvPicPr>
          <p:cNvPr id="489" name="Google Shape;489;p40"/>
          <p:cNvPicPr preferRelativeResize="0"/>
          <p:nvPr/>
        </p:nvPicPr>
        <p:blipFill rotWithShape="1">
          <a:blip r:embed="rId6">
            <a:alphaModFix/>
          </a:blip>
          <a:srcRect/>
          <a:stretch/>
        </p:blipFill>
        <p:spPr>
          <a:xfrm>
            <a:off x="1189845" y="5410200"/>
            <a:ext cx="2617633" cy="363991"/>
          </a:xfrm>
          <a:prstGeom prst="rect">
            <a:avLst/>
          </a:prstGeom>
          <a:noFill/>
          <a:ln>
            <a:noFill/>
          </a:ln>
        </p:spPr>
      </p:pic>
      <p:sp>
        <p:nvSpPr>
          <p:cNvPr id="490" name="Google Shape;490;p40"/>
          <p:cNvSpPr txBox="1">
            <a:spLocks noGrp="1"/>
          </p:cNvSpPr>
          <p:nvPr>
            <p:ph type="sldNum" sz="quarter" idx="12"/>
          </p:nvPr>
        </p:nvSpPr>
        <p:spPr>
          <a:xfrm>
            <a:off x="6582084" y="609600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28</a:t>
            </a:fld>
            <a:endParaRPr sz="1200" b="0" i="0" u="none" strike="noStrike" cap="none">
              <a:solidFill>
                <a:schemeClr val="dk1"/>
              </a:solidFill>
              <a:latin typeface="Arial"/>
              <a:ea typeface="Arial"/>
              <a:cs typeface="Arial"/>
              <a:sym typeface="Arial"/>
            </a:endParaRPr>
          </a:p>
        </p:txBody>
      </p:sp>
      <p:sp>
        <p:nvSpPr>
          <p:cNvPr id="491" name="Google Shape;491;p40"/>
          <p:cNvSpPr txBox="1"/>
          <p:nvPr/>
        </p:nvSpPr>
        <p:spPr>
          <a:xfrm>
            <a:off x="368070" y="415711"/>
            <a:ext cx="8610600"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chemeClr val="dk1"/>
                </a:solidFill>
                <a:latin typeface="Arial"/>
                <a:ea typeface="Arial"/>
                <a:cs typeface="Arial"/>
                <a:sym typeface="Arial"/>
              </a:rPr>
              <a:t>Bagaimanakah cara mengira nilai hadapan amaun sekaligus menggunakan jadual nilai faktor?</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500"/>
                                        <p:tgtEl>
                                          <p:spTgt spid="482"/>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83"/>
                                        </p:tgtEl>
                                        <p:attrNameLst>
                                          <p:attrName>style.visibility</p:attrName>
                                        </p:attrNameLst>
                                      </p:cBhvr>
                                      <p:to>
                                        <p:strVal val="visible"/>
                                      </p:to>
                                    </p:set>
                                    <p:anim calcmode="lin" valueType="num">
                                      <p:cBhvr additive="base">
                                        <p:cTn id="12" dur="500"/>
                                        <p:tgtEl>
                                          <p:spTgt spid="48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84"/>
                                        </p:tgtEl>
                                        <p:attrNameLst>
                                          <p:attrName>style.visibility</p:attrName>
                                        </p:attrNameLst>
                                      </p:cBhvr>
                                      <p:to>
                                        <p:strVal val="visible"/>
                                      </p:to>
                                    </p:set>
                                    <p:anim calcmode="lin" valueType="num">
                                      <p:cBhvr additive="base">
                                        <p:cTn id="17" dur="500"/>
                                        <p:tgtEl>
                                          <p:spTgt spid="484"/>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85"/>
                                        </p:tgtEl>
                                        <p:attrNameLst>
                                          <p:attrName>style.visibility</p:attrName>
                                        </p:attrNameLst>
                                      </p:cBhvr>
                                      <p:to>
                                        <p:strVal val="visible"/>
                                      </p:to>
                                    </p:set>
                                    <p:anim calcmode="lin" valueType="num">
                                      <p:cBhvr additive="base">
                                        <p:cTn id="22" dur="500"/>
                                        <p:tgtEl>
                                          <p:spTgt spid="48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41"/>
          <p:cNvSpPr txBox="1"/>
          <p:nvPr/>
        </p:nvSpPr>
        <p:spPr>
          <a:xfrm>
            <a:off x="914400" y="2133600"/>
            <a:ext cx="7239000" cy="230832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0" i="0" u="none" strike="noStrike" cap="none">
                <a:solidFill>
                  <a:schemeClr val="dk1"/>
                </a:solidFill>
                <a:latin typeface="Arial"/>
                <a:ea typeface="Arial"/>
                <a:cs typeface="Arial"/>
                <a:sym typeface="Arial"/>
              </a:rPr>
              <a:t>Pada 1.1.2020 Salmah menyimpan wang sebanyak RM300 di dalam sebuah bank yang membayar kadar keuntungan sebanyak 8% setahun. Berapakah jumlah wang yang terkumpul di dalam akaunnya pada 31.12.2024?				</a:t>
            </a:r>
            <a:endParaRPr/>
          </a:p>
        </p:txBody>
      </p:sp>
      <p:sp>
        <p:nvSpPr>
          <p:cNvPr id="497" name="Google Shape;497;p4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29</a:t>
            </a:fld>
            <a:endParaRPr sz="1200" b="0" i="0" u="none" strike="noStrike" cap="none">
              <a:solidFill>
                <a:srgbClr val="1D4577"/>
              </a:solidFill>
              <a:latin typeface="Times New Roman"/>
              <a:ea typeface="Times New Roman"/>
              <a:cs typeface="Times New Roman"/>
              <a:sym typeface="Times New Roman"/>
            </a:endParaRPr>
          </a:p>
        </p:txBody>
      </p:sp>
      <p:sp>
        <p:nvSpPr>
          <p:cNvPr id="498" name="Google Shape;498;p41"/>
          <p:cNvSpPr txBox="1"/>
          <p:nvPr/>
        </p:nvSpPr>
        <p:spPr>
          <a:xfrm>
            <a:off x="930322" y="1219200"/>
            <a:ext cx="1675582"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chemeClr val="dk1"/>
                </a:solidFill>
                <a:latin typeface="Arial"/>
                <a:ea typeface="Arial"/>
                <a:cs typeface="Arial"/>
                <a:sym typeface="Arial"/>
              </a:rPr>
              <a:t>Contoh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
                                        <p:tgtEl>
                                          <p:spTgt spid="4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4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1D4577"/>
                </a:solidFill>
                <a:latin typeface="Times New Roman"/>
                <a:ea typeface="Times New Roman"/>
                <a:cs typeface="Times New Roman"/>
                <a:sym typeface="Times New Roman"/>
              </a:rPr>
              <a:t>30</a:t>
            </a:fld>
            <a:endParaRPr sz="1200" b="0" i="0" u="none" strike="noStrike" cap="none">
              <a:solidFill>
                <a:srgbClr val="1D4577"/>
              </a:solidFill>
              <a:latin typeface="Times New Roman"/>
              <a:ea typeface="Times New Roman"/>
              <a:cs typeface="Times New Roman"/>
              <a:sym typeface="Times New Roman"/>
            </a:endParaRPr>
          </a:p>
        </p:txBody>
      </p:sp>
      <p:grpSp>
        <p:nvGrpSpPr>
          <p:cNvPr id="504" name="Google Shape;504;p42"/>
          <p:cNvGrpSpPr/>
          <p:nvPr/>
        </p:nvGrpSpPr>
        <p:grpSpPr>
          <a:xfrm>
            <a:off x="152400" y="650815"/>
            <a:ext cx="8910943" cy="2168585"/>
            <a:chOff x="219409" y="593725"/>
            <a:chExt cx="8910943" cy="2168585"/>
          </a:xfrm>
        </p:grpSpPr>
        <p:cxnSp>
          <p:nvCxnSpPr>
            <p:cNvPr id="505" name="Google Shape;505;p42"/>
            <p:cNvCxnSpPr/>
            <p:nvPr/>
          </p:nvCxnSpPr>
          <p:spPr>
            <a:xfrm>
              <a:off x="765509" y="1371600"/>
              <a:ext cx="7620000" cy="0"/>
            </a:xfrm>
            <a:prstGeom prst="straightConnector1">
              <a:avLst/>
            </a:prstGeom>
            <a:noFill/>
            <a:ln w="28575" cap="flat" cmpd="sng">
              <a:solidFill>
                <a:schemeClr val="dk1"/>
              </a:solidFill>
              <a:prstDash val="solid"/>
              <a:miter lim="800000"/>
              <a:headEnd type="none" w="med" len="med"/>
              <a:tailEnd type="none" w="med" len="med"/>
            </a:ln>
          </p:spPr>
        </p:cxnSp>
        <p:cxnSp>
          <p:nvCxnSpPr>
            <p:cNvPr id="506" name="Google Shape;506;p42"/>
            <p:cNvCxnSpPr/>
            <p:nvPr/>
          </p:nvCxnSpPr>
          <p:spPr>
            <a:xfrm>
              <a:off x="765509" y="1066800"/>
              <a:ext cx="0" cy="609600"/>
            </a:xfrm>
            <a:prstGeom prst="straightConnector1">
              <a:avLst/>
            </a:prstGeom>
            <a:noFill/>
            <a:ln w="9525" cap="flat" cmpd="sng">
              <a:solidFill>
                <a:schemeClr val="dk1"/>
              </a:solidFill>
              <a:prstDash val="solid"/>
              <a:miter lim="800000"/>
              <a:headEnd type="none" w="med" len="med"/>
              <a:tailEnd type="none" w="med" len="med"/>
            </a:ln>
          </p:spPr>
        </p:cxnSp>
        <p:cxnSp>
          <p:nvCxnSpPr>
            <p:cNvPr id="507" name="Google Shape;507;p42"/>
            <p:cNvCxnSpPr/>
            <p:nvPr/>
          </p:nvCxnSpPr>
          <p:spPr>
            <a:xfrm>
              <a:off x="2289509" y="1066800"/>
              <a:ext cx="0" cy="609600"/>
            </a:xfrm>
            <a:prstGeom prst="straightConnector1">
              <a:avLst/>
            </a:prstGeom>
            <a:noFill/>
            <a:ln w="9525" cap="flat" cmpd="sng">
              <a:solidFill>
                <a:schemeClr val="dk1"/>
              </a:solidFill>
              <a:prstDash val="solid"/>
              <a:miter lim="800000"/>
              <a:headEnd type="none" w="med" len="med"/>
              <a:tailEnd type="none" w="med" len="med"/>
            </a:ln>
          </p:spPr>
        </p:cxnSp>
        <p:cxnSp>
          <p:nvCxnSpPr>
            <p:cNvPr id="508" name="Google Shape;508;p42"/>
            <p:cNvCxnSpPr/>
            <p:nvPr/>
          </p:nvCxnSpPr>
          <p:spPr>
            <a:xfrm>
              <a:off x="3813509" y="1066800"/>
              <a:ext cx="0" cy="609600"/>
            </a:xfrm>
            <a:prstGeom prst="straightConnector1">
              <a:avLst/>
            </a:prstGeom>
            <a:noFill/>
            <a:ln w="9525" cap="flat" cmpd="sng">
              <a:solidFill>
                <a:schemeClr val="dk1"/>
              </a:solidFill>
              <a:prstDash val="solid"/>
              <a:miter lim="800000"/>
              <a:headEnd type="none" w="med" len="med"/>
              <a:tailEnd type="none" w="med" len="med"/>
            </a:ln>
          </p:spPr>
        </p:cxnSp>
        <p:cxnSp>
          <p:nvCxnSpPr>
            <p:cNvPr id="509" name="Google Shape;509;p42"/>
            <p:cNvCxnSpPr/>
            <p:nvPr/>
          </p:nvCxnSpPr>
          <p:spPr>
            <a:xfrm>
              <a:off x="5337509" y="1066800"/>
              <a:ext cx="0" cy="609600"/>
            </a:xfrm>
            <a:prstGeom prst="straightConnector1">
              <a:avLst/>
            </a:prstGeom>
            <a:noFill/>
            <a:ln w="9525" cap="flat" cmpd="sng">
              <a:solidFill>
                <a:schemeClr val="dk1"/>
              </a:solidFill>
              <a:prstDash val="solid"/>
              <a:miter lim="800000"/>
              <a:headEnd type="none" w="med" len="med"/>
              <a:tailEnd type="none" w="med" len="med"/>
            </a:ln>
          </p:spPr>
        </p:cxnSp>
        <p:cxnSp>
          <p:nvCxnSpPr>
            <p:cNvPr id="510" name="Google Shape;510;p42"/>
            <p:cNvCxnSpPr/>
            <p:nvPr/>
          </p:nvCxnSpPr>
          <p:spPr>
            <a:xfrm>
              <a:off x="6861509" y="1066800"/>
              <a:ext cx="0" cy="609600"/>
            </a:xfrm>
            <a:prstGeom prst="straightConnector1">
              <a:avLst/>
            </a:prstGeom>
            <a:noFill/>
            <a:ln w="9525" cap="flat" cmpd="sng">
              <a:solidFill>
                <a:schemeClr val="dk1"/>
              </a:solidFill>
              <a:prstDash val="solid"/>
              <a:miter lim="800000"/>
              <a:headEnd type="none" w="med" len="med"/>
              <a:tailEnd type="none" w="med" len="med"/>
            </a:ln>
          </p:spPr>
        </p:cxnSp>
        <p:cxnSp>
          <p:nvCxnSpPr>
            <p:cNvPr id="511" name="Google Shape;511;p42"/>
            <p:cNvCxnSpPr/>
            <p:nvPr/>
          </p:nvCxnSpPr>
          <p:spPr>
            <a:xfrm>
              <a:off x="8385509" y="1066800"/>
              <a:ext cx="0" cy="609600"/>
            </a:xfrm>
            <a:prstGeom prst="straightConnector1">
              <a:avLst/>
            </a:prstGeom>
            <a:noFill/>
            <a:ln w="9525" cap="flat" cmpd="sng">
              <a:solidFill>
                <a:schemeClr val="dk1"/>
              </a:solidFill>
              <a:prstDash val="solid"/>
              <a:miter lim="800000"/>
              <a:headEnd type="none" w="med" len="med"/>
              <a:tailEnd type="none" w="med" len="med"/>
            </a:ln>
          </p:spPr>
        </p:cxnSp>
        <p:sp>
          <p:nvSpPr>
            <p:cNvPr id="512" name="Google Shape;512;p42"/>
            <p:cNvSpPr txBox="1"/>
            <p:nvPr/>
          </p:nvSpPr>
          <p:spPr>
            <a:xfrm>
              <a:off x="219409" y="593725"/>
              <a:ext cx="89639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1/1/20</a:t>
              </a:r>
              <a:endParaRPr/>
            </a:p>
          </p:txBody>
        </p:sp>
        <p:sp>
          <p:nvSpPr>
            <p:cNvPr id="513" name="Google Shape;513;p42"/>
            <p:cNvSpPr txBox="1"/>
            <p:nvPr/>
          </p:nvSpPr>
          <p:spPr>
            <a:xfrm>
              <a:off x="1778334" y="609600"/>
              <a:ext cx="89639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1/1/21</a:t>
              </a:r>
              <a:endParaRPr/>
            </a:p>
          </p:txBody>
        </p:sp>
        <p:sp>
          <p:nvSpPr>
            <p:cNvPr id="514" name="Google Shape;514;p42"/>
            <p:cNvSpPr txBox="1"/>
            <p:nvPr/>
          </p:nvSpPr>
          <p:spPr>
            <a:xfrm>
              <a:off x="3302334" y="609600"/>
              <a:ext cx="89639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1/1/22</a:t>
              </a:r>
              <a:endParaRPr/>
            </a:p>
          </p:txBody>
        </p:sp>
        <p:sp>
          <p:nvSpPr>
            <p:cNvPr id="515" name="Google Shape;515;p42"/>
            <p:cNvSpPr txBox="1"/>
            <p:nvPr/>
          </p:nvSpPr>
          <p:spPr>
            <a:xfrm>
              <a:off x="4750134" y="609600"/>
              <a:ext cx="89639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1/1/23</a:t>
              </a:r>
              <a:endParaRPr/>
            </a:p>
          </p:txBody>
        </p:sp>
        <p:sp>
          <p:nvSpPr>
            <p:cNvPr id="516" name="Google Shape;516;p42"/>
            <p:cNvSpPr txBox="1"/>
            <p:nvPr/>
          </p:nvSpPr>
          <p:spPr>
            <a:xfrm>
              <a:off x="6350334" y="609600"/>
              <a:ext cx="89639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1/1/24</a:t>
              </a:r>
              <a:endParaRPr/>
            </a:p>
          </p:txBody>
        </p:sp>
        <p:sp>
          <p:nvSpPr>
            <p:cNvPr id="517" name="Google Shape;517;p42"/>
            <p:cNvSpPr txBox="1"/>
            <p:nvPr/>
          </p:nvSpPr>
          <p:spPr>
            <a:xfrm>
              <a:off x="7798134" y="609600"/>
              <a:ext cx="89639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1/1/25</a:t>
              </a:r>
              <a:endParaRPr/>
            </a:p>
          </p:txBody>
        </p:sp>
        <p:sp>
          <p:nvSpPr>
            <p:cNvPr id="518" name="Google Shape;518;p42"/>
            <p:cNvSpPr txBox="1"/>
            <p:nvPr/>
          </p:nvSpPr>
          <p:spPr>
            <a:xfrm>
              <a:off x="473409" y="1828800"/>
              <a:ext cx="61266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300</a:t>
              </a:r>
              <a:endParaRPr/>
            </a:p>
          </p:txBody>
        </p:sp>
        <p:cxnSp>
          <p:nvCxnSpPr>
            <p:cNvPr id="519" name="Google Shape;519;p42"/>
            <p:cNvCxnSpPr/>
            <p:nvPr/>
          </p:nvCxnSpPr>
          <p:spPr>
            <a:xfrm>
              <a:off x="765509" y="2133600"/>
              <a:ext cx="0" cy="457200"/>
            </a:xfrm>
            <a:prstGeom prst="straightConnector1">
              <a:avLst/>
            </a:prstGeom>
            <a:noFill/>
            <a:ln w="38100" cap="flat" cmpd="sng">
              <a:solidFill>
                <a:schemeClr val="dk1"/>
              </a:solidFill>
              <a:prstDash val="solid"/>
              <a:miter lim="800000"/>
              <a:headEnd type="none" w="med" len="med"/>
              <a:tailEnd type="none" w="med" len="med"/>
            </a:ln>
          </p:spPr>
        </p:cxnSp>
        <p:cxnSp>
          <p:nvCxnSpPr>
            <p:cNvPr id="520" name="Google Shape;520;p42"/>
            <p:cNvCxnSpPr/>
            <p:nvPr/>
          </p:nvCxnSpPr>
          <p:spPr>
            <a:xfrm>
              <a:off x="765509" y="2590800"/>
              <a:ext cx="7543800" cy="0"/>
            </a:xfrm>
            <a:prstGeom prst="straightConnector1">
              <a:avLst/>
            </a:prstGeom>
            <a:noFill/>
            <a:ln w="38100" cap="flat" cmpd="sng">
              <a:solidFill>
                <a:schemeClr val="dk1"/>
              </a:solidFill>
              <a:prstDash val="solid"/>
              <a:miter lim="800000"/>
              <a:headEnd type="none" w="med" len="med"/>
              <a:tailEnd type="triangle" w="med" len="med"/>
            </a:ln>
          </p:spPr>
        </p:cxnSp>
        <p:sp>
          <p:nvSpPr>
            <p:cNvPr id="521" name="Google Shape;521;p42"/>
            <p:cNvSpPr txBox="1"/>
            <p:nvPr/>
          </p:nvSpPr>
          <p:spPr>
            <a:xfrm>
              <a:off x="1254459" y="898525"/>
              <a:ext cx="55496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8%</a:t>
              </a:r>
              <a:endParaRPr/>
            </a:p>
          </p:txBody>
        </p:sp>
        <p:sp>
          <p:nvSpPr>
            <p:cNvPr id="522" name="Google Shape;522;p42"/>
            <p:cNvSpPr txBox="1"/>
            <p:nvPr/>
          </p:nvSpPr>
          <p:spPr>
            <a:xfrm>
              <a:off x="8310897" y="2362200"/>
              <a:ext cx="81945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FV=?</a:t>
              </a:r>
              <a:endParaRPr/>
            </a:p>
          </p:txBody>
        </p:sp>
      </p:grpSp>
      <p:pic>
        <p:nvPicPr>
          <p:cNvPr id="523" name="Google Shape;523;p42"/>
          <p:cNvPicPr preferRelativeResize="0"/>
          <p:nvPr/>
        </p:nvPicPr>
        <p:blipFill rotWithShape="1">
          <a:blip r:embed="rId3">
            <a:alphaModFix/>
          </a:blip>
          <a:srcRect/>
          <a:stretch/>
        </p:blipFill>
        <p:spPr>
          <a:xfrm>
            <a:off x="1449388" y="3473016"/>
            <a:ext cx="3097511" cy="534896"/>
          </a:xfrm>
          <a:prstGeom prst="rect">
            <a:avLst/>
          </a:prstGeom>
          <a:noFill/>
          <a:ln>
            <a:noFill/>
          </a:ln>
        </p:spPr>
      </p:pic>
      <p:pic>
        <p:nvPicPr>
          <p:cNvPr id="524" name="Google Shape;524;p42"/>
          <p:cNvPicPr preferRelativeResize="0"/>
          <p:nvPr/>
        </p:nvPicPr>
        <p:blipFill rotWithShape="1">
          <a:blip r:embed="rId4">
            <a:alphaModFix/>
          </a:blip>
          <a:srcRect/>
          <a:stretch/>
        </p:blipFill>
        <p:spPr>
          <a:xfrm>
            <a:off x="1414463" y="4038600"/>
            <a:ext cx="3335671" cy="534896"/>
          </a:xfrm>
          <a:prstGeom prst="rect">
            <a:avLst/>
          </a:prstGeom>
          <a:noFill/>
          <a:ln>
            <a:noFill/>
          </a:ln>
        </p:spPr>
      </p:pic>
      <p:pic>
        <p:nvPicPr>
          <p:cNvPr id="525" name="Google Shape;525;p42"/>
          <p:cNvPicPr preferRelativeResize="0"/>
          <p:nvPr/>
        </p:nvPicPr>
        <p:blipFill rotWithShape="1">
          <a:blip r:embed="rId5">
            <a:alphaModFix/>
          </a:blip>
          <a:srcRect/>
          <a:stretch/>
        </p:blipFill>
        <p:spPr>
          <a:xfrm>
            <a:off x="1449388" y="4648200"/>
            <a:ext cx="3028646" cy="478591"/>
          </a:xfrm>
          <a:prstGeom prst="rect">
            <a:avLst/>
          </a:prstGeom>
          <a:noFill/>
          <a:ln>
            <a:noFill/>
          </a:ln>
        </p:spPr>
      </p:pic>
      <p:pic>
        <p:nvPicPr>
          <p:cNvPr id="526" name="Google Shape;526;p42"/>
          <p:cNvPicPr preferRelativeResize="0"/>
          <p:nvPr/>
        </p:nvPicPr>
        <p:blipFill rotWithShape="1">
          <a:blip r:embed="rId6">
            <a:alphaModFix/>
          </a:blip>
          <a:srcRect/>
          <a:stretch/>
        </p:blipFill>
        <p:spPr>
          <a:xfrm>
            <a:off x="1447800" y="5257800"/>
            <a:ext cx="2892350" cy="394134"/>
          </a:xfrm>
          <a:prstGeom prst="rect">
            <a:avLst/>
          </a:prstGeom>
          <a:noFill/>
          <a:ln>
            <a:noFill/>
          </a:ln>
        </p:spPr>
      </p:pic>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4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532" name="Google Shape;532;p43"/>
          <p:cNvSpPr txBox="1"/>
          <p:nvPr/>
        </p:nvSpPr>
        <p:spPr>
          <a:xfrm>
            <a:off x="311430" y="1678081"/>
            <a:ext cx="349166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Rumus yang digunakan</a:t>
            </a:r>
            <a:endParaRPr sz="2400" b="0" i="0" u="none" strike="noStrike" cap="none">
              <a:solidFill>
                <a:schemeClr val="dk1"/>
              </a:solidFill>
              <a:latin typeface="Arial"/>
              <a:ea typeface="Arial"/>
              <a:cs typeface="Arial"/>
              <a:sym typeface="Arial"/>
            </a:endParaRPr>
          </a:p>
        </p:txBody>
      </p:sp>
      <p:sp>
        <p:nvSpPr>
          <p:cNvPr id="533" name="Google Shape;533;p43"/>
          <p:cNvSpPr/>
          <p:nvPr/>
        </p:nvSpPr>
        <p:spPr>
          <a:xfrm>
            <a:off x="3807478" y="1720943"/>
            <a:ext cx="976313" cy="381000"/>
          </a:xfrm>
          <a:prstGeom prst="rightArrow">
            <a:avLst>
              <a:gd name="adj1" fmla="val 50000"/>
              <a:gd name="adj2" fmla="val 64063"/>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534" name="Google Shape;534;p43"/>
          <p:cNvSpPr txBox="1"/>
          <p:nvPr/>
        </p:nvSpPr>
        <p:spPr>
          <a:xfrm>
            <a:off x="607078" y="2635343"/>
            <a:ext cx="677781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Di mana:    PV=100,     i=10%,      n=5,       FV=?</a:t>
            </a:r>
            <a:endParaRPr/>
          </a:p>
        </p:txBody>
      </p:sp>
      <p:pic>
        <p:nvPicPr>
          <p:cNvPr id="535" name="Google Shape;535;p43"/>
          <p:cNvPicPr preferRelativeResize="0"/>
          <p:nvPr/>
        </p:nvPicPr>
        <p:blipFill rotWithShape="1">
          <a:blip r:embed="rId3">
            <a:alphaModFix/>
          </a:blip>
          <a:srcRect/>
          <a:stretch/>
        </p:blipFill>
        <p:spPr>
          <a:xfrm>
            <a:off x="1219200" y="4665209"/>
            <a:ext cx="2617633" cy="363991"/>
          </a:xfrm>
          <a:prstGeom prst="rect">
            <a:avLst/>
          </a:prstGeom>
          <a:noFill/>
          <a:ln>
            <a:noFill/>
          </a:ln>
        </p:spPr>
      </p:pic>
      <p:sp>
        <p:nvSpPr>
          <p:cNvPr id="536" name="Google Shape;536;p43"/>
          <p:cNvSpPr txBox="1"/>
          <p:nvPr/>
        </p:nvSpPr>
        <p:spPr>
          <a:xfrm>
            <a:off x="6582084" y="6096000"/>
            <a:ext cx="20574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31</a:t>
            </a:fld>
            <a:endParaRPr sz="1200" b="0" i="0" u="none" strike="noStrike" cap="none">
              <a:solidFill>
                <a:schemeClr val="dk1"/>
              </a:solidFill>
              <a:latin typeface="Arial"/>
              <a:ea typeface="Arial"/>
              <a:cs typeface="Arial"/>
              <a:sym typeface="Arial"/>
            </a:endParaRPr>
          </a:p>
        </p:txBody>
      </p:sp>
      <p:sp>
        <p:nvSpPr>
          <p:cNvPr id="537" name="Google Shape;537;p43"/>
          <p:cNvSpPr txBox="1"/>
          <p:nvPr/>
        </p:nvSpPr>
        <p:spPr>
          <a:xfrm>
            <a:off x="368070" y="415711"/>
            <a:ext cx="8610600"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chemeClr val="dk1"/>
                </a:solidFill>
                <a:latin typeface="Arial"/>
                <a:ea typeface="Arial"/>
                <a:cs typeface="Arial"/>
                <a:sym typeface="Arial"/>
              </a:rPr>
              <a:t>Bagaimanakah cara mengira nilai hadapan amaun sekaligus menggunakan rumus algebra?</a:t>
            </a:r>
            <a:endParaRPr/>
          </a:p>
        </p:txBody>
      </p:sp>
      <p:sp>
        <p:nvSpPr>
          <p:cNvPr id="538" name="Google Shape;538;p43"/>
          <p:cNvSpPr txBox="1"/>
          <p:nvPr/>
        </p:nvSpPr>
        <p:spPr>
          <a:xfrm>
            <a:off x="4873625" y="1676400"/>
            <a:ext cx="2898775" cy="493712"/>
          </a:xfrm>
          <a:prstGeom prst="rect">
            <a:avLst/>
          </a:prstGeom>
          <a:blipFill rotWithShape="1">
            <a:blip r:embed="rId4">
              <a:alphaModFix/>
            </a:blip>
            <a:stretch>
              <a:fillRect l="-418" b="-987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a:latin typeface="Calibri"/>
                <a:ea typeface="Calibri"/>
                <a:cs typeface="Calibri"/>
                <a:sym typeface="Calibri"/>
              </a:rPr>
              <a:t> </a:t>
            </a:r>
            <a:endParaRPr/>
          </a:p>
        </p:txBody>
      </p:sp>
      <p:sp>
        <p:nvSpPr>
          <p:cNvPr id="539" name="Google Shape;539;p43"/>
          <p:cNvSpPr txBox="1"/>
          <p:nvPr/>
        </p:nvSpPr>
        <p:spPr>
          <a:xfrm>
            <a:off x="1295400" y="3544888"/>
            <a:ext cx="2898775" cy="493712"/>
          </a:xfrm>
          <a:prstGeom prst="rect">
            <a:avLst/>
          </a:prstGeom>
          <a:blipFill rotWithShape="1">
            <a:blip r:embed="rId5">
              <a:alphaModFix/>
            </a:blip>
            <a:stretch>
              <a:fillRect l="-631" b="-987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540" name="Google Shape;540;p43"/>
          <p:cNvSpPr txBox="1"/>
          <p:nvPr/>
        </p:nvSpPr>
        <p:spPr>
          <a:xfrm>
            <a:off x="1295400" y="4078288"/>
            <a:ext cx="3505200" cy="493712"/>
          </a:xfrm>
          <a:prstGeom prst="rect">
            <a:avLst/>
          </a:prstGeom>
          <a:blipFill rotWithShape="1">
            <a:blip r:embed="rId6">
              <a:alphaModFix/>
            </a:blip>
            <a:stretch>
              <a:fillRect l="-521" b="-1110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2"/>
                                        </p:tgtEl>
                                        <p:attrNameLst>
                                          <p:attrName>style.visibility</p:attrName>
                                        </p:attrNameLst>
                                      </p:cBhvr>
                                      <p:to>
                                        <p:strVal val="visible"/>
                                      </p:to>
                                    </p:set>
                                    <p:anim calcmode="lin" valueType="num">
                                      <p:cBhvr additive="base">
                                        <p:cTn id="7" dur="500"/>
                                        <p:tgtEl>
                                          <p:spTgt spid="532"/>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33"/>
                                        </p:tgtEl>
                                        <p:attrNameLst>
                                          <p:attrName>style.visibility</p:attrName>
                                        </p:attrNameLst>
                                      </p:cBhvr>
                                      <p:to>
                                        <p:strVal val="visible"/>
                                      </p:to>
                                    </p:set>
                                    <p:anim calcmode="lin" valueType="num">
                                      <p:cBhvr additive="base">
                                        <p:cTn id="12" dur="500"/>
                                        <p:tgtEl>
                                          <p:spTgt spid="53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34"/>
                                        </p:tgtEl>
                                        <p:attrNameLst>
                                          <p:attrName>style.visibility</p:attrName>
                                        </p:attrNameLst>
                                      </p:cBhvr>
                                      <p:to>
                                        <p:strVal val="visible"/>
                                      </p:to>
                                    </p:set>
                                    <p:anim calcmode="lin" valueType="num">
                                      <p:cBhvr additive="base">
                                        <p:cTn id="17" dur="500"/>
                                        <p:tgtEl>
                                          <p:spTgt spid="53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44"/>
          <p:cNvSpPr txBox="1"/>
          <p:nvPr/>
        </p:nvSpPr>
        <p:spPr>
          <a:xfrm>
            <a:off x="862012" y="717682"/>
            <a:ext cx="7086600" cy="52322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7.3 (a) - NILAI KINI (Present Value)</a:t>
            </a:r>
            <a:endParaRPr/>
          </a:p>
        </p:txBody>
      </p:sp>
      <p:grpSp>
        <p:nvGrpSpPr>
          <p:cNvPr id="546" name="Google Shape;546;p44"/>
          <p:cNvGrpSpPr/>
          <p:nvPr/>
        </p:nvGrpSpPr>
        <p:grpSpPr>
          <a:xfrm>
            <a:off x="681318" y="4000058"/>
            <a:ext cx="7398224" cy="1524000"/>
            <a:chOff x="681318" y="4000058"/>
            <a:chExt cx="7398224" cy="1524000"/>
          </a:xfrm>
        </p:grpSpPr>
        <p:sp>
          <p:nvSpPr>
            <p:cNvPr id="547" name="Google Shape;547;p44"/>
            <p:cNvSpPr txBox="1"/>
            <p:nvPr/>
          </p:nvSpPr>
          <p:spPr>
            <a:xfrm>
              <a:off x="681318" y="4317290"/>
              <a:ext cx="2767012" cy="83099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Nilai kini</a:t>
              </a:r>
              <a:endParaRPr sz="2400">
                <a:solidFill>
                  <a:schemeClr val="dk1"/>
                </a:solidFill>
                <a:latin typeface="Arial"/>
                <a:ea typeface="Arial"/>
                <a:cs typeface="Arial"/>
                <a:sym typeface="Arial"/>
              </a:endParaRPr>
            </a:p>
            <a:p>
              <a:pPr marL="0" marR="0" lvl="0" indent="0" algn="ctr" rtl="0">
                <a:spcBef>
                  <a:spcPts val="0"/>
                </a:spcBef>
                <a:spcAft>
                  <a:spcPts val="0"/>
                </a:spcAft>
                <a:buNone/>
              </a:pPr>
              <a:r>
                <a:rPr lang="en-US" sz="2400">
                  <a:solidFill>
                    <a:schemeClr val="dk1"/>
                  </a:solidFill>
                  <a:latin typeface="Arial"/>
                  <a:ea typeface="Arial"/>
                  <a:cs typeface="Arial"/>
                  <a:sym typeface="Arial"/>
                </a:rPr>
                <a:t>Amaun Sekaligus</a:t>
              </a:r>
              <a:endParaRPr sz="2400">
                <a:solidFill>
                  <a:schemeClr val="dk1"/>
                </a:solidFill>
                <a:latin typeface="Arial"/>
                <a:ea typeface="Arial"/>
                <a:cs typeface="Arial"/>
                <a:sym typeface="Arial"/>
              </a:endParaRPr>
            </a:p>
          </p:txBody>
        </p:sp>
        <p:sp>
          <p:nvSpPr>
            <p:cNvPr id="548" name="Google Shape;548;p44"/>
            <p:cNvSpPr/>
            <p:nvPr/>
          </p:nvSpPr>
          <p:spPr>
            <a:xfrm>
              <a:off x="3580330" y="4000058"/>
              <a:ext cx="1600200" cy="1524000"/>
            </a:xfrm>
            <a:prstGeom prst="leftRightArrow">
              <a:avLst>
                <a:gd name="adj1" fmla="val 50000"/>
                <a:gd name="adj2" fmla="val 21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 jenis</a:t>
              </a:r>
              <a:endParaRPr/>
            </a:p>
          </p:txBody>
        </p:sp>
        <p:sp>
          <p:nvSpPr>
            <p:cNvPr id="549" name="Google Shape;549;p44"/>
            <p:cNvSpPr txBox="1"/>
            <p:nvPr/>
          </p:nvSpPr>
          <p:spPr>
            <a:xfrm>
              <a:off x="5312530" y="4317289"/>
              <a:ext cx="2767012" cy="83099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Nilai kini</a:t>
              </a:r>
              <a:endParaRPr/>
            </a:p>
            <a:p>
              <a:pPr marL="0" marR="0" lvl="0" indent="0" algn="ctr" rtl="0">
                <a:spcBef>
                  <a:spcPts val="0"/>
                </a:spcBef>
                <a:spcAft>
                  <a:spcPts val="0"/>
                </a:spcAft>
                <a:buNone/>
              </a:pPr>
              <a:r>
                <a:rPr lang="en-US" sz="2400">
                  <a:solidFill>
                    <a:schemeClr val="dk1"/>
                  </a:solidFill>
                  <a:latin typeface="Arial"/>
                  <a:ea typeface="Arial"/>
                  <a:cs typeface="Arial"/>
                  <a:sym typeface="Arial"/>
                </a:rPr>
                <a:t> Anuiti</a:t>
              </a:r>
              <a:endParaRPr/>
            </a:p>
          </p:txBody>
        </p:sp>
      </p:grpSp>
      <p:sp>
        <p:nvSpPr>
          <p:cNvPr id="550" name="Google Shape;550;p4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32</a:t>
            </a:fld>
            <a:endParaRPr sz="1200">
              <a:solidFill>
                <a:srgbClr val="1D4577"/>
              </a:solidFill>
              <a:latin typeface="Times New Roman"/>
              <a:ea typeface="Times New Roman"/>
              <a:cs typeface="Times New Roman"/>
              <a:sym typeface="Times New Roman"/>
            </a:endParaRPr>
          </a:p>
        </p:txBody>
      </p:sp>
      <p:sp>
        <p:nvSpPr>
          <p:cNvPr id="551" name="Google Shape;551;p44"/>
          <p:cNvSpPr/>
          <p:nvPr/>
        </p:nvSpPr>
        <p:spPr>
          <a:xfrm>
            <a:off x="685800" y="1836583"/>
            <a:ext cx="7691579" cy="1885025"/>
          </a:xfrm>
          <a:prstGeom prst="foldedCorner">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endParaRPr sz="2400">
              <a:solidFill>
                <a:schemeClr val="dk1"/>
              </a:solidFill>
              <a:latin typeface="Arial"/>
              <a:ea typeface="Arial"/>
              <a:cs typeface="Arial"/>
              <a:sym typeface="Arial"/>
            </a:endParaRPr>
          </a:p>
          <a:p>
            <a:pPr marL="0" marR="0" lvl="0" indent="0" algn="just"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a:solidFill>
                  <a:schemeClr val="dk1"/>
                </a:solidFill>
                <a:latin typeface="Arial"/>
                <a:ea typeface="Arial"/>
                <a:cs typeface="Arial"/>
                <a:sym typeface="Arial"/>
              </a:rPr>
              <a:t>DEFINISI </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Nilai hari ini bagi aliran tunai masa depan atau siri aliran tunai pada masa depan. (Brigham et al., 2010)</a:t>
            </a:r>
            <a:endParaRPr/>
          </a:p>
          <a:p>
            <a:pPr marL="0" marR="0" lvl="0" indent="0" algn="ctr"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45"/>
          <p:cNvSpPr/>
          <p:nvPr/>
        </p:nvSpPr>
        <p:spPr>
          <a:xfrm>
            <a:off x="609600" y="304800"/>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NILAI KINI AMAUN SEKALIGUS</a:t>
            </a:r>
            <a:endParaRPr/>
          </a:p>
        </p:txBody>
      </p:sp>
      <p:sp>
        <p:nvSpPr>
          <p:cNvPr id="557" name="Google Shape;557;p45"/>
          <p:cNvSpPr txBox="1"/>
          <p:nvPr/>
        </p:nvSpPr>
        <p:spPr>
          <a:xfrm>
            <a:off x="552450" y="1688783"/>
            <a:ext cx="7581900" cy="193899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Berapakah yang perlu dilabur pada 1 Januari (hari ini) jika pada akhir tahun lima nanti anda memerlukan RM161.05  di dalam akaun pelaburan anda jika kadar pulangan ialah sebanyak 10% setahun? </a:t>
            </a:r>
            <a:endParaRPr/>
          </a:p>
        </p:txBody>
      </p:sp>
      <p:sp>
        <p:nvSpPr>
          <p:cNvPr id="558" name="Google Shape;558;p4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33</a:t>
            </a:fld>
            <a:endParaRPr sz="1200">
              <a:solidFill>
                <a:srgbClr val="1D4577"/>
              </a:solidFill>
              <a:latin typeface="Times New Roman"/>
              <a:ea typeface="Times New Roman"/>
              <a:cs typeface="Times New Roman"/>
              <a:sym typeface="Times New Roman"/>
            </a:endParaRPr>
          </a:p>
        </p:txBody>
      </p:sp>
      <p:grpSp>
        <p:nvGrpSpPr>
          <p:cNvPr id="559" name="Google Shape;559;p45"/>
          <p:cNvGrpSpPr/>
          <p:nvPr/>
        </p:nvGrpSpPr>
        <p:grpSpPr>
          <a:xfrm>
            <a:off x="563823" y="4152959"/>
            <a:ext cx="7442249" cy="2138065"/>
            <a:chOff x="563823" y="4152959"/>
            <a:chExt cx="7442249" cy="2138065"/>
          </a:xfrm>
        </p:grpSpPr>
        <p:cxnSp>
          <p:nvCxnSpPr>
            <p:cNvPr id="560" name="Google Shape;560;p45"/>
            <p:cNvCxnSpPr/>
            <p:nvPr/>
          </p:nvCxnSpPr>
          <p:spPr>
            <a:xfrm>
              <a:off x="1529072" y="4991159"/>
              <a:ext cx="6477000" cy="0"/>
            </a:xfrm>
            <a:prstGeom prst="straightConnector1">
              <a:avLst/>
            </a:prstGeom>
            <a:noFill/>
            <a:ln w="38100" cap="flat" cmpd="sng">
              <a:solidFill>
                <a:schemeClr val="dk1"/>
              </a:solidFill>
              <a:prstDash val="solid"/>
              <a:miter lim="800000"/>
              <a:headEnd type="none" w="med" len="med"/>
              <a:tailEnd type="none" w="med" len="med"/>
            </a:ln>
          </p:spPr>
        </p:cxnSp>
        <p:cxnSp>
          <p:nvCxnSpPr>
            <p:cNvPr id="561" name="Google Shape;561;p45"/>
            <p:cNvCxnSpPr/>
            <p:nvPr/>
          </p:nvCxnSpPr>
          <p:spPr>
            <a:xfrm>
              <a:off x="1529072" y="4686359"/>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562" name="Google Shape;562;p45"/>
            <p:cNvCxnSpPr/>
            <p:nvPr/>
          </p:nvCxnSpPr>
          <p:spPr>
            <a:xfrm>
              <a:off x="2519672" y="4686359"/>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563" name="Google Shape;563;p45"/>
            <p:cNvCxnSpPr/>
            <p:nvPr/>
          </p:nvCxnSpPr>
          <p:spPr>
            <a:xfrm>
              <a:off x="3586472" y="4686359"/>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564" name="Google Shape;564;p45"/>
            <p:cNvCxnSpPr/>
            <p:nvPr/>
          </p:nvCxnSpPr>
          <p:spPr>
            <a:xfrm>
              <a:off x="4653272" y="4686359"/>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565" name="Google Shape;565;p45"/>
            <p:cNvCxnSpPr/>
            <p:nvPr/>
          </p:nvCxnSpPr>
          <p:spPr>
            <a:xfrm>
              <a:off x="5872472" y="4686359"/>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566" name="Google Shape;566;p45"/>
            <p:cNvCxnSpPr/>
            <p:nvPr/>
          </p:nvCxnSpPr>
          <p:spPr>
            <a:xfrm>
              <a:off x="7091672" y="4686359"/>
              <a:ext cx="0" cy="685800"/>
            </a:xfrm>
            <a:prstGeom prst="straightConnector1">
              <a:avLst/>
            </a:prstGeom>
            <a:noFill/>
            <a:ln w="38100" cap="flat" cmpd="sng">
              <a:solidFill>
                <a:schemeClr val="dk1"/>
              </a:solidFill>
              <a:prstDash val="solid"/>
              <a:miter lim="800000"/>
              <a:headEnd type="none" w="med" len="med"/>
              <a:tailEnd type="none" w="med" len="med"/>
            </a:ln>
          </p:spPr>
        </p:cxnSp>
        <p:sp>
          <p:nvSpPr>
            <p:cNvPr id="567" name="Google Shape;567;p45"/>
            <p:cNvSpPr txBox="1"/>
            <p:nvPr/>
          </p:nvSpPr>
          <p:spPr>
            <a:xfrm>
              <a:off x="1650448" y="4491097"/>
              <a:ext cx="80182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a:t>
              </a:r>
              <a:endParaRPr/>
            </a:p>
          </p:txBody>
        </p:sp>
        <p:sp>
          <p:nvSpPr>
            <p:cNvPr id="568" name="Google Shape;568;p45"/>
            <p:cNvSpPr txBox="1"/>
            <p:nvPr/>
          </p:nvSpPr>
          <p:spPr>
            <a:xfrm>
              <a:off x="6526468" y="5329297"/>
              <a:ext cx="112723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161.05</a:t>
              </a:r>
              <a:endParaRPr/>
            </a:p>
          </p:txBody>
        </p:sp>
        <p:cxnSp>
          <p:nvCxnSpPr>
            <p:cNvPr id="569" name="Google Shape;569;p45"/>
            <p:cNvCxnSpPr/>
            <p:nvPr/>
          </p:nvCxnSpPr>
          <p:spPr>
            <a:xfrm>
              <a:off x="7091672" y="5753159"/>
              <a:ext cx="0" cy="381000"/>
            </a:xfrm>
            <a:prstGeom prst="straightConnector1">
              <a:avLst/>
            </a:prstGeom>
            <a:noFill/>
            <a:ln w="38100" cap="flat" cmpd="sng">
              <a:solidFill>
                <a:schemeClr val="dk1"/>
              </a:solidFill>
              <a:prstDash val="solid"/>
              <a:miter lim="800000"/>
              <a:headEnd type="none" w="med" len="med"/>
              <a:tailEnd type="none" w="med" len="med"/>
            </a:ln>
          </p:spPr>
        </p:cxnSp>
        <p:sp>
          <p:nvSpPr>
            <p:cNvPr id="570" name="Google Shape;570;p45"/>
            <p:cNvSpPr txBox="1"/>
            <p:nvPr/>
          </p:nvSpPr>
          <p:spPr>
            <a:xfrm>
              <a:off x="563823" y="5829359"/>
              <a:ext cx="96212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PV=?</a:t>
              </a:r>
              <a:endParaRPr/>
            </a:p>
          </p:txBody>
        </p:sp>
        <p:sp>
          <p:nvSpPr>
            <p:cNvPr id="571" name="Google Shape;571;p45"/>
            <p:cNvSpPr txBox="1"/>
            <p:nvPr/>
          </p:nvSpPr>
          <p:spPr>
            <a:xfrm>
              <a:off x="1362091" y="415295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572" name="Google Shape;572;p45"/>
            <p:cNvSpPr txBox="1"/>
            <p:nvPr/>
          </p:nvSpPr>
          <p:spPr>
            <a:xfrm>
              <a:off x="2381266" y="415295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573" name="Google Shape;573;p45"/>
            <p:cNvSpPr txBox="1"/>
            <p:nvPr/>
          </p:nvSpPr>
          <p:spPr>
            <a:xfrm>
              <a:off x="3371866" y="415295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574" name="Google Shape;574;p45"/>
            <p:cNvSpPr txBox="1"/>
            <p:nvPr/>
          </p:nvSpPr>
          <p:spPr>
            <a:xfrm>
              <a:off x="4438666" y="415295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575" name="Google Shape;575;p45"/>
            <p:cNvSpPr txBox="1"/>
            <p:nvPr/>
          </p:nvSpPr>
          <p:spPr>
            <a:xfrm>
              <a:off x="5657866" y="415295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4</a:t>
              </a:r>
              <a:endParaRPr/>
            </a:p>
          </p:txBody>
        </p:sp>
        <p:sp>
          <p:nvSpPr>
            <p:cNvPr id="576" name="Google Shape;576;p45"/>
            <p:cNvSpPr txBox="1"/>
            <p:nvPr/>
          </p:nvSpPr>
          <p:spPr>
            <a:xfrm>
              <a:off x="6877066" y="415295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5</a:t>
              </a:r>
              <a:endParaRPr/>
            </a:p>
          </p:txBody>
        </p:sp>
        <p:cxnSp>
          <p:nvCxnSpPr>
            <p:cNvPr id="577" name="Google Shape;577;p45"/>
            <p:cNvCxnSpPr/>
            <p:nvPr/>
          </p:nvCxnSpPr>
          <p:spPr>
            <a:xfrm rot="10800000">
              <a:off x="1525946" y="6096000"/>
              <a:ext cx="5565726" cy="0"/>
            </a:xfrm>
            <a:prstGeom prst="straightConnector1">
              <a:avLst/>
            </a:prstGeom>
            <a:noFill/>
            <a:ln w="38100" cap="flat" cmpd="sng">
              <a:solidFill>
                <a:schemeClr val="dk1"/>
              </a:solidFill>
              <a:prstDash val="solid"/>
              <a:miter lim="800000"/>
              <a:headEnd type="none" w="sm" len="sm"/>
              <a:tailEnd type="triangle" w="med" len="med"/>
            </a:ln>
          </p:spPr>
        </p:cxnSp>
      </p:gr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7"/>
                                        </p:tgtEl>
                                        <p:attrNameLst>
                                          <p:attrName>style.visibility</p:attrName>
                                        </p:attrNameLst>
                                      </p:cBhvr>
                                      <p:to>
                                        <p:strVal val="visible"/>
                                      </p:to>
                                    </p:set>
                                    <p:animEffect transition="in" filter="fade">
                                      <p:cBhvr>
                                        <p:cTn id="7" dur="1000"/>
                                        <p:tgtEl>
                                          <p:spTgt spid="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46"/>
          <p:cNvSpPr txBox="1"/>
          <p:nvPr/>
        </p:nvSpPr>
        <p:spPr>
          <a:xfrm>
            <a:off x="304800" y="389319"/>
            <a:ext cx="8210550"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kini amaun sekaligus menggunakan jadual faktor nilai masa ?</a:t>
            </a:r>
            <a:endParaRPr/>
          </a:p>
        </p:txBody>
      </p:sp>
      <p:sp>
        <p:nvSpPr>
          <p:cNvPr id="583" name="Google Shape;583;p46"/>
          <p:cNvSpPr txBox="1"/>
          <p:nvPr/>
        </p:nvSpPr>
        <p:spPr>
          <a:xfrm>
            <a:off x="512763" y="3962400"/>
            <a:ext cx="768511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Di mana:    FV=RM161.05,     i=10%,      n=5,       PV=?</a:t>
            </a:r>
            <a:endParaRPr/>
          </a:p>
        </p:txBody>
      </p:sp>
      <p:grpSp>
        <p:nvGrpSpPr>
          <p:cNvPr id="584" name="Google Shape;584;p46"/>
          <p:cNvGrpSpPr/>
          <p:nvPr/>
        </p:nvGrpSpPr>
        <p:grpSpPr>
          <a:xfrm>
            <a:off x="455613" y="1371600"/>
            <a:ext cx="7867432" cy="830997"/>
            <a:chOff x="455613" y="1371600"/>
            <a:chExt cx="7867432" cy="830997"/>
          </a:xfrm>
        </p:grpSpPr>
        <p:sp>
          <p:nvSpPr>
            <p:cNvPr id="585" name="Google Shape;585;p46"/>
            <p:cNvSpPr txBox="1"/>
            <p:nvPr/>
          </p:nvSpPr>
          <p:spPr>
            <a:xfrm>
              <a:off x="455613" y="1447800"/>
              <a:ext cx="3355406"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Jadual yang digunakan</a:t>
              </a:r>
              <a:endParaRPr sz="2400">
                <a:solidFill>
                  <a:schemeClr val="dk1"/>
                </a:solidFill>
                <a:latin typeface="Arial"/>
                <a:ea typeface="Arial"/>
                <a:cs typeface="Arial"/>
                <a:sym typeface="Arial"/>
              </a:endParaRPr>
            </a:p>
          </p:txBody>
        </p:sp>
        <p:sp>
          <p:nvSpPr>
            <p:cNvPr id="586" name="Google Shape;586;p46"/>
            <p:cNvSpPr/>
            <p:nvPr/>
          </p:nvSpPr>
          <p:spPr>
            <a:xfrm>
              <a:off x="3876797" y="1526232"/>
              <a:ext cx="823912" cy="304800"/>
            </a:xfrm>
            <a:prstGeom prst="rightArrow">
              <a:avLst>
                <a:gd name="adj1" fmla="val 50000"/>
                <a:gd name="adj2" fmla="val 67578"/>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587" name="Google Shape;587;p46"/>
            <p:cNvSpPr txBox="1"/>
            <p:nvPr/>
          </p:nvSpPr>
          <p:spPr>
            <a:xfrm>
              <a:off x="4767263" y="1371600"/>
              <a:ext cx="3555782"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Jadual faktor nilai kini </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amaun sekaligus  (PVIF)</a:t>
              </a:r>
              <a:endParaRPr/>
            </a:p>
          </p:txBody>
        </p:sp>
      </p:grpSp>
      <p:pic>
        <p:nvPicPr>
          <p:cNvPr id="588" name="Google Shape;588;p46"/>
          <p:cNvPicPr preferRelativeResize="0"/>
          <p:nvPr/>
        </p:nvPicPr>
        <p:blipFill rotWithShape="1">
          <a:blip r:embed="rId3">
            <a:alphaModFix/>
          </a:blip>
          <a:srcRect/>
          <a:stretch/>
        </p:blipFill>
        <p:spPr>
          <a:xfrm>
            <a:off x="2104519" y="4476618"/>
            <a:ext cx="3089390" cy="516714"/>
          </a:xfrm>
          <a:prstGeom prst="rect">
            <a:avLst/>
          </a:prstGeom>
          <a:noFill/>
          <a:ln>
            <a:noFill/>
          </a:ln>
        </p:spPr>
      </p:pic>
      <p:pic>
        <p:nvPicPr>
          <p:cNvPr id="589" name="Google Shape;589;p46"/>
          <p:cNvPicPr preferRelativeResize="0"/>
          <p:nvPr/>
        </p:nvPicPr>
        <p:blipFill rotWithShape="1">
          <a:blip r:embed="rId4">
            <a:alphaModFix/>
          </a:blip>
          <a:srcRect/>
          <a:stretch/>
        </p:blipFill>
        <p:spPr>
          <a:xfrm>
            <a:off x="2104519" y="4832592"/>
            <a:ext cx="3886200" cy="516714"/>
          </a:xfrm>
          <a:prstGeom prst="rect">
            <a:avLst/>
          </a:prstGeom>
          <a:noFill/>
          <a:ln>
            <a:noFill/>
          </a:ln>
        </p:spPr>
      </p:pic>
      <p:pic>
        <p:nvPicPr>
          <p:cNvPr id="590" name="Google Shape;590;p46"/>
          <p:cNvPicPr preferRelativeResize="0"/>
          <p:nvPr/>
        </p:nvPicPr>
        <p:blipFill rotWithShape="1">
          <a:blip r:embed="rId5">
            <a:alphaModFix/>
          </a:blip>
          <a:srcRect/>
          <a:stretch/>
        </p:blipFill>
        <p:spPr>
          <a:xfrm>
            <a:off x="2066804" y="5401859"/>
            <a:ext cx="3488430" cy="435783"/>
          </a:xfrm>
          <a:prstGeom prst="rect">
            <a:avLst/>
          </a:prstGeom>
          <a:noFill/>
          <a:ln>
            <a:noFill/>
          </a:ln>
        </p:spPr>
      </p:pic>
      <p:pic>
        <p:nvPicPr>
          <p:cNvPr id="591" name="Google Shape;591;p46"/>
          <p:cNvPicPr preferRelativeResize="0"/>
          <p:nvPr/>
        </p:nvPicPr>
        <p:blipFill rotWithShape="1">
          <a:blip r:embed="rId6">
            <a:alphaModFix/>
          </a:blip>
          <a:srcRect/>
          <a:stretch/>
        </p:blipFill>
        <p:spPr>
          <a:xfrm>
            <a:off x="2066804" y="5865170"/>
            <a:ext cx="2292578" cy="380999"/>
          </a:xfrm>
          <a:prstGeom prst="rect">
            <a:avLst/>
          </a:prstGeom>
          <a:noFill/>
          <a:ln>
            <a:noFill/>
          </a:ln>
        </p:spPr>
      </p:pic>
      <p:sp>
        <p:nvSpPr>
          <p:cNvPr id="592" name="Google Shape;592;p46"/>
          <p:cNvSpPr txBox="1">
            <a:spLocks noGrp="1"/>
          </p:cNvSpPr>
          <p:nvPr>
            <p:ph type="sldNum" sz="quarter" idx="12"/>
          </p:nvPr>
        </p:nvSpPr>
        <p:spPr>
          <a:prstGeom prst="rect">
            <a:avLst/>
          </a:prstGeom>
          <a:solidFill>
            <a:schemeClr val="lt1"/>
          </a:solid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34</a:t>
            </a:fld>
            <a:endParaRPr sz="1200">
              <a:solidFill>
                <a:schemeClr val="dk1"/>
              </a:solidFill>
              <a:latin typeface="Arial"/>
              <a:ea typeface="Arial"/>
              <a:cs typeface="Arial"/>
              <a:sym typeface="Arial"/>
            </a:endParaRPr>
          </a:p>
        </p:txBody>
      </p:sp>
      <p:sp>
        <p:nvSpPr>
          <p:cNvPr id="593" name="Google Shape;593;p46"/>
          <p:cNvSpPr txBox="1"/>
          <p:nvPr/>
        </p:nvSpPr>
        <p:spPr>
          <a:xfrm>
            <a:off x="304800" y="2316162"/>
            <a:ext cx="8305800" cy="157003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Berapakah yang perlu dilabur pada 1 Januari (hari ini) jika pada akhir tahun lima nanti anda memerlukan RM161.05  di dalam akaun pelaburan anda jika kadar pulangan ialah sebanyak 10% setahun?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3"/>
                                        </p:tgtEl>
                                        <p:attrNameLst>
                                          <p:attrName>style.visibility</p:attrName>
                                        </p:attrNameLst>
                                      </p:cBhvr>
                                      <p:to>
                                        <p:strVal val="visible"/>
                                      </p:to>
                                    </p:set>
                                    <p:anim calcmode="lin" valueType="num">
                                      <p:cBhvr additive="base">
                                        <p:cTn id="7" dur="500"/>
                                        <p:tgtEl>
                                          <p:spTgt spid="593"/>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83"/>
                                        </p:tgtEl>
                                        <p:attrNameLst>
                                          <p:attrName>style.visibility</p:attrName>
                                        </p:attrNameLst>
                                      </p:cBhvr>
                                      <p:to>
                                        <p:strVal val="visible"/>
                                      </p:to>
                                    </p:set>
                                    <p:anim calcmode="lin" valueType="num">
                                      <p:cBhvr additive="base">
                                        <p:cTn id="12" dur="500"/>
                                        <p:tgtEl>
                                          <p:spTgt spid="58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7"/>
          <p:cNvSpPr txBox="1"/>
          <p:nvPr/>
        </p:nvSpPr>
        <p:spPr>
          <a:xfrm>
            <a:off x="273050" y="730250"/>
            <a:ext cx="8534400" cy="230832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Faiz memerlukan RM5000,  6 tahun lagi bagi membolehkannya melancong ke Jepun. Jika dia ingin menyimpan sekarang di dalam sebuah bank yang memberikan kadar keuntungan 6% setahun, berapakah yang perlu disimpan bagi membolehkan Faiz melancong pada ketika tersebut?</a:t>
            </a:r>
            <a:endParaRPr/>
          </a:p>
        </p:txBody>
      </p:sp>
      <p:grpSp>
        <p:nvGrpSpPr>
          <p:cNvPr id="599" name="Google Shape;599;p47"/>
          <p:cNvGrpSpPr/>
          <p:nvPr/>
        </p:nvGrpSpPr>
        <p:grpSpPr>
          <a:xfrm>
            <a:off x="138605" y="3419475"/>
            <a:ext cx="8852959" cy="1393297"/>
            <a:chOff x="138605" y="3419475"/>
            <a:chExt cx="8852959" cy="1393297"/>
          </a:xfrm>
        </p:grpSpPr>
        <p:cxnSp>
          <p:nvCxnSpPr>
            <p:cNvPr id="600" name="Google Shape;600;p47"/>
            <p:cNvCxnSpPr/>
            <p:nvPr/>
          </p:nvCxnSpPr>
          <p:spPr>
            <a:xfrm>
              <a:off x="990600" y="4029075"/>
              <a:ext cx="7772400" cy="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601" name="Google Shape;601;p47"/>
            <p:cNvCxnSpPr/>
            <p:nvPr/>
          </p:nvCxnSpPr>
          <p:spPr>
            <a:xfrm>
              <a:off x="990600" y="3876675"/>
              <a:ext cx="0" cy="304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602" name="Google Shape;602;p47"/>
            <p:cNvCxnSpPr/>
            <p:nvPr/>
          </p:nvCxnSpPr>
          <p:spPr>
            <a:xfrm>
              <a:off x="2057400" y="3876675"/>
              <a:ext cx="0" cy="304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603" name="Google Shape;603;p47"/>
            <p:cNvCxnSpPr/>
            <p:nvPr/>
          </p:nvCxnSpPr>
          <p:spPr>
            <a:xfrm>
              <a:off x="3200400" y="3876675"/>
              <a:ext cx="0" cy="304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604" name="Google Shape;604;p47"/>
            <p:cNvCxnSpPr/>
            <p:nvPr/>
          </p:nvCxnSpPr>
          <p:spPr>
            <a:xfrm>
              <a:off x="4572000" y="3876675"/>
              <a:ext cx="0" cy="304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605" name="Google Shape;605;p47"/>
            <p:cNvCxnSpPr/>
            <p:nvPr/>
          </p:nvCxnSpPr>
          <p:spPr>
            <a:xfrm>
              <a:off x="5943600" y="3876675"/>
              <a:ext cx="0" cy="304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606" name="Google Shape;606;p47"/>
            <p:cNvCxnSpPr/>
            <p:nvPr/>
          </p:nvCxnSpPr>
          <p:spPr>
            <a:xfrm>
              <a:off x="7391400" y="3876675"/>
              <a:ext cx="0" cy="304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cxnSp>
          <p:nvCxnSpPr>
            <p:cNvPr id="607" name="Google Shape;607;p47"/>
            <p:cNvCxnSpPr/>
            <p:nvPr/>
          </p:nvCxnSpPr>
          <p:spPr>
            <a:xfrm>
              <a:off x="8763000" y="3876675"/>
              <a:ext cx="0" cy="304800"/>
            </a:xfrm>
            <a:prstGeom prst="straightConnector1">
              <a:avLst/>
            </a:prstGeom>
            <a:solidFill>
              <a:schemeClr val="lt1"/>
            </a:solidFill>
            <a:ln w="12700" cap="flat" cmpd="sng">
              <a:solidFill>
                <a:schemeClr val="dk1"/>
              </a:solidFill>
              <a:prstDash val="solid"/>
              <a:miter lim="800000"/>
              <a:headEnd type="none" w="med" len="med"/>
              <a:tailEnd type="none" w="med" len="med"/>
            </a:ln>
          </p:spPr>
        </p:cxnSp>
        <p:sp>
          <p:nvSpPr>
            <p:cNvPr id="608" name="Google Shape;608;p47"/>
            <p:cNvSpPr txBox="1"/>
            <p:nvPr/>
          </p:nvSpPr>
          <p:spPr>
            <a:xfrm>
              <a:off x="815975" y="3419475"/>
              <a:ext cx="356188"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0</a:t>
              </a:r>
              <a:endParaRPr/>
            </a:p>
          </p:txBody>
        </p:sp>
        <p:sp>
          <p:nvSpPr>
            <p:cNvPr id="609" name="Google Shape;609;p47"/>
            <p:cNvSpPr txBox="1"/>
            <p:nvPr/>
          </p:nvSpPr>
          <p:spPr>
            <a:xfrm>
              <a:off x="1866900" y="3419475"/>
              <a:ext cx="356188"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1</a:t>
              </a:r>
              <a:endParaRPr/>
            </a:p>
          </p:txBody>
        </p:sp>
        <p:sp>
          <p:nvSpPr>
            <p:cNvPr id="610" name="Google Shape;610;p47"/>
            <p:cNvSpPr txBox="1"/>
            <p:nvPr/>
          </p:nvSpPr>
          <p:spPr>
            <a:xfrm>
              <a:off x="3009900" y="3419475"/>
              <a:ext cx="356188"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2</a:t>
              </a:r>
              <a:endParaRPr/>
            </a:p>
          </p:txBody>
        </p:sp>
        <p:sp>
          <p:nvSpPr>
            <p:cNvPr id="611" name="Google Shape;611;p47"/>
            <p:cNvSpPr txBox="1"/>
            <p:nvPr/>
          </p:nvSpPr>
          <p:spPr>
            <a:xfrm>
              <a:off x="4381500" y="3419475"/>
              <a:ext cx="356188"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3</a:t>
              </a:r>
              <a:endParaRPr/>
            </a:p>
          </p:txBody>
        </p:sp>
        <p:sp>
          <p:nvSpPr>
            <p:cNvPr id="612" name="Google Shape;612;p47"/>
            <p:cNvSpPr txBox="1"/>
            <p:nvPr/>
          </p:nvSpPr>
          <p:spPr>
            <a:xfrm>
              <a:off x="5753100" y="3419475"/>
              <a:ext cx="356188"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4</a:t>
              </a:r>
              <a:endParaRPr/>
            </a:p>
          </p:txBody>
        </p:sp>
        <p:sp>
          <p:nvSpPr>
            <p:cNvPr id="613" name="Google Shape;613;p47"/>
            <p:cNvSpPr txBox="1"/>
            <p:nvPr/>
          </p:nvSpPr>
          <p:spPr>
            <a:xfrm>
              <a:off x="7200900" y="3419475"/>
              <a:ext cx="356188"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5</a:t>
              </a:r>
              <a:endParaRPr/>
            </a:p>
          </p:txBody>
        </p:sp>
        <p:sp>
          <p:nvSpPr>
            <p:cNvPr id="614" name="Google Shape;614;p47"/>
            <p:cNvSpPr txBox="1"/>
            <p:nvPr/>
          </p:nvSpPr>
          <p:spPr>
            <a:xfrm>
              <a:off x="8572500" y="3419475"/>
              <a:ext cx="356188"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6</a:t>
              </a:r>
              <a:endParaRPr/>
            </a:p>
          </p:txBody>
        </p:sp>
        <p:sp>
          <p:nvSpPr>
            <p:cNvPr id="615" name="Google Shape;615;p47"/>
            <p:cNvSpPr txBox="1"/>
            <p:nvPr/>
          </p:nvSpPr>
          <p:spPr>
            <a:xfrm>
              <a:off x="8293937" y="4181475"/>
              <a:ext cx="697627"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Arial"/>
                  <a:ea typeface="Arial"/>
                  <a:cs typeface="Arial"/>
                  <a:sym typeface="Arial"/>
                </a:rPr>
                <a:t>5000</a:t>
              </a:r>
              <a:endParaRPr/>
            </a:p>
          </p:txBody>
        </p:sp>
        <p:cxnSp>
          <p:nvCxnSpPr>
            <p:cNvPr id="616" name="Google Shape;616;p47"/>
            <p:cNvCxnSpPr/>
            <p:nvPr/>
          </p:nvCxnSpPr>
          <p:spPr>
            <a:xfrm>
              <a:off x="8763000" y="4486275"/>
              <a:ext cx="0" cy="304800"/>
            </a:xfrm>
            <a:prstGeom prst="straightConnector1">
              <a:avLst/>
            </a:prstGeom>
            <a:solidFill>
              <a:schemeClr val="lt1"/>
            </a:solidFill>
            <a:ln>
              <a:noFill/>
            </a:ln>
          </p:spPr>
        </p:cxnSp>
        <p:cxnSp>
          <p:nvCxnSpPr>
            <p:cNvPr id="617" name="Google Shape;617;p47"/>
            <p:cNvCxnSpPr/>
            <p:nvPr/>
          </p:nvCxnSpPr>
          <p:spPr>
            <a:xfrm rot="10800000">
              <a:off x="990600" y="4648200"/>
              <a:ext cx="7772400" cy="0"/>
            </a:xfrm>
            <a:prstGeom prst="straightConnector1">
              <a:avLst/>
            </a:prstGeom>
            <a:solidFill>
              <a:schemeClr val="lt1"/>
            </a:solidFill>
            <a:ln w="12700" cap="flat" cmpd="sng">
              <a:solidFill>
                <a:schemeClr val="dk1"/>
              </a:solidFill>
              <a:prstDash val="solid"/>
              <a:miter lim="800000"/>
              <a:headEnd type="none" w="med" len="med"/>
              <a:tailEnd type="triangle" w="med" len="med"/>
            </a:ln>
          </p:spPr>
        </p:cxnSp>
        <p:sp>
          <p:nvSpPr>
            <p:cNvPr id="618" name="Google Shape;618;p47"/>
            <p:cNvSpPr txBox="1"/>
            <p:nvPr/>
          </p:nvSpPr>
          <p:spPr>
            <a:xfrm>
              <a:off x="1295400" y="3505200"/>
              <a:ext cx="518091"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Arial"/>
                  <a:ea typeface="Arial"/>
                  <a:cs typeface="Arial"/>
                  <a:sym typeface="Arial"/>
                </a:rPr>
                <a:t>6%</a:t>
              </a:r>
              <a:endParaRPr/>
            </a:p>
          </p:txBody>
        </p:sp>
        <p:sp>
          <p:nvSpPr>
            <p:cNvPr id="619" name="Google Shape;619;p47"/>
            <p:cNvSpPr txBox="1"/>
            <p:nvPr/>
          </p:nvSpPr>
          <p:spPr>
            <a:xfrm>
              <a:off x="138605" y="4443440"/>
              <a:ext cx="755335"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Arial"/>
                  <a:ea typeface="Arial"/>
                  <a:cs typeface="Arial"/>
                  <a:sym typeface="Arial"/>
                </a:rPr>
                <a:t>PV=?</a:t>
              </a:r>
              <a:endParaRPr/>
            </a:p>
          </p:txBody>
        </p:sp>
      </p:grpSp>
      <p:pic>
        <p:nvPicPr>
          <p:cNvPr id="620" name="Google Shape;620;p47"/>
          <p:cNvPicPr preferRelativeResize="0"/>
          <p:nvPr/>
        </p:nvPicPr>
        <p:blipFill rotWithShape="1">
          <a:blip r:embed="rId3">
            <a:alphaModFix/>
          </a:blip>
          <a:srcRect/>
          <a:stretch/>
        </p:blipFill>
        <p:spPr>
          <a:xfrm>
            <a:off x="2474384" y="4812772"/>
            <a:ext cx="2608263" cy="463749"/>
          </a:xfrm>
          <a:prstGeom prst="rect">
            <a:avLst/>
          </a:prstGeom>
          <a:noFill/>
          <a:ln>
            <a:noFill/>
          </a:ln>
        </p:spPr>
      </p:pic>
      <p:pic>
        <p:nvPicPr>
          <p:cNvPr id="621" name="Google Shape;621;p47"/>
          <p:cNvPicPr preferRelativeResize="0"/>
          <p:nvPr/>
        </p:nvPicPr>
        <p:blipFill rotWithShape="1">
          <a:blip r:embed="rId4">
            <a:alphaModFix/>
          </a:blip>
          <a:srcRect/>
          <a:stretch/>
        </p:blipFill>
        <p:spPr>
          <a:xfrm>
            <a:off x="2474384" y="5209876"/>
            <a:ext cx="3028950" cy="390525"/>
          </a:xfrm>
          <a:prstGeom prst="rect">
            <a:avLst/>
          </a:prstGeom>
          <a:noFill/>
          <a:ln>
            <a:noFill/>
          </a:ln>
        </p:spPr>
      </p:pic>
      <p:pic>
        <p:nvPicPr>
          <p:cNvPr id="622" name="Google Shape;622;p47"/>
          <p:cNvPicPr preferRelativeResize="0"/>
          <p:nvPr/>
        </p:nvPicPr>
        <p:blipFill rotWithShape="1">
          <a:blip r:embed="rId5">
            <a:alphaModFix/>
          </a:blip>
          <a:srcRect/>
          <a:stretch/>
        </p:blipFill>
        <p:spPr>
          <a:xfrm>
            <a:off x="2437653" y="5606980"/>
            <a:ext cx="2720446" cy="390525"/>
          </a:xfrm>
          <a:prstGeom prst="rect">
            <a:avLst/>
          </a:prstGeom>
          <a:noFill/>
          <a:ln>
            <a:noFill/>
          </a:ln>
        </p:spPr>
      </p:pic>
      <p:pic>
        <p:nvPicPr>
          <p:cNvPr id="623" name="Google Shape;623;p47"/>
          <p:cNvPicPr preferRelativeResize="0"/>
          <p:nvPr/>
        </p:nvPicPr>
        <p:blipFill rotWithShape="1">
          <a:blip r:embed="rId6">
            <a:alphaModFix/>
          </a:blip>
          <a:srcRect/>
          <a:stretch/>
        </p:blipFill>
        <p:spPr>
          <a:xfrm>
            <a:off x="2447392" y="5972661"/>
            <a:ext cx="2187575" cy="390525"/>
          </a:xfrm>
          <a:prstGeom prst="rect">
            <a:avLst/>
          </a:prstGeom>
          <a:noFill/>
          <a:ln>
            <a:noFill/>
          </a:ln>
        </p:spPr>
      </p:pic>
      <p:sp>
        <p:nvSpPr>
          <p:cNvPr id="624" name="Google Shape;624;p4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35</a:t>
            </a:fld>
            <a:endParaRPr sz="1200">
              <a:solidFill>
                <a:srgbClr val="1D4577"/>
              </a:solidFill>
              <a:latin typeface="Times New Roman"/>
              <a:ea typeface="Times New Roman"/>
              <a:cs typeface="Times New Roman"/>
              <a:sym typeface="Times New Roman"/>
            </a:endParaRPr>
          </a:p>
        </p:txBody>
      </p:sp>
      <p:sp>
        <p:nvSpPr>
          <p:cNvPr id="625" name="Google Shape;625;p47"/>
          <p:cNvSpPr txBox="1"/>
          <p:nvPr/>
        </p:nvSpPr>
        <p:spPr>
          <a:xfrm>
            <a:off x="317934" y="187755"/>
            <a:ext cx="1345240"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Contoh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8"/>
                                        </p:tgtEl>
                                        <p:attrNameLst>
                                          <p:attrName>style.visibility</p:attrName>
                                        </p:attrNameLst>
                                      </p:cBhvr>
                                      <p:to>
                                        <p:strVal val="visible"/>
                                      </p:to>
                                    </p:set>
                                    <p:animEffect transition="in" filter="fade">
                                      <p:cBhvr>
                                        <p:cTn id="7" dur="1"/>
                                        <p:tgtEl>
                                          <p:spTgt spid="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4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
        <p:nvSpPr>
          <p:cNvPr id="631" name="Google Shape;631;p48"/>
          <p:cNvSpPr txBox="1"/>
          <p:nvPr/>
        </p:nvSpPr>
        <p:spPr>
          <a:xfrm>
            <a:off x="304800" y="389319"/>
            <a:ext cx="8210550"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kini amaun sekaligus menggunakan rumus algebra?</a:t>
            </a:r>
            <a:endParaRPr/>
          </a:p>
        </p:txBody>
      </p:sp>
      <p:sp>
        <p:nvSpPr>
          <p:cNvPr id="632" name="Google Shape;632;p48"/>
          <p:cNvSpPr txBox="1"/>
          <p:nvPr/>
        </p:nvSpPr>
        <p:spPr>
          <a:xfrm>
            <a:off x="304800" y="3733800"/>
            <a:ext cx="7685117"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Di mana:    FV=RM161.05,     i=10%,      n=5,       PV=?</a:t>
            </a:r>
            <a:endParaRPr/>
          </a:p>
        </p:txBody>
      </p:sp>
      <p:grpSp>
        <p:nvGrpSpPr>
          <p:cNvPr id="633" name="Google Shape;633;p48"/>
          <p:cNvGrpSpPr/>
          <p:nvPr/>
        </p:nvGrpSpPr>
        <p:grpSpPr>
          <a:xfrm>
            <a:off x="455613" y="1219200"/>
            <a:ext cx="6436784" cy="849271"/>
            <a:chOff x="455613" y="1371600"/>
            <a:chExt cx="6436784" cy="849271"/>
          </a:xfrm>
        </p:grpSpPr>
        <p:sp>
          <p:nvSpPr>
            <p:cNvPr id="634" name="Google Shape;634;p48"/>
            <p:cNvSpPr txBox="1"/>
            <p:nvPr/>
          </p:nvSpPr>
          <p:spPr>
            <a:xfrm>
              <a:off x="455613" y="1447800"/>
              <a:ext cx="3491661"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Rumus yang digunakan</a:t>
              </a:r>
              <a:endParaRPr sz="2400">
                <a:solidFill>
                  <a:schemeClr val="dk1"/>
                </a:solidFill>
                <a:latin typeface="Arial"/>
                <a:ea typeface="Arial"/>
                <a:cs typeface="Arial"/>
                <a:sym typeface="Arial"/>
              </a:endParaRPr>
            </a:p>
          </p:txBody>
        </p:sp>
        <p:sp>
          <p:nvSpPr>
            <p:cNvPr id="635" name="Google Shape;635;p48"/>
            <p:cNvSpPr/>
            <p:nvPr/>
          </p:nvSpPr>
          <p:spPr>
            <a:xfrm>
              <a:off x="3876797" y="1526232"/>
              <a:ext cx="823912" cy="304800"/>
            </a:xfrm>
            <a:prstGeom prst="rightArrow">
              <a:avLst>
                <a:gd name="adj1" fmla="val 50000"/>
                <a:gd name="adj2" fmla="val 67578"/>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636" name="Google Shape;636;p48"/>
            <p:cNvSpPr txBox="1"/>
            <p:nvPr/>
          </p:nvSpPr>
          <p:spPr>
            <a:xfrm>
              <a:off x="4767263" y="1371600"/>
              <a:ext cx="2125134" cy="849271"/>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pic>
        <p:nvPicPr>
          <p:cNvPr id="637" name="Google Shape;637;p48"/>
          <p:cNvPicPr preferRelativeResize="0"/>
          <p:nvPr/>
        </p:nvPicPr>
        <p:blipFill rotWithShape="1">
          <a:blip r:embed="rId4">
            <a:alphaModFix/>
          </a:blip>
          <a:srcRect/>
          <a:stretch/>
        </p:blipFill>
        <p:spPr>
          <a:xfrm>
            <a:off x="1904999" y="5954671"/>
            <a:ext cx="2292578" cy="380999"/>
          </a:xfrm>
          <a:prstGeom prst="rect">
            <a:avLst/>
          </a:prstGeom>
          <a:noFill/>
          <a:ln>
            <a:noFill/>
          </a:ln>
        </p:spPr>
      </p:pic>
      <p:sp>
        <p:nvSpPr>
          <p:cNvPr id="638" name="Google Shape;638;p48"/>
          <p:cNvSpPr txBox="1"/>
          <p:nvPr/>
        </p:nvSpPr>
        <p:spPr>
          <a:xfrm>
            <a:off x="304800" y="2133600"/>
            <a:ext cx="8305800" cy="157003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Berapakah yang perlu dilabur pada 1 Januari (hari ini) jika pada akhir tahun lima nanti anda memerlukan RM161.05  di dalam akaun pelaburan anda jika kadar pulangan ialah sebanyak 10% setahun? </a:t>
            </a:r>
            <a:endParaRPr/>
          </a:p>
        </p:txBody>
      </p:sp>
      <p:sp>
        <p:nvSpPr>
          <p:cNvPr id="639" name="Google Shape;639;p48"/>
          <p:cNvSpPr txBox="1"/>
          <p:nvPr/>
        </p:nvSpPr>
        <p:spPr>
          <a:xfrm>
            <a:off x="765288" y="4267200"/>
            <a:ext cx="4572000" cy="849271"/>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640" name="Google Shape;640;p48"/>
          <p:cNvSpPr txBox="1"/>
          <p:nvPr/>
        </p:nvSpPr>
        <p:spPr>
          <a:xfrm>
            <a:off x="990600" y="5105400"/>
            <a:ext cx="4572000" cy="859210"/>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38"/>
                                        </p:tgtEl>
                                        <p:attrNameLst>
                                          <p:attrName>style.visibility</p:attrName>
                                        </p:attrNameLst>
                                      </p:cBhvr>
                                      <p:to>
                                        <p:strVal val="visible"/>
                                      </p:to>
                                    </p:set>
                                    <p:anim calcmode="lin" valueType="num">
                                      <p:cBhvr additive="base">
                                        <p:cTn id="7" dur="500"/>
                                        <p:tgtEl>
                                          <p:spTgt spid="6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32"/>
                                        </p:tgtEl>
                                        <p:attrNameLst>
                                          <p:attrName>style.visibility</p:attrName>
                                        </p:attrNameLst>
                                      </p:cBhvr>
                                      <p:to>
                                        <p:strVal val="visible"/>
                                      </p:to>
                                    </p:set>
                                    <p:anim calcmode="lin" valueType="num">
                                      <p:cBhvr additive="base">
                                        <p:cTn id="12" dur="500"/>
                                        <p:tgtEl>
                                          <p:spTgt spid="63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49"/>
          <p:cNvSpPr/>
          <p:nvPr/>
        </p:nvSpPr>
        <p:spPr>
          <a:xfrm>
            <a:off x="990600" y="2286000"/>
            <a:ext cx="7010400" cy="1524000"/>
          </a:xfrm>
          <a:prstGeom prst="foldedCorner">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646" name="Google Shape;646;p49"/>
          <p:cNvSpPr/>
          <p:nvPr/>
        </p:nvSpPr>
        <p:spPr>
          <a:xfrm>
            <a:off x="609600" y="304800"/>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 ANUITI (Annuities)</a:t>
            </a:r>
            <a:endParaRPr/>
          </a:p>
        </p:txBody>
      </p:sp>
      <p:sp>
        <p:nvSpPr>
          <p:cNvPr id="647" name="Google Shape;647;p49"/>
          <p:cNvSpPr txBox="1"/>
          <p:nvPr/>
        </p:nvSpPr>
        <p:spPr>
          <a:xfrm>
            <a:off x="2971800" y="1481114"/>
            <a:ext cx="3486150" cy="49244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a:solidFill>
                  <a:schemeClr val="dk1"/>
                </a:solidFill>
                <a:latin typeface="Arial"/>
                <a:ea typeface="Arial"/>
                <a:cs typeface="Arial"/>
                <a:sym typeface="Arial"/>
              </a:rPr>
              <a:t>Apakah itu anuiti ?</a:t>
            </a:r>
            <a:endParaRPr/>
          </a:p>
        </p:txBody>
      </p:sp>
      <p:sp>
        <p:nvSpPr>
          <p:cNvPr id="648" name="Google Shape;648;p49"/>
          <p:cNvSpPr txBox="1"/>
          <p:nvPr/>
        </p:nvSpPr>
        <p:spPr>
          <a:xfrm>
            <a:off x="1173163" y="2454275"/>
            <a:ext cx="6523037" cy="120015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Anuiti ialah satu siri pembayaran atau penerimaan tunai yang sama amaunnya</a:t>
            </a:r>
            <a:endParaRPr sz="2400">
              <a:solidFill>
                <a:schemeClr val="dk1"/>
              </a:solidFill>
              <a:latin typeface="Arial"/>
              <a:ea typeface="Arial"/>
              <a:cs typeface="Arial"/>
              <a:sym typeface="Arial"/>
            </a:endParaRPr>
          </a:p>
          <a:p>
            <a:pPr marL="0" marR="0" lvl="0" indent="0" algn="ctr" rtl="0">
              <a:spcBef>
                <a:spcPts val="0"/>
              </a:spcBef>
              <a:spcAft>
                <a:spcPts val="0"/>
              </a:spcAft>
              <a:buNone/>
            </a:pPr>
            <a:r>
              <a:rPr lang="en-US" sz="2400">
                <a:solidFill>
                  <a:schemeClr val="dk1"/>
                </a:solidFill>
                <a:latin typeface="Arial"/>
                <a:ea typeface="Arial"/>
                <a:cs typeface="Arial"/>
                <a:sym typeface="Arial"/>
              </a:rPr>
              <a:t>bagi setiap sela tempoh yang sama.</a:t>
            </a:r>
            <a:endParaRPr/>
          </a:p>
        </p:txBody>
      </p:sp>
      <p:sp>
        <p:nvSpPr>
          <p:cNvPr id="649" name="Google Shape;649;p4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37</a:t>
            </a:fld>
            <a:endParaRPr sz="1200">
              <a:solidFill>
                <a:srgbClr val="1D4577"/>
              </a:solidFill>
              <a:latin typeface="Times New Roman"/>
              <a:ea typeface="Times New Roman"/>
              <a:cs typeface="Times New Roman"/>
              <a:sym typeface="Times New Roman"/>
            </a:endParaRPr>
          </a:p>
        </p:txBody>
      </p:sp>
      <p:grpSp>
        <p:nvGrpSpPr>
          <p:cNvPr id="650" name="Google Shape;650;p49"/>
          <p:cNvGrpSpPr/>
          <p:nvPr/>
        </p:nvGrpSpPr>
        <p:grpSpPr>
          <a:xfrm>
            <a:off x="409552" y="4114800"/>
            <a:ext cx="8048648" cy="1528465"/>
            <a:chOff x="180952" y="4114800"/>
            <a:chExt cx="8048648" cy="1528465"/>
          </a:xfrm>
        </p:grpSpPr>
        <p:cxnSp>
          <p:nvCxnSpPr>
            <p:cNvPr id="651" name="Google Shape;651;p49"/>
            <p:cNvCxnSpPr/>
            <p:nvPr/>
          </p:nvCxnSpPr>
          <p:spPr>
            <a:xfrm rot="10800000" flipH="1">
              <a:off x="2438400" y="4876800"/>
              <a:ext cx="5791200" cy="4763"/>
            </a:xfrm>
            <a:prstGeom prst="straightConnector1">
              <a:avLst/>
            </a:prstGeom>
            <a:noFill/>
            <a:ln w="38100" cap="flat" cmpd="sng">
              <a:solidFill>
                <a:schemeClr val="dk1"/>
              </a:solidFill>
              <a:prstDash val="solid"/>
              <a:miter lim="800000"/>
              <a:headEnd type="none" w="med" len="med"/>
              <a:tailEnd type="triangle" w="med" len="med"/>
            </a:ln>
          </p:spPr>
        </p:cxnSp>
        <p:cxnSp>
          <p:nvCxnSpPr>
            <p:cNvPr id="652" name="Google Shape;652;p49"/>
            <p:cNvCxnSpPr/>
            <p:nvPr/>
          </p:nvCxnSpPr>
          <p:spPr>
            <a:xfrm>
              <a:off x="2438400" y="4648200"/>
              <a:ext cx="0" cy="533400"/>
            </a:xfrm>
            <a:prstGeom prst="straightConnector1">
              <a:avLst/>
            </a:prstGeom>
            <a:noFill/>
            <a:ln w="38100" cap="flat" cmpd="sng">
              <a:solidFill>
                <a:schemeClr val="dk1"/>
              </a:solidFill>
              <a:prstDash val="solid"/>
              <a:miter lim="800000"/>
              <a:headEnd type="none" w="med" len="med"/>
              <a:tailEnd type="none" w="med" len="med"/>
            </a:ln>
          </p:spPr>
        </p:cxnSp>
        <p:cxnSp>
          <p:nvCxnSpPr>
            <p:cNvPr id="653" name="Google Shape;653;p49"/>
            <p:cNvCxnSpPr/>
            <p:nvPr/>
          </p:nvCxnSpPr>
          <p:spPr>
            <a:xfrm>
              <a:off x="3962400" y="4648200"/>
              <a:ext cx="0" cy="533400"/>
            </a:xfrm>
            <a:prstGeom prst="straightConnector1">
              <a:avLst/>
            </a:prstGeom>
            <a:noFill/>
            <a:ln w="38100" cap="flat" cmpd="sng">
              <a:solidFill>
                <a:schemeClr val="dk1"/>
              </a:solidFill>
              <a:prstDash val="solid"/>
              <a:miter lim="800000"/>
              <a:headEnd type="none" w="med" len="med"/>
              <a:tailEnd type="none" w="med" len="med"/>
            </a:ln>
          </p:spPr>
        </p:cxnSp>
        <p:cxnSp>
          <p:nvCxnSpPr>
            <p:cNvPr id="654" name="Google Shape;654;p49"/>
            <p:cNvCxnSpPr/>
            <p:nvPr/>
          </p:nvCxnSpPr>
          <p:spPr>
            <a:xfrm>
              <a:off x="5486400" y="4648200"/>
              <a:ext cx="0" cy="533400"/>
            </a:xfrm>
            <a:prstGeom prst="straightConnector1">
              <a:avLst/>
            </a:prstGeom>
            <a:noFill/>
            <a:ln w="38100" cap="flat" cmpd="sng">
              <a:solidFill>
                <a:schemeClr val="dk1"/>
              </a:solidFill>
              <a:prstDash val="solid"/>
              <a:miter lim="800000"/>
              <a:headEnd type="none" w="med" len="med"/>
              <a:tailEnd type="none" w="med" len="med"/>
            </a:ln>
          </p:spPr>
        </p:cxnSp>
        <p:cxnSp>
          <p:nvCxnSpPr>
            <p:cNvPr id="655" name="Google Shape;655;p49"/>
            <p:cNvCxnSpPr/>
            <p:nvPr/>
          </p:nvCxnSpPr>
          <p:spPr>
            <a:xfrm>
              <a:off x="7010400" y="4648200"/>
              <a:ext cx="0" cy="533400"/>
            </a:xfrm>
            <a:prstGeom prst="straightConnector1">
              <a:avLst/>
            </a:prstGeom>
            <a:noFill/>
            <a:ln w="38100" cap="flat" cmpd="sng">
              <a:solidFill>
                <a:schemeClr val="dk1"/>
              </a:solidFill>
              <a:prstDash val="solid"/>
              <a:miter lim="800000"/>
              <a:headEnd type="none" w="med" len="med"/>
              <a:tailEnd type="none" w="med" len="med"/>
            </a:ln>
          </p:spPr>
        </p:cxnSp>
        <p:sp>
          <p:nvSpPr>
            <p:cNvPr id="656" name="Google Shape;656;p49"/>
            <p:cNvSpPr txBox="1"/>
            <p:nvPr/>
          </p:nvSpPr>
          <p:spPr>
            <a:xfrm>
              <a:off x="2299994" y="41148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0</a:t>
              </a:r>
              <a:endParaRPr/>
            </a:p>
          </p:txBody>
        </p:sp>
        <p:sp>
          <p:nvSpPr>
            <p:cNvPr id="657" name="Google Shape;657;p49"/>
            <p:cNvSpPr txBox="1"/>
            <p:nvPr/>
          </p:nvSpPr>
          <p:spPr>
            <a:xfrm>
              <a:off x="3823994" y="41148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1</a:t>
              </a:r>
              <a:endParaRPr/>
            </a:p>
          </p:txBody>
        </p:sp>
        <p:sp>
          <p:nvSpPr>
            <p:cNvPr id="658" name="Google Shape;658;p49"/>
            <p:cNvSpPr txBox="1"/>
            <p:nvPr/>
          </p:nvSpPr>
          <p:spPr>
            <a:xfrm>
              <a:off x="5347994" y="41148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2</a:t>
              </a:r>
              <a:endParaRPr/>
            </a:p>
          </p:txBody>
        </p:sp>
        <p:sp>
          <p:nvSpPr>
            <p:cNvPr id="659" name="Google Shape;659;p49"/>
            <p:cNvSpPr txBox="1"/>
            <p:nvPr/>
          </p:nvSpPr>
          <p:spPr>
            <a:xfrm>
              <a:off x="6871994" y="41148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3</a:t>
              </a:r>
              <a:endParaRPr/>
            </a:p>
          </p:txBody>
        </p:sp>
        <p:sp>
          <p:nvSpPr>
            <p:cNvPr id="660" name="Google Shape;660;p49"/>
            <p:cNvSpPr txBox="1"/>
            <p:nvPr/>
          </p:nvSpPr>
          <p:spPr>
            <a:xfrm>
              <a:off x="3652472" y="5181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100</a:t>
              </a:r>
              <a:endParaRPr/>
            </a:p>
          </p:txBody>
        </p:sp>
        <p:sp>
          <p:nvSpPr>
            <p:cNvPr id="661" name="Google Shape;661;p49"/>
            <p:cNvSpPr txBox="1"/>
            <p:nvPr/>
          </p:nvSpPr>
          <p:spPr>
            <a:xfrm>
              <a:off x="5176472" y="5181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100</a:t>
              </a:r>
              <a:endParaRPr/>
            </a:p>
          </p:txBody>
        </p:sp>
        <p:sp>
          <p:nvSpPr>
            <p:cNvPr id="662" name="Google Shape;662;p49"/>
            <p:cNvSpPr txBox="1"/>
            <p:nvPr/>
          </p:nvSpPr>
          <p:spPr>
            <a:xfrm>
              <a:off x="6700472" y="5181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100</a:t>
              </a:r>
              <a:endParaRPr/>
            </a:p>
          </p:txBody>
        </p:sp>
        <p:sp>
          <p:nvSpPr>
            <p:cNvPr id="663" name="Google Shape;663;p49"/>
            <p:cNvSpPr txBox="1"/>
            <p:nvPr/>
          </p:nvSpPr>
          <p:spPr>
            <a:xfrm>
              <a:off x="180952" y="4122443"/>
              <a:ext cx="211904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Tempoh masa</a:t>
              </a:r>
              <a:endParaRPr/>
            </a:p>
          </p:txBody>
        </p:sp>
      </p:gr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5"/>
                                        </p:tgtEl>
                                        <p:attrNameLst>
                                          <p:attrName>style.visibility</p:attrName>
                                        </p:attrNameLst>
                                      </p:cBhvr>
                                      <p:to>
                                        <p:strVal val="visible"/>
                                      </p:to>
                                    </p:set>
                                    <p:animEffect transition="in" filter="fade">
                                      <p:cBhvr>
                                        <p:cTn id="7" dur="1000"/>
                                        <p:tgtEl>
                                          <p:spTgt spid="645"/>
                                        </p:tgtEl>
                                      </p:cBhvr>
                                    </p:animEffect>
                                  </p:childTnLst>
                                </p:cTn>
                              </p:par>
                              <p:par>
                                <p:cTn id="8" presetID="10" presetClass="entr" presetSubtype="0" fill="hold" nodeType="withEffect">
                                  <p:stCondLst>
                                    <p:cond delay="0"/>
                                  </p:stCondLst>
                                  <p:childTnLst>
                                    <p:set>
                                      <p:cBhvr>
                                        <p:cTn id="9" dur="1" fill="hold">
                                          <p:stCondLst>
                                            <p:cond delay="0"/>
                                          </p:stCondLst>
                                        </p:cTn>
                                        <p:tgtEl>
                                          <p:spTgt spid="648"/>
                                        </p:tgtEl>
                                        <p:attrNameLst>
                                          <p:attrName>style.visibility</p:attrName>
                                        </p:attrNameLst>
                                      </p:cBhvr>
                                      <p:to>
                                        <p:strVal val="visible"/>
                                      </p:to>
                                    </p:set>
                                    <p:animEffect transition="in" filter="fade">
                                      <p:cBhvr>
                                        <p:cTn id="10" dur="1000"/>
                                        <p:tgtEl>
                                          <p:spTgt spid="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50"/>
          <p:cNvSpPr txBox="1"/>
          <p:nvPr/>
        </p:nvSpPr>
        <p:spPr>
          <a:xfrm>
            <a:off x="2041193" y="1056015"/>
            <a:ext cx="5410200" cy="492443"/>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b="1">
                <a:solidFill>
                  <a:schemeClr val="dk1"/>
                </a:solidFill>
                <a:latin typeface="Arial"/>
                <a:ea typeface="Arial"/>
                <a:cs typeface="Arial"/>
                <a:sym typeface="Arial"/>
              </a:rPr>
              <a:t>Terdapat berapa jenis anuiti ?</a:t>
            </a:r>
            <a:endParaRPr/>
          </a:p>
        </p:txBody>
      </p:sp>
      <p:grpSp>
        <p:nvGrpSpPr>
          <p:cNvPr id="669" name="Google Shape;669;p50"/>
          <p:cNvGrpSpPr/>
          <p:nvPr/>
        </p:nvGrpSpPr>
        <p:grpSpPr>
          <a:xfrm>
            <a:off x="685800" y="2362200"/>
            <a:ext cx="7772400" cy="1905000"/>
            <a:chOff x="685800" y="2362200"/>
            <a:chExt cx="7772400" cy="1905000"/>
          </a:xfrm>
        </p:grpSpPr>
        <p:sp>
          <p:nvSpPr>
            <p:cNvPr id="670" name="Google Shape;670;p50"/>
            <p:cNvSpPr/>
            <p:nvPr/>
          </p:nvSpPr>
          <p:spPr>
            <a:xfrm>
              <a:off x="2362200" y="2590800"/>
              <a:ext cx="4343400" cy="1447800"/>
            </a:xfrm>
            <a:prstGeom prst="leftRightArrowCallout">
              <a:avLst>
                <a:gd name="adj1" fmla="val 25000"/>
                <a:gd name="adj2" fmla="val 25000"/>
                <a:gd name="adj3" fmla="val 37500"/>
                <a:gd name="adj4"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DUA JENIS</a:t>
              </a:r>
              <a:endParaRPr/>
            </a:p>
            <a:p>
              <a:pPr marL="0" marR="0" lvl="0" indent="0" algn="ctr" rtl="0">
                <a:spcBef>
                  <a:spcPts val="0"/>
                </a:spcBef>
                <a:spcAft>
                  <a:spcPts val="0"/>
                </a:spcAft>
                <a:buNone/>
              </a:pPr>
              <a:r>
                <a:rPr lang="en-US" sz="2400">
                  <a:solidFill>
                    <a:schemeClr val="dk1"/>
                  </a:solidFill>
                  <a:latin typeface="Arial"/>
                  <a:ea typeface="Arial"/>
                  <a:cs typeface="Arial"/>
                  <a:sym typeface="Arial"/>
                </a:rPr>
                <a:t>ANUITI</a:t>
              </a:r>
              <a:endParaRPr/>
            </a:p>
          </p:txBody>
        </p:sp>
        <p:sp>
          <p:nvSpPr>
            <p:cNvPr id="671" name="Google Shape;671;p50"/>
            <p:cNvSpPr/>
            <p:nvPr/>
          </p:nvSpPr>
          <p:spPr>
            <a:xfrm>
              <a:off x="685800" y="2362200"/>
              <a:ext cx="1676400" cy="1905000"/>
            </a:xfrm>
            <a:prstGeom prst="cube">
              <a:avLst>
                <a:gd name="adj" fmla="val 8806"/>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ANUITI</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BIASA</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(Ordinary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Annuity)</a:t>
              </a:r>
              <a:endParaRPr/>
            </a:p>
          </p:txBody>
        </p:sp>
        <p:sp>
          <p:nvSpPr>
            <p:cNvPr id="672" name="Google Shape;672;p50"/>
            <p:cNvSpPr/>
            <p:nvPr/>
          </p:nvSpPr>
          <p:spPr>
            <a:xfrm>
              <a:off x="6781800" y="2362200"/>
              <a:ext cx="1676400" cy="1905000"/>
            </a:xfrm>
            <a:prstGeom prst="cube">
              <a:avLst>
                <a:gd name="adj" fmla="val 8806"/>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ANUITI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MATANG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(Annuity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Due)</a:t>
              </a:r>
              <a:endParaRPr/>
            </a:p>
          </p:txBody>
        </p:sp>
      </p:grpSp>
      <p:sp>
        <p:nvSpPr>
          <p:cNvPr id="673" name="Google Shape;673;p5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38</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51"/>
          <p:cNvSpPr txBox="1"/>
          <p:nvPr/>
        </p:nvSpPr>
        <p:spPr>
          <a:xfrm>
            <a:off x="1006475" y="678845"/>
            <a:ext cx="7543800" cy="49244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a:solidFill>
                  <a:schemeClr val="dk1"/>
                </a:solidFill>
                <a:latin typeface="Arial"/>
                <a:ea typeface="Arial"/>
                <a:cs typeface="Arial"/>
                <a:sym typeface="Arial"/>
              </a:rPr>
              <a:t>Apakah itu anuiti biasa dan anuiti matang ?</a:t>
            </a:r>
            <a:endParaRPr/>
          </a:p>
        </p:txBody>
      </p:sp>
      <p:sp>
        <p:nvSpPr>
          <p:cNvPr id="679" name="Google Shape;679;p5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39</a:t>
            </a:fld>
            <a:endParaRPr sz="1200">
              <a:solidFill>
                <a:srgbClr val="1D4577"/>
              </a:solidFill>
              <a:latin typeface="Times New Roman"/>
              <a:ea typeface="Times New Roman"/>
              <a:cs typeface="Times New Roman"/>
              <a:sym typeface="Times New Roman"/>
            </a:endParaRPr>
          </a:p>
        </p:txBody>
      </p:sp>
      <p:grpSp>
        <p:nvGrpSpPr>
          <p:cNvPr id="680" name="Google Shape;680;p51"/>
          <p:cNvGrpSpPr/>
          <p:nvPr/>
        </p:nvGrpSpPr>
        <p:grpSpPr>
          <a:xfrm>
            <a:off x="536575" y="1676400"/>
            <a:ext cx="7975600" cy="4267200"/>
            <a:chOff x="536575" y="1676400"/>
            <a:chExt cx="7975600" cy="4267200"/>
          </a:xfrm>
        </p:grpSpPr>
        <p:sp>
          <p:nvSpPr>
            <p:cNvPr id="681" name="Google Shape;681;p51"/>
            <p:cNvSpPr/>
            <p:nvPr/>
          </p:nvSpPr>
          <p:spPr>
            <a:xfrm>
              <a:off x="990600" y="1676400"/>
              <a:ext cx="3276600" cy="1219200"/>
            </a:xfrm>
            <a:prstGeom prst="downArrowCallout">
              <a:avLst>
                <a:gd name="adj1" fmla="val 32026"/>
                <a:gd name="adj2" fmla="val 67188"/>
                <a:gd name="adj3" fmla="val 16667"/>
                <a:gd name="adj4" fmla="val 6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ANUITI BIASA</a:t>
              </a:r>
              <a:endParaRPr/>
            </a:p>
          </p:txBody>
        </p:sp>
        <p:sp>
          <p:nvSpPr>
            <p:cNvPr id="682" name="Google Shape;682;p51"/>
            <p:cNvSpPr/>
            <p:nvPr/>
          </p:nvSpPr>
          <p:spPr>
            <a:xfrm>
              <a:off x="5181600" y="1676400"/>
              <a:ext cx="3276600" cy="1219200"/>
            </a:xfrm>
            <a:prstGeom prst="downArrowCallout">
              <a:avLst>
                <a:gd name="adj1" fmla="val 32026"/>
                <a:gd name="adj2" fmla="val 67188"/>
                <a:gd name="adj3" fmla="val 16667"/>
                <a:gd name="adj4" fmla="val 6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ANUITI MATANG</a:t>
              </a:r>
              <a:endParaRPr/>
            </a:p>
          </p:txBody>
        </p:sp>
        <p:sp>
          <p:nvSpPr>
            <p:cNvPr id="683" name="Google Shape;683;p51"/>
            <p:cNvSpPr/>
            <p:nvPr/>
          </p:nvSpPr>
          <p:spPr>
            <a:xfrm>
              <a:off x="4778375" y="3035300"/>
              <a:ext cx="3733800" cy="28956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siri aliran tunai</a:t>
              </a: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 yang sama yang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pembayaran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/penerimaannya</a:t>
              </a: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  berlaku  pada</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 awal setiap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tempoh </a:t>
              </a:r>
              <a:endParaRPr/>
            </a:p>
          </p:txBody>
        </p:sp>
        <p:sp>
          <p:nvSpPr>
            <p:cNvPr id="684" name="Google Shape;684;p51"/>
            <p:cNvSpPr/>
            <p:nvPr/>
          </p:nvSpPr>
          <p:spPr>
            <a:xfrm>
              <a:off x="536575" y="3048000"/>
              <a:ext cx="3733800" cy="28956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siri aliran tunai</a:t>
              </a: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 yang sama yang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pembayaran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/penerimaannya</a:t>
              </a: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  berlaku  pada</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 akhir setiap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tempoh </a:t>
              </a:r>
              <a:endParaRPr/>
            </a:p>
          </p:txBody>
        </p:sp>
      </p:grpSp>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52"/>
          <p:cNvSpPr txBox="1">
            <a:spLocks noGrp="1"/>
          </p:cNvSpPr>
          <p:nvPr>
            <p:ph type="title" idx="4294967295"/>
          </p:nvPr>
        </p:nvSpPr>
        <p:spPr>
          <a:xfrm>
            <a:off x="0" y="196850"/>
            <a:ext cx="7289800" cy="94297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n-US" sz="2800" b="1">
                <a:latin typeface="Arial"/>
                <a:ea typeface="Arial"/>
                <a:cs typeface="Arial"/>
                <a:sym typeface="Arial"/>
              </a:rPr>
              <a:t>GARIS MASA BAGI ANUITI</a:t>
            </a:r>
            <a:endParaRPr/>
          </a:p>
        </p:txBody>
      </p:sp>
      <p:grpSp>
        <p:nvGrpSpPr>
          <p:cNvPr id="691" name="Google Shape;691;p52"/>
          <p:cNvGrpSpPr/>
          <p:nvPr/>
        </p:nvGrpSpPr>
        <p:grpSpPr>
          <a:xfrm>
            <a:off x="533400" y="1371600"/>
            <a:ext cx="7842251" cy="2133599"/>
            <a:chOff x="181" y="1282"/>
            <a:chExt cx="4940" cy="1344"/>
          </a:xfrm>
        </p:grpSpPr>
        <p:sp>
          <p:nvSpPr>
            <p:cNvPr id="692" name="Google Shape;692;p52"/>
            <p:cNvSpPr/>
            <p:nvPr/>
          </p:nvSpPr>
          <p:spPr>
            <a:xfrm>
              <a:off x="181" y="1282"/>
              <a:ext cx="1237"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Anuiti Biasa</a:t>
              </a:r>
              <a:endParaRPr sz="2400" b="1">
                <a:solidFill>
                  <a:schemeClr val="dk1"/>
                </a:solidFill>
                <a:latin typeface="Arial"/>
                <a:ea typeface="Arial"/>
                <a:cs typeface="Arial"/>
                <a:sym typeface="Arial"/>
              </a:endParaRPr>
            </a:p>
          </p:txBody>
        </p:sp>
        <p:sp>
          <p:nvSpPr>
            <p:cNvPr id="693" name="Google Shape;693;p52"/>
            <p:cNvSpPr/>
            <p:nvPr/>
          </p:nvSpPr>
          <p:spPr>
            <a:xfrm>
              <a:off x="1921" y="2335"/>
              <a:ext cx="526"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PMT</a:t>
              </a:r>
              <a:endParaRPr/>
            </a:p>
          </p:txBody>
        </p:sp>
        <p:sp>
          <p:nvSpPr>
            <p:cNvPr id="694" name="Google Shape;694;p52"/>
            <p:cNvSpPr/>
            <p:nvPr/>
          </p:nvSpPr>
          <p:spPr>
            <a:xfrm>
              <a:off x="4595" y="2335"/>
              <a:ext cx="526"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PMT</a:t>
              </a:r>
              <a:endParaRPr/>
            </a:p>
          </p:txBody>
        </p:sp>
        <p:grpSp>
          <p:nvGrpSpPr>
            <p:cNvPr id="695" name="Google Shape;695;p52"/>
            <p:cNvGrpSpPr/>
            <p:nvPr/>
          </p:nvGrpSpPr>
          <p:grpSpPr>
            <a:xfrm>
              <a:off x="779" y="2020"/>
              <a:ext cx="4080" cy="327"/>
              <a:chOff x="779" y="2020"/>
              <a:chExt cx="4080" cy="327"/>
            </a:xfrm>
          </p:grpSpPr>
          <p:cxnSp>
            <p:nvCxnSpPr>
              <p:cNvPr id="696" name="Google Shape;696;p52"/>
              <p:cNvCxnSpPr/>
              <p:nvPr/>
            </p:nvCxnSpPr>
            <p:spPr>
              <a:xfrm>
                <a:off x="779" y="2020"/>
                <a:ext cx="0" cy="327"/>
              </a:xfrm>
              <a:prstGeom prst="straightConnector1">
                <a:avLst/>
              </a:prstGeom>
              <a:noFill/>
              <a:ln w="25400" cap="flat" cmpd="sng">
                <a:solidFill>
                  <a:schemeClr val="dk1"/>
                </a:solidFill>
                <a:prstDash val="solid"/>
                <a:round/>
                <a:headEnd type="none" w="sm" len="sm"/>
                <a:tailEnd type="none" w="sm" len="sm"/>
              </a:ln>
            </p:spPr>
          </p:cxnSp>
          <p:cxnSp>
            <p:nvCxnSpPr>
              <p:cNvPr id="697" name="Google Shape;697;p52"/>
              <p:cNvCxnSpPr/>
              <p:nvPr/>
            </p:nvCxnSpPr>
            <p:spPr>
              <a:xfrm>
                <a:off x="2171" y="2020"/>
                <a:ext cx="0" cy="327"/>
              </a:xfrm>
              <a:prstGeom prst="straightConnector1">
                <a:avLst/>
              </a:prstGeom>
              <a:noFill/>
              <a:ln w="25400" cap="flat" cmpd="sng">
                <a:solidFill>
                  <a:schemeClr val="dk1"/>
                </a:solidFill>
                <a:prstDash val="solid"/>
                <a:round/>
                <a:headEnd type="none" w="sm" len="sm"/>
                <a:tailEnd type="none" w="sm" len="sm"/>
              </a:ln>
            </p:spPr>
          </p:cxnSp>
          <p:cxnSp>
            <p:nvCxnSpPr>
              <p:cNvPr id="698" name="Google Shape;698;p52"/>
              <p:cNvCxnSpPr/>
              <p:nvPr/>
            </p:nvCxnSpPr>
            <p:spPr>
              <a:xfrm>
                <a:off x="3419" y="2020"/>
                <a:ext cx="0" cy="327"/>
              </a:xfrm>
              <a:prstGeom prst="straightConnector1">
                <a:avLst/>
              </a:prstGeom>
              <a:noFill/>
              <a:ln w="25400" cap="flat" cmpd="sng">
                <a:solidFill>
                  <a:schemeClr val="dk1"/>
                </a:solidFill>
                <a:prstDash val="solid"/>
                <a:round/>
                <a:headEnd type="none" w="sm" len="sm"/>
                <a:tailEnd type="none" w="sm" len="sm"/>
              </a:ln>
            </p:spPr>
          </p:cxnSp>
          <p:cxnSp>
            <p:nvCxnSpPr>
              <p:cNvPr id="699" name="Google Shape;699;p52"/>
              <p:cNvCxnSpPr/>
              <p:nvPr/>
            </p:nvCxnSpPr>
            <p:spPr>
              <a:xfrm>
                <a:off x="4859" y="2020"/>
                <a:ext cx="0" cy="327"/>
              </a:xfrm>
              <a:prstGeom prst="straightConnector1">
                <a:avLst/>
              </a:prstGeom>
              <a:noFill/>
              <a:ln w="25400" cap="flat" cmpd="sng">
                <a:solidFill>
                  <a:schemeClr val="dk1"/>
                </a:solidFill>
                <a:prstDash val="solid"/>
                <a:round/>
                <a:headEnd type="none" w="sm" len="sm"/>
                <a:tailEnd type="none" w="sm" len="sm"/>
              </a:ln>
            </p:spPr>
          </p:cxnSp>
          <p:cxnSp>
            <p:nvCxnSpPr>
              <p:cNvPr id="700" name="Google Shape;700;p52"/>
              <p:cNvCxnSpPr/>
              <p:nvPr/>
            </p:nvCxnSpPr>
            <p:spPr>
              <a:xfrm>
                <a:off x="780" y="2184"/>
                <a:ext cx="4079" cy="0"/>
              </a:xfrm>
              <a:prstGeom prst="straightConnector1">
                <a:avLst/>
              </a:prstGeom>
              <a:noFill/>
              <a:ln w="25400" cap="flat" cmpd="sng">
                <a:solidFill>
                  <a:schemeClr val="dk1"/>
                </a:solidFill>
                <a:prstDash val="solid"/>
                <a:round/>
                <a:headEnd type="none" w="sm" len="sm"/>
                <a:tailEnd type="none" w="sm" len="sm"/>
              </a:ln>
            </p:spPr>
          </p:cxnSp>
        </p:grpSp>
        <p:sp>
          <p:nvSpPr>
            <p:cNvPr id="701" name="Google Shape;701;p52"/>
            <p:cNvSpPr/>
            <p:nvPr/>
          </p:nvSpPr>
          <p:spPr>
            <a:xfrm>
              <a:off x="3169" y="2335"/>
              <a:ext cx="526"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PMT</a:t>
              </a:r>
              <a:endParaRPr/>
            </a:p>
          </p:txBody>
        </p:sp>
        <p:sp>
          <p:nvSpPr>
            <p:cNvPr id="702" name="Google Shape;702;p52"/>
            <p:cNvSpPr/>
            <p:nvPr/>
          </p:nvSpPr>
          <p:spPr>
            <a:xfrm>
              <a:off x="673" y="1719"/>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703" name="Google Shape;703;p52"/>
            <p:cNvSpPr/>
            <p:nvPr/>
          </p:nvSpPr>
          <p:spPr>
            <a:xfrm>
              <a:off x="2065" y="1719"/>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704" name="Google Shape;704;p52"/>
            <p:cNvSpPr/>
            <p:nvPr/>
          </p:nvSpPr>
          <p:spPr>
            <a:xfrm>
              <a:off x="3313" y="1719"/>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705" name="Google Shape;705;p52"/>
            <p:cNvSpPr/>
            <p:nvPr/>
          </p:nvSpPr>
          <p:spPr>
            <a:xfrm>
              <a:off x="4753" y="1719"/>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706" name="Google Shape;706;p52"/>
            <p:cNvSpPr/>
            <p:nvPr/>
          </p:nvSpPr>
          <p:spPr>
            <a:xfrm>
              <a:off x="1296" y="1893"/>
              <a:ext cx="343"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i%</a:t>
              </a:r>
              <a:endParaRPr/>
            </a:p>
          </p:txBody>
        </p:sp>
      </p:grpSp>
      <p:grpSp>
        <p:nvGrpSpPr>
          <p:cNvPr id="707" name="Google Shape;707;p52"/>
          <p:cNvGrpSpPr/>
          <p:nvPr/>
        </p:nvGrpSpPr>
        <p:grpSpPr>
          <a:xfrm>
            <a:off x="465138" y="3594099"/>
            <a:ext cx="7902575" cy="2378074"/>
            <a:chOff x="163" y="2445"/>
            <a:chExt cx="4978" cy="1498"/>
          </a:xfrm>
        </p:grpSpPr>
        <p:sp>
          <p:nvSpPr>
            <p:cNvPr id="708" name="Google Shape;708;p52"/>
            <p:cNvSpPr/>
            <p:nvPr/>
          </p:nvSpPr>
          <p:spPr>
            <a:xfrm>
              <a:off x="1921" y="3652"/>
              <a:ext cx="526"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PMT</a:t>
              </a:r>
              <a:endParaRPr/>
            </a:p>
          </p:txBody>
        </p:sp>
        <p:sp>
          <p:nvSpPr>
            <p:cNvPr id="709" name="Google Shape;709;p52"/>
            <p:cNvSpPr/>
            <p:nvPr/>
          </p:nvSpPr>
          <p:spPr>
            <a:xfrm>
              <a:off x="4705" y="3644"/>
              <a:ext cx="436" cy="2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710" name="Google Shape;710;p52"/>
            <p:cNvGrpSpPr/>
            <p:nvPr/>
          </p:nvGrpSpPr>
          <p:grpSpPr>
            <a:xfrm>
              <a:off x="779" y="3174"/>
              <a:ext cx="4080" cy="474"/>
              <a:chOff x="779" y="3174"/>
              <a:chExt cx="4080" cy="474"/>
            </a:xfrm>
          </p:grpSpPr>
          <p:cxnSp>
            <p:nvCxnSpPr>
              <p:cNvPr id="711" name="Google Shape;711;p52"/>
              <p:cNvCxnSpPr/>
              <p:nvPr/>
            </p:nvCxnSpPr>
            <p:spPr>
              <a:xfrm>
                <a:off x="779" y="3174"/>
                <a:ext cx="0" cy="474"/>
              </a:xfrm>
              <a:prstGeom prst="straightConnector1">
                <a:avLst/>
              </a:prstGeom>
              <a:noFill/>
              <a:ln w="25400" cap="flat" cmpd="sng">
                <a:solidFill>
                  <a:schemeClr val="dk1"/>
                </a:solidFill>
                <a:prstDash val="solid"/>
                <a:round/>
                <a:headEnd type="none" w="sm" len="sm"/>
                <a:tailEnd type="none" w="sm" len="sm"/>
              </a:ln>
            </p:spPr>
          </p:cxnSp>
          <p:cxnSp>
            <p:nvCxnSpPr>
              <p:cNvPr id="712" name="Google Shape;712;p52"/>
              <p:cNvCxnSpPr/>
              <p:nvPr/>
            </p:nvCxnSpPr>
            <p:spPr>
              <a:xfrm>
                <a:off x="2171" y="3174"/>
                <a:ext cx="0" cy="474"/>
              </a:xfrm>
              <a:prstGeom prst="straightConnector1">
                <a:avLst/>
              </a:prstGeom>
              <a:noFill/>
              <a:ln w="25400" cap="flat" cmpd="sng">
                <a:solidFill>
                  <a:schemeClr val="dk1"/>
                </a:solidFill>
                <a:prstDash val="solid"/>
                <a:round/>
                <a:headEnd type="none" w="sm" len="sm"/>
                <a:tailEnd type="none" w="sm" len="sm"/>
              </a:ln>
            </p:spPr>
          </p:cxnSp>
          <p:cxnSp>
            <p:nvCxnSpPr>
              <p:cNvPr id="713" name="Google Shape;713;p52"/>
              <p:cNvCxnSpPr/>
              <p:nvPr/>
            </p:nvCxnSpPr>
            <p:spPr>
              <a:xfrm>
                <a:off x="3419" y="3174"/>
                <a:ext cx="0" cy="474"/>
              </a:xfrm>
              <a:prstGeom prst="straightConnector1">
                <a:avLst/>
              </a:prstGeom>
              <a:noFill/>
              <a:ln w="25400" cap="flat" cmpd="sng">
                <a:solidFill>
                  <a:schemeClr val="dk1"/>
                </a:solidFill>
                <a:prstDash val="solid"/>
                <a:round/>
                <a:headEnd type="none" w="sm" len="sm"/>
                <a:tailEnd type="none" w="sm" len="sm"/>
              </a:ln>
            </p:spPr>
          </p:cxnSp>
          <p:cxnSp>
            <p:nvCxnSpPr>
              <p:cNvPr id="714" name="Google Shape;714;p52"/>
              <p:cNvCxnSpPr/>
              <p:nvPr/>
            </p:nvCxnSpPr>
            <p:spPr>
              <a:xfrm>
                <a:off x="4859" y="3174"/>
                <a:ext cx="0" cy="474"/>
              </a:xfrm>
              <a:prstGeom prst="straightConnector1">
                <a:avLst/>
              </a:prstGeom>
              <a:noFill/>
              <a:ln w="25400" cap="flat" cmpd="sng">
                <a:solidFill>
                  <a:schemeClr val="dk1"/>
                </a:solidFill>
                <a:prstDash val="solid"/>
                <a:round/>
                <a:headEnd type="none" w="sm" len="sm"/>
                <a:tailEnd type="none" w="sm" len="sm"/>
              </a:ln>
            </p:spPr>
          </p:cxnSp>
          <p:cxnSp>
            <p:nvCxnSpPr>
              <p:cNvPr id="715" name="Google Shape;715;p52"/>
              <p:cNvCxnSpPr/>
              <p:nvPr/>
            </p:nvCxnSpPr>
            <p:spPr>
              <a:xfrm>
                <a:off x="780" y="3412"/>
                <a:ext cx="4079" cy="0"/>
              </a:xfrm>
              <a:prstGeom prst="straightConnector1">
                <a:avLst/>
              </a:prstGeom>
              <a:noFill/>
              <a:ln w="25400" cap="flat" cmpd="sng">
                <a:solidFill>
                  <a:schemeClr val="dk1"/>
                </a:solidFill>
                <a:prstDash val="solid"/>
                <a:round/>
                <a:headEnd type="none" w="sm" len="sm"/>
                <a:tailEnd type="none" w="sm" len="sm"/>
              </a:ln>
            </p:spPr>
          </p:cxnSp>
        </p:grpSp>
        <p:sp>
          <p:nvSpPr>
            <p:cNvPr id="716" name="Google Shape;716;p52"/>
            <p:cNvSpPr/>
            <p:nvPr/>
          </p:nvSpPr>
          <p:spPr>
            <a:xfrm>
              <a:off x="3169" y="3652"/>
              <a:ext cx="526"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PMT</a:t>
              </a:r>
              <a:endParaRPr/>
            </a:p>
          </p:txBody>
        </p:sp>
        <p:sp>
          <p:nvSpPr>
            <p:cNvPr id="717" name="Google Shape;717;p52"/>
            <p:cNvSpPr/>
            <p:nvPr/>
          </p:nvSpPr>
          <p:spPr>
            <a:xfrm>
              <a:off x="673" y="2906"/>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718" name="Google Shape;718;p52"/>
            <p:cNvSpPr/>
            <p:nvPr/>
          </p:nvSpPr>
          <p:spPr>
            <a:xfrm>
              <a:off x="2065" y="2906"/>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719" name="Google Shape;719;p52"/>
            <p:cNvSpPr/>
            <p:nvPr/>
          </p:nvSpPr>
          <p:spPr>
            <a:xfrm>
              <a:off x="3313" y="2906"/>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720" name="Google Shape;720;p52"/>
            <p:cNvSpPr/>
            <p:nvPr/>
          </p:nvSpPr>
          <p:spPr>
            <a:xfrm>
              <a:off x="4753" y="2906"/>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721" name="Google Shape;721;p52"/>
            <p:cNvSpPr/>
            <p:nvPr/>
          </p:nvSpPr>
          <p:spPr>
            <a:xfrm>
              <a:off x="1296" y="3120"/>
              <a:ext cx="343"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i%</a:t>
              </a:r>
              <a:endParaRPr/>
            </a:p>
          </p:txBody>
        </p:sp>
        <p:sp>
          <p:nvSpPr>
            <p:cNvPr id="722" name="Google Shape;722;p52"/>
            <p:cNvSpPr/>
            <p:nvPr/>
          </p:nvSpPr>
          <p:spPr>
            <a:xfrm>
              <a:off x="529" y="3652"/>
              <a:ext cx="526"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PMT</a:t>
              </a:r>
              <a:endParaRPr/>
            </a:p>
          </p:txBody>
        </p:sp>
        <p:cxnSp>
          <p:nvCxnSpPr>
            <p:cNvPr id="723" name="Google Shape;723;p52"/>
            <p:cNvCxnSpPr/>
            <p:nvPr/>
          </p:nvCxnSpPr>
          <p:spPr>
            <a:xfrm flipH="1">
              <a:off x="797" y="2586"/>
              <a:ext cx="1385" cy="807"/>
            </a:xfrm>
            <a:prstGeom prst="straightConnector1">
              <a:avLst/>
            </a:prstGeom>
            <a:noFill/>
            <a:ln w="31750" cap="flat" cmpd="sng">
              <a:solidFill>
                <a:schemeClr val="folHlink"/>
              </a:solidFill>
              <a:prstDash val="solid"/>
              <a:round/>
              <a:headEnd type="none" w="sm" len="sm"/>
              <a:tailEnd type="stealth" w="med" len="med"/>
            </a:ln>
          </p:spPr>
        </p:cxnSp>
        <p:cxnSp>
          <p:nvCxnSpPr>
            <p:cNvPr id="724" name="Google Shape;724;p52"/>
            <p:cNvCxnSpPr/>
            <p:nvPr/>
          </p:nvCxnSpPr>
          <p:spPr>
            <a:xfrm flipH="1">
              <a:off x="2216" y="2586"/>
              <a:ext cx="1199" cy="785"/>
            </a:xfrm>
            <a:prstGeom prst="straightConnector1">
              <a:avLst/>
            </a:prstGeom>
            <a:noFill/>
            <a:ln w="31750" cap="flat" cmpd="sng">
              <a:solidFill>
                <a:schemeClr val="folHlink"/>
              </a:solidFill>
              <a:prstDash val="solid"/>
              <a:round/>
              <a:headEnd type="none" w="sm" len="sm"/>
              <a:tailEnd type="stealth" w="med" len="med"/>
            </a:ln>
          </p:spPr>
        </p:cxnSp>
        <p:cxnSp>
          <p:nvCxnSpPr>
            <p:cNvPr id="725" name="Google Shape;725;p52"/>
            <p:cNvCxnSpPr/>
            <p:nvPr/>
          </p:nvCxnSpPr>
          <p:spPr>
            <a:xfrm flipH="1">
              <a:off x="3459" y="2586"/>
              <a:ext cx="1385" cy="796"/>
            </a:xfrm>
            <a:prstGeom prst="straightConnector1">
              <a:avLst/>
            </a:prstGeom>
            <a:noFill/>
            <a:ln w="31750" cap="flat" cmpd="sng">
              <a:solidFill>
                <a:schemeClr val="folHlink"/>
              </a:solidFill>
              <a:prstDash val="solid"/>
              <a:round/>
              <a:headEnd type="none" w="sm" len="sm"/>
              <a:tailEnd type="stealth" w="med" len="med"/>
            </a:ln>
          </p:spPr>
        </p:cxnSp>
        <p:sp>
          <p:nvSpPr>
            <p:cNvPr id="726" name="Google Shape;726;p52"/>
            <p:cNvSpPr/>
            <p:nvPr/>
          </p:nvSpPr>
          <p:spPr>
            <a:xfrm>
              <a:off x="163" y="2445"/>
              <a:ext cx="1516"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Annuiti Matang</a:t>
              </a:r>
              <a:endParaRPr/>
            </a:p>
          </p:txBody>
        </p:sp>
      </p:gr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53"/>
          <p:cNvSpPr txBox="1"/>
          <p:nvPr/>
        </p:nvSpPr>
        <p:spPr>
          <a:xfrm>
            <a:off x="2819400" y="762000"/>
            <a:ext cx="30480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ANUITI BIASA</a:t>
            </a:r>
            <a:endParaRPr/>
          </a:p>
        </p:txBody>
      </p:sp>
      <p:sp>
        <p:nvSpPr>
          <p:cNvPr id="732" name="Google Shape;732;p53"/>
          <p:cNvSpPr txBox="1"/>
          <p:nvPr/>
        </p:nvSpPr>
        <p:spPr>
          <a:xfrm>
            <a:off x="3122707" y="3769226"/>
            <a:ext cx="277114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ANUITI   MATANG</a:t>
            </a:r>
            <a:endParaRPr/>
          </a:p>
        </p:txBody>
      </p:sp>
      <p:sp>
        <p:nvSpPr>
          <p:cNvPr id="733" name="Google Shape;733;p5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41</a:t>
            </a:fld>
            <a:endParaRPr sz="1200">
              <a:solidFill>
                <a:srgbClr val="1D4577"/>
              </a:solidFill>
              <a:latin typeface="Times New Roman"/>
              <a:ea typeface="Times New Roman"/>
              <a:cs typeface="Times New Roman"/>
              <a:sym typeface="Times New Roman"/>
            </a:endParaRPr>
          </a:p>
        </p:txBody>
      </p:sp>
      <p:grpSp>
        <p:nvGrpSpPr>
          <p:cNvPr id="734" name="Google Shape;734;p53"/>
          <p:cNvGrpSpPr/>
          <p:nvPr/>
        </p:nvGrpSpPr>
        <p:grpSpPr>
          <a:xfrm>
            <a:off x="660106" y="1641475"/>
            <a:ext cx="8011184" cy="1487190"/>
            <a:chOff x="660106" y="1641475"/>
            <a:chExt cx="8011184" cy="1487190"/>
          </a:xfrm>
        </p:grpSpPr>
        <p:cxnSp>
          <p:nvCxnSpPr>
            <p:cNvPr id="735" name="Google Shape;735;p53"/>
            <p:cNvCxnSpPr/>
            <p:nvPr/>
          </p:nvCxnSpPr>
          <p:spPr>
            <a:xfrm>
              <a:off x="838200" y="2362200"/>
              <a:ext cx="7467600" cy="0"/>
            </a:xfrm>
            <a:prstGeom prst="straightConnector1">
              <a:avLst/>
            </a:prstGeom>
            <a:noFill/>
            <a:ln w="9525" cap="flat" cmpd="sng">
              <a:solidFill>
                <a:srgbClr val="003300"/>
              </a:solidFill>
              <a:prstDash val="solid"/>
              <a:miter lim="800000"/>
              <a:headEnd type="none" w="med" len="med"/>
              <a:tailEnd type="none" w="med" len="med"/>
            </a:ln>
          </p:spPr>
        </p:cxnSp>
        <p:cxnSp>
          <p:nvCxnSpPr>
            <p:cNvPr id="736" name="Google Shape;736;p53"/>
            <p:cNvCxnSpPr/>
            <p:nvPr/>
          </p:nvCxnSpPr>
          <p:spPr>
            <a:xfrm>
              <a:off x="838200" y="21336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37" name="Google Shape;737;p53"/>
            <p:cNvCxnSpPr/>
            <p:nvPr/>
          </p:nvCxnSpPr>
          <p:spPr>
            <a:xfrm>
              <a:off x="2209800" y="21336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38" name="Google Shape;738;p53"/>
            <p:cNvCxnSpPr/>
            <p:nvPr/>
          </p:nvCxnSpPr>
          <p:spPr>
            <a:xfrm>
              <a:off x="3429000" y="21336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39" name="Google Shape;739;p53"/>
            <p:cNvCxnSpPr/>
            <p:nvPr/>
          </p:nvCxnSpPr>
          <p:spPr>
            <a:xfrm>
              <a:off x="4953000" y="21336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40" name="Google Shape;740;p53"/>
            <p:cNvCxnSpPr/>
            <p:nvPr/>
          </p:nvCxnSpPr>
          <p:spPr>
            <a:xfrm>
              <a:off x="6629400" y="21336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41" name="Google Shape;741;p53"/>
            <p:cNvCxnSpPr/>
            <p:nvPr/>
          </p:nvCxnSpPr>
          <p:spPr>
            <a:xfrm>
              <a:off x="8305800" y="2133600"/>
              <a:ext cx="0" cy="457200"/>
            </a:xfrm>
            <a:prstGeom prst="straightConnector1">
              <a:avLst/>
            </a:prstGeom>
            <a:noFill/>
            <a:ln w="9525" cap="flat" cmpd="sng">
              <a:solidFill>
                <a:schemeClr val="dk1"/>
              </a:solidFill>
              <a:prstDash val="solid"/>
              <a:miter lim="800000"/>
              <a:headEnd type="none" w="med" len="med"/>
              <a:tailEnd type="none" w="med" len="med"/>
            </a:ln>
          </p:spPr>
        </p:cxnSp>
        <p:sp>
          <p:nvSpPr>
            <p:cNvPr id="742" name="Google Shape;742;p53"/>
            <p:cNvSpPr txBox="1"/>
            <p:nvPr/>
          </p:nvSpPr>
          <p:spPr>
            <a:xfrm>
              <a:off x="660106" y="1641475"/>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0</a:t>
              </a:r>
              <a:endParaRPr/>
            </a:p>
          </p:txBody>
        </p:sp>
        <p:sp>
          <p:nvSpPr>
            <p:cNvPr id="743" name="Google Shape;743;p53"/>
            <p:cNvSpPr txBox="1"/>
            <p:nvPr/>
          </p:nvSpPr>
          <p:spPr>
            <a:xfrm>
              <a:off x="2015831" y="16764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1</a:t>
              </a:r>
              <a:endParaRPr/>
            </a:p>
          </p:txBody>
        </p:sp>
        <p:sp>
          <p:nvSpPr>
            <p:cNvPr id="744" name="Google Shape;744;p53"/>
            <p:cNvSpPr txBox="1"/>
            <p:nvPr/>
          </p:nvSpPr>
          <p:spPr>
            <a:xfrm>
              <a:off x="3235031" y="16764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2</a:t>
              </a:r>
              <a:endParaRPr/>
            </a:p>
          </p:txBody>
        </p:sp>
        <p:sp>
          <p:nvSpPr>
            <p:cNvPr id="745" name="Google Shape;745;p53"/>
            <p:cNvSpPr txBox="1"/>
            <p:nvPr/>
          </p:nvSpPr>
          <p:spPr>
            <a:xfrm>
              <a:off x="4759031" y="16764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3</a:t>
              </a:r>
              <a:endParaRPr/>
            </a:p>
          </p:txBody>
        </p:sp>
        <p:sp>
          <p:nvSpPr>
            <p:cNvPr id="746" name="Google Shape;746;p53"/>
            <p:cNvSpPr txBox="1"/>
            <p:nvPr/>
          </p:nvSpPr>
          <p:spPr>
            <a:xfrm>
              <a:off x="6435431" y="16764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4</a:t>
              </a:r>
              <a:endParaRPr/>
            </a:p>
          </p:txBody>
        </p:sp>
        <p:sp>
          <p:nvSpPr>
            <p:cNvPr id="747" name="Google Shape;747;p53"/>
            <p:cNvSpPr txBox="1"/>
            <p:nvPr/>
          </p:nvSpPr>
          <p:spPr>
            <a:xfrm>
              <a:off x="8111831" y="16764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5</a:t>
              </a:r>
              <a:endParaRPr/>
            </a:p>
          </p:txBody>
        </p:sp>
        <p:sp>
          <p:nvSpPr>
            <p:cNvPr id="748" name="Google Shape;748;p53"/>
            <p:cNvSpPr txBox="1"/>
            <p:nvPr/>
          </p:nvSpPr>
          <p:spPr>
            <a:xfrm>
              <a:off x="1833580" y="2667000"/>
              <a:ext cx="78419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100</a:t>
              </a:r>
              <a:endParaRPr/>
            </a:p>
          </p:txBody>
        </p:sp>
        <p:sp>
          <p:nvSpPr>
            <p:cNvPr id="749" name="Google Shape;749;p53"/>
            <p:cNvSpPr txBox="1"/>
            <p:nvPr/>
          </p:nvSpPr>
          <p:spPr>
            <a:xfrm>
              <a:off x="3063510" y="26670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a:t>
              </a:r>
              <a:endParaRPr/>
            </a:p>
          </p:txBody>
        </p:sp>
        <p:sp>
          <p:nvSpPr>
            <p:cNvPr id="750" name="Google Shape;750;p53"/>
            <p:cNvSpPr txBox="1"/>
            <p:nvPr/>
          </p:nvSpPr>
          <p:spPr>
            <a:xfrm>
              <a:off x="4619260" y="26670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a:t>
              </a:r>
              <a:endParaRPr/>
            </a:p>
          </p:txBody>
        </p:sp>
        <p:sp>
          <p:nvSpPr>
            <p:cNvPr id="751" name="Google Shape;751;p53"/>
            <p:cNvSpPr txBox="1"/>
            <p:nvPr/>
          </p:nvSpPr>
          <p:spPr>
            <a:xfrm>
              <a:off x="6295660" y="26670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a:t>
              </a:r>
              <a:endParaRPr/>
            </a:p>
          </p:txBody>
        </p:sp>
        <p:sp>
          <p:nvSpPr>
            <p:cNvPr id="752" name="Google Shape;752;p53"/>
            <p:cNvSpPr txBox="1"/>
            <p:nvPr/>
          </p:nvSpPr>
          <p:spPr>
            <a:xfrm>
              <a:off x="7972060" y="26670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a:t>
              </a:r>
              <a:endParaRPr/>
            </a:p>
          </p:txBody>
        </p:sp>
        <p:sp>
          <p:nvSpPr>
            <p:cNvPr id="753" name="Google Shape;753;p53"/>
            <p:cNvSpPr txBox="1"/>
            <p:nvPr/>
          </p:nvSpPr>
          <p:spPr>
            <a:xfrm>
              <a:off x="1174750" y="1905000"/>
              <a:ext cx="63030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5%</a:t>
              </a:r>
              <a:endParaRPr/>
            </a:p>
          </p:txBody>
        </p:sp>
      </p:grpSp>
      <p:grpSp>
        <p:nvGrpSpPr>
          <p:cNvPr id="754" name="Google Shape;754;p53"/>
          <p:cNvGrpSpPr/>
          <p:nvPr/>
        </p:nvGrpSpPr>
        <p:grpSpPr>
          <a:xfrm>
            <a:off x="504460" y="4537075"/>
            <a:ext cx="7979434" cy="1487190"/>
            <a:chOff x="504460" y="4537075"/>
            <a:chExt cx="7979434" cy="1487190"/>
          </a:xfrm>
        </p:grpSpPr>
        <p:cxnSp>
          <p:nvCxnSpPr>
            <p:cNvPr id="755" name="Google Shape;755;p53"/>
            <p:cNvCxnSpPr/>
            <p:nvPr/>
          </p:nvCxnSpPr>
          <p:spPr>
            <a:xfrm>
              <a:off x="854075" y="5257800"/>
              <a:ext cx="7467600" cy="0"/>
            </a:xfrm>
            <a:prstGeom prst="straightConnector1">
              <a:avLst/>
            </a:prstGeom>
            <a:noFill/>
            <a:ln w="9525" cap="flat" cmpd="sng">
              <a:solidFill>
                <a:srgbClr val="003300"/>
              </a:solidFill>
              <a:prstDash val="solid"/>
              <a:miter lim="800000"/>
              <a:headEnd type="none" w="med" len="med"/>
              <a:tailEnd type="none" w="med" len="med"/>
            </a:ln>
          </p:spPr>
        </p:cxnSp>
        <p:cxnSp>
          <p:nvCxnSpPr>
            <p:cNvPr id="756" name="Google Shape;756;p53"/>
            <p:cNvCxnSpPr/>
            <p:nvPr/>
          </p:nvCxnSpPr>
          <p:spPr>
            <a:xfrm>
              <a:off x="854075" y="50292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57" name="Google Shape;757;p53"/>
            <p:cNvCxnSpPr/>
            <p:nvPr/>
          </p:nvCxnSpPr>
          <p:spPr>
            <a:xfrm>
              <a:off x="2225675" y="50292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58" name="Google Shape;758;p53"/>
            <p:cNvCxnSpPr/>
            <p:nvPr/>
          </p:nvCxnSpPr>
          <p:spPr>
            <a:xfrm>
              <a:off x="3444875" y="50292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59" name="Google Shape;759;p53"/>
            <p:cNvCxnSpPr/>
            <p:nvPr/>
          </p:nvCxnSpPr>
          <p:spPr>
            <a:xfrm>
              <a:off x="4968875" y="50292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60" name="Google Shape;760;p53"/>
            <p:cNvCxnSpPr/>
            <p:nvPr/>
          </p:nvCxnSpPr>
          <p:spPr>
            <a:xfrm>
              <a:off x="6645275" y="50292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761" name="Google Shape;761;p53"/>
            <p:cNvCxnSpPr/>
            <p:nvPr/>
          </p:nvCxnSpPr>
          <p:spPr>
            <a:xfrm>
              <a:off x="8321675" y="5029200"/>
              <a:ext cx="0" cy="457200"/>
            </a:xfrm>
            <a:prstGeom prst="straightConnector1">
              <a:avLst/>
            </a:prstGeom>
            <a:noFill/>
            <a:ln w="9525" cap="flat" cmpd="sng">
              <a:solidFill>
                <a:schemeClr val="dk1"/>
              </a:solidFill>
              <a:prstDash val="solid"/>
              <a:miter lim="800000"/>
              <a:headEnd type="none" w="med" len="med"/>
              <a:tailEnd type="none" w="med" len="med"/>
            </a:ln>
          </p:spPr>
        </p:cxnSp>
        <p:sp>
          <p:nvSpPr>
            <p:cNvPr id="762" name="Google Shape;762;p53"/>
            <p:cNvSpPr txBox="1"/>
            <p:nvPr/>
          </p:nvSpPr>
          <p:spPr>
            <a:xfrm>
              <a:off x="675981" y="4537075"/>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0</a:t>
              </a:r>
              <a:endParaRPr/>
            </a:p>
          </p:txBody>
        </p:sp>
        <p:sp>
          <p:nvSpPr>
            <p:cNvPr id="763" name="Google Shape;763;p53"/>
            <p:cNvSpPr txBox="1"/>
            <p:nvPr/>
          </p:nvSpPr>
          <p:spPr>
            <a:xfrm>
              <a:off x="2031706" y="45720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1</a:t>
              </a:r>
              <a:endParaRPr/>
            </a:p>
          </p:txBody>
        </p:sp>
        <p:sp>
          <p:nvSpPr>
            <p:cNvPr id="764" name="Google Shape;764;p53"/>
            <p:cNvSpPr txBox="1"/>
            <p:nvPr/>
          </p:nvSpPr>
          <p:spPr>
            <a:xfrm>
              <a:off x="3250906" y="45720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2</a:t>
              </a:r>
              <a:endParaRPr/>
            </a:p>
          </p:txBody>
        </p:sp>
        <p:sp>
          <p:nvSpPr>
            <p:cNvPr id="765" name="Google Shape;765;p53"/>
            <p:cNvSpPr txBox="1"/>
            <p:nvPr/>
          </p:nvSpPr>
          <p:spPr>
            <a:xfrm>
              <a:off x="4774906" y="45720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3</a:t>
              </a:r>
              <a:endParaRPr/>
            </a:p>
          </p:txBody>
        </p:sp>
        <p:sp>
          <p:nvSpPr>
            <p:cNvPr id="766" name="Google Shape;766;p53"/>
            <p:cNvSpPr txBox="1"/>
            <p:nvPr/>
          </p:nvSpPr>
          <p:spPr>
            <a:xfrm>
              <a:off x="6451306" y="45720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4</a:t>
              </a:r>
              <a:endParaRPr/>
            </a:p>
          </p:txBody>
        </p:sp>
        <p:sp>
          <p:nvSpPr>
            <p:cNvPr id="767" name="Google Shape;767;p53"/>
            <p:cNvSpPr txBox="1"/>
            <p:nvPr/>
          </p:nvSpPr>
          <p:spPr>
            <a:xfrm>
              <a:off x="8127706" y="457200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5</a:t>
              </a:r>
              <a:endParaRPr/>
            </a:p>
          </p:txBody>
        </p:sp>
        <p:sp>
          <p:nvSpPr>
            <p:cNvPr id="768" name="Google Shape;768;p53"/>
            <p:cNvSpPr txBox="1"/>
            <p:nvPr/>
          </p:nvSpPr>
          <p:spPr>
            <a:xfrm>
              <a:off x="504460" y="5562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a:t>
              </a:r>
              <a:endParaRPr/>
            </a:p>
          </p:txBody>
        </p:sp>
        <p:sp>
          <p:nvSpPr>
            <p:cNvPr id="769" name="Google Shape;769;p53"/>
            <p:cNvSpPr txBox="1"/>
            <p:nvPr/>
          </p:nvSpPr>
          <p:spPr>
            <a:xfrm>
              <a:off x="1876060" y="5562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a:t>
              </a:r>
              <a:endParaRPr/>
            </a:p>
          </p:txBody>
        </p:sp>
        <p:sp>
          <p:nvSpPr>
            <p:cNvPr id="770" name="Google Shape;770;p53"/>
            <p:cNvSpPr txBox="1"/>
            <p:nvPr/>
          </p:nvSpPr>
          <p:spPr>
            <a:xfrm>
              <a:off x="3063510" y="5562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a:t>
              </a:r>
              <a:endParaRPr/>
            </a:p>
          </p:txBody>
        </p:sp>
        <p:sp>
          <p:nvSpPr>
            <p:cNvPr id="771" name="Google Shape;771;p53"/>
            <p:cNvSpPr txBox="1"/>
            <p:nvPr/>
          </p:nvSpPr>
          <p:spPr>
            <a:xfrm>
              <a:off x="4619260" y="5562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a:t>
              </a:r>
              <a:endParaRPr/>
            </a:p>
          </p:txBody>
        </p:sp>
        <p:sp>
          <p:nvSpPr>
            <p:cNvPr id="772" name="Google Shape;772;p53"/>
            <p:cNvSpPr txBox="1"/>
            <p:nvPr/>
          </p:nvSpPr>
          <p:spPr>
            <a:xfrm>
              <a:off x="6295660" y="5562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a:t>
              </a:r>
              <a:endParaRPr/>
            </a:p>
          </p:txBody>
        </p:sp>
        <p:sp>
          <p:nvSpPr>
            <p:cNvPr id="773" name="Google Shape;773;p53"/>
            <p:cNvSpPr txBox="1"/>
            <p:nvPr/>
          </p:nvSpPr>
          <p:spPr>
            <a:xfrm>
              <a:off x="1195388" y="4791075"/>
              <a:ext cx="63030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5%</a:t>
              </a:r>
              <a:endParaRPr/>
            </a:p>
          </p:txBody>
        </p:sp>
      </p:gr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2"/>
                                        </p:tgtEl>
                                        <p:attrNameLst>
                                          <p:attrName>style.visibility</p:attrName>
                                        </p:attrNameLst>
                                      </p:cBhvr>
                                      <p:to>
                                        <p:strVal val="visible"/>
                                      </p:to>
                                    </p:set>
                                    <p:animEffect transition="in" filter="fade">
                                      <p:cBhvr>
                                        <p:cTn id="7" dur="1"/>
                                        <p:tgtEl>
                                          <p:spTgt spid="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54"/>
          <p:cNvSpPr txBox="1"/>
          <p:nvPr/>
        </p:nvSpPr>
        <p:spPr>
          <a:xfrm>
            <a:off x="1295400" y="689296"/>
            <a:ext cx="6553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Contoh aliran tunai bagi anuiti biasa </a:t>
            </a:r>
            <a:endParaRPr/>
          </a:p>
        </p:txBody>
      </p:sp>
      <p:grpSp>
        <p:nvGrpSpPr>
          <p:cNvPr id="779" name="Google Shape;779;p54"/>
          <p:cNvGrpSpPr/>
          <p:nvPr/>
        </p:nvGrpSpPr>
        <p:grpSpPr>
          <a:xfrm>
            <a:off x="219075" y="3810000"/>
            <a:ext cx="8162925" cy="1714203"/>
            <a:chOff x="219075" y="3810000"/>
            <a:chExt cx="8162925" cy="1714203"/>
          </a:xfrm>
        </p:grpSpPr>
        <p:cxnSp>
          <p:nvCxnSpPr>
            <p:cNvPr id="780" name="Google Shape;780;p54"/>
            <p:cNvCxnSpPr/>
            <p:nvPr/>
          </p:nvCxnSpPr>
          <p:spPr>
            <a:xfrm>
              <a:off x="914400" y="4648200"/>
              <a:ext cx="7467600" cy="0"/>
            </a:xfrm>
            <a:prstGeom prst="straightConnector1">
              <a:avLst/>
            </a:prstGeom>
            <a:noFill/>
            <a:ln w="38100" cap="flat" cmpd="sng">
              <a:solidFill>
                <a:schemeClr val="dk1"/>
              </a:solidFill>
              <a:prstDash val="solid"/>
              <a:miter lim="800000"/>
              <a:headEnd type="none" w="med" len="med"/>
              <a:tailEnd type="none" w="med" len="med"/>
            </a:ln>
          </p:spPr>
        </p:cxnSp>
        <p:cxnSp>
          <p:nvCxnSpPr>
            <p:cNvPr id="781" name="Google Shape;781;p54"/>
            <p:cNvCxnSpPr/>
            <p:nvPr/>
          </p:nvCxnSpPr>
          <p:spPr>
            <a:xfrm>
              <a:off x="914400" y="4267200"/>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782" name="Google Shape;782;p54"/>
            <p:cNvCxnSpPr/>
            <p:nvPr/>
          </p:nvCxnSpPr>
          <p:spPr>
            <a:xfrm>
              <a:off x="2438400" y="4267200"/>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783" name="Google Shape;783;p54"/>
            <p:cNvCxnSpPr/>
            <p:nvPr/>
          </p:nvCxnSpPr>
          <p:spPr>
            <a:xfrm>
              <a:off x="3962400" y="4267200"/>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784" name="Google Shape;784;p54"/>
            <p:cNvCxnSpPr/>
            <p:nvPr/>
          </p:nvCxnSpPr>
          <p:spPr>
            <a:xfrm>
              <a:off x="5486400" y="4267200"/>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785" name="Google Shape;785;p54"/>
            <p:cNvCxnSpPr/>
            <p:nvPr/>
          </p:nvCxnSpPr>
          <p:spPr>
            <a:xfrm>
              <a:off x="7010400" y="4267200"/>
              <a:ext cx="0" cy="762000"/>
            </a:xfrm>
            <a:prstGeom prst="straightConnector1">
              <a:avLst/>
            </a:prstGeom>
            <a:noFill/>
            <a:ln w="38100" cap="flat" cmpd="sng">
              <a:solidFill>
                <a:schemeClr val="dk1"/>
              </a:solidFill>
              <a:prstDash val="solid"/>
              <a:miter lim="800000"/>
              <a:headEnd type="none" w="med" len="med"/>
              <a:tailEnd type="none" w="med" len="med"/>
            </a:ln>
          </p:spPr>
        </p:cxnSp>
        <p:sp>
          <p:nvSpPr>
            <p:cNvPr id="786" name="Google Shape;786;p54"/>
            <p:cNvSpPr txBox="1"/>
            <p:nvPr/>
          </p:nvSpPr>
          <p:spPr>
            <a:xfrm>
              <a:off x="219075" y="3810000"/>
              <a:ext cx="1239838" cy="45720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JAN</a:t>
              </a:r>
              <a:endParaRPr/>
            </a:p>
          </p:txBody>
        </p:sp>
        <p:sp>
          <p:nvSpPr>
            <p:cNvPr id="787" name="Google Shape;787;p54"/>
            <p:cNvSpPr txBox="1"/>
            <p:nvPr/>
          </p:nvSpPr>
          <p:spPr>
            <a:xfrm>
              <a:off x="1698625" y="3810000"/>
              <a:ext cx="1228725" cy="461963"/>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FEB</a:t>
              </a:r>
              <a:endParaRPr/>
            </a:p>
          </p:txBody>
        </p:sp>
        <p:sp>
          <p:nvSpPr>
            <p:cNvPr id="788" name="Google Shape;788;p54"/>
            <p:cNvSpPr txBox="1"/>
            <p:nvPr/>
          </p:nvSpPr>
          <p:spPr>
            <a:xfrm>
              <a:off x="3175000" y="3810000"/>
              <a:ext cx="1327150" cy="45720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MAC</a:t>
              </a:r>
              <a:endParaRPr/>
            </a:p>
          </p:txBody>
        </p:sp>
        <p:sp>
          <p:nvSpPr>
            <p:cNvPr id="789" name="Google Shape;789;p54"/>
            <p:cNvSpPr txBox="1"/>
            <p:nvPr/>
          </p:nvSpPr>
          <p:spPr>
            <a:xfrm>
              <a:off x="4644358" y="3810000"/>
              <a:ext cx="1438021"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APRIL</a:t>
              </a:r>
              <a:endParaRPr/>
            </a:p>
          </p:txBody>
        </p:sp>
        <p:sp>
          <p:nvSpPr>
            <p:cNvPr id="790" name="Google Shape;790;p54"/>
            <p:cNvSpPr txBox="1"/>
            <p:nvPr/>
          </p:nvSpPr>
          <p:spPr>
            <a:xfrm>
              <a:off x="6383930" y="3810000"/>
              <a:ext cx="1157689"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MEI</a:t>
              </a:r>
              <a:endParaRPr/>
            </a:p>
          </p:txBody>
        </p:sp>
        <p:sp>
          <p:nvSpPr>
            <p:cNvPr id="791" name="Google Shape;791;p54"/>
            <p:cNvSpPr txBox="1"/>
            <p:nvPr/>
          </p:nvSpPr>
          <p:spPr>
            <a:xfrm>
              <a:off x="2090372" y="5062538"/>
              <a:ext cx="699230"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sp>
          <p:nvSpPr>
            <p:cNvPr id="792" name="Google Shape;792;p54"/>
            <p:cNvSpPr txBox="1"/>
            <p:nvPr/>
          </p:nvSpPr>
          <p:spPr>
            <a:xfrm>
              <a:off x="6735397" y="5029200"/>
              <a:ext cx="699230"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sp>
          <p:nvSpPr>
            <p:cNvPr id="793" name="Google Shape;793;p54"/>
            <p:cNvSpPr txBox="1"/>
            <p:nvPr/>
          </p:nvSpPr>
          <p:spPr>
            <a:xfrm>
              <a:off x="5135197" y="5029200"/>
              <a:ext cx="699230"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sp>
          <p:nvSpPr>
            <p:cNvPr id="794" name="Google Shape;794;p54"/>
            <p:cNvSpPr txBox="1"/>
            <p:nvPr/>
          </p:nvSpPr>
          <p:spPr>
            <a:xfrm>
              <a:off x="3611197" y="5029200"/>
              <a:ext cx="699230"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grpSp>
      <p:sp>
        <p:nvSpPr>
          <p:cNvPr id="795" name="Google Shape;795;p5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42</a:t>
            </a:fld>
            <a:endParaRPr sz="1200">
              <a:solidFill>
                <a:srgbClr val="1D4577"/>
              </a:solidFill>
              <a:latin typeface="Times New Roman"/>
              <a:ea typeface="Times New Roman"/>
              <a:cs typeface="Times New Roman"/>
              <a:sym typeface="Times New Roman"/>
            </a:endParaRPr>
          </a:p>
        </p:txBody>
      </p:sp>
      <p:sp>
        <p:nvSpPr>
          <p:cNvPr id="796" name="Google Shape;796;p54"/>
          <p:cNvSpPr/>
          <p:nvPr/>
        </p:nvSpPr>
        <p:spPr>
          <a:xfrm>
            <a:off x="762000" y="1371600"/>
            <a:ext cx="7315200" cy="18288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Emir menyimpan RM250 ke dalam akaun simpanannya di dalam sebuah bank pada </a:t>
            </a:r>
            <a:r>
              <a:rPr lang="en-US" sz="2400" i="1">
                <a:solidFill>
                  <a:srgbClr val="FF0000"/>
                </a:solidFill>
                <a:latin typeface="Arial"/>
                <a:ea typeface="Arial"/>
                <a:cs typeface="Arial"/>
                <a:sym typeface="Arial"/>
              </a:rPr>
              <a:t>akhir setiap bulan </a:t>
            </a:r>
            <a:r>
              <a:rPr lang="en-US" sz="2400">
                <a:solidFill>
                  <a:schemeClr val="dk1"/>
                </a:solidFill>
                <a:latin typeface="Arial"/>
                <a:ea typeface="Arial"/>
                <a:cs typeface="Arial"/>
                <a:sym typeface="Arial"/>
              </a:rPr>
              <a:t>bermula dari bulan Januari sehingga bulan April.</a:t>
            </a:r>
            <a:endParaRPr/>
          </a:p>
        </p:txBody>
      </p:sp>
    </p:spTree>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55"/>
          <p:cNvSpPr txBox="1"/>
          <p:nvPr/>
        </p:nvSpPr>
        <p:spPr>
          <a:xfrm>
            <a:off x="932701" y="561883"/>
            <a:ext cx="6934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Contoh aliran tunai bagi anuiti matang </a:t>
            </a:r>
            <a:endParaRPr/>
          </a:p>
        </p:txBody>
      </p:sp>
      <p:sp>
        <p:nvSpPr>
          <p:cNvPr id="802" name="Google Shape;802;p5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43</a:t>
            </a:fld>
            <a:endParaRPr sz="1200">
              <a:solidFill>
                <a:srgbClr val="1D4577"/>
              </a:solidFill>
              <a:latin typeface="Times New Roman"/>
              <a:ea typeface="Times New Roman"/>
              <a:cs typeface="Times New Roman"/>
              <a:sym typeface="Times New Roman"/>
            </a:endParaRPr>
          </a:p>
        </p:txBody>
      </p:sp>
      <p:sp>
        <p:nvSpPr>
          <p:cNvPr id="803" name="Google Shape;803;p55"/>
          <p:cNvSpPr/>
          <p:nvPr/>
        </p:nvSpPr>
        <p:spPr>
          <a:xfrm>
            <a:off x="812656" y="1698199"/>
            <a:ext cx="7373099" cy="16002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Emir menyimpan RM250 ke dalam akaun simpanannya di dalam sebuah bank pada </a:t>
            </a:r>
            <a:r>
              <a:rPr lang="en-US" sz="2400" i="1">
                <a:solidFill>
                  <a:srgbClr val="FF0000"/>
                </a:solidFill>
                <a:latin typeface="Arial"/>
                <a:ea typeface="Arial"/>
                <a:cs typeface="Arial"/>
                <a:sym typeface="Arial"/>
              </a:rPr>
              <a:t>permulaan setiap bulan </a:t>
            </a:r>
            <a:r>
              <a:rPr lang="en-US" sz="2400">
                <a:solidFill>
                  <a:schemeClr val="dk1"/>
                </a:solidFill>
                <a:latin typeface="Arial"/>
                <a:ea typeface="Arial"/>
                <a:cs typeface="Arial"/>
                <a:sym typeface="Arial"/>
              </a:rPr>
              <a:t>bermula dari bulan  Januari sehingga bulan April.</a:t>
            </a:r>
            <a:endParaRPr/>
          </a:p>
        </p:txBody>
      </p:sp>
      <p:grpSp>
        <p:nvGrpSpPr>
          <p:cNvPr id="804" name="Google Shape;804;p55"/>
          <p:cNvGrpSpPr/>
          <p:nvPr/>
        </p:nvGrpSpPr>
        <p:grpSpPr>
          <a:xfrm>
            <a:off x="219075" y="3810000"/>
            <a:ext cx="8162925" cy="1714203"/>
            <a:chOff x="219075" y="3810000"/>
            <a:chExt cx="8162925" cy="1714203"/>
          </a:xfrm>
        </p:grpSpPr>
        <p:cxnSp>
          <p:nvCxnSpPr>
            <p:cNvPr id="805" name="Google Shape;805;p55"/>
            <p:cNvCxnSpPr/>
            <p:nvPr/>
          </p:nvCxnSpPr>
          <p:spPr>
            <a:xfrm>
              <a:off x="914400" y="4648200"/>
              <a:ext cx="7467600" cy="0"/>
            </a:xfrm>
            <a:prstGeom prst="straightConnector1">
              <a:avLst/>
            </a:prstGeom>
            <a:noFill/>
            <a:ln w="38100" cap="flat" cmpd="sng">
              <a:solidFill>
                <a:schemeClr val="dk1"/>
              </a:solidFill>
              <a:prstDash val="solid"/>
              <a:miter lim="800000"/>
              <a:headEnd type="none" w="med" len="med"/>
              <a:tailEnd type="none" w="med" len="med"/>
            </a:ln>
          </p:spPr>
        </p:cxnSp>
        <p:cxnSp>
          <p:nvCxnSpPr>
            <p:cNvPr id="806" name="Google Shape;806;p55"/>
            <p:cNvCxnSpPr/>
            <p:nvPr/>
          </p:nvCxnSpPr>
          <p:spPr>
            <a:xfrm>
              <a:off x="914400" y="4267200"/>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807" name="Google Shape;807;p55"/>
            <p:cNvCxnSpPr/>
            <p:nvPr/>
          </p:nvCxnSpPr>
          <p:spPr>
            <a:xfrm>
              <a:off x="2438400" y="4267200"/>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808" name="Google Shape;808;p55"/>
            <p:cNvCxnSpPr/>
            <p:nvPr/>
          </p:nvCxnSpPr>
          <p:spPr>
            <a:xfrm>
              <a:off x="3962400" y="4267200"/>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809" name="Google Shape;809;p55"/>
            <p:cNvCxnSpPr/>
            <p:nvPr/>
          </p:nvCxnSpPr>
          <p:spPr>
            <a:xfrm>
              <a:off x="5486400" y="4267200"/>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810" name="Google Shape;810;p55"/>
            <p:cNvCxnSpPr/>
            <p:nvPr/>
          </p:nvCxnSpPr>
          <p:spPr>
            <a:xfrm>
              <a:off x="7010400" y="4267200"/>
              <a:ext cx="0" cy="762000"/>
            </a:xfrm>
            <a:prstGeom prst="straightConnector1">
              <a:avLst/>
            </a:prstGeom>
            <a:noFill/>
            <a:ln w="38100" cap="flat" cmpd="sng">
              <a:solidFill>
                <a:schemeClr val="dk1"/>
              </a:solidFill>
              <a:prstDash val="solid"/>
              <a:miter lim="800000"/>
              <a:headEnd type="none" w="med" len="med"/>
              <a:tailEnd type="none" w="med" len="med"/>
            </a:ln>
          </p:spPr>
        </p:cxnSp>
        <p:sp>
          <p:nvSpPr>
            <p:cNvPr id="811" name="Google Shape;811;p55"/>
            <p:cNvSpPr txBox="1"/>
            <p:nvPr/>
          </p:nvSpPr>
          <p:spPr>
            <a:xfrm>
              <a:off x="566372" y="5062538"/>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sp>
          <p:nvSpPr>
            <p:cNvPr id="812" name="Google Shape;812;p55"/>
            <p:cNvSpPr txBox="1"/>
            <p:nvPr/>
          </p:nvSpPr>
          <p:spPr>
            <a:xfrm>
              <a:off x="5138372" y="50292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sp>
          <p:nvSpPr>
            <p:cNvPr id="813" name="Google Shape;813;p55"/>
            <p:cNvSpPr txBox="1"/>
            <p:nvPr/>
          </p:nvSpPr>
          <p:spPr>
            <a:xfrm>
              <a:off x="3614372" y="50292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sp>
          <p:nvSpPr>
            <p:cNvPr id="814" name="Google Shape;814;p55"/>
            <p:cNvSpPr txBox="1"/>
            <p:nvPr/>
          </p:nvSpPr>
          <p:spPr>
            <a:xfrm>
              <a:off x="2090372" y="50292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sp>
          <p:nvSpPr>
            <p:cNvPr id="815" name="Google Shape;815;p55"/>
            <p:cNvSpPr txBox="1"/>
            <p:nvPr/>
          </p:nvSpPr>
          <p:spPr>
            <a:xfrm>
              <a:off x="219075" y="3810000"/>
              <a:ext cx="1239838" cy="45720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JAN</a:t>
              </a:r>
              <a:endParaRPr/>
            </a:p>
          </p:txBody>
        </p:sp>
        <p:sp>
          <p:nvSpPr>
            <p:cNvPr id="816" name="Google Shape;816;p55"/>
            <p:cNvSpPr txBox="1"/>
            <p:nvPr/>
          </p:nvSpPr>
          <p:spPr>
            <a:xfrm>
              <a:off x="1698625" y="3810000"/>
              <a:ext cx="1228725" cy="461963"/>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FEB</a:t>
              </a:r>
              <a:endParaRPr/>
            </a:p>
          </p:txBody>
        </p:sp>
        <p:sp>
          <p:nvSpPr>
            <p:cNvPr id="817" name="Google Shape;817;p55"/>
            <p:cNvSpPr txBox="1"/>
            <p:nvPr/>
          </p:nvSpPr>
          <p:spPr>
            <a:xfrm>
              <a:off x="3175000" y="3810000"/>
              <a:ext cx="1327150" cy="45720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MAC</a:t>
              </a:r>
              <a:endParaRPr/>
            </a:p>
          </p:txBody>
        </p:sp>
        <p:sp>
          <p:nvSpPr>
            <p:cNvPr id="818" name="Google Shape;818;p55"/>
            <p:cNvSpPr txBox="1"/>
            <p:nvPr/>
          </p:nvSpPr>
          <p:spPr>
            <a:xfrm>
              <a:off x="4644358" y="3810000"/>
              <a:ext cx="1438021"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APRIL</a:t>
              </a:r>
              <a:endParaRPr/>
            </a:p>
          </p:txBody>
        </p:sp>
        <p:sp>
          <p:nvSpPr>
            <p:cNvPr id="819" name="Google Shape;819;p55"/>
            <p:cNvSpPr txBox="1"/>
            <p:nvPr/>
          </p:nvSpPr>
          <p:spPr>
            <a:xfrm>
              <a:off x="6383930" y="3810000"/>
              <a:ext cx="1157689"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 MEI</a:t>
              </a:r>
              <a:endParaRPr/>
            </a:p>
          </p:txBody>
        </p:sp>
      </p:grpSp>
    </p:spTree>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56"/>
          <p:cNvSpPr/>
          <p:nvPr/>
        </p:nvSpPr>
        <p:spPr>
          <a:xfrm>
            <a:off x="609600" y="818655"/>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NILAI HADAPAN ANUITI BIASA</a:t>
            </a:r>
            <a:endParaRPr/>
          </a:p>
        </p:txBody>
      </p:sp>
      <p:sp>
        <p:nvSpPr>
          <p:cNvPr id="825" name="Google Shape;825;p56"/>
          <p:cNvSpPr txBox="1"/>
          <p:nvPr/>
        </p:nvSpPr>
        <p:spPr>
          <a:xfrm>
            <a:off x="762000" y="2427238"/>
            <a:ext cx="7391400"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rgbClr val="0000FF"/>
                </a:solidFill>
                <a:latin typeface="Tahoma"/>
                <a:ea typeface="Tahoma"/>
                <a:cs typeface="Tahoma"/>
                <a:sym typeface="Tahoma"/>
              </a:rPr>
              <a:t>DEFINISI</a:t>
            </a:r>
            <a:r>
              <a:rPr lang="en-US" sz="2400" b="1">
                <a:solidFill>
                  <a:schemeClr val="folHlink"/>
                </a:solidFill>
                <a:latin typeface="Tahoma"/>
                <a:ea typeface="Tahoma"/>
                <a:cs typeface="Tahoma"/>
                <a:sym typeface="Tahoma"/>
              </a:rPr>
              <a:t> </a:t>
            </a:r>
            <a:r>
              <a:rPr lang="en-US" sz="2400" b="1">
                <a:solidFill>
                  <a:schemeClr val="dk1"/>
                </a:solidFill>
                <a:latin typeface="Tahoma"/>
                <a:ea typeface="Tahoma"/>
                <a:cs typeface="Tahoma"/>
                <a:sym typeface="Tahoma"/>
              </a:rPr>
              <a:t>- Nilai masa depan anuiti biasa bermaksud jumlah yang terkumpul di satu masa depan hasil daripada siri pembayaran/penerimaan dalam jumlah yang sama (seragam) yang dibuat pada </a:t>
            </a:r>
            <a:r>
              <a:rPr lang="en-US" sz="2400" b="1">
                <a:solidFill>
                  <a:srgbClr val="FF0000"/>
                </a:solidFill>
                <a:latin typeface="Tahoma"/>
                <a:ea typeface="Tahoma"/>
                <a:cs typeface="Tahoma"/>
                <a:sym typeface="Tahoma"/>
              </a:rPr>
              <a:t>akhir</a:t>
            </a:r>
            <a:r>
              <a:rPr lang="en-US" sz="2400" b="1">
                <a:solidFill>
                  <a:schemeClr val="dk1"/>
                </a:solidFill>
                <a:latin typeface="Tahoma"/>
                <a:ea typeface="Tahoma"/>
                <a:cs typeface="Tahoma"/>
                <a:sym typeface="Tahoma"/>
              </a:rPr>
              <a:t> setiap tempoh</a:t>
            </a:r>
            <a:endParaRPr sz="2400">
              <a:solidFill>
                <a:schemeClr val="dk1"/>
              </a:solidFill>
              <a:latin typeface="Times New Roman"/>
              <a:ea typeface="Times New Roman"/>
              <a:cs typeface="Times New Roman"/>
              <a:sym typeface="Times New Roman"/>
            </a:endParaRPr>
          </a:p>
        </p:txBody>
      </p:sp>
      <p:sp>
        <p:nvSpPr>
          <p:cNvPr id="826" name="Google Shape;826;p5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44</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25"/>
                                        </p:tgtEl>
                                        <p:attrNameLst>
                                          <p:attrName>style.visibility</p:attrName>
                                        </p:attrNameLst>
                                      </p:cBhvr>
                                      <p:to>
                                        <p:strVal val="visible"/>
                                      </p:to>
                                    </p:set>
                                    <p:animEffect transition="in" filter="fade">
                                      <p:cBhvr>
                                        <p:cTn id="7" dur="500"/>
                                        <p:tgtEl>
                                          <p:spTgt spid="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57"/>
          <p:cNvSpPr txBox="1"/>
          <p:nvPr/>
        </p:nvSpPr>
        <p:spPr>
          <a:xfrm>
            <a:off x="354505" y="1363430"/>
            <a:ext cx="8578850" cy="156966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Salman menabung setiap hujung tahun sebanyak RM150 selama 6 tahun di dalam Bank A dengan kadar 7% setahun. Berapakah jumlah wang Salman jika beliau ingin mengeluarkannya pada akhir tahun ke 6?  </a:t>
            </a:r>
            <a:endParaRPr/>
          </a:p>
        </p:txBody>
      </p:sp>
      <p:grpSp>
        <p:nvGrpSpPr>
          <p:cNvPr id="832" name="Google Shape;832;p57"/>
          <p:cNvGrpSpPr/>
          <p:nvPr/>
        </p:nvGrpSpPr>
        <p:grpSpPr>
          <a:xfrm>
            <a:off x="707906" y="3557670"/>
            <a:ext cx="8167688" cy="2004930"/>
            <a:chOff x="707906" y="3557670"/>
            <a:chExt cx="8167688" cy="2004930"/>
          </a:xfrm>
        </p:grpSpPr>
        <p:cxnSp>
          <p:nvCxnSpPr>
            <p:cNvPr id="833" name="Google Shape;833;p57"/>
            <p:cNvCxnSpPr/>
            <p:nvPr/>
          </p:nvCxnSpPr>
          <p:spPr>
            <a:xfrm>
              <a:off x="876181" y="4167270"/>
              <a:ext cx="6842125" cy="0"/>
            </a:xfrm>
            <a:prstGeom prst="straightConnector1">
              <a:avLst/>
            </a:prstGeom>
            <a:noFill/>
            <a:ln w="9525" cap="flat" cmpd="sng">
              <a:solidFill>
                <a:schemeClr val="dk1"/>
              </a:solidFill>
              <a:prstDash val="solid"/>
              <a:miter lim="800000"/>
              <a:headEnd type="none" w="med" len="med"/>
              <a:tailEnd type="none" w="med" len="med"/>
            </a:ln>
          </p:spPr>
        </p:cxnSp>
        <p:cxnSp>
          <p:nvCxnSpPr>
            <p:cNvPr id="834" name="Google Shape;834;p57"/>
            <p:cNvCxnSpPr/>
            <p:nvPr/>
          </p:nvCxnSpPr>
          <p:spPr>
            <a:xfrm>
              <a:off x="876181" y="393867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835" name="Google Shape;835;p57"/>
            <p:cNvCxnSpPr/>
            <p:nvPr/>
          </p:nvCxnSpPr>
          <p:spPr>
            <a:xfrm>
              <a:off x="1790581" y="393867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836" name="Google Shape;836;p57"/>
            <p:cNvCxnSpPr/>
            <p:nvPr/>
          </p:nvCxnSpPr>
          <p:spPr>
            <a:xfrm>
              <a:off x="2857381" y="393867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837" name="Google Shape;837;p57"/>
            <p:cNvCxnSpPr/>
            <p:nvPr/>
          </p:nvCxnSpPr>
          <p:spPr>
            <a:xfrm>
              <a:off x="4076581" y="393867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838" name="Google Shape;838;p57"/>
            <p:cNvCxnSpPr/>
            <p:nvPr/>
          </p:nvCxnSpPr>
          <p:spPr>
            <a:xfrm>
              <a:off x="5295781" y="393867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839" name="Google Shape;839;p57"/>
            <p:cNvCxnSpPr/>
            <p:nvPr/>
          </p:nvCxnSpPr>
          <p:spPr>
            <a:xfrm>
              <a:off x="6591181" y="393867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840" name="Google Shape;840;p57"/>
            <p:cNvCxnSpPr/>
            <p:nvPr/>
          </p:nvCxnSpPr>
          <p:spPr>
            <a:xfrm>
              <a:off x="7734181" y="3938670"/>
              <a:ext cx="0" cy="457200"/>
            </a:xfrm>
            <a:prstGeom prst="straightConnector1">
              <a:avLst/>
            </a:prstGeom>
            <a:noFill/>
            <a:ln w="9525" cap="flat" cmpd="sng">
              <a:solidFill>
                <a:schemeClr val="dk1"/>
              </a:solidFill>
              <a:prstDash val="solid"/>
              <a:miter lim="800000"/>
              <a:headEnd type="none" w="med" len="med"/>
              <a:tailEnd type="none" w="med" len="med"/>
            </a:ln>
          </p:spPr>
        </p:cxnSp>
        <p:sp>
          <p:nvSpPr>
            <p:cNvPr id="841" name="Google Shape;841;p57"/>
            <p:cNvSpPr txBox="1"/>
            <p:nvPr/>
          </p:nvSpPr>
          <p:spPr>
            <a:xfrm>
              <a:off x="707906" y="355767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842" name="Google Shape;842;p57"/>
            <p:cNvSpPr txBox="1"/>
            <p:nvPr/>
          </p:nvSpPr>
          <p:spPr>
            <a:xfrm>
              <a:off x="1606431" y="355767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843" name="Google Shape;843;p57"/>
            <p:cNvSpPr txBox="1"/>
            <p:nvPr/>
          </p:nvSpPr>
          <p:spPr>
            <a:xfrm>
              <a:off x="2673231" y="355767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844" name="Google Shape;844;p57"/>
            <p:cNvSpPr txBox="1"/>
            <p:nvPr/>
          </p:nvSpPr>
          <p:spPr>
            <a:xfrm>
              <a:off x="3892431" y="355767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845" name="Google Shape;845;p57"/>
            <p:cNvSpPr txBox="1"/>
            <p:nvPr/>
          </p:nvSpPr>
          <p:spPr>
            <a:xfrm>
              <a:off x="5111631" y="355767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4</a:t>
              </a:r>
              <a:endParaRPr/>
            </a:p>
          </p:txBody>
        </p:sp>
        <p:sp>
          <p:nvSpPr>
            <p:cNvPr id="846" name="Google Shape;846;p57"/>
            <p:cNvSpPr txBox="1"/>
            <p:nvPr/>
          </p:nvSpPr>
          <p:spPr>
            <a:xfrm>
              <a:off x="6407031" y="355767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5</a:t>
              </a:r>
              <a:endParaRPr/>
            </a:p>
          </p:txBody>
        </p:sp>
        <p:sp>
          <p:nvSpPr>
            <p:cNvPr id="847" name="Google Shape;847;p57"/>
            <p:cNvSpPr txBox="1"/>
            <p:nvPr/>
          </p:nvSpPr>
          <p:spPr>
            <a:xfrm>
              <a:off x="7550031" y="3557670"/>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6</a:t>
              </a:r>
              <a:endParaRPr/>
            </a:p>
          </p:txBody>
        </p:sp>
        <p:sp>
          <p:nvSpPr>
            <p:cNvPr id="848" name="Google Shape;848;p57"/>
            <p:cNvSpPr txBox="1"/>
            <p:nvPr/>
          </p:nvSpPr>
          <p:spPr>
            <a:xfrm>
              <a:off x="1098431" y="3786270"/>
              <a:ext cx="63030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7%</a:t>
              </a:r>
              <a:endParaRPr/>
            </a:p>
          </p:txBody>
        </p:sp>
        <p:sp>
          <p:nvSpPr>
            <p:cNvPr id="849" name="Google Shape;849;p57"/>
            <p:cNvSpPr txBox="1"/>
            <p:nvPr/>
          </p:nvSpPr>
          <p:spPr>
            <a:xfrm>
              <a:off x="1454031" y="4319670"/>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150</a:t>
              </a:r>
              <a:endParaRPr/>
            </a:p>
          </p:txBody>
        </p:sp>
        <p:sp>
          <p:nvSpPr>
            <p:cNvPr id="850" name="Google Shape;850;p57"/>
            <p:cNvSpPr txBox="1"/>
            <p:nvPr/>
          </p:nvSpPr>
          <p:spPr>
            <a:xfrm>
              <a:off x="2444631" y="4319670"/>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150</a:t>
              </a:r>
              <a:endParaRPr/>
            </a:p>
          </p:txBody>
        </p:sp>
        <p:sp>
          <p:nvSpPr>
            <p:cNvPr id="851" name="Google Shape;851;p57"/>
            <p:cNvSpPr txBox="1"/>
            <p:nvPr/>
          </p:nvSpPr>
          <p:spPr>
            <a:xfrm>
              <a:off x="3740031" y="4319670"/>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150</a:t>
              </a:r>
              <a:endParaRPr/>
            </a:p>
          </p:txBody>
        </p:sp>
        <p:sp>
          <p:nvSpPr>
            <p:cNvPr id="852" name="Google Shape;852;p57"/>
            <p:cNvSpPr txBox="1"/>
            <p:nvPr/>
          </p:nvSpPr>
          <p:spPr>
            <a:xfrm>
              <a:off x="4959231" y="4319670"/>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150</a:t>
              </a:r>
              <a:endParaRPr/>
            </a:p>
          </p:txBody>
        </p:sp>
        <p:sp>
          <p:nvSpPr>
            <p:cNvPr id="853" name="Google Shape;853;p57"/>
            <p:cNvSpPr txBox="1"/>
            <p:nvPr/>
          </p:nvSpPr>
          <p:spPr>
            <a:xfrm>
              <a:off x="6254631" y="4319670"/>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150</a:t>
              </a:r>
              <a:endParaRPr/>
            </a:p>
          </p:txBody>
        </p:sp>
        <p:sp>
          <p:nvSpPr>
            <p:cNvPr id="854" name="Google Shape;854;p57"/>
            <p:cNvSpPr txBox="1"/>
            <p:nvPr/>
          </p:nvSpPr>
          <p:spPr>
            <a:xfrm>
              <a:off x="7397631" y="4319670"/>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150</a:t>
              </a:r>
              <a:endParaRPr/>
            </a:p>
          </p:txBody>
        </p:sp>
        <p:cxnSp>
          <p:nvCxnSpPr>
            <p:cNvPr id="855" name="Google Shape;855;p57"/>
            <p:cNvCxnSpPr/>
            <p:nvPr/>
          </p:nvCxnSpPr>
          <p:spPr>
            <a:xfrm>
              <a:off x="876181" y="5157870"/>
              <a:ext cx="6994525" cy="0"/>
            </a:xfrm>
            <a:prstGeom prst="straightConnector1">
              <a:avLst/>
            </a:prstGeom>
            <a:noFill/>
            <a:ln w="9525" cap="flat" cmpd="sng">
              <a:solidFill>
                <a:schemeClr val="dk1"/>
              </a:solidFill>
              <a:prstDash val="solid"/>
              <a:miter lim="800000"/>
              <a:headEnd type="none" w="med" len="med"/>
              <a:tailEnd type="triangle" w="med" len="med"/>
            </a:ln>
          </p:spPr>
        </p:cxnSp>
        <p:cxnSp>
          <p:nvCxnSpPr>
            <p:cNvPr id="856" name="Google Shape;856;p57"/>
            <p:cNvCxnSpPr/>
            <p:nvPr/>
          </p:nvCxnSpPr>
          <p:spPr>
            <a:xfrm>
              <a:off x="1790581" y="4776870"/>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857" name="Google Shape;857;p57"/>
            <p:cNvCxnSpPr/>
            <p:nvPr/>
          </p:nvCxnSpPr>
          <p:spPr>
            <a:xfrm>
              <a:off x="2857381" y="4776870"/>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858" name="Google Shape;858;p57"/>
            <p:cNvCxnSpPr/>
            <p:nvPr/>
          </p:nvCxnSpPr>
          <p:spPr>
            <a:xfrm>
              <a:off x="4076581" y="4776870"/>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859" name="Google Shape;859;p57"/>
            <p:cNvCxnSpPr/>
            <p:nvPr/>
          </p:nvCxnSpPr>
          <p:spPr>
            <a:xfrm>
              <a:off x="5295781" y="4776870"/>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860" name="Google Shape;860;p57"/>
            <p:cNvCxnSpPr/>
            <p:nvPr/>
          </p:nvCxnSpPr>
          <p:spPr>
            <a:xfrm>
              <a:off x="6591181" y="4776870"/>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861" name="Google Shape;861;p57"/>
            <p:cNvCxnSpPr/>
            <p:nvPr/>
          </p:nvCxnSpPr>
          <p:spPr>
            <a:xfrm>
              <a:off x="7734181" y="4776870"/>
              <a:ext cx="0" cy="381000"/>
            </a:xfrm>
            <a:prstGeom prst="straightConnector1">
              <a:avLst/>
            </a:prstGeom>
            <a:noFill/>
            <a:ln w="9525" cap="flat" cmpd="sng">
              <a:solidFill>
                <a:schemeClr val="dk1"/>
              </a:solidFill>
              <a:prstDash val="solid"/>
              <a:miter lim="800000"/>
              <a:headEnd type="none" w="med" len="med"/>
              <a:tailEnd type="none" w="med" len="med"/>
            </a:ln>
          </p:spPr>
        </p:cxnSp>
        <p:sp>
          <p:nvSpPr>
            <p:cNvPr id="862" name="Google Shape;862;p57"/>
            <p:cNvSpPr txBox="1"/>
            <p:nvPr/>
          </p:nvSpPr>
          <p:spPr>
            <a:xfrm>
              <a:off x="7718306" y="4929270"/>
              <a:ext cx="1157288" cy="4572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FVA=?</a:t>
              </a:r>
              <a:endParaRPr/>
            </a:p>
          </p:txBody>
        </p:sp>
        <p:sp>
          <p:nvSpPr>
            <p:cNvPr id="863" name="Google Shape;863;p57"/>
            <p:cNvSpPr txBox="1"/>
            <p:nvPr/>
          </p:nvSpPr>
          <p:spPr>
            <a:xfrm>
              <a:off x="5581650" y="5105400"/>
              <a:ext cx="1841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b="1">
                <a:solidFill>
                  <a:schemeClr val="dk1"/>
                </a:solidFill>
                <a:latin typeface="Arial"/>
                <a:ea typeface="Arial"/>
                <a:cs typeface="Arial"/>
                <a:sym typeface="Arial"/>
              </a:endParaRPr>
            </a:p>
          </p:txBody>
        </p:sp>
      </p:grpSp>
      <p:sp>
        <p:nvSpPr>
          <p:cNvPr id="864" name="Google Shape;864;p5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45</a:t>
            </a:fld>
            <a:endParaRPr sz="1200">
              <a:solidFill>
                <a:schemeClr val="dk1"/>
              </a:solidFill>
              <a:latin typeface="Arial"/>
              <a:ea typeface="Arial"/>
              <a:cs typeface="Arial"/>
              <a:sym typeface="Arial"/>
            </a:endParaRPr>
          </a:p>
        </p:txBody>
      </p:sp>
      <p:sp>
        <p:nvSpPr>
          <p:cNvPr id="865" name="Google Shape;865;p57"/>
          <p:cNvSpPr txBox="1"/>
          <p:nvPr/>
        </p:nvSpPr>
        <p:spPr>
          <a:xfrm>
            <a:off x="324319" y="486634"/>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Contoh situasi melibatkan nilai hadapan anuiti biasa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1"/>
                                        </p:tgtEl>
                                        <p:attrNameLst>
                                          <p:attrName>style.visibility</p:attrName>
                                        </p:attrNameLst>
                                      </p:cBhvr>
                                      <p:to>
                                        <p:strVal val="visible"/>
                                      </p:to>
                                    </p:set>
                                    <p:animEffect transition="in" filter="fade">
                                      <p:cBhvr>
                                        <p:cTn id="7" dur="1"/>
                                        <p:tgtEl>
                                          <p:spTgt spid="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58"/>
          <p:cNvSpPr txBox="1"/>
          <p:nvPr/>
        </p:nvSpPr>
        <p:spPr>
          <a:xfrm>
            <a:off x="555293" y="533400"/>
            <a:ext cx="792480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hadapan anuiti biasa menggunakan Jadual faktor nilai masa ?</a:t>
            </a:r>
            <a:endParaRPr/>
          </a:p>
        </p:txBody>
      </p:sp>
      <p:sp>
        <p:nvSpPr>
          <p:cNvPr id="871" name="Google Shape;871;p58"/>
          <p:cNvSpPr txBox="1"/>
          <p:nvPr/>
        </p:nvSpPr>
        <p:spPr>
          <a:xfrm>
            <a:off x="438897" y="1785938"/>
            <a:ext cx="33554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Jadual yang digunakan</a:t>
            </a:r>
            <a:endParaRPr/>
          </a:p>
        </p:txBody>
      </p:sp>
      <p:sp>
        <p:nvSpPr>
          <p:cNvPr id="872" name="Google Shape;872;p58"/>
          <p:cNvSpPr/>
          <p:nvPr/>
        </p:nvSpPr>
        <p:spPr>
          <a:xfrm>
            <a:off x="3755693" y="1828800"/>
            <a:ext cx="914400" cy="381000"/>
          </a:xfrm>
          <a:prstGeom prst="rightArrow">
            <a:avLst>
              <a:gd name="adj1" fmla="val 50000"/>
              <a:gd name="adj2" fmla="val 6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873" name="Google Shape;873;p58"/>
          <p:cNvSpPr txBox="1"/>
          <p:nvPr/>
        </p:nvSpPr>
        <p:spPr>
          <a:xfrm>
            <a:off x="4596460" y="1600200"/>
            <a:ext cx="3868367"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Jadual faktor nilai hadapan</a:t>
            </a:r>
            <a:endParaRPr/>
          </a:p>
          <a:p>
            <a:pPr marL="0" marR="0" lvl="0" indent="0" algn="ctr" rtl="0">
              <a:spcBef>
                <a:spcPts val="0"/>
              </a:spcBef>
              <a:spcAft>
                <a:spcPts val="0"/>
              </a:spcAft>
              <a:buNone/>
            </a:pPr>
            <a:r>
              <a:rPr lang="en-US" sz="2400">
                <a:solidFill>
                  <a:schemeClr val="dk1"/>
                </a:solidFill>
                <a:latin typeface="Arial"/>
                <a:ea typeface="Arial"/>
                <a:cs typeface="Arial"/>
                <a:sym typeface="Arial"/>
              </a:rPr>
              <a:t>Anuiti biasa (FVIFA)</a:t>
            </a:r>
            <a:endParaRPr/>
          </a:p>
        </p:txBody>
      </p:sp>
      <p:sp>
        <p:nvSpPr>
          <p:cNvPr id="874" name="Google Shape;874;p58"/>
          <p:cNvSpPr txBox="1"/>
          <p:nvPr/>
        </p:nvSpPr>
        <p:spPr>
          <a:xfrm>
            <a:off x="1854449" y="2984153"/>
            <a:ext cx="508184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Di mana :  PMT=150,  i=7%,    n=6  </a:t>
            </a:r>
            <a:endParaRPr/>
          </a:p>
        </p:txBody>
      </p:sp>
      <p:sp>
        <p:nvSpPr>
          <p:cNvPr id="875" name="Google Shape;875;p5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46</a:t>
            </a:fld>
            <a:endParaRPr sz="1200">
              <a:solidFill>
                <a:srgbClr val="1D4577"/>
              </a:solidFill>
              <a:latin typeface="Times New Roman"/>
              <a:ea typeface="Times New Roman"/>
              <a:cs typeface="Times New Roman"/>
              <a:sym typeface="Times New Roman"/>
            </a:endParaRPr>
          </a:p>
        </p:txBody>
      </p:sp>
      <p:sp>
        <p:nvSpPr>
          <p:cNvPr id="876" name="Google Shape;876;p58"/>
          <p:cNvSpPr txBox="1"/>
          <p:nvPr/>
        </p:nvSpPr>
        <p:spPr>
          <a:xfrm>
            <a:off x="2558719" y="3576211"/>
            <a:ext cx="15416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pic>
        <p:nvPicPr>
          <p:cNvPr id="877" name="Google Shape;877;p58"/>
          <p:cNvPicPr preferRelativeResize="0"/>
          <p:nvPr/>
        </p:nvPicPr>
        <p:blipFill rotWithShape="1">
          <a:blip r:embed="rId3">
            <a:alphaModFix/>
          </a:blip>
          <a:srcRect/>
          <a:stretch/>
        </p:blipFill>
        <p:spPr>
          <a:xfrm>
            <a:off x="1968500" y="3687763"/>
            <a:ext cx="3746500" cy="482521"/>
          </a:xfrm>
          <a:prstGeom prst="rect">
            <a:avLst/>
          </a:prstGeom>
          <a:noFill/>
          <a:ln>
            <a:noFill/>
          </a:ln>
        </p:spPr>
      </p:pic>
      <p:pic>
        <p:nvPicPr>
          <p:cNvPr id="878" name="Google Shape;878;p58"/>
          <p:cNvPicPr preferRelativeResize="0"/>
          <p:nvPr/>
        </p:nvPicPr>
        <p:blipFill rotWithShape="1">
          <a:blip r:embed="rId4">
            <a:alphaModFix/>
          </a:blip>
          <a:srcRect/>
          <a:stretch/>
        </p:blipFill>
        <p:spPr>
          <a:xfrm>
            <a:off x="1968500" y="4191000"/>
            <a:ext cx="2999320" cy="457200"/>
          </a:xfrm>
          <a:prstGeom prst="rect">
            <a:avLst/>
          </a:prstGeom>
          <a:noFill/>
          <a:ln>
            <a:noFill/>
          </a:ln>
        </p:spPr>
      </p:pic>
      <p:pic>
        <p:nvPicPr>
          <p:cNvPr id="879" name="Google Shape;879;p58"/>
          <p:cNvPicPr preferRelativeResize="0"/>
          <p:nvPr/>
        </p:nvPicPr>
        <p:blipFill rotWithShape="1">
          <a:blip r:embed="rId5">
            <a:alphaModFix/>
          </a:blip>
          <a:srcRect/>
          <a:stretch/>
        </p:blipFill>
        <p:spPr>
          <a:xfrm>
            <a:off x="1968500" y="4724400"/>
            <a:ext cx="2617781" cy="45720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71"/>
                                        </p:tgtEl>
                                        <p:attrNameLst>
                                          <p:attrName>style.visibility</p:attrName>
                                        </p:attrNameLst>
                                      </p:cBhvr>
                                      <p:to>
                                        <p:strVal val="visible"/>
                                      </p:to>
                                    </p:set>
                                    <p:anim calcmode="lin" valueType="num">
                                      <p:cBhvr additive="base">
                                        <p:cTn id="7" dur="500"/>
                                        <p:tgtEl>
                                          <p:spTgt spid="87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72"/>
                                        </p:tgtEl>
                                        <p:attrNameLst>
                                          <p:attrName>style.visibility</p:attrName>
                                        </p:attrNameLst>
                                      </p:cBhvr>
                                      <p:to>
                                        <p:strVal val="visible"/>
                                      </p:to>
                                    </p:set>
                                    <p:anim calcmode="lin" valueType="num">
                                      <p:cBhvr additive="base">
                                        <p:cTn id="12" dur="500"/>
                                        <p:tgtEl>
                                          <p:spTgt spid="872"/>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73"/>
                                        </p:tgtEl>
                                        <p:attrNameLst>
                                          <p:attrName>style.visibility</p:attrName>
                                        </p:attrNameLst>
                                      </p:cBhvr>
                                      <p:to>
                                        <p:strVal val="visible"/>
                                      </p:to>
                                    </p:set>
                                    <p:anim calcmode="lin" valueType="num">
                                      <p:cBhvr additive="base">
                                        <p:cTn id="17" dur="500"/>
                                        <p:tgtEl>
                                          <p:spTgt spid="873"/>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874"/>
                                        </p:tgtEl>
                                        <p:attrNameLst>
                                          <p:attrName>style.visibility</p:attrName>
                                        </p:attrNameLst>
                                      </p:cBhvr>
                                      <p:to>
                                        <p:strVal val="visible"/>
                                      </p:to>
                                    </p:set>
                                    <p:anim calcmode="lin" valueType="num">
                                      <p:cBhvr additive="base">
                                        <p:cTn id="22" dur="500"/>
                                        <p:tgtEl>
                                          <p:spTgt spid="87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5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
        <p:nvSpPr>
          <p:cNvPr id="885" name="Google Shape;885;p59"/>
          <p:cNvSpPr txBox="1"/>
          <p:nvPr/>
        </p:nvSpPr>
        <p:spPr>
          <a:xfrm>
            <a:off x="555293" y="533400"/>
            <a:ext cx="792480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hadapan anuiti biasa menggunakan rumus?</a:t>
            </a:r>
            <a:endParaRPr/>
          </a:p>
        </p:txBody>
      </p:sp>
      <p:grpSp>
        <p:nvGrpSpPr>
          <p:cNvPr id="886" name="Google Shape;886;p59"/>
          <p:cNvGrpSpPr/>
          <p:nvPr/>
        </p:nvGrpSpPr>
        <p:grpSpPr>
          <a:xfrm>
            <a:off x="152400" y="1600200"/>
            <a:ext cx="8377778" cy="800989"/>
            <a:chOff x="152400" y="1600200"/>
            <a:chExt cx="8377778" cy="800989"/>
          </a:xfrm>
        </p:grpSpPr>
        <p:sp>
          <p:nvSpPr>
            <p:cNvPr id="887" name="Google Shape;887;p59"/>
            <p:cNvSpPr txBox="1"/>
            <p:nvPr/>
          </p:nvSpPr>
          <p:spPr>
            <a:xfrm>
              <a:off x="152400" y="1785938"/>
              <a:ext cx="349166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Rumus yang digunakan</a:t>
              </a:r>
              <a:endParaRPr sz="2400">
                <a:solidFill>
                  <a:schemeClr val="dk1"/>
                </a:solidFill>
                <a:latin typeface="Arial"/>
                <a:ea typeface="Arial"/>
                <a:cs typeface="Arial"/>
                <a:sym typeface="Arial"/>
              </a:endParaRPr>
            </a:p>
          </p:txBody>
        </p:sp>
        <p:sp>
          <p:nvSpPr>
            <p:cNvPr id="888" name="Google Shape;888;p59"/>
            <p:cNvSpPr/>
            <p:nvPr/>
          </p:nvSpPr>
          <p:spPr>
            <a:xfrm>
              <a:off x="3755693" y="1828800"/>
              <a:ext cx="914400" cy="381000"/>
            </a:xfrm>
            <a:prstGeom prst="rightArrow">
              <a:avLst>
                <a:gd name="adj1" fmla="val 50000"/>
                <a:gd name="adj2" fmla="val 6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889" name="Google Shape;889;p59"/>
            <p:cNvSpPr txBox="1"/>
            <p:nvPr/>
          </p:nvSpPr>
          <p:spPr>
            <a:xfrm>
              <a:off x="5127452" y="1600200"/>
              <a:ext cx="3402726" cy="800989"/>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890" name="Google Shape;890;p59"/>
          <p:cNvSpPr txBox="1"/>
          <p:nvPr/>
        </p:nvSpPr>
        <p:spPr>
          <a:xfrm>
            <a:off x="1854449" y="2984153"/>
            <a:ext cx="508184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Di mana :  PMT=150,  i=7%,    n=6  </a:t>
            </a:r>
            <a:endParaRPr/>
          </a:p>
        </p:txBody>
      </p:sp>
      <p:sp>
        <p:nvSpPr>
          <p:cNvPr id="891" name="Google Shape;891;p59"/>
          <p:cNvSpPr txBox="1"/>
          <p:nvPr/>
        </p:nvSpPr>
        <p:spPr>
          <a:xfrm>
            <a:off x="2558719" y="3576211"/>
            <a:ext cx="15416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92" name="Google Shape;892;p59"/>
          <p:cNvSpPr txBox="1"/>
          <p:nvPr/>
        </p:nvSpPr>
        <p:spPr>
          <a:xfrm>
            <a:off x="2362200" y="3771011"/>
            <a:ext cx="3402726" cy="800989"/>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893" name="Google Shape;893;p59"/>
          <p:cNvSpPr txBox="1"/>
          <p:nvPr/>
        </p:nvSpPr>
        <p:spPr>
          <a:xfrm>
            <a:off x="2380175" y="4685411"/>
            <a:ext cx="3715825" cy="833498"/>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894" name="Google Shape;894;p59"/>
          <p:cNvSpPr txBox="1"/>
          <p:nvPr/>
        </p:nvSpPr>
        <p:spPr>
          <a:xfrm>
            <a:off x="2314678" y="5786735"/>
            <a:ext cx="2452146" cy="461665"/>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90"/>
                                        </p:tgtEl>
                                        <p:attrNameLst>
                                          <p:attrName>style.visibility</p:attrName>
                                        </p:attrNameLst>
                                      </p:cBhvr>
                                      <p:to>
                                        <p:strVal val="visible"/>
                                      </p:to>
                                    </p:set>
                                    <p:anim calcmode="lin" valueType="num">
                                      <p:cBhvr additive="base">
                                        <p:cTn id="7" dur="500"/>
                                        <p:tgtEl>
                                          <p:spTgt spid="8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60"/>
          <p:cNvSpPr txBox="1"/>
          <p:nvPr/>
        </p:nvSpPr>
        <p:spPr>
          <a:xfrm>
            <a:off x="371475" y="1032808"/>
            <a:ext cx="8391525" cy="193899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Andaikan hari ini adalah 1 Januari 2020. Encik Samad bercadang  untuk melabur sebanyak RM300 pada akhir setiap tahun selama 5 tahun bermula setahun dari sekarang. Kadar pulangan adalah 8% setahun. Berapakah jumlah yang terkumpul pada akhir tahun 2024 nanti?</a:t>
            </a:r>
            <a:endParaRPr/>
          </a:p>
        </p:txBody>
      </p:sp>
      <p:grpSp>
        <p:nvGrpSpPr>
          <p:cNvPr id="900" name="Google Shape;900;p60"/>
          <p:cNvGrpSpPr/>
          <p:nvPr/>
        </p:nvGrpSpPr>
        <p:grpSpPr>
          <a:xfrm>
            <a:off x="296862" y="3542458"/>
            <a:ext cx="8540750" cy="2033151"/>
            <a:chOff x="134481" y="3587064"/>
            <a:chExt cx="8704719" cy="1975536"/>
          </a:xfrm>
        </p:grpSpPr>
        <p:cxnSp>
          <p:nvCxnSpPr>
            <p:cNvPr id="901" name="Google Shape;901;p60"/>
            <p:cNvCxnSpPr/>
            <p:nvPr/>
          </p:nvCxnSpPr>
          <p:spPr>
            <a:xfrm rot="10800000" flipH="1">
              <a:off x="762000" y="4411197"/>
              <a:ext cx="6477000" cy="14067"/>
            </a:xfrm>
            <a:prstGeom prst="straightConnector1">
              <a:avLst/>
            </a:prstGeom>
            <a:noFill/>
            <a:ln w="38100" cap="flat" cmpd="sng">
              <a:solidFill>
                <a:schemeClr val="dk1"/>
              </a:solidFill>
              <a:prstDash val="solid"/>
              <a:miter lim="800000"/>
              <a:headEnd type="none" w="med" len="med"/>
              <a:tailEnd type="none" w="med" len="med"/>
            </a:ln>
          </p:spPr>
        </p:cxnSp>
        <p:cxnSp>
          <p:nvCxnSpPr>
            <p:cNvPr id="902" name="Google Shape;902;p60"/>
            <p:cNvCxnSpPr/>
            <p:nvPr/>
          </p:nvCxnSpPr>
          <p:spPr>
            <a:xfrm>
              <a:off x="762000" y="4044264"/>
              <a:ext cx="0" cy="614100"/>
            </a:xfrm>
            <a:prstGeom prst="straightConnector1">
              <a:avLst/>
            </a:prstGeom>
            <a:noFill/>
            <a:ln w="38100" cap="flat" cmpd="sng">
              <a:solidFill>
                <a:schemeClr val="dk1"/>
              </a:solidFill>
              <a:prstDash val="solid"/>
              <a:miter lim="800000"/>
              <a:headEnd type="none" w="med" len="med"/>
              <a:tailEnd type="none" w="med" len="med"/>
            </a:ln>
          </p:spPr>
        </p:cxnSp>
        <p:cxnSp>
          <p:nvCxnSpPr>
            <p:cNvPr id="903" name="Google Shape;903;p60"/>
            <p:cNvCxnSpPr/>
            <p:nvPr/>
          </p:nvCxnSpPr>
          <p:spPr>
            <a:xfrm>
              <a:off x="2057400" y="4044264"/>
              <a:ext cx="0" cy="614100"/>
            </a:xfrm>
            <a:prstGeom prst="straightConnector1">
              <a:avLst/>
            </a:prstGeom>
            <a:noFill/>
            <a:ln w="38100" cap="flat" cmpd="sng">
              <a:solidFill>
                <a:schemeClr val="dk1"/>
              </a:solidFill>
              <a:prstDash val="solid"/>
              <a:miter lim="800000"/>
              <a:headEnd type="none" w="med" len="med"/>
              <a:tailEnd type="none" w="med" len="med"/>
            </a:ln>
          </p:spPr>
        </p:cxnSp>
        <p:cxnSp>
          <p:nvCxnSpPr>
            <p:cNvPr id="904" name="Google Shape;904;p60"/>
            <p:cNvCxnSpPr/>
            <p:nvPr/>
          </p:nvCxnSpPr>
          <p:spPr>
            <a:xfrm>
              <a:off x="3352800" y="4044264"/>
              <a:ext cx="0" cy="614100"/>
            </a:xfrm>
            <a:prstGeom prst="straightConnector1">
              <a:avLst/>
            </a:prstGeom>
            <a:noFill/>
            <a:ln w="38100" cap="flat" cmpd="sng">
              <a:solidFill>
                <a:schemeClr val="dk1"/>
              </a:solidFill>
              <a:prstDash val="solid"/>
              <a:miter lim="800000"/>
              <a:headEnd type="none" w="med" len="med"/>
              <a:tailEnd type="none" w="med" len="med"/>
            </a:ln>
          </p:spPr>
        </p:cxnSp>
        <p:cxnSp>
          <p:nvCxnSpPr>
            <p:cNvPr id="905" name="Google Shape;905;p60"/>
            <p:cNvCxnSpPr/>
            <p:nvPr/>
          </p:nvCxnSpPr>
          <p:spPr>
            <a:xfrm>
              <a:off x="4648200" y="4044264"/>
              <a:ext cx="0" cy="614100"/>
            </a:xfrm>
            <a:prstGeom prst="straightConnector1">
              <a:avLst/>
            </a:prstGeom>
            <a:noFill/>
            <a:ln w="38100" cap="flat" cmpd="sng">
              <a:solidFill>
                <a:schemeClr val="dk1"/>
              </a:solidFill>
              <a:prstDash val="solid"/>
              <a:miter lim="800000"/>
              <a:headEnd type="none" w="med" len="med"/>
              <a:tailEnd type="none" w="med" len="med"/>
            </a:ln>
          </p:spPr>
        </p:cxnSp>
        <p:cxnSp>
          <p:nvCxnSpPr>
            <p:cNvPr id="906" name="Google Shape;906;p60"/>
            <p:cNvCxnSpPr/>
            <p:nvPr/>
          </p:nvCxnSpPr>
          <p:spPr>
            <a:xfrm>
              <a:off x="5943600" y="4044264"/>
              <a:ext cx="0" cy="614100"/>
            </a:xfrm>
            <a:prstGeom prst="straightConnector1">
              <a:avLst/>
            </a:prstGeom>
            <a:noFill/>
            <a:ln w="38100" cap="flat" cmpd="sng">
              <a:solidFill>
                <a:schemeClr val="dk1"/>
              </a:solidFill>
              <a:prstDash val="solid"/>
              <a:miter lim="800000"/>
              <a:headEnd type="none" w="med" len="med"/>
              <a:tailEnd type="none" w="med" len="med"/>
            </a:ln>
          </p:spPr>
        </p:cxnSp>
        <p:sp>
          <p:nvSpPr>
            <p:cNvPr id="907" name="Google Shape;907;p60"/>
            <p:cNvSpPr txBox="1"/>
            <p:nvPr/>
          </p:nvSpPr>
          <p:spPr>
            <a:xfrm>
              <a:off x="1353681" y="3587064"/>
              <a:ext cx="12105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  11.21</a:t>
              </a:r>
              <a:endParaRPr dirty="0"/>
            </a:p>
          </p:txBody>
        </p:sp>
        <p:sp>
          <p:nvSpPr>
            <p:cNvPr id="908" name="Google Shape;908;p60"/>
            <p:cNvSpPr txBox="1"/>
            <p:nvPr/>
          </p:nvSpPr>
          <p:spPr>
            <a:xfrm>
              <a:off x="2649081" y="3587064"/>
              <a:ext cx="12105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 1.1.22</a:t>
              </a:r>
              <a:endParaRPr dirty="0"/>
            </a:p>
          </p:txBody>
        </p:sp>
        <p:sp>
          <p:nvSpPr>
            <p:cNvPr id="909" name="Google Shape;909;p60"/>
            <p:cNvSpPr txBox="1"/>
            <p:nvPr/>
          </p:nvSpPr>
          <p:spPr>
            <a:xfrm>
              <a:off x="4018711" y="3587064"/>
              <a:ext cx="1125629"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1.1.23</a:t>
              </a:r>
              <a:endParaRPr dirty="0"/>
            </a:p>
          </p:txBody>
        </p:sp>
        <p:sp>
          <p:nvSpPr>
            <p:cNvPr id="910" name="Google Shape;910;p60"/>
            <p:cNvSpPr txBox="1"/>
            <p:nvPr/>
          </p:nvSpPr>
          <p:spPr>
            <a:xfrm>
              <a:off x="5239881" y="3587064"/>
              <a:ext cx="12105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 1.1.24</a:t>
              </a:r>
              <a:endParaRPr dirty="0"/>
            </a:p>
          </p:txBody>
        </p:sp>
        <p:sp>
          <p:nvSpPr>
            <p:cNvPr id="911" name="Google Shape;911;p60"/>
            <p:cNvSpPr txBox="1"/>
            <p:nvPr/>
          </p:nvSpPr>
          <p:spPr>
            <a:xfrm>
              <a:off x="1707784" y="463477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300</a:t>
              </a:r>
              <a:endParaRPr dirty="0"/>
            </a:p>
          </p:txBody>
        </p:sp>
        <p:sp>
          <p:nvSpPr>
            <p:cNvPr id="912" name="Google Shape;912;p60"/>
            <p:cNvSpPr txBox="1"/>
            <p:nvPr/>
          </p:nvSpPr>
          <p:spPr>
            <a:xfrm>
              <a:off x="5595572" y="460143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300</a:t>
              </a:r>
              <a:endParaRPr/>
            </a:p>
          </p:txBody>
        </p:sp>
        <p:sp>
          <p:nvSpPr>
            <p:cNvPr id="913" name="Google Shape;913;p60"/>
            <p:cNvSpPr txBox="1"/>
            <p:nvPr/>
          </p:nvSpPr>
          <p:spPr>
            <a:xfrm>
              <a:off x="4300172" y="460143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300</a:t>
              </a:r>
              <a:endParaRPr/>
            </a:p>
          </p:txBody>
        </p:sp>
        <p:sp>
          <p:nvSpPr>
            <p:cNvPr id="914" name="Google Shape;914;p60"/>
            <p:cNvSpPr txBox="1"/>
            <p:nvPr/>
          </p:nvSpPr>
          <p:spPr>
            <a:xfrm>
              <a:off x="3004772" y="460143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300</a:t>
              </a:r>
              <a:endParaRPr/>
            </a:p>
          </p:txBody>
        </p:sp>
        <p:sp>
          <p:nvSpPr>
            <p:cNvPr id="915" name="Google Shape;915;p60"/>
            <p:cNvSpPr txBox="1"/>
            <p:nvPr/>
          </p:nvSpPr>
          <p:spPr>
            <a:xfrm>
              <a:off x="134481" y="3587064"/>
              <a:ext cx="12105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 1.1.20</a:t>
              </a:r>
              <a:endParaRPr dirty="0"/>
            </a:p>
          </p:txBody>
        </p:sp>
        <p:cxnSp>
          <p:nvCxnSpPr>
            <p:cNvPr id="916" name="Google Shape;916;p60"/>
            <p:cNvCxnSpPr/>
            <p:nvPr/>
          </p:nvCxnSpPr>
          <p:spPr>
            <a:xfrm>
              <a:off x="7239000" y="4077601"/>
              <a:ext cx="0" cy="618564"/>
            </a:xfrm>
            <a:prstGeom prst="straightConnector1">
              <a:avLst/>
            </a:prstGeom>
            <a:noFill/>
            <a:ln w="38100" cap="flat" cmpd="sng">
              <a:solidFill>
                <a:schemeClr val="dk1"/>
              </a:solidFill>
              <a:prstDash val="solid"/>
              <a:miter lim="800000"/>
              <a:headEnd type="none" w="med" len="med"/>
              <a:tailEnd type="none" w="med" len="med"/>
            </a:ln>
          </p:spPr>
        </p:cxnSp>
        <p:sp>
          <p:nvSpPr>
            <p:cNvPr id="917" name="Google Shape;917;p60"/>
            <p:cNvSpPr txBox="1"/>
            <p:nvPr/>
          </p:nvSpPr>
          <p:spPr>
            <a:xfrm>
              <a:off x="6535281" y="3620401"/>
              <a:ext cx="12105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 1.1.25</a:t>
              </a:r>
              <a:endParaRPr dirty="0"/>
            </a:p>
          </p:txBody>
        </p:sp>
        <p:sp>
          <p:nvSpPr>
            <p:cNvPr id="918" name="Google Shape;918;p60"/>
            <p:cNvSpPr txBox="1"/>
            <p:nvPr/>
          </p:nvSpPr>
          <p:spPr>
            <a:xfrm>
              <a:off x="6890972" y="463477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300</a:t>
              </a:r>
              <a:endParaRPr/>
            </a:p>
          </p:txBody>
        </p:sp>
        <p:sp>
          <p:nvSpPr>
            <p:cNvPr id="919" name="Google Shape;919;p60"/>
            <p:cNvSpPr txBox="1"/>
            <p:nvPr/>
          </p:nvSpPr>
          <p:spPr>
            <a:xfrm>
              <a:off x="1060937" y="3844779"/>
              <a:ext cx="84893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8%</a:t>
              </a:r>
              <a:endParaRPr dirty="0"/>
            </a:p>
          </p:txBody>
        </p:sp>
        <p:cxnSp>
          <p:nvCxnSpPr>
            <p:cNvPr id="920" name="Google Shape;920;p60"/>
            <p:cNvCxnSpPr/>
            <p:nvPr/>
          </p:nvCxnSpPr>
          <p:spPr>
            <a:xfrm rot="10800000" flipH="1">
              <a:off x="775297" y="5046731"/>
              <a:ext cx="6567488" cy="1"/>
            </a:xfrm>
            <a:prstGeom prst="straightConnector1">
              <a:avLst/>
            </a:prstGeom>
            <a:noFill/>
            <a:ln w="38100" cap="flat" cmpd="sng">
              <a:solidFill>
                <a:schemeClr val="dk1"/>
              </a:solidFill>
              <a:prstDash val="solid"/>
              <a:miter lim="800000"/>
              <a:headEnd type="none" w="med" len="med"/>
              <a:tailEnd type="stealth" w="med" len="med"/>
            </a:ln>
          </p:spPr>
        </p:cxnSp>
        <p:cxnSp>
          <p:nvCxnSpPr>
            <p:cNvPr id="921" name="Google Shape;921;p60"/>
            <p:cNvCxnSpPr/>
            <p:nvPr/>
          </p:nvCxnSpPr>
          <p:spPr>
            <a:xfrm>
              <a:off x="2061414" y="4783523"/>
              <a:ext cx="0" cy="270901"/>
            </a:xfrm>
            <a:prstGeom prst="straightConnector1">
              <a:avLst/>
            </a:prstGeom>
            <a:noFill/>
            <a:ln w="38100" cap="flat" cmpd="sng">
              <a:solidFill>
                <a:schemeClr val="dk1"/>
              </a:solidFill>
              <a:prstDash val="solid"/>
              <a:miter lim="800000"/>
              <a:headEnd type="none" w="med" len="med"/>
              <a:tailEnd type="none" w="med" len="med"/>
            </a:ln>
          </p:spPr>
        </p:cxnSp>
        <p:cxnSp>
          <p:nvCxnSpPr>
            <p:cNvPr id="922" name="Google Shape;922;p60"/>
            <p:cNvCxnSpPr/>
            <p:nvPr/>
          </p:nvCxnSpPr>
          <p:spPr>
            <a:xfrm>
              <a:off x="3341435" y="4773445"/>
              <a:ext cx="0" cy="270902"/>
            </a:xfrm>
            <a:prstGeom prst="straightConnector1">
              <a:avLst/>
            </a:prstGeom>
            <a:noFill/>
            <a:ln w="38100" cap="flat" cmpd="sng">
              <a:solidFill>
                <a:schemeClr val="dk1"/>
              </a:solidFill>
              <a:prstDash val="solid"/>
              <a:miter lim="800000"/>
              <a:headEnd type="none" w="med" len="med"/>
              <a:tailEnd type="none" w="med" len="med"/>
            </a:ln>
          </p:spPr>
        </p:cxnSp>
        <p:cxnSp>
          <p:nvCxnSpPr>
            <p:cNvPr id="923" name="Google Shape;923;p60"/>
            <p:cNvCxnSpPr/>
            <p:nvPr/>
          </p:nvCxnSpPr>
          <p:spPr>
            <a:xfrm>
              <a:off x="4636835" y="4775829"/>
              <a:ext cx="0" cy="270902"/>
            </a:xfrm>
            <a:prstGeom prst="straightConnector1">
              <a:avLst/>
            </a:prstGeom>
            <a:noFill/>
            <a:ln w="38100" cap="flat" cmpd="sng">
              <a:solidFill>
                <a:schemeClr val="dk1"/>
              </a:solidFill>
              <a:prstDash val="solid"/>
              <a:miter lim="800000"/>
              <a:headEnd type="none" w="med" len="med"/>
              <a:tailEnd type="none" w="med" len="med"/>
            </a:ln>
          </p:spPr>
        </p:cxnSp>
        <p:cxnSp>
          <p:nvCxnSpPr>
            <p:cNvPr id="924" name="Google Shape;924;p60"/>
            <p:cNvCxnSpPr/>
            <p:nvPr/>
          </p:nvCxnSpPr>
          <p:spPr>
            <a:xfrm>
              <a:off x="5943600" y="4787731"/>
              <a:ext cx="0" cy="270902"/>
            </a:xfrm>
            <a:prstGeom prst="straightConnector1">
              <a:avLst/>
            </a:prstGeom>
            <a:noFill/>
            <a:ln w="38100" cap="flat" cmpd="sng">
              <a:solidFill>
                <a:schemeClr val="dk1"/>
              </a:solidFill>
              <a:prstDash val="solid"/>
              <a:miter lim="800000"/>
              <a:headEnd type="none" w="med" len="med"/>
              <a:tailEnd type="none" w="med" len="med"/>
            </a:ln>
          </p:spPr>
        </p:cxnSp>
        <p:cxnSp>
          <p:nvCxnSpPr>
            <p:cNvPr id="925" name="Google Shape;925;p60"/>
            <p:cNvCxnSpPr/>
            <p:nvPr/>
          </p:nvCxnSpPr>
          <p:spPr>
            <a:xfrm>
              <a:off x="7239000" y="4745298"/>
              <a:ext cx="0" cy="270901"/>
            </a:xfrm>
            <a:prstGeom prst="straightConnector1">
              <a:avLst/>
            </a:prstGeom>
            <a:noFill/>
            <a:ln w="38100" cap="flat" cmpd="sng">
              <a:solidFill>
                <a:schemeClr val="dk1"/>
              </a:solidFill>
              <a:prstDash val="solid"/>
              <a:miter lim="800000"/>
              <a:headEnd type="none" w="med" len="med"/>
              <a:tailEnd type="none" w="med" len="med"/>
            </a:ln>
          </p:spPr>
        </p:cxnSp>
        <p:sp>
          <p:nvSpPr>
            <p:cNvPr id="926" name="Google Shape;926;p60"/>
            <p:cNvSpPr txBox="1"/>
            <p:nvPr/>
          </p:nvSpPr>
          <p:spPr>
            <a:xfrm>
              <a:off x="7694721" y="5100935"/>
              <a:ext cx="1144479" cy="461665"/>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FVA=?</a:t>
              </a:r>
              <a:endParaRPr/>
            </a:p>
          </p:txBody>
        </p:sp>
      </p:grpSp>
      <p:sp>
        <p:nvSpPr>
          <p:cNvPr id="927" name="Google Shape;927;p6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48</a:t>
            </a:fld>
            <a:endParaRPr sz="1200">
              <a:solidFill>
                <a:srgbClr val="1D4577"/>
              </a:solidFill>
              <a:latin typeface="Times New Roman"/>
              <a:ea typeface="Times New Roman"/>
              <a:cs typeface="Times New Roman"/>
              <a:sym typeface="Times New Roman"/>
            </a:endParaRPr>
          </a:p>
        </p:txBody>
      </p:sp>
      <p:sp>
        <p:nvSpPr>
          <p:cNvPr id="928" name="Google Shape;928;p60"/>
          <p:cNvSpPr txBox="1"/>
          <p:nvPr/>
        </p:nvSpPr>
        <p:spPr>
          <a:xfrm>
            <a:off x="298450" y="290181"/>
            <a:ext cx="1911350"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Contoh </a:t>
            </a:r>
            <a:endParaRPr/>
          </a:p>
        </p:txBody>
      </p:sp>
    </p:spTree>
  </p:cSld>
  <p:clrMapOvr>
    <a:masterClrMapping/>
  </p:clrMapOvr>
  <p:transition>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6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pic>
        <p:nvPicPr>
          <p:cNvPr id="934" name="Google Shape;934;p61"/>
          <p:cNvPicPr preferRelativeResize="0"/>
          <p:nvPr/>
        </p:nvPicPr>
        <p:blipFill rotWithShape="1">
          <a:blip r:embed="rId3">
            <a:alphaModFix/>
          </a:blip>
          <a:srcRect/>
          <a:stretch/>
        </p:blipFill>
        <p:spPr>
          <a:xfrm>
            <a:off x="1172831" y="1966912"/>
            <a:ext cx="4188571" cy="547688"/>
          </a:xfrm>
          <a:prstGeom prst="rect">
            <a:avLst/>
          </a:prstGeom>
          <a:noFill/>
          <a:ln>
            <a:noFill/>
          </a:ln>
        </p:spPr>
      </p:pic>
      <p:pic>
        <p:nvPicPr>
          <p:cNvPr id="935" name="Google Shape;935;p61"/>
          <p:cNvPicPr preferRelativeResize="0"/>
          <p:nvPr/>
        </p:nvPicPr>
        <p:blipFill rotWithShape="1">
          <a:blip r:embed="rId4">
            <a:alphaModFix/>
          </a:blip>
          <a:srcRect/>
          <a:stretch/>
        </p:blipFill>
        <p:spPr>
          <a:xfrm>
            <a:off x="1143000" y="2576512"/>
            <a:ext cx="4114800" cy="547688"/>
          </a:xfrm>
          <a:prstGeom prst="rect">
            <a:avLst/>
          </a:prstGeom>
          <a:noFill/>
          <a:ln>
            <a:noFill/>
          </a:ln>
        </p:spPr>
      </p:pic>
      <p:pic>
        <p:nvPicPr>
          <p:cNvPr id="936" name="Google Shape;936;p61"/>
          <p:cNvPicPr preferRelativeResize="0"/>
          <p:nvPr/>
        </p:nvPicPr>
        <p:blipFill rotWithShape="1">
          <a:blip r:embed="rId5">
            <a:alphaModFix/>
          </a:blip>
          <a:srcRect/>
          <a:stretch/>
        </p:blipFill>
        <p:spPr>
          <a:xfrm>
            <a:off x="1179181" y="3200400"/>
            <a:ext cx="3564248" cy="457200"/>
          </a:xfrm>
          <a:prstGeom prst="rect">
            <a:avLst/>
          </a:prstGeom>
          <a:noFill/>
          <a:ln>
            <a:noFill/>
          </a:ln>
        </p:spPr>
      </p:pic>
      <p:pic>
        <p:nvPicPr>
          <p:cNvPr id="937" name="Google Shape;937;p61"/>
          <p:cNvPicPr preferRelativeResize="0"/>
          <p:nvPr/>
        </p:nvPicPr>
        <p:blipFill rotWithShape="1">
          <a:blip r:embed="rId6">
            <a:alphaModFix/>
          </a:blip>
          <a:srcRect/>
          <a:stretch/>
        </p:blipFill>
        <p:spPr>
          <a:xfrm>
            <a:off x="1179181" y="3810000"/>
            <a:ext cx="3564248" cy="457200"/>
          </a:xfrm>
          <a:prstGeom prst="rect">
            <a:avLst/>
          </a:prstGeom>
          <a:noFill/>
          <a:ln>
            <a:noFill/>
          </a:ln>
        </p:spPr>
      </p:pic>
      <p:sp>
        <p:nvSpPr>
          <p:cNvPr id="938" name="Google Shape;938;p61"/>
          <p:cNvSpPr txBox="1"/>
          <p:nvPr/>
        </p:nvSpPr>
        <p:spPr>
          <a:xfrm>
            <a:off x="914400" y="1224409"/>
            <a:ext cx="508184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Di mana :  PMT=300,  i=8%,    n=5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38"/>
                                        </p:tgtEl>
                                        <p:attrNameLst>
                                          <p:attrName>style.visibility</p:attrName>
                                        </p:attrNameLst>
                                      </p:cBhvr>
                                      <p:to>
                                        <p:strVal val="visible"/>
                                      </p:to>
                                    </p:set>
                                    <p:anim calcmode="lin" valueType="num">
                                      <p:cBhvr additive="base">
                                        <p:cTn id="7" dur="500"/>
                                        <p:tgtEl>
                                          <p:spTgt spid="93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p62"/>
          <p:cNvSpPr txBox="1"/>
          <p:nvPr/>
        </p:nvSpPr>
        <p:spPr>
          <a:xfrm>
            <a:off x="242888" y="573088"/>
            <a:ext cx="8658225" cy="156966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Salman menabung setiap hujung tahun sebanyak RM150 selama 6 tahun di dalam Bank A dengan kadar 7% setahun. Berapakah jumlah wang Salman jika beliau ingin mengeluarkannya pada akhir tahun ke 9?   </a:t>
            </a:r>
            <a:endParaRPr/>
          </a:p>
        </p:txBody>
      </p:sp>
      <p:grpSp>
        <p:nvGrpSpPr>
          <p:cNvPr id="944" name="Google Shape;944;p62"/>
          <p:cNvGrpSpPr/>
          <p:nvPr/>
        </p:nvGrpSpPr>
        <p:grpSpPr>
          <a:xfrm>
            <a:off x="224749" y="2198592"/>
            <a:ext cx="8839200" cy="2133600"/>
            <a:chOff x="224749" y="2198592"/>
            <a:chExt cx="8839200" cy="2133600"/>
          </a:xfrm>
        </p:grpSpPr>
        <p:cxnSp>
          <p:nvCxnSpPr>
            <p:cNvPr id="945" name="Google Shape;945;p62"/>
            <p:cNvCxnSpPr/>
            <p:nvPr/>
          </p:nvCxnSpPr>
          <p:spPr>
            <a:xfrm>
              <a:off x="393024" y="2808192"/>
              <a:ext cx="6842125" cy="0"/>
            </a:xfrm>
            <a:prstGeom prst="straightConnector1">
              <a:avLst/>
            </a:prstGeom>
            <a:noFill/>
            <a:ln w="9525" cap="flat" cmpd="sng">
              <a:solidFill>
                <a:schemeClr val="dk1"/>
              </a:solidFill>
              <a:prstDash val="solid"/>
              <a:miter lim="800000"/>
              <a:headEnd type="none" w="med" len="med"/>
              <a:tailEnd type="none" w="med" len="med"/>
            </a:ln>
          </p:spPr>
        </p:cxnSp>
        <p:cxnSp>
          <p:nvCxnSpPr>
            <p:cNvPr id="946" name="Google Shape;946;p62"/>
            <p:cNvCxnSpPr/>
            <p:nvPr/>
          </p:nvCxnSpPr>
          <p:spPr>
            <a:xfrm>
              <a:off x="393024" y="2579592"/>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947" name="Google Shape;947;p62"/>
            <p:cNvCxnSpPr/>
            <p:nvPr/>
          </p:nvCxnSpPr>
          <p:spPr>
            <a:xfrm>
              <a:off x="1139149" y="2579592"/>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948" name="Google Shape;948;p62"/>
            <p:cNvCxnSpPr/>
            <p:nvPr/>
          </p:nvCxnSpPr>
          <p:spPr>
            <a:xfrm>
              <a:off x="2053549" y="2579592"/>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949" name="Google Shape;949;p62"/>
            <p:cNvCxnSpPr/>
            <p:nvPr/>
          </p:nvCxnSpPr>
          <p:spPr>
            <a:xfrm>
              <a:off x="2815549" y="2579592"/>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950" name="Google Shape;950;p62"/>
            <p:cNvCxnSpPr/>
            <p:nvPr/>
          </p:nvCxnSpPr>
          <p:spPr>
            <a:xfrm>
              <a:off x="3577549" y="2579592"/>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951" name="Google Shape;951;p62"/>
            <p:cNvCxnSpPr/>
            <p:nvPr/>
          </p:nvCxnSpPr>
          <p:spPr>
            <a:xfrm>
              <a:off x="4339549" y="2579592"/>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952" name="Google Shape;952;p62"/>
            <p:cNvCxnSpPr/>
            <p:nvPr/>
          </p:nvCxnSpPr>
          <p:spPr>
            <a:xfrm>
              <a:off x="5177749" y="2579592"/>
              <a:ext cx="0" cy="457200"/>
            </a:xfrm>
            <a:prstGeom prst="straightConnector1">
              <a:avLst/>
            </a:prstGeom>
            <a:noFill/>
            <a:ln w="9525" cap="flat" cmpd="sng">
              <a:solidFill>
                <a:schemeClr val="dk1"/>
              </a:solidFill>
              <a:prstDash val="solid"/>
              <a:miter lim="800000"/>
              <a:headEnd type="none" w="med" len="med"/>
              <a:tailEnd type="none" w="med" len="med"/>
            </a:ln>
          </p:spPr>
        </p:cxnSp>
        <p:sp>
          <p:nvSpPr>
            <p:cNvPr id="953" name="Google Shape;953;p62"/>
            <p:cNvSpPr txBox="1"/>
            <p:nvPr/>
          </p:nvSpPr>
          <p:spPr>
            <a:xfrm>
              <a:off x="22474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0</a:t>
              </a:r>
              <a:endParaRPr/>
            </a:p>
          </p:txBody>
        </p:sp>
        <p:sp>
          <p:nvSpPr>
            <p:cNvPr id="954" name="Google Shape;954;p62"/>
            <p:cNvSpPr txBox="1"/>
            <p:nvPr/>
          </p:nvSpPr>
          <p:spPr>
            <a:xfrm>
              <a:off x="98674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1</a:t>
              </a:r>
              <a:endParaRPr/>
            </a:p>
          </p:txBody>
        </p:sp>
        <p:sp>
          <p:nvSpPr>
            <p:cNvPr id="955" name="Google Shape;955;p62"/>
            <p:cNvSpPr txBox="1"/>
            <p:nvPr/>
          </p:nvSpPr>
          <p:spPr>
            <a:xfrm>
              <a:off x="190114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2</a:t>
              </a:r>
              <a:endParaRPr/>
            </a:p>
          </p:txBody>
        </p:sp>
        <p:sp>
          <p:nvSpPr>
            <p:cNvPr id="956" name="Google Shape;956;p62"/>
            <p:cNvSpPr txBox="1"/>
            <p:nvPr/>
          </p:nvSpPr>
          <p:spPr>
            <a:xfrm>
              <a:off x="266314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3</a:t>
              </a:r>
              <a:endParaRPr/>
            </a:p>
          </p:txBody>
        </p:sp>
        <p:sp>
          <p:nvSpPr>
            <p:cNvPr id="957" name="Google Shape;957;p62"/>
            <p:cNvSpPr txBox="1"/>
            <p:nvPr/>
          </p:nvSpPr>
          <p:spPr>
            <a:xfrm>
              <a:off x="339339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4</a:t>
              </a:r>
              <a:endParaRPr/>
            </a:p>
          </p:txBody>
        </p:sp>
        <p:sp>
          <p:nvSpPr>
            <p:cNvPr id="958" name="Google Shape;958;p62"/>
            <p:cNvSpPr txBox="1"/>
            <p:nvPr/>
          </p:nvSpPr>
          <p:spPr>
            <a:xfrm>
              <a:off x="415539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5</a:t>
              </a:r>
              <a:endParaRPr/>
            </a:p>
          </p:txBody>
        </p:sp>
        <p:sp>
          <p:nvSpPr>
            <p:cNvPr id="959" name="Google Shape;959;p62"/>
            <p:cNvSpPr txBox="1"/>
            <p:nvPr/>
          </p:nvSpPr>
          <p:spPr>
            <a:xfrm>
              <a:off x="499359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6</a:t>
              </a:r>
              <a:endParaRPr/>
            </a:p>
          </p:txBody>
        </p:sp>
        <p:sp>
          <p:nvSpPr>
            <p:cNvPr id="960" name="Google Shape;960;p62"/>
            <p:cNvSpPr txBox="1"/>
            <p:nvPr/>
          </p:nvSpPr>
          <p:spPr>
            <a:xfrm>
              <a:off x="512699" y="2362200"/>
              <a:ext cx="63030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7%</a:t>
              </a:r>
              <a:endParaRPr/>
            </a:p>
          </p:txBody>
        </p:sp>
        <p:sp>
          <p:nvSpPr>
            <p:cNvPr id="961" name="Google Shape;961;p62"/>
            <p:cNvSpPr txBox="1"/>
            <p:nvPr/>
          </p:nvSpPr>
          <p:spPr>
            <a:xfrm>
              <a:off x="802599" y="2960592"/>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150</a:t>
              </a:r>
              <a:endParaRPr/>
            </a:p>
          </p:txBody>
        </p:sp>
        <p:sp>
          <p:nvSpPr>
            <p:cNvPr id="962" name="Google Shape;962;p62"/>
            <p:cNvSpPr txBox="1"/>
            <p:nvPr/>
          </p:nvSpPr>
          <p:spPr>
            <a:xfrm>
              <a:off x="1672549" y="2960592"/>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150</a:t>
              </a:r>
              <a:endParaRPr/>
            </a:p>
          </p:txBody>
        </p:sp>
        <p:sp>
          <p:nvSpPr>
            <p:cNvPr id="963" name="Google Shape;963;p62"/>
            <p:cNvSpPr txBox="1"/>
            <p:nvPr/>
          </p:nvSpPr>
          <p:spPr>
            <a:xfrm>
              <a:off x="2510749" y="2960592"/>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150</a:t>
              </a:r>
              <a:endParaRPr/>
            </a:p>
          </p:txBody>
        </p:sp>
        <p:sp>
          <p:nvSpPr>
            <p:cNvPr id="964" name="Google Shape;964;p62"/>
            <p:cNvSpPr txBox="1"/>
            <p:nvPr/>
          </p:nvSpPr>
          <p:spPr>
            <a:xfrm>
              <a:off x="3196549" y="2960592"/>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150</a:t>
              </a:r>
              <a:endParaRPr/>
            </a:p>
          </p:txBody>
        </p:sp>
        <p:sp>
          <p:nvSpPr>
            <p:cNvPr id="965" name="Google Shape;965;p62"/>
            <p:cNvSpPr txBox="1"/>
            <p:nvPr/>
          </p:nvSpPr>
          <p:spPr>
            <a:xfrm>
              <a:off x="4034749" y="2960592"/>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150</a:t>
              </a:r>
              <a:endParaRPr/>
            </a:p>
          </p:txBody>
        </p:sp>
        <p:sp>
          <p:nvSpPr>
            <p:cNvPr id="966" name="Google Shape;966;p62"/>
            <p:cNvSpPr txBox="1"/>
            <p:nvPr/>
          </p:nvSpPr>
          <p:spPr>
            <a:xfrm>
              <a:off x="4872949" y="2960592"/>
              <a:ext cx="69923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150</a:t>
              </a:r>
              <a:endParaRPr/>
            </a:p>
          </p:txBody>
        </p:sp>
        <p:cxnSp>
          <p:nvCxnSpPr>
            <p:cNvPr id="967" name="Google Shape;967;p62"/>
            <p:cNvCxnSpPr/>
            <p:nvPr/>
          </p:nvCxnSpPr>
          <p:spPr>
            <a:xfrm>
              <a:off x="393024" y="3798792"/>
              <a:ext cx="4860925" cy="0"/>
            </a:xfrm>
            <a:prstGeom prst="straightConnector1">
              <a:avLst/>
            </a:prstGeom>
            <a:noFill/>
            <a:ln w="9525" cap="flat" cmpd="sng">
              <a:solidFill>
                <a:schemeClr val="dk1"/>
              </a:solidFill>
              <a:prstDash val="solid"/>
              <a:miter lim="800000"/>
              <a:headEnd type="none" w="med" len="med"/>
              <a:tailEnd type="triangle" w="med" len="med"/>
            </a:ln>
          </p:spPr>
        </p:cxnSp>
        <p:cxnSp>
          <p:nvCxnSpPr>
            <p:cNvPr id="968" name="Google Shape;968;p62"/>
            <p:cNvCxnSpPr/>
            <p:nvPr/>
          </p:nvCxnSpPr>
          <p:spPr>
            <a:xfrm>
              <a:off x="1139149" y="3417792"/>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969" name="Google Shape;969;p62"/>
            <p:cNvCxnSpPr/>
            <p:nvPr/>
          </p:nvCxnSpPr>
          <p:spPr>
            <a:xfrm>
              <a:off x="2053549" y="3417792"/>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970" name="Google Shape;970;p62"/>
            <p:cNvCxnSpPr/>
            <p:nvPr/>
          </p:nvCxnSpPr>
          <p:spPr>
            <a:xfrm>
              <a:off x="2815549" y="3417792"/>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971" name="Google Shape;971;p62"/>
            <p:cNvCxnSpPr/>
            <p:nvPr/>
          </p:nvCxnSpPr>
          <p:spPr>
            <a:xfrm>
              <a:off x="3577549" y="3417792"/>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972" name="Google Shape;972;p62"/>
            <p:cNvCxnSpPr/>
            <p:nvPr/>
          </p:nvCxnSpPr>
          <p:spPr>
            <a:xfrm>
              <a:off x="4339549" y="3417792"/>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973" name="Google Shape;973;p62"/>
            <p:cNvCxnSpPr/>
            <p:nvPr/>
          </p:nvCxnSpPr>
          <p:spPr>
            <a:xfrm>
              <a:off x="5177749" y="3417792"/>
              <a:ext cx="0" cy="381000"/>
            </a:xfrm>
            <a:prstGeom prst="straightConnector1">
              <a:avLst/>
            </a:prstGeom>
            <a:noFill/>
            <a:ln w="9525" cap="flat" cmpd="sng">
              <a:solidFill>
                <a:schemeClr val="dk1"/>
              </a:solidFill>
              <a:prstDash val="solid"/>
              <a:miter lim="800000"/>
              <a:headEnd type="none" w="med" len="med"/>
              <a:tailEnd type="none" w="med" len="med"/>
            </a:ln>
          </p:spPr>
        </p:cxnSp>
        <p:sp>
          <p:nvSpPr>
            <p:cNvPr id="974" name="Google Shape;974;p62"/>
            <p:cNvSpPr txBox="1"/>
            <p:nvPr/>
          </p:nvSpPr>
          <p:spPr>
            <a:xfrm>
              <a:off x="5177749" y="3493992"/>
              <a:ext cx="1752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FVA=1,073</a:t>
              </a:r>
              <a:endParaRPr/>
            </a:p>
          </p:txBody>
        </p:sp>
        <p:sp>
          <p:nvSpPr>
            <p:cNvPr id="975" name="Google Shape;975;p62"/>
            <p:cNvSpPr txBox="1"/>
            <p:nvPr/>
          </p:nvSpPr>
          <p:spPr>
            <a:xfrm>
              <a:off x="567939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7</a:t>
              </a:r>
              <a:endParaRPr/>
            </a:p>
          </p:txBody>
        </p:sp>
        <p:sp>
          <p:nvSpPr>
            <p:cNvPr id="976" name="Google Shape;976;p62"/>
            <p:cNvSpPr txBox="1"/>
            <p:nvPr/>
          </p:nvSpPr>
          <p:spPr>
            <a:xfrm>
              <a:off x="636519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8</a:t>
              </a:r>
              <a:endParaRPr/>
            </a:p>
          </p:txBody>
        </p:sp>
        <p:sp>
          <p:nvSpPr>
            <p:cNvPr id="977" name="Google Shape;977;p62"/>
            <p:cNvSpPr txBox="1"/>
            <p:nvPr/>
          </p:nvSpPr>
          <p:spPr>
            <a:xfrm>
              <a:off x="7050999" y="2198592"/>
              <a:ext cx="3561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9</a:t>
              </a:r>
              <a:endParaRPr/>
            </a:p>
          </p:txBody>
        </p:sp>
        <p:cxnSp>
          <p:nvCxnSpPr>
            <p:cNvPr id="978" name="Google Shape;978;p62"/>
            <p:cNvCxnSpPr/>
            <p:nvPr/>
          </p:nvCxnSpPr>
          <p:spPr>
            <a:xfrm>
              <a:off x="5863549" y="2579592"/>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979" name="Google Shape;979;p62"/>
            <p:cNvCxnSpPr/>
            <p:nvPr/>
          </p:nvCxnSpPr>
          <p:spPr>
            <a:xfrm>
              <a:off x="6549349" y="2579592"/>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980" name="Google Shape;980;p62"/>
            <p:cNvCxnSpPr/>
            <p:nvPr/>
          </p:nvCxnSpPr>
          <p:spPr>
            <a:xfrm>
              <a:off x="7235149" y="2579592"/>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981" name="Google Shape;981;p62"/>
            <p:cNvCxnSpPr/>
            <p:nvPr/>
          </p:nvCxnSpPr>
          <p:spPr>
            <a:xfrm>
              <a:off x="5177749" y="3722592"/>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982" name="Google Shape;982;p62"/>
            <p:cNvCxnSpPr/>
            <p:nvPr/>
          </p:nvCxnSpPr>
          <p:spPr>
            <a:xfrm>
              <a:off x="5177749" y="4103592"/>
              <a:ext cx="2057400" cy="0"/>
            </a:xfrm>
            <a:prstGeom prst="straightConnector1">
              <a:avLst/>
            </a:prstGeom>
            <a:noFill/>
            <a:ln w="9525" cap="flat" cmpd="sng">
              <a:solidFill>
                <a:schemeClr val="dk1"/>
              </a:solidFill>
              <a:prstDash val="solid"/>
              <a:miter lim="800000"/>
              <a:headEnd type="none" w="med" len="med"/>
              <a:tailEnd type="triangle" w="med" len="med"/>
            </a:ln>
          </p:spPr>
        </p:cxnSp>
        <p:sp>
          <p:nvSpPr>
            <p:cNvPr id="983" name="Google Shape;983;p62"/>
            <p:cNvSpPr txBox="1"/>
            <p:nvPr/>
          </p:nvSpPr>
          <p:spPr>
            <a:xfrm>
              <a:off x="7144662" y="3874992"/>
              <a:ext cx="1919287"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FV=1314.43</a:t>
              </a:r>
              <a:endParaRPr/>
            </a:p>
          </p:txBody>
        </p:sp>
      </p:grpSp>
      <p:pic>
        <p:nvPicPr>
          <p:cNvPr id="984" name="Google Shape;984;p62"/>
          <p:cNvPicPr preferRelativeResize="0"/>
          <p:nvPr/>
        </p:nvPicPr>
        <p:blipFill rotWithShape="1">
          <a:blip r:embed="rId3">
            <a:alphaModFix/>
          </a:blip>
          <a:srcRect/>
          <a:stretch/>
        </p:blipFill>
        <p:spPr>
          <a:xfrm>
            <a:off x="453349" y="4517134"/>
            <a:ext cx="3581400" cy="544513"/>
          </a:xfrm>
          <a:prstGeom prst="rect">
            <a:avLst/>
          </a:prstGeom>
          <a:noFill/>
          <a:ln>
            <a:noFill/>
          </a:ln>
        </p:spPr>
      </p:pic>
      <p:pic>
        <p:nvPicPr>
          <p:cNvPr id="985" name="Google Shape;985;p62"/>
          <p:cNvPicPr preferRelativeResize="0"/>
          <p:nvPr/>
        </p:nvPicPr>
        <p:blipFill rotWithShape="1">
          <a:blip r:embed="rId4">
            <a:alphaModFix/>
          </a:blip>
          <a:srcRect/>
          <a:stretch/>
        </p:blipFill>
        <p:spPr>
          <a:xfrm>
            <a:off x="453349" y="4915597"/>
            <a:ext cx="2865438" cy="515937"/>
          </a:xfrm>
          <a:prstGeom prst="rect">
            <a:avLst/>
          </a:prstGeom>
          <a:noFill/>
          <a:ln>
            <a:noFill/>
          </a:ln>
        </p:spPr>
      </p:pic>
      <p:pic>
        <p:nvPicPr>
          <p:cNvPr id="986" name="Google Shape;986;p62"/>
          <p:cNvPicPr preferRelativeResize="0"/>
          <p:nvPr/>
        </p:nvPicPr>
        <p:blipFill rotWithShape="1">
          <a:blip r:embed="rId5">
            <a:alphaModFix/>
          </a:blip>
          <a:srcRect/>
          <a:stretch/>
        </p:blipFill>
        <p:spPr>
          <a:xfrm>
            <a:off x="453349" y="5355334"/>
            <a:ext cx="2463800" cy="515938"/>
          </a:xfrm>
          <a:prstGeom prst="rect">
            <a:avLst/>
          </a:prstGeom>
          <a:noFill/>
          <a:ln>
            <a:noFill/>
          </a:ln>
        </p:spPr>
      </p:pic>
      <p:pic>
        <p:nvPicPr>
          <p:cNvPr id="987" name="Google Shape;987;p62"/>
          <p:cNvPicPr preferRelativeResize="0"/>
          <p:nvPr/>
        </p:nvPicPr>
        <p:blipFill rotWithShape="1">
          <a:blip r:embed="rId6">
            <a:alphaModFix/>
          </a:blip>
          <a:srcRect/>
          <a:stretch/>
        </p:blipFill>
        <p:spPr>
          <a:xfrm>
            <a:off x="5205413" y="4761658"/>
            <a:ext cx="3122613" cy="544512"/>
          </a:xfrm>
          <a:prstGeom prst="rect">
            <a:avLst/>
          </a:prstGeom>
          <a:noFill/>
          <a:ln>
            <a:noFill/>
          </a:ln>
        </p:spPr>
      </p:pic>
      <p:pic>
        <p:nvPicPr>
          <p:cNvPr id="988" name="Google Shape;988;p62"/>
          <p:cNvPicPr preferRelativeResize="0"/>
          <p:nvPr/>
        </p:nvPicPr>
        <p:blipFill rotWithShape="1">
          <a:blip r:embed="rId7">
            <a:alphaModFix/>
          </a:blip>
          <a:srcRect/>
          <a:stretch/>
        </p:blipFill>
        <p:spPr>
          <a:xfrm>
            <a:off x="5205413" y="4327727"/>
            <a:ext cx="2921000" cy="544512"/>
          </a:xfrm>
          <a:prstGeom prst="rect">
            <a:avLst/>
          </a:prstGeom>
          <a:noFill/>
          <a:ln>
            <a:noFill/>
          </a:ln>
        </p:spPr>
      </p:pic>
      <p:pic>
        <p:nvPicPr>
          <p:cNvPr id="989" name="Google Shape;989;p62"/>
          <p:cNvPicPr preferRelativeResize="0"/>
          <p:nvPr/>
        </p:nvPicPr>
        <p:blipFill rotWithShape="1">
          <a:blip r:embed="rId8">
            <a:alphaModFix/>
          </a:blip>
          <a:srcRect/>
          <a:stretch/>
        </p:blipFill>
        <p:spPr>
          <a:xfrm>
            <a:off x="5205413" y="5246623"/>
            <a:ext cx="2836863" cy="515937"/>
          </a:xfrm>
          <a:prstGeom prst="rect">
            <a:avLst/>
          </a:prstGeom>
          <a:noFill/>
          <a:ln>
            <a:noFill/>
          </a:ln>
        </p:spPr>
      </p:pic>
      <p:pic>
        <p:nvPicPr>
          <p:cNvPr id="990" name="Google Shape;990;p62"/>
          <p:cNvPicPr preferRelativeResize="0"/>
          <p:nvPr/>
        </p:nvPicPr>
        <p:blipFill rotWithShape="1">
          <a:blip r:embed="rId9">
            <a:alphaModFix/>
          </a:blip>
          <a:srcRect/>
          <a:stretch/>
        </p:blipFill>
        <p:spPr>
          <a:xfrm>
            <a:off x="5205413" y="5735636"/>
            <a:ext cx="2693987" cy="515937"/>
          </a:xfrm>
          <a:prstGeom prst="rect">
            <a:avLst/>
          </a:prstGeom>
          <a:noFill/>
          <a:ln>
            <a:noFill/>
          </a:ln>
        </p:spPr>
      </p:pic>
      <p:sp>
        <p:nvSpPr>
          <p:cNvPr id="991" name="Google Shape;991;p62"/>
          <p:cNvSpPr txBox="1">
            <a:spLocks noGrp="1"/>
          </p:cNvSpPr>
          <p:nvPr>
            <p:ph type="sldNum" sz="quarter" idx="12"/>
          </p:nvPr>
        </p:nvSpPr>
        <p:spPr>
          <a:xfrm>
            <a:off x="678180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50</a:t>
            </a:fld>
            <a:endParaRPr sz="1200">
              <a:solidFill>
                <a:srgbClr val="1D4577"/>
              </a:solidFill>
              <a:latin typeface="Times New Roman"/>
              <a:ea typeface="Times New Roman"/>
              <a:cs typeface="Times New Roman"/>
              <a:sym typeface="Times New Roman"/>
            </a:endParaRPr>
          </a:p>
        </p:txBody>
      </p:sp>
      <p:sp>
        <p:nvSpPr>
          <p:cNvPr id="992" name="Google Shape;992;p62"/>
          <p:cNvSpPr txBox="1"/>
          <p:nvPr/>
        </p:nvSpPr>
        <p:spPr>
          <a:xfrm>
            <a:off x="217488" y="130175"/>
            <a:ext cx="134524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Contoh </a:t>
            </a:r>
            <a:endParaRPr/>
          </a:p>
        </p:txBody>
      </p:sp>
    </p:spTree>
  </p:cSld>
  <p:clrMapOvr>
    <a:masterClrMapping/>
  </p:clrMapOvr>
  <p:transition>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p63"/>
          <p:cNvSpPr/>
          <p:nvPr/>
        </p:nvSpPr>
        <p:spPr>
          <a:xfrm>
            <a:off x="685800" y="536291"/>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NILAI HADAPAN ANUITI MATANG</a:t>
            </a:r>
            <a:endParaRPr/>
          </a:p>
        </p:txBody>
      </p:sp>
      <p:sp>
        <p:nvSpPr>
          <p:cNvPr id="998" name="Google Shape;998;p63"/>
          <p:cNvSpPr txBox="1"/>
          <p:nvPr/>
        </p:nvSpPr>
        <p:spPr>
          <a:xfrm>
            <a:off x="1028700" y="2209800"/>
            <a:ext cx="7010400" cy="310854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a:solidFill>
                  <a:srgbClr val="FF0000"/>
                </a:solidFill>
                <a:latin typeface="Tahoma"/>
                <a:ea typeface="Tahoma"/>
                <a:cs typeface="Tahoma"/>
                <a:sym typeface="Tahoma"/>
              </a:rPr>
              <a:t>DEFINISI</a:t>
            </a:r>
            <a:r>
              <a:rPr lang="en-US" sz="2800" b="1">
                <a:solidFill>
                  <a:schemeClr val="folHlink"/>
                </a:solidFill>
                <a:latin typeface="Tahoma"/>
                <a:ea typeface="Tahoma"/>
                <a:cs typeface="Tahoma"/>
                <a:sym typeface="Tahoma"/>
              </a:rPr>
              <a:t> </a:t>
            </a:r>
            <a:r>
              <a:rPr lang="en-US" sz="2800" b="1">
                <a:solidFill>
                  <a:schemeClr val="dk1"/>
                </a:solidFill>
                <a:latin typeface="Tahoma"/>
                <a:ea typeface="Tahoma"/>
                <a:cs typeface="Tahoma"/>
                <a:sym typeface="Tahoma"/>
              </a:rPr>
              <a:t>- Nilai masa depan anuiti matang bermaksud jumlah yang terkumpul di satu masa depan hasil daripada siri pembayaran /penerimaan dalam jumlah yang sama yang dibuat pada </a:t>
            </a:r>
            <a:r>
              <a:rPr lang="en-US" sz="2800" b="1">
                <a:solidFill>
                  <a:srgbClr val="FF0000"/>
                </a:solidFill>
                <a:latin typeface="Tahoma"/>
                <a:ea typeface="Tahoma"/>
                <a:cs typeface="Tahoma"/>
                <a:sym typeface="Tahoma"/>
              </a:rPr>
              <a:t>awal</a:t>
            </a:r>
            <a:r>
              <a:rPr lang="en-US" sz="2800" b="1">
                <a:solidFill>
                  <a:schemeClr val="dk1"/>
                </a:solidFill>
                <a:latin typeface="Tahoma"/>
                <a:ea typeface="Tahoma"/>
                <a:cs typeface="Tahoma"/>
                <a:sym typeface="Tahoma"/>
              </a:rPr>
              <a:t> setiap tempoh.</a:t>
            </a:r>
            <a:r>
              <a:rPr lang="en-US" sz="2800">
                <a:solidFill>
                  <a:schemeClr val="dk1"/>
                </a:solidFill>
                <a:latin typeface="Times New Roman"/>
                <a:ea typeface="Times New Roman"/>
                <a:cs typeface="Times New Roman"/>
                <a:sym typeface="Times New Roman"/>
              </a:rPr>
              <a:t> </a:t>
            </a:r>
            <a:endParaRPr/>
          </a:p>
        </p:txBody>
      </p:sp>
      <p:sp>
        <p:nvSpPr>
          <p:cNvPr id="999" name="Google Shape;999;p6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51</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98"/>
                                        </p:tgtEl>
                                        <p:attrNameLst>
                                          <p:attrName>style.visibility</p:attrName>
                                        </p:attrNameLst>
                                      </p:cBhvr>
                                      <p:to>
                                        <p:strVal val="visible"/>
                                      </p:to>
                                    </p:set>
                                    <p:animEffect transition="in" filter="fade">
                                      <p:cBhvr>
                                        <p:cTn id="7" dur="500"/>
                                        <p:tgtEl>
                                          <p:spTgt spid="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64"/>
          <p:cNvSpPr txBox="1"/>
          <p:nvPr/>
        </p:nvSpPr>
        <p:spPr>
          <a:xfrm>
            <a:off x="361950" y="524471"/>
            <a:ext cx="82677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Contoh situasi melibatkan nilai hadapan anuiti matang </a:t>
            </a:r>
            <a:endParaRPr/>
          </a:p>
        </p:txBody>
      </p:sp>
      <p:sp>
        <p:nvSpPr>
          <p:cNvPr id="1005" name="Google Shape;1005;p64"/>
          <p:cNvSpPr txBox="1"/>
          <p:nvPr/>
        </p:nvSpPr>
        <p:spPr>
          <a:xfrm>
            <a:off x="288477" y="1417410"/>
            <a:ext cx="8391525"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Katakan Puan Aminah melabur sebanyak RM600 pada setiap awal tahun selama 7 tahun. Jika pihak bank membayar kadar keuntungan sebanyak 6% setahun berapakah yang terkumpul pada akhir tahun ke 7?</a:t>
            </a:r>
            <a:endParaRPr/>
          </a:p>
        </p:txBody>
      </p:sp>
      <p:grpSp>
        <p:nvGrpSpPr>
          <p:cNvPr id="1006" name="Google Shape;1006;p64"/>
          <p:cNvGrpSpPr/>
          <p:nvPr/>
        </p:nvGrpSpPr>
        <p:grpSpPr>
          <a:xfrm>
            <a:off x="420208" y="3429000"/>
            <a:ext cx="8037992" cy="2323802"/>
            <a:chOff x="243359" y="3852863"/>
            <a:chExt cx="8037992" cy="2323802"/>
          </a:xfrm>
        </p:grpSpPr>
        <p:cxnSp>
          <p:nvCxnSpPr>
            <p:cNvPr id="1007" name="Google Shape;1007;p64"/>
            <p:cNvCxnSpPr/>
            <p:nvPr/>
          </p:nvCxnSpPr>
          <p:spPr>
            <a:xfrm>
              <a:off x="609600" y="4691063"/>
              <a:ext cx="6172200" cy="0"/>
            </a:xfrm>
            <a:prstGeom prst="straightConnector1">
              <a:avLst/>
            </a:prstGeom>
            <a:noFill/>
            <a:ln w="38100" cap="flat" cmpd="sng">
              <a:solidFill>
                <a:schemeClr val="dk1"/>
              </a:solidFill>
              <a:prstDash val="solid"/>
              <a:miter lim="800000"/>
              <a:headEnd type="none" w="med" len="med"/>
              <a:tailEnd type="none" w="med" len="med"/>
            </a:ln>
          </p:spPr>
        </p:cxnSp>
        <p:cxnSp>
          <p:nvCxnSpPr>
            <p:cNvPr id="1008" name="Google Shape;1008;p64"/>
            <p:cNvCxnSpPr/>
            <p:nvPr/>
          </p:nvCxnSpPr>
          <p:spPr>
            <a:xfrm>
              <a:off x="609600" y="4310063"/>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1009" name="Google Shape;1009;p64"/>
            <p:cNvCxnSpPr/>
            <p:nvPr/>
          </p:nvCxnSpPr>
          <p:spPr>
            <a:xfrm>
              <a:off x="1371600" y="4310063"/>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1010" name="Google Shape;1010;p64"/>
            <p:cNvCxnSpPr/>
            <p:nvPr/>
          </p:nvCxnSpPr>
          <p:spPr>
            <a:xfrm>
              <a:off x="2133600" y="4310063"/>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1011" name="Google Shape;1011;p64"/>
            <p:cNvCxnSpPr/>
            <p:nvPr/>
          </p:nvCxnSpPr>
          <p:spPr>
            <a:xfrm>
              <a:off x="2971800" y="4310063"/>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1012" name="Google Shape;1012;p64"/>
            <p:cNvCxnSpPr/>
            <p:nvPr/>
          </p:nvCxnSpPr>
          <p:spPr>
            <a:xfrm>
              <a:off x="3810000" y="4310063"/>
              <a:ext cx="0" cy="762000"/>
            </a:xfrm>
            <a:prstGeom prst="straightConnector1">
              <a:avLst/>
            </a:prstGeom>
            <a:noFill/>
            <a:ln w="38100" cap="flat" cmpd="sng">
              <a:solidFill>
                <a:schemeClr val="dk1"/>
              </a:solidFill>
              <a:prstDash val="solid"/>
              <a:miter lim="800000"/>
              <a:headEnd type="none" w="med" len="med"/>
              <a:tailEnd type="none" w="med" len="med"/>
            </a:ln>
          </p:spPr>
        </p:cxnSp>
        <p:sp>
          <p:nvSpPr>
            <p:cNvPr id="1013" name="Google Shape;1013;p64"/>
            <p:cNvSpPr txBox="1"/>
            <p:nvPr/>
          </p:nvSpPr>
          <p:spPr>
            <a:xfrm>
              <a:off x="1005359" y="3852863"/>
              <a:ext cx="5261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1</a:t>
              </a:r>
              <a:endParaRPr/>
            </a:p>
          </p:txBody>
        </p:sp>
        <p:sp>
          <p:nvSpPr>
            <p:cNvPr id="1014" name="Google Shape;1014;p64"/>
            <p:cNvSpPr txBox="1"/>
            <p:nvPr/>
          </p:nvSpPr>
          <p:spPr>
            <a:xfrm>
              <a:off x="1843559" y="3852863"/>
              <a:ext cx="5261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2</a:t>
              </a:r>
              <a:endParaRPr/>
            </a:p>
          </p:txBody>
        </p:sp>
        <p:sp>
          <p:nvSpPr>
            <p:cNvPr id="1015" name="Google Shape;1015;p64"/>
            <p:cNvSpPr txBox="1"/>
            <p:nvPr/>
          </p:nvSpPr>
          <p:spPr>
            <a:xfrm>
              <a:off x="2755989" y="3852863"/>
              <a:ext cx="44114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3</a:t>
              </a:r>
              <a:endParaRPr/>
            </a:p>
          </p:txBody>
        </p:sp>
        <p:sp>
          <p:nvSpPr>
            <p:cNvPr id="1016" name="Google Shape;1016;p64"/>
            <p:cNvSpPr txBox="1"/>
            <p:nvPr/>
          </p:nvSpPr>
          <p:spPr>
            <a:xfrm>
              <a:off x="3443759" y="3852863"/>
              <a:ext cx="5261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4</a:t>
              </a:r>
              <a:endParaRPr/>
            </a:p>
          </p:txBody>
        </p:sp>
        <p:sp>
          <p:nvSpPr>
            <p:cNvPr id="1017" name="Google Shape;1017;p64"/>
            <p:cNvSpPr txBox="1"/>
            <p:nvPr/>
          </p:nvSpPr>
          <p:spPr>
            <a:xfrm>
              <a:off x="258397" y="51054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600</a:t>
              </a:r>
              <a:endParaRPr/>
            </a:p>
          </p:txBody>
        </p:sp>
        <p:sp>
          <p:nvSpPr>
            <p:cNvPr id="1018" name="Google Shape;1018;p64"/>
            <p:cNvSpPr txBox="1"/>
            <p:nvPr/>
          </p:nvSpPr>
          <p:spPr>
            <a:xfrm>
              <a:off x="2623772" y="50720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600</a:t>
              </a:r>
              <a:endParaRPr/>
            </a:p>
          </p:txBody>
        </p:sp>
        <p:sp>
          <p:nvSpPr>
            <p:cNvPr id="1019" name="Google Shape;1019;p64"/>
            <p:cNvSpPr txBox="1"/>
            <p:nvPr/>
          </p:nvSpPr>
          <p:spPr>
            <a:xfrm>
              <a:off x="1709372" y="50720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600</a:t>
              </a:r>
              <a:endParaRPr/>
            </a:p>
          </p:txBody>
        </p:sp>
        <p:sp>
          <p:nvSpPr>
            <p:cNvPr id="1020" name="Google Shape;1020;p64"/>
            <p:cNvSpPr txBox="1"/>
            <p:nvPr/>
          </p:nvSpPr>
          <p:spPr>
            <a:xfrm>
              <a:off x="1023572" y="50720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600</a:t>
              </a:r>
              <a:endParaRPr/>
            </a:p>
          </p:txBody>
        </p:sp>
        <p:cxnSp>
          <p:nvCxnSpPr>
            <p:cNvPr id="1021" name="Google Shape;1021;p64"/>
            <p:cNvCxnSpPr/>
            <p:nvPr/>
          </p:nvCxnSpPr>
          <p:spPr>
            <a:xfrm>
              <a:off x="4724400" y="4343400"/>
              <a:ext cx="0" cy="762000"/>
            </a:xfrm>
            <a:prstGeom prst="straightConnector1">
              <a:avLst/>
            </a:prstGeom>
            <a:noFill/>
            <a:ln w="38100" cap="flat" cmpd="sng">
              <a:solidFill>
                <a:schemeClr val="dk1"/>
              </a:solidFill>
              <a:prstDash val="solid"/>
              <a:miter lim="800000"/>
              <a:headEnd type="none" w="med" len="med"/>
              <a:tailEnd type="none" w="med" len="med"/>
            </a:ln>
          </p:spPr>
        </p:cxnSp>
        <p:sp>
          <p:nvSpPr>
            <p:cNvPr id="1022" name="Google Shape;1022;p64"/>
            <p:cNvSpPr txBox="1"/>
            <p:nvPr/>
          </p:nvSpPr>
          <p:spPr>
            <a:xfrm>
              <a:off x="4358159" y="3886200"/>
              <a:ext cx="5261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5</a:t>
              </a:r>
              <a:endParaRPr/>
            </a:p>
          </p:txBody>
        </p:sp>
        <p:sp>
          <p:nvSpPr>
            <p:cNvPr id="1023" name="Google Shape;1023;p64"/>
            <p:cNvSpPr txBox="1"/>
            <p:nvPr/>
          </p:nvSpPr>
          <p:spPr>
            <a:xfrm>
              <a:off x="3461972" y="51054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600</a:t>
              </a:r>
              <a:endParaRPr/>
            </a:p>
          </p:txBody>
        </p:sp>
        <p:sp>
          <p:nvSpPr>
            <p:cNvPr id="1024" name="Google Shape;1024;p64"/>
            <p:cNvSpPr txBox="1"/>
            <p:nvPr/>
          </p:nvSpPr>
          <p:spPr>
            <a:xfrm>
              <a:off x="665924" y="4267200"/>
              <a:ext cx="63030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a:t>
              </a:r>
              <a:endParaRPr/>
            </a:p>
          </p:txBody>
        </p:sp>
        <p:cxnSp>
          <p:nvCxnSpPr>
            <p:cNvPr id="1025" name="Google Shape;1025;p64"/>
            <p:cNvCxnSpPr/>
            <p:nvPr/>
          </p:nvCxnSpPr>
          <p:spPr>
            <a:xfrm>
              <a:off x="533400" y="5943600"/>
              <a:ext cx="6248400" cy="0"/>
            </a:xfrm>
            <a:prstGeom prst="straightConnector1">
              <a:avLst/>
            </a:prstGeom>
            <a:noFill/>
            <a:ln w="38100" cap="flat" cmpd="sng">
              <a:solidFill>
                <a:schemeClr val="dk1"/>
              </a:solidFill>
              <a:prstDash val="solid"/>
              <a:miter lim="800000"/>
              <a:headEnd type="none" w="med" len="med"/>
              <a:tailEnd type="stealth" w="med" len="med"/>
            </a:ln>
          </p:spPr>
        </p:cxnSp>
        <p:cxnSp>
          <p:nvCxnSpPr>
            <p:cNvPr id="1026" name="Google Shape;1026;p64"/>
            <p:cNvCxnSpPr/>
            <p:nvPr/>
          </p:nvCxnSpPr>
          <p:spPr>
            <a:xfrm>
              <a:off x="609600" y="5486400"/>
              <a:ext cx="0" cy="457200"/>
            </a:xfrm>
            <a:prstGeom prst="straightConnector1">
              <a:avLst/>
            </a:prstGeom>
            <a:noFill/>
            <a:ln w="38100" cap="flat" cmpd="sng">
              <a:solidFill>
                <a:schemeClr val="dk1"/>
              </a:solidFill>
              <a:prstDash val="solid"/>
              <a:miter lim="800000"/>
              <a:headEnd type="none" w="med" len="med"/>
              <a:tailEnd type="none" w="med" len="med"/>
            </a:ln>
          </p:spPr>
        </p:cxnSp>
        <p:cxnSp>
          <p:nvCxnSpPr>
            <p:cNvPr id="1027" name="Google Shape;1027;p64"/>
            <p:cNvCxnSpPr/>
            <p:nvPr/>
          </p:nvCxnSpPr>
          <p:spPr>
            <a:xfrm>
              <a:off x="1371600" y="5486400"/>
              <a:ext cx="0" cy="457200"/>
            </a:xfrm>
            <a:prstGeom prst="straightConnector1">
              <a:avLst/>
            </a:prstGeom>
            <a:noFill/>
            <a:ln w="38100" cap="flat" cmpd="sng">
              <a:solidFill>
                <a:schemeClr val="dk1"/>
              </a:solidFill>
              <a:prstDash val="solid"/>
              <a:miter lim="800000"/>
              <a:headEnd type="none" w="med" len="med"/>
              <a:tailEnd type="none" w="med" len="med"/>
            </a:ln>
          </p:spPr>
        </p:cxnSp>
        <p:cxnSp>
          <p:nvCxnSpPr>
            <p:cNvPr id="1028" name="Google Shape;1028;p64"/>
            <p:cNvCxnSpPr/>
            <p:nvPr/>
          </p:nvCxnSpPr>
          <p:spPr>
            <a:xfrm>
              <a:off x="2133600" y="5486400"/>
              <a:ext cx="0" cy="457200"/>
            </a:xfrm>
            <a:prstGeom prst="straightConnector1">
              <a:avLst/>
            </a:prstGeom>
            <a:noFill/>
            <a:ln w="38100" cap="flat" cmpd="sng">
              <a:solidFill>
                <a:schemeClr val="dk1"/>
              </a:solidFill>
              <a:prstDash val="solid"/>
              <a:miter lim="800000"/>
              <a:headEnd type="none" w="med" len="med"/>
              <a:tailEnd type="none" w="med" len="med"/>
            </a:ln>
          </p:spPr>
        </p:cxnSp>
        <p:cxnSp>
          <p:nvCxnSpPr>
            <p:cNvPr id="1029" name="Google Shape;1029;p64"/>
            <p:cNvCxnSpPr/>
            <p:nvPr/>
          </p:nvCxnSpPr>
          <p:spPr>
            <a:xfrm>
              <a:off x="2971800" y="5486400"/>
              <a:ext cx="0" cy="457200"/>
            </a:xfrm>
            <a:prstGeom prst="straightConnector1">
              <a:avLst/>
            </a:prstGeom>
            <a:noFill/>
            <a:ln w="38100" cap="flat" cmpd="sng">
              <a:solidFill>
                <a:schemeClr val="dk1"/>
              </a:solidFill>
              <a:prstDash val="solid"/>
              <a:miter lim="800000"/>
              <a:headEnd type="none" w="med" len="med"/>
              <a:tailEnd type="none" w="med" len="med"/>
            </a:ln>
          </p:spPr>
        </p:cxnSp>
        <p:cxnSp>
          <p:nvCxnSpPr>
            <p:cNvPr id="1030" name="Google Shape;1030;p64"/>
            <p:cNvCxnSpPr/>
            <p:nvPr/>
          </p:nvCxnSpPr>
          <p:spPr>
            <a:xfrm>
              <a:off x="3810000" y="5486400"/>
              <a:ext cx="0" cy="457200"/>
            </a:xfrm>
            <a:prstGeom prst="straightConnector1">
              <a:avLst/>
            </a:prstGeom>
            <a:noFill/>
            <a:ln w="38100" cap="flat" cmpd="sng">
              <a:solidFill>
                <a:schemeClr val="dk1"/>
              </a:solidFill>
              <a:prstDash val="solid"/>
              <a:miter lim="800000"/>
              <a:headEnd type="none" w="med" len="med"/>
              <a:tailEnd type="none" w="med" len="med"/>
            </a:ln>
          </p:spPr>
        </p:cxnSp>
        <p:sp>
          <p:nvSpPr>
            <p:cNvPr id="1031" name="Google Shape;1031;p64"/>
            <p:cNvSpPr txBox="1"/>
            <p:nvPr/>
          </p:nvSpPr>
          <p:spPr>
            <a:xfrm>
              <a:off x="6764974" y="5715000"/>
              <a:ext cx="151637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FVA</a:t>
              </a:r>
              <a:r>
                <a:rPr lang="en-US" sz="1800" b="1">
                  <a:solidFill>
                    <a:schemeClr val="dk1"/>
                  </a:solidFill>
                  <a:latin typeface="Arial"/>
                  <a:ea typeface="Arial"/>
                  <a:cs typeface="Arial"/>
                  <a:sym typeface="Arial"/>
                </a:rPr>
                <a:t>AD</a:t>
              </a:r>
              <a:r>
                <a:rPr lang="en-US" sz="2400" b="1">
                  <a:solidFill>
                    <a:schemeClr val="dk1"/>
                  </a:solidFill>
                  <a:latin typeface="Arial"/>
                  <a:ea typeface="Arial"/>
                  <a:cs typeface="Arial"/>
                  <a:sym typeface="Arial"/>
                </a:rPr>
                <a:t>=?</a:t>
              </a:r>
              <a:endParaRPr/>
            </a:p>
          </p:txBody>
        </p:sp>
        <p:cxnSp>
          <p:nvCxnSpPr>
            <p:cNvPr id="1032" name="Google Shape;1032;p64"/>
            <p:cNvCxnSpPr/>
            <p:nvPr/>
          </p:nvCxnSpPr>
          <p:spPr>
            <a:xfrm>
              <a:off x="5715000" y="4343400"/>
              <a:ext cx="0" cy="762000"/>
            </a:xfrm>
            <a:prstGeom prst="straightConnector1">
              <a:avLst/>
            </a:prstGeom>
            <a:noFill/>
            <a:ln w="38100" cap="flat" cmpd="sng">
              <a:solidFill>
                <a:schemeClr val="dk1"/>
              </a:solidFill>
              <a:prstDash val="solid"/>
              <a:miter lim="800000"/>
              <a:headEnd type="none" w="med" len="med"/>
              <a:tailEnd type="none" w="med" len="med"/>
            </a:ln>
          </p:spPr>
        </p:cxnSp>
        <p:cxnSp>
          <p:nvCxnSpPr>
            <p:cNvPr id="1033" name="Google Shape;1033;p64"/>
            <p:cNvCxnSpPr/>
            <p:nvPr/>
          </p:nvCxnSpPr>
          <p:spPr>
            <a:xfrm>
              <a:off x="6781800" y="4343400"/>
              <a:ext cx="0" cy="762000"/>
            </a:xfrm>
            <a:prstGeom prst="straightConnector1">
              <a:avLst/>
            </a:prstGeom>
            <a:noFill/>
            <a:ln w="38100" cap="flat" cmpd="sng">
              <a:solidFill>
                <a:schemeClr val="dk1"/>
              </a:solidFill>
              <a:prstDash val="solid"/>
              <a:miter lim="800000"/>
              <a:headEnd type="none" w="med" len="med"/>
              <a:tailEnd type="none" w="med" len="med"/>
            </a:ln>
          </p:spPr>
        </p:cxnSp>
        <p:sp>
          <p:nvSpPr>
            <p:cNvPr id="1034" name="Google Shape;1034;p64"/>
            <p:cNvSpPr txBox="1"/>
            <p:nvPr/>
          </p:nvSpPr>
          <p:spPr>
            <a:xfrm>
              <a:off x="5445214" y="3886200"/>
              <a:ext cx="44114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6</a:t>
              </a:r>
              <a:endParaRPr/>
            </a:p>
          </p:txBody>
        </p:sp>
        <p:sp>
          <p:nvSpPr>
            <p:cNvPr id="1035" name="Google Shape;1035;p64"/>
            <p:cNvSpPr txBox="1"/>
            <p:nvPr/>
          </p:nvSpPr>
          <p:spPr>
            <a:xfrm>
              <a:off x="6393334" y="3886200"/>
              <a:ext cx="5261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7</a:t>
              </a:r>
              <a:endParaRPr/>
            </a:p>
          </p:txBody>
        </p:sp>
        <p:sp>
          <p:nvSpPr>
            <p:cNvPr id="1036" name="Google Shape;1036;p64"/>
            <p:cNvSpPr txBox="1"/>
            <p:nvPr/>
          </p:nvSpPr>
          <p:spPr>
            <a:xfrm>
              <a:off x="243359" y="3886200"/>
              <a:ext cx="5261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  0</a:t>
              </a:r>
              <a:endParaRPr/>
            </a:p>
          </p:txBody>
        </p:sp>
        <p:sp>
          <p:nvSpPr>
            <p:cNvPr id="1037" name="Google Shape;1037;p64"/>
            <p:cNvSpPr txBox="1"/>
            <p:nvPr/>
          </p:nvSpPr>
          <p:spPr>
            <a:xfrm>
              <a:off x="4373197" y="51054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600</a:t>
              </a:r>
              <a:endParaRPr/>
            </a:p>
          </p:txBody>
        </p:sp>
        <p:sp>
          <p:nvSpPr>
            <p:cNvPr id="1038" name="Google Shape;1038;p64"/>
            <p:cNvSpPr txBox="1"/>
            <p:nvPr/>
          </p:nvSpPr>
          <p:spPr>
            <a:xfrm>
              <a:off x="5363797" y="51054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600</a:t>
              </a:r>
              <a:endParaRPr/>
            </a:p>
          </p:txBody>
        </p:sp>
        <p:cxnSp>
          <p:nvCxnSpPr>
            <p:cNvPr id="1039" name="Google Shape;1039;p64"/>
            <p:cNvCxnSpPr/>
            <p:nvPr/>
          </p:nvCxnSpPr>
          <p:spPr>
            <a:xfrm>
              <a:off x="4724400" y="5486400"/>
              <a:ext cx="0" cy="457200"/>
            </a:xfrm>
            <a:prstGeom prst="straightConnector1">
              <a:avLst/>
            </a:prstGeom>
            <a:noFill/>
            <a:ln w="38100" cap="flat" cmpd="sng">
              <a:solidFill>
                <a:schemeClr val="dk1"/>
              </a:solidFill>
              <a:prstDash val="solid"/>
              <a:miter lim="800000"/>
              <a:headEnd type="none" w="med" len="med"/>
              <a:tailEnd type="none" w="med" len="med"/>
            </a:ln>
          </p:spPr>
        </p:cxnSp>
        <p:cxnSp>
          <p:nvCxnSpPr>
            <p:cNvPr id="1040" name="Google Shape;1040;p64"/>
            <p:cNvCxnSpPr/>
            <p:nvPr/>
          </p:nvCxnSpPr>
          <p:spPr>
            <a:xfrm>
              <a:off x="5715000" y="5486400"/>
              <a:ext cx="0" cy="457200"/>
            </a:xfrm>
            <a:prstGeom prst="straightConnector1">
              <a:avLst/>
            </a:prstGeom>
            <a:noFill/>
            <a:ln w="38100" cap="flat" cmpd="sng">
              <a:solidFill>
                <a:schemeClr val="dk1"/>
              </a:solidFill>
              <a:prstDash val="solid"/>
              <a:miter lim="800000"/>
              <a:headEnd type="none" w="med" len="med"/>
              <a:tailEnd type="none" w="med" len="med"/>
            </a:ln>
          </p:spPr>
        </p:cxnSp>
      </p:grpSp>
      <p:sp>
        <p:nvSpPr>
          <p:cNvPr id="1041" name="Google Shape;1041;p6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52</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05"/>
                                        </p:tgtEl>
                                        <p:attrNameLst>
                                          <p:attrName>style.visibility</p:attrName>
                                        </p:attrNameLst>
                                      </p:cBhvr>
                                      <p:to>
                                        <p:strVal val="visible"/>
                                      </p:to>
                                    </p:set>
                                    <p:animEffect transition="in" filter="fade">
                                      <p:cBhvr>
                                        <p:cTn id="7" dur="1000"/>
                                        <p:tgtEl>
                                          <p:spTgt spid="1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p65"/>
          <p:cNvSpPr txBox="1"/>
          <p:nvPr/>
        </p:nvSpPr>
        <p:spPr>
          <a:xfrm>
            <a:off x="605334" y="654050"/>
            <a:ext cx="8005265"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hadapan anuiti matang menggunakan jadual faktor nilai masa wang ?</a:t>
            </a:r>
            <a:endParaRPr/>
          </a:p>
        </p:txBody>
      </p:sp>
      <p:sp>
        <p:nvSpPr>
          <p:cNvPr id="1047" name="Google Shape;1047;p65"/>
          <p:cNvSpPr txBox="1"/>
          <p:nvPr/>
        </p:nvSpPr>
        <p:spPr>
          <a:xfrm>
            <a:off x="488939" y="1906588"/>
            <a:ext cx="33554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Jadual yang digunakan</a:t>
            </a:r>
            <a:endParaRPr sz="2400">
              <a:solidFill>
                <a:schemeClr val="dk1"/>
              </a:solidFill>
              <a:latin typeface="Arial"/>
              <a:ea typeface="Arial"/>
              <a:cs typeface="Arial"/>
              <a:sym typeface="Arial"/>
            </a:endParaRPr>
          </a:p>
        </p:txBody>
      </p:sp>
      <p:sp>
        <p:nvSpPr>
          <p:cNvPr id="1048" name="Google Shape;1048;p65"/>
          <p:cNvSpPr/>
          <p:nvPr/>
        </p:nvSpPr>
        <p:spPr>
          <a:xfrm>
            <a:off x="3805735" y="1949450"/>
            <a:ext cx="914400" cy="381000"/>
          </a:xfrm>
          <a:prstGeom prst="rightArrow">
            <a:avLst>
              <a:gd name="adj1" fmla="val 50000"/>
              <a:gd name="adj2" fmla="val 6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049" name="Google Shape;1049;p65"/>
          <p:cNvSpPr txBox="1"/>
          <p:nvPr/>
        </p:nvSpPr>
        <p:spPr>
          <a:xfrm>
            <a:off x="4646501" y="1720850"/>
            <a:ext cx="3868368"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Jadual faktor nilai hadapan</a:t>
            </a:r>
            <a:endParaRPr sz="2400">
              <a:solidFill>
                <a:schemeClr val="dk1"/>
              </a:solidFill>
              <a:latin typeface="Arial"/>
              <a:ea typeface="Arial"/>
              <a:cs typeface="Arial"/>
              <a:sym typeface="Arial"/>
            </a:endParaRPr>
          </a:p>
          <a:p>
            <a:pPr marL="0" marR="0" lvl="0" indent="0" algn="ctr" rtl="0">
              <a:spcBef>
                <a:spcPts val="0"/>
              </a:spcBef>
              <a:spcAft>
                <a:spcPts val="0"/>
              </a:spcAft>
              <a:buNone/>
            </a:pPr>
            <a:r>
              <a:rPr lang="en-US" sz="2400">
                <a:solidFill>
                  <a:schemeClr val="dk1"/>
                </a:solidFill>
                <a:latin typeface="Arial"/>
                <a:ea typeface="Arial"/>
                <a:cs typeface="Arial"/>
                <a:sym typeface="Arial"/>
              </a:rPr>
              <a:t>Anuiti biasa (FVIFA)</a:t>
            </a:r>
            <a:endParaRPr/>
          </a:p>
        </p:txBody>
      </p:sp>
      <p:sp>
        <p:nvSpPr>
          <p:cNvPr id="1050" name="Google Shape;1050;p65"/>
          <p:cNvSpPr txBox="1"/>
          <p:nvPr/>
        </p:nvSpPr>
        <p:spPr>
          <a:xfrm>
            <a:off x="2040435" y="2711450"/>
            <a:ext cx="508184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Di mana :  PMT=600,  i=6%,    n=7  </a:t>
            </a:r>
            <a:endParaRPr/>
          </a:p>
        </p:txBody>
      </p:sp>
      <p:pic>
        <p:nvPicPr>
          <p:cNvPr id="1051" name="Google Shape;1051;p65"/>
          <p:cNvPicPr preferRelativeResize="0"/>
          <p:nvPr/>
        </p:nvPicPr>
        <p:blipFill rotWithShape="1">
          <a:blip r:embed="rId3">
            <a:alphaModFix/>
          </a:blip>
          <a:srcRect/>
          <a:stretch/>
        </p:blipFill>
        <p:spPr>
          <a:xfrm>
            <a:off x="1754322" y="3493532"/>
            <a:ext cx="4875078" cy="510466"/>
          </a:xfrm>
          <a:prstGeom prst="rect">
            <a:avLst/>
          </a:prstGeom>
          <a:noFill/>
          <a:ln>
            <a:noFill/>
          </a:ln>
        </p:spPr>
      </p:pic>
      <p:pic>
        <p:nvPicPr>
          <p:cNvPr id="1052" name="Google Shape;1052;p65"/>
          <p:cNvPicPr preferRelativeResize="0"/>
          <p:nvPr/>
        </p:nvPicPr>
        <p:blipFill rotWithShape="1">
          <a:blip r:embed="rId4">
            <a:alphaModFix/>
          </a:blip>
          <a:srcRect/>
          <a:stretch/>
        </p:blipFill>
        <p:spPr>
          <a:xfrm>
            <a:off x="1699280" y="4038600"/>
            <a:ext cx="5391150" cy="510466"/>
          </a:xfrm>
          <a:prstGeom prst="rect">
            <a:avLst/>
          </a:prstGeom>
          <a:noFill/>
          <a:ln>
            <a:noFill/>
          </a:ln>
        </p:spPr>
      </p:pic>
      <p:pic>
        <p:nvPicPr>
          <p:cNvPr id="1053" name="Google Shape;1053;p65"/>
          <p:cNvPicPr preferRelativeResize="0"/>
          <p:nvPr/>
        </p:nvPicPr>
        <p:blipFill rotWithShape="1">
          <a:blip r:embed="rId5">
            <a:alphaModFix/>
          </a:blip>
          <a:srcRect/>
          <a:stretch/>
        </p:blipFill>
        <p:spPr>
          <a:xfrm>
            <a:off x="1699280" y="4648200"/>
            <a:ext cx="4359006" cy="457200"/>
          </a:xfrm>
          <a:prstGeom prst="rect">
            <a:avLst/>
          </a:prstGeom>
          <a:noFill/>
          <a:ln>
            <a:noFill/>
          </a:ln>
        </p:spPr>
      </p:pic>
      <p:pic>
        <p:nvPicPr>
          <p:cNvPr id="1054" name="Google Shape;1054;p65"/>
          <p:cNvPicPr preferRelativeResize="0"/>
          <p:nvPr/>
        </p:nvPicPr>
        <p:blipFill rotWithShape="1">
          <a:blip r:embed="rId6">
            <a:alphaModFix/>
          </a:blip>
          <a:srcRect/>
          <a:stretch/>
        </p:blipFill>
        <p:spPr>
          <a:xfrm>
            <a:off x="1699281" y="5257800"/>
            <a:ext cx="3551294" cy="457200"/>
          </a:xfrm>
          <a:prstGeom prst="rect">
            <a:avLst/>
          </a:prstGeom>
          <a:noFill/>
          <a:ln>
            <a:noFill/>
          </a:ln>
        </p:spPr>
      </p:pic>
      <p:sp>
        <p:nvSpPr>
          <p:cNvPr id="1055" name="Google Shape;1055;p6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53</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7"/>
                                        </p:tgtEl>
                                        <p:attrNameLst>
                                          <p:attrName>style.visibility</p:attrName>
                                        </p:attrNameLst>
                                      </p:cBhvr>
                                      <p:to>
                                        <p:strVal val="visible"/>
                                      </p:to>
                                    </p:set>
                                    <p:anim calcmode="lin" valueType="num">
                                      <p:cBhvr additive="base">
                                        <p:cTn id="7" dur="500"/>
                                        <p:tgtEl>
                                          <p:spTgt spid="1047"/>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48"/>
                                        </p:tgtEl>
                                        <p:attrNameLst>
                                          <p:attrName>style.visibility</p:attrName>
                                        </p:attrNameLst>
                                      </p:cBhvr>
                                      <p:to>
                                        <p:strVal val="visible"/>
                                      </p:to>
                                    </p:set>
                                    <p:anim calcmode="lin" valueType="num">
                                      <p:cBhvr additive="base">
                                        <p:cTn id="12" dur="500"/>
                                        <p:tgtEl>
                                          <p:spTgt spid="104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49"/>
                                        </p:tgtEl>
                                        <p:attrNameLst>
                                          <p:attrName>style.visibility</p:attrName>
                                        </p:attrNameLst>
                                      </p:cBhvr>
                                      <p:to>
                                        <p:strVal val="visible"/>
                                      </p:to>
                                    </p:set>
                                    <p:anim calcmode="lin" valueType="num">
                                      <p:cBhvr additive="base">
                                        <p:cTn id="17" dur="500"/>
                                        <p:tgtEl>
                                          <p:spTgt spid="1049"/>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050"/>
                                        </p:tgtEl>
                                        <p:attrNameLst>
                                          <p:attrName>style.visibility</p:attrName>
                                        </p:attrNameLst>
                                      </p:cBhvr>
                                      <p:to>
                                        <p:strVal val="visible"/>
                                      </p:to>
                                    </p:set>
                                    <p:anim calcmode="lin" valueType="num">
                                      <p:cBhvr additive="base">
                                        <p:cTn id="22" dur="500"/>
                                        <p:tgtEl>
                                          <p:spTgt spid="105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6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
        <p:nvSpPr>
          <p:cNvPr id="1061" name="Google Shape;1061;p66"/>
          <p:cNvSpPr txBox="1"/>
          <p:nvPr/>
        </p:nvSpPr>
        <p:spPr>
          <a:xfrm>
            <a:off x="605334" y="654050"/>
            <a:ext cx="8005265"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hadapan anuiti matang menggunakan rumus?</a:t>
            </a:r>
            <a:endParaRPr/>
          </a:p>
        </p:txBody>
      </p:sp>
      <p:sp>
        <p:nvSpPr>
          <p:cNvPr id="1062" name="Google Shape;1062;p66"/>
          <p:cNvSpPr txBox="1"/>
          <p:nvPr/>
        </p:nvSpPr>
        <p:spPr>
          <a:xfrm>
            <a:off x="2040435" y="2711450"/>
            <a:ext cx="508184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Di mana :  PMT=600,  i=6%,    n=7  </a:t>
            </a:r>
            <a:endParaRPr/>
          </a:p>
        </p:txBody>
      </p:sp>
      <p:grpSp>
        <p:nvGrpSpPr>
          <p:cNvPr id="1063" name="Google Shape;1063;p66"/>
          <p:cNvGrpSpPr/>
          <p:nvPr/>
        </p:nvGrpSpPr>
        <p:grpSpPr>
          <a:xfrm>
            <a:off x="287513" y="1786811"/>
            <a:ext cx="8700646" cy="651589"/>
            <a:chOff x="76200" y="1786811"/>
            <a:chExt cx="8700646" cy="651589"/>
          </a:xfrm>
        </p:grpSpPr>
        <p:sp>
          <p:nvSpPr>
            <p:cNvPr id="1064" name="Google Shape;1064;p66"/>
            <p:cNvSpPr txBox="1"/>
            <p:nvPr/>
          </p:nvSpPr>
          <p:spPr>
            <a:xfrm>
              <a:off x="76200" y="1906588"/>
              <a:ext cx="342273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Rumus yang digunakan</a:t>
              </a:r>
              <a:endParaRPr sz="2400">
                <a:solidFill>
                  <a:schemeClr val="dk1"/>
                </a:solidFill>
                <a:latin typeface="Arial"/>
                <a:ea typeface="Arial"/>
                <a:cs typeface="Arial"/>
                <a:sym typeface="Arial"/>
              </a:endParaRPr>
            </a:p>
          </p:txBody>
        </p:sp>
        <p:sp>
          <p:nvSpPr>
            <p:cNvPr id="1065" name="Google Shape;1065;p66"/>
            <p:cNvSpPr/>
            <p:nvPr/>
          </p:nvSpPr>
          <p:spPr>
            <a:xfrm>
              <a:off x="3581400" y="1949450"/>
              <a:ext cx="914400" cy="381000"/>
            </a:xfrm>
            <a:prstGeom prst="rightArrow">
              <a:avLst>
                <a:gd name="adj1" fmla="val 50000"/>
                <a:gd name="adj2" fmla="val 6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066" name="Google Shape;1066;p66"/>
            <p:cNvSpPr txBox="1"/>
            <p:nvPr/>
          </p:nvSpPr>
          <p:spPr>
            <a:xfrm>
              <a:off x="4379487" y="1786811"/>
              <a:ext cx="4397359" cy="651589"/>
            </a:xfrm>
            <a:prstGeom prst="rect">
              <a:avLst/>
            </a:prstGeom>
            <a:blipFill rotWithShape="1">
              <a:blip r:embed="rId3">
                <a:alphaModFix/>
              </a:blip>
              <a:stretch>
                <a:fillRect b="-747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1067" name="Google Shape;1067;p66"/>
          <p:cNvSpPr txBox="1"/>
          <p:nvPr/>
        </p:nvSpPr>
        <p:spPr>
          <a:xfrm>
            <a:off x="1676400" y="3981543"/>
            <a:ext cx="5369675" cy="666657"/>
          </a:xfrm>
          <a:prstGeom prst="rect">
            <a:avLst/>
          </a:prstGeom>
          <a:blipFill rotWithShape="1">
            <a:blip r:embed="rId4">
              <a:alphaModFix/>
            </a:blip>
            <a:stretch>
              <a:fillRect b="-727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068" name="Google Shape;1068;p66"/>
          <p:cNvSpPr txBox="1"/>
          <p:nvPr/>
        </p:nvSpPr>
        <p:spPr>
          <a:xfrm>
            <a:off x="1752600" y="3276600"/>
            <a:ext cx="4572000" cy="651589"/>
          </a:xfrm>
          <a:prstGeom prst="rect">
            <a:avLst/>
          </a:prstGeom>
          <a:blipFill rotWithShape="1">
            <a:blip r:embed="rId5">
              <a:alphaModFix/>
            </a:blip>
            <a:stretch>
              <a:fillRect b="-754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069" name="Google Shape;1069;p66"/>
          <p:cNvSpPr txBox="1"/>
          <p:nvPr/>
        </p:nvSpPr>
        <p:spPr>
          <a:xfrm>
            <a:off x="1219200" y="4800600"/>
            <a:ext cx="4572000" cy="461665"/>
          </a:xfrm>
          <a:prstGeom prst="rect">
            <a:avLst/>
          </a:prstGeom>
          <a:blipFill rotWithShape="1">
            <a:blip r:embed="rId6">
              <a:alphaModFix/>
            </a:blip>
            <a:stretch>
              <a:fillRect b="-399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62"/>
                                        </p:tgtEl>
                                        <p:attrNameLst>
                                          <p:attrName>style.visibility</p:attrName>
                                        </p:attrNameLst>
                                      </p:cBhvr>
                                      <p:to>
                                        <p:strVal val="visible"/>
                                      </p:to>
                                    </p:set>
                                    <p:anim calcmode="lin" valueType="num">
                                      <p:cBhvr additive="base">
                                        <p:cTn id="7" dur="500"/>
                                        <p:tgtEl>
                                          <p:spTgt spid="106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p67"/>
          <p:cNvSpPr txBox="1"/>
          <p:nvPr/>
        </p:nvSpPr>
        <p:spPr>
          <a:xfrm>
            <a:off x="228600" y="458450"/>
            <a:ext cx="8507413" cy="1446550"/>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a:solidFill>
                  <a:schemeClr val="dk1"/>
                </a:solidFill>
                <a:latin typeface="Arial"/>
                <a:ea typeface="Arial"/>
                <a:cs typeface="Arial"/>
                <a:sym typeface="Arial"/>
              </a:rPr>
              <a:t>Salmah melabur sebanyak RM400 pada setiap awal tahun bermula awal tahun ini hingga awal tahun 5 dengan kadar kompaun 4% setahun. Berapakah jumlah wang yang terkumpul pada akhir tahun ke 8 nanti?</a:t>
            </a:r>
            <a:endParaRPr/>
          </a:p>
        </p:txBody>
      </p:sp>
      <p:grpSp>
        <p:nvGrpSpPr>
          <p:cNvPr id="1075" name="Google Shape;1075;p67"/>
          <p:cNvGrpSpPr/>
          <p:nvPr/>
        </p:nvGrpSpPr>
        <p:grpSpPr>
          <a:xfrm>
            <a:off x="1834265" y="1951487"/>
            <a:ext cx="6734539" cy="1981200"/>
            <a:chOff x="1834265" y="1951487"/>
            <a:chExt cx="6734539" cy="1981200"/>
          </a:xfrm>
        </p:grpSpPr>
        <p:cxnSp>
          <p:nvCxnSpPr>
            <p:cNvPr id="1076" name="Google Shape;1076;p67"/>
            <p:cNvCxnSpPr/>
            <p:nvPr/>
          </p:nvCxnSpPr>
          <p:spPr>
            <a:xfrm>
              <a:off x="2183879" y="2561087"/>
              <a:ext cx="6156325" cy="0"/>
            </a:xfrm>
            <a:prstGeom prst="straightConnector1">
              <a:avLst/>
            </a:prstGeom>
            <a:noFill/>
            <a:ln w="9525" cap="flat" cmpd="sng">
              <a:solidFill>
                <a:schemeClr val="dk1"/>
              </a:solidFill>
              <a:prstDash val="solid"/>
              <a:miter lim="800000"/>
              <a:headEnd type="none" w="med" len="med"/>
              <a:tailEnd type="none" w="med" len="med"/>
            </a:ln>
          </p:spPr>
        </p:cxnSp>
        <p:cxnSp>
          <p:nvCxnSpPr>
            <p:cNvPr id="1077" name="Google Shape;1077;p67"/>
            <p:cNvCxnSpPr/>
            <p:nvPr/>
          </p:nvCxnSpPr>
          <p:spPr>
            <a:xfrm>
              <a:off x="2183879" y="2332487"/>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078" name="Google Shape;1078;p67"/>
            <p:cNvCxnSpPr/>
            <p:nvPr/>
          </p:nvCxnSpPr>
          <p:spPr>
            <a:xfrm>
              <a:off x="2930004" y="2332487"/>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079" name="Google Shape;1079;p67"/>
            <p:cNvCxnSpPr/>
            <p:nvPr/>
          </p:nvCxnSpPr>
          <p:spPr>
            <a:xfrm>
              <a:off x="3844404" y="2332487"/>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080" name="Google Shape;1080;p67"/>
            <p:cNvCxnSpPr/>
            <p:nvPr/>
          </p:nvCxnSpPr>
          <p:spPr>
            <a:xfrm>
              <a:off x="4606404" y="2332487"/>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081" name="Google Shape;1081;p67"/>
            <p:cNvCxnSpPr/>
            <p:nvPr/>
          </p:nvCxnSpPr>
          <p:spPr>
            <a:xfrm>
              <a:off x="5368404" y="2332487"/>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082" name="Google Shape;1082;p67"/>
            <p:cNvCxnSpPr/>
            <p:nvPr/>
          </p:nvCxnSpPr>
          <p:spPr>
            <a:xfrm>
              <a:off x="6130404" y="2332487"/>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083" name="Google Shape;1083;p67"/>
            <p:cNvCxnSpPr/>
            <p:nvPr/>
          </p:nvCxnSpPr>
          <p:spPr>
            <a:xfrm>
              <a:off x="6968604" y="2332487"/>
              <a:ext cx="0" cy="457200"/>
            </a:xfrm>
            <a:prstGeom prst="straightConnector1">
              <a:avLst/>
            </a:prstGeom>
            <a:noFill/>
            <a:ln w="9525" cap="flat" cmpd="sng">
              <a:solidFill>
                <a:schemeClr val="dk1"/>
              </a:solidFill>
              <a:prstDash val="solid"/>
              <a:miter lim="800000"/>
              <a:headEnd type="none" w="med" len="med"/>
              <a:tailEnd type="none" w="med" len="med"/>
            </a:ln>
          </p:spPr>
        </p:cxnSp>
        <p:sp>
          <p:nvSpPr>
            <p:cNvPr id="1084" name="Google Shape;1084;p67"/>
            <p:cNvSpPr txBox="1"/>
            <p:nvPr/>
          </p:nvSpPr>
          <p:spPr>
            <a:xfrm>
              <a:off x="2005786" y="1951487"/>
              <a:ext cx="3561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0</a:t>
              </a:r>
              <a:endParaRPr/>
            </a:p>
          </p:txBody>
        </p:sp>
        <p:sp>
          <p:nvSpPr>
            <p:cNvPr id="1085" name="Google Shape;1085;p67"/>
            <p:cNvSpPr txBox="1"/>
            <p:nvPr/>
          </p:nvSpPr>
          <p:spPr>
            <a:xfrm>
              <a:off x="2767786" y="1951487"/>
              <a:ext cx="3561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1</a:t>
              </a:r>
              <a:endParaRPr/>
            </a:p>
          </p:txBody>
        </p:sp>
        <p:sp>
          <p:nvSpPr>
            <p:cNvPr id="1086" name="Google Shape;1086;p67"/>
            <p:cNvSpPr txBox="1"/>
            <p:nvPr/>
          </p:nvSpPr>
          <p:spPr>
            <a:xfrm>
              <a:off x="3682186" y="1951487"/>
              <a:ext cx="3561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2</a:t>
              </a:r>
              <a:endParaRPr/>
            </a:p>
          </p:txBody>
        </p:sp>
        <p:sp>
          <p:nvSpPr>
            <p:cNvPr id="1087" name="Google Shape;1087;p67"/>
            <p:cNvSpPr txBox="1"/>
            <p:nvPr/>
          </p:nvSpPr>
          <p:spPr>
            <a:xfrm>
              <a:off x="4444186" y="1951487"/>
              <a:ext cx="3561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3</a:t>
              </a:r>
              <a:endParaRPr/>
            </a:p>
          </p:txBody>
        </p:sp>
        <p:sp>
          <p:nvSpPr>
            <p:cNvPr id="1088" name="Google Shape;1088;p67"/>
            <p:cNvSpPr txBox="1"/>
            <p:nvPr/>
          </p:nvSpPr>
          <p:spPr>
            <a:xfrm>
              <a:off x="5174436" y="1951487"/>
              <a:ext cx="3561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4</a:t>
              </a:r>
              <a:endParaRPr/>
            </a:p>
          </p:txBody>
        </p:sp>
        <p:sp>
          <p:nvSpPr>
            <p:cNvPr id="1089" name="Google Shape;1089;p67"/>
            <p:cNvSpPr txBox="1"/>
            <p:nvPr/>
          </p:nvSpPr>
          <p:spPr>
            <a:xfrm>
              <a:off x="5936436" y="1951487"/>
              <a:ext cx="3561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5</a:t>
              </a:r>
              <a:endParaRPr/>
            </a:p>
          </p:txBody>
        </p:sp>
        <p:sp>
          <p:nvSpPr>
            <p:cNvPr id="1090" name="Google Shape;1090;p67"/>
            <p:cNvSpPr txBox="1"/>
            <p:nvPr/>
          </p:nvSpPr>
          <p:spPr>
            <a:xfrm>
              <a:off x="6774636" y="1951487"/>
              <a:ext cx="3561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6</a:t>
              </a:r>
              <a:endParaRPr/>
            </a:p>
          </p:txBody>
        </p:sp>
        <p:sp>
          <p:nvSpPr>
            <p:cNvPr id="1091" name="Google Shape;1091;p67"/>
            <p:cNvSpPr txBox="1"/>
            <p:nvPr/>
          </p:nvSpPr>
          <p:spPr>
            <a:xfrm>
              <a:off x="2231504" y="2180087"/>
              <a:ext cx="654050" cy="4619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4%</a:t>
              </a:r>
              <a:endParaRPr/>
            </a:p>
          </p:txBody>
        </p:sp>
        <p:sp>
          <p:nvSpPr>
            <p:cNvPr id="1092" name="Google Shape;1092;p67"/>
            <p:cNvSpPr txBox="1"/>
            <p:nvPr/>
          </p:nvSpPr>
          <p:spPr>
            <a:xfrm>
              <a:off x="2564515" y="2713487"/>
              <a:ext cx="699230"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400</a:t>
              </a:r>
              <a:endParaRPr/>
            </a:p>
          </p:txBody>
        </p:sp>
        <p:sp>
          <p:nvSpPr>
            <p:cNvPr id="1093" name="Google Shape;1093;p67"/>
            <p:cNvSpPr txBox="1"/>
            <p:nvPr/>
          </p:nvSpPr>
          <p:spPr>
            <a:xfrm>
              <a:off x="3434465" y="2713487"/>
              <a:ext cx="699230"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400</a:t>
              </a:r>
              <a:endParaRPr/>
            </a:p>
          </p:txBody>
        </p:sp>
        <p:sp>
          <p:nvSpPr>
            <p:cNvPr id="1094" name="Google Shape;1094;p67"/>
            <p:cNvSpPr txBox="1"/>
            <p:nvPr/>
          </p:nvSpPr>
          <p:spPr>
            <a:xfrm>
              <a:off x="4272665" y="2713487"/>
              <a:ext cx="699230"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400</a:t>
              </a:r>
              <a:endParaRPr/>
            </a:p>
          </p:txBody>
        </p:sp>
        <p:sp>
          <p:nvSpPr>
            <p:cNvPr id="1095" name="Google Shape;1095;p67"/>
            <p:cNvSpPr txBox="1"/>
            <p:nvPr/>
          </p:nvSpPr>
          <p:spPr>
            <a:xfrm>
              <a:off x="4958465" y="2713487"/>
              <a:ext cx="699230"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400</a:t>
              </a:r>
              <a:endParaRPr/>
            </a:p>
          </p:txBody>
        </p:sp>
        <p:sp>
          <p:nvSpPr>
            <p:cNvPr id="1096" name="Google Shape;1096;p67"/>
            <p:cNvSpPr txBox="1"/>
            <p:nvPr/>
          </p:nvSpPr>
          <p:spPr>
            <a:xfrm>
              <a:off x="1834265" y="2713487"/>
              <a:ext cx="699230"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400</a:t>
              </a:r>
              <a:endParaRPr/>
            </a:p>
          </p:txBody>
        </p:sp>
        <p:cxnSp>
          <p:nvCxnSpPr>
            <p:cNvPr id="1097" name="Google Shape;1097;p67"/>
            <p:cNvCxnSpPr/>
            <p:nvPr/>
          </p:nvCxnSpPr>
          <p:spPr>
            <a:xfrm>
              <a:off x="2183879" y="3551687"/>
              <a:ext cx="4022725" cy="0"/>
            </a:xfrm>
            <a:prstGeom prst="straightConnector1">
              <a:avLst/>
            </a:prstGeom>
            <a:noFill/>
            <a:ln w="9525" cap="flat" cmpd="sng">
              <a:solidFill>
                <a:schemeClr val="dk1"/>
              </a:solidFill>
              <a:prstDash val="solid"/>
              <a:miter lim="800000"/>
              <a:headEnd type="none" w="med" len="med"/>
              <a:tailEnd type="triangle" w="med" len="med"/>
            </a:ln>
          </p:spPr>
        </p:cxnSp>
        <p:cxnSp>
          <p:nvCxnSpPr>
            <p:cNvPr id="1098" name="Google Shape;1098;p67"/>
            <p:cNvCxnSpPr/>
            <p:nvPr/>
          </p:nvCxnSpPr>
          <p:spPr>
            <a:xfrm>
              <a:off x="2930004" y="3170687"/>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099" name="Google Shape;1099;p67"/>
            <p:cNvCxnSpPr/>
            <p:nvPr/>
          </p:nvCxnSpPr>
          <p:spPr>
            <a:xfrm>
              <a:off x="3844404" y="3170687"/>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100" name="Google Shape;1100;p67"/>
            <p:cNvCxnSpPr/>
            <p:nvPr/>
          </p:nvCxnSpPr>
          <p:spPr>
            <a:xfrm>
              <a:off x="4606404" y="3170687"/>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101" name="Google Shape;1101;p67"/>
            <p:cNvCxnSpPr/>
            <p:nvPr/>
          </p:nvCxnSpPr>
          <p:spPr>
            <a:xfrm>
              <a:off x="5368404" y="3170687"/>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102" name="Google Shape;1102;p67"/>
            <p:cNvCxnSpPr/>
            <p:nvPr/>
          </p:nvCxnSpPr>
          <p:spPr>
            <a:xfrm>
              <a:off x="2168004" y="3170687"/>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103" name="Google Shape;1103;p67"/>
            <p:cNvCxnSpPr/>
            <p:nvPr/>
          </p:nvCxnSpPr>
          <p:spPr>
            <a:xfrm>
              <a:off x="6130404" y="3551687"/>
              <a:ext cx="0" cy="381000"/>
            </a:xfrm>
            <a:prstGeom prst="straightConnector1">
              <a:avLst/>
            </a:prstGeom>
            <a:noFill/>
            <a:ln w="9525" cap="flat" cmpd="sng">
              <a:solidFill>
                <a:schemeClr val="dk1"/>
              </a:solidFill>
              <a:prstDash val="solid"/>
              <a:miter lim="800000"/>
              <a:headEnd type="none" w="med" len="med"/>
              <a:tailEnd type="none" w="med" len="med"/>
            </a:ln>
          </p:spPr>
        </p:cxnSp>
        <p:sp>
          <p:nvSpPr>
            <p:cNvPr id="1104" name="Google Shape;1104;p67"/>
            <p:cNvSpPr txBox="1"/>
            <p:nvPr/>
          </p:nvSpPr>
          <p:spPr>
            <a:xfrm>
              <a:off x="6130404" y="3246887"/>
              <a:ext cx="2057400" cy="457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FVA=2253.18</a:t>
              </a:r>
              <a:endParaRPr/>
            </a:p>
          </p:txBody>
        </p:sp>
        <p:sp>
          <p:nvSpPr>
            <p:cNvPr id="1105" name="Google Shape;1105;p67"/>
            <p:cNvSpPr txBox="1"/>
            <p:nvPr/>
          </p:nvSpPr>
          <p:spPr>
            <a:xfrm>
              <a:off x="7460436" y="1951487"/>
              <a:ext cx="3561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7</a:t>
              </a:r>
              <a:endParaRPr/>
            </a:p>
          </p:txBody>
        </p:sp>
        <p:sp>
          <p:nvSpPr>
            <p:cNvPr id="1106" name="Google Shape;1106;p67"/>
            <p:cNvSpPr txBox="1"/>
            <p:nvPr/>
          </p:nvSpPr>
          <p:spPr>
            <a:xfrm>
              <a:off x="8146236" y="1951487"/>
              <a:ext cx="35618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8</a:t>
              </a:r>
              <a:endParaRPr/>
            </a:p>
          </p:txBody>
        </p:sp>
        <p:cxnSp>
          <p:nvCxnSpPr>
            <p:cNvPr id="1107" name="Google Shape;1107;p67"/>
            <p:cNvCxnSpPr/>
            <p:nvPr/>
          </p:nvCxnSpPr>
          <p:spPr>
            <a:xfrm>
              <a:off x="7654404" y="2332487"/>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108" name="Google Shape;1108;p67"/>
            <p:cNvCxnSpPr/>
            <p:nvPr/>
          </p:nvCxnSpPr>
          <p:spPr>
            <a:xfrm>
              <a:off x="8340204" y="2332487"/>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109" name="Google Shape;1109;p67"/>
            <p:cNvCxnSpPr/>
            <p:nvPr/>
          </p:nvCxnSpPr>
          <p:spPr>
            <a:xfrm>
              <a:off x="6130404" y="3932687"/>
              <a:ext cx="2438400" cy="0"/>
            </a:xfrm>
            <a:prstGeom prst="straightConnector1">
              <a:avLst/>
            </a:prstGeom>
            <a:noFill/>
            <a:ln w="9525" cap="flat" cmpd="sng">
              <a:solidFill>
                <a:schemeClr val="dk1"/>
              </a:solidFill>
              <a:prstDash val="solid"/>
              <a:miter lim="800000"/>
              <a:headEnd type="none" w="med" len="med"/>
              <a:tailEnd type="triangle" w="med" len="med"/>
            </a:ln>
          </p:spPr>
        </p:cxnSp>
      </p:grpSp>
      <p:sp>
        <p:nvSpPr>
          <p:cNvPr id="1110" name="Google Shape;1110;p67"/>
          <p:cNvSpPr txBox="1"/>
          <p:nvPr/>
        </p:nvSpPr>
        <p:spPr>
          <a:xfrm>
            <a:off x="846932" y="4158112"/>
            <a:ext cx="143663" cy="2769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200">
              <a:solidFill>
                <a:schemeClr val="dk1"/>
              </a:solidFill>
              <a:latin typeface="Arial"/>
              <a:ea typeface="Arial"/>
              <a:cs typeface="Arial"/>
              <a:sym typeface="Arial"/>
            </a:endParaRPr>
          </a:p>
        </p:txBody>
      </p:sp>
      <p:pic>
        <p:nvPicPr>
          <p:cNvPr id="1111" name="Google Shape;1111;p67"/>
          <p:cNvPicPr preferRelativeResize="0"/>
          <p:nvPr/>
        </p:nvPicPr>
        <p:blipFill rotWithShape="1">
          <a:blip r:embed="rId3">
            <a:alphaModFix/>
          </a:blip>
          <a:srcRect/>
          <a:stretch/>
        </p:blipFill>
        <p:spPr>
          <a:xfrm>
            <a:off x="778959" y="3900937"/>
            <a:ext cx="4707441" cy="455553"/>
          </a:xfrm>
          <a:prstGeom prst="rect">
            <a:avLst/>
          </a:prstGeom>
          <a:noFill/>
          <a:ln>
            <a:noFill/>
          </a:ln>
        </p:spPr>
      </p:pic>
      <p:pic>
        <p:nvPicPr>
          <p:cNvPr id="1112" name="Google Shape;1112;p67"/>
          <p:cNvPicPr preferRelativeResize="0"/>
          <p:nvPr/>
        </p:nvPicPr>
        <p:blipFill rotWithShape="1">
          <a:blip r:embed="rId4">
            <a:alphaModFix/>
          </a:blip>
          <a:srcRect/>
          <a:stretch/>
        </p:blipFill>
        <p:spPr>
          <a:xfrm>
            <a:off x="798992" y="4311519"/>
            <a:ext cx="3849207" cy="431931"/>
          </a:xfrm>
          <a:prstGeom prst="rect">
            <a:avLst/>
          </a:prstGeom>
          <a:noFill/>
          <a:ln>
            <a:noFill/>
          </a:ln>
        </p:spPr>
      </p:pic>
      <p:pic>
        <p:nvPicPr>
          <p:cNvPr id="1113" name="Google Shape;1113;p67"/>
          <p:cNvPicPr preferRelativeResize="0"/>
          <p:nvPr/>
        </p:nvPicPr>
        <p:blipFill rotWithShape="1">
          <a:blip r:embed="rId5">
            <a:alphaModFix/>
          </a:blip>
          <a:srcRect/>
          <a:stretch/>
        </p:blipFill>
        <p:spPr>
          <a:xfrm>
            <a:off x="735013" y="4749669"/>
            <a:ext cx="2998787" cy="431931"/>
          </a:xfrm>
          <a:prstGeom prst="rect">
            <a:avLst/>
          </a:prstGeom>
          <a:noFill/>
          <a:ln>
            <a:noFill/>
          </a:ln>
        </p:spPr>
      </p:pic>
      <p:pic>
        <p:nvPicPr>
          <p:cNvPr id="1114" name="Google Shape;1114;p67"/>
          <p:cNvPicPr preferRelativeResize="0"/>
          <p:nvPr/>
        </p:nvPicPr>
        <p:blipFill rotWithShape="1">
          <a:blip r:embed="rId6">
            <a:alphaModFix/>
          </a:blip>
          <a:srcRect/>
          <a:stretch/>
        </p:blipFill>
        <p:spPr>
          <a:xfrm>
            <a:off x="3471265" y="5170991"/>
            <a:ext cx="2682736" cy="455552"/>
          </a:xfrm>
          <a:prstGeom prst="rect">
            <a:avLst/>
          </a:prstGeom>
          <a:noFill/>
          <a:ln>
            <a:noFill/>
          </a:ln>
        </p:spPr>
      </p:pic>
      <p:pic>
        <p:nvPicPr>
          <p:cNvPr id="1115" name="Google Shape;1115;p67"/>
          <p:cNvPicPr preferRelativeResize="0"/>
          <p:nvPr/>
        </p:nvPicPr>
        <p:blipFill rotWithShape="1">
          <a:blip r:embed="rId7">
            <a:alphaModFix/>
          </a:blip>
          <a:srcRect/>
          <a:stretch/>
        </p:blipFill>
        <p:spPr>
          <a:xfrm>
            <a:off x="3434465" y="5574779"/>
            <a:ext cx="2998787" cy="430806"/>
          </a:xfrm>
          <a:prstGeom prst="rect">
            <a:avLst/>
          </a:prstGeom>
          <a:noFill/>
          <a:ln>
            <a:noFill/>
          </a:ln>
        </p:spPr>
      </p:pic>
      <p:pic>
        <p:nvPicPr>
          <p:cNvPr id="1116" name="Google Shape;1116;p67"/>
          <p:cNvPicPr preferRelativeResize="0"/>
          <p:nvPr/>
        </p:nvPicPr>
        <p:blipFill rotWithShape="1">
          <a:blip r:embed="rId8">
            <a:alphaModFix/>
          </a:blip>
          <a:srcRect/>
          <a:stretch/>
        </p:blipFill>
        <p:spPr>
          <a:xfrm>
            <a:off x="3437327" y="5960105"/>
            <a:ext cx="2525944" cy="430806"/>
          </a:xfrm>
          <a:prstGeom prst="rect">
            <a:avLst/>
          </a:prstGeom>
          <a:noFill/>
          <a:ln>
            <a:noFill/>
          </a:ln>
        </p:spPr>
      </p:pic>
      <p:sp>
        <p:nvSpPr>
          <p:cNvPr id="1117" name="Google Shape;1117;p67"/>
          <p:cNvSpPr txBox="1"/>
          <p:nvPr/>
        </p:nvSpPr>
        <p:spPr>
          <a:xfrm>
            <a:off x="7044804" y="3932687"/>
            <a:ext cx="2057400" cy="457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FV=2534.60</a:t>
            </a:r>
            <a:endParaRPr/>
          </a:p>
        </p:txBody>
      </p:sp>
      <p:sp>
        <p:nvSpPr>
          <p:cNvPr id="1118" name="Google Shape;1118;p6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55</a:t>
            </a:fld>
            <a:endParaRPr sz="1200">
              <a:solidFill>
                <a:schemeClr val="dk1"/>
              </a:solidFill>
              <a:latin typeface="Arial"/>
              <a:ea typeface="Arial"/>
              <a:cs typeface="Arial"/>
              <a:sym typeface="Arial"/>
            </a:endParaRPr>
          </a:p>
        </p:txBody>
      </p:sp>
      <p:sp>
        <p:nvSpPr>
          <p:cNvPr id="1119" name="Google Shape;1119;p67"/>
          <p:cNvSpPr txBox="1"/>
          <p:nvPr/>
        </p:nvSpPr>
        <p:spPr>
          <a:xfrm>
            <a:off x="296899" y="69850"/>
            <a:ext cx="1345240"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Contoh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17"/>
                                        </p:tgtEl>
                                        <p:attrNameLst>
                                          <p:attrName>style.visibility</p:attrName>
                                        </p:attrNameLst>
                                      </p:cBhvr>
                                      <p:to>
                                        <p:strVal val="visible"/>
                                      </p:to>
                                    </p:set>
                                    <p:animEffect transition="in" filter="fade">
                                      <p:cBhvr>
                                        <p:cTn id="7" dur="1000"/>
                                        <p:tgtEl>
                                          <p:spTgt spid="1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68"/>
          <p:cNvSpPr/>
          <p:nvPr/>
        </p:nvSpPr>
        <p:spPr>
          <a:xfrm>
            <a:off x="609600" y="685800"/>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NILAI KINI ANUITI</a:t>
            </a:r>
            <a:endParaRPr/>
          </a:p>
        </p:txBody>
      </p:sp>
      <p:sp>
        <p:nvSpPr>
          <p:cNvPr id="1125" name="Google Shape;1125;p68"/>
          <p:cNvSpPr txBox="1"/>
          <p:nvPr/>
        </p:nvSpPr>
        <p:spPr>
          <a:xfrm>
            <a:off x="762000" y="2590800"/>
            <a:ext cx="7391400" cy="156966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DEFINISI - Nilai kini anuiti bermaksud nilai pada masa kini atau sekarang bagi satu siri aliran tunai yang sama (seragam) bagi setiap tempoh yang sama.</a:t>
            </a:r>
            <a:endParaRPr/>
          </a:p>
        </p:txBody>
      </p:sp>
      <p:sp>
        <p:nvSpPr>
          <p:cNvPr id="1126" name="Google Shape;1126;p6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56</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25"/>
                                        </p:tgtEl>
                                        <p:attrNameLst>
                                          <p:attrName>style.visibility</p:attrName>
                                        </p:attrNameLst>
                                      </p:cBhvr>
                                      <p:to>
                                        <p:strVal val="visible"/>
                                      </p:to>
                                    </p:set>
                                    <p:animEffect transition="in" filter="fade">
                                      <p:cBhvr>
                                        <p:cTn id="7" dur="500"/>
                                        <p:tgtEl>
                                          <p:spTgt spid="1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69"/>
          <p:cNvSpPr/>
          <p:nvPr/>
        </p:nvSpPr>
        <p:spPr>
          <a:xfrm>
            <a:off x="760863" y="898525"/>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NILAI KINI ANUITI</a:t>
            </a:r>
            <a:endParaRPr/>
          </a:p>
        </p:txBody>
      </p:sp>
      <p:grpSp>
        <p:nvGrpSpPr>
          <p:cNvPr id="1132" name="Google Shape;1132;p69"/>
          <p:cNvGrpSpPr/>
          <p:nvPr/>
        </p:nvGrpSpPr>
        <p:grpSpPr>
          <a:xfrm>
            <a:off x="685800" y="2362200"/>
            <a:ext cx="7772400" cy="1905000"/>
            <a:chOff x="685800" y="2362200"/>
            <a:chExt cx="7772400" cy="1905000"/>
          </a:xfrm>
        </p:grpSpPr>
        <p:sp>
          <p:nvSpPr>
            <p:cNvPr id="1133" name="Google Shape;1133;p69"/>
            <p:cNvSpPr/>
            <p:nvPr/>
          </p:nvSpPr>
          <p:spPr>
            <a:xfrm>
              <a:off x="2362200" y="2590800"/>
              <a:ext cx="4343400" cy="1447800"/>
            </a:xfrm>
            <a:prstGeom prst="leftRightArrowCallout">
              <a:avLst>
                <a:gd name="adj1" fmla="val 25000"/>
                <a:gd name="adj2" fmla="val 25000"/>
                <a:gd name="adj3" fmla="val 37500"/>
                <a:gd name="adj4"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Dua Jenis</a:t>
              </a: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 Nilai Kini</a:t>
              </a: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Anuiti</a:t>
              </a:r>
              <a:endParaRPr sz="2400" b="1">
                <a:solidFill>
                  <a:schemeClr val="dk1"/>
                </a:solidFill>
                <a:latin typeface="Arial"/>
                <a:ea typeface="Arial"/>
                <a:cs typeface="Arial"/>
                <a:sym typeface="Arial"/>
              </a:endParaRPr>
            </a:p>
          </p:txBody>
        </p:sp>
        <p:sp>
          <p:nvSpPr>
            <p:cNvPr id="1134" name="Google Shape;1134;p69"/>
            <p:cNvSpPr/>
            <p:nvPr/>
          </p:nvSpPr>
          <p:spPr>
            <a:xfrm>
              <a:off x="685800" y="2362200"/>
              <a:ext cx="1676400" cy="1905000"/>
            </a:xfrm>
            <a:prstGeom prst="cube">
              <a:avLst>
                <a:gd name="adj" fmla="val 8806"/>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Nilai Kini</a:t>
              </a: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Anuiti</a:t>
              </a: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Biasa</a:t>
              </a:r>
              <a:endParaRPr sz="2400" b="1">
                <a:solidFill>
                  <a:schemeClr val="dk1"/>
                </a:solidFill>
                <a:latin typeface="Arial"/>
                <a:ea typeface="Arial"/>
                <a:cs typeface="Arial"/>
                <a:sym typeface="Arial"/>
              </a:endParaRPr>
            </a:p>
          </p:txBody>
        </p:sp>
        <p:sp>
          <p:nvSpPr>
            <p:cNvPr id="1135" name="Google Shape;1135;p69"/>
            <p:cNvSpPr/>
            <p:nvPr/>
          </p:nvSpPr>
          <p:spPr>
            <a:xfrm>
              <a:off x="6781800" y="2362200"/>
              <a:ext cx="1676400" cy="1905000"/>
            </a:xfrm>
            <a:prstGeom prst="cube">
              <a:avLst>
                <a:gd name="adj" fmla="val 8806"/>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Nilai Kini</a:t>
              </a: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Anuiti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Matang</a:t>
              </a:r>
              <a:endParaRPr sz="2400" b="1">
                <a:solidFill>
                  <a:schemeClr val="dk1"/>
                </a:solidFill>
                <a:latin typeface="Arial"/>
                <a:ea typeface="Arial"/>
                <a:cs typeface="Arial"/>
                <a:sym typeface="Arial"/>
              </a:endParaRPr>
            </a:p>
          </p:txBody>
        </p:sp>
      </p:grpSp>
      <p:sp>
        <p:nvSpPr>
          <p:cNvPr id="1136" name="Google Shape;1136;p6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57</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7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58</a:t>
            </a:fld>
            <a:endParaRPr sz="1200">
              <a:solidFill>
                <a:srgbClr val="1D4577"/>
              </a:solidFill>
              <a:latin typeface="Times New Roman"/>
              <a:ea typeface="Times New Roman"/>
              <a:cs typeface="Times New Roman"/>
              <a:sym typeface="Times New Roman"/>
            </a:endParaRPr>
          </a:p>
        </p:txBody>
      </p:sp>
      <p:grpSp>
        <p:nvGrpSpPr>
          <p:cNvPr id="1142" name="Google Shape;1142;p70"/>
          <p:cNvGrpSpPr/>
          <p:nvPr/>
        </p:nvGrpSpPr>
        <p:grpSpPr>
          <a:xfrm>
            <a:off x="859595" y="609600"/>
            <a:ext cx="7655755" cy="5827594"/>
            <a:chOff x="859595" y="609600"/>
            <a:chExt cx="7655755" cy="5827594"/>
          </a:xfrm>
        </p:grpSpPr>
        <p:sp>
          <p:nvSpPr>
            <p:cNvPr id="1143" name="Google Shape;1143;p70"/>
            <p:cNvSpPr/>
            <p:nvPr/>
          </p:nvSpPr>
          <p:spPr>
            <a:xfrm>
              <a:off x="990600" y="609600"/>
              <a:ext cx="3276600" cy="1905000"/>
            </a:xfrm>
            <a:prstGeom prst="downArrowCallout">
              <a:avLst>
                <a:gd name="adj1" fmla="val 20497"/>
                <a:gd name="adj2" fmla="val 43000"/>
                <a:gd name="adj3" fmla="val 16667"/>
                <a:gd name="adj4" fmla="val 6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NILAI KINI</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ANUITI BIASA</a:t>
              </a:r>
              <a:endParaRPr/>
            </a:p>
          </p:txBody>
        </p:sp>
        <p:sp>
          <p:nvSpPr>
            <p:cNvPr id="1144" name="Google Shape;1144;p70"/>
            <p:cNvSpPr/>
            <p:nvPr/>
          </p:nvSpPr>
          <p:spPr>
            <a:xfrm>
              <a:off x="4914900" y="609600"/>
              <a:ext cx="3276600" cy="1905000"/>
            </a:xfrm>
            <a:prstGeom prst="downArrowCallout">
              <a:avLst>
                <a:gd name="adj1" fmla="val 18301"/>
                <a:gd name="adj2" fmla="val 38393"/>
                <a:gd name="adj3" fmla="val 16667"/>
                <a:gd name="adj4" fmla="val 6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NILAI KINI</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ANUITI MATANG</a:t>
              </a:r>
              <a:endParaRPr/>
            </a:p>
          </p:txBody>
        </p:sp>
        <p:sp>
          <p:nvSpPr>
            <p:cNvPr id="1145" name="Google Shape;1145;p70"/>
            <p:cNvSpPr/>
            <p:nvPr/>
          </p:nvSpPr>
          <p:spPr>
            <a:xfrm>
              <a:off x="4876800" y="2550994"/>
              <a:ext cx="3638550" cy="38862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dirty="0">
                <a:solidFill>
                  <a:schemeClr val="dk1"/>
                </a:solidFill>
                <a:latin typeface="Arial"/>
                <a:ea typeface="Arial"/>
                <a:cs typeface="Arial"/>
                <a:sym typeface="Arial"/>
              </a:endParaRPr>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nilai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pada</a:t>
              </a:r>
              <a:r>
                <a:rPr lang="en-US" sz="2400" b="1" dirty="0">
                  <a:solidFill>
                    <a:schemeClr val="dk1"/>
                  </a:solidFill>
                  <a:latin typeface="Arial"/>
                  <a:ea typeface="Arial"/>
                  <a:cs typeface="Arial"/>
                  <a:sym typeface="Arial"/>
                </a:rPr>
                <a:t> masa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kini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atau</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sekarang</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bagi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satu</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siri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aliran</a:t>
              </a:r>
              <a:endParaRPr sz="2400" b="1" dirty="0">
                <a:solidFill>
                  <a:schemeClr val="dk1"/>
                </a:solidFill>
                <a:latin typeface="Arial"/>
                <a:ea typeface="Arial"/>
                <a:cs typeface="Arial"/>
                <a:sym typeface="Arial"/>
              </a:endParaRPr>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tunai</a:t>
              </a:r>
              <a:r>
                <a:rPr lang="en-US" sz="2400" b="1" dirty="0">
                  <a:solidFill>
                    <a:schemeClr val="dk1"/>
                  </a:solidFill>
                  <a:latin typeface="Arial"/>
                  <a:ea typeface="Arial"/>
                  <a:cs typeface="Arial"/>
                  <a:sym typeface="Arial"/>
                </a:rPr>
                <a:t>  yang </a:t>
              </a:r>
              <a:r>
                <a:rPr lang="en-US" sz="2400" b="1" dirty="0" err="1">
                  <a:solidFill>
                    <a:schemeClr val="dk1"/>
                  </a:solidFill>
                  <a:latin typeface="Arial"/>
                  <a:ea typeface="Arial"/>
                  <a:cs typeface="Arial"/>
                  <a:sym typeface="Arial"/>
                </a:rPr>
                <a:t>sama</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a:solidFill>
                    <a:schemeClr val="dk1"/>
                  </a:solidFill>
                  <a:latin typeface="Arial"/>
                  <a:ea typeface="Arial"/>
                  <a:cs typeface="Arial"/>
                  <a:sym typeface="Arial"/>
                </a:rPr>
                <a:t>(</a:t>
              </a:r>
              <a:r>
                <a:rPr lang="en-US" sz="2400" b="1" dirty="0" err="1">
                  <a:solidFill>
                    <a:schemeClr val="dk1"/>
                  </a:solidFill>
                  <a:latin typeface="Arial"/>
                  <a:ea typeface="Arial"/>
                  <a:cs typeface="Arial"/>
                  <a:sym typeface="Arial"/>
                </a:rPr>
                <a:t>seragam</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bagi</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setiap</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tempoh</a:t>
              </a:r>
              <a:r>
                <a:rPr lang="en-US" sz="2400" b="1" dirty="0">
                  <a:solidFill>
                    <a:schemeClr val="dk1"/>
                  </a:solidFill>
                  <a:latin typeface="Arial"/>
                  <a:ea typeface="Arial"/>
                  <a:cs typeface="Arial"/>
                  <a:sym typeface="Arial"/>
                </a:rPr>
                <a:t> yang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sama</a:t>
              </a:r>
              <a:r>
                <a:rPr lang="en-US" sz="2400" b="1" dirty="0">
                  <a:solidFill>
                    <a:schemeClr val="dk1"/>
                  </a:solidFill>
                  <a:latin typeface="Arial"/>
                  <a:ea typeface="Arial"/>
                  <a:cs typeface="Arial"/>
                  <a:sym typeface="Arial"/>
                </a:rPr>
                <a:t> di mana </a:t>
              </a:r>
              <a:r>
                <a:rPr lang="en-US" sz="2400" b="1" dirty="0" err="1">
                  <a:solidFill>
                    <a:schemeClr val="dk1"/>
                  </a:solidFill>
                  <a:latin typeface="Arial"/>
                  <a:ea typeface="Arial"/>
                  <a:cs typeface="Arial"/>
                  <a:sym typeface="Arial"/>
                </a:rPr>
                <a:t>setiap</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aliran</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tunai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tersebut</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berlaku</a:t>
              </a:r>
              <a:r>
                <a:rPr lang="en-US" sz="2400" b="1" dirty="0">
                  <a:solidFill>
                    <a:schemeClr val="dk1"/>
                  </a:solidFill>
                  <a:latin typeface="Arial"/>
                  <a:ea typeface="Arial"/>
                  <a:cs typeface="Arial"/>
                  <a:sym typeface="Arial"/>
                </a:rPr>
                <a:t>  </a:t>
              </a:r>
              <a:r>
                <a:rPr lang="en-US" sz="2400" b="1" dirty="0">
                  <a:solidFill>
                    <a:srgbClr val="FF0000"/>
                  </a:solidFill>
                  <a:latin typeface="Arial"/>
                  <a:ea typeface="Arial"/>
                  <a:cs typeface="Arial"/>
                  <a:sym typeface="Arial"/>
                </a:rPr>
                <a:t>di </a:t>
              </a:r>
              <a:r>
                <a:rPr lang="en-US" sz="2400" b="1" dirty="0" err="1">
                  <a:solidFill>
                    <a:srgbClr val="FF0000"/>
                  </a:solidFill>
                  <a:latin typeface="Arial"/>
                  <a:ea typeface="Arial"/>
                  <a:cs typeface="Arial"/>
                  <a:sym typeface="Arial"/>
                </a:rPr>
                <a:t>awal</a:t>
              </a:r>
              <a:r>
                <a:rPr lang="en-US" sz="2400" b="1" dirty="0">
                  <a:solidFill>
                    <a:srgbClr val="FF0000"/>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setiap</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tempoh</a:t>
              </a:r>
              <a:endParaRPr sz="2400" b="1" dirty="0">
                <a:solidFill>
                  <a:schemeClr val="dk1"/>
                </a:solidFill>
                <a:latin typeface="Arial"/>
                <a:ea typeface="Arial"/>
                <a:cs typeface="Arial"/>
                <a:sym typeface="Arial"/>
              </a:endParaRPr>
            </a:p>
            <a:p>
              <a:pPr marL="0" marR="0" lvl="0" indent="0" algn="ctr" rtl="0">
                <a:spcBef>
                  <a:spcPts val="0"/>
                </a:spcBef>
                <a:spcAft>
                  <a:spcPts val="0"/>
                </a:spcAft>
                <a:buNone/>
              </a:pPr>
              <a:endParaRPr sz="2400" dirty="0">
                <a:solidFill>
                  <a:schemeClr val="dk1"/>
                </a:solidFill>
                <a:latin typeface="Arial"/>
                <a:ea typeface="Arial"/>
                <a:cs typeface="Arial"/>
                <a:sym typeface="Arial"/>
              </a:endParaRPr>
            </a:p>
          </p:txBody>
        </p:sp>
        <p:sp>
          <p:nvSpPr>
            <p:cNvPr id="1146" name="Google Shape;1146;p70"/>
            <p:cNvSpPr/>
            <p:nvPr/>
          </p:nvSpPr>
          <p:spPr>
            <a:xfrm>
              <a:off x="859595" y="2550994"/>
              <a:ext cx="3745859" cy="38862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dirty="0">
                <a:solidFill>
                  <a:schemeClr val="dk1"/>
                </a:solidFill>
                <a:latin typeface="Arial"/>
                <a:ea typeface="Arial"/>
                <a:cs typeface="Arial"/>
                <a:sym typeface="Arial"/>
              </a:endParaRPr>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nilai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pada</a:t>
              </a:r>
              <a:r>
                <a:rPr lang="en-US" sz="2400" b="1" dirty="0">
                  <a:solidFill>
                    <a:schemeClr val="dk1"/>
                  </a:solidFill>
                  <a:latin typeface="Arial"/>
                  <a:ea typeface="Arial"/>
                  <a:cs typeface="Arial"/>
                  <a:sym typeface="Arial"/>
                </a:rPr>
                <a:t> masa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kini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atau</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sekarang</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bagi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satu</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siri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aliran</a:t>
              </a:r>
              <a:endParaRPr sz="2400" b="1" dirty="0">
                <a:solidFill>
                  <a:schemeClr val="dk1"/>
                </a:solidFill>
                <a:latin typeface="Arial"/>
                <a:ea typeface="Arial"/>
                <a:cs typeface="Arial"/>
                <a:sym typeface="Arial"/>
              </a:endParaRPr>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tunai</a:t>
              </a:r>
              <a:r>
                <a:rPr lang="en-US" sz="2400" b="1" dirty="0">
                  <a:solidFill>
                    <a:schemeClr val="dk1"/>
                  </a:solidFill>
                  <a:latin typeface="Arial"/>
                  <a:ea typeface="Arial"/>
                  <a:cs typeface="Arial"/>
                  <a:sym typeface="Arial"/>
                </a:rPr>
                <a:t>  yang </a:t>
              </a:r>
              <a:r>
                <a:rPr lang="en-US" sz="2400" b="1" dirty="0" err="1">
                  <a:solidFill>
                    <a:schemeClr val="dk1"/>
                  </a:solidFill>
                  <a:latin typeface="Arial"/>
                  <a:ea typeface="Arial"/>
                  <a:cs typeface="Arial"/>
                  <a:sym typeface="Arial"/>
                </a:rPr>
                <a:t>sama</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a:solidFill>
                    <a:schemeClr val="dk1"/>
                  </a:solidFill>
                  <a:latin typeface="Arial"/>
                  <a:ea typeface="Arial"/>
                  <a:cs typeface="Arial"/>
                  <a:sym typeface="Arial"/>
                </a:rPr>
                <a:t>(</a:t>
              </a:r>
              <a:r>
                <a:rPr lang="en-US" sz="2400" b="1" dirty="0" err="1">
                  <a:solidFill>
                    <a:schemeClr val="dk1"/>
                  </a:solidFill>
                  <a:latin typeface="Arial"/>
                  <a:ea typeface="Arial"/>
                  <a:cs typeface="Arial"/>
                  <a:sym typeface="Arial"/>
                </a:rPr>
                <a:t>seragam</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bagi</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setiap</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tempoh</a:t>
              </a:r>
              <a:r>
                <a:rPr lang="en-US" sz="2400" b="1" dirty="0">
                  <a:solidFill>
                    <a:schemeClr val="dk1"/>
                  </a:solidFill>
                  <a:latin typeface="Arial"/>
                  <a:ea typeface="Arial"/>
                  <a:cs typeface="Arial"/>
                  <a:sym typeface="Arial"/>
                </a:rPr>
                <a:t> yang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sama</a:t>
              </a:r>
              <a:r>
                <a:rPr lang="en-US" sz="2400" b="1" dirty="0">
                  <a:solidFill>
                    <a:schemeClr val="dk1"/>
                  </a:solidFill>
                  <a:latin typeface="Arial"/>
                  <a:ea typeface="Arial"/>
                  <a:cs typeface="Arial"/>
                  <a:sym typeface="Arial"/>
                </a:rPr>
                <a:t> di mana </a:t>
              </a:r>
              <a:r>
                <a:rPr lang="en-US" sz="2400" b="1" dirty="0" err="1">
                  <a:solidFill>
                    <a:schemeClr val="dk1"/>
                  </a:solidFill>
                  <a:latin typeface="Arial"/>
                  <a:ea typeface="Arial"/>
                  <a:cs typeface="Arial"/>
                  <a:sym typeface="Arial"/>
                </a:rPr>
                <a:t>setiap</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aliran</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tunai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tersebut</a:t>
              </a:r>
              <a:r>
                <a:rPr lang="en-US" sz="2400" b="1" dirty="0">
                  <a:solidFill>
                    <a:schemeClr val="dk1"/>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berlaku</a:t>
              </a:r>
              <a:r>
                <a:rPr lang="en-US" sz="2400" b="1" dirty="0">
                  <a:solidFill>
                    <a:schemeClr val="dk1"/>
                  </a:solidFill>
                  <a:latin typeface="Arial"/>
                  <a:ea typeface="Arial"/>
                  <a:cs typeface="Arial"/>
                  <a:sym typeface="Arial"/>
                </a:rPr>
                <a:t>  </a:t>
              </a:r>
              <a:r>
                <a:rPr lang="en-US" sz="2400" b="1" dirty="0">
                  <a:solidFill>
                    <a:srgbClr val="FF0000"/>
                  </a:solidFill>
                  <a:latin typeface="Arial"/>
                  <a:ea typeface="Arial"/>
                  <a:cs typeface="Arial"/>
                  <a:sym typeface="Arial"/>
                </a:rPr>
                <a:t>di </a:t>
              </a:r>
              <a:r>
                <a:rPr lang="en-US" sz="2400" b="1" dirty="0" err="1">
                  <a:solidFill>
                    <a:srgbClr val="FF0000"/>
                  </a:solidFill>
                  <a:latin typeface="Arial"/>
                  <a:ea typeface="Arial"/>
                  <a:cs typeface="Arial"/>
                  <a:sym typeface="Arial"/>
                </a:rPr>
                <a:t>akhir</a:t>
              </a:r>
              <a:r>
                <a:rPr lang="en-US" sz="2400" b="1" dirty="0">
                  <a:solidFill>
                    <a:srgbClr val="FF0000"/>
                  </a:solidFill>
                  <a:latin typeface="Arial"/>
                  <a:ea typeface="Arial"/>
                  <a:cs typeface="Arial"/>
                  <a:sym typeface="Arial"/>
                </a:rPr>
                <a:t> </a:t>
              </a:r>
              <a:endParaRPr dirty="0"/>
            </a:p>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setiap</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tempoh</a:t>
              </a:r>
              <a:endParaRPr sz="2400" b="1" dirty="0">
                <a:solidFill>
                  <a:schemeClr val="dk1"/>
                </a:solidFill>
                <a:latin typeface="Arial"/>
                <a:ea typeface="Arial"/>
                <a:cs typeface="Arial"/>
                <a:sym typeface="Arial"/>
              </a:endParaRPr>
            </a:p>
            <a:p>
              <a:pPr marL="0" marR="0" lvl="0" indent="0" algn="ctr" rtl="0">
                <a:spcBef>
                  <a:spcPts val="0"/>
                </a:spcBef>
                <a:spcAft>
                  <a:spcPts val="0"/>
                </a:spcAft>
                <a:buNone/>
              </a:pPr>
              <a:endParaRPr sz="2400" dirty="0">
                <a:solidFill>
                  <a:schemeClr val="dk1"/>
                </a:solidFill>
                <a:latin typeface="Arial"/>
                <a:ea typeface="Arial"/>
                <a:cs typeface="Arial"/>
                <a:sym typeface="Arial"/>
              </a:endParaRPr>
            </a:p>
          </p:txBody>
        </p:sp>
      </p:grpSp>
    </p:spTree>
  </p:cSld>
  <p:clrMapOvr>
    <a:masterClrMapping/>
  </p:clrMapOvr>
  <p:transition>
    <p:fade thruBlk="1"/>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71"/>
          <p:cNvSpPr/>
          <p:nvPr/>
        </p:nvSpPr>
        <p:spPr>
          <a:xfrm>
            <a:off x="609600" y="304800"/>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NILAI KINI ANUITI BIASA</a:t>
            </a:r>
            <a:endParaRPr/>
          </a:p>
        </p:txBody>
      </p:sp>
      <p:grpSp>
        <p:nvGrpSpPr>
          <p:cNvPr id="1152" name="Google Shape;1152;p71"/>
          <p:cNvGrpSpPr/>
          <p:nvPr/>
        </p:nvGrpSpPr>
        <p:grpSpPr>
          <a:xfrm>
            <a:off x="1653592" y="3844687"/>
            <a:ext cx="5771752" cy="2138065"/>
            <a:chOff x="1186624" y="4375150"/>
            <a:chExt cx="5771752" cy="2138065"/>
          </a:xfrm>
        </p:grpSpPr>
        <p:cxnSp>
          <p:nvCxnSpPr>
            <p:cNvPr id="1153" name="Google Shape;1153;p71"/>
            <p:cNvCxnSpPr/>
            <p:nvPr/>
          </p:nvCxnSpPr>
          <p:spPr>
            <a:xfrm rot="10800000" flipH="1">
              <a:off x="2251074" y="5206703"/>
              <a:ext cx="4343400" cy="6647"/>
            </a:xfrm>
            <a:prstGeom prst="straightConnector1">
              <a:avLst/>
            </a:prstGeom>
            <a:noFill/>
            <a:ln w="38100" cap="flat" cmpd="sng">
              <a:solidFill>
                <a:schemeClr val="dk1"/>
              </a:solidFill>
              <a:prstDash val="solid"/>
              <a:miter lim="800000"/>
              <a:headEnd type="none" w="med" len="med"/>
              <a:tailEnd type="none" w="med" len="med"/>
            </a:ln>
          </p:spPr>
        </p:cxnSp>
        <p:cxnSp>
          <p:nvCxnSpPr>
            <p:cNvPr id="1154" name="Google Shape;1154;p71"/>
            <p:cNvCxnSpPr/>
            <p:nvPr/>
          </p:nvCxnSpPr>
          <p:spPr>
            <a:xfrm>
              <a:off x="2251074" y="4908550"/>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155" name="Google Shape;1155;p71"/>
            <p:cNvCxnSpPr/>
            <p:nvPr/>
          </p:nvCxnSpPr>
          <p:spPr>
            <a:xfrm>
              <a:off x="3241674" y="4908550"/>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156" name="Google Shape;1156;p71"/>
            <p:cNvCxnSpPr/>
            <p:nvPr/>
          </p:nvCxnSpPr>
          <p:spPr>
            <a:xfrm>
              <a:off x="4308474" y="4908550"/>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157" name="Google Shape;1157;p71"/>
            <p:cNvCxnSpPr/>
            <p:nvPr/>
          </p:nvCxnSpPr>
          <p:spPr>
            <a:xfrm>
              <a:off x="5375274" y="4908550"/>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158" name="Google Shape;1158;p71"/>
            <p:cNvCxnSpPr/>
            <p:nvPr/>
          </p:nvCxnSpPr>
          <p:spPr>
            <a:xfrm>
              <a:off x="6594474" y="4908550"/>
              <a:ext cx="0" cy="685800"/>
            </a:xfrm>
            <a:prstGeom prst="straightConnector1">
              <a:avLst/>
            </a:prstGeom>
            <a:noFill/>
            <a:ln w="38100" cap="flat" cmpd="sng">
              <a:solidFill>
                <a:schemeClr val="dk1"/>
              </a:solidFill>
              <a:prstDash val="solid"/>
              <a:miter lim="800000"/>
              <a:headEnd type="none" w="med" len="med"/>
              <a:tailEnd type="none" w="med" len="med"/>
            </a:ln>
          </p:spPr>
        </p:cxnSp>
        <p:sp>
          <p:nvSpPr>
            <p:cNvPr id="1159" name="Google Shape;1159;p71"/>
            <p:cNvSpPr txBox="1"/>
            <p:nvPr/>
          </p:nvSpPr>
          <p:spPr>
            <a:xfrm>
              <a:off x="2458211" y="4713288"/>
              <a:ext cx="63030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8%</a:t>
              </a:r>
              <a:endParaRPr/>
            </a:p>
          </p:txBody>
        </p:sp>
        <p:sp>
          <p:nvSpPr>
            <p:cNvPr id="1160" name="Google Shape;1160;p71"/>
            <p:cNvSpPr txBox="1"/>
            <p:nvPr/>
          </p:nvSpPr>
          <p:spPr>
            <a:xfrm>
              <a:off x="6259146" y="5551488"/>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cxnSp>
          <p:nvCxnSpPr>
            <p:cNvPr id="1161" name="Google Shape;1161;p71"/>
            <p:cNvCxnSpPr/>
            <p:nvPr/>
          </p:nvCxnSpPr>
          <p:spPr>
            <a:xfrm>
              <a:off x="6594474" y="5975350"/>
              <a:ext cx="0" cy="381000"/>
            </a:xfrm>
            <a:prstGeom prst="straightConnector1">
              <a:avLst/>
            </a:prstGeom>
            <a:noFill/>
            <a:ln w="38100" cap="flat" cmpd="sng">
              <a:solidFill>
                <a:schemeClr val="dk1"/>
              </a:solidFill>
              <a:prstDash val="solid"/>
              <a:miter lim="800000"/>
              <a:headEnd type="none" w="med" len="med"/>
              <a:tailEnd type="none" w="med" len="med"/>
            </a:ln>
          </p:spPr>
        </p:cxnSp>
        <p:cxnSp>
          <p:nvCxnSpPr>
            <p:cNvPr id="1162" name="Google Shape;1162;p71"/>
            <p:cNvCxnSpPr/>
            <p:nvPr/>
          </p:nvCxnSpPr>
          <p:spPr>
            <a:xfrm>
              <a:off x="2327274" y="6356350"/>
              <a:ext cx="4267200" cy="0"/>
            </a:xfrm>
            <a:prstGeom prst="straightConnector1">
              <a:avLst/>
            </a:prstGeom>
            <a:noFill/>
            <a:ln w="38100" cap="flat" cmpd="sng">
              <a:solidFill>
                <a:schemeClr val="dk1"/>
              </a:solidFill>
              <a:prstDash val="solid"/>
              <a:miter lim="800000"/>
              <a:headEnd type="none" w="med" len="med"/>
              <a:tailEnd type="none" w="med" len="med"/>
            </a:ln>
          </p:spPr>
        </p:cxnSp>
        <p:sp>
          <p:nvSpPr>
            <p:cNvPr id="1163" name="Google Shape;1163;p71"/>
            <p:cNvSpPr txBox="1"/>
            <p:nvPr/>
          </p:nvSpPr>
          <p:spPr>
            <a:xfrm>
              <a:off x="1186624" y="6051550"/>
              <a:ext cx="116211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PVA=?</a:t>
              </a:r>
              <a:endParaRPr/>
            </a:p>
          </p:txBody>
        </p:sp>
        <p:sp>
          <p:nvSpPr>
            <p:cNvPr id="1164" name="Google Shape;1164;p71"/>
            <p:cNvSpPr txBox="1"/>
            <p:nvPr/>
          </p:nvSpPr>
          <p:spPr>
            <a:xfrm>
              <a:off x="2084093" y="4375150"/>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1165" name="Google Shape;1165;p71"/>
            <p:cNvSpPr txBox="1"/>
            <p:nvPr/>
          </p:nvSpPr>
          <p:spPr>
            <a:xfrm>
              <a:off x="3103268" y="4375150"/>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1166" name="Google Shape;1166;p71"/>
            <p:cNvSpPr txBox="1"/>
            <p:nvPr/>
          </p:nvSpPr>
          <p:spPr>
            <a:xfrm>
              <a:off x="4093868" y="4375150"/>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1167" name="Google Shape;1167;p71"/>
            <p:cNvSpPr txBox="1"/>
            <p:nvPr/>
          </p:nvSpPr>
          <p:spPr>
            <a:xfrm>
              <a:off x="5160668" y="4375150"/>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1168" name="Google Shape;1168;p71"/>
            <p:cNvSpPr txBox="1"/>
            <p:nvPr/>
          </p:nvSpPr>
          <p:spPr>
            <a:xfrm>
              <a:off x="6379868" y="4375150"/>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4</a:t>
              </a:r>
              <a:endParaRPr/>
            </a:p>
          </p:txBody>
        </p:sp>
        <p:sp>
          <p:nvSpPr>
            <p:cNvPr id="1169" name="Google Shape;1169;p71"/>
            <p:cNvSpPr txBox="1"/>
            <p:nvPr/>
          </p:nvSpPr>
          <p:spPr>
            <a:xfrm>
              <a:off x="2906346" y="559435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chemeClr val="dk1"/>
                  </a:solidFill>
                  <a:latin typeface="Arial"/>
                  <a:ea typeface="Arial"/>
                  <a:cs typeface="Arial"/>
                  <a:sym typeface="Arial"/>
                </a:rPr>
                <a:t>250</a:t>
              </a:r>
              <a:endParaRPr dirty="0"/>
            </a:p>
          </p:txBody>
        </p:sp>
        <p:sp>
          <p:nvSpPr>
            <p:cNvPr id="1170" name="Google Shape;1170;p71"/>
            <p:cNvSpPr txBox="1"/>
            <p:nvPr/>
          </p:nvSpPr>
          <p:spPr>
            <a:xfrm>
              <a:off x="3973146" y="559435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sp>
          <p:nvSpPr>
            <p:cNvPr id="1171" name="Google Shape;1171;p71"/>
            <p:cNvSpPr txBox="1"/>
            <p:nvPr/>
          </p:nvSpPr>
          <p:spPr>
            <a:xfrm>
              <a:off x="5039946" y="559435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250</a:t>
              </a:r>
              <a:endParaRPr/>
            </a:p>
          </p:txBody>
        </p:sp>
        <p:cxnSp>
          <p:nvCxnSpPr>
            <p:cNvPr id="1172" name="Google Shape;1172;p71"/>
            <p:cNvCxnSpPr/>
            <p:nvPr/>
          </p:nvCxnSpPr>
          <p:spPr>
            <a:xfrm>
              <a:off x="5375274" y="5975350"/>
              <a:ext cx="0" cy="381000"/>
            </a:xfrm>
            <a:prstGeom prst="straightConnector1">
              <a:avLst/>
            </a:prstGeom>
            <a:noFill/>
            <a:ln w="38100" cap="flat" cmpd="sng">
              <a:solidFill>
                <a:schemeClr val="dk1"/>
              </a:solidFill>
              <a:prstDash val="solid"/>
              <a:miter lim="800000"/>
              <a:headEnd type="none" w="med" len="med"/>
              <a:tailEnd type="none" w="med" len="med"/>
            </a:ln>
          </p:spPr>
        </p:cxnSp>
        <p:cxnSp>
          <p:nvCxnSpPr>
            <p:cNvPr id="1173" name="Google Shape;1173;p71"/>
            <p:cNvCxnSpPr/>
            <p:nvPr/>
          </p:nvCxnSpPr>
          <p:spPr>
            <a:xfrm>
              <a:off x="4308474" y="5975350"/>
              <a:ext cx="0" cy="381000"/>
            </a:xfrm>
            <a:prstGeom prst="straightConnector1">
              <a:avLst/>
            </a:prstGeom>
            <a:noFill/>
            <a:ln w="38100" cap="flat" cmpd="sng">
              <a:solidFill>
                <a:schemeClr val="dk1"/>
              </a:solidFill>
              <a:prstDash val="solid"/>
              <a:miter lim="800000"/>
              <a:headEnd type="none" w="med" len="med"/>
              <a:tailEnd type="none" w="med" len="med"/>
            </a:ln>
          </p:spPr>
        </p:cxnSp>
        <p:cxnSp>
          <p:nvCxnSpPr>
            <p:cNvPr id="1174" name="Google Shape;1174;p71"/>
            <p:cNvCxnSpPr/>
            <p:nvPr/>
          </p:nvCxnSpPr>
          <p:spPr>
            <a:xfrm>
              <a:off x="3241674" y="5975350"/>
              <a:ext cx="0" cy="381000"/>
            </a:xfrm>
            <a:prstGeom prst="straightConnector1">
              <a:avLst/>
            </a:prstGeom>
            <a:noFill/>
            <a:ln w="38100" cap="flat" cmpd="sng">
              <a:solidFill>
                <a:schemeClr val="dk1"/>
              </a:solidFill>
              <a:prstDash val="solid"/>
              <a:miter lim="800000"/>
              <a:headEnd type="none" w="med" len="med"/>
              <a:tailEnd type="none" w="med" len="med"/>
            </a:ln>
          </p:spPr>
        </p:cxnSp>
      </p:grpSp>
      <p:sp>
        <p:nvSpPr>
          <p:cNvPr id="1175" name="Google Shape;1175;p7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59</a:t>
            </a:fld>
            <a:endParaRPr sz="1200">
              <a:solidFill>
                <a:srgbClr val="1D4577"/>
              </a:solidFill>
              <a:latin typeface="Times New Roman"/>
              <a:ea typeface="Times New Roman"/>
              <a:cs typeface="Times New Roman"/>
              <a:sym typeface="Times New Roman"/>
            </a:endParaRPr>
          </a:p>
        </p:txBody>
      </p:sp>
      <p:sp>
        <p:nvSpPr>
          <p:cNvPr id="1176" name="Google Shape;1176;p71"/>
          <p:cNvSpPr/>
          <p:nvPr/>
        </p:nvSpPr>
        <p:spPr>
          <a:xfrm>
            <a:off x="1318904" y="1692501"/>
            <a:ext cx="6453496" cy="2286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Berapakah nilai kini bagi satu siri  aliran tunai sebanyak RM250 bagi setiap  akhir tahun selama 4 tahun. Amaun RM250  pertama berlaku pada akhir tahun ini  dan kadar faedah yang ditentukan  ialah sebanyak 8% setahun. </a:t>
            </a:r>
            <a:endParaRPr/>
          </a:p>
        </p:txBody>
      </p:sp>
    </p:spTree>
  </p:cSld>
  <p:clrMapOvr>
    <a:masterClrMapping/>
  </p:clrMapOvr>
  <p:transition>
    <p:fade thruBlk="1"/>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72"/>
          <p:cNvSpPr txBox="1"/>
          <p:nvPr/>
        </p:nvSpPr>
        <p:spPr>
          <a:xfrm>
            <a:off x="590550" y="288925"/>
            <a:ext cx="792480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kini anuiti biasa menggunakan jadual faktor nilai masa ?</a:t>
            </a:r>
            <a:endParaRPr/>
          </a:p>
        </p:txBody>
      </p:sp>
      <p:sp>
        <p:nvSpPr>
          <p:cNvPr id="1182" name="Google Shape;1182;p72"/>
          <p:cNvSpPr txBox="1"/>
          <p:nvPr/>
        </p:nvSpPr>
        <p:spPr>
          <a:xfrm>
            <a:off x="457200" y="1371600"/>
            <a:ext cx="335540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Jadual yang digunakan</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83" name="Google Shape;1183;p72"/>
          <p:cNvSpPr/>
          <p:nvPr/>
        </p:nvSpPr>
        <p:spPr>
          <a:xfrm>
            <a:off x="3856546" y="1499890"/>
            <a:ext cx="823913" cy="304800"/>
          </a:xfrm>
          <a:prstGeom prst="rightArrow">
            <a:avLst>
              <a:gd name="adj1" fmla="val 50000"/>
              <a:gd name="adj2" fmla="val 67578"/>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84" name="Google Shape;1184;p72"/>
          <p:cNvSpPr txBox="1"/>
          <p:nvPr/>
        </p:nvSpPr>
        <p:spPr>
          <a:xfrm>
            <a:off x="4724400" y="1295400"/>
            <a:ext cx="313098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Jadual faktor nilai kini</a:t>
            </a: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a:solidFill>
                  <a:schemeClr val="dk1"/>
                </a:solidFill>
                <a:latin typeface="Arial"/>
                <a:ea typeface="Arial"/>
                <a:cs typeface="Arial"/>
                <a:sym typeface="Arial"/>
              </a:rPr>
              <a:t>anuiti biasa (PVIFA)</a:t>
            </a:r>
            <a:endParaRPr/>
          </a:p>
        </p:txBody>
      </p:sp>
      <p:sp>
        <p:nvSpPr>
          <p:cNvPr id="1185" name="Google Shape;1185;p72"/>
          <p:cNvSpPr txBox="1"/>
          <p:nvPr/>
        </p:nvSpPr>
        <p:spPr>
          <a:xfrm>
            <a:off x="918243" y="3839557"/>
            <a:ext cx="75244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rial"/>
                <a:ea typeface="Arial"/>
                <a:cs typeface="Arial"/>
                <a:sym typeface="Arial"/>
              </a:rPr>
              <a:t>Di mana:    PMT=RM250,     </a:t>
            </a:r>
            <a:r>
              <a:rPr lang="en-US" sz="2400" dirty="0" err="1">
                <a:solidFill>
                  <a:schemeClr val="dk1"/>
                </a:solidFill>
                <a:latin typeface="Arial"/>
                <a:ea typeface="Arial"/>
                <a:cs typeface="Arial"/>
                <a:sym typeface="Arial"/>
              </a:rPr>
              <a:t>i</a:t>
            </a:r>
            <a:r>
              <a:rPr lang="en-US" sz="2400" dirty="0">
                <a:solidFill>
                  <a:schemeClr val="dk1"/>
                </a:solidFill>
                <a:latin typeface="Arial"/>
                <a:ea typeface="Arial"/>
                <a:cs typeface="Arial"/>
                <a:sym typeface="Arial"/>
              </a:rPr>
              <a:t>=8%,      n=4,       PVA=?</a:t>
            </a:r>
            <a:endParaRPr dirty="0"/>
          </a:p>
        </p:txBody>
      </p:sp>
      <p:pic>
        <p:nvPicPr>
          <p:cNvPr id="1186" name="Google Shape;1186;p72"/>
          <p:cNvPicPr preferRelativeResize="0"/>
          <p:nvPr/>
        </p:nvPicPr>
        <p:blipFill rotWithShape="1">
          <a:blip r:embed="rId3">
            <a:alphaModFix/>
          </a:blip>
          <a:srcRect/>
          <a:stretch/>
        </p:blipFill>
        <p:spPr>
          <a:xfrm>
            <a:off x="2350817" y="4291891"/>
            <a:ext cx="3652970" cy="454391"/>
          </a:xfrm>
          <a:prstGeom prst="rect">
            <a:avLst/>
          </a:prstGeom>
          <a:noFill/>
          <a:ln>
            <a:noFill/>
          </a:ln>
        </p:spPr>
      </p:pic>
      <p:pic>
        <p:nvPicPr>
          <p:cNvPr id="1187" name="Google Shape;1187;p72"/>
          <p:cNvPicPr preferRelativeResize="0"/>
          <p:nvPr/>
        </p:nvPicPr>
        <p:blipFill rotWithShape="1">
          <a:blip r:embed="rId4">
            <a:alphaModFix/>
          </a:blip>
          <a:srcRect/>
          <a:stretch/>
        </p:blipFill>
        <p:spPr>
          <a:xfrm>
            <a:off x="2350817" y="4744225"/>
            <a:ext cx="3621088" cy="454391"/>
          </a:xfrm>
          <a:prstGeom prst="rect">
            <a:avLst/>
          </a:prstGeom>
          <a:noFill/>
          <a:ln>
            <a:noFill/>
          </a:ln>
        </p:spPr>
      </p:pic>
      <p:pic>
        <p:nvPicPr>
          <p:cNvPr id="1188" name="Google Shape;1188;p72"/>
          <p:cNvPicPr preferRelativeResize="0"/>
          <p:nvPr/>
        </p:nvPicPr>
        <p:blipFill rotWithShape="1">
          <a:blip r:embed="rId5">
            <a:alphaModFix/>
          </a:blip>
          <a:srcRect/>
          <a:stretch/>
        </p:blipFill>
        <p:spPr>
          <a:xfrm>
            <a:off x="2318841" y="5136150"/>
            <a:ext cx="3075410" cy="381952"/>
          </a:xfrm>
          <a:prstGeom prst="rect">
            <a:avLst/>
          </a:prstGeom>
          <a:noFill/>
          <a:ln>
            <a:noFill/>
          </a:ln>
        </p:spPr>
      </p:pic>
      <p:pic>
        <p:nvPicPr>
          <p:cNvPr id="1189" name="Google Shape;1189;p72"/>
          <p:cNvPicPr preferRelativeResize="0"/>
          <p:nvPr/>
        </p:nvPicPr>
        <p:blipFill rotWithShape="1">
          <a:blip r:embed="rId6">
            <a:alphaModFix/>
          </a:blip>
          <a:srcRect/>
          <a:stretch/>
        </p:blipFill>
        <p:spPr>
          <a:xfrm>
            <a:off x="2318841" y="5641619"/>
            <a:ext cx="2882890" cy="333659"/>
          </a:xfrm>
          <a:prstGeom prst="rect">
            <a:avLst/>
          </a:prstGeom>
          <a:noFill/>
          <a:ln>
            <a:noFill/>
          </a:ln>
        </p:spPr>
      </p:pic>
      <p:sp>
        <p:nvSpPr>
          <p:cNvPr id="1190" name="Google Shape;1190;p7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60</a:t>
            </a:fld>
            <a:endParaRPr sz="1200">
              <a:solidFill>
                <a:srgbClr val="1D4577"/>
              </a:solidFill>
              <a:latin typeface="Times New Roman"/>
              <a:ea typeface="Times New Roman"/>
              <a:cs typeface="Times New Roman"/>
              <a:sym typeface="Times New Roman"/>
            </a:endParaRPr>
          </a:p>
        </p:txBody>
      </p:sp>
      <p:sp>
        <p:nvSpPr>
          <p:cNvPr id="1191" name="Google Shape;1191;p72"/>
          <p:cNvSpPr txBox="1"/>
          <p:nvPr/>
        </p:nvSpPr>
        <p:spPr>
          <a:xfrm>
            <a:off x="647700" y="2241606"/>
            <a:ext cx="8001000"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Berapakah nilai kini bagi satu siri aliran tunai sebanyak RM250 bagi setiap akhir tahun selama 4 tahun. Amaun RM250 pertama berlaku pada akhir tahun ini dan kadar faedah yang ditentukan ialah sebanyak 8% setahun.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82"/>
                                        </p:tgtEl>
                                        <p:attrNameLst>
                                          <p:attrName>style.visibility</p:attrName>
                                        </p:attrNameLst>
                                      </p:cBhvr>
                                      <p:to>
                                        <p:strVal val="visible"/>
                                      </p:to>
                                    </p:set>
                                    <p:anim calcmode="lin" valueType="num">
                                      <p:cBhvr additive="base">
                                        <p:cTn id="7" dur="500"/>
                                        <p:tgtEl>
                                          <p:spTgt spid="1182"/>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83"/>
                                        </p:tgtEl>
                                        <p:attrNameLst>
                                          <p:attrName>style.visibility</p:attrName>
                                        </p:attrNameLst>
                                      </p:cBhvr>
                                      <p:to>
                                        <p:strVal val="visible"/>
                                      </p:to>
                                    </p:set>
                                    <p:anim calcmode="lin" valueType="num">
                                      <p:cBhvr additive="base">
                                        <p:cTn id="12" dur="500"/>
                                        <p:tgtEl>
                                          <p:spTgt spid="118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84"/>
                                        </p:tgtEl>
                                        <p:attrNameLst>
                                          <p:attrName>style.visibility</p:attrName>
                                        </p:attrNameLst>
                                      </p:cBhvr>
                                      <p:to>
                                        <p:strVal val="visible"/>
                                      </p:to>
                                    </p:set>
                                    <p:anim calcmode="lin" valueType="num">
                                      <p:cBhvr additive="base">
                                        <p:cTn id="17" dur="500"/>
                                        <p:tgtEl>
                                          <p:spTgt spid="1184"/>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91"/>
                                        </p:tgtEl>
                                        <p:attrNameLst>
                                          <p:attrName>style.visibility</p:attrName>
                                        </p:attrNameLst>
                                      </p:cBhvr>
                                      <p:to>
                                        <p:strVal val="visible"/>
                                      </p:to>
                                    </p:set>
                                    <p:animEffect transition="in" filter="fade">
                                      <p:cBhvr>
                                        <p:cTn id="22" dur="1000"/>
                                        <p:tgtEl>
                                          <p:spTgt spid="119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185"/>
                                        </p:tgtEl>
                                        <p:attrNameLst>
                                          <p:attrName>style.visibility</p:attrName>
                                        </p:attrNameLst>
                                      </p:cBhvr>
                                      <p:to>
                                        <p:strVal val="visible"/>
                                      </p:to>
                                    </p:set>
                                    <p:anim calcmode="lin" valueType="num">
                                      <p:cBhvr additive="base">
                                        <p:cTn id="27" dur="500"/>
                                        <p:tgtEl>
                                          <p:spTgt spid="118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7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sp>
        <p:nvSpPr>
          <p:cNvPr id="1197" name="Google Shape;1197;p73"/>
          <p:cNvSpPr txBox="1"/>
          <p:nvPr/>
        </p:nvSpPr>
        <p:spPr>
          <a:xfrm>
            <a:off x="590550" y="288925"/>
            <a:ext cx="792480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kini anuiti biasa menggunakan rumus?</a:t>
            </a:r>
            <a:endParaRPr/>
          </a:p>
        </p:txBody>
      </p:sp>
      <p:sp>
        <p:nvSpPr>
          <p:cNvPr id="1198" name="Google Shape;1198;p73"/>
          <p:cNvSpPr txBox="1"/>
          <p:nvPr/>
        </p:nvSpPr>
        <p:spPr>
          <a:xfrm>
            <a:off x="647700" y="3636889"/>
            <a:ext cx="75244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Di mana:    PMT=RM250,     i=8%,      n=4,       PVA=?</a:t>
            </a:r>
            <a:endParaRPr/>
          </a:p>
        </p:txBody>
      </p:sp>
      <p:pic>
        <p:nvPicPr>
          <p:cNvPr id="1199" name="Google Shape;1199;p73"/>
          <p:cNvPicPr preferRelativeResize="0"/>
          <p:nvPr/>
        </p:nvPicPr>
        <p:blipFill rotWithShape="1">
          <a:blip r:embed="rId3">
            <a:alphaModFix/>
          </a:blip>
          <a:srcRect/>
          <a:stretch/>
        </p:blipFill>
        <p:spPr>
          <a:xfrm>
            <a:off x="1670060" y="5943600"/>
            <a:ext cx="2882890" cy="333659"/>
          </a:xfrm>
          <a:prstGeom prst="rect">
            <a:avLst/>
          </a:prstGeom>
          <a:noFill/>
          <a:ln>
            <a:noFill/>
          </a:ln>
        </p:spPr>
      </p:pic>
      <p:sp>
        <p:nvSpPr>
          <p:cNvPr id="1200" name="Google Shape;1200;p73"/>
          <p:cNvSpPr txBox="1"/>
          <p:nvPr/>
        </p:nvSpPr>
        <p:spPr>
          <a:xfrm>
            <a:off x="647700" y="2051376"/>
            <a:ext cx="8001000"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err="1">
                <a:solidFill>
                  <a:schemeClr val="dk1"/>
                </a:solidFill>
                <a:latin typeface="Arial"/>
                <a:ea typeface="Arial"/>
                <a:cs typeface="Arial"/>
                <a:sym typeface="Arial"/>
              </a:rPr>
              <a:t>Berapakah</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nilai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kini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bagi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satu</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siri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aliran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tunai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sebanyak</a:t>
            </a:r>
            <a:r>
              <a:rPr lang="en-US" sz="2400" dirty="0">
                <a:solidFill>
                  <a:schemeClr val="dk1"/>
                </a:solidFill>
                <a:latin typeface="Arial"/>
                <a:ea typeface="Arial"/>
                <a:cs typeface="Arial"/>
                <a:sym typeface="Arial"/>
              </a:rPr>
              <a:t> RM250 </a:t>
            </a:r>
            <a:r>
              <a:rPr lang="en-US" sz="2400" dirty="0" err="1">
                <a:solidFill>
                  <a:schemeClr val="dk1"/>
                </a:solidFill>
                <a:latin typeface="Arial"/>
                <a:ea typeface="Arial"/>
                <a:cs typeface="Arial"/>
                <a:sym typeface="Arial"/>
              </a:rPr>
              <a:t>bagi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setiap</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akhir</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tahun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selama</a:t>
            </a:r>
            <a:r>
              <a:rPr lang="en-US" sz="2400" dirty="0">
                <a:solidFill>
                  <a:schemeClr val="dk1"/>
                </a:solidFill>
                <a:latin typeface="Arial"/>
                <a:ea typeface="Arial"/>
                <a:cs typeface="Arial"/>
                <a:sym typeface="Arial"/>
              </a:rPr>
              <a:t> 4 </a:t>
            </a:r>
            <a:r>
              <a:rPr lang="en-US" sz="2400" dirty="0" err="1">
                <a:solidFill>
                  <a:schemeClr val="dk1"/>
                </a:solidFill>
                <a:latin typeface="Arial"/>
                <a:ea typeface="Arial"/>
                <a:cs typeface="Arial"/>
                <a:sym typeface="Arial"/>
              </a:rPr>
              <a:t>tahun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Amaun</a:t>
            </a:r>
            <a:r>
              <a:rPr lang="en-US" sz="2400" dirty="0">
                <a:solidFill>
                  <a:schemeClr val="dk1"/>
                </a:solidFill>
                <a:latin typeface="Arial"/>
                <a:ea typeface="Arial"/>
                <a:cs typeface="Arial"/>
                <a:sym typeface="Arial"/>
              </a:rPr>
              <a:t> RM250 </a:t>
            </a:r>
            <a:r>
              <a:rPr lang="en-US" sz="2400" dirty="0" err="1">
                <a:solidFill>
                  <a:schemeClr val="dk1"/>
                </a:solidFill>
                <a:latin typeface="Arial"/>
                <a:ea typeface="Arial"/>
                <a:cs typeface="Arial"/>
                <a:sym typeface="Arial"/>
              </a:rPr>
              <a:t>pertama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berlaku</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pada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akhir</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tahun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ini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kadar</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faedah</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ditentukan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ialah</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sebanyak</a:t>
            </a:r>
            <a:r>
              <a:rPr lang="en-US" sz="2400" dirty="0">
                <a:solidFill>
                  <a:schemeClr val="dk1"/>
                </a:solidFill>
                <a:latin typeface="Arial"/>
                <a:ea typeface="Arial"/>
                <a:cs typeface="Arial"/>
                <a:sym typeface="Arial"/>
              </a:rPr>
              <a:t> 8% </a:t>
            </a:r>
            <a:r>
              <a:rPr lang="en-US" sz="2400" dirty="0" err="1">
                <a:solidFill>
                  <a:schemeClr val="dk1"/>
                </a:solidFill>
                <a:latin typeface="Arial"/>
                <a:ea typeface="Arial"/>
                <a:cs typeface="Arial"/>
                <a:sym typeface="Arial"/>
              </a:rPr>
              <a:t>setahun</a:t>
            </a:r>
            <a:r>
              <a:rPr lang="en-US" sz="2400" dirty="0">
                <a:solidFill>
                  <a:schemeClr val="dk1"/>
                </a:solidFill>
                <a:latin typeface="Arial"/>
                <a:ea typeface="Arial"/>
                <a:cs typeface="Arial"/>
                <a:sym typeface="Arial"/>
              </a:rPr>
              <a:t>. </a:t>
            </a:r>
            <a:endParaRPr dirty="0"/>
          </a:p>
        </p:txBody>
      </p:sp>
      <p:grpSp>
        <p:nvGrpSpPr>
          <p:cNvPr id="1201" name="Google Shape;1201;p73"/>
          <p:cNvGrpSpPr/>
          <p:nvPr/>
        </p:nvGrpSpPr>
        <p:grpSpPr>
          <a:xfrm>
            <a:off x="228600" y="1219200"/>
            <a:ext cx="8420100" cy="907043"/>
            <a:chOff x="228600" y="1219200"/>
            <a:chExt cx="8420100" cy="907043"/>
          </a:xfrm>
        </p:grpSpPr>
        <p:sp>
          <p:nvSpPr>
            <p:cNvPr id="1202" name="Google Shape;1202;p73"/>
            <p:cNvSpPr txBox="1"/>
            <p:nvPr/>
          </p:nvSpPr>
          <p:spPr>
            <a:xfrm>
              <a:off x="228600" y="1443335"/>
              <a:ext cx="34227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Rumus yang digunakan</a:t>
              </a:r>
              <a:endParaRPr sz="2400">
                <a:solidFill>
                  <a:schemeClr val="dk1"/>
                </a:solidFill>
                <a:latin typeface="Arial"/>
                <a:ea typeface="Arial"/>
                <a:cs typeface="Arial"/>
                <a:sym typeface="Arial"/>
              </a:endParaRPr>
            </a:p>
          </p:txBody>
        </p:sp>
        <p:sp>
          <p:nvSpPr>
            <p:cNvPr id="1203" name="Google Shape;1203;p73"/>
            <p:cNvSpPr/>
            <p:nvPr/>
          </p:nvSpPr>
          <p:spPr>
            <a:xfrm>
              <a:off x="3733800" y="1499890"/>
              <a:ext cx="823913" cy="304800"/>
            </a:xfrm>
            <a:prstGeom prst="rightArrow">
              <a:avLst>
                <a:gd name="adj1" fmla="val 50000"/>
                <a:gd name="adj2" fmla="val 67578"/>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04" name="Google Shape;1204;p73"/>
            <p:cNvSpPr txBox="1"/>
            <p:nvPr/>
          </p:nvSpPr>
          <p:spPr>
            <a:xfrm>
              <a:off x="4648200" y="1219200"/>
              <a:ext cx="4000500" cy="907043"/>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1205" name="Google Shape;1205;p73"/>
          <p:cNvSpPr txBox="1"/>
          <p:nvPr/>
        </p:nvSpPr>
        <p:spPr>
          <a:xfrm>
            <a:off x="1254512" y="4015913"/>
            <a:ext cx="4572000" cy="874598"/>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206" name="Google Shape;1206;p73"/>
          <p:cNvSpPr txBox="1"/>
          <p:nvPr/>
        </p:nvSpPr>
        <p:spPr>
          <a:xfrm>
            <a:off x="1254512" y="4890511"/>
            <a:ext cx="4572000" cy="897425"/>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0"/>
                                        </p:tgtEl>
                                        <p:attrNameLst>
                                          <p:attrName>style.visibility</p:attrName>
                                        </p:attrNameLst>
                                      </p:cBhvr>
                                      <p:to>
                                        <p:strVal val="visible"/>
                                      </p:to>
                                    </p:set>
                                    <p:animEffect transition="in" filter="fade">
                                      <p:cBhvr>
                                        <p:cTn id="7" dur="1000"/>
                                        <p:tgtEl>
                                          <p:spTgt spid="12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98"/>
                                        </p:tgtEl>
                                        <p:attrNameLst>
                                          <p:attrName>style.visibility</p:attrName>
                                        </p:attrNameLst>
                                      </p:cBhvr>
                                      <p:to>
                                        <p:strVal val="visible"/>
                                      </p:to>
                                    </p:set>
                                    <p:anim calcmode="lin" valueType="num">
                                      <p:cBhvr additive="base">
                                        <p:cTn id="12" dur="500"/>
                                        <p:tgtEl>
                                          <p:spTgt spid="119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10"/>
        <p:cNvGrpSpPr/>
        <p:nvPr/>
      </p:nvGrpSpPr>
      <p:grpSpPr>
        <a:xfrm>
          <a:off x="0" y="0"/>
          <a:ext cx="0" cy="0"/>
          <a:chOff x="0" y="0"/>
          <a:chExt cx="0" cy="0"/>
        </a:xfrm>
      </p:grpSpPr>
      <p:sp>
        <p:nvSpPr>
          <p:cNvPr id="1211" name="Google Shape;1211;p74"/>
          <p:cNvSpPr/>
          <p:nvPr/>
        </p:nvSpPr>
        <p:spPr>
          <a:xfrm>
            <a:off x="609600" y="304800"/>
            <a:ext cx="790575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600" b="1">
                <a:solidFill>
                  <a:schemeClr val="dk1"/>
                </a:solidFill>
                <a:latin typeface="Arial"/>
                <a:ea typeface="Arial"/>
                <a:cs typeface="Arial"/>
                <a:sym typeface="Arial"/>
              </a:rPr>
              <a:t>NILAI KINI ANUITI MATANG</a:t>
            </a:r>
            <a:endParaRPr/>
          </a:p>
        </p:txBody>
      </p:sp>
      <p:sp>
        <p:nvSpPr>
          <p:cNvPr id="1212" name="Google Shape;1212;p7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62</a:t>
            </a:fld>
            <a:endParaRPr sz="1200">
              <a:solidFill>
                <a:srgbClr val="1D4577"/>
              </a:solidFill>
              <a:latin typeface="Times New Roman"/>
              <a:ea typeface="Times New Roman"/>
              <a:cs typeface="Times New Roman"/>
              <a:sym typeface="Times New Roman"/>
            </a:endParaRPr>
          </a:p>
        </p:txBody>
      </p:sp>
      <p:grpSp>
        <p:nvGrpSpPr>
          <p:cNvPr id="1213" name="Google Shape;1213;p74"/>
          <p:cNvGrpSpPr/>
          <p:nvPr/>
        </p:nvGrpSpPr>
        <p:grpSpPr>
          <a:xfrm>
            <a:off x="1639676" y="4129668"/>
            <a:ext cx="6192197" cy="2214265"/>
            <a:chOff x="665803" y="4385978"/>
            <a:chExt cx="6192197" cy="2214265"/>
          </a:xfrm>
        </p:grpSpPr>
        <p:cxnSp>
          <p:nvCxnSpPr>
            <p:cNvPr id="1214" name="Google Shape;1214;p74"/>
            <p:cNvCxnSpPr/>
            <p:nvPr/>
          </p:nvCxnSpPr>
          <p:spPr>
            <a:xfrm>
              <a:off x="2620258" y="5185782"/>
              <a:ext cx="4085342" cy="0"/>
            </a:xfrm>
            <a:prstGeom prst="straightConnector1">
              <a:avLst/>
            </a:prstGeom>
            <a:noFill/>
            <a:ln w="38100" cap="flat" cmpd="sng">
              <a:solidFill>
                <a:schemeClr val="dk1"/>
              </a:solidFill>
              <a:prstDash val="solid"/>
              <a:miter lim="800000"/>
              <a:headEnd type="none" w="med" len="med"/>
              <a:tailEnd type="none" w="med" len="med"/>
            </a:ln>
          </p:spPr>
        </p:cxnSp>
        <p:cxnSp>
          <p:nvCxnSpPr>
            <p:cNvPr id="1215" name="Google Shape;1215;p74"/>
            <p:cNvCxnSpPr/>
            <p:nvPr/>
          </p:nvCxnSpPr>
          <p:spPr>
            <a:xfrm>
              <a:off x="2604383" y="4919378"/>
              <a:ext cx="14846" cy="609600"/>
            </a:xfrm>
            <a:prstGeom prst="straightConnector1">
              <a:avLst/>
            </a:prstGeom>
            <a:noFill/>
            <a:ln w="38100" cap="flat" cmpd="sng">
              <a:solidFill>
                <a:schemeClr val="dk1"/>
              </a:solidFill>
              <a:prstDash val="solid"/>
              <a:miter lim="800000"/>
              <a:headEnd type="none" w="med" len="med"/>
              <a:tailEnd type="none" w="med" len="med"/>
            </a:ln>
          </p:spPr>
        </p:cxnSp>
        <p:cxnSp>
          <p:nvCxnSpPr>
            <p:cNvPr id="1216" name="Google Shape;1216;p74"/>
            <p:cNvCxnSpPr/>
            <p:nvPr/>
          </p:nvCxnSpPr>
          <p:spPr>
            <a:xfrm flipH="1">
              <a:off x="3961370" y="4876800"/>
              <a:ext cx="1030" cy="652178"/>
            </a:xfrm>
            <a:prstGeom prst="straightConnector1">
              <a:avLst/>
            </a:prstGeom>
            <a:noFill/>
            <a:ln w="38100" cap="flat" cmpd="sng">
              <a:solidFill>
                <a:schemeClr val="dk1"/>
              </a:solidFill>
              <a:prstDash val="solid"/>
              <a:miter lim="800000"/>
              <a:headEnd type="none" w="med" len="med"/>
              <a:tailEnd type="none" w="med" len="med"/>
            </a:ln>
          </p:spPr>
        </p:cxnSp>
        <p:cxnSp>
          <p:nvCxnSpPr>
            <p:cNvPr id="1217" name="Google Shape;1217;p74"/>
            <p:cNvCxnSpPr/>
            <p:nvPr/>
          </p:nvCxnSpPr>
          <p:spPr>
            <a:xfrm>
              <a:off x="5363458" y="4919378"/>
              <a:ext cx="0" cy="609600"/>
            </a:xfrm>
            <a:prstGeom prst="straightConnector1">
              <a:avLst/>
            </a:prstGeom>
            <a:noFill/>
            <a:ln w="38100" cap="flat" cmpd="sng">
              <a:solidFill>
                <a:schemeClr val="dk1"/>
              </a:solidFill>
              <a:prstDash val="solid"/>
              <a:miter lim="800000"/>
              <a:headEnd type="none" w="med" len="med"/>
              <a:tailEnd type="none" w="med" len="med"/>
            </a:ln>
          </p:spPr>
        </p:cxnSp>
        <p:cxnSp>
          <p:nvCxnSpPr>
            <p:cNvPr id="1218" name="Google Shape;1218;p74"/>
            <p:cNvCxnSpPr/>
            <p:nvPr/>
          </p:nvCxnSpPr>
          <p:spPr>
            <a:xfrm>
              <a:off x="6705600" y="4876800"/>
              <a:ext cx="0" cy="652178"/>
            </a:xfrm>
            <a:prstGeom prst="straightConnector1">
              <a:avLst/>
            </a:prstGeom>
            <a:noFill/>
            <a:ln w="38100" cap="flat" cmpd="sng">
              <a:solidFill>
                <a:schemeClr val="dk1"/>
              </a:solidFill>
              <a:prstDash val="solid"/>
              <a:miter lim="800000"/>
              <a:headEnd type="none" w="med" len="med"/>
              <a:tailEnd type="none" w="med" len="med"/>
            </a:ln>
          </p:spPr>
        </p:cxnSp>
        <p:sp>
          <p:nvSpPr>
            <p:cNvPr id="1219" name="Google Shape;1219;p74"/>
            <p:cNvSpPr txBox="1"/>
            <p:nvPr/>
          </p:nvSpPr>
          <p:spPr>
            <a:xfrm>
              <a:off x="2725759" y="4724116"/>
              <a:ext cx="80182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15%</a:t>
              </a:r>
              <a:endParaRPr/>
            </a:p>
          </p:txBody>
        </p:sp>
        <p:sp>
          <p:nvSpPr>
            <p:cNvPr id="1220" name="Google Shape;1220;p74"/>
            <p:cNvSpPr txBox="1"/>
            <p:nvPr/>
          </p:nvSpPr>
          <p:spPr>
            <a:xfrm>
              <a:off x="665803" y="6138578"/>
              <a:ext cx="153401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PVA</a:t>
              </a:r>
              <a:r>
                <a:rPr lang="en-US" sz="1800" b="1">
                  <a:solidFill>
                    <a:schemeClr val="dk1"/>
                  </a:solidFill>
                  <a:latin typeface="Arial"/>
                  <a:ea typeface="Arial"/>
                  <a:cs typeface="Arial"/>
                  <a:sym typeface="Arial"/>
                </a:rPr>
                <a:t>AD</a:t>
              </a:r>
              <a:r>
                <a:rPr lang="en-US" sz="2400" b="1">
                  <a:solidFill>
                    <a:schemeClr val="dk1"/>
                  </a:solidFill>
                  <a:latin typeface="Arial"/>
                  <a:ea typeface="Arial"/>
                  <a:cs typeface="Arial"/>
                  <a:sym typeface="Arial"/>
                </a:rPr>
                <a:t>=?</a:t>
              </a:r>
              <a:endParaRPr/>
            </a:p>
          </p:txBody>
        </p:sp>
        <p:sp>
          <p:nvSpPr>
            <p:cNvPr id="1221" name="Google Shape;1221;p74"/>
            <p:cNvSpPr txBox="1"/>
            <p:nvPr/>
          </p:nvSpPr>
          <p:spPr>
            <a:xfrm>
              <a:off x="2437402" y="4385978"/>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1222" name="Google Shape;1222;p74"/>
            <p:cNvSpPr txBox="1"/>
            <p:nvPr/>
          </p:nvSpPr>
          <p:spPr>
            <a:xfrm>
              <a:off x="3777252" y="4385978"/>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1223" name="Google Shape;1223;p74"/>
            <p:cNvSpPr txBox="1"/>
            <p:nvPr/>
          </p:nvSpPr>
          <p:spPr>
            <a:xfrm>
              <a:off x="5225052" y="4385978"/>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1224" name="Google Shape;1224;p74"/>
            <p:cNvSpPr txBox="1"/>
            <p:nvPr/>
          </p:nvSpPr>
          <p:spPr>
            <a:xfrm>
              <a:off x="6501813" y="4385978"/>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1225" name="Google Shape;1225;p74"/>
            <p:cNvSpPr txBox="1"/>
            <p:nvPr/>
          </p:nvSpPr>
          <p:spPr>
            <a:xfrm>
              <a:off x="2186470" y="5528978"/>
              <a:ext cx="87075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3000</a:t>
              </a:r>
              <a:endParaRPr/>
            </a:p>
          </p:txBody>
        </p:sp>
        <p:sp>
          <p:nvSpPr>
            <p:cNvPr id="1226" name="Google Shape;1226;p74"/>
            <p:cNvSpPr txBox="1"/>
            <p:nvPr/>
          </p:nvSpPr>
          <p:spPr>
            <a:xfrm>
              <a:off x="3481870" y="5528978"/>
              <a:ext cx="87075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3000</a:t>
              </a:r>
              <a:endParaRPr/>
            </a:p>
          </p:txBody>
        </p:sp>
        <p:sp>
          <p:nvSpPr>
            <p:cNvPr id="1227" name="Google Shape;1227;p74"/>
            <p:cNvSpPr txBox="1"/>
            <p:nvPr/>
          </p:nvSpPr>
          <p:spPr>
            <a:xfrm>
              <a:off x="4929670" y="5558135"/>
              <a:ext cx="87075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chemeClr val="dk1"/>
                  </a:solidFill>
                  <a:latin typeface="Arial"/>
                  <a:ea typeface="Arial"/>
                  <a:cs typeface="Arial"/>
                  <a:sym typeface="Arial"/>
                </a:rPr>
                <a:t>3000</a:t>
              </a:r>
              <a:endParaRPr dirty="0"/>
            </a:p>
          </p:txBody>
        </p:sp>
        <p:cxnSp>
          <p:nvCxnSpPr>
            <p:cNvPr id="1228" name="Google Shape;1228;p74"/>
            <p:cNvCxnSpPr/>
            <p:nvPr/>
          </p:nvCxnSpPr>
          <p:spPr>
            <a:xfrm>
              <a:off x="5363458" y="5986178"/>
              <a:ext cx="0" cy="381000"/>
            </a:xfrm>
            <a:prstGeom prst="straightConnector1">
              <a:avLst/>
            </a:prstGeom>
            <a:noFill/>
            <a:ln w="38100" cap="flat" cmpd="sng">
              <a:solidFill>
                <a:schemeClr val="dk1"/>
              </a:solidFill>
              <a:prstDash val="solid"/>
              <a:miter lim="800000"/>
              <a:headEnd type="none" w="med" len="med"/>
              <a:tailEnd type="none" w="med" len="med"/>
            </a:ln>
          </p:spPr>
        </p:cxnSp>
        <p:cxnSp>
          <p:nvCxnSpPr>
            <p:cNvPr id="1229" name="Google Shape;1229;p74"/>
            <p:cNvCxnSpPr/>
            <p:nvPr/>
          </p:nvCxnSpPr>
          <p:spPr>
            <a:xfrm>
              <a:off x="3962400" y="6019800"/>
              <a:ext cx="0" cy="381000"/>
            </a:xfrm>
            <a:prstGeom prst="straightConnector1">
              <a:avLst/>
            </a:prstGeom>
            <a:noFill/>
            <a:ln w="38100" cap="flat" cmpd="sng">
              <a:solidFill>
                <a:schemeClr val="dk1"/>
              </a:solidFill>
              <a:prstDash val="solid"/>
              <a:miter lim="800000"/>
              <a:headEnd type="none" w="med" len="med"/>
              <a:tailEnd type="none" w="med" len="med"/>
            </a:ln>
          </p:spPr>
        </p:cxnSp>
        <p:cxnSp>
          <p:nvCxnSpPr>
            <p:cNvPr id="1230" name="Google Shape;1230;p74"/>
            <p:cNvCxnSpPr/>
            <p:nvPr/>
          </p:nvCxnSpPr>
          <p:spPr>
            <a:xfrm rot="10800000">
              <a:off x="2163058" y="6400800"/>
              <a:ext cx="4542542" cy="0"/>
            </a:xfrm>
            <a:prstGeom prst="straightConnector1">
              <a:avLst/>
            </a:prstGeom>
            <a:noFill/>
            <a:ln w="38100" cap="flat" cmpd="sng">
              <a:solidFill>
                <a:schemeClr val="dk1"/>
              </a:solidFill>
              <a:prstDash val="solid"/>
              <a:miter lim="800000"/>
              <a:headEnd type="none" w="med" len="med"/>
              <a:tailEnd type="triangle" w="med" len="med"/>
            </a:ln>
          </p:spPr>
        </p:cxnSp>
        <p:cxnSp>
          <p:nvCxnSpPr>
            <p:cNvPr id="1231" name="Google Shape;1231;p74"/>
            <p:cNvCxnSpPr/>
            <p:nvPr/>
          </p:nvCxnSpPr>
          <p:spPr>
            <a:xfrm>
              <a:off x="2620258" y="6019800"/>
              <a:ext cx="0" cy="381000"/>
            </a:xfrm>
            <a:prstGeom prst="straightConnector1">
              <a:avLst/>
            </a:prstGeom>
            <a:noFill/>
            <a:ln w="38100" cap="flat" cmpd="sng">
              <a:solidFill>
                <a:schemeClr val="dk1"/>
              </a:solidFill>
              <a:prstDash val="solid"/>
              <a:miter lim="800000"/>
              <a:headEnd type="none" w="med" len="med"/>
              <a:tailEnd type="none" w="med" len="med"/>
            </a:ln>
          </p:spPr>
        </p:cxnSp>
      </p:grpSp>
      <p:sp>
        <p:nvSpPr>
          <p:cNvPr id="1232" name="Google Shape;1232;p74"/>
          <p:cNvSpPr/>
          <p:nvPr/>
        </p:nvSpPr>
        <p:spPr>
          <a:xfrm>
            <a:off x="736243" y="1342533"/>
            <a:ext cx="7721957" cy="2924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200" dirty="0" err="1">
                <a:solidFill>
                  <a:schemeClr val="dk1"/>
                </a:solidFill>
                <a:latin typeface="Arial"/>
                <a:ea typeface="Arial"/>
                <a:cs typeface="Arial"/>
                <a:sym typeface="Arial"/>
              </a:rPr>
              <a:t>Katakan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hari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ini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adalah</a:t>
            </a:r>
            <a:r>
              <a:rPr lang="en-US" sz="2200" dirty="0">
                <a:solidFill>
                  <a:schemeClr val="dk1"/>
                </a:solidFill>
                <a:latin typeface="Arial"/>
                <a:ea typeface="Arial"/>
                <a:cs typeface="Arial"/>
                <a:sym typeface="Arial"/>
              </a:rPr>
              <a:t> 1 </a:t>
            </a:r>
            <a:r>
              <a:rPr lang="en-US" sz="2200" dirty="0" err="1">
                <a:solidFill>
                  <a:schemeClr val="dk1"/>
                </a:solidFill>
                <a:latin typeface="Arial"/>
                <a:ea typeface="Arial"/>
                <a:cs typeface="Arial"/>
                <a:sym typeface="Arial"/>
              </a:rPr>
              <a:t>Januari</a:t>
            </a:r>
            <a:r>
              <a:rPr lang="en-US" sz="2200" dirty="0">
                <a:solidFill>
                  <a:schemeClr val="dk1"/>
                </a:solidFill>
                <a:latin typeface="Arial"/>
                <a:ea typeface="Arial"/>
                <a:cs typeface="Arial"/>
                <a:sym typeface="Arial"/>
              </a:rPr>
              <a:t>. Kamal </a:t>
            </a:r>
            <a:r>
              <a:rPr lang="en-US" sz="2200" dirty="0" err="1">
                <a:solidFill>
                  <a:schemeClr val="dk1"/>
                </a:solidFill>
                <a:latin typeface="Arial"/>
                <a:ea typeface="Arial"/>
                <a:cs typeface="Arial"/>
                <a:sym typeface="Arial"/>
              </a:rPr>
              <a:t>bercadang</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untuk</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menabung</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hari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ini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dan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mengeluarkan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jumlah</a:t>
            </a:r>
            <a:r>
              <a:rPr lang="en-US" sz="2200" dirty="0">
                <a:solidFill>
                  <a:schemeClr val="dk1"/>
                </a:solidFill>
                <a:latin typeface="Arial"/>
                <a:ea typeface="Arial"/>
                <a:cs typeface="Arial"/>
                <a:sym typeface="Arial"/>
              </a:rPr>
              <a:t> yang </a:t>
            </a:r>
            <a:r>
              <a:rPr lang="en-US" sz="2200" dirty="0" err="1">
                <a:solidFill>
                  <a:schemeClr val="dk1"/>
                </a:solidFill>
                <a:latin typeface="Arial"/>
                <a:ea typeface="Arial"/>
                <a:cs typeface="Arial"/>
                <a:sym typeface="Arial"/>
              </a:rPr>
              <a:t>sama</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dari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tabungannya</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pada</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awal</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setiap</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tahun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selama</a:t>
            </a:r>
            <a:r>
              <a:rPr lang="en-US" sz="2200" dirty="0">
                <a:solidFill>
                  <a:schemeClr val="dk1"/>
                </a:solidFill>
                <a:latin typeface="Arial"/>
                <a:ea typeface="Arial"/>
                <a:cs typeface="Arial"/>
                <a:sym typeface="Arial"/>
              </a:rPr>
              <a:t> 3 </a:t>
            </a:r>
            <a:r>
              <a:rPr lang="en-US" sz="2200" dirty="0" err="1">
                <a:solidFill>
                  <a:schemeClr val="dk1"/>
                </a:solidFill>
                <a:latin typeface="Arial"/>
                <a:ea typeface="Arial"/>
                <a:cs typeface="Arial"/>
                <a:sym typeface="Arial"/>
              </a:rPr>
              <a:t>tahun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bermula</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tahun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ini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bagi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tujuan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membayar</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yuran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pengajiannya</a:t>
            </a:r>
            <a:r>
              <a:rPr lang="en-US" sz="2200" dirty="0">
                <a:solidFill>
                  <a:schemeClr val="dk1"/>
                </a:solidFill>
                <a:latin typeface="Arial"/>
                <a:ea typeface="Arial"/>
                <a:cs typeface="Arial"/>
                <a:sym typeface="Arial"/>
              </a:rPr>
              <a:t> di </a:t>
            </a:r>
            <a:r>
              <a:rPr lang="en-US" sz="2200" dirty="0" err="1">
                <a:solidFill>
                  <a:schemeClr val="dk1"/>
                </a:solidFill>
                <a:latin typeface="Arial"/>
                <a:ea typeface="Arial"/>
                <a:cs typeface="Arial"/>
                <a:sym typeface="Arial"/>
              </a:rPr>
              <a:t>universiti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Yuran</a:t>
            </a:r>
            <a:r>
              <a:rPr lang="en-US" sz="2200" dirty="0">
                <a:solidFill>
                  <a:schemeClr val="dk1"/>
                </a:solidFill>
                <a:latin typeface="Arial"/>
                <a:ea typeface="Arial"/>
                <a:cs typeface="Arial"/>
                <a:sym typeface="Arial"/>
              </a:rPr>
              <a:t> yang </a:t>
            </a:r>
            <a:r>
              <a:rPr lang="en-US" sz="2200" dirty="0" err="1">
                <a:solidFill>
                  <a:schemeClr val="dk1"/>
                </a:solidFill>
                <a:latin typeface="Arial"/>
                <a:ea typeface="Arial"/>
                <a:cs typeface="Arial"/>
                <a:sym typeface="Arial"/>
              </a:rPr>
              <a:t>perlu</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dikeluarkan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pada</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awal</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setiap</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tahun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tersebut</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adalah</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sebanyak</a:t>
            </a:r>
            <a:r>
              <a:rPr lang="en-US" sz="2200" dirty="0">
                <a:solidFill>
                  <a:schemeClr val="dk1"/>
                </a:solidFill>
                <a:latin typeface="Arial"/>
                <a:ea typeface="Arial"/>
                <a:cs typeface="Arial"/>
                <a:sym typeface="Arial"/>
              </a:rPr>
              <a:t> RM3000  </a:t>
            </a:r>
            <a:r>
              <a:rPr lang="en-US" sz="2200" dirty="0" err="1">
                <a:solidFill>
                  <a:schemeClr val="dk1"/>
                </a:solidFill>
                <a:latin typeface="Arial"/>
                <a:ea typeface="Arial"/>
                <a:cs typeface="Arial"/>
                <a:sym typeface="Arial"/>
              </a:rPr>
              <a:t>dan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tabungan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tersebut</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memberi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keuntungan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pada</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kadar</a:t>
            </a:r>
            <a:r>
              <a:rPr lang="en-US" sz="2200" dirty="0">
                <a:solidFill>
                  <a:schemeClr val="dk1"/>
                </a:solidFill>
                <a:latin typeface="Arial"/>
                <a:ea typeface="Arial"/>
                <a:cs typeface="Arial"/>
                <a:sym typeface="Arial"/>
              </a:rPr>
              <a:t> 15% </a:t>
            </a:r>
            <a:r>
              <a:rPr lang="en-US" sz="2200" dirty="0" err="1">
                <a:solidFill>
                  <a:schemeClr val="dk1"/>
                </a:solidFill>
                <a:latin typeface="Arial"/>
                <a:ea typeface="Arial"/>
                <a:cs typeface="Arial"/>
                <a:sym typeface="Arial"/>
              </a:rPr>
              <a:t>setahun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Berapakah</a:t>
            </a:r>
            <a:r>
              <a:rPr lang="en-US" sz="2200" dirty="0">
                <a:solidFill>
                  <a:schemeClr val="dk1"/>
                </a:solidFill>
                <a:latin typeface="Arial"/>
                <a:ea typeface="Arial"/>
                <a:cs typeface="Arial"/>
                <a:sym typeface="Arial"/>
              </a:rPr>
              <a:t> Kamal </a:t>
            </a:r>
            <a:r>
              <a:rPr lang="en-US" sz="2200" dirty="0" err="1">
                <a:solidFill>
                  <a:schemeClr val="dk1"/>
                </a:solidFill>
                <a:latin typeface="Arial"/>
                <a:ea typeface="Arial"/>
                <a:cs typeface="Arial"/>
                <a:sym typeface="Arial"/>
              </a:rPr>
              <a:t>perlu</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menabung</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hari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ini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bagi</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tujuan</a:t>
            </a:r>
            <a:r>
              <a:rPr lang="en-US" sz="2200" dirty="0">
                <a:solidFill>
                  <a:schemeClr val="dk1"/>
                </a:solidFill>
                <a:latin typeface="Arial"/>
                <a:ea typeface="Arial"/>
                <a:cs typeface="Arial"/>
                <a:sym typeface="Arial"/>
              </a:rPr>
              <a:t> </a:t>
            </a:r>
            <a:r>
              <a:rPr lang="en-US" sz="2200" dirty="0" err="1">
                <a:solidFill>
                  <a:schemeClr val="dk1"/>
                </a:solidFill>
                <a:latin typeface="Arial"/>
                <a:ea typeface="Arial"/>
                <a:cs typeface="Arial"/>
                <a:sym typeface="Arial"/>
              </a:rPr>
              <a:t>tersebut</a:t>
            </a:r>
            <a:r>
              <a:rPr lang="en-US" sz="2200" dirty="0">
                <a:solidFill>
                  <a:schemeClr val="dk1"/>
                </a:solidFill>
                <a:latin typeface="Arial"/>
                <a:ea typeface="Arial"/>
                <a:cs typeface="Arial"/>
                <a:sym typeface="Arial"/>
              </a:rPr>
              <a:t>.</a:t>
            </a:r>
            <a:endParaRPr sz="2200" dirty="0">
              <a:solidFill>
                <a:schemeClr val="dk1"/>
              </a:solidFill>
              <a:latin typeface="Calibri"/>
              <a:ea typeface="Calibri"/>
              <a:cs typeface="Calibri"/>
              <a:sym typeface="Calibri"/>
            </a:endParaRPr>
          </a:p>
        </p:txBody>
      </p:sp>
    </p:spTree>
  </p:cSld>
  <p:clrMapOvr>
    <a:masterClrMapping/>
  </p:clrMapOvr>
  <p:transition>
    <p:fade thruBlk="1"/>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36"/>
        <p:cNvGrpSpPr/>
        <p:nvPr/>
      </p:nvGrpSpPr>
      <p:grpSpPr>
        <a:xfrm>
          <a:off x="0" y="0"/>
          <a:ext cx="0" cy="0"/>
          <a:chOff x="0" y="0"/>
          <a:chExt cx="0" cy="0"/>
        </a:xfrm>
      </p:grpSpPr>
      <p:sp>
        <p:nvSpPr>
          <p:cNvPr id="1237" name="Google Shape;1237;p75"/>
          <p:cNvSpPr txBox="1"/>
          <p:nvPr/>
        </p:nvSpPr>
        <p:spPr>
          <a:xfrm>
            <a:off x="590550" y="720583"/>
            <a:ext cx="792480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kini anuiti matang menggunakan jadual faktor nilai masa wang ?</a:t>
            </a:r>
            <a:endParaRPr/>
          </a:p>
        </p:txBody>
      </p:sp>
      <p:sp>
        <p:nvSpPr>
          <p:cNvPr id="1238" name="Google Shape;1238;p75"/>
          <p:cNvSpPr txBox="1"/>
          <p:nvPr/>
        </p:nvSpPr>
        <p:spPr>
          <a:xfrm>
            <a:off x="633318" y="2045126"/>
            <a:ext cx="335540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Jadual yang digunakan</a:t>
            </a:r>
            <a:endParaRPr sz="2400">
              <a:solidFill>
                <a:schemeClr val="dk1"/>
              </a:solidFill>
              <a:latin typeface="Arial"/>
              <a:ea typeface="Arial"/>
              <a:cs typeface="Arial"/>
              <a:sym typeface="Arial"/>
            </a:endParaRPr>
          </a:p>
        </p:txBody>
      </p:sp>
      <p:sp>
        <p:nvSpPr>
          <p:cNvPr id="1239" name="Google Shape;1239;p75"/>
          <p:cNvSpPr/>
          <p:nvPr/>
        </p:nvSpPr>
        <p:spPr>
          <a:xfrm>
            <a:off x="4129885" y="2194618"/>
            <a:ext cx="823913" cy="304800"/>
          </a:xfrm>
          <a:prstGeom prst="rightArrow">
            <a:avLst>
              <a:gd name="adj1" fmla="val 50000"/>
              <a:gd name="adj2" fmla="val 67578"/>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40" name="Google Shape;1240;p75"/>
          <p:cNvSpPr txBox="1"/>
          <p:nvPr/>
        </p:nvSpPr>
        <p:spPr>
          <a:xfrm>
            <a:off x="5105763" y="1894959"/>
            <a:ext cx="313098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Jadual faktor nilai kini</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anuiti biasa (PVIFA)</a:t>
            </a:r>
            <a:endParaRPr/>
          </a:p>
        </p:txBody>
      </p:sp>
      <p:sp>
        <p:nvSpPr>
          <p:cNvPr id="1241" name="Google Shape;1241;p75"/>
          <p:cNvSpPr txBox="1"/>
          <p:nvPr/>
        </p:nvSpPr>
        <p:spPr>
          <a:xfrm>
            <a:off x="665163" y="2971800"/>
            <a:ext cx="82249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Di mana:    PMT=RM3000,     i=15%,      n=3,       PVA</a:t>
            </a:r>
            <a:r>
              <a:rPr lang="en-US" sz="2000">
                <a:solidFill>
                  <a:schemeClr val="dk1"/>
                </a:solidFill>
                <a:latin typeface="Arial"/>
                <a:ea typeface="Arial"/>
                <a:cs typeface="Arial"/>
                <a:sym typeface="Arial"/>
              </a:rPr>
              <a:t>AD</a:t>
            </a:r>
            <a:r>
              <a:rPr lang="en-US" sz="1800">
                <a:solidFill>
                  <a:schemeClr val="dk1"/>
                </a:solidFill>
                <a:latin typeface="Arial"/>
                <a:ea typeface="Arial"/>
                <a:cs typeface="Arial"/>
                <a:sym typeface="Arial"/>
              </a:rPr>
              <a:t>=?</a:t>
            </a:r>
            <a:endParaRPr/>
          </a:p>
        </p:txBody>
      </p:sp>
      <p:pic>
        <p:nvPicPr>
          <p:cNvPr id="1242" name="Google Shape;1242;p75"/>
          <p:cNvPicPr preferRelativeResize="0"/>
          <p:nvPr/>
        </p:nvPicPr>
        <p:blipFill rotWithShape="1">
          <a:blip r:embed="rId3">
            <a:alphaModFix/>
          </a:blip>
          <a:srcRect/>
          <a:stretch/>
        </p:blipFill>
        <p:spPr>
          <a:xfrm>
            <a:off x="1127125" y="3733800"/>
            <a:ext cx="4379077" cy="495997"/>
          </a:xfrm>
          <a:prstGeom prst="rect">
            <a:avLst/>
          </a:prstGeom>
          <a:noFill/>
          <a:ln>
            <a:noFill/>
          </a:ln>
        </p:spPr>
      </p:pic>
      <p:pic>
        <p:nvPicPr>
          <p:cNvPr id="1243" name="Google Shape;1243;p75"/>
          <p:cNvPicPr preferRelativeResize="0"/>
          <p:nvPr/>
        </p:nvPicPr>
        <p:blipFill rotWithShape="1">
          <a:blip r:embed="rId4">
            <a:alphaModFix/>
          </a:blip>
          <a:srcRect/>
          <a:stretch/>
        </p:blipFill>
        <p:spPr>
          <a:xfrm>
            <a:off x="1143000" y="4343400"/>
            <a:ext cx="5105400" cy="495997"/>
          </a:xfrm>
          <a:prstGeom prst="rect">
            <a:avLst/>
          </a:prstGeom>
          <a:noFill/>
          <a:ln>
            <a:noFill/>
          </a:ln>
        </p:spPr>
      </p:pic>
      <p:pic>
        <p:nvPicPr>
          <p:cNvPr id="1244" name="Google Shape;1244;p75"/>
          <p:cNvPicPr preferRelativeResize="0"/>
          <p:nvPr/>
        </p:nvPicPr>
        <p:blipFill rotWithShape="1">
          <a:blip r:embed="rId5">
            <a:alphaModFix/>
          </a:blip>
          <a:srcRect/>
          <a:stretch/>
        </p:blipFill>
        <p:spPr>
          <a:xfrm>
            <a:off x="1168648" y="4965700"/>
            <a:ext cx="4089152" cy="444500"/>
          </a:xfrm>
          <a:prstGeom prst="rect">
            <a:avLst/>
          </a:prstGeom>
          <a:noFill/>
          <a:ln>
            <a:noFill/>
          </a:ln>
        </p:spPr>
      </p:pic>
      <p:pic>
        <p:nvPicPr>
          <p:cNvPr id="1245" name="Google Shape;1245;p75"/>
          <p:cNvPicPr preferRelativeResize="0"/>
          <p:nvPr/>
        </p:nvPicPr>
        <p:blipFill rotWithShape="1">
          <a:blip r:embed="rId6">
            <a:alphaModFix/>
          </a:blip>
          <a:srcRect/>
          <a:stretch/>
        </p:blipFill>
        <p:spPr>
          <a:xfrm>
            <a:off x="1154224" y="5486400"/>
            <a:ext cx="3189176" cy="444500"/>
          </a:xfrm>
          <a:prstGeom prst="rect">
            <a:avLst/>
          </a:prstGeom>
          <a:noFill/>
          <a:ln>
            <a:noFill/>
          </a:ln>
        </p:spPr>
      </p:pic>
      <p:sp>
        <p:nvSpPr>
          <p:cNvPr id="1246" name="Google Shape;1246;p7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63</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38"/>
                                        </p:tgtEl>
                                        <p:attrNameLst>
                                          <p:attrName>style.visibility</p:attrName>
                                        </p:attrNameLst>
                                      </p:cBhvr>
                                      <p:to>
                                        <p:strVal val="visible"/>
                                      </p:to>
                                    </p:set>
                                    <p:anim calcmode="lin" valueType="num">
                                      <p:cBhvr additive="base">
                                        <p:cTn id="7" dur="500"/>
                                        <p:tgtEl>
                                          <p:spTgt spid="12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239"/>
                                        </p:tgtEl>
                                        <p:attrNameLst>
                                          <p:attrName>style.visibility</p:attrName>
                                        </p:attrNameLst>
                                      </p:cBhvr>
                                      <p:to>
                                        <p:strVal val="visible"/>
                                      </p:to>
                                    </p:set>
                                    <p:anim calcmode="lin" valueType="num">
                                      <p:cBhvr additive="base">
                                        <p:cTn id="12" dur="500"/>
                                        <p:tgtEl>
                                          <p:spTgt spid="1239"/>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240"/>
                                        </p:tgtEl>
                                        <p:attrNameLst>
                                          <p:attrName>style.visibility</p:attrName>
                                        </p:attrNameLst>
                                      </p:cBhvr>
                                      <p:to>
                                        <p:strVal val="visible"/>
                                      </p:to>
                                    </p:set>
                                    <p:anim calcmode="lin" valueType="num">
                                      <p:cBhvr additive="base">
                                        <p:cTn id="17" dur="500"/>
                                        <p:tgtEl>
                                          <p:spTgt spid="1240"/>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241"/>
                                        </p:tgtEl>
                                        <p:attrNameLst>
                                          <p:attrName>style.visibility</p:attrName>
                                        </p:attrNameLst>
                                      </p:cBhvr>
                                      <p:to>
                                        <p:strVal val="visible"/>
                                      </p:to>
                                    </p:set>
                                    <p:anim calcmode="lin" valueType="num">
                                      <p:cBhvr additive="base">
                                        <p:cTn id="22" dur="500"/>
                                        <p:tgtEl>
                                          <p:spTgt spid="124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50"/>
        <p:cNvGrpSpPr/>
        <p:nvPr/>
      </p:nvGrpSpPr>
      <p:grpSpPr>
        <a:xfrm>
          <a:off x="0" y="0"/>
          <a:ext cx="0" cy="0"/>
          <a:chOff x="0" y="0"/>
          <a:chExt cx="0" cy="0"/>
        </a:xfrm>
      </p:grpSpPr>
      <p:sp>
        <p:nvSpPr>
          <p:cNvPr id="1251" name="Google Shape;1251;p7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
        <p:nvSpPr>
          <p:cNvPr id="1252" name="Google Shape;1252;p76"/>
          <p:cNvSpPr txBox="1"/>
          <p:nvPr/>
        </p:nvSpPr>
        <p:spPr>
          <a:xfrm>
            <a:off x="590550" y="720583"/>
            <a:ext cx="792480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Bagaimanakah cara mengira nilai kini anuiti matang menggunakan rumus ?</a:t>
            </a:r>
            <a:endParaRPr/>
          </a:p>
        </p:txBody>
      </p:sp>
      <p:sp>
        <p:nvSpPr>
          <p:cNvPr id="1253" name="Google Shape;1253;p76"/>
          <p:cNvSpPr txBox="1"/>
          <p:nvPr/>
        </p:nvSpPr>
        <p:spPr>
          <a:xfrm>
            <a:off x="228600" y="2129135"/>
            <a:ext cx="349166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Rumus yang digunakan</a:t>
            </a:r>
            <a:endParaRPr sz="2400">
              <a:solidFill>
                <a:schemeClr val="dk1"/>
              </a:solidFill>
              <a:latin typeface="Arial"/>
              <a:ea typeface="Arial"/>
              <a:cs typeface="Arial"/>
              <a:sym typeface="Arial"/>
            </a:endParaRPr>
          </a:p>
        </p:txBody>
      </p:sp>
      <p:sp>
        <p:nvSpPr>
          <p:cNvPr id="1254" name="Google Shape;1254;p76"/>
          <p:cNvSpPr/>
          <p:nvPr/>
        </p:nvSpPr>
        <p:spPr>
          <a:xfrm>
            <a:off x="3733800" y="2194618"/>
            <a:ext cx="823913" cy="304800"/>
          </a:xfrm>
          <a:prstGeom prst="rightArrow">
            <a:avLst>
              <a:gd name="adj1" fmla="val 50000"/>
              <a:gd name="adj2" fmla="val 67578"/>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55" name="Google Shape;1255;p76"/>
          <p:cNvSpPr txBox="1"/>
          <p:nvPr/>
        </p:nvSpPr>
        <p:spPr>
          <a:xfrm>
            <a:off x="665163" y="2971800"/>
            <a:ext cx="524374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Di mana:    PMT=RM3000,     i=15%,      n=3,       </a:t>
            </a:r>
            <a:endParaRPr/>
          </a:p>
        </p:txBody>
      </p:sp>
      <p:sp>
        <p:nvSpPr>
          <p:cNvPr id="1256" name="Google Shape;1256;p76"/>
          <p:cNvSpPr txBox="1"/>
          <p:nvPr/>
        </p:nvSpPr>
        <p:spPr>
          <a:xfrm>
            <a:off x="990600" y="5257800"/>
            <a:ext cx="3189288" cy="444500"/>
          </a:xfrm>
          <a:prstGeom prst="rect">
            <a:avLst/>
          </a:prstGeom>
          <a:blipFill rotWithShape="1">
            <a:blip r:embed="rId3">
              <a:alphaModFix/>
            </a:blip>
            <a:stretch>
              <a:fillRect l="-573" b="-555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257" name="Google Shape;1257;p76"/>
          <p:cNvSpPr txBox="1"/>
          <p:nvPr/>
        </p:nvSpPr>
        <p:spPr>
          <a:xfrm>
            <a:off x="4572000" y="2043970"/>
            <a:ext cx="4255446" cy="69923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258" name="Google Shape;1258;p76"/>
          <p:cNvSpPr txBox="1"/>
          <p:nvPr/>
        </p:nvSpPr>
        <p:spPr>
          <a:xfrm>
            <a:off x="1004658" y="4267200"/>
            <a:ext cx="5243742" cy="716030"/>
          </a:xfrm>
          <a:prstGeom prst="rect">
            <a:avLst/>
          </a:prstGeom>
          <a:blipFill rotWithShape="1">
            <a:blip r:embed="rId5">
              <a:alphaModFix/>
            </a:blip>
            <a:stretch>
              <a:fillRect b="-85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259" name="Google Shape;1259;p76"/>
          <p:cNvSpPr txBox="1"/>
          <p:nvPr/>
        </p:nvSpPr>
        <p:spPr>
          <a:xfrm>
            <a:off x="990600" y="3505200"/>
            <a:ext cx="4255446" cy="699230"/>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53"/>
                                        </p:tgtEl>
                                        <p:attrNameLst>
                                          <p:attrName>style.visibility</p:attrName>
                                        </p:attrNameLst>
                                      </p:cBhvr>
                                      <p:to>
                                        <p:strVal val="visible"/>
                                      </p:to>
                                    </p:set>
                                    <p:anim calcmode="lin" valueType="num">
                                      <p:cBhvr additive="base">
                                        <p:cTn id="7" dur="500"/>
                                        <p:tgtEl>
                                          <p:spTgt spid="1253"/>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254"/>
                                        </p:tgtEl>
                                        <p:attrNameLst>
                                          <p:attrName>style.visibility</p:attrName>
                                        </p:attrNameLst>
                                      </p:cBhvr>
                                      <p:to>
                                        <p:strVal val="visible"/>
                                      </p:to>
                                    </p:set>
                                    <p:anim calcmode="lin" valueType="num">
                                      <p:cBhvr additive="base">
                                        <p:cTn id="12" dur="500"/>
                                        <p:tgtEl>
                                          <p:spTgt spid="1254"/>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255"/>
                                        </p:tgtEl>
                                        <p:attrNameLst>
                                          <p:attrName>style.visibility</p:attrName>
                                        </p:attrNameLst>
                                      </p:cBhvr>
                                      <p:to>
                                        <p:strVal val="visible"/>
                                      </p:to>
                                    </p:set>
                                    <p:anim calcmode="lin" valueType="num">
                                      <p:cBhvr additive="base">
                                        <p:cTn id="17" dur="500"/>
                                        <p:tgtEl>
                                          <p:spTgt spid="125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77"/>
          <p:cNvSpPr txBox="1"/>
          <p:nvPr/>
        </p:nvSpPr>
        <p:spPr>
          <a:xfrm>
            <a:off x="533400" y="990600"/>
            <a:ext cx="8229600" cy="1938992"/>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Berapakah yang perlu dilabur oleh Tong Seng hari ini di dalam satu akaun pelaburan yang memberikan kadar keuntungan 5% setahun supaya beliau dapat mengeluarkan sebanyak RM400 setiap awal tahun selama 4 tahun bermula awal tahun ini?</a:t>
            </a:r>
            <a:endParaRPr/>
          </a:p>
        </p:txBody>
      </p:sp>
      <p:sp>
        <p:nvSpPr>
          <p:cNvPr id="1265" name="Google Shape;1265;p77"/>
          <p:cNvSpPr txBox="1"/>
          <p:nvPr/>
        </p:nvSpPr>
        <p:spPr>
          <a:xfrm>
            <a:off x="1889125" y="1489075"/>
            <a:ext cx="18415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pic>
        <p:nvPicPr>
          <p:cNvPr id="1266" name="Google Shape;1266;p77"/>
          <p:cNvPicPr preferRelativeResize="0"/>
          <p:nvPr/>
        </p:nvPicPr>
        <p:blipFill rotWithShape="1">
          <a:blip r:embed="rId3">
            <a:alphaModFix/>
          </a:blip>
          <a:srcRect/>
          <a:stretch/>
        </p:blipFill>
        <p:spPr>
          <a:xfrm>
            <a:off x="1366838" y="5055850"/>
            <a:ext cx="4445989" cy="416263"/>
          </a:xfrm>
          <a:prstGeom prst="rect">
            <a:avLst/>
          </a:prstGeom>
          <a:noFill/>
          <a:ln>
            <a:noFill/>
          </a:ln>
        </p:spPr>
      </p:pic>
      <p:pic>
        <p:nvPicPr>
          <p:cNvPr id="1267" name="Google Shape;1267;p77"/>
          <p:cNvPicPr preferRelativeResize="0"/>
          <p:nvPr/>
        </p:nvPicPr>
        <p:blipFill rotWithShape="1">
          <a:blip r:embed="rId4">
            <a:alphaModFix/>
          </a:blip>
          <a:srcRect/>
          <a:stretch/>
        </p:blipFill>
        <p:spPr>
          <a:xfrm>
            <a:off x="1363663" y="5471775"/>
            <a:ext cx="4884737" cy="416263"/>
          </a:xfrm>
          <a:prstGeom prst="rect">
            <a:avLst/>
          </a:prstGeom>
          <a:noFill/>
          <a:ln>
            <a:noFill/>
          </a:ln>
        </p:spPr>
      </p:pic>
      <p:pic>
        <p:nvPicPr>
          <p:cNvPr id="1268" name="Google Shape;1268;p77"/>
          <p:cNvPicPr preferRelativeResize="0"/>
          <p:nvPr/>
        </p:nvPicPr>
        <p:blipFill rotWithShape="1">
          <a:blip r:embed="rId5">
            <a:alphaModFix/>
          </a:blip>
          <a:srcRect/>
          <a:stretch/>
        </p:blipFill>
        <p:spPr>
          <a:xfrm>
            <a:off x="1371600" y="5908338"/>
            <a:ext cx="3158992" cy="416262"/>
          </a:xfrm>
          <a:prstGeom prst="rect">
            <a:avLst/>
          </a:prstGeom>
          <a:noFill/>
          <a:ln>
            <a:noFill/>
          </a:ln>
        </p:spPr>
      </p:pic>
      <p:sp>
        <p:nvSpPr>
          <p:cNvPr id="1269" name="Google Shape;1269;p7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65</a:t>
            </a:fld>
            <a:endParaRPr sz="1200">
              <a:solidFill>
                <a:srgbClr val="1D4577"/>
              </a:solidFill>
              <a:latin typeface="Times New Roman"/>
              <a:ea typeface="Times New Roman"/>
              <a:cs typeface="Times New Roman"/>
              <a:sym typeface="Times New Roman"/>
            </a:endParaRPr>
          </a:p>
        </p:txBody>
      </p:sp>
      <p:grpSp>
        <p:nvGrpSpPr>
          <p:cNvPr id="1270" name="Google Shape;1270;p77"/>
          <p:cNvGrpSpPr/>
          <p:nvPr/>
        </p:nvGrpSpPr>
        <p:grpSpPr>
          <a:xfrm>
            <a:off x="866937" y="3068638"/>
            <a:ext cx="6159632" cy="1794222"/>
            <a:chOff x="866937" y="3068638"/>
            <a:chExt cx="6159632" cy="1794222"/>
          </a:xfrm>
        </p:grpSpPr>
        <p:sp>
          <p:nvSpPr>
            <p:cNvPr id="1271" name="Google Shape;1271;p77"/>
            <p:cNvSpPr txBox="1"/>
            <p:nvPr/>
          </p:nvSpPr>
          <p:spPr>
            <a:xfrm>
              <a:off x="4165310" y="3795713"/>
              <a:ext cx="18473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cxnSp>
          <p:nvCxnSpPr>
            <p:cNvPr id="1272" name="Google Shape;1272;p77"/>
            <p:cNvCxnSpPr/>
            <p:nvPr/>
          </p:nvCxnSpPr>
          <p:spPr>
            <a:xfrm>
              <a:off x="2444750" y="3678238"/>
              <a:ext cx="4479925" cy="0"/>
            </a:xfrm>
            <a:prstGeom prst="straightConnector1">
              <a:avLst/>
            </a:prstGeom>
            <a:noFill/>
            <a:ln w="9525" cap="flat" cmpd="sng">
              <a:solidFill>
                <a:schemeClr val="dk1"/>
              </a:solidFill>
              <a:prstDash val="solid"/>
              <a:miter lim="800000"/>
              <a:headEnd type="none" w="med" len="med"/>
              <a:tailEnd type="none" w="med" len="med"/>
            </a:ln>
          </p:spPr>
        </p:cxnSp>
        <p:cxnSp>
          <p:nvCxnSpPr>
            <p:cNvPr id="1273" name="Google Shape;1273;p77"/>
            <p:cNvCxnSpPr/>
            <p:nvPr/>
          </p:nvCxnSpPr>
          <p:spPr>
            <a:xfrm>
              <a:off x="2444750" y="3449638"/>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274" name="Google Shape;1274;p77"/>
            <p:cNvCxnSpPr/>
            <p:nvPr/>
          </p:nvCxnSpPr>
          <p:spPr>
            <a:xfrm>
              <a:off x="3359150" y="3449638"/>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275" name="Google Shape;1275;p77"/>
            <p:cNvCxnSpPr/>
            <p:nvPr/>
          </p:nvCxnSpPr>
          <p:spPr>
            <a:xfrm>
              <a:off x="4425950" y="3449638"/>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276" name="Google Shape;1276;p77"/>
            <p:cNvCxnSpPr/>
            <p:nvPr/>
          </p:nvCxnSpPr>
          <p:spPr>
            <a:xfrm>
              <a:off x="5645150" y="3449638"/>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277" name="Google Shape;1277;p77"/>
            <p:cNvCxnSpPr/>
            <p:nvPr/>
          </p:nvCxnSpPr>
          <p:spPr>
            <a:xfrm>
              <a:off x="6864350" y="3449638"/>
              <a:ext cx="0" cy="457200"/>
            </a:xfrm>
            <a:prstGeom prst="straightConnector1">
              <a:avLst/>
            </a:prstGeom>
            <a:noFill/>
            <a:ln w="9525" cap="flat" cmpd="sng">
              <a:solidFill>
                <a:schemeClr val="dk1"/>
              </a:solidFill>
              <a:prstDash val="solid"/>
              <a:miter lim="800000"/>
              <a:headEnd type="none" w="med" len="med"/>
              <a:tailEnd type="none" w="med" len="med"/>
            </a:ln>
          </p:spPr>
        </p:cxnSp>
        <p:sp>
          <p:nvSpPr>
            <p:cNvPr id="1278" name="Google Shape;1278;p77"/>
            <p:cNvSpPr txBox="1"/>
            <p:nvPr/>
          </p:nvSpPr>
          <p:spPr>
            <a:xfrm>
              <a:off x="3165181" y="3068638"/>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1</a:t>
              </a:r>
              <a:endParaRPr/>
            </a:p>
          </p:txBody>
        </p:sp>
        <p:sp>
          <p:nvSpPr>
            <p:cNvPr id="1279" name="Google Shape;1279;p77"/>
            <p:cNvSpPr txBox="1"/>
            <p:nvPr/>
          </p:nvSpPr>
          <p:spPr>
            <a:xfrm>
              <a:off x="4231981" y="3068638"/>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2</a:t>
              </a:r>
              <a:endParaRPr/>
            </a:p>
          </p:txBody>
        </p:sp>
        <p:sp>
          <p:nvSpPr>
            <p:cNvPr id="1280" name="Google Shape;1280;p77"/>
            <p:cNvSpPr txBox="1"/>
            <p:nvPr/>
          </p:nvSpPr>
          <p:spPr>
            <a:xfrm>
              <a:off x="5451181" y="3068638"/>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3</a:t>
              </a:r>
              <a:endParaRPr/>
            </a:p>
          </p:txBody>
        </p:sp>
        <p:sp>
          <p:nvSpPr>
            <p:cNvPr id="1281" name="Google Shape;1281;p77"/>
            <p:cNvSpPr txBox="1"/>
            <p:nvPr/>
          </p:nvSpPr>
          <p:spPr>
            <a:xfrm>
              <a:off x="6670381" y="3068638"/>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4</a:t>
              </a:r>
              <a:endParaRPr/>
            </a:p>
          </p:txBody>
        </p:sp>
        <p:sp>
          <p:nvSpPr>
            <p:cNvPr id="1282" name="Google Shape;1282;p77"/>
            <p:cNvSpPr txBox="1"/>
            <p:nvPr/>
          </p:nvSpPr>
          <p:spPr>
            <a:xfrm>
              <a:off x="2647125" y="3297238"/>
              <a:ext cx="63030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5%</a:t>
              </a:r>
              <a:endParaRPr/>
            </a:p>
          </p:txBody>
        </p:sp>
        <p:sp>
          <p:nvSpPr>
            <p:cNvPr id="1283" name="Google Shape;1283;p77"/>
            <p:cNvSpPr txBox="1"/>
            <p:nvPr/>
          </p:nvSpPr>
          <p:spPr>
            <a:xfrm>
              <a:off x="2109423" y="3830638"/>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400</a:t>
              </a:r>
              <a:endParaRPr/>
            </a:p>
          </p:txBody>
        </p:sp>
        <p:sp>
          <p:nvSpPr>
            <p:cNvPr id="1284" name="Google Shape;1284;p77"/>
            <p:cNvSpPr txBox="1"/>
            <p:nvPr/>
          </p:nvSpPr>
          <p:spPr>
            <a:xfrm>
              <a:off x="3023823" y="3830638"/>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400</a:t>
              </a:r>
              <a:endParaRPr/>
            </a:p>
          </p:txBody>
        </p:sp>
        <p:sp>
          <p:nvSpPr>
            <p:cNvPr id="1285" name="Google Shape;1285;p77"/>
            <p:cNvSpPr txBox="1"/>
            <p:nvPr/>
          </p:nvSpPr>
          <p:spPr>
            <a:xfrm>
              <a:off x="4090623" y="3830638"/>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400</a:t>
              </a:r>
              <a:endParaRPr/>
            </a:p>
          </p:txBody>
        </p:sp>
        <p:sp>
          <p:nvSpPr>
            <p:cNvPr id="1286" name="Google Shape;1286;p77"/>
            <p:cNvSpPr txBox="1"/>
            <p:nvPr/>
          </p:nvSpPr>
          <p:spPr>
            <a:xfrm>
              <a:off x="5309823" y="3830638"/>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400</a:t>
              </a:r>
              <a:endParaRPr/>
            </a:p>
          </p:txBody>
        </p:sp>
        <p:cxnSp>
          <p:nvCxnSpPr>
            <p:cNvPr id="1287" name="Google Shape;1287;p77"/>
            <p:cNvCxnSpPr/>
            <p:nvPr/>
          </p:nvCxnSpPr>
          <p:spPr>
            <a:xfrm>
              <a:off x="3359150" y="4287838"/>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88" name="Google Shape;1288;p77"/>
            <p:cNvCxnSpPr/>
            <p:nvPr/>
          </p:nvCxnSpPr>
          <p:spPr>
            <a:xfrm>
              <a:off x="4425950" y="4287838"/>
              <a:ext cx="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89" name="Google Shape;1289;p77"/>
            <p:cNvCxnSpPr/>
            <p:nvPr/>
          </p:nvCxnSpPr>
          <p:spPr>
            <a:xfrm>
              <a:off x="5645150" y="4287838"/>
              <a:ext cx="0" cy="381000"/>
            </a:xfrm>
            <a:prstGeom prst="straightConnector1">
              <a:avLst/>
            </a:prstGeom>
            <a:noFill/>
            <a:ln w="9525" cap="flat" cmpd="sng">
              <a:solidFill>
                <a:schemeClr val="dk1"/>
              </a:solidFill>
              <a:prstDash val="solid"/>
              <a:miter lim="800000"/>
              <a:headEnd type="none" w="med" len="med"/>
              <a:tailEnd type="none" w="med" len="med"/>
            </a:ln>
          </p:spPr>
        </p:cxnSp>
        <p:sp>
          <p:nvSpPr>
            <p:cNvPr id="1290" name="Google Shape;1290;p77"/>
            <p:cNvSpPr txBox="1"/>
            <p:nvPr/>
          </p:nvSpPr>
          <p:spPr>
            <a:xfrm>
              <a:off x="2266656" y="3068638"/>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0</a:t>
              </a:r>
              <a:endParaRPr/>
            </a:p>
          </p:txBody>
        </p:sp>
        <p:cxnSp>
          <p:nvCxnSpPr>
            <p:cNvPr id="1291" name="Google Shape;1291;p77"/>
            <p:cNvCxnSpPr/>
            <p:nvPr/>
          </p:nvCxnSpPr>
          <p:spPr>
            <a:xfrm rot="10800000">
              <a:off x="2292350" y="4668838"/>
              <a:ext cx="4494213" cy="0"/>
            </a:xfrm>
            <a:prstGeom prst="straightConnector1">
              <a:avLst/>
            </a:prstGeom>
            <a:noFill/>
            <a:ln w="9525" cap="flat" cmpd="sng">
              <a:solidFill>
                <a:schemeClr val="dk1"/>
              </a:solidFill>
              <a:prstDash val="solid"/>
              <a:miter lim="800000"/>
              <a:headEnd type="none" w="med" len="med"/>
              <a:tailEnd type="triangle" w="med" len="med"/>
            </a:ln>
          </p:spPr>
        </p:cxnSp>
        <p:cxnSp>
          <p:nvCxnSpPr>
            <p:cNvPr id="1292" name="Google Shape;1292;p77"/>
            <p:cNvCxnSpPr/>
            <p:nvPr/>
          </p:nvCxnSpPr>
          <p:spPr>
            <a:xfrm>
              <a:off x="2444750" y="4287838"/>
              <a:ext cx="0" cy="381000"/>
            </a:xfrm>
            <a:prstGeom prst="straightConnector1">
              <a:avLst/>
            </a:prstGeom>
            <a:noFill/>
            <a:ln w="9525" cap="flat" cmpd="sng">
              <a:solidFill>
                <a:schemeClr val="dk1"/>
              </a:solidFill>
              <a:prstDash val="solid"/>
              <a:miter lim="800000"/>
              <a:headEnd type="none" w="med" len="med"/>
              <a:tailEnd type="none" w="med" len="med"/>
            </a:ln>
          </p:spPr>
        </p:cxnSp>
        <p:sp>
          <p:nvSpPr>
            <p:cNvPr id="1293" name="Google Shape;1293;p77"/>
            <p:cNvSpPr txBox="1"/>
            <p:nvPr/>
          </p:nvSpPr>
          <p:spPr>
            <a:xfrm>
              <a:off x="866937" y="4401195"/>
              <a:ext cx="141218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PVA</a:t>
              </a:r>
              <a:r>
                <a:rPr lang="en-US" sz="2400" baseline="-25000">
                  <a:solidFill>
                    <a:schemeClr val="dk1"/>
                  </a:solidFill>
                  <a:latin typeface="Arial"/>
                  <a:ea typeface="Arial"/>
                  <a:cs typeface="Arial"/>
                  <a:sym typeface="Arial"/>
                </a:rPr>
                <a:t>AD</a:t>
              </a:r>
              <a:r>
                <a:rPr lang="en-US" sz="2400">
                  <a:solidFill>
                    <a:schemeClr val="dk1"/>
                  </a:solidFill>
                  <a:latin typeface="Arial"/>
                  <a:ea typeface="Arial"/>
                  <a:cs typeface="Arial"/>
                  <a:sym typeface="Arial"/>
                </a:rPr>
                <a:t>=?</a:t>
              </a:r>
              <a:endParaRPr/>
            </a:p>
          </p:txBody>
        </p:sp>
      </p:grpSp>
      <p:sp>
        <p:nvSpPr>
          <p:cNvPr id="1294" name="Google Shape;1294;p77"/>
          <p:cNvSpPr txBox="1"/>
          <p:nvPr/>
        </p:nvSpPr>
        <p:spPr>
          <a:xfrm>
            <a:off x="219255" y="500713"/>
            <a:ext cx="1920875" cy="4619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Contoh </a:t>
            </a:r>
            <a:endParaRPr/>
          </a:p>
        </p:txBody>
      </p:sp>
    </p:spTree>
  </p:cSld>
  <p:clrMapOvr>
    <a:masterClrMapping/>
  </p:clrMapOvr>
  <p:transition>
    <p:fade thruBlk="1"/>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98"/>
        <p:cNvGrpSpPr/>
        <p:nvPr/>
      </p:nvGrpSpPr>
      <p:grpSpPr>
        <a:xfrm>
          <a:off x="0" y="0"/>
          <a:ext cx="0" cy="0"/>
          <a:chOff x="0" y="0"/>
          <a:chExt cx="0" cy="0"/>
        </a:xfrm>
      </p:grpSpPr>
      <p:sp>
        <p:nvSpPr>
          <p:cNvPr id="1299" name="Google Shape;1299;p78"/>
          <p:cNvSpPr/>
          <p:nvPr/>
        </p:nvSpPr>
        <p:spPr>
          <a:xfrm>
            <a:off x="577850" y="182456"/>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AMAUN BERUBAH (</a:t>
            </a:r>
            <a:r>
              <a:rPr lang="en-US" sz="2800" b="1" i="1">
                <a:solidFill>
                  <a:schemeClr val="dk1"/>
                </a:solidFill>
                <a:latin typeface="Arial"/>
                <a:ea typeface="Arial"/>
                <a:cs typeface="Arial"/>
                <a:sym typeface="Arial"/>
              </a:rPr>
              <a:t>Uneven Cash Flows</a:t>
            </a:r>
            <a:r>
              <a:rPr lang="en-US" sz="2800" b="1">
                <a:solidFill>
                  <a:schemeClr val="dk1"/>
                </a:solidFill>
                <a:latin typeface="Arial"/>
                <a:ea typeface="Arial"/>
                <a:cs typeface="Arial"/>
                <a:sym typeface="Arial"/>
              </a:rPr>
              <a:t>)</a:t>
            </a:r>
            <a:endParaRPr/>
          </a:p>
        </p:txBody>
      </p:sp>
      <p:sp>
        <p:nvSpPr>
          <p:cNvPr id="1300" name="Google Shape;1300;p7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66</a:t>
            </a:fld>
            <a:endParaRPr sz="1200">
              <a:solidFill>
                <a:srgbClr val="1D4577"/>
              </a:solidFill>
              <a:latin typeface="Times New Roman"/>
              <a:ea typeface="Times New Roman"/>
              <a:cs typeface="Times New Roman"/>
              <a:sym typeface="Times New Roman"/>
            </a:endParaRPr>
          </a:p>
        </p:txBody>
      </p:sp>
      <p:grpSp>
        <p:nvGrpSpPr>
          <p:cNvPr id="1301" name="Google Shape;1301;p78"/>
          <p:cNvGrpSpPr/>
          <p:nvPr/>
        </p:nvGrpSpPr>
        <p:grpSpPr>
          <a:xfrm>
            <a:off x="1977731" y="4721225"/>
            <a:ext cx="5802213" cy="1649115"/>
            <a:chOff x="1977731" y="4721225"/>
            <a:chExt cx="5802213" cy="1649115"/>
          </a:xfrm>
        </p:grpSpPr>
        <p:cxnSp>
          <p:nvCxnSpPr>
            <p:cNvPr id="1302" name="Google Shape;1302;p78"/>
            <p:cNvCxnSpPr/>
            <p:nvPr/>
          </p:nvCxnSpPr>
          <p:spPr>
            <a:xfrm rot="10800000" flipH="1">
              <a:off x="2144712" y="5570537"/>
              <a:ext cx="5121275" cy="19050"/>
            </a:xfrm>
            <a:prstGeom prst="straightConnector1">
              <a:avLst/>
            </a:prstGeom>
            <a:noFill/>
            <a:ln w="38100" cap="flat" cmpd="sng">
              <a:solidFill>
                <a:schemeClr val="dk1"/>
              </a:solidFill>
              <a:prstDash val="solid"/>
              <a:miter lim="800000"/>
              <a:headEnd type="none" w="med" len="med"/>
              <a:tailEnd type="none" w="med" len="med"/>
            </a:ln>
          </p:spPr>
        </p:cxnSp>
        <p:cxnSp>
          <p:nvCxnSpPr>
            <p:cNvPr id="1303" name="Google Shape;1303;p78"/>
            <p:cNvCxnSpPr/>
            <p:nvPr/>
          </p:nvCxnSpPr>
          <p:spPr>
            <a:xfrm>
              <a:off x="2144712" y="5284787"/>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304" name="Google Shape;1304;p78"/>
            <p:cNvCxnSpPr/>
            <p:nvPr/>
          </p:nvCxnSpPr>
          <p:spPr>
            <a:xfrm>
              <a:off x="3171825" y="5246687"/>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305" name="Google Shape;1305;p78"/>
            <p:cNvCxnSpPr/>
            <p:nvPr/>
          </p:nvCxnSpPr>
          <p:spPr>
            <a:xfrm>
              <a:off x="4294187" y="5246687"/>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306" name="Google Shape;1306;p78"/>
            <p:cNvCxnSpPr/>
            <p:nvPr/>
          </p:nvCxnSpPr>
          <p:spPr>
            <a:xfrm>
              <a:off x="5284787" y="5246687"/>
              <a:ext cx="0" cy="685800"/>
            </a:xfrm>
            <a:prstGeom prst="straightConnector1">
              <a:avLst/>
            </a:prstGeom>
            <a:noFill/>
            <a:ln w="38100" cap="flat" cmpd="sng">
              <a:solidFill>
                <a:schemeClr val="dk1"/>
              </a:solidFill>
              <a:prstDash val="solid"/>
              <a:miter lim="800000"/>
              <a:headEnd type="none" w="med" len="med"/>
              <a:tailEnd type="none" w="med" len="med"/>
            </a:ln>
          </p:spPr>
        </p:cxnSp>
        <p:sp>
          <p:nvSpPr>
            <p:cNvPr id="1307" name="Google Shape;1307;p78"/>
            <p:cNvSpPr txBox="1"/>
            <p:nvPr/>
          </p:nvSpPr>
          <p:spPr>
            <a:xfrm>
              <a:off x="2266088" y="5089525"/>
              <a:ext cx="80182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15%</a:t>
              </a:r>
              <a:endParaRPr/>
            </a:p>
          </p:txBody>
        </p:sp>
        <p:sp>
          <p:nvSpPr>
            <p:cNvPr id="1308" name="Google Shape;1308;p78"/>
            <p:cNvSpPr txBox="1"/>
            <p:nvPr/>
          </p:nvSpPr>
          <p:spPr>
            <a:xfrm>
              <a:off x="1977731" y="4751387"/>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1309" name="Google Shape;1309;p78"/>
            <p:cNvSpPr txBox="1"/>
            <p:nvPr/>
          </p:nvSpPr>
          <p:spPr>
            <a:xfrm>
              <a:off x="2976269" y="4721225"/>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1310" name="Google Shape;1310;p78"/>
            <p:cNvSpPr txBox="1"/>
            <p:nvPr/>
          </p:nvSpPr>
          <p:spPr>
            <a:xfrm>
              <a:off x="4058944" y="4741862"/>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1311" name="Google Shape;1311;p78"/>
            <p:cNvSpPr txBox="1"/>
            <p:nvPr/>
          </p:nvSpPr>
          <p:spPr>
            <a:xfrm>
              <a:off x="5105106" y="4751387"/>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1312" name="Google Shape;1312;p78"/>
            <p:cNvSpPr txBox="1"/>
            <p:nvPr/>
          </p:nvSpPr>
          <p:spPr>
            <a:xfrm>
              <a:off x="2682474" y="5908675"/>
              <a:ext cx="87075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3000</a:t>
              </a:r>
              <a:endParaRPr/>
            </a:p>
          </p:txBody>
        </p:sp>
        <p:sp>
          <p:nvSpPr>
            <p:cNvPr id="1313" name="Google Shape;1313;p78"/>
            <p:cNvSpPr txBox="1"/>
            <p:nvPr/>
          </p:nvSpPr>
          <p:spPr>
            <a:xfrm>
              <a:off x="3827061" y="5875337"/>
              <a:ext cx="87075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3000</a:t>
              </a:r>
              <a:endParaRPr/>
            </a:p>
          </p:txBody>
        </p:sp>
        <p:cxnSp>
          <p:nvCxnSpPr>
            <p:cNvPr id="1314" name="Google Shape;1314;p78"/>
            <p:cNvCxnSpPr/>
            <p:nvPr/>
          </p:nvCxnSpPr>
          <p:spPr>
            <a:xfrm>
              <a:off x="6278562" y="5284787"/>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315" name="Google Shape;1315;p78"/>
            <p:cNvCxnSpPr/>
            <p:nvPr/>
          </p:nvCxnSpPr>
          <p:spPr>
            <a:xfrm>
              <a:off x="7265987" y="5284787"/>
              <a:ext cx="0" cy="685800"/>
            </a:xfrm>
            <a:prstGeom prst="straightConnector1">
              <a:avLst/>
            </a:prstGeom>
            <a:noFill/>
            <a:ln w="38100" cap="flat" cmpd="sng">
              <a:solidFill>
                <a:schemeClr val="dk1"/>
              </a:solidFill>
              <a:prstDash val="solid"/>
              <a:miter lim="800000"/>
              <a:headEnd type="none" w="med" len="med"/>
              <a:tailEnd type="none" w="med" len="med"/>
            </a:ln>
          </p:spPr>
        </p:cxnSp>
        <p:sp>
          <p:nvSpPr>
            <p:cNvPr id="1316" name="Google Shape;1316;p78"/>
            <p:cNvSpPr txBox="1"/>
            <p:nvPr/>
          </p:nvSpPr>
          <p:spPr>
            <a:xfrm>
              <a:off x="6060781" y="4760912"/>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4</a:t>
              </a:r>
              <a:endParaRPr/>
            </a:p>
          </p:txBody>
        </p:sp>
        <p:sp>
          <p:nvSpPr>
            <p:cNvPr id="1317" name="Google Shape;1317;p78"/>
            <p:cNvSpPr txBox="1"/>
            <p:nvPr/>
          </p:nvSpPr>
          <p:spPr>
            <a:xfrm>
              <a:off x="7060112" y="4789487"/>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5</a:t>
              </a:r>
              <a:endParaRPr/>
            </a:p>
          </p:txBody>
        </p:sp>
        <p:sp>
          <p:nvSpPr>
            <p:cNvPr id="1318" name="Google Shape;1318;p78"/>
            <p:cNvSpPr txBox="1"/>
            <p:nvPr/>
          </p:nvSpPr>
          <p:spPr>
            <a:xfrm>
              <a:off x="4899418" y="5878512"/>
              <a:ext cx="87075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2000</a:t>
              </a:r>
              <a:endParaRPr/>
            </a:p>
          </p:txBody>
        </p:sp>
        <p:sp>
          <p:nvSpPr>
            <p:cNvPr id="1319" name="Google Shape;1319;p78"/>
            <p:cNvSpPr txBox="1"/>
            <p:nvPr/>
          </p:nvSpPr>
          <p:spPr>
            <a:xfrm>
              <a:off x="6909193" y="5907087"/>
              <a:ext cx="87075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1500</a:t>
              </a:r>
              <a:endParaRPr/>
            </a:p>
          </p:txBody>
        </p:sp>
        <p:sp>
          <p:nvSpPr>
            <p:cNvPr id="1320" name="Google Shape;1320;p78"/>
            <p:cNvSpPr txBox="1"/>
            <p:nvPr/>
          </p:nvSpPr>
          <p:spPr>
            <a:xfrm>
              <a:off x="5915418" y="5894387"/>
              <a:ext cx="87075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1000</a:t>
              </a:r>
              <a:endParaRPr/>
            </a:p>
          </p:txBody>
        </p:sp>
      </p:grpSp>
      <p:sp>
        <p:nvSpPr>
          <p:cNvPr id="1321" name="Google Shape;1321;p78"/>
          <p:cNvSpPr txBox="1"/>
          <p:nvPr/>
        </p:nvSpPr>
        <p:spPr>
          <a:xfrm>
            <a:off x="3005137" y="4038600"/>
            <a:ext cx="374653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Aliran tunai tidak seragam</a:t>
            </a:r>
            <a:endParaRPr sz="2400">
              <a:solidFill>
                <a:schemeClr val="dk1"/>
              </a:solidFill>
              <a:latin typeface="Arial"/>
              <a:ea typeface="Arial"/>
              <a:cs typeface="Arial"/>
              <a:sym typeface="Arial"/>
            </a:endParaRPr>
          </a:p>
        </p:txBody>
      </p:sp>
      <p:sp>
        <p:nvSpPr>
          <p:cNvPr id="1322" name="Google Shape;1322;p78"/>
          <p:cNvSpPr txBox="1"/>
          <p:nvPr/>
        </p:nvSpPr>
        <p:spPr>
          <a:xfrm>
            <a:off x="295787" y="1143000"/>
            <a:ext cx="8543413" cy="3046988"/>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Aliran tunai yang tidak seragam (</a:t>
            </a:r>
            <a:r>
              <a:rPr lang="en-US" sz="2400" i="1">
                <a:solidFill>
                  <a:schemeClr val="dk1"/>
                </a:solidFill>
                <a:latin typeface="Arial"/>
                <a:ea typeface="Arial"/>
                <a:cs typeface="Arial"/>
                <a:sym typeface="Arial"/>
              </a:rPr>
              <a:t>uneven cash flow</a:t>
            </a:r>
            <a:r>
              <a:rPr lang="en-US" sz="2400">
                <a:solidFill>
                  <a:schemeClr val="dk1"/>
                </a:solidFill>
                <a:latin typeface="Arial"/>
                <a:ea typeface="Arial"/>
                <a:cs typeface="Arial"/>
                <a:sym typeface="Arial"/>
              </a:rPr>
              <a:t>) merupakan siri aliran tunai di mana amaunnya berbeza atau berubah-ubah dari satu tempoh ke tempoh yang lain.</a:t>
            </a:r>
            <a:endParaRPr/>
          </a:p>
          <a:p>
            <a:pPr marL="285750" marR="0" lvl="0" indent="-285750" algn="just"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Terminalogi “Pembayaran” (payment) atau PMT untuk anuiti merujuk kepada pembayaran pada amaun yang sama pada setiap tempoh masa. Terma “Aliran Tunai” (cash flow) pula mewakili aliran tunai yang tidak seragam</a:t>
            </a: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transition>
    <p:fade thruBlk="1"/>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26"/>
        <p:cNvGrpSpPr/>
        <p:nvPr/>
      </p:nvGrpSpPr>
      <p:grpSpPr>
        <a:xfrm>
          <a:off x="0" y="0"/>
          <a:ext cx="0" cy="0"/>
          <a:chOff x="0" y="0"/>
          <a:chExt cx="0" cy="0"/>
        </a:xfrm>
      </p:grpSpPr>
      <p:sp>
        <p:nvSpPr>
          <p:cNvPr id="1327" name="Google Shape;1327;p79"/>
          <p:cNvSpPr/>
          <p:nvPr/>
        </p:nvSpPr>
        <p:spPr>
          <a:xfrm>
            <a:off x="609600" y="522316"/>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NILAI DEPAN AMAUN BERUBAH</a:t>
            </a:r>
            <a:endParaRPr/>
          </a:p>
        </p:txBody>
      </p:sp>
      <p:sp>
        <p:nvSpPr>
          <p:cNvPr id="1328" name="Google Shape;1328;p79"/>
          <p:cNvSpPr txBox="1"/>
          <p:nvPr/>
        </p:nvSpPr>
        <p:spPr>
          <a:xfrm>
            <a:off x="479425" y="1772056"/>
            <a:ext cx="8112125" cy="156966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Farhana menyimpan di dalam sebuah bank dengan kadar faedah 7% sebulan. Berapakah yang terkumpul pada 31 Disember 2020? Jadual simpanan Farhana adalah seperti di bawah:</a:t>
            </a:r>
            <a:endParaRPr/>
          </a:p>
        </p:txBody>
      </p:sp>
      <p:graphicFrame>
        <p:nvGraphicFramePr>
          <p:cNvPr id="1329" name="Google Shape;1329;p79"/>
          <p:cNvGraphicFramePr/>
          <p:nvPr/>
        </p:nvGraphicFramePr>
        <p:xfrm>
          <a:off x="1676400" y="3753256"/>
          <a:ext cx="6096000" cy="1930770"/>
        </p:xfrm>
        <a:graphic>
          <a:graphicData uri="http://schemas.openxmlformats.org/drawingml/2006/table">
            <a:tbl>
              <a:tblPr>
                <a:noFill/>
                <a:tableStyleId>{583BA780-5EA6-48F8-90CF-626E18444947}</a:tableStyleId>
              </a:tblPr>
              <a:tblGrid>
                <a:gridCol w="36576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tblGrid>
              <a:tr h="406550">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Tarikh</a:t>
                      </a:r>
                      <a:endParaRPr sz="2400" b="1"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Simpanan (RM)</a:t>
                      </a:r>
                      <a:endParaRPr sz="2400" b="1"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3963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 Januari 2020</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400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5081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31 Mac 2020</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20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50817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30 Jun 2020</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100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bl>
          </a:graphicData>
        </a:graphic>
      </p:graphicFrame>
      <p:sp>
        <p:nvSpPr>
          <p:cNvPr id="1330" name="Google Shape;1330;p7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67</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28"/>
                                        </p:tgtEl>
                                        <p:attrNameLst>
                                          <p:attrName>style.visibility</p:attrName>
                                        </p:attrNameLst>
                                      </p:cBhvr>
                                      <p:to>
                                        <p:strVal val="visible"/>
                                      </p:to>
                                    </p:set>
                                    <p:anim calcmode="lin" valueType="num">
                                      <p:cBhvr additive="base">
                                        <p:cTn id="7" dur="500"/>
                                        <p:tgtEl>
                                          <p:spTgt spid="132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29"/>
                                        </p:tgtEl>
                                        <p:attrNameLst>
                                          <p:attrName>style.visibility</p:attrName>
                                        </p:attrNameLst>
                                      </p:cBhvr>
                                      <p:to>
                                        <p:strVal val="visible"/>
                                      </p:to>
                                    </p:set>
                                    <p:animEffect transition="in" filter="fade">
                                      <p:cBhvr>
                                        <p:cTn id="12" dur="500"/>
                                        <p:tgtEl>
                                          <p:spTgt spid="1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34"/>
        <p:cNvGrpSpPr/>
        <p:nvPr/>
      </p:nvGrpSpPr>
      <p:grpSpPr>
        <a:xfrm>
          <a:off x="0" y="0"/>
          <a:ext cx="0" cy="0"/>
          <a:chOff x="0" y="0"/>
          <a:chExt cx="0" cy="0"/>
        </a:xfrm>
      </p:grpSpPr>
      <p:sp>
        <p:nvSpPr>
          <p:cNvPr id="1335" name="Google Shape;1335;p80"/>
          <p:cNvSpPr txBox="1"/>
          <p:nvPr/>
        </p:nvSpPr>
        <p:spPr>
          <a:xfrm>
            <a:off x="437423" y="568350"/>
            <a:ext cx="8376297"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Bolehkah situasi tersebut digambarkan menggunakan garis masa ?</a:t>
            </a:r>
            <a:endParaRPr/>
          </a:p>
        </p:txBody>
      </p:sp>
      <p:grpSp>
        <p:nvGrpSpPr>
          <p:cNvPr id="1336" name="Google Shape;1336;p80"/>
          <p:cNvGrpSpPr/>
          <p:nvPr/>
        </p:nvGrpSpPr>
        <p:grpSpPr>
          <a:xfrm>
            <a:off x="76200" y="2286000"/>
            <a:ext cx="8953868" cy="2198132"/>
            <a:chOff x="185583" y="2286000"/>
            <a:chExt cx="8953868" cy="2198132"/>
          </a:xfrm>
        </p:grpSpPr>
        <p:cxnSp>
          <p:nvCxnSpPr>
            <p:cNvPr id="1337" name="Google Shape;1337;p80"/>
            <p:cNvCxnSpPr/>
            <p:nvPr/>
          </p:nvCxnSpPr>
          <p:spPr>
            <a:xfrm>
              <a:off x="285023" y="2971800"/>
              <a:ext cx="8686800" cy="0"/>
            </a:xfrm>
            <a:prstGeom prst="straightConnector1">
              <a:avLst/>
            </a:prstGeom>
            <a:noFill/>
            <a:ln w="28575" cap="flat" cmpd="sng">
              <a:solidFill>
                <a:schemeClr val="dk1"/>
              </a:solidFill>
              <a:prstDash val="solid"/>
              <a:miter lim="800000"/>
              <a:headEnd type="none" w="med" len="med"/>
              <a:tailEnd type="none" w="med" len="med"/>
            </a:ln>
          </p:spPr>
        </p:cxnSp>
        <p:cxnSp>
          <p:nvCxnSpPr>
            <p:cNvPr id="1338" name="Google Shape;1338;p80"/>
            <p:cNvCxnSpPr/>
            <p:nvPr/>
          </p:nvCxnSpPr>
          <p:spPr>
            <a:xfrm>
              <a:off x="4374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39" name="Google Shape;1339;p80"/>
            <p:cNvCxnSpPr/>
            <p:nvPr/>
          </p:nvCxnSpPr>
          <p:spPr>
            <a:xfrm>
              <a:off x="10470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0" name="Google Shape;1340;p80"/>
            <p:cNvCxnSpPr/>
            <p:nvPr/>
          </p:nvCxnSpPr>
          <p:spPr>
            <a:xfrm>
              <a:off x="17328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1" name="Google Shape;1341;p80"/>
            <p:cNvCxnSpPr/>
            <p:nvPr/>
          </p:nvCxnSpPr>
          <p:spPr>
            <a:xfrm>
              <a:off x="24186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2" name="Google Shape;1342;p80"/>
            <p:cNvCxnSpPr/>
            <p:nvPr/>
          </p:nvCxnSpPr>
          <p:spPr>
            <a:xfrm>
              <a:off x="38664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3" name="Google Shape;1343;p80"/>
            <p:cNvCxnSpPr/>
            <p:nvPr/>
          </p:nvCxnSpPr>
          <p:spPr>
            <a:xfrm>
              <a:off x="31044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4" name="Google Shape;1344;p80"/>
            <p:cNvCxnSpPr/>
            <p:nvPr/>
          </p:nvCxnSpPr>
          <p:spPr>
            <a:xfrm>
              <a:off x="46284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5" name="Google Shape;1345;p80"/>
            <p:cNvCxnSpPr/>
            <p:nvPr/>
          </p:nvCxnSpPr>
          <p:spPr>
            <a:xfrm>
              <a:off x="54666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6" name="Google Shape;1346;p80"/>
            <p:cNvCxnSpPr/>
            <p:nvPr/>
          </p:nvCxnSpPr>
          <p:spPr>
            <a:xfrm>
              <a:off x="62286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7" name="Google Shape;1347;p80"/>
            <p:cNvCxnSpPr/>
            <p:nvPr/>
          </p:nvCxnSpPr>
          <p:spPr>
            <a:xfrm>
              <a:off x="69906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8" name="Google Shape;1348;p80"/>
            <p:cNvCxnSpPr/>
            <p:nvPr/>
          </p:nvCxnSpPr>
          <p:spPr>
            <a:xfrm>
              <a:off x="76002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49" name="Google Shape;1349;p80"/>
            <p:cNvCxnSpPr/>
            <p:nvPr/>
          </p:nvCxnSpPr>
          <p:spPr>
            <a:xfrm>
              <a:off x="8286023" y="26670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50" name="Google Shape;1350;p80"/>
            <p:cNvCxnSpPr/>
            <p:nvPr/>
          </p:nvCxnSpPr>
          <p:spPr>
            <a:xfrm>
              <a:off x="8895623" y="2667000"/>
              <a:ext cx="0" cy="609600"/>
            </a:xfrm>
            <a:prstGeom prst="straightConnector1">
              <a:avLst/>
            </a:prstGeom>
            <a:noFill/>
            <a:ln w="28575" cap="flat" cmpd="sng">
              <a:solidFill>
                <a:schemeClr val="dk1"/>
              </a:solidFill>
              <a:prstDash val="solid"/>
              <a:miter lim="800000"/>
              <a:headEnd type="none" w="med" len="med"/>
              <a:tailEnd type="none" w="med" len="med"/>
            </a:ln>
          </p:spPr>
        </p:cxnSp>
        <p:sp>
          <p:nvSpPr>
            <p:cNvPr id="1351" name="Google Shape;1351;p80"/>
            <p:cNvSpPr txBox="1"/>
            <p:nvPr/>
          </p:nvSpPr>
          <p:spPr>
            <a:xfrm>
              <a:off x="185583" y="23002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1.1</a:t>
              </a:r>
              <a:endParaRPr/>
            </a:p>
          </p:txBody>
        </p:sp>
        <p:sp>
          <p:nvSpPr>
            <p:cNvPr id="1352" name="Google Shape;1352;p80"/>
            <p:cNvSpPr txBox="1"/>
            <p:nvPr/>
          </p:nvSpPr>
          <p:spPr>
            <a:xfrm>
              <a:off x="825346" y="2286000"/>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1.2</a:t>
              </a:r>
              <a:endParaRPr/>
            </a:p>
          </p:txBody>
        </p:sp>
        <p:sp>
          <p:nvSpPr>
            <p:cNvPr id="1353" name="Google Shape;1353;p80"/>
            <p:cNvSpPr txBox="1"/>
            <p:nvPr/>
          </p:nvSpPr>
          <p:spPr>
            <a:xfrm>
              <a:off x="1511146" y="2286000"/>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1.3</a:t>
              </a:r>
              <a:endParaRPr/>
            </a:p>
          </p:txBody>
        </p:sp>
        <p:sp>
          <p:nvSpPr>
            <p:cNvPr id="1354" name="Google Shape;1354;p80"/>
            <p:cNvSpPr txBox="1"/>
            <p:nvPr/>
          </p:nvSpPr>
          <p:spPr>
            <a:xfrm>
              <a:off x="2120746" y="2286000"/>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1.4</a:t>
              </a:r>
              <a:endParaRPr/>
            </a:p>
          </p:txBody>
        </p:sp>
        <p:sp>
          <p:nvSpPr>
            <p:cNvPr id="1355" name="Google Shape;1355;p80"/>
            <p:cNvSpPr txBox="1"/>
            <p:nvPr/>
          </p:nvSpPr>
          <p:spPr>
            <a:xfrm>
              <a:off x="2882746" y="2286000"/>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1.5</a:t>
              </a:r>
              <a:endParaRPr/>
            </a:p>
          </p:txBody>
        </p:sp>
        <p:sp>
          <p:nvSpPr>
            <p:cNvPr id="1356" name="Google Shape;1356;p80"/>
            <p:cNvSpPr txBox="1"/>
            <p:nvPr/>
          </p:nvSpPr>
          <p:spPr>
            <a:xfrm>
              <a:off x="3568546" y="2286000"/>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1.6</a:t>
              </a:r>
              <a:endParaRPr/>
            </a:p>
          </p:txBody>
        </p:sp>
        <p:sp>
          <p:nvSpPr>
            <p:cNvPr id="1357" name="Google Shape;1357;p80"/>
            <p:cNvSpPr txBox="1"/>
            <p:nvPr/>
          </p:nvSpPr>
          <p:spPr>
            <a:xfrm>
              <a:off x="4406746" y="2286000"/>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1.7</a:t>
              </a:r>
              <a:endParaRPr/>
            </a:p>
          </p:txBody>
        </p:sp>
        <p:sp>
          <p:nvSpPr>
            <p:cNvPr id="1358" name="Google Shape;1358;p80"/>
            <p:cNvSpPr txBox="1"/>
            <p:nvPr/>
          </p:nvSpPr>
          <p:spPr>
            <a:xfrm>
              <a:off x="5168746" y="2286000"/>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1.8</a:t>
              </a:r>
              <a:endParaRPr/>
            </a:p>
          </p:txBody>
        </p:sp>
        <p:sp>
          <p:nvSpPr>
            <p:cNvPr id="1359" name="Google Shape;1359;p80"/>
            <p:cNvSpPr txBox="1"/>
            <p:nvPr/>
          </p:nvSpPr>
          <p:spPr>
            <a:xfrm>
              <a:off x="5930746" y="2286000"/>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1.9</a:t>
              </a:r>
              <a:endParaRPr/>
            </a:p>
          </p:txBody>
        </p:sp>
        <p:sp>
          <p:nvSpPr>
            <p:cNvPr id="1360" name="Google Shape;1360;p80"/>
            <p:cNvSpPr txBox="1"/>
            <p:nvPr/>
          </p:nvSpPr>
          <p:spPr>
            <a:xfrm>
              <a:off x="6628626" y="2286000"/>
              <a:ext cx="63350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1.10</a:t>
              </a:r>
              <a:endParaRPr/>
            </a:p>
          </p:txBody>
        </p:sp>
        <p:sp>
          <p:nvSpPr>
            <p:cNvPr id="1361" name="Google Shape;1361;p80"/>
            <p:cNvSpPr txBox="1"/>
            <p:nvPr/>
          </p:nvSpPr>
          <p:spPr>
            <a:xfrm>
              <a:off x="7244606" y="2286000"/>
              <a:ext cx="62074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1.11</a:t>
              </a:r>
              <a:endParaRPr/>
            </a:p>
          </p:txBody>
        </p:sp>
        <p:sp>
          <p:nvSpPr>
            <p:cNvPr id="1362" name="Google Shape;1362;p80"/>
            <p:cNvSpPr txBox="1"/>
            <p:nvPr/>
          </p:nvSpPr>
          <p:spPr>
            <a:xfrm>
              <a:off x="7924026" y="2286000"/>
              <a:ext cx="63350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1.12</a:t>
              </a:r>
              <a:endParaRPr/>
            </a:p>
          </p:txBody>
        </p:sp>
        <p:sp>
          <p:nvSpPr>
            <p:cNvPr id="1363" name="Google Shape;1363;p80"/>
            <p:cNvSpPr txBox="1"/>
            <p:nvPr/>
          </p:nvSpPr>
          <p:spPr>
            <a:xfrm>
              <a:off x="8597746" y="2286000"/>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1.1</a:t>
              </a:r>
              <a:endParaRPr/>
            </a:p>
          </p:txBody>
        </p:sp>
        <p:sp>
          <p:nvSpPr>
            <p:cNvPr id="1364" name="Google Shape;1364;p80"/>
            <p:cNvSpPr txBox="1"/>
            <p:nvPr/>
          </p:nvSpPr>
          <p:spPr>
            <a:xfrm>
              <a:off x="514134" y="2605088"/>
              <a:ext cx="518091"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7%</a:t>
              </a:r>
              <a:endParaRPr/>
            </a:p>
          </p:txBody>
        </p:sp>
        <p:sp>
          <p:nvSpPr>
            <p:cNvPr id="1365" name="Google Shape;1365;p80"/>
            <p:cNvSpPr txBox="1"/>
            <p:nvPr/>
          </p:nvSpPr>
          <p:spPr>
            <a:xfrm>
              <a:off x="225754" y="3290888"/>
              <a:ext cx="56938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400</a:t>
              </a:r>
              <a:endParaRPr/>
            </a:p>
          </p:txBody>
        </p:sp>
        <p:sp>
          <p:nvSpPr>
            <p:cNvPr id="1366" name="Google Shape;1366;p80"/>
            <p:cNvSpPr txBox="1"/>
            <p:nvPr/>
          </p:nvSpPr>
          <p:spPr>
            <a:xfrm>
              <a:off x="2123438" y="3290888"/>
              <a:ext cx="44114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20</a:t>
              </a:r>
              <a:endParaRPr/>
            </a:p>
          </p:txBody>
        </p:sp>
        <p:sp>
          <p:nvSpPr>
            <p:cNvPr id="1367" name="Google Shape;1367;p80"/>
            <p:cNvSpPr txBox="1"/>
            <p:nvPr/>
          </p:nvSpPr>
          <p:spPr>
            <a:xfrm>
              <a:off x="4345317" y="3290888"/>
              <a:ext cx="56938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100</a:t>
              </a:r>
              <a:endParaRPr/>
            </a:p>
          </p:txBody>
        </p:sp>
        <p:cxnSp>
          <p:nvCxnSpPr>
            <p:cNvPr id="1368" name="Google Shape;1368;p80"/>
            <p:cNvCxnSpPr/>
            <p:nvPr/>
          </p:nvCxnSpPr>
          <p:spPr>
            <a:xfrm>
              <a:off x="437423" y="37338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69" name="Google Shape;1369;p80"/>
            <p:cNvCxnSpPr/>
            <p:nvPr/>
          </p:nvCxnSpPr>
          <p:spPr>
            <a:xfrm>
              <a:off x="437423" y="4343400"/>
              <a:ext cx="8458200" cy="0"/>
            </a:xfrm>
            <a:prstGeom prst="straightConnector1">
              <a:avLst/>
            </a:prstGeom>
            <a:noFill/>
            <a:ln w="28575" cap="flat" cmpd="sng">
              <a:solidFill>
                <a:schemeClr val="dk1"/>
              </a:solidFill>
              <a:prstDash val="solid"/>
              <a:miter lim="800000"/>
              <a:headEnd type="none" w="med" len="med"/>
              <a:tailEnd type="triangle" w="med" len="med"/>
            </a:ln>
          </p:spPr>
        </p:cxnSp>
        <p:cxnSp>
          <p:nvCxnSpPr>
            <p:cNvPr id="1370" name="Google Shape;1370;p80"/>
            <p:cNvCxnSpPr/>
            <p:nvPr/>
          </p:nvCxnSpPr>
          <p:spPr>
            <a:xfrm>
              <a:off x="2418623" y="3733800"/>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71" name="Google Shape;1371;p80"/>
            <p:cNvCxnSpPr/>
            <p:nvPr/>
          </p:nvCxnSpPr>
          <p:spPr>
            <a:xfrm>
              <a:off x="4628423" y="3733800"/>
              <a:ext cx="0" cy="609600"/>
            </a:xfrm>
            <a:prstGeom prst="straightConnector1">
              <a:avLst/>
            </a:prstGeom>
            <a:noFill/>
            <a:ln w="28575" cap="flat" cmpd="sng">
              <a:solidFill>
                <a:schemeClr val="dk1"/>
              </a:solidFill>
              <a:prstDash val="solid"/>
              <a:miter lim="800000"/>
              <a:headEnd type="none" w="med" len="med"/>
              <a:tailEnd type="none" w="med" len="med"/>
            </a:ln>
          </p:spPr>
        </p:cxnSp>
        <p:sp>
          <p:nvSpPr>
            <p:cNvPr id="1372" name="Google Shape;1372;p80"/>
            <p:cNvSpPr txBox="1"/>
            <p:nvPr/>
          </p:nvSpPr>
          <p:spPr>
            <a:xfrm>
              <a:off x="8813720" y="4114800"/>
              <a:ext cx="325731"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a:t>
              </a:r>
              <a:endParaRPr/>
            </a:p>
          </p:txBody>
        </p:sp>
      </p:grpSp>
      <p:sp>
        <p:nvSpPr>
          <p:cNvPr id="1373" name="Google Shape;1373;p8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68</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77"/>
        <p:cNvGrpSpPr/>
        <p:nvPr/>
      </p:nvGrpSpPr>
      <p:grpSpPr>
        <a:xfrm>
          <a:off x="0" y="0"/>
          <a:ext cx="0" cy="0"/>
          <a:chOff x="0" y="0"/>
          <a:chExt cx="0" cy="0"/>
        </a:xfrm>
      </p:grpSpPr>
      <p:sp>
        <p:nvSpPr>
          <p:cNvPr id="1378" name="Google Shape;1378;p81"/>
          <p:cNvSpPr txBox="1"/>
          <p:nvPr/>
        </p:nvSpPr>
        <p:spPr>
          <a:xfrm>
            <a:off x="397253" y="538064"/>
            <a:ext cx="8493932"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Penyelesaian masalah menggunakan jadual nilai faktor  </a:t>
            </a:r>
            <a:endParaRPr/>
          </a:p>
        </p:txBody>
      </p:sp>
      <p:sp>
        <p:nvSpPr>
          <p:cNvPr id="1379" name="Google Shape;1379;p81"/>
          <p:cNvSpPr txBox="1"/>
          <p:nvPr/>
        </p:nvSpPr>
        <p:spPr>
          <a:xfrm>
            <a:off x="-15625" y="2464476"/>
            <a:ext cx="56938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400</a:t>
            </a:r>
            <a:endParaRPr/>
          </a:p>
        </p:txBody>
      </p:sp>
      <p:sp>
        <p:nvSpPr>
          <p:cNvPr id="1380" name="Google Shape;1380;p81"/>
          <p:cNvSpPr txBox="1">
            <a:spLocks noGrp="1"/>
          </p:cNvSpPr>
          <p:nvPr>
            <p:ph type="sldNum" sz="quarter" idx="12"/>
          </p:nvPr>
        </p:nvSpPr>
        <p:spPr>
          <a:xfrm>
            <a:off x="6629400" y="6365875"/>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69</a:t>
            </a:fld>
            <a:endParaRPr sz="1200">
              <a:solidFill>
                <a:schemeClr val="dk1"/>
              </a:solidFill>
              <a:latin typeface="Times New Roman"/>
              <a:ea typeface="Times New Roman"/>
              <a:cs typeface="Times New Roman"/>
              <a:sym typeface="Times New Roman"/>
            </a:endParaRPr>
          </a:p>
        </p:txBody>
      </p:sp>
      <p:grpSp>
        <p:nvGrpSpPr>
          <p:cNvPr id="1381" name="Google Shape;1381;p81"/>
          <p:cNvGrpSpPr/>
          <p:nvPr/>
        </p:nvGrpSpPr>
        <p:grpSpPr>
          <a:xfrm>
            <a:off x="110319" y="1459588"/>
            <a:ext cx="9033681" cy="4724400"/>
            <a:chOff x="110319" y="1459588"/>
            <a:chExt cx="9067800" cy="4724400"/>
          </a:xfrm>
        </p:grpSpPr>
        <p:cxnSp>
          <p:nvCxnSpPr>
            <p:cNvPr id="1382" name="Google Shape;1382;p81"/>
            <p:cNvCxnSpPr/>
            <p:nvPr/>
          </p:nvCxnSpPr>
          <p:spPr>
            <a:xfrm>
              <a:off x="196044"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83" name="Google Shape;1383;p81"/>
            <p:cNvCxnSpPr/>
            <p:nvPr/>
          </p:nvCxnSpPr>
          <p:spPr>
            <a:xfrm>
              <a:off x="805644"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84" name="Google Shape;1384;p81"/>
            <p:cNvCxnSpPr/>
            <p:nvPr/>
          </p:nvCxnSpPr>
          <p:spPr>
            <a:xfrm>
              <a:off x="13295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85" name="Google Shape;1385;p81"/>
            <p:cNvCxnSpPr/>
            <p:nvPr/>
          </p:nvCxnSpPr>
          <p:spPr>
            <a:xfrm>
              <a:off x="18629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86" name="Google Shape;1386;p81"/>
            <p:cNvCxnSpPr/>
            <p:nvPr/>
          </p:nvCxnSpPr>
          <p:spPr>
            <a:xfrm>
              <a:off x="30821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87" name="Google Shape;1387;p81"/>
            <p:cNvCxnSpPr/>
            <p:nvPr/>
          </p:nvCxnSpPr>
          <p:spPr>
            <a:xfrm>
              <a:off x="24725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88" name="Google Shape;1388;p81"/>
            <p:cNvCxnSpPr/>
            <p:nvPr/>
          </p:nvCxnSpPr>
          <p:spPr>
            <a:xfrm>
              <a:off x="36917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89" name="Google Shape;1389;p81"/>
            <p:cNvCxnSpPr/>
            <p:nvPr/>
          </p:nvCxnSpPr>
          <p:spPr>
            <a:xfrm>
              <a:off x="43013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90" name="Google Shape;1390;p81"/>
            <p:cNvCxnSpPr/>
            <p:nvPr/>
          </p:nvCxnSpPr>
          <p:spPr>
            <a:xfrm>
              <a:off x="48347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91" name="Google Shape;1391;p81"/>
            <p:cNvCxnSpPr/>
            <p:nvPr/>
          </p:nvCxnSpPr>
          <p:spPr>
            <a:xfrm>
              <a:off x="55205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92" name="Google Shape;1392;p81"/>
            <p:cNvCxnSpPr/>
            <p:nvPr/>
          </p:nvCxnSpPr>
          <p:spPr>
            <a:xfrm>
              <a:off x="61301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93" name="Google Shape;1393;p81"/>
            <p:cNvCxnSpPr/>
            <p:nvPr/>
          </p:nvCxnSpPr>
          <p:spPr>
            <a:xfrm>
              <a:off x="6739719" y="1840588"/>
              <a:ext cx="0" cy="609600"/>
            </a:xfrm>
            <a:prstGeom prst="straightConnector1">
              <a:avLst/>
            </a:prstGeom>
            <a:noFill/>
            <a:ln w="28575" cap="flat" cmpd="sng">
              <a:solidFill>
                <a:schemeClr val="dk1"/>
              </a:solidFill>
              <a:prstDash val="solid"/>
              <a:miter lim="800000"/>
              <a:headEnd type="none" w="med" len="med"/>
              <a:tailEnd type="none" w="med" len="med"/>
            </a:ln>
          </p:spPr>
        </p:cxnSp>
        <p:cxnSp>
          <p:nvCxnSpPr>
            <p:cNvPr id="1394" name="Google Shape;1394;p81"/>
            <p:cNvCxnSpPr/>
            <p:nvPr/>
          </p:nvCxnSpPr>
          <p:spPr>
            <a:xfrm>
              <a:off x="7349319" y="1840588"/>
              <a:ext cx="0" cy="609600"/>
            </a:xfrm>
            <a:prstGeom prst="straightConnector1">
              <a:avLst/>
            </a:prstGeom>
            <a:noFill/>
            <a:ln w="28575" cap="flat" cmpd="sng">
              <a:solidFill>
                <a:schemeClr val="dk1"/>
              </a:solidFill>
              <a:prstDash val="solid"/>
              <a:miter lim="800000"/>
              <a:headEnd type="none" w="med" len="med"/>
              <a:tailEnd type="none" w="med" len="med"/>
            </a:ln>
          </p:spPr>
        </p:cxnSp>
        <p:sp>
          <p:nvSpPr>
            <p:cNvPr id="1395" name="Google Shape;1395;p81"/>
            <p:cNvSpPr txBox="1"/>
            <p:nvPr/>
          </p:nvSpPr>
          <p:spPr>
            <a:xfrm>
              <a:off x="583967" y="14595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1.2</a:t>
              </a:r>
              <a:endParaRPr/>
            </a:p>
          </p:txBody>
        </p:sp>
        <p:sp>
          <p:nvSpPr>
            <p:cNvPr id="1396" name="Google Shape;1396;p81"/>
            <p:cNvSpPr txBox="1"/>
            <p:nvPr/>
          </p:nvSpPr>
          <p:spPr>
            <a:xfrm>
              <a:off x="1122129" y="14595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1.3</a:t>
              </a:r>
              <a:endParaRPr/>
            </a:p>
          </p:txBody>
        </p:sp>
        <p:sp>
          <p:nvSpPr>
            <p:cNvPr id="1397" name="Google Shape;1397;p81"/>
            <p:cNvSpPr txBox="1"/>
            <p:nvPr/>
          </p:nvSpPr>
          <p:spPr>
            <a:xfrm>
              <a:off x="1579329" y="14595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1.4</a:t>
              </a:r>
              <a:endParaRPr/>
            </a:p>
          </p:txBody>
        </p:sp>
        <p:sp>
          <p:nvSpPr>
            <p:cNvPr id="1398" name="Google Shape;1398;p81"/>
            <p:cNvSpPr txBox="1"/>
            <p:nvPr/>
          </p:nvSpPr>
          <p:spPr>
            <a:xfrm>
              <a:off x="2188929" y="14595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1.5</a:t>
              </a:r>
              <a:endParaRPr/>
            </a:p>
          </p:txBody>
        </p:sp>
        <p:sp>
          <p:nvSpPr>
            <p:cNvPr id="1399" name="Google Shape;1399;p81"/>
            <p:cNvSpPr txBox="1"/>
            <p:nvPr/>
          </p:nvSpPr>
          <p:spPr>
            <a:xfrm>
              <a:off x="2874729" y="14595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1.6</a:t>
              </a:r>
              <a:endParaRPr/>
            </a:p>
          </p:txBody>
        </p:sp>
        <p:sp>
          <p:nvSpPr>
            <p:cNvPr id="1400" name="Google Shape;1400;p81"/>
            <p:cNvSpPr txBox="1"/>
            <p:nvPr/>
          </p:nvSpPr>
          <p:spPr>
            <a:xfrm>
              <a:off x="3484329" y="14595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1.7</a:t>
              </a:r>
              <a:endParaRPr/>
            </a:p>
          </p:txBody>
        </p:sp>
        <p:sp>
          <p:nvSpPr>
            <p:cNvPr id="1401" name="Google Shape;1401;p81"/>
            <p:cNvSpPr txBox="1"/>
            <p:nvPr/>
          </p:nvSpPr>
          <p:spPr>
            <a:xfrm>
              <a:off x="4017729" y="14595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1.8</a:t>
              </a:r>
              <a:endParaRPr/>
            </a:p>
          </p:txBody>
        </p:sp>
        <p:sp>
          <p:nvSpPr>
            <p:cNvPr id="1402" name="Google Shape;1402;p81"/>
            <p:cNvSpPr txBox="1"/>
            <p:nvPr/>
          </p:nvSpPr>
          <p:spPr>
            <a:xfrm>
              <a:off x="4551129" y="14595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1.9</a:t>
              </a:r>
              <a:endParaRPr/>
            </a:p>
          </p:txBody>
        </p:sp>
        <p:sp>
          <p:nvSpPr>
            <p:cNvPr id="1403" name="Google Shape;1403;p81"/>
            <p:cNvSpPr txBox="1"/>
            <p:nvPr/>
          </p:nvSpPr>
          <p:spPr>
            <a:xfrm>
              <a:off x="5169634" y="1459588"/>
              <a:ext cx="63350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1.10</a:t>
              </a:r>
              <a:endParaRPr/>
            </a:p>
          </p:txBody>
        </p:sp>
        <p:sp>
          <p:nvSpPr>
            <p:cNvPr id="1404" name="Google Shape;1404;p81"/>
            <p:cNvSpPr txBox="1"/>
            <p:nvPr/>
          </p:nvSpPr>
          <p:spPr>
            <a:xfrm>
              <a:off x="5785614" y="1459588"/>
              <a:ext cx="62074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1.11</a:t>
              </a:r>
              <a:endParaRPr/>
            </a:p>
          </p:txBody>
        </p:sp>
        <p:sp>
          <p:nvSpPr>
            <p:cNvPr id="1405" name="Google Shape;1405;p81"/>
            <p:cNvSpPr txBox="1"/>
            <p:nvPr/>
          </p:nvSpPr>
          <p:spPr>
            <a:xfrm>
              <a:off x="6388834" y="1459588"/>
              <a:ext cx="63350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1.12</a:t>
              </a:r>
              <a:endParaRPr/>
            </a:p>
          </p:txBody>
        </p:sp>
        <p:sp>
          <p:nvSpPr>
            <p:cNvPr id="1406" name="Google Shape;1406;p81"/>
            <p:cNvSpPr txBox="1"/>
            <p:nvPr/>
          </p:nvSpPr>
          <p:spPr>
            <a:xfrm>
              <a:off x="6989529" y="1459588"/>
              <a:ext cx="50526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1.1</a:t>
              </a:r>
              <a:endParaRPr/>
            </a:p>
          </p:txBody>
        </p:sp>
        <p:sp>
          <p:nvSpPr>
            <p:cNvPr id="1407" name="Google Shape;1407;p81"/>
            <p:cNvSpPr txBox="1"/>
            <p:nvPr/>
          </p:nvSpPr>
          <p:spPr>
            <a:xfrm>
              <a:off x="272755" y="1778676"/>
              <a:ext cx="518091"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7%</a:t>
              </a:r>
              <a:endParaRPr/>
            </a:p>
          </p:txBody>
        </p:sp>
        <p:sp>
          <p:nvSpPr>
            <p:cNvPr id="1408" name="Google Shape;1408;p81"/>
            <p:cNvSpPr txBox="1"/>
            <p:nvPr/>
          </p:nvSpPr>
          <p:spPr>
            <a:xfrm>
              <a:off x="1651871" y="2464476"/>
              <a:ext cx="44114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20</a:t>
              </a:r>
              <a:endParaRPr/>
            </a:p>
          </p:txBody>
        </p:sp>
        <p:sp>
          <p:nvSpPr>
            <p:cNvPr id="1409" name="Google Shape;1409;p81"/>
            <p:cNvSpPr txBox="1"/>
            <p:nvPr/>
          </p:nvSpPr>
          <p:spPr>
            <a:xfrm>
              <a:off x="3413375" y="2464476"/>
              <a:ext cx="56938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100</a:t>
              </a:r>
              <a:endParaRPr/>
            </a:p>
          </p:txBody>
        </p:sp>
        <p:cxnSp>
          <p:nvCxnSpPr>
            <p:cNvPr id="1410" name="Google Shape;1410;p81"/>
            <p:cNvCxnSpPr/>
            <p:nvPr/>
          </p:nvCxnSpPr>
          <p:spPr>
            <a:xfrm flipH="1">
              <a:off x="186519" y="2740701"/>
              <a:ext cx="9525" cy="2667000"/>
            </a:xfrm>
            <a:prstGeom prst="straightConnector1">
              <a:avLst/>
            </a:prstGeom>
            <a:noFill/>
            <a:ln w="28575" cap="flat" cmpd="sng">
              <a:solidFill>
                <a:schemeClr val="dk1"/>
              </a:solidFill>
              <a:prstDash val="solid"/>
              <a:miter lim="800000"/>
              <a:headEnd type="none" w="med" len="med"/>
              <a:tailEnd type="none" w="med" len="med"/>
            </a:ln>
          </p:spPr>
        </p:cxnSp>
        <p:cxnSp>
          <p:nvCxnSpPr>
            <p:cNvPr id="1411" name="Google Shape;1411;p81"/>
            <p:cNvCxnSpPr/>
            <p:nvPr/>
          </p:nvCxnSpPr>
          <p:spPr>
            <a:xfrm>
              <a:off x="196044" y="5407701"/>
              <a:ext cx="7229475" cy="0"/>
            </a:xfrm>
            <a:prstGeom prst="straightConnector1">
              <a:avLst/>
            </a:prstGeom>
            <a:noFill/>
            <a:ln w="28575" cap="flat" cmpd="sng">
              <a:solidFill>
                <a:schemeClr val="dk1"/>
              </a:solidFill>
              <a:prstDash val="solid"/>
              <a:miter lim="800000"/>
              <a:headEnd type="none" w="med" len="med"/>
              <a:tailEnd type="triangle" w="med" len="med"/>
            </a:ln>
          </p:spPr>
        </p:cxnSp>
        <p:cxnSp>
          <p:nvCxnSpPr>
            <p:cNvPr id="1412" name="Google Shape;1412;p81"/>
            <p:cNvCxnSpPr/>
            <p:nvPr/>
          </p:nvCxnSpPr>
          <p:spPr>
            <a:xfrm>
              <a:off x="1862919" y="2816901"/>
              <a:ext cx="0" cy="2133600"/>
            </a:xfrm>
            <a:prstGeom prst="straightConnector1">
              <a:avLst/>
            </a:prstGeom>
            <a:noFill/>
            <a:ln w="28575" cap="flat" cmpd="sng">
              <a:solidFill>
                <a:schemeClr val="dk1"/>
              </a:solidFill>
              <a:prstDash val="solid"/>
              <a:miter lim="800000"/>
              <a:headEnd type="none" w="med" len="med"/>
              <a:tailEnd type="none" w="med" len="med"/>
            </a:ln>
          </p:spPr>
        </p:cxnSp>
        <p:cxnSp>
          <p:nvCxnSpPr>
            <p:cNvPr id="1413" name="Google Shape;1413;p81"/>
            <p:cNvCxnSpPr/>
            <p:nvPr/>
          </p:nvCxnSpPr>
          <p:spPr>
            <a:xfrm>
              <a:off x="3767919" y="2816901"/>
              <a:ext cx="0" cy="1752600"/>
            </a:xfrm>
            <a:prstGeom prst="straightConnector1">
              <a:avLst/>
            </a:prstGeom>
            <a:noFill/>
            <a:ln w="28575" cap="flat" cmpd="sng">
              <a:solidFill>
                <a:schemeClr val="dk1"/>
              </a:solidFill>
              <a:prstDash val="solid"/>
              <a:miter lim="800000"/>
              <a:headEnd type="none" w="med" len="med"/>
              <a:tailEnd type="none" w="med" len="med"/>
            </a:ln>
          </p:spPr>
        </p:cxnSp>
        <p:cxnSp>
          <p:nvCxnSpPr>
            <p:cNvPr id="1414" name="Google Shape;1414;p81"/>
            <p:cNvCxnSpPr/>
            <p:nvPr/>
          </p:nvCxnSpPr>
          <p:spPr>
            <a:xfrm>
              <a:off x="110319" y="2131101"/>
              <a:ext cx="7391400" cy="0"/>
            </a:xfrm>
            <a:prstGeom prst="straightConnector1">
              <a:avLst/>
            </a:prstGeom>
            <a:noFill/>
            <a:ln w="9525" cap="flat" cmpd="sng">
              <a:solidFill>
                <a:schemeClr val="dk1"/>
              </a:solidFill>
              <a:prstDash val="solid"/>
              <a:miter lim="800000"/>
              <a:headEnd type="none" w="med" len="med"/>
              <a:tailEnd type="none" w="med" len="med"/>
            </a:ln>
          </p:spPr>
        </p:cxnSp>
        <p:cxnSp>
          <p:nvCxnSpPr>
            <p:cNvPr id="1415" name="Google Shape;1415;p81"/>
            <p:cNvCxnSpPr/>
            <p:nvPr/>
          </p:nvCxnSpPr>
          <p:spPr>
            <a:xfrm>
              <a:off x="3767919" y="4569501"/>
              <a:ext cx="3657600" cy="0"/>
            </a:xfrm>
            <a:prstGeom prst="straightConnector1">
              <a:avLst/>
            </a:prstGeom>
            <a:noFill/>
            <a:ln w="28575" cap="flat" cmpd="sng">
              <a:solidFill>
                <a:schemeClr val="dk1"/>
              </a:solidFill>
              <a:prstDash val="solid"/>
              <a:miter lim="800000"/>
              <a:headEnd type="none" w="med" len="med"/>
              <a:tailEnd type="triangle" w="med" len="med"/>
            </a:ln>
          </p:spPr>
        </p:cxnSp>
        <p:cxnSp>
          <p:nvCxnSpPr>
            <p:cNvPr id="1416" name="Google Shape;1416;p81"/>
            <p:cNvCxnSpPr/>
            <p:nvPr/>
          </p:nvCxnSpPr>
          <p:spPr>
            <a:xfrm>
              <a:off x="1862919" y="4950501"/>
              <a:ext cx="5562600" cy="0"/>
            </a:xfrm>
            <a:prstGeom prst="straightConnector1">
              <a:avLst/>
            </a:prstGeom>
            <a:noFill/>
            <a:ln w="28575" cap="flat" cmpd="sng">
              <a:solidFill>
                <a:schemeClr val="dk1"/>
              </a:solidFill>
              <a:prstDash val="solid"/>
              <a:miter lim="800000"/>
              <a:headEnd type="none" w="med" len="med"/>
              <a:tailEnd type="triangle" w="med" len="med"/>
            </a:ln>
          </p:spPr>
        </p:cxnSp>
        <p:cxnSp>
          <p:nvCxnSpPr>
            <p:cNvPr id="1417" name="Google Shape;1417;p81"/>
            <p:cNvCxnSpPr/>
            <p:nvPr/>
          </p:nvCxnSpPr>
          <p:spPr>
            <a:xfrm>
              <a:off x="6815919" y="5726788"/>
              <a:ext cx="2209800" cy="0"/>
            </a:xfrm>
            <a:prstGeom prst="straightConnector1">
              <a:avLst/>
            </a:prstGeom>
            <a:noFill/>
            <a:ln w="9525" cap="flat" cmpd="sng">
              <a:solidFill>
                <a:schemeClr val="dk1"/>
              </a:solidFill>
              <a:prstDash val="solid"/>
              <a:miter lim="800000"/>
              <a:headEnd type="none" w="med" len="med"/>
              <a:tailEnd type="none" w="med" len="med"/>
            </a:ln>
          </p:spPr>
        </p:cxnSp>
        <p:sp>
          <p:nvSpPr>
            <p:cNvPr id="1418" name="Google Shape;1418;p81"/>
            <p:cNvSpPr txBox="1"/>
            <p:nvPr/>
          </p:nvSpPr>
          <p:spPr>
            <a:xfrm>
              <a:off x="7409644" y="2629576"/>
              <a:ext cx="18415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pic>
          <p:nvPicPr>
            <p:cNvPr id="1419" name="Google Shape;1419;p81"/>
            <p:cNvPicPr preferRelativeResize="0"/>
            <p:nvPr/>
          </p:nvPicPr>
          <p:blipFill rotWithShape="1">
            <a:blip r:embed="rId3">
              <a:alphaModFix/>
            </a:blip>
            <a:srcRect/>
            <a:stretch/>
          </p:blipFill>
          <p:spPr>
            <a:xfrm>
              <a:off x="6739719" y="5725201"/>
              <a:ext cx="2362200" cy="458787"/>
            </a:xfrm>
            <a:prstGeom prst="rect">
              <a:avLst/>
            </a:prstGeom>
            <a:noFill/>
            <a:ln>
              <a:noFill/>
            </a:ln>
          </p:spPr>
        </p:pic>
        <p:sp>
          <p:nvSpPr>
            <p:cNvPr id="1420" name="Google Shape;1420;p81"/>
            <p:cNvSpPr txBox="1"/>
            <p:nvPr/>
          </p:nvSpPr>
          <p:spPr>
            <a:xfrm>
              <a:off x="7349319" y="4336138"/>
              <a:ext cx="1797050"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ahoma"/>
                  <a:ea typeface="Tahoma"/>
                  <a:cs typeface="Tahoma"/>
                  <a:sym typeface="Tahoma"/>
                </a:rPr>
                <a:t>100(FVIF </a:t>
              </a:r>
              <a:r>
                <a:rPr lang="en-US" sz="2000" baseline="-25000">
                  <a:solidFill>
                    <a:schemeClr val="dk1"/>
                  </a:solidFill>
                  <a:latin typeface="Tahoma"/>
                  <a:ea typeface="Tahoma"/>
                  <a:cs typeface="Tahoma"/>
                  <a:sym typeface="Tahoma"/>
                </a:rPr>
                <a:t>7%,6</a:t>
              </a:r>
              <a:r>
                <a:rPr lang="en-US" sz="2000">
                  <a:solidFill>
                    <a:schemeClr val="dk1"/>
                  </a:solidFill>
                  <a:latin typeface="Tahoma"/>
                  <a:ea typeface="Tahoma"/>
                  <a:cs typeface="Tahoma"/>
                  <a:sym typeface="Tahoma"/>
                </a:rPr>
                <a:t>)</a:t>
              </a:r>
              <a:endParaRPr/>
            </a:p>
          </p:txBody>
        </p:sp>
        <p:sp>
          <p:nvSpPr>
            <p:cNvPr id="1421" name="Google Shape;1421;p81"/>
            <p:cNvSpPr txBox="1"/>
            <p:nvPr/>
          </p:nvSpPr>
          <p:spPr>
            <a:xfrm>
              <a:off x="7425519" y="4717138"/>
              <a:ext cx="1657350"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ahoma"/>
                  <a:ea typeface="Tahoma"/>
                  <a:cs typeface="Tahoma"/>
                  <a:sym typeface="Tahoma"/>
                </a:rPr>
                <a:t>20(FVIF </a:t>
              </a:r>
              <a:r>
                <a:rPr lang="en-US" sz="2000" baseline="-25000">
                  <a:solidFill>
                    <a:schemeClr val="dk1"/>
                  </a:solidFill>
                  <a:latin typeface="Tahoma"/>
                  <a:ea typeface="Tahoma"/>
                  <a:cs typeface="Tahoma"/>
                  <a:sym typeface="Tahoma"/>
                </a:rPr>
                <a:t>7%,9</a:t>
              </a:r>
              <a:r>
                <a:rPr lang="en-US" sz="2000">
                  <a:solidFill>
                    <a:schemeClr val="dk1"/>
                  </a:solidFill>
                  <a:latin typeface="Tahoma"/>
                  <a:ea typeface="Tahoma"/>
                  <a:cs typeface="Tahoma"/>
                  <a:sym typeface="Tahoma"/>
                </a:rPr>
                <a:t>)</a:t>
              </a:r>
              <a:endParaRPr/>
            </a:p>
          </p:txBody>
        </p:sp>
        <p:sp>
          <p:nvSpPr>
            <p:cNvPr id="1422" name="Google Shape;1422;p81"/>
            <p:cNvSpPr txBox="1"/>
            <p:nvPr/>
          </p:nvSpPr>
          <p:spPr>
            <a:xfrm>
              <a:off x="7287407" y="5174338"/>
              <a:ext cx="1890712"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ahoma"/>
                  <a:ea typeface="Tahoma"/>
                  <a:cs typeface="Tahoma"/>
                  <a:sym typeface="Tahoma"/>
                </a:rPr>
                <a:t>400(FVIF </a:t>
              </a:r>
              <a:r>
                <a:rPr lang="en-US" sz="2000" baseline="-25000">
                  <a:solidFill>
                    <a:schemeClr val="dk1"/>
                  </a:solidFill>
                  <a:latin typeface="Tahoma"/>
                  <a:ea typeface="Tahoma"/>
                  <a:cs typeface="Tahoma"/>
                  <a:sym typeface="Tahoma"/>
                </a:rPr>
                <a:t>7%,12</a:t>
              </a:r>
              <a:r>
                <a:rPr lang="en-US" sz="2000">
                  <a:solidFill>
                    <a:schemeClr val="dk1"/>
                  </a:solidFill>
                  <a:latin typeface="Tahoma"/>
                  <a:ea typeface="Tahoma"/>
                  <a:cs typeface="Tahoma"/>
                  <a:sym typeface="Tahoma"/>
                </a:rPr>
                <a:t>)</a:t>
              </a:r>
              <a:endParaRPr/>
            </a:p>
          </p:txBody>
        </p:sp>
      </p:grpSp>
    </p:spTree>
  </p:cSld>
  <p:clrMapOvr>
    <a:masterClrMapping/>
  </p:clrMapOvr>
  <p:transition>
    <p:fade thruBlk="1"/>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426"/>
        <p:cNvGrpSpPr/>
        <p:nvPr/>
      </p:nvGrpSpPr>
      <p:grpSpPr>
        <a:xfrm>
          <a:off x="0" y="0"/>
          <a:ext cx="0" cy="0"/>
          <a:chOff x="0" y="0"/>
          <a:chExt cx="0" cy="0"/>
        </a:xfrm>
      </p:grpSpPr>
      <p:sp>
        <p:nvSpPr>
          <p:cNvPr id="1427" name="Google Shape;1427;p82"/>
          <p:cNvSpPr txBox="1"/>
          <p:nvPr/>
        </p:nvSpPr>
        <p:spPr>
          <a:xfrm>
            <a:off x="238125" y="685800"/>
            <a:ext cx="8686800" cy="132343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Arial"/>
                <a:ea typeface="Arial"/>
                <a:cs typeface="Arial"/>
                <a:sym typeface="Arial"/>
              </a:rPr>
              <a:t>Siti Delima telah menyimpan RM250 di dalam sebuah bank yang memberikan kadar keuntungan 7% setahun. Lima tahun kemudian dia telah menambah RM350 lagi ke dalam akaun tersebut. Hitung jumlah wang di dalam akaunnya pada tahun ke lapan.</a:t>
            </a:r>
            <a:endParaRPr/>
          </a:p>
        </p:txBody>
      </p:sp>
      <p:pic>
        <p:nvPicPr>
          <p:cNvPr id="1428" name="Google Shape;1428;p82"/>
          <p:cNvPicPr preferRelativeResize="0"/>
          <p:nvPr/>
        </p:nvPicPr>
        <p:blipFill rotWithShape="1">
          <a:blip r:embed="rId3">
            <a:alphaModFix/>
          </a:blip>
          <a:srcRect/>
          <a:stretch/>
        </p:blipFill>
        <p:spPr>
          <a:xfrm>
            <a:off x="1282469" y="4244975"/>
            <a:ext cx="6858000" cy="525463"/>
          </a:xfrm>
          <a:prstGeom prst="rect">
            <a:avLst/>
          </a:prstGeom>
          <a:noFill/>
          <a:ln>
            <a:noFill/>
          </a:ln>
        </p:spPr>
      </p:pic>
      <p:pic>
        <p:nvPicPr>
          <p:cNvPr id="1429" name="Google Shape;1429;p82"/>
          <p:cNvPicPr preferRelativeResize="0"/>
          <p:nvPr/>
        </p:nvPicPr>
        <p:blipFill rotWithShape="1">
          <a:blip r:embed="rId4">
            <a:alphaModFix/>
          </a:blip>
          <a:srcRect/>
          <a:stretch/>
        </p:blipFill>
        <p:spPr>
          <a:xfrm>
            <a:off x="1338634" y="4806951"/>
            <a:ext cx="6086475" cy="496888"/>
          </a:xfrm>
          <a:prstGeom prst="rect">
            <a:avLst/>
          </a:prstGeom>
          <a:noFill/>
          <a:ln>
            <a:noFill/>
          </a:ln>
        </p:spPr>
      </p:pic>
      <p:pic>
        <p:nvPicPr>
          <p:cNvPr id="1430" name="Google Shape;1430;p82"/>
          <p:cNvPicPr preferRelativeResize="0"/>
          <p:nvPr/>
        </p:nvPicPr>
        <p:blipFill rotWithShape="1">
          <a:blip r:embed="rId5">
            <a:alphaModFix/>
          </a:blip>
          <a:srcRect/>
          <a:stretch/>
        </p:blipFill>
        <p:spPr>
          <a:xfrm>
            <a:off x="1271588" y="5332413"/>
            <a:ext cx="5699125" cy="496888"/>
          </a:xfrm>
          <a:prstGeom prst="rect">
            <a:avLst/>
          </a:prstGeom>
          <a:noFill/>
          <a:ln>
            <a:noFill/>
          </a:ln>
        </p:spPr>
      </p:pic>
      <p:pic>
        <p:nvPicPr>
          <p:cNvPr id="1431" name="Google Shape;1431;p82"/>
          <p:cNvPicPr preferRelativeResize="0"/>
          <p:nvPr/>
        </p:nvPicPr>
        <p:blipFill rotWithShape="1">
          <a:blip r:embed="rId6">
            <a:alphaModFix/>
          </a:blip>
          <a:srcRect/>
          <a:stretch/>
        </p:blipFill>
        <p:spPr>
          <a:xfrm>
            <a:off x="1321171" y="5829301"/>
            <a:ext cx="3060700" cy="496887"/>
          </a:xfrm>
          <a:prstGeom prst="rect">
            <a:avLst/>
          </a:prstGeom>
          <a:noFill/>
          <a:ln>
            <a:noFill/>
          </a:ln>
        </p:spPr>
      </p:pic>
      <p:sp>
        <p:nvSpPr>
          <p:cNvPr id="1432" name="Google Shape;1432;p8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70</a:t>
            </a:fld>
            <a:endParaRPr sz="1200">
              <a:solidFill>
                <a:srgbClr val="1D4577"/>
              </a:solidFill>
              <a:latin typeface="Times New Roman"/>
              <a:ea typeface="Times New Roman"/>
              <a:cs typeface="Times New Roman"/>
              <a:sym typeface="Times New Roman"/>
            </a:endParaRPr>
          </a:p>
        </p:txBody>
      </p:sp>
      <p:grpSp>
        <p:nvGrpSpPr>
          <p:cNvPr id="1433" name="Google Shape;1433;p82"/>
          <p:cNvGrpSpPr/>
          <p:nvPr/>
        </p:nvGrpSpPr>
        <p:grpSpPr>
          <a:xfrm>
            <a:off x="232623" y="2133600"/>
            <a:ext cx="8620494" cy="2152710"/>
            <a:chOff x="232623" y="2133600"/>
            <a:chExt cx="8620494" cy="2152710"/>
          </a:xfrm>
        </p:grpSpPr>
        <p:cxnSp>
          <p:nvCxnSpPr>
            <p:cNvPr id="1434" name="Google Shape;1434;p82"/>
            <p:cNvCxnSpPr/>
            <p:nvPr/>
          </p:nvCxnSpPr>
          <p:spPr>
            <a:xfrm>
              <a:off x="438150" y="2836863"/>
              <a:ext cx="7086600" cy="1587"/>
            </a:xfrm>
            <a:prstGeom prst="straightConnector1">
              <a:avLst/>
            </a:prstGeom>
            <a:noFill/>
            <a:ln w="9525" cap="flat" cmpd="sng">
              <a:solidFill>
                <a:schemeClr val="dk1"/>
              </a:solidFill>
              <a:prstDash val="solid"/>
              <a:miter lim="800000"/>
              <a:headEnd type="none" w="med" len="med"/>
              <a:tailEnd type="none" w="med" len="med"/>
            </a:ln>
          </p:spPr>
        </p:cxnSp>
        <p:cxnSp>
          <p:nvCxnSpPr>
            <p:cNvPr id="1435" name="Google Shape;1435;p82"/>
            <p:cNvCxnSpPr/>
            <p:nvPr/>
          </p:nvCxnSpPr>
          <p:spPr>
            <a:xfrm flipH="1">
              <a:off x="512763" y="2533650"/>
              <a:ext cx="3175" cy="685800"/>
            </a:xfrm>
            <a:prstGeom prst="straightConnector1">
              <a:avLst/>
            </a:prstGeom>
            <a:noFill/>
            <a:ln w="9525" cap="flat" cmpd="sng">
              <a:solidFill>
                <a:schemeClr val="dk1"/>
              </a:solidFill>
              <a:prstDash val="solid"/>
              <a:miter lim="800000"/>
              <a:headEnd type="none" w="med" len="med"/>
              <a:tailEnd type="none" w="med" len="med"/>
            </a:ln>
          </p:spPr>
        </p:cxnSp>
        <p:cxnSp>
          <p:nvCxnSpPr>
            <p:cNvPr id="1436" name="Google Shape;1436;p82"/>
            <p:cNvCxnSpPr/>
            <p:nvPr/>
          </p:nvCxnSpPr>
          <p:spPr>
            <a:xfrm flipH="1">
              <a:off x="1274763" y="2533650"/>
              <a:ext cx="1587" cy="685800"/>
            </a:xfrm>
            <a:prstGeom prst="straightConnector1">
              <a:avLst/>
            </a:prstGeom>
            <a:noFill/>
            <a:ln w="9525" cap="flat" cmpd="sng">
              <a:solidFill>
                <a:schemeClr val="dk1"/>
              </a:solidFill>
              <a:prstDash val="solid"/>
              <a:miter lim="800000"/>
              <a:headEnd type="none" w="med" len="med"/>
              <a:tailEnd type="none" w="med" len="med"/>
            </a:ln>
          </p:spPr>
        </p:cxnSp>
        <p:cxnSp>
          <p:nvCxnSpPr>
            <p:cNvPr id="1437" name="Google Shape;1437;p82"/>
            <p:cNvCxnSpPr/>
            <p:nvPr/>
          </p:nvCxnSpPr>
          <p:spPr>
            <a:xfrm flipH="1">
              <a:off x="2036763" y="2533650"/>
              <a:ext cx="1587" cy="685800"/>
            </a:xfrm>
            <a:prstGeom prst="straightConnector1">
              <a:avLst/>
            </a:prstGeom>
            <a:noFill/>
            <a:ln w="9525" cap="flat" cmpd="sng">
              <a:solidFill>
                <a:schemeClr val="dk1"/>
              </a:solidFill>
              <a:prstDash val="solid"/>
              <a:miter lim="800000"/>
              <a:headEnd type="none" w="med" len="med"/>
              <a:tailEnd type="none" w="med" len="med"/>
            </a:ln>
          </p:spPr>
        </p:cxnSp>
        <p:cxnSp>
          <p:nvCxnSpPr>
            <p:cNvPr id="1438" name="Google Shape;1438;p82"/>
            <p:cNvCxnSpPr/>
            <p:nvPr/>
          </p:nvCxnSpPr>
          <p:spPr>
            <a:xfrm flipH="1">
              <a:off x="2874963" y="2533650"/>
              <a:ext cx="1587" cy="685800"/>
            </a:xfrm>
            <a:prstGeom prst="straightConnector1">
              <a:avLst/>
            </a:prstGeom>
            <a:noFill/>
            <a:ln w="9525" cap="flat" cmpd="sng">
              <a:solidFill>
                <a:schemeClr val="dk1"/>
              </a:solidFill>
              <a:prstDash val="solid"/>
              <a:miter lim="800000"/>
              <a:headEnd type="none" w="med" len="med"/>
              <a:tailEnd type="none" w="med" len="med"/>
            </a:ln>
          </p:spPr>
        </p:cxnSp>
        <p:cxnSp>
          <p:nvCxnSpPr>
            <p:cNvPr id="1439" name="Google Shape;1439;p82"/>
            <p:cNvCxnSpPr/>
            <p:nvPr/>
          </p:nvCxnSpPr>
          <p:spPr>
            <a:xfrm flipH="1">
              <a:off x="3713163" y="2533650"/>
              <a:ext cx="1587" cy="685800"/>
            </a:xfrm>
            <a:prstGeom prst="straightConnector1">
              <a:avLst/>
            </a:prstGeom>
            <a:noFill/>
            <a:ln w="9525" cap="flat" cmpd="sng">
              <a:solidFill>
                <a:schemeClr val="dk1"/>
              </a:solidFill>
              <a:prstDash val="solid"/>
              <a:miter lim="800000"/>
              <a:headEnd type="none" w="med" len="med"/>
              <a:tailEnd type="none" w="med" len="med"/>
            </a:ln>
          </p:spPr>
        </p:cxnSp>
        <p:cxnSp>
          <p:nvCxnSpPr>
            <p:cNvPr id="1440" name="Google Shape;1440;p82"/>
            <p:cNvCxnSpPr/>
            <p:nvPr/>
          </p:nvCxnSpPr>
          <p:spPr>
            <a:xfrm flipH="1">
              <a:off x="4629150" y="2533650"/>
              <a:ext cx="1588" cy="685800"/>
            </a:xfrm>
            <a:prstGeom prst="straightConnector1">
              <a:avLst/>
            </a:prstGeom>
            <a:noFill/>
            <a:ln w="9525" cap="flat" cmpd="sng">
              <a:solidFill>
                <a:schemeClr val="dk1"/>
              </a:solidFill>
              <a:prstDash val="solid"/>
              <a:miter lim="800000"/>
              <a:headEnd type="none" w="med" len="med"/>
              <a:tailEnd type="none" w="med" len="med"/>
            </a:ln>
          </p:spPr>
        </p:cxnSp>
        <p:cxnSp>
          <p:nvCxnSpPr>
            <p:cNvPr id="1441" name="Google Shape;1441;p82"/>
            <p:cNvCxnSpPr/>
            <p:nvPr/>
          </p:nvCxnSpPr>
          <p:spPr>
            <a:xfrm flipH="1">
              <a:off x="5541963" y="2533650"/>
              <a:ext cx="1587" cy="685800"/>
            </a:xfrm>
            <a:prstGeom prst="straightConnector1">
              <a:avLst/>
            </a:prstGeom>
            <a:noFill/>
            <a:ln w="9525" cap="flat" cmpd="sng">
              <a:solidFill>
                <a:schemeClr val="dk1"/>
              </a:solidFill>
              <a:prstDash val="solid"/>
              <a:miter lim="800000"/>
              <a:headEnd type="none" w="med" len="med"/>
              <a:tailEnd type="none" w="med" len="med"/>
            </a:ln>
          </p:spPr>
        </p:cxnSp>
        <p:cxnSp>
          <p:nvCxnSpPr>
            <p:cNvPr id="1442" name="Google Shape;1442;p82"/>
            <p:cNvCxnSpPr/>
            <p:nvPr/>
          </p:nvCxnSpPr>
          <p:spPr>
            <a:xfrm flipH="1">
              <a:off x="6456363" y="2533650"/>
              <a:ext cx="1587" cy="685800"/>
            </a:xfrm>
            <a:prstGeom prst="straightConnector1">
              <a:avLst/>
            </a:prstGeom>
            <a:noFill/>
            <a:ln w="9525" cap="flat" cmpd="sng">
              <a:solidFill>
                <a:schemeClr val="dk1"/>
              </a:solidFill>
              <a:prstDash val="solid"/>
              <a:miter lim="800000"/>
              <a:headEnd type="none" w="med" len="med"/>
              <a:tailEnd type="none" w="med" len="med"/>
            </a:ln>
          </p:spPr>
        </p:cxnSp>
        <p:cxnSp>
          <p:nvCxnSpPr>
            <p:cNvPr id="1443" name="Google Shape;1443;p82"/>
            <p:cNvCxnSpPr/>
            <p:nvPr/>
          </p:nvCxnSpPr>
          <p:spPr>
            <a:xfrm flipH="1">
              <a:off x="7370763" y="2533650"/>
              <a:ext cx="1587" cy="685800"/>
            </a:xfrm>
            <a:prstGeom prst="straightConnector1">
              <a:avLst/>
            </a:prstGeom>
            <a:noFill/>
            <a:ln w="9525" cap="flat" cmpd="sng">
              <a:solidFill>
                <a:schemeClr val="dk1"/>
              </a:solidFill>
              <a:prstDash val="solid"/>
              <a:miter lim="800000"/>
              <a:headEnd type="none" w="med" len="med"/>
              <a:tailEnd type="none" w="med" len="med"/>
            </a:ln>
          </p:spPr>
        </p:cxnSp>
        <p:sp>
          <p:nvSpPr>
            <p:cNvPr id="1444" name="Google Shape;1444;p82"/>
            <p:cNvSpPr txBox="1"/>
            <p:nvPr/>
          </p:nvSpPr>
          <p:spPr>
            <a:xfrm>
              <a:off x="368300" y="2133600"/>
              <a:ext cx="325438"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0</a:t>
              </a:r>
              <a:endParaRPr/>
            </a:p>
          </p:txBody>
        </p:sp>
        <p:sp>
          <p:nvSpPr>
            <p:cNvPr id="1445" name="Google Shape;1445;p82"/>
            <p:cNvSpPr txBox="1"/>
            <p:nvPr/>
          </p:nvSpPr>
          <p:spPr>
            <a:xfrm>
              <a:off x="1096963" y="2133600"/>
              <a:ext cx="325437"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1</a:t>
              </a:r>
              <a:endParaRPr/>
            </a:p>
          </p:txBody>
        </p:sp>
        <p:sp>
          <p:nvSpPr>
            <p:cNvPr id="1446" name="Google Shape;1446;p82"/>
            <p:cNvSpPr txBox="1"/>
            <p:nvPr/>
          </p:nvSpPr>
          <p:spPr>
            <a:xfrm>
              <a:off x="1858963" y="2133600"/>
              <a:ext cx="325437"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2</a:t>
              </a:r>
              <a:endParaRPr/>
            </a:p>
          </p:txBody>
        </p:sp>
        <p:sp>
          <p:nvSpPr>
            <p:cNvPr id="1447" name="Google Shape;1447;p82"/>
            <p:cNvSpPr txBox="1"/>
            <p:nvPr/>
          </p:nvSpPr>
          <p:spPr>
            <a:xfrm>
              <a:off x="2697163" y="2133600"/>
              <a:ext cx="325437"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3</a:t>
              </a:r>
              <a:endParaRPr/>
            </a:p>
          </p:txBody>
        </p:sp>
        <p:sp>
          <p:nvSpPr>
            <p:cNvPr id="1448" name="Google Shape;1448;p82"/>
            <p:cNvSpPr txBox="1"/>
            <p:nvPr/>
          </p:nvSpPr>
          <p:spPr>
            <a:xfrm>
              <a:off x="3535363" y="2133600"/>
              <a:ext cx="325437"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4</a:t>
              </a:r>
              <a:endParaRPr/>
            </a:p>
          </p:txBody>
        </p:sp>
        <p:sp>
          <p:nvSpPr>
            <p:cNvPr id="1449" name="Google Shape;1449;p82"/>
            <p:cNvSpPr txBox="1"/>
            <p:nvPr/>
          </p:nvSpPr>
          <p:spPr>
            <a:xfrm>
              <a:off x="4449763" y="2133600"/>
              <a:ext cx="325437"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5</a:t>
              </a:r>
              <a:endParaRPr/>
            </a:p>
          </p:txBody>
        </p:sp>
        <p:sp>
          <p:nvSpPr>
            <p:cNvPr id="1450" name="Google Shape;1450;p82"/>
            <p:cNvSpPr txBox="1"/>
            <p:nvPr/>
          </p:nvSpPr>
          <p:spPr>
            <a:xfrm>
              <a:off x="5364163" y="2133600"/>
              <a:ext cx="325437"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6</a:t>
              </a:r>
              <a:endParaRPr/>
            </a:p>
          </p:txBody>
        </p:sp>
        <p:sp>
          <p:nvSpPr>
            <p:cNvPr id="1451" name="Google Shape;1451;p82"/>
            <p:cNvSpPr txBox="1"/>
            <p:nvPr/>
          </p:nvSpPr>
          <p:spPr>
            <a:xfrm>
              <a:off x="6278563" y="2133600"/>
              <a:ext cx="325437"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7</a:t>
              </a:r>
              <a:endParaRPr/>
            </a:p>
          </p:txBody>
        </p:sp>
        <p:sp>
          <p:nvSpPr>
            <p:cNvPr id="1452" name="Google Shape;1452;p82"/>
            <p:cNvSpPr txBox="1"/>
            <p:nvPr/>
          </p:nvSpPr>
          <p:spPr>
            <a:xfrm>
              <a:off x="7219950" y="2133600"/>
              <a:ext cx="325438"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8</a:t>
              </a:r>
              <a:endParaRPr/>
            </a:p>
          </p:txBody>
        </p:sp>
        <p:sp>
          <p:nvSpPr>
            <p:cNvPr id="1453" name="Google Shape;1453;p82"/>
            <p:cNvSpPr txBox="1"/>
            <p:nvPr/>
          </p:nvSpPr>
          <p:spPr>
            <a:xfrm>
              <a:off x="232623" y="3276600"/>
              <a:ext cx="61266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250</a:t>
              </a:r>
              <a:endParaRPr/>
            </a:p>
          </p:txBody>
        </p:sp>
        <p:sp>
          <p:nvSpPr>
            <p:cNvPr id="1454" name="Google Shape;1454;p82"/>
            <p:cNvSpPr txBox="1"/>
            <p:nvPr/>
          </p:nvSpPr>
          <p:spPr>
            <a:xfrm>
              <a:off x="4387110" y="3200400"/>
              <a:ext cx="61266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350</a:t>
              </a:r>
              <a:endParaRPr/>
            </a:p>
          </p:txBody>
        </p:sp>
        <p:sp>
          <p:nvSpPr>
            <p:cNvPr id="1455" name="Google Shape;1455;p82"/>
            <p:cNvSpPr txBox="1"/>
            <p:nvPr/>
          </p:nvSpPr>
          <p:spPr>
            <a:xfrm>
              <a:off x="720725" y="2452688"/>
              <a:ext cx="573088"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7%</a:t>
              </a:r>
              <a:endParaRPr/>
            </a:p>
          </p:txBody>
        </p:sp>
        <p:cxnSp>
          <p:nvCxnSpPr>
            <p:cNvPr id="1456" name="Google Shape;1456;p82"/>
            <p:cNvCxnSpPr/>
            <p:nvPr/>
          </p:nvCxnSpPr>
          <p:spPr>
            <a:xfrm flipH="1">
              <a:off x="4633913" y="3524250"/>
              <a:ext cx="3175" cy="228600"/>
            </a:xfrm>
            <a:prstGeom prst="straightConnector1">
              <a:avLst/>
            </a:prstGeom>
            <a:noFill/>
            <a:ln w="9525" cap="flat" cmpd="sng">
              <a:solidFill>
                <a:schemeClr val="dk1"/>
              </a:solidFill>
              <a:prstDash val="solid"/>
              <a:miter lim="800000"/>
              <a:headEnd type="none" w="med" len="med"/>
              <a:tailEnd type="none" w="med" len="med"/>
            </a:ln>
          </p:spPr>
        </p:cxnSp>
        <p:cxnSp>
          <p:nvCxnSpPr>
            <p:cNvPr id="1457" name="Google Shape;1457;p82"/>
            <p:cNvCxnSpPr/>
            <p:nvPr/>
          </p:nvCxnSpPr>
          <p:spPr>
            <a:xfrm>
              <a:off x="4635500" y="3751263"/>
              <a:ext cx="2819400" cy="1587"/>
            </a:xfrm>
            <a:prstGeom prst="straightConnector1">
              <a:avLst/>
            </a:prstGeom>
            <a:noFill/>
            <a:ln w="9525" cap="flat" cmpd="sng">
              <a:solidFill>
                <a:schemeClr val="dk1"/>
              </a:solidFill>
              <a:prstDash val="solid"/>
              <a:miter lim="800000"/>
              <a:headEnd type="none" w="med" len="med"/>
              <a:tailEnd type="triangle" w="med" len="med"/>
            </a:ln>
          </p:spPr>
        </p:cxnSp>
        <p:cxnSp>
          <p:nvCxnSpPr>
            <p:cNvPr id="1458" name="Google Shape;1458;p82"/>
            <p:cNvCxnSpPr/>
            <p:nvPr/>
          </p:nvCxnSpPr>
          <p:spPr>
            <a:xfrm>
              <a:off x="520700" y="3743325"/>
              <a:ext cx="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1459" name="Google Shape;1459;p82"/>
            <p:cNvCxnSpPr/>
            <p:nvPr/>
          </p:nvCxnSpPr>
          <p:spPr>
            <a:xfrm>
              <a:off x="520700" y="4084638"/>
              <a:ext cx="6934200" cy="1587"/>
            </a:xfrm>
            <a:prstGeom prst="straightConnector1">
              <a:avLst/>
            </a:prstGeom>
            <a:noFill/>
            <a:ln w="9525" cap="flat" cmpd="sng">
              <a:solidFill>
                <a:schemeClr val="dk1"/>
              </a:solidFill>
              <a:prstDash val="solid"/>
              <a:miter lim="800000"/>
              <a:headEnd type="none" w="med" len="med"/>
              <a:tailEnd type="triangle" w="med" len="med"/>
            </a:ln>
          </p:spPr>
        </p:cxnSp>
        <p:sp>
          <p:nvSpPr>
            <p:cNvPr id="1460" name="Google Shape;1460;p82"/>
            <p:cNvSpPr txBox="1"/>
            <p:nvPr/>
          </p:nvSpPr>
          <p:spPr>
            <a:xfrm>
              <a:off x="7485434" y="3505200"/>
              <a:ext cx="1367683"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RM429.55</a:t>
              </a:r>
              <a:endParaRPr/>
            </a:p>
          </p:txBody>
        </p:sp>
        <p:sp>
          <p:nvSpPr>
            <p:cNvPr id="1461" name="Google Shape;1461;p82"/>
            <p:cNvSpPr txBox="1"/>
            <p:nvPr/>
          </p:nvSpPr>
          <p:spPr>
            <a:xfrm>
              <a:off x="7425109" y="3886200"/>
              <a:ext cx="1367683"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RM428.75</a:t>
              </a:r>
              <a:endParaRPr/>
            </a:p>
          </p:txBody>
        </p:sp>
      </p:grpSp>
      <p:sp>
        <p:nvSpPr>
          <p:cNvPr id="1462" name="Google Shape;1462;p82"/>
          <p:cNvSpPr txBox="1"/>
          <p:nvPr/>
        </p:nvSpPr>
        <p:spPr>
          <a:xfrm>
            <a:off x="231775" y="152400"/>
            <a:ext cx="3303588"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Contoh</a:t>
            </a:r>
            <a:endParaRPr sz="2400" b="1">
              <a:solidFill>
                <a:schemeClr val="dk1"/>
              </a:solidFill>
              <a:latin typeface="Arial"/>
              <a:ea typeface="Arial"/>
              <a:cs typeface="Arial"/>
              <a:sym typeface="Arial"/>
            </a:endParaRPr>
          </a:p>
        </p:txBody>
      </p:sp>
    </p:spTree>
  </p:cSld>
  <p:clrMapOvr>
    <a:masterClrMapping/>
  </p:clrMapOvr>
  <p:transition>
    <p:fade thruBlk="1"/>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83"/>
          <p:cNvSpPr/>
          <p:nvPr/>
        </p:nvSpPr>
        <p:spPr>
          <a:xfrm>
            <a:off x="609600" y="304800"/>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NILAI KINI AMAUN BERUBAH</a:t>
            </a:r>
            <a:endParaRPr/>
          </a:p>
        </p:txBody>
      </p:sp>
      <p:sp>
        <p:nvSpPr>
          <p:cNvPr id="1468" name="Google Shape;1468;p83"/>
          <p:cNvSpPr txBox="1"/>
          <p:nvPr/>
        </p:nvSpPr>
        <p:spPr>
          <a:xfrm>
            <a:off x="381000" y="1371600"/>
            <a:ext cx="8458200"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Andaikan hari ini adalah 1 Januari 2020. Irfan merancang untuk mengeluarkan simpanannya pada tarikh-tarikh berikut:</a:t>
            </a:r>
            <a:endParaRPr/>
          </a:p>
        </p:txBody>
      </p:sp>
      <p:graphicFrame>
        <p:nvGraphicFramePr>
          <p:cNvPr id="1469" name="Google Shape;1469;p83"/>
          <p:cNvGraphicFramePr/>
          <p:nvPr/>
        </p:nvGraphicFramePr>
        <p:xfrm>
          <a:off x="1524000" y="2584345"/>
          <a:ext cx="6373525" cy="1953155"/>
        </p:xfrm>
        <a:graphic>
          <a:graphicData uri="http://schemas.openxmlformats.org/drawingml/2006/table">
            <a:tbl>
              <a:tblPr>
                <a:noFill/>
                <a:tableStyleId>{583BA780-5EA6-48F8-90CF-626E18444947}</a:tableStyleId>
              </a:tblPr>
              <a:tblGrid>
                <a:gridCol w="2743200">
                  <a:extLst>
                    <a:ext uri="{9D8B030D-6E8A-4147-A177-3AD203B41FA5}">
                      <a16:colId xmlns:a16="http://schemas.microsoft.com/office/drawing/2014/main" val="20000"/>
                    </a:ext>
                  </a:extLst>
                </a:gridCol>
                <a:gridCol w="3630325">
                  <a:extLst>
                    <a:ext uri="{9D8B030D-6E8A-4147-A177-3AD203B41FA5}">
                      <a16:colId xmlns:a16="http://schemas.microsoft.com/office/drawing/2014/main" val="20001"/>
                    </a:ext>
                  </a:extLst>
                </a:gridCol>
              </a:tblGrid>
              <a:tr h="41602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TARIKH</a:t>
                      </a:r>
                      <a:endParaRPr sz="2400" b="1"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b="1" u="none" strike="noStrike" cap="none">
                          <a:latin typeface="Arial"/>
                          <a:ea typeface="Arial"/>
                          <a:cs typeface="Arial"/>
                          <a:sym typeface="Arial"/>
                        </a:rPr>
                        <a:t>PENGELUARAN (RM)</a:t>
                      </a:r>
                      <a:endParaRPr sz="2400" b="1"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41602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 Mac 2020</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150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41602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 Jun 2020</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50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581525">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1 September 2020</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accent2"/>
                        </a:buClr>
                        <a:buSzPts val="1920"/>
                        <a:buFont typeface="Noto Sans Symbols"/>
                        <a:buNone/>
                      </a:pPr>
                      <a:r>
                        <a:rPr lang="en-US" sz="2400" u="none" strike="noStrike" cap="none">
                          <a:latin typeface="Arial"/>
                          <a:ea typeface="Arial"/>
                          <a:cs typeface="Arial"/>
                          <a:sym typeface="Arial"/>
                        </a:rPr>
                        <a:t>200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bl>
          </a:graphicData>
        </a:graphic>
      </p:graphicFrame>
      <p:sp>
        <p:nvSpPr>
          <p:cNvPr id="1470" name="Google Shape;1470;p83"/>
          <p:cNvSpPr/>
          <p:nvPr/>
        </p:nvSpPr>
        <p:spPr>
          <a:xfrm>
            <a:off x="381000" y="4666595"/>
            <a:ext cx="8305800" cy="1569660"/>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Berapakah yang perlu Irfan simpan hari ini supaya pada tarikh-tarikh tersebut beliau dapat mengeluarkan simpanannya. Andaikan bank membayar kadar keuntungan sebanyak 6% sebulan di atas simpanan tersebut. </a:t>
            </a:r>
            <a:endParaRPr/>
          </a:p>
        </p:txBody>
      </p:sp>
      <p:sp>
        <p:nvSpPr>
          <p:cNvPr id="1471" name="Google Shape;1471;p83"/>
          <p:cNvSpPr txBox="1">
            <a:spLocks noGrp="1"/>
          </p:cNvSpPr>
          <p:nvPr>
            <p:ph type="sldNum" sz="quarter" idx="12"/>
          </p:nvPr>
        </p:nvSpPr>
        <p:spPr>
          <a:xfrm>
            <a:off x="6457950" y="6256337"/>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71</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68"/>
                                        </p:tgtEl>
                                        <p:attrNameLst>
                                          <p:attrName>style.visibility</p:attrName>
                                        </p:attrNameLst>
                                      </p:cBhvr>
                                      <p:to>
                                        <p:strVal val="visible"/>
                                      </p:to>
                                    </p:set>
                                    <p:anim calcmode="lin" valueType="num">
                                      <p:cBhvr additive="base">
                                        <p:cTn id="7" dur="500"/>
                                        <p:tgtEl>
                                          <p:spTgt spid="146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69"/>
                                        </p:tgtEl>
                                        <p:attrNameLst>
                                          <p:attrName>style.visibility</p:attrName>
                                        </p:attrNameLst>
                                      </p:cBhvr>
                                      <p:to>
                                        <p:strVal val="visible"/>
                                      </p:to>
                                    </p:set>
                                    <p:anim calcmode="lin" valueType="num">
                                      <p:cBhvr additive="base">
                                        <p:cTn id="12" dur="500"/>
                                        <p:tgtEl>
                                          <p:spTgt spid="1469"/>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470"/>
                                        </p:tgtEl>
                                        <p:attrNameLst>
                                          <p:attrName>style.visibility</p:attrName>
                                        </p:attrNameLst>
                                      </p:cBhvr>
                                      <p:to>
                                        <p:strVal val="visible"/>
                                      </p:to>
                                    </p:set>
                                    <p:anim calcmode="lin" valueType="num">
                                      <p:cBhvr additive="base">
                                        <p:cTn id="17" dur="500"/>
                                        <p:tgtEl>
                                          <p:spTgt spid="147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75"/>
        <p:cNvGrpSpPr/>
        <p:nvPr/>
      </p:nvGrpSpPr>
      <p:grpSpPr>
        <a:xfrm>
          <a:off x="0" y="0"/>
          <a:ext cx="0" cy="0"/>
          <a:chOff x="0" y="0"/>
          <a:chExt cx="0" cy="0"/>
        </a:xfrm>
      </p:grpSpPr>
      <p:sp>
        <p:nvSpPr>
          <p:cNvPr id="1476" name="Google Shape;1476;p84"/>
          <p:cNvSpPr txBox="1"/>
          <p:nvPr/>
        </p:nvSpPr>
        <p:spPr>
          <a:xfrm>
            <a:off x="457200" y="736601"/>
            <a:ext cx="8229599"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Bolehkah situasi tersebut digambarkan menggunakan garis masa ?</a:t>
            </a:r>
            <a:endParaRPr/>
          </a:p>
        </p:txBody>
      </p:sp>
      <p:sp>
        <p:nvSpPr>
          <p:cNvPr id="1477" name="Google Shape;1477;p8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72</a:t>
            </a:fld>
            <a:endParaRPr sz="1200">
              <a:solidFill>
                <a:srgbClr val="1D4577"/>
              </a:solidFill>
              <a:latin typeface="Times New Roman"/>
              <a:ea typeface="Times New Roman"/>
              <a:cs typeface="Times New Roman"/>
              <a:sym typeface="Times New Roman"/>
            </a:endParaRPr>
          </a:p>
        </p:txBody>
      </p:sp>
      <p:grpSp>
        <p:nvGrpSpPr>
          <p:cNvPr id="1478" name="Google Shape;1478;p84"/>
          <p:cNvGrpSpPr/>
          <p:nvPr/>
        </p:nvGrpSpPr>
        <p:grpSpPr>
          <a:xfrm>
            <a:off x="779547" y="2209800"/>
            <a:ext cx="7355712" cy="3174703"/>
            <a:chOff x="779547" y="2209800"/>
            <a:chExt cx="7355712" cy="3174703"/>
          </a:xfrm>
        </p:grpSpPr>
        <p:cxnSp>
          <p:nvCxnSpPr>
            <p:cNvPr id="1479" name="Google Shape;1479;p84"/>
            <p:cNvCxnSpPr/>
            <p:nvPr/>
          </p:nvCxnSpPr>
          <p:spPr>
            <a:xfrm>
              <a:off x="2000794" y="2590800"/>
              <a:ext cx="0" cy="609600"/>
            </a:xfrm>
            <a:prstGeom prst="straightConnector1">
              <a:avLst/>
            </a:prstGeom>
            <a:noFill/>
            <a:ln w="28575" cap="flat" cmpd="sng">
              <a:solidFill>
                <a:schemeClr val="folHlink"/>
              </a:solidFill>
              <a:prstDash val="solid"/>
              <a:miter lim="800000"/>
              <a:headEnd type="none" w="med" len="med"/>
              <a:tailEnd type="none" w="med" len="med"/>
            </a:ln>
          </p:spPr>
        </p:cxnSp>
        <p:sp>
          <p:nvSpPr>
            <p:cNvPr id="1480" name="Google Shape;1480;p84"/>
            <p:cNvSpPr txBox="1"/>
            <p:nvPr/>
          </p:nvSpPr>
          <p:spPr>
            <a:xfrm>
              <a:off x="1695254" y="2224088"/>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a:t>
              </a:r>
              <a:endParaRPr/>
            </a:p>
          </p:txBody>
        </p:sp>
        <p:sp>
          <p:nvSpPr>
            <p:cNvPr id="1481" name="Google Shape;1481;p84"/>
            <p:cNvSpPr txBox="1"/>
            <p:nvPr/>
          </p:nvSpPr>
          <p:spPr>
            <a:xfrm>
              <a:off x="2335017" y="2209800"/>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1.2</a:t>
              </a:r>
              <a:endParaRPr/>
            </a:p>
          </p:txBody>
        </p:sp>
        <p:sp>
          <p:nvSpPr>
            <p:cNvPr id="1482" name="Google Shape;1482;p84"/>
            <p:cNvSpPr txBox="1"/>
            <p:nvPr/>
          </p:nvSpPr>
          <p:spPr>
            <a:xfrm>
              <a:off x="3020817" y="2209800"/>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1.3</a:t>
              </a:r>
              <a:endParaRPr/>
            </a:p>
          </p:txBody>
        </p:sp>
        <p:sp>
          <p:nvSpPr>
            <p:cNvPr id="1483" name="Google Shape;1483;p84"/>
            <p:cNvSpPr txBox="1"/>
            <p:nvPr/>
          </p:nvSpPr>
          <p:spPr>
            <a:xfrm>
              <a:off x="3630417" y="2209800"/>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1.4</a:t>
              </a:r>
              <a:endParaRPr/>
            </a:p>
          </p:txBody>
        </p:sp>
        <p:sp>
          <p:nvSpPr>
            <p:cNvPr id="1484" name="Google Shape;1484;p84"/>
            <p:cNvSpPr txBox="1"/>
            <p:nvPr/>
          </p:nvSpPr>
          <p:spPr>
            <a:xfrm>
              <a:off x="4392417" y="2209800"/>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1.5</a:t>
              </a:r>
              <a:endParaRPr/>
            </a:p>
          </p:txBody>
        </p:sp>
        <p:sp>
          <p:nvSpPr>
            <p:cNvPr id="1485" name="Google Shape;1485;p84"/>
            <p:cNvSpPr txBox="1"/>
            <p:nvPr/>
          </p:nvSpPr>
          <p:spPr>
            <a:xfrm>
              <a:off x="5078217" y="2209800"/>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1.6</a:t>
              </a:r>
              <a:endParaRPr/>
            </a:p>
          </p:txBody>
        </p:sp>
        <p:sp>
          <p:nvSpPr>
            <p:cNvPr id="1486" name="Google Shape;1486;p84"/>
            <p:cNvSpPr txBox="1"/>
            <p:nvPr/>
          </p:nvSpPr>
          <p:spPr>
            <a:xfrm>
              <a:off x="5916417" y="2209800"/>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1.7</a:t>
              </a:r>
              <a:endParaRPr/>
            </a:p>
          </p:txBody>
        </p:sp>
        <p:sp>
          <p:nvSpPr>
            <p:cNvPr id="1487" name="Google Shape;1487;p84"/>
            <p:cNvSpPr txBox="1"/>
            <p:nvPr/>
          </p:nvSpPr>
          <p:spPr>
            <a:xfrm>
              <a:off x="6678417" y="2209800"/>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1.8</a:t>
              </a:r>
              <a:endParaRPr/>
            </a:p>
          </p:txBody>
        </p:sp>
        <p:sp>
          <p:nvSpPr>
            <p:cNvPr id="1488" name="Google Shape;1488;p84"/>
            <p:cNvSpPr txBox="1"/>
            <p:nvPr/>
          </p:nvSpPr>
          <p:spPr>
            <a:xfrm>
              <a:off x="7440417" y="2209800"/>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1.9</a:t>
              </a:r>
              <a:endParaRPr/>
            </a:p>
          </p:txBody>
        </p:sp>
        <p:sp>
          <p:nvSpPr>
            <p:cNvPr id="1489" name="Google Shape;1489;p84"/>
            <p:cNvSpPr txBox="1"/>
            <p:nvPr/>
          </p:nvSpPr>
          <p:spPr>
            <a:xfrm>
              <a:off x="2021400" y="2528888"/>
              <a:ext cx="63030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a:t>
              </a:r>
              <a:endParaRPr/>
            </a:p>
          </p:txBody>
        </p:sp>
        <p:sp>
          <p:nvSpPr>
            <p:cNvPr id="1490" name="Google Shape;1490;p84"/>
            <p:cNvSpPr txBox="1"/>
            <p:nvPr/>
          </p:nvSpPr>
          <p:spPr>
            <a:xfrm>
              <a:off x="2873554" y="3214688"/>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150</a:t>
              </a:r>
              <a:endParaRPr/>
            </a:p>
          </p:txBody>
        </p:sp>
        <p:sp>
          <p:nvSpPr>
            <p:cNvPr id="1491" name="Google Shape;1491;p84"/>
            <p:cNvSpPr txBox="1"/>
            <p:nvPr/>
          </p:nvSpPr>
          <p:spPr>
            <a:xfrm>
              <a:off x="5089740" y="3214688"/>
              <a:ext cx="527709"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50</a:t>
              </a:r>
              <a:endParaRPr/>
            </a:p>
          </p:txBody>
        </p:sp>
        <p:sp>
          <p:nvSpPr>
            <p:cNvPr id="1492" name="Google Shape;1492;p84"/>
            <p:cNvSpPr txBox="1"/>
            <p:nvPr/>
          </p:nvSpPr>
          <p:spPr>
            <a:xfrm>
              <a:off x="7436029" y="32004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cxnSp>
          <p:nvCxnSpPr>
            <p:cNvPr id="1493" name="Google Shape;1493;p84"/>
            <p:cNvCxnSpPr/>
            <p:nvPr/>
          </p:nvCxnSpPr>
          <p:spPr>
            <a:xfrm>
              <a:off x="2619919" y="2590800"/>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494" name="Google Shape;1494;p84"/>
            <p:cNvCxnSpPr/>
            <p:nvPr/>
          </p:nvCxnSpPr>
          <p:spPr>
            <a:xfrm>
              <a:off x="3305719" y="2590800"/>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495" name="Google Shape;1495;p84"/>
            <p:cNvCxnSpPr/>
            <p:nvPr/>
          </p:nvCxnSpPr>
          <p:spPr>
            <a:xfrm>
              <a:off x="3991519" y="2590800"/>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496" name="Google Shape;1496;p84"/>
            <p:cNvCxnSpPr/>
            <p:nvPr/>
          </p:nvCxnSpPr>
          <p:spPr>
            <a:xfrm>
              <a:off x="4677319" y="2590800"/>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497" name="Google Shape;1497;p84"/>
            <p:cNvCxnSpPr/>
            <p:nvPr/>
          </p:nvCxnSpPr>
          <p:spPr>
            <a:xfrm>
              <a:off x="1781719" y="2895600"/>
              <a:ext cx="59436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98" name="Google Shape;1498;p84"/>
            <p:cNvCxnSpPr/>
            <p:nvPr/>
          </p:nvCxnSpPr>
          <p:spPr>
            <a:xfrm>
              <a:off x="5363119" y="2590800"/>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499" name="Google Shape;1499;p84"/>
            <p:cNvCxnSpPr/>
            <p:nvPr/>
          </p:nvCxnSpPr>
          <p:spPr>
            <a:xfrm>
              <a:off x="6201319" y="2590800"/>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00" name="Google Shape;1500;p84"/>
            <p:cNvCxnSpPr/>
            <p:nvPr/>
          </p:nvCxnSpPr>
          <p:spPr>
            <a:xfrm>
              <a:off x="6963319" y="2590800"/>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01" name="Google Shape;1501;p84"/>
            <p:cNvCxnSpPr/>
            <p:nvPr/>
          </p:nvCxnSpPr>
          <p:spPr>
            <a:xfrm>
              <a:off x="7725319" y="2590800"/>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02" name="Google Shape;1502;p84"/>
            <p:cNvCxnSpPr/>
            <p:nvPr/>
          </p:nvCxnSpPr>
          <p:spPr>
            <a:xfrm>
              <a:off x="3305719" y="3657600"/>
              <a:ext cx="0" cy="3810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03" name="Google Shape;1503;p84"/>
            <p:cNvCxnSpPr/>
            <p:nvPr/>
          </p:nvCxnSpPr>
          <p:spPr>
            <a:xfrm>
              <a:off x="2010319" y="4038600"/>
              <a:ext cx="1295400" cy="0"/>
            </a:xfrm>
            <a:prstGeom prst="straightConnector1">
              <a:avLst/>
            </a:prstGeom>
            <a:noFill/>
            <a:ln w="9525" cap="flat" cmpd="sng">
              <a:solidFill>
                <a:schemeClr val="folHlink"/>
              </a:solidFill>
              <a:prstDash val="solid"/>
              <a:miter lim="800000"/>
              <a:headEnd type="triangle" w="med" len="med"/>
              <a:tailEnd type="none" w="med" len="med"/>
            </a:ln>
          </p:spPr>
        </p:cxnSp>
        <p:cxnSp>
          <p:nvCxnSpPr>
            <p:cNvPr id="1504" name="Google Shape;1504;p84"/>
            <p:cNvCxnSpPr/>
            <p:nvPr/>
          </p:nvCxnSpPr>
          <p:spPr>
            <a:xfrm>
              <a:off x="5363119" y="3657600"/>
              <a:ext cx="0" cy="9144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05" name="Google Shape;1505;p84"/>
            <p:cNvCxnSpPr/>
            <p:nvPr/>
          </p:nvCxnSpPr>
          <p:spPr>
            <a:xfrm>
              <a:off x="2010319" y="4572000"/>
              <a:ext cx="3352800" cy="0"/>
            </a:xfrm>
            <a:prstGeom prst="straightConnector1">
              <a:avLst/>
            </a:prstGeom>
            <a:noFill/>
            <a:ln w="9525" cap="flat" cmpd="sng">
              <a:solidFill>
                <a:schemeClr val="folHlink"/>
              </a:solidFill>
              <a:prstDash val="solid"/>
              <a:miter lim="800000"/>
              <a:headEnd type="triangle" w="med" len="med"/>
              <a:tailEnd type="none" w="med" len="med"/>
            </a:ln>
          </p:spPr>
        </p:cxnSp>
        <p:cxnSp>
          <p:nvCxnSpPr>
            <p:cNvPr id="1506" name="Google Shape;1506;p84"/>
            <p:cNvCxnSpPr/>
            <p:nvPr/>
          </p:nvCxnSpPr>
          <p:spPr>
            <a:xfrm>
              <a:off x="7725319" y="3657600"/>
              <a:ext cx="0" cy="15240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07" name="Google Shape;1507;p84"/>
            <p:cNvCxnSpPr/>
            <p:nvPr/>
          </p:nvCxnSpPr>
          <p:spPr>
            <a:xfrm>
              <a:off x="2010319" y="5181600"/>
              <a:ext cx="5715000" cy="0"/>
            </a:xfrm>
            <a:prstGeom prst="straightConnector1">
              <a:avLst/>
            </a:prstGeom>
            <a:noFill/>
            <a:ln w="9525" cap="flat" cmpd="sng">
              <a:solidFill>
                <a:schemeClr val="folHlink"/>
              </a:solidFill>
              <a:prstDash val="solid"/>
              <a:miter lim="800000"/>
              <a:headEnd type="triangle" w="med" len="med"/>
              <a:tailEnd type="none" w="med" len="med"/>
            </a:ln>
          </p:spPr>
        </p:cxnSp>
        <p:sp>
          <p:nvSpPr>
            <p:cNvPr id="1508" name="Google Shape;1508;p84"/>
            <p:cNvSpPr txBox="1"/>
            <p:nvPr/>
          </p:nvSpPr>
          <p:spPr>
            <a:xfrm>
              <a:off x="787484" y="3838575"/>
              <a:ext cx="104708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PV= ?</a:t>
              </a:r>
              <a:endParaRPr/>
            </a:p>
          </p:txBody>
        </p:sp>
        <p:sp>
          <p:nvSpPr>
            <p:cNvPr id="1509" name="Google Shape;1509;p84"/>
            <p:cNvSpPr txBox="1"/>
            <p:nvPr/>
          </p:nvSpPr>
          <p:spPr>
            <a:xfrm>
              <a:off x="812884" y="4368800"/>
              <a:ext cx="104708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PV= ?</a:t>
              </a:r>
              <a:endParaRPr/>
            </a:p>
          </p:txBody>
        </p:sp>
        <p:sp>
          <p:nvSpPr>
            <p:cNvPr id="1510" name="Google Shape;1510;p84"/>
            <p:cNvSpPr txBox="1"/>
            <p:nvPr/>
          </p:nvSpPr>
          <p:spPr>
            <a:xfrm>
              <a:off x="779547" y="4922838"/>
              <a:ext cx="104708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PV= ?</a:t>
              </a:r>
              <a:endParaRPr/>
            </a:p>
          </p:txBody>
        </p:sp>
      </p:grpSp>
    </p:spTree>
  </p:cSld>
  <p:clrMapOvr>
    <a:masterClrMapping/>
  </p:clrMapOvr>
  <p:transition>
    <p:fade thruBlk="1"/>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14"/>
        <p:cNvGrpSpPr/>
        <p:nvPr/>
      </p:nvGrpSpPr>
      <p:grpSpPr>
        <a:xfrm>
          <a:off x="0" y="0"/>
          <a:ext cx="0" cy="0"/>
          <a:chOff x="0" y="0"/>
          <a:chExt cx="0" cy="0"/>
        </a:xfrm>
      </p:grpSpPr>
      <p:sp>
        <p:nvSpPr>
          <p:cNvPr id="1515" name="Google Shape;1515;p85"/>
          <p:cNvSpPr txBox="1"/>
          <p:nvPr/>
        </p:nvSpPr>
        <p:spPr>
          <a:xfrm>
            <a:off x="419100" y="614363"/>
            <a:ext cx="8153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Penyelesaian menggunakan kaedah amaun sekaligus.</a:t>
            </a:r>
            <a:endParaRPr/>
          </a:p>
        </p:txBody>
      </p:sp>
      <p:sp>
        <p:nvSpPr>
          <p:cNvPr id="1516" name="Google Shape;1516;p85"/>
          <p:cNvSpPr txBox="1"/>
          <p:nvPr/>
        </p:nvSpPr>
        <p:spPr>
          <a:xfrm>
            <a:off x="190500" y="5029200"/>
            <a:ext cx="83820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PV=[RM150(0.8900)] + [RM50(0.7473)]+ [RM200(0.6274)]</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     = RM133.50 + RM37.365 + RM125.48</a:t>
            </a:r>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     = RM296.35</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 </a:t>
            </a:r>
            <a:endParaRPr/>
          </a:p>
        </p:txBody>
      </p:sp>
      <p:sp>
        <p:nvSpPr>
          <p:cNvPr id="1517" name="Google Shape;1517;p85"/>
          <p:cNvSpPr txBox="1">
            <a:spLocks noGrp="1"/>
          </p:cNvSpPr>
          <p:nvPr>
            <p:ph type="sldNum" sz="quarter" idx="12"/>
          </p:nvPr>
        </p:nvSpPr>
        <p:spPr>
          <a:xfrm>
            <a:off x="6343650" y="61277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73</a:t>
            </a:fld>
            <a:endParaRPr sz="1200">
              <a:solidFill>
                <a:srgbClr val="1D4577"/>
              </a:solidFill>
              <a:latin typeface="Times New Roman"/>
              <a:ea typeface="Times New Roman"/>
              <a:cs typeface="Times New Roman"/>
              <a:sym typeface="Times New Roman"/>
            </a:endParaRPr>
          </a:p>
        </p:txBody>
      </p:sp>
      <p:grpSp>
        <p:nvGrpSpPr>
          <p:cNvPr id="1518" name="Google Shape;1518;p85"/>
          <p:cNvGrpSpPr/>
          <p:nvPr/>
        </p:nvGrpSpPr>
        <p:grpSpPr>
          <a:xfrm>
            <a:off x="417644" y="1628775"/>
            <a:ext cx="8193321" cy="3219153"/>
            <a:chOff x="417644" y="1628775"/>
            <a:chExt cx="8193321" cy="3219153"/>
          </a:xfrm>
        </p:grpSpPr>
        <p:cxnSp>
          <p:nvCxnSpPr>
            <p:cNvPr id="1519" name="Google Shape;1519;p85"/>
            <p:cNvCxnSpPr/>
            <p:nvPr/>
          </p:nvCxnSpPr>
          <p:spPr>
            <a:xfrm>
              <a:off x="3225800" y="2009775"/>
              <a:ext cx="0" cy="609600"/>
            </a:xfrm>
            <a:prstGeom prst="straightConnector1">
              <a:avLst/>
            </a:prstGeom>
            <a:noFill/>
            <a:ln w="28575" cap="flat" cmpd="sng">
              <a:solidFill>
                <a:schemeClr val="folHlink"/>
              </a:solidFill>
              <a:prstDash val="solid"/>
              <a:miter lim="800000"/>
              <a:headEnd type="none" w="med" len="med"/>
              <a:tailEnd type="none" w="med" len="med"/>
            </a:ln>
          </p:spPr>
        </p:cxnSp>
        <p:sp>
          <p:nvSpPr>
            <p:cNvPr id="1520" name="Google Shape;1520;p85"/>
            <p:cNvSpPr txBox="1"/>
            <p:nvPr/>
          </p:nvSpPr>
          <p:spPr>
            <a:xfrm>
              <a:off x="2874223" y="1643063"/>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a:t>
              </a:r>
              <a:endParaRPr/>
            </a:p>
          </p:txBody>
        </p:sp>
        <p:sp>
          <p:nvSpPr>
            <p:cNvPr id="1521" name="Google Shape;1521;p85"/>
            <p:cNvSpPr txBox="1"/>
            <p:nvPr/>
          </p:nvSpPr>
          <p:spPr>
            <a:xfrm>
              <a:off x="3574310" y="1628775"/>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1/2</a:t>
              </a:r>
              <a:endParaRPr/>
            </a:p>
          </p:txBody>
        </p:sp>
        <p:sp>
          <p:nvSpPr>
            <p:cNvPr id="1522" name="Google Shape;1522;p85"/>
            <p:cNvSpPr txBox="1"/>
            <p:nvPr/>
          </p:nvSpPr>
          <p:spPr>
            <a:xfrm>
              <a:off x="4169623" y="1643063"/>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1/3</a:t>
              </a:r>
              <a:endParaRPr/>
            </a:p>
          </p:txBody>
        </p:sp>
        <p:sp>
          <p:nvSpPr>
            <p:cNvPr id="1523" name="Google Shape;1523;p85"/>
            <p:cNvSpPr txBox="1"/>
            <p:nvPr/>
          </p:nvSpPr>
          <p:spPr>
            <a:xfrm>
              <a:off x="4779223" y="1628775"/>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1/4</a:t>
              </a:r>
              <a:endParaRPr/>
            </a:p>
          </p:txBody>
        </p:sp>
        <p:sp>
          <p:nvSpPr>
            <p:cNvPr id="1524" name="Google Shape;1524;p85"/>
            <p:cNvSpPr txBox="1"/>
            <p:nvPr/>
          </p:nvSpPr>
          <p:spPr>
            <a:xfrm>
              <a:off x="5388823" y="1643063"/>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1/5</a:t>
              </a:r>
              <a:endParaRPr/>
            </a:p>
          </p:txBody>
        </p:sp>
        <p:sp>
          <p:nvSpPr>
            <p:cNvPr id="1525" name="Google Shape;1525;p85"/>
            <p:cNvSpPr txBox="1"/>
            <p:nvPr/>
          </p:nvSpPr>
          <p:spPr>
            <a:xfrm>
              <a:off x="5998423" y="1628775"/>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1/6</a:t>
              </a:r>
              <a:endParaRPr/>
            </a:p>
          </p:txBody>
        </p:sp>
        <p:sp>
          <p:nvSpPr>
            <p:cNvPr id="1526" name="Google Shape;1526;p85"/>
            <p:cNvSpPr txBox="1"/>
            <p:nvPr/>
          </p:nvSpPr>
          <p:spPr>
            <a:xfrm>
              <a:off x="6620723" y="1643063"/>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1/7</a:t>
              </a:r>
              <a:endParaRPr/>
            </a:p>
          </p:txBody>
        </p:sp>
        <p:sp>
          <p:nvSpPr>
            <p:cNvPr id="1527" name="Google Shape;1527;p85"/>
            <p:cNvSpPr txBox="1"/>
            <p:nvPr/>
          </p:nvSpPr>
          <p:spPr>
            <a:xfrm>
              <a:off x="7293823" y="1628775"/>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1/8</a:t>
              </a:r>
              <a:endParaRPr/>
            </a:p>
          </p:txBody>
        </p:sp>
        <p:sp>
          <p:nvSpPr>
            <p:cNvPr id="1528" name="Google Shape;1528;p85"/>
            <p:cNvSpPr txBox="1"/>
            <p:nvPr/>
          </p:nvSpPr>
          <p:spPr>
            <a:xfrm>
              <a:off x="3217831" y="1947863"/>
              <a:ext cx="63030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6%</a:t>
              </a:r>
              <a:endParaRPr/>
            </a:p>
          </p:txBody>
        </p:sp>
        <p:sp>
          <p:nvSpPr>
            <p:cNvPr id="1529" name="Google Shape;1529;p85"/>
            <p:cNvSpPr txBox="1"/>
            <p:nvPr/>
          </p:nvSpPr>
          <p:spPr>
            <a:xfrm>
              <a:off x="4089035" y="26336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150</a:t>
              </a:r>
              <a:endParaRPr/>
            </a:p>
          </p:txBody>
        </p:sp>
        <p:sp>
          <p:nvSpPr>
            <p:cNvPr id="1530" name="Google Shape;1530;p85"/>
            <p:cNvSpPr txBox="1"/>
            <p:nvPr/>
          </p:nvSpPr>
          <p:spPr>
            <a:xfrm>
              <a:off x="6000421" y="2633663"/>
              <a:ext cx="527709"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50</a:t>
              </a:r>
              <a:endParaRPr/>
            </a:p>
          </p:txBody>
        </p:sp>
        <p:sp>
          <p:nvSpPr>
            <p:cNvPr id="1531" name="Google Shape;1531;p85"/>
            <p:cNvSpPr txBox="1"/>
            <p:nvPr/>
          </p:nvSpPr>
          <p:spPr>
            <a:xfrm>
              <a:off x="7911735" y="2619375"/>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cxnSp>
          <p:nvCxnSpPr>
            <p:cNvPr id="1532" name="Google Shape;1532;p85"/>
            <p:cNvCxnSpPr/>
            <p:nvPr/>
          </p:nvCxnSpPr>
          <p:spPr>
            <a:xfrm>
              <a:off x="3835400" y="2009775"/>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33" name="Google Shape;1533;p85"/>
            <p:cNvCxnSpPr/>
            <p:nvPr/>
          </p:nvCxnSpPr>
          <p:spPr>
            <a:xfrm>
              <a:off x="4445000" y="2009775"/>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34" name="Google Shape;1534;p85"/>
            <p:cNvCxnSpPr/>
            <p:nvPr/>
          </p:nvCxnSpPr>
          <p:spPr>
            <a:xfrm>
              <a:off x="5054600" y="2009775"/>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35" name="Google Shape;1535;p85"/>
            <p:cNvCxnSpPr/>
            <p:nvPr/>
          </p:nvCxnSpPr>
          <p:spPr>
            <a:xfrm>
              <a:off x="5664200" y="2009775"/>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36" name="Google Shape;1536;p85"/>
            <p:cNvCxnSpPr/>
            <p:nvPr/>
          </p:nvCxnSpPr>
          <p:spPr>
            <a:xfrm>
              <a:off x="3225800" y="2314575"/>
              <a:ext cx="50292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37" name="Google Shape;1537;p85"/>
            <p:cNvCxnSpPr/>
            <p:nvPr/>
          </p:nvCxnSpPr>
          <p:spPr>
            <a:xfrm>
              <a:off x="6273800" y="2009775"/>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38" name="Google Shape;1538;p85"/>
            <p:cNvCxnSpPr/>
            <p:nvPr/>
          </p:nvCxnSpPr>
          <p:spPr>
            <a:xfrm>
              <a:off x="6883400" y="2009775"/>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39" name="Google Shape;1539;p85"/>
            <p:cNvCxnSpPr/>
            <p:nvPr/>
          </p:nvCxnSpPr>
          <p:spPr>
            <a:xfrm>
              <a:off x="7569200" y="2009775"/>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40" name="Google Shape;1540;p85"/>
            <p:cNvCxnSpPr/>
            <p:nvPr/>
          </p:nvCxnSpPr>
          <p:spPr>
            <a:xfrm>
              <a:off x="8255000" y="2009775"/>
              <a:ext cx="0" cy="6096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41" name="Google Shape;1541;p85"/>
            <p:cNvCxnSpPr/>
            <p:nvPr/>
          </p:nvCxnSpPr>
          <p:spPr>
            <a:xfrm>
              <a:off x="4445000" y="3076575"/>
              <a:ext cx="0" cy="3810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42" name="Google Shape;1542;p85"/>
            <p:cNvCxnSpPr/>
            <p:nvPr/>
          </p:nvCxnSpPr>
          <p:spPr>
            <a:xfrm>
              <a:off x="3149600" y="3457575"/>
              <a:ext cx="1295400" cy="0"/>
            </a:xfrm>
            <a:prstGeom prst="straightConnector1">
              <a:avLst/>
            </a:prstGeom>
            <a:noFill/>
            <a:ln w="9525" cap="flat" cmpd="sng">
              <a:solidFill>
                <a:schemeClr val="folHlink"/>
              </a:solidFill>
              <a:prstDash val="solid"/>
              <a:miter lim="800000"/>
              <a:headEnd type="triangle" w="med" len="med"/>
              <a:tailEnd type="none" w="med" len="med"/>
            </a:ln>
          </p:spPr>
        </p:cxnSp>
        <p:cxnSp>
          <p:nvCxnSpPr>
            <p:cNvPr id="1543" name="Google Shape;1543;p85"/>
            <p:cNvCxnSpPr/>
            <p:nvPr/>
          </p:nvCxnSpPr>
          <p:spPr>
            <a:xfrm>
              <a:off x="6273800" y="3076575"/>
              <a:ext cx="0" cy="9144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44" name="Google Shape;1544;p85"/>
            <p:cNvCxnSpPr/>
            <p:nvPr/>
          </p:nvCxnSpPr>
          <p:spPr>
            <a:xfrm>
              <a:off x="3149600" y="3990975"/>
              <a:ext cx="3124200" cy="0"/>
            </a:xfrm>
            <a:prstGeom prst="straightConnector1">
              <a:avLst/>
            </a:prstGeom>
            <a:noFill/>
            <a:ln w="9525" cap="flat" cmpd="sng">
              <a:solidFill>
                <a:schemeClr val="folHlink"/>
              </a:solidFill>
              <a:prstDash val="solid"/>
              <a:miter lim="800000"/>
              <a:headEnd type="triangle" w="med" len="med"/>
              <a:tailEnd type="none" w="med" len="med"/>
            </a:ln>
          </p:spPr>
        </p:cxnSp>
        <p:cxnSp>
          <p:nvCxnSpPr>
            <p:cNvPr id="1545" name="Google Shape;1545;p85"/>
            <p:cNvCxnSpPr/>
            <p:nvPr/>
          </p:nvCxnSpPr>
          <p:spPr>
            <a:xfrm>
              <a:off x="8255000" y="3076575"/>
              <a:ext cx="0" cy="1524000"/>
            </a:xfrm>
            <a:prstGeom prst="straightConnector1">
              <a:avLst/>
            </a:prstGeom>
            <a:noFill/>
            <a:ln w="28575" cap="flat" cmpd="sng">
              <a:solidFill>
                <a:schemeClr val="folHlink"/>
              </a:solidFill>
              <a:prstDash val="solid"/>
              <a:miter lim="800000"/>
              <a:headEnd type="none" w="med" len="med"/>
              <a:tailEnd type="none" w="med" len="med"/>
            </a:ln>
          </p:spPr>
        </p:cxnSp>
        <p:cxnSp>
          <p:nvCxnSpPr>
            <p:cNvPr id="1546" name="Google Shape;1546;p85"/>
            <p:cNvCxnSpPr/>
            <p:nvPr/>
          </p:nvCxnSpPr>
          <p:spPr>
            <a:xfrm>
              <a:off x="3149600" y="4600575"/>
              <a:ext cx="5105400" cy="0"/>
            </a:xfrm>
            <a:prstGeom prst="straightConnector1">
              <a:avLst/>
            </a:prstGeom>
            <a:noFill/>
            <a:ln w="9525" cap="flat" cmpd="sng">
              <a:solidFill>
                <a:schemeClr val="folHlink"/>
              </a:solidFill>
              <a:prstDash val="solid"/>
              <a:miter lim="800000"/>
              <a:headEnd type="triangle" w="med" len="med"/>
              <a:tailEnd type="none" w="med" len="med"/>
            </a:ln>
          </p:spPr>
        </p:cxnSp>
        <p:sp>
          <p:nvSpPr>
            <p:cNvPr id="1547" name="Google Shape;1547;p85"/>
            <p:cNvSpPr txBox="1"/>
            <p:nvPr/>
          </p:nvSpPr>
          <p:spPr>
            <a:xfrm>
              <a:off x="417644" y="3243263"/>
              <a:ext cx="273023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PV=150(PVIF </a:t>
              </a:r>
              <a:r>
                <a:rPr lang="en-US" sz="2400" baseline="-25000">
                  <a:solidFill>
                    <a:schemeClr val="dk1"/>
                  </a:solidFill>
                  <a:latin typeface="Arial"/>
                  <a:ea typeface="Arial"/>
                  <a:cs typeface="Arial"/>
                  <a:sym typeface="Arial"/>
                </a:rPr>
                <a:t>6%,2</a:t>
              </a:r>
              <a:r>
                <a:rPr lang="en-US" sz="2400">
                  <a:solidFill>
                    <a:schemeClr val="dk1"/>
                  </a:solidFill>
                  <a:latin typeface="Arial"/>
                  <a:ea typeface="Arial"/>
                  <a:cs typeface="Arial"/>
                  <a:sym typeface="Arial"/>
                </a:rPr>
                <a:t>)</a:t>
              </a:r>
              <a:endParaRPr/>
            </a:p>
          </p:txBody>
        </p:sp>
        <p:sp>
          <p:nvSpPr>
            <p:cNvPr id="1548" name="Google Shape;1548;p85"/>
            <p:cNvSpPr txBox="1"/>
            <p:nvPr/>
          </p:nvSpPr>
          <p:spPr>
            <a:xfrm>
              <a:off x="423237" y="3776663"/>
              <a:ext cx="255871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PV=50(PVIF </a:t>
              </a:r>
              <a:r>
                <a:rPr lang="en-US" sz="2400" baseline="-25000">
                  <a:solidFill>
                    <a:schemeClr val="dk1"/>
                  </a:solidFill>
                  <a:latin typeface="Arial"/>
                  <a:ea typeface="Arial"/>
                  <a:cs typeface="Arial"/>
                  <a:sym typeface="Arial"/>
                </a:rPr>
                <a:t>6%,5</a:t>
              </a:r>
              <a:r>
                <a:rPr lang="en-US" sz="2400">
                  <a:solidFill>
                    <a:schemeClr val="dk1"/>
                  </a:solidFill>
                  <a:latin typeface="Arial"/>
                  <a:ea typeface="Arial"/>
                  <a:cs typeface="Arial"/>
                  <a:sym typeface="Arial"/>
                </a:rPr>
                <a:t>)</a:t>
              </a:r>
              <a:endParaRPr/>
            </a:p>
          </p:txBody>
        </p:sp>
        <p:sp>
          <p:nvSpPr>
            <p:cNvPr id="1549" name="Google Shape;1549;p85"/>
            <p:cNvSpPr txBox="1"/>
            <p:nvPr/>
          </p:nvSpPr>
          <p:spPr>
            <a:xfrm>
              <a:off x="433519" y="4386263"/>
              <a:ext cx="273023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PV=200(PVIF </a:t>
              </a:r>
              <a:r>
                <a:rPr lang="en-US" sz="2400" baseline="-25000">
                  <a:solidFill>
                    <a:schemeClr val="dk1"/>
                  </a:solidFill>
                  <a:latin typeface="Arial"/>
                  <a:ea typeface="Arial"/>
                  <a:cs typeface="Arial"/>
                  <a:sym typeface="Arial"/>
                </a:rPr>
                <a:t>6%,8</a:t>
              </a:r>
              <a:r>
                <a:rPr lang="en-US" sz="2400">
                  <a:solidFill>
                    <a:schemeClr val="dk1"/>
                  </a:solidFill>
                  <a:latin typeface="Arial"/>
                  <a:ea typeface="Arial"/>
                  <a:cs typeface="Arial"/>
                  <a:sym typeface="Arial"/>
                </a:rPr>
                <a:t>)</a:t>
              </a:r>
              <a:endParaRPr/>
            </a:p>
          </p:txBody>
        </p:sp>
        <p:sp>
          <p:nvSpPr>
            <p:cNvPr id="1550" name="Google Shape;1550;p85"/>
            <p:cNvSpPr txBox="1"/>
            <p:nvPr/>
          </p:nvSpPr>
          <p:spPr>
            <a:xfrm>
              <a:off x="7916123" y="1628775"/>
              <a:ext cx="61266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1/9</a:t>
              </a:r>
              <a:endParaRPr/>
            </a:p>
          </p:txBody>
        </p:sp>
      </p:gr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16"/>
                                        </p:tgtEl>
                                        <p:attrNameLst>
                                          <p:attrName>style.visibility</p:attrName>
                                        </p:attrNameLst>
                                      </p:cBhvr>
                                      <p:to>
                                        <p:strVal val="visible"/>
                                      </p:to>
                                    </p:set>
                                    <p:anim calcmode="lin" valueType="num">
                                      <p:cBhvr additive="base">
                                        <p:cTn id="7" dur="500"/>
                                        <p:tgtEl>
                                          <p:spTgt spid="151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554"/>
        <p:cNvGrpSpPr/>
        <p:nvPr/>
      </p:nvGrpSpPr>
      <p:grpSpPr>
        <a:xfrm>
          <a:off x="0" y="0"/>
          <a:ext cx="0" cy="0"/>
          <a:chOff x="0" y="0"/>
          <a:chExt cx="0" cy="0"/>
        </a:xfrm>
      </p:grpSpPr>
      <p:sp>
        <p:nvSpPr>
          <p:cNvPr id="1555" name="Google Shape;1555;p86"/>
          <p:cNvSpPr/>
          <p:nvPr/>
        </p:nvSpPr>
        <p:spPr>
          <a:xfrm>
            <a:off x="819150" y="267286"/>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PERPETUITI (Perpetuities)</a:t>
            </a:r>
            <a:endParaRPr/>
          </a:p>
        </p:txBody>
      </p:sp>
      <p:sp>
        <p:nvSpPr>
          <p:cNvPr id="1556" name="Google Shape;1556;p86"/>
          <p:cNvSpPr txBox="1">
            <a:spLocks noGrp="1"/>
          </p:cNvSpPr>
          <p:nvPr>
            <p:ph type="sldNum" sz="quarter" idx="12"/>
          </p:nvPr>
        </p:nvSpPr>
        <p:spPr>
          <a:xfrm>
            <a:off x="6934200" y="6348070"/>
            <a:ext cx="2057400" cy="365125"/>
          </a:xfrm>
          <a:prstGeom prst="rect">
            <a:avLst/>
          </a:prstGeom>
          <a:solidFill>
            <a:schemeClr val="lt1"/>
          </a:solid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74</a:t>
            </a:fld>
            <a:endParaRPr sz="1200">
              <a:solidFill>
                <a:srgbClr val="1D4577"/>
              </a:solidFill>
              <a:latin typeface="Times New Roman"/>
              <a:ea typeface="Times New Roman"/>
              <a:cs typeface="Times New Roman"/>
              <a:sym typeface="Times New Roman"/>
            </a:endParaRPr>
          </a:p>
        </p:txBody>
      </p:sp>
      <p:sp>
        <p:nvSpPr>
          <p:cNvPr id="1557" name="Google Shape;1557;p86"/>
          <p:cNvSpPr/>
          <p:nvPr/>
        </p:nvSpPr>
        <p:spPr>
          <a:xfrm>
            <a:off x="391551" y="1219200"/>
            <a:ext cx="8371448" cy="5335631"/>
          </a:xfrm>
          <a:prstGeom prst="foldedCorner">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400" dirty="0" err="1">
                <a:solidFill>
                  <a:schemeClr val="dk1"/>
                </a:solidFill>
                <a:latin typeface="Arial"/>
                <a:ea typeface="Arial"/>
                <a:cs typeface="Arial"/>
                <a:sym typeface="Arial"/>
              </a:rPr>
              <a:t>Definisi</a:t>
            </a:r>
            <a:r>
              <a:rPr lang="en-US" sz="2400" dirty="0">
                <a:solidFill>
                  <a:schemeClr val="dk1"/>
                </a:solidFill>
                <a:latin typeface="Arial"/>
                <a:ea typeface="Arial"/>
                <a:cs typeface="Arial"/>
                <a:sym typeface="Arial"/>
              </a:rPr>
              <a:t>:</a:t>
            </a:r>
            <a:endParaRPr dirty="0"/>
          </a:p>
          <a:p>
            <a:pPr marL="0" marR="0" lvl="0" indent="0" algn="just" rtl="0">
              <a:spcBef>
                <a:spcPts val="0"/>
              </a:spcBef>
              <a:spcAft>
                <a:spcPts val="0"/>
              </a:spcAft>
              <a:buNone/>
            </a:pPr>
            <a:r>
              <a:rPr lang="en-US" sz="2400" dirty="0" err="1">
                <a:solidFill>
                  <a:schemeClr val="dk1"/>
                </a:solidFill>
                <a:latin typeface="Arial"/>
                <a:ea typeface="Arial"/>
                <a:cs typeface="Arial"/>
                <a:sym typeface="Arial"/>
              </a:rPr>
              <a:t>Aliran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pembayaran</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sama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pada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selang</a:t>
            </a:r>
            <a:r>
              <a:rPr lang="en-US" sz="2400" dirty="0">
                <a:solidFill>
                  <a:schemeClr val="dk1"/>
                </a:solidFill>
                <a:latin typeface="Arial"/>
                <a:ea typeface="Arial"/>
                <a:cs typeface="Arial"/>
                <a:sym typeface="Arial"/>
              </a:rPr>
              <a:t> masa yang </a:t>
            </a:r>
            <a:r>
              <a:rPr lang="en-US" sz="2400" dirty="0" err="1">
                <a:solidFill>
                  <a:schemeClr val="dk1"/>
                </a:solidFill>
                <a:latin typeface="Arial"/>
                <a:ea typeface="Arial"/>
                <a:cs typeface="Arial"/>
                <a:sym typeface="Arial"/>
              </a:rPr>
              <a:t>tetap</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dijangka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berterusan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selama-lamanya</a:t>
            </a:r>
            <a:r>
              <a:rPr lang="en-US" sz="2400" dirty="0">
                <a:solidFill>
                  <a:schemeClr val="dk1"/>
                </a:solidFill>
                <a:latin typeface="Arial"/>
                <a:ea typeface="Arial"/>
                <a:cs typeface="Arial"/>
                <a:sym typeface="Arial"/>
              </a:rPr>
              <a:t>.</a:t>
            </a:r>
            <a:endParaRPr dirty="0"/>
          </a:p>
          <a:p>
            <a:pPr marL="0" marR="0" lvl="0" indent="0" algn="just" rtl="0">
              <a:spcBef>
                <a:spcPts val="0"/>
              </a:spcBef>
              <a:spcAft>
                <a:spcPts val="0"/>
              </a:spcAft>
              <a:buNone/>
            </a:pPr>
            <a:r>
              <a:rPr lang="en-US" sz="2400" dirty="0">
                <a:solidFill>
                  <a:schemeClr val="dk1"/>
                </a:solidFill>
                <a:latin typeface="Arial"/>
                <a:ea typeface="Arial"/>
                <a:cs typeface="Arial"/>
                <a:sym typeface="Arial"/>
              </a:rPr>
              <a:t>(Brigham, 2010)</a:t>
            </a:r>
            <a:endParaRPr dirty="0"/>
          </a:p>
          <a:p>
            <a:pPr marL="0" marR="0" lvl="0" indent="0" algn="just" rtl="0">
              <a:spcBef>
                <a:spcPts val="0"/>
              </a:spcBef>
              <a:spcAft>
                <a:spcPts val="0"/>
              </a:spcAft>
              <a:buNone/>
            </a:pPr>
            <a:endParaRPr sz="2400" dirty="0">
              <a:solidFill>
                <a:schemeClr val="dk1"/>
              </a:solidFill>
              <a:latin typeface="Arial"/>
              <a:ea typeface="Arial"/>
              <a:cs typeface="Arial"/>
              <a:sym typeface="Arial"/>
            </a:endParaRPr>
          </a:p>
          <a:p>
            <a:pPr marL="285750" marR="0" lvl="0" indent="-285750" algn="just" rtl="0">
              <a:spcBef>
                <a:spcPts val="0"/>
              </a:spcBef>
              <a:spcAft>
                <a:spcPts val="0"/>
              </a:spcAft>
              <a:buClr>
                <a:schemeClr val="dk1"/>
              </a:buClr>
              <a:buSzPts val="2400"/>
              <a:buFont typeface="Noto Sans Symbols"/>
              <a:buChar char="❑"/>
            </a:pPr>
            <a:r>
              <a:rPr lang="en-US" sz="2400" dirty="0" err="1">
                <a:solidFill>
                  <a:schemeClr val="dk1"/>
                </a:solidFill>
                <a:latin typeface="Arial"/>
                <a:ea typeface="Arial"/>
                <a:cs typeface="Arial"/>
                <a:sym typeface="Arial"/>
              </a:rPr>
              <a:t>Merupakan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siri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aliran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tunai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berbentuk</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anuiti</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berterusan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sehingga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pada</a:t>
            </a:r>
            <a:r>
              <a:rPr lang="en-US" sz="2400" dirty="0">
                <a:solidFill>
                  <a:schemeClr val="dk1"/>
                </a:solidFill>
                <a:latin typeface="Arial"/>
                <a:ea typeface="Arial"/>
                <a:cs typeface="Arial"/>
                <a:sym typeface="Arial"/>
              </a:rPr>
              <a:t> masa </a:t>
            </a:r>
            <a:r>
              <a:rPr lang="en-US" sz="2400" dirty="0" err="1">
                <a:solidFill>
                  <a:schemeClr val="dk1"/>
                </a:solidFill>
                <a:latin typeface="Arial"/>
                <a:ea typeface="Arial"/>
                <a:cs typeface="Arial"/>
                <a:sym typeface="Arial"/>
              </a:rPr>
              <a:t>depan</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tiada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Penghujungnya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infiniti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Contohnya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bayaran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dividen</a:t>
            </a:r>
            <a:r>
              <a:rPr lang="en-US" sz="2400" dirty="0">
                <a:solidFill>
                  <a:schemeClr val="dk1"/>
                </a:solidFill>
                <a:latin typeface="Arial"/>
                <a:ea typeface="Arial"/>
                <a:cs typeface="Arial"/>
                <a:sym typeface="Arial"/>
              </a:rPr>
              <a:t> </a:t>
            </a:r>
            <a:r>
              <a:rPr lang="en-US" sz="2400" dirty="0" err="1">
                <a:solidFill>
                  <a:schemeClr val="dk1"/>
                </a:solidFill>
              </a:rPr>
              <a:t>k</a:t>
            </a:r>
            <a:r>
              <a:rPr lang="en-US" sz="2400" dirty="0" err="1">
                <a:solidFill>
                  <a:schemeClr val="dk1"/>
                </a:solidFill>
                <a:latin typeface="Arial"/>
                <a:ea typeface="Arial"/>
                <a:cs typeface="Arial"/>
                <a:sym typeface="Arial"/>
              </a:rPr>
              <a:t>epada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pemegang</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saham</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keutamaan</a:t>
            </a:r>
            <a:r>
              <a:rPr lang="en-US" sz="2400" dirty="0">
                <a:solidFill>
                  <a:schemeClr val="dk1"/>
                </a:solidFill>
                <a:latin typeface="Arial"/>
                <a:ea typeface="Arial"/>
                <a:cs typeface="Arial"/>
                <a:sym typeface="Arial"/>
              </a:rPr>
              <a:t>.</a:t>
            </a:r>
            <a:endParaRPr dirty="0"/>
          </a:p>
          <a:p>
            <a:pPr marL="285750" marR="0" lvl="0" indent="-285750" algn="just" rtl="0">
              <a:spcBef>
                <a:spcPts val="0"/>
              </a:spcBef>
              <a:spcAft>
                <a:spcPts val="0"/>
              </a:spcAft>
              <a:buClr>
                <a:schemeClr val="dk1"/>
              </a:buClr>
              <a:buSzPts val="2400"/>
              <a:buFont typeface="Noto Sans Symbols"/>
              <a:buChar char="❑"/>
            </a:pPr>
            <a:r>
              <a:rPr lang="en-US" sz="2400" dirty="0" err="1">
                <a:solidFill>
                  <a:schemeClr val="dk1"/>
                </a:solidFill>
                <a:latin typeface="Arial"/>
                <a:ea typeface="Arial"/>
                <a:cs typeface="Arial"/>
                <a:sym typeface="Arial"/>
              </a:rPr>
              <a:t>Perpetuiti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dirujuk</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apabila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mencari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nilai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kini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bagi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satu</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siri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aliran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tunai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berbentuk</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anuiti</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tiada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tempoh</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akhir</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dengan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cara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mendiskaunkan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semua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siri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aliran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tunai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tersebut</a:t>
            </a:r>
            <a:r>
              <a:rPr lang="en-US" sz="2400" dirty="0">
                <a:solidFill>
                  <a:schemeClr val="dk1"/>
                </a:solidFill>
                <a:latin typeface="Arial"/>
                <a:ea typeface="Arial"/>
                <a:cs typeface="Arial"/>
                <a:sym typeface="Arial"/>
              </a:rPr>
              <a:t>. </a:t>
            </a:r>
            <a:endParaRPr dirty="0"/>
          </a:p>
          <a:p>
            <a:pPr marL="0" marR="0" lvl="0" indent="0" algn="just" rtl="0">
              <a:spcBef>
                <a:spcPts val="0"/>
              </a:spcBef>
              <a:spcAft>
                <a:spcPts val="0"/>
              </a:spcAft>
              <a:buNone/>
            </a:pPr>
            <a:endParaRPr sz="2400" dirty="0">
              <a:solidFill>
                <a:schemeClr val="dk1"/>
              </a:solidFill>
              <a:latin typeface="Arial"/>
              <a:ea typeface="Arial"/>
              <a:cs typeface="Arial"/>
              <a:sym typeface="Arial"/>
            </a:endParaRPr>
          </a:p>
        </p:txBody>
      </p:sp>
    </p:spTree>
  </p:cSld>
  <p:clrMapOvr>
    <a:masterClrMapping/>
  </p:clrMapOvr>
  <p:transition>
    <p:fade thruBlk="1"/>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561"/>
        <p:cNvGrpSpPr/>
        <p:nvPr/>
      </p:nvGrpSpPr>
      <p:grpSpPr>
        <a:xfrm>
          <a:off x="0" y="0"/>
          <a:ext cx="0" cy="0"/>
          <a:chOff x="0" y="0"/>
          <a:chExt cx="0" cy="0"/>
        </a:xfrm>
      </p:grpSpPr>
      <p:sp>
        <p:nvSpPr>
          <p:cNvPr id="1562" name="Google Shape;1562;p87"/>
          <p:cNvSpPr txBox="1"/>
          <p:nvPr/>
        </p:nvSpPr>
        <p:spPr>
          <a:xfrm>
            <a:off x="1219200" y="1295400"/>
            <a:ext cx="2454275" cy="8302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Rumus nilai kini</a:t>
            </a:r>
            <a:endParaRPr/>
          </a:p>
          <a:p>
            <a:pPr marL="0" marR="0" lvl="0" indent="0" algn="ctr" rtl="0">
              <a:spcBef>
                <a:spcPts val="0"/>
              </a:spcBef>
              <a:spcAft>
                <a:spcPts val="0"/>
              </a:spcAft>
              <a:buNone/>
            </a:pPr>
            <a:r>
              <a:rPr lang="en-US" sz="2400">
                <a:solidFill>
                  <a:schemeClr val="dk1"/>
                </a:solidFill>
                <a:latin typeface="Arial"/>
                <a:ea typeface="Arial"/>
                <a:cs typeface="Arial"/>
                <a:sym typeface="Arial"/>
              </a:rPr>
              <a:t>perpetuiti</a:t>
            </a:r>
            <a:endParaRPr/>
          </a:p>
        </p:txBody>
      </p:sp>
      <p:sp>
        <p:nvSpPr>
          <p:cNvPr id="1563" name="Google Shape;1563;p87"/>
          <p:cNvSpPr/>
          <p:nvPr/>
        </p:nvSpPr>
        <p:spPr>
          <a:xfrm>
            <a:off x="3936206" y="1476695"/>
            <a:ext cx="746125" cy="457200"/>
          </a:xfrm>
          <a:prstGeom prst="rightArrow">
            <a:avLst>
              <a:gd name="adj1" fmla="val 50000"/>
              <a:gd name="adj2" fmla="val 8499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pic>
        <p:nvPicPr>
          <p:cNvPr id="1564" name="Google Shape;1564;p87"/>
          <p:cNvPicPr preferRelativeResize="0"/>
          <p:nvPr/>
        </p:nvPicPr>
        <p:blipFill rotWithShape="1">
          <a:blip r:embed="rId3">
            <a:alphaModFix/>
          </a:blip>
          <a:srcRect/>
          <a:stretch/>
        </p:blipFill>
        <p:spPr>
          <a:xfrm>
            <a:off x="4881562" y="1233488"/>
            <a:ext cx="3424238" cy="874712"/>
          </a:xfrm>
          <a:prstGeom prst="rect">
            <a:avLst/>
          </a:prstGeom>
          <a:noFill/>
          <a:ln>
            <a:noFill/>
          </a:ln>
        </p:spPr>
      </p:pic>
      <p:pic>
        <p:nvPicPr>
          <p:cNvPr id="1565" name="Google Shape;1565;p87"/>
          <p:cNvPicPr preferRelativeResize="0"/>
          <p:nvPr/>
        </p:nvPicPr>
        <p:blipFill rotWithShape="1">
          <a:blip r:embed="rId4">
            <a:alphaModFix/>
          </a:blip>
          <a:srcRect/>
          <a:stretch/>
        </p:blipFill>
        <p:spPr>
          <a:xfrm>
            <a:off x="1447800" y="5441297"/>
            <a:ext cx="3234531" cy="798512"/>
          </a:xfrm>
          <a:prstGeom prst="rect">
            <a:avLst/>
          </a:prstGeom>
          <a:noFill/>
          <a:ln>
            <a:noFill/>
          </a:ln>
        </p:spPr>
      </p:pic>
      <p:sp>
        <p:nvSpPr>
          <p:cNvPr id="1566" name="Google Shape;1566;p87"/>
          <p:cNvSpPr txBox="1"/>
          <p:nvPr/>
        </p:nvSpPr>
        <p:spPr>
          <a:xfrm>
            <a:off x="3065065" y="6239809"/>
            <a:ext cx="2127505" cy="461665"/>
          </a:xfrm>
          <a:prstGeom prst="rect">
            <a:avLst/>
          </a:prstGeom>
          <a:solidFill>
            <a:schemeClr val="bg1"/>
          </a:solidFill>
          <a:ln>
            <a:solidFill>
              <a:schemeClr val="tx1"/>
            </a:solid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chemeClr val="dk1"/>
                </a:solidFill>
                <a:latin typeface="Arial"/>
                <a:ea typeface="Arial"/>
                <a:cs typeface="Arial"/>
                <a:sym typeface="Arial"/>
              </a:rPr>
              <a:t>= RM133,333 </a:t>
            </a:r>
            <a:endParaRPr dirty="0"/>
          </a:p>
        </p:txBody>
      </p:sp>
      <p:sp>
        <p:nvSpPr>
          <p:cNvPr id="1567" name="Google Shape;1567;p87"/>
          <p:cNvSpPr/>
          <p:nvPr/>
        </p:nvSpPr>
        <p:spPr>
          <a:xfrm>
            <a:off x="609600" y="304800"/>
            <a:ext cx="76962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PERPETUITI</a:t>
            </a:r>
            <a:endParaRPr/>
          </a:p>
        </p:txBody>
      </p:sp>
      <p:sp>
        <p:nvSpPr>
          <p:cNvPr id="1568" name="Google Shape;1568;p8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75</a:t>
            </a:fld>
            <a:endParaRPr sz="1200">
              <a:solidFill>
                <a:srgbClr val="1D4577"/>
              </a:solidFill>
              <a:latin typeface="Times New Roman"/>
              <a:ea typeface="Times New Roman"/>
              <a:cs typeface="Times New Roman"/>
              <a:sym typeface="Times New Roman"/>
            </a:endParaRPr>
          </a:p>
        </p:txBody>
      </p:sp>
      <p:sp>
        <p:nvSpPr>
          <p:cNvPr id="1569" name="Google Shape;1569;p87"/>
          <p:cNvSpPr txBox="1"/>
          <p:nvPr/>
        </p:nvSpPr>
        <p:spPr>
          <a:xfrm>
            <a:off x="381000" y="2133600"/>
            <a:ext cx="8362359"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Contoh: Encik Mazlan ingin bersara setahun dari sekarang dan bercadang untuk menyimpan ke dalam satu akaun perpetuiti sekarang yang menjanjikan kadar faedah sebanyak 9% setahun di mana beliau boleh mengeluarkan sebanyak RM12,000 pada setiap tahun bermula hujung tahun ini sehingga beliau meninggal dunia. Berapakah amaun yang beliau terpaksa simpan sekarang?</a:t>
            </a:r>
            <a:endParaRPr sz="2400">
              <a:solidFill>
                <a:schemeClr val="dk1"/>
              </a:solidFill>
              <a:latin typeface="Calibri"/>
              <a:ea typeface="Calibri"/>
              <a:cs typeface="Calibri"/>
              <a:sym typeface="Calibri"/>
            </a:endParaRPr>
          </a:p>
        </p:txBody>
      </p:sp>
      <p:pic>
        <p:nvPicPr>
          <p:cNvPr id="1570" name="Google Shape;1570;p87"/>
          <p:cNvPicPr preferRelativeResize="0"/>
          <p:nvPr/>
        </p:nvPicPr>
        <p:blipFill rotWithShape="1">
          <a:blip r:embed="rId3">
            <a:alphaModFix/>
          </a:blip>
          <a:srcRect/>
          <a:stretch/>
        </p:blipFill>
        <p:spPr>
          <a:xfrm>
            <a:off x="1752600" y="4840288"/>
            <a:ext cx="2509838" cy="641131"/>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62"/>
                                        </p:tgtEl>
                                        <p:attrNameLst>
                                          <p:attrName>style.visibility</p:attrName>
                                        </p:attrNameLst>
                                      </p:cBhvr>
                                      <p:to>
                                        <p:strVal val="visible"/>
                                      </p:to>
                                    </p:set>
                                    <p:anim calcmode="lin" valueType="num">
                                      <p:cBhvr additive="base">
                                        <p:cTn id="7" dur="500"/>
                                        <p:tgtEl>
                                          <p:spTgt spid="1562"/>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563"/>
                                        </p:tgtEl>
                                        <p:attrNameLst>
                                          <p:attrName>style.visibility</p:attrName>
                                        </p:attrNameLst>
                                      </p:cBhvr>
                                      <p:to>
                                        <p:strVal val="visible"/>
                                      </p:to>
                                    </p:set>
                                    <p:anim calcmode="lin" valueType="num">
                                      <p:cBhvr additive="base">
                                        <p:cTn id="12" dur="500"/>
                                        <p:tgtEl>
                                          <p:spTgt spid="156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566"/>
                                        </p:tgtEl>
                                        <p:attrNameLst>
                                          <p:attrName>style.visibility</p:attrName>
                                        </p:attrNameLst>
                                      </p:cBhvr>
                                      <p:to>
                                        <p:strVal val="visible"/>
                                      </p:to>
                                    </p:set>
                                    <p:anim calcmode="lin" valueType="num">
                                      <p:cBhvr additive="base">
                                        <p:cTn id="17" dur="500"/>
                                        <p:tgtEl>
                                          <p:spTgt spid="1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88"/>
          <p:cNvSpPr txBox="1"/>
          <p:nvPr/>
        </p:nvSpPr>
        <p:spPr>
          <a:xfrm>
            <a:off x="304800" y="1338263"/>
            <a:ext cx="8458200" cy="19383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Berapakah amaun yang perlu dilaburkan oleh Puan Orkid hari ini daripada wang pencennya supaya beliau dapat mengeluarkan sebanyak RM15000 setiap tahun sehingga akhir hayatnya. Andaikan pelaburan tersebut memberikan kadar keuntungan sebanyak 15% setahun? </a:t>
            </a:r>
            <a:endParaRPr/>
          </a:p>
        </p:txBody>
      </p:sp>
      <p:sp>
        <p:nvSpPr>
          <p:cNvPr id="1576" name="Google Shape;1576;p88"/>
          <p:cNvSpPr txBox="1">
            <a:spLocks noGrp="1"/>
          </p:cNvSpPr>
          <p:nvPr>
            <p:ph type="sldNum" sz="quarter" idx="12"/>
          </p:nvPr>
        </p:nvSpPr>
        <p:spPr>
          <a:xfrm>
            <a:off x="9505950" y="6454775"/>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76</a:t>
            </a:fld>
            <a:endParaRPr sz="1200">
              <a:solidFill>
                <a:srgbClr val="1D4577"/>
              </a:solidFill>
              <a:latin typeface="Times New Roman"/>
              <a:ea typeface="Times New Roman"/>
              <a:cs typeface="Times New Roman"/>
              <a:sym typeface="Times New Roman"/>
            </a:endParaRPr>
          </a:p>
        </p:txBody>
      </p:sp>
      <p:sp>
        <p:nvSpPr>
          <p:cNvPr id="1577" name="Google Shape;1577;p88"/>
          <p:cNvSpPr txBox="1"/>
          <p:nvPr/>
        </p:nvSpPr>
        <p:spPr>
          <a:xfrm>
            <a:off x="381000" y="609600"/>
            <a:ext cx="22860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Contoh </a:t>
            </a:r>
            <a:endParaRPr/>
          </a:p>
        </p:txBody>
      </p:sp>
      <p:sp>
        <p:nvSpPr>
          <p:cNvPr id="1578" name="Google Shape;1578;p88"/>
          <p:cNvSpPr txBox="1"/>
          <p:nvPr/>
        </p:nvSpPr>
        <p:spPr>
          <a:xfrm>
            <a:off x="2419350" y="3581400"/>
            <a:ext cx="2990850" cy="616836"/>
          </a:xfrm>
          <a:prstGeom prst="rect">
            <a:avLst/>
          </a:prstGeom>
          <a:blipFill rotWithShape="1">
            <a:blip r:embed="rId3">
              <a:alphaModFix/>
            </a:blip>
            <a:stretch>
              <a:fillRect b="-791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579" name="Google Shape;1579;p88"/>
          <p:cNvSpPr txBox="1"/>
          <p:nvPr/>
        </p:nvSpPr>
        <p:spPr>
          <a:xfrm>
            <a:off x="2419350" y="4412364"/>
            <a:ext cx="2990850" cy="621902"/>
          </a:xfrm>
          <a:prstGeom prst="rect">
            <a:avLst/>
          </a:prstGeom>
          <a:blipFill rotWithShape="1">
            <a:blip r:embed="rId4">
              <a:alphaModFix/>
            </a:blip>
            <a:stretch>
              <a:fillRect b="-88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580" name="Google Shape;1580;p88"/>
          <p:cNvSpPr txBox="1"/>
          <p:nvPr/>
        </p:nvSpPr>
        <p:spPr>
          <a:xfrm>
            <a:off x="2438400" y="5257800"/>
            <a:ext cx="3886200" cy="490199"/>
          </a:xfrm>
          <a:prstGeom prst="rect">
            <a:avLst/>
          </a:prstGeom>
          <a:blipFill rotWithShape="1">
            <a:blip r:embed="rId5">
              <a:alphaModFix/>
            </a:blip>
            <a:stretch>
              <a:fillRect l="-312" t="-9999" b="-2124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p:fade thruBlk="1"/>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584"/>
        <p:cNvGrpSpPr/>
        <p:nvPr/>
      </p:nvGrpSpPr>
      <p:grpSpPr>
        <a:xfrm>
          <a:off x="0" y="0"/>
          <a:ext cx="0" cy="0"/>
          <a:chOff x="0" y="0"/>
          <a:chExt cx="0" cy="0"/>
        </a:xfrm>
      </p:grpSpPr>
      <p:sp>
        <p:nvSpPr>
          <p:cNvPr id="1585" name="Google Shape;1585;p89"/>
          <p:cNvSpPr/>
          <p:nvPr/>
        </p:nvSpPr>
        <p:spPr>
          <a:xfrm>
            <a:off x="419100" y="1536203"/>
            <a:ext cx="8229600" cy="693738"/>
          </a:xfrm>
          <a:prstGeom prst="foldedCorner">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000">
                <a:solidFill>
                  <a:schemeClr val="dk1"/>
                </a:solidFill>
                <a:latin typeface="Arial"/>
                <a:ea typeface="Arial"/>
                <a:cs typeface="Arial"/>
                <a:sym typeface="Arial"/>
              </a:rPr>
              <a:t>Kekerapan  pengkompaunan  dan  pendiskaunan  beberapa  kali dalam</a:t>
            </a: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setahun  adalah  amalan biasa dalam membuat keputusan kewangan. </a:t>
            </a:r>
            <a:endParaRPr/>
          </a:p>
        </p:txBody>
      </p:sp>
      <p:sp>
        <p:nvSpPr>
          <p:cNvPr id="1586" name="Google Shape;1586;p89"/>
          <p:cNvSpPr/>
          <p:nvPr/>
        </p:nvSpPr>
        <p:spPr>
          <a:xfrm>
            <a:off x="609600" y="304800"/>
            <a:ext cx="7848600" cy="11430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600" b="1">
                <a:solidFill>
                  <a:schemeClr val="dk1"/>
                </a:solidFill>
                <a:latin typeface="Arial"/>
                <a:ea typeface="Arial"/>
                <a:cs typeface="Arial"/>
                <a:sym typeface="Arial"/>
              </a:rPr>
              <a:t>PENGKOMPAUNAN DAN PENDISKAUNAN</a:t>
            </a:r>
            <a:endParaRPr/>
          </a:p>
          <a:p>
            <a:pPr marL="0" marR="0" lvl="0" indent="0" algn="ctr" rtl="0">
              <a:spcBef>
                <a:spcPts val="0"/>
              </a:spcBef>
              <a:spcAft>
                <a:spcPts val="0"/>
              </a:spcAft>
              <a:buNone/>
            </a:pPr>
            <a:r>
              <a:rPr lang="en-US" sz="2600" b="1">
                <a:solidFill>
                  <a:schemeClr val="dk1"/>
                </a:solidFill>
                <a:latin typeface="Arial"/>
                <a:ea typeface="Arial"/>
                <a:cs typeface="Arial"/>
                <a:sym typeface="Arial"/>
              </a:rPr>
              <a:t> MELEBIHI SEKALI</a:t>
            </a:r>
            <a:endParaRPr/>
          </a:p>
        </p:txBody>
      </p:sp>
      <p:sp>
        <p:nvSpPr>
          <p:cNvPr id="1587" name="Google Shape;1587;p89"/>
          <p:cNvSpPr txBox="1">
            <a:spLocks noGrp="1"/>
          </p:cNvSpPr>
          <p:nvPr>
            <p:ph type="sldNum" sz="quarter" idx="12"/>
          </p:nvPr>
        </p:nvSpPr>
        <p:spPr>
          <a:xfrm>
            <a:off x="6858000" y="6336705"/>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77</a:t>
            </a:fld>
            <a:endParaRPr sz="1200">
              <a:solidFill>
                <a:srgbClr val="1D4577"/>
              </a:solidFill>
              <a:latin typeface="Times New Roman"/>
              <a:ea typeface="Times New Roman"/>
              <a:cs typeface="Times New Roman"/>
              <a:sym typeface="Times New Roman"/>
            </a:endParaRPr>
          </a:p>
        </p:txBody>
      </p:sp>
      <p:graphicFrame>
        <p:nvGraphicFramePr>
          <p:cNvPr id="1588" name="Google Shape;1588;p89"/>
          <p:cNvGraphicFramePr/>
          <p:nvPr/>
        </p:nvGraphicFramePr>
        <p:xfrm>
          <a:off x="419099" y="2312988"/>
          <a:ext cx="8229600" cy="3627960"/>
        </p:xfrm>
        <a:graphic>
          <a:graphicData uri="http://schemas.openxmlformats.org/drawingml/2006/table">
            <a:tbl>
              <a:tblPr>
                <a:noFill/>
                <a:tableStyleId>{583BA780-5EA6-48F8-90CF-626E18444947}</a:tableStyleId>
              </a:tblPr>
              <a:tblGrid>
                <a:gridCol w="3314700">
                  <a:extLst>
                    <a:ext uri="{9D8B030D-6E8A-4147-A177-3AD203B41FA5}">
                      <a16:colId xmlns:a16="http://schemas.microsoft.com/office/drawing/2014/main" val="20000"/>
                    </a:ext>
                  </a:extLst>
                </a:gridCol>
                <a:gridCol w="2212650">
                  <a:extLst>
                    <a:ext uri="{9D8B030D-6E8A-4147-A177-3AD203B41FA5}">
                      <a16:colId xmlns:a16="http://schemas.microsoft.com/office/drawing/2014/main" val="20001"/>
                    </a:ext>
                  </a:extLst>
                </a:gridCol>
                <a:gridCol w="1310175">
                  <a:extLst>
                    <a:ext uri="{9D8B030D-6E8A-4147-A177-3AD203B41FA5}">
                      <a16:colId xmlns:a16="http://schemas.microsoft.com/office/drawing/2014/main" val="20002"/>
                    </a:ext>
                  </a:extLst>
                </a:gridCol>
                <a:gridCol w="1392075">
                  <a:extLst>
                    <a:ext uri="{9D8B030D-6E8A-4147-A177-3AD203B41FA5}">
                      <a16:colId xmlns:a16="http://schemas.microsoft.com/office/drawing/2014/main" val="20003"/>
                    </a:ext>
                  </a:extLst>
                </a:gridCol>
              </a:tblGrid>
              <a:tr h="855300">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Pengkompaunan/</a:t>
                      </a:r>
                      <a:endParaRPr/>
                    </a:p>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Pendiskaunan</a:t>
                      </a:r>
                      <a:endParaRPr sz="1800" b="1" i="0" u="none" strike="noStrike" cap="none">
                        <a:solidFill>
                          <a:srgbClr val="FFFFFF"/>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Kekerapan Pengkompaunan/</a:t>
                      </a:r>
                      <a:endParaRPr/>
                    </a:p>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Pendiskaunan (m)</a:t>
                      </a:r>
                      <a:endParaRPr sz="1800" b="1" i="0" u="none" strike="noStrike" cap="none">
                        <a:solidFill>
                          <a:srgbClr val="FFFFFF"/>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Tempoh Masa (n)</a:t>
                      </a:r>
                      <a:endParaRPr/>
                    </a:p>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n = nxm</a:t>
                      </a:r>
                      <a:endParaRPr sz="1800" b="1" i="0" u="none" strike="noStrike" cap="none">
                        <a:solidFill>
                          <a:srgbClr val="FFFFFF"/>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Kadar </a:t>
                      </a:r>
                      <a:endParaRPr/>
                    </a:p>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Faedah (i)</a:t>
                      </a:r>
                      <a:endParaRPr/>
                    </a:p>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i = i/m</a:t>
                      </a:r>
                      <a:endParaRPr sz="1800" b="1" i="0" u="none" strike="noStrike" cap="none">
                        <a:solidFill>
                          <a:srgbClr val="FFFFFF"/>
                        </a:solidFill>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655725">
                <a:tc>
                  <a:txBody>
                    <a:bodyPr/>
                    <a:lstStyle/>
                    <a:p>
                      <a:pPr marL="0" marR="0" lvl="0" indent="0" algn="l"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Tahunan (setahun sekali)</a:t>
                      </a:r>
                      <a:endParaRPr sz="20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1</a:t>
                      </a:r>
                      <a:endParaRPr sz="20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n x 1</a:t>
                      </a:r>
                      <a:endParaRPr sz="20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i/1</a:t>
                      </a:r>
                      <a:endParaRPr sz="2000" b="0" i="0" u="none" strike="noStrike" cap="none">
                        <a:solidFill>
                          <a:srgbClr val="00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655725">
                <a:tc>
                  <a:txBody>
                    <a:bodyPr/>
                    <a:lstStyle/>
                    <a:p>
                      <a:pPr marL="0" marR="0" lvl="0" indent="0" algn="l"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Semi tahunan (setiap 6 bulan)</a:t>
                      </a:r>
                      <a:endParaRPr sz="20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2</a:t>
                      </a:r>
                      <a:endParaRPr sz="20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n x 2</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i/2</a:t>
                      </a:r>
                      <a:endParaRPr sz="2000" b="0" i="0" u="none" strike="noStrike" cap="none">
                        <a:solidFill>
                          <a:srgbClr val="00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655725">
                <a:tc>
                  <a:txBody>
                    <a:bodyPr/>
                    <a:lstStyle/>
                    <a:p>
                      <a:pPr marL="0" marR="0" lvl="0" indent="0" algn="l"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Suku tahunan (setiap 3 bulan)</a:t>
                      </a:r>
                      <a:endParaRPr sz="20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4</a:t>
                      </a:r>
                      <a:endParaRPr sz="20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n x 4</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i/4</a:t>
                      </a:r>
                      <a:endParaRPr sz="2000" b="0" i="0" u="none" strike="noStrike" cap="none">
                        <a:solidFill>
                          <a:srgbClr val="00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655725">
                <a:tc>
                  <a:txBody>
                    <a:bodyPr/>
                    <a:lstStyle/>
                    <a:p>
                      <a:pPr marL="0" marR="0" lvl="0" indent="0" algn="l"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Bulanan (setiap bulan)</a:t>
                      </a:r>
                      <a:endParaRPr sz="20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12</a:t>
                      </a:r>
                      <a:endParaRPr sz="20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n x 12</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u="none" strike="noStrike" cap="none">
                          <a:latin typeface="Arial"/>
                          <a:ea typeface="Arial"/>
                          <a:cs typeface="Arial"/>
                          <a:sym typeface="Arial"/>
                        </a:rPr>
                        <a:t>i/12</a:t>
                      </a:r>
                      <a:endParaRPr sz="2000" b="0" i="0" u="none" strike="noStrike" cap="none">
                        <a:solidFill>
                          <a:srgbClr val="000000"/>
                        </a:solidFill>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bl>
          </a:graphicData>
        </a:graphic>
      </p:graphicFrame>
      <p:sp>
        <p:nvSpPr>
          <p:cNvPr id="1589" name="Google Shape;1589;p89"/>
          <p:cNvSpPr txBox="1"/>
          <p:nvPr/>
        </p:nvSpPr>
        <p:spPr>
          <a:xfrm>
            <a:off x="419100" y="6031588"/>
            <a:ext cx="8229599" cy="73866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Apabila kekerapan pengkompaunan atau pendiskaunan bagi nilai kini atau nilai masa depan melebihi setahun  sekali, tempoh masa akan menjadi (n x m), kadar faedah hendaklah juga dibahagikan dengan kekerapan (i/m).</a:t>
            </a:r>
            <a:endParaRPr sz="1400">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85"/>
                                        </p:tgtEl>
                                        <p:attrNameLst>
                                          <p:attrName>style.visibility</p:attrName>
                                        </p:attrNameLst>
                                      </p:cBhvr>
                                      <p:to>
                                        <p:strVal val="visible"/>
                                      </p:to>
                                    </p:set>
                                    <p:animEffect transition="in" filter="fade">
                                      <p:cBhvr>
                                        <p:cTn id="7" dur="500"/>
                                        <p:tgtEl>
                                          <p:spTgt spid="1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593"/>
        <p:cNvGrpSpPr/>
        <p:nvPr/>
      </p:nvGrpSpPr>
      <p:grpSpPr>
        <a:xfrm>
          <a:off x="0" y="0"/>
          <a:ext cx="0" cy="0"/>
          <a:chOff x="0" y="0"/>
          <a:chExt cx="0" cy="0"/>
        </a:xfrm>
      </p:grpSpPr>
      <p:sp>
        <p:nvSpPr>
          <p:cNvPr id="1594" name="Google Shape;1594;p9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sp>
        <p:nvSpPr>
          <p:cNvPr id="1595" name="Google Shape;1595;p90"/>
          <p:cNvSpPr/>
          <p:nvPr/>
        </p:nvSpPr>
        <p:spPr>
          <a:xfrm>
            <a:off x="424218" y="647700"/>
            <a:ext cx="81534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600" b="1">
                <a:solidFill>
                  <a:schemeClr val="dk1"/>
                </a:solidFill>
                <a:latin typeface="Arial"/>
                <a:ea typeface="Arial"/>
                <a:cs typeface="Arial"/>
                <a:sym typeface="Arial"/>
              </a:rPr>
              <a:t>NILAI DEPAN (Pengkompaunan Melebihi Sekali)</a:t>
            </a:r>
            <a:endParaRPr/>
          </a:p>
        </p:txBody>
      </p:sp>
      <p:grpSp>
        <p:nvGrpSpPr>
          <p:cNvPr id="1596" name="Google Shape;1596;p90"/>
          <p:cNvGrpSpPr/>
          <p:nvPr/>
        </p:nvGrpSpPr>
        <p:grpSpPr>
          <a:xfrm>
            <a:off x="609600" y="2514600"/>
            <a:ext cx="6764167" cy="648319"/>
            <a:chOff x="1524000" y="3124200"/>
            <a:chExt cx="6764167" cy="648319"/>
          </a:xfrm>
        </p:grpSpPr>
        <p:sp>
          <p:nvSpPr>
            <p:cNvPr id="1597" name="Google Shape;1597;p90"/>
            <p:cNvSpPr txBox="1"/>
            <p:nvPr/>
          </p:nvSpPr>
          <p:spPr>
            <a:xfrm>
              <a:off x="1524000" y="3157993"/>
              <a:ext cx="2630400" cy="446532"/>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598" name="Google Shape;1598;p90"/>
            <p:cNvSpPr txBox="1"/>
            <p:nvPr/>
          </p:nvSpPr>
          <p:spPr>
            <a:xfrm>
              <a:off x="4298050" y="3124200"/>
              <a:ext cx="95975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ATAU</a:t>
              </a:r>
              <a:endParaRPr/>
            </a:p>
          </p:txBody>
        </p:sp>
        <p:sp>
          <p:nvSpPr>
            <p:cNvPr id="1599" name="Google Shape;1599;p90"/>
            <p:cNvSpPr txBox="1"/>
            <p:nvPr/>
          </p:nvSpPr>
          <p:spPr>
            <a:xfrm>
              <a:off x="5410200" y="3124200"/>
              <a:ext cx="2877967" cy="648319"/>
            </a:xfrm>
            <a:prstGeom prst="rect">
              <a:avLst/>
            </a:prstGeom>
            <a:blipFill rotWithShape="1">
              <a:blip r:embed="rId4">
                <a:alphaModFix/>
              </a:blip>
              <a:stretch>
                <a:fillRect l="-635" t="-6602" r="-211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1600" name="Google Shape;1600;p90"/>
          <p:cNvSpPr txBox="1"/>
          <p:nvPr/>
        </p:nvSpPr>
        <p:spPr>
          <a:xfrm>
            <a:off x="457200" y="1905000"/>
            <a:ext cx="5410200" cy="461665"/>
          </a:xfrm>
          <a:prstGeom prst="rect">
            <a:avLst/>
          </a:prstGeom>
          <a:noFill/>
          <a:ln>
            <a:noFill/>
          </a:ln>
        </p:spPr>
        <p:txBody>
          <a:bodyPr spcFirstLastPara="1" wrap="square" lIns="91425" tIns="45700" rIns="91425" bIns="45700" anchor="t" anchorCtr="0">
            <a:spAutoFit/>
          </a:bodyPr>
          <a:lstStyle/>
          <a:p>
            <a:pPr marL="91440" marR="0" lvl="0" indent="-91440" algn="l" rtl="0">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Rumus penyelesaian manual ialah: </a:t>
            </a:r>
            <a:endParaRPr/>
          </a:p>
        </p:txBody>
      </p:sp>
      <p:sp>
        <p:nvSpPr>
          <p:cNvPr id="1601" name="Google Shape;1601;p90"/>
          <p:cNvSpPr txBox="1"/>
          <p:nvPr/>
        </p:nvSpPr>
        <p:spPr>
          <a:xfrm>
            <a:off x="609600" y="3406676"/>
            <a:ext cx="8153400" cy="2308324"/>
          </a:xfrm>
          <a:prstGeom prst="rect">
            <a:avLst/>
          </a:prstGeom>
          <a:noFill/>
          <a:ln>
            <a:noFill/>
          </a:ln>
        </p:spPr>
        <p:txBody>
          <a:bodyPr spcFirstLastPara="1" wrap="square" lIns="91425" tIns="45700" rIns="91425" bIns="45700" anchor="t" anchorCtr="0">
            <a:spAutoFit/>
          </a:bodyPr>
          <a:lstStyle/>
          <a:p>
            <a:pPr marL="91440" marR="0" lvl="0" indent="-91440" algn="l" rtl="0">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Di mana:   FV = Nilai masa depan </a:t>
            </a:r>
            <a:endParaRPr/>
          </a:p>
          <a:p>
            <a:pPr marL="91440" marR="0" lvl="0" indent="-91440" algn="l" rtl="0">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PV = Nilai kini </a:t>
            </a:r>
            <a:endParaRPr/>
          </a:p>
          <a:p>
            <a:pPr marL="91440" marR="0" lvl="0" indent="-91440" algn="l" rtl="0">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i = Kadar faedah </a:t>
            </a:r>
            <a:endParaRPr/>
          </a:p>
          <a:p>
            <a:pPr marL="91440" marR="0" lvl="0" indent="-91440" algn="l" rtl="0">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m = Kekerapan pengkompaunan atau    </a:t>
            </a:r>
            <a:endParaRPr/>
          </a:p>
          <a:p>
            <a:pPr marL="91440" marR="0" lvl="0" indent="-91440" algn="l" rtl="0">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pendiskaunan dalam setahun </a:t>
            </a:r>
            <a:endParaRPr/>
          </a:p>
          <a:p>
            <a:pPr marL="91440" marR="0" lvl="0" indent="-91440" algn="l" rtl="0">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n = Bilangan tempoh</a:t>
            </a:r>
            <a:endParaRPr sz="2400">
              <a:solidFill>
                <a:schemeClr val="dk1"/>
              </a:solidFill>
              <a:latin typeface="Arial"/>
              <a:ea typeface="Arial"/>
              <a:cs typeface="Arial"/>
              <a:sym typeface="Arial"/>
            </a:endParaRPr>
          </a:p>
        </p:txBody>
      </p:sp>
    </p:spTree>
  </p:cSld>
  <p:clrMapOvr>
    <a:masterClrMapping/>
  </p:clrMapOvr>
  <p:transition>
    <p:fade thruBlk="1"/>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605"/>
        <p:cNvGrpSpPr/>
        <p:nvPr/>
      </p:nvGrpSpPr>
      <p:grpSpPr>
        <a:xfrm>
          <a:off x="0" y="0"/>
          <a:ext cx="0" cy="0"/>
          <a:chOff x="0" y="0"/>
          <a:chExt cx="0" cy="0"/>
        </a:xfrm>
      </p:grpSpPr>
      <p:sp>
        <p:nvSpPr>
          <p:cNvPr id="1606" name="Google Shape;1606;p91"/>
          <p:cNvSpPr txBox="1">
            <a:spLocks noGrp="1"/>
          </p:cNvSpPr>
          <p:nvPr>
            <p:ph type="title" idx="4294967295"/>
          </p:nvPr>
        </p:nvSpPr>
        <p:spPr>
          <a:xfrm>
            <a:off x="0" y="609600"/>
            <a:ext cx="1371600" cy="5349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sz="2400" b="1">
                <a:latin typeface="Arial"/>
                <a:ea typeface="Arial"/>
                <a:cs typeface="Arial"/>
                <a:sym typeface="Arial"/>
              </a:rPr>
              <a:t>Contoh </a:t>
            </a:r>
            <a:endParaRPr/>
          </a:p>
        </p:txBody>
      </p:sp>
      <p:sp>
        <p:nvSpPr>
          <p:cNvPr id="1607" name="Google Shape;1607;p91"/>
          <p:cNvSpPr txBox="1">
            <a:spLocks noGrp="1"/>
          </p:cNvSpPr>
          <p:nvPr>
            <p:ph type="body" idx="4294967295"/>
          </p:nvPr>
        </p:nvSpPr>
        <p:spPr>
          <a:xfrm>
            <a:off x="0" y="1409700"/>
            <a:ext cx="8610600" cy="145097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91440" lvl="0" indent="-91440" algn="just" rtl="0">
              <a:lnSpc>
                <a:spcPct val="9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Adli bercadang menyimpan RM500 di dalam akaun simpanan yang membayar faedah sebanyak 10% setahun dan dikompaunkan secara semi tahunan. Kirakan jumlah simpanannya selepas 2 tahun.  </a:t>
            </a:r>
            <a:endParaRPr/>
          </a:p>
        </p:txBody>
      </p:sp>
      <p:grpSp>
        <p:nvGrpSpPr>
          <p:cNvPr id="1608" name="Google Shape;1608;p91"/>
          <p:cNvGrpSpPr/>
          <p:nvPr/>
        </p:nvGrpSpPr>
        <p:grpSpPr>
          <a:xfrm>
            <a:off x="1981200" y="3413125"/>
            <a:ext cx="5545581" cy="2481607"/>
            <a:chOff x="1981200" y="3413125"/>
            <a:chExt cx="5545581" cy="2481607"/>
          </a:xfrm>
        </p:grpSpPr>
        <p:grpSp>
          <p:nvGrpSpPr>
            <p:cNvPr id="1609" name="Google Shape;1609;p91"/>
            <p:cNvGrpSpPr/>
            <p:nvPr/>
          </p:nvGrpSpPr>
          <p:grpSpPr>
            <a:xfrm>
              <a:off x="1981200" y="3413125"/>
              <a:ext cx="4719638" cy="2003425"/>
              <a:chOff x="574" y="1200"/>
              <a:chExt cx="2973" cy="1262"/>
            </a:xfrm>
          </p:grpSpPr>
          <p:cxnSp>
            <p:nvCxnSpPr>
              <p:cNvPr id="1610" name="Google Shape;1610;p91"/>
              <p:cNvCxnSpPr/>
              <p:nvPr/>
            </p:nvCxnSpPr>
            <p:spPr>
              <a:xfrm>
                <a:off x="751" y="1742"/>
                <a:ext cx="0" cy="382"/>
              </a:xfrm>
              <a:prstGeom prst="straightConnector1">
                <a:avLst/>
              </a:prstGeom>
              <a:noFill/>
              <a:ln w="38100" cap="flat" cmpd="sng">
                <a:solidFill>
                  <a:schemeClr val="dk1"/>
                </a:solidFill>
                <a:prstDash val="solid"/>
                <a:miter lim="800000"/>
                <a:headEnd type="none" w="sm" len="sm"/>
                <a:tailEnd type="none" w="sm" len="sm"/>
              </a:ln>
            </p:spPr>
          </p:cxnSp>
          <p:cxnSp>
            <p:nvCxnSpPr>
              <p:cNvPr id="1611" name="Google Shape;1611;p91"/>
              <p:cNvCxnSpPr/>
              <p:nvPr/>
            </p:nvCxnSpPr>
            <p:spPr>
              <a:xfrm rot="10800000" flipH="1">
                <a:off x="751" y="1940"/>
                <a:ext cx="2667" cy="10"/>
              </a:xfrm>
              <a:prstGeom prst="straightConnector1">
                <a:avLst/>
              </a:prstGeom>
              <a:noFill/>
              <a:ln w="38100" cap="flat" cmpd="sng">
                <a:solidFill>
                  <a:schemeClr val="dk1"/>
                </a:solidFill>
                <a:prstDash val="solid"/>
                <a:miter lim="800000"/>
                <a:headEnd type="none" w="sm" len="sm"/>
                <a:tailEnd type="none" w="sm" len="sm"/>
              </a:ln>
            </p:spPr>
          </p:cxnSp>
          <p:sp>
            <p:nvSpPr>
              <p:cNvPr id="1612" name="Google Shape;1612;p91"/>
              <p:cNvSpPr/>
              <p:nvPr/>
            </p:nvSpPr>
            <p:spPr>
              <a:xfrm>
                <a:off x="630" y="1450"/>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1613" name="Google Shape;1613;p91"/>
              <p:cNvSpPr/>
              <p:nvPr/>
            </p:nvSpPr>
            <p:spPr>
              <a:xfrm>
                <a:off x="1271" y="2100"/>
                <a:ext cx="436" cy="2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614" name="Google Shape;1614;p91"/>
              <p:cNvCxnSpPr/>
              <p:nvPr/>
            </p:nvCxnSpPr>
            <p:spPr>
              <a:xfrm>
                <a:off x="1402" y="1738"/>
                <a:ext cx="0" cy="387"/>
              </a:xfrm>
              <a:prstGeom prst="straightConnector1">
                <a:avLst/>
              </a:prstGeom>
              <a:noFill/>
              <a:ln w="38100" cap="flat" cmpd="sng">
                <a:solidFill>
                  <a:schemeClr val="dk1"/>
                </a:solidFill>
                <a:prstDash val="solid"/>
                <a:miter lim="800000"/>
                <a:headEnd type="none" w="sm" len="sm"/>
                <a:tailEnd type="none" w="sm" len="sm"/>
              </a:ln>
            </p:spPr>
          </p:cxnSp>
          <p:sp>
            <p:nvSpPr>
              <p:cNvPr id="1615" name="Google Shape;1615;p91"/>
              <p:cNvSpPr/>
              <p:nvPr/>
            </p:nvSpPr>
            <p:spPr>
              <a:xfrm>
                <a:off x="1281" y="1440"/>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a:t>
                </a:r>
                <a:endParaRPr/>
              </a:p>
            </p:txBody>
          </p:sp>
          <p:cxnSp>
            <p:nvCxnSpPr>
              <p:cNvPr id="1616" name="Google Shape;1616;p91"/>
              <p:cNvCxnSpPr/>
              <p:nvPr/>
            </p:nvCxnSpPr>
            <p:spPr>
              <a:xfrm>
                <a:off x="2074" y="1738"/>
                <a:ext cx="0" cy="387"/>
              </a:xfrm>
              <a:prstGeom prst="straightConnector1">
                <a:avLst/>
              </a:prstGeom>
              <a:noFill/>
              <a:ln w="38100" cap="flat" cmpd="sng">
                <a:solidFill>
                  <a:schemeClr val="dk1"/>
                </a:solidFill>
                <a:prstDash val="solid"/>
                <a:miter lim="800000"/>
                <a:headEnd type="none" w="sm" len="sm"/>
                <a:tailEnd type="none" w="sm" len="sm"/>
              </a:ln>
            </p:spPr>
          </p:cxnSp>
          <p:sp>
            <p:nvSpPr>
              <p:cNvPr id="1617" name="Google Shape;1617;p91"/>
              <p:cNvSpPr/>
              <p:nvPr/>
            </p:nvSpPr>
            <p:spPr>
              <a:xfrm>
                <a:off x="574" y="2171"/>
                <a:ext cx="441"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500</a:t>
                </a:r>
                <a:endParaRPr/>
              </a:p>
            </p:txBody>
          </p:sp>
          <p:sp>
            <p:nvSpPr>
              <p:cNvPr id="1618" name="Google Shape;1618;p91"/>
              <p:cNvSpPr/>
              <p:nvPr/>
            </p:nvSpPr>
            <p:spPr>
              <a:xfrm>
                <a:off x="1958" y="1440"/>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1619" name="Google Shape;1619;p91"/>
              <p:cNvSpPr/>
              <p:nvPr/>
            </p:nvSpPr>
            <p:spPr>
              <a:xfrm>
                <a:off x="2759" y="2100"/>
                <a:ext cx="436" cy="2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620" name="Google Shape;1620;p91"/>
              <p:cNvCxnSpPr/>
              <p:nvPr/>
            </p:nvCxnSpPr>
            <p:spPr>
              <a:xfrm>
                <a:off x="2746" y="1738"/>
                <a:ext cx="0" cy="387"/>
              </a:xfrm>
              <a:prstGeom prst="straightConnector1">
                <a:avLst/>
              </a:prstGeom>
              <a:noFill/>
              <a:ln w="38100" cap="flat" cmpd="sng">
                <a:solidFill>
                  <a:schemeClr val="dk1"/>
                </a:solidFill>
                <a:prstDash val="solid"/>
                <a:miter lim="800000"/>
                <a:headEnd type="none" w="sm" len="sm"/>
                <a:tailEnd type="none" w="sm" len="sm"/>
              </a:ln>
            </p:spPr>
          </p:cxnSp>
          <p:sp>
            <p:nvSpPr>
              <p:cNvPr id="1621" name="Google Shape;1621;p91"/>
              <p:cNvSpPr/>
              <p:nvPr/>
            </p:nvSpPr>
            <p:spPr>
              <a:xfrm>
                <a:off x="2635" y="1440"/>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1622" name="Google Shape;1622;p91"/>
              <p:cNvSpPr/>
              <p:nvPr/>
            </p:nvSpPr>
            <p:spPr>
              <a:xfrm>
                <a:off x="944" y="1642"/>
                <a:ext cx="398"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5%</a:t>
                </a:r>
                <a:endParaRPr/>
              </a:p>
            </p:txBody>
          </p:sp>
          <p:sp>
            <p:nvSpPr>
              <p:cNvPr id="1623" name="Google Shape;1623;p91"/>
              <p:cNvSpPr/>
              <p:nvPr/>
            </p:nvSpPr>
            <p:spPr>
              <a:xfrm>
                <a:off x="3312" y="1440"/>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4</a:t>
                </a:r>
                <a:endParaRPr/>
              </a:p>
            </p:txBody>
          </p:sp>
          <p:cxnSp>
            <p:nvCxnSpPr>
              <p:cNvPr id="1624" name="Google Shape;1624;p91"/>
              <p:cNvCxnSpPr/>
              <p:nvPr/>
            </p:nvCxnSpPr>
            <p:spPr>
              <a:xfrm>
                <a:off x="3418" y="1741"/>
                <a:ext cx="0" cy="383"/>
              </a:xfrm>
              <a:prstGeom prst="straightConnector1">
                <a:avLst/>
              </a:prstGeom>
              <a:noFill/>
              <a:ln w="38100" cap="flat" cmpd="sng">
                <a:solidFill>
                  <a:schemeClr val="dk1"/>
                </a:solidFill>
                <a:prstDash val="solid"/>
                <a:miter lim="800000"/>
                <a:headEnd type="none" w="sm" len="sm"/>
                <a:tailEnd type="none" w="sm" len="sm"/>
              </a:ln>
            </p:spPr>
          </p:cxnSp>
          <p:sp>
            <p:nvSpPr>
              <p:cNvPr id="1625" name="Google Shape;1625;p91"/>
              <p:cNvSpPr/>
              <p:nvPr/>
            </p:nvSpPr>
            <p:spPr>
              <a:xfrm>
                <a:off x="1968" y="1200"/>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1626" name="Google Shape;1626;p91"/>
              <p:cNvSpPr/>
              <p:nvPr/>
            </p:nvSpPr>
            <p:spPr>
              <a:xfrm>
                <a:off x="3322" y="1200"/>
                <a:ext cx="225" cy="291"/>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2</a:t>
                </a:r>
                <a:endParaRPr/>
              </a:p>
            </p:txBody>
          </p:sp>
        </p:grpSp>
        <p:cxnSp>
          <p:nvCxnSpPr>
            <p:cNvPr id="1627" name="Google Shape;1627;p91"/>
            <p:cNvCxnSpPr/>
            <p:nvPr/>
          </p:nvCxnSpPr>
          <p:spPr>
            <a:xfrm>
              <a:off x="2246313" y="5410200"/>
              <a:ext cx="0" cy="298450"/>
            </a:xfrm>
            <a:prstGeom prst="straightConnector1">
              <a:avLst/>
            </a:prstGeom>
            <a:noFill/>
            <a:ln w="38100" cap="flat" cmpd="sng">
              <a:solidFill>
                <a:schemeClr val="dk1"/>
              </a:solidFill>
              <a:prstDash val="solid"/>
              <a:miter lim="800000"/>
              <a:headEnd type="none" w="sm" len="sm"/>
              <a:tailEnd type="none" w="sm" len="sm"/>
            </a:ln>
          </p:spPr>
        </p:cxnSp>
        <p:cxnSp>
          <p:nvCxnSpPr>
            <p:cNvPr id="1628" name="Google Shape;1628;p91"/>
            <p:cNvCxnSpPr/>
            <p:nvPr/>
          </p:nvCxnSpPr>
          <p:spPr>
            <a:xfrm>
              <a:off x="2243138" y="5715000"/>
              <a:ext cx="4233862" cy="0"/>
            </a:xfrm>
            <a:prstGeom prst="straightConnector1">
              <a:avLst/>
            </a:prstGeom>
            <a:noFill/>
            <a:ln w="38100" cap="flat" cmpd="sng">
              <a:solidFill>
                <a:schemeClr val="dk1"/>
              </a:solidFill>
              <a:prstDash val="solid"/>
              <a:miter lim="800000"/>
              <a:headEnd type="none" w="sm" len="sm"/>
              <a:tailEnd type="triangle" w="med" len="med"/>
            </a:ln>
          </p:spPr>
        </p:cxnSp>
        <p:sp>
          <p:nvSpPr>
            <p:cNvPr id="1629" name="Google Shape;1629;p91"/>
            <p:cNvSpPr/>
            <p:nvPr/>
          </p:nvSpPr>
          <p:spPr>
            <a:xfrm>
              <a:off x="6496050" y="5432425"/>
              <a:ext cx="1030731" cy="462307"/>
            </a:xfrm>
            <a:prstGeom prst="rect">
              <a:avLst/>
            </a:prstGeom>
            <a:noFill/>
            <a:ln>
              <a:noFill/>
            </a:ln>
          </p:spPr>
          <p:txBody>
            <a:bodyPr spcFirstLastPara="1" wrap="square" lIns="92075" tIns="46025" rIns="92075" bIns="46025"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FV =?</a:t>
              </a:r>
              <a:endParaRPr/>
            </a:p>
          </p:txBody>
        </p:sp>
      </p:grpSp>
    </p:spTree>
  </p:cSld>
  <p:clrMapOvr>
    <a:masterClrMapping/>
  </p:clrMapOvr>
  <p:transition>
    <p:fade thruBlk="1"/>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633"/>
        <p:cNvGrpSpPr/>
        <p:nvPr/>
      </p:nvGrpSpPr>
      <p:grpSpPr>
        <a:xfrm>
          <a:off x="0" y="0"/>
          <a:ext cx="0" cy="0"/>
          <a:chOff x="0" y="0"/>
          <a:chExt cx="0" cy="0"/>
        </a:xfrm>
      </p:grpSpPr>
      <p:sp>
        <p:nvSpPr>
          <p:cNvPr id="1634" name="Google Shape;1634;p92"/>
          <p:cNvSpPr txBox="1">
            <a:spLocks noGrp="1"/>
          </p:cNvSpPr>
          <p:nvPr>
            <p:ph type="body" idx="4294967295"/>
          </p:nvPr>
        </p:nvSpPr>
        <p:spPr>
          <a:xfrm>
            <a:off x="1524000" y="990600"/>
            <a:ext cx="7620000" cy="4572000"/>
          </a:xfrm>
          <a:prstGeom prst="rect">
            <a:avLst/>
          </a:prstGeom>
          <a:solidFill>
            <a:schemeClr val="lt1"/>
          </a:solidFill>
          <a:ln>
            <a:noFill/>
          </a:ln>
        </p:spPr>
        <p:txBody>
          <a:bodyPr spcFirstLastPara="1" wrap="square" lIns="91425" tIns="45700" rIns="91425" bIns="45700" anchor="t" anchorCtr="0">
            <a:noAutofit/>
          </a:bodyPr>
          <a:lstStyle/>
          <a:p>
            <a:pPr marL="91440" lvl="0" indent="-91440" algn="l" rtl="0">
              <a:lnSpc>
                <a:spcPct val="90000"/>
              </a:lnSpc>
              <a:spcBef>
                <a:spcPts val="0"/>
              </a:spcBef>
              <a:spcAft>
                <a:spcPts val="0"/>
              </a:spcAft>
              <a:buClr>
                <a:schemeClr val="dk1"/>
              </a:buClr>
              <a:buSzPts val="2400"/>
              <a:buFont typeface="Noto Sans Symbols"/>
              <a:buNone/>
            </a:pPr>
            <a:r>
              <a:rPr lang="en-US" sz="2400">
                <a:latin typeface="Arial"/>
                <a:ea typeface="Arial"/>
                <a:cs typeface="Arial"/>
                <a:sym typeface="Arial"/>
              </a:rPr>
              <a:t>	</a:t>
            </a:r>
            <a:endParaRPr/>
          </a:p>
          <a:p>
            <a:pPr marL="91440" lvl="0" indent="-91440" algn="l" rtl="0">
              <a:lnSpc>
                <a:spcPct val="90000"/>
              </a:lnSpc>
              <a:spcBef>
                <a:spcPts val="750"/>
              </a:spcBef>
              <a:spcAft>
                <a:spcPts val="0"/>
              </a:spcAft>
              <a:buClr>
                <a:schemeClr val="dk1"/>
              </a:buClr>
              <a:buSzPts val="2400"/>
              <a:buFont typeface="Twentieth Century"/>
              <a:buNone/>
            </a:pPr>
            <a:r>
              <a:rPr lang="en-US" sz="2400">
                <a:latin typeface="Arial"/>
                <a:ea typeface="Arial"/>
                <a:cs typeface="Arial"/>
                <a:sym typeface="Arial"/>
              </a:rPr>
              <a:t>Penyelesaian:</a:t>
            </a:r>
            <a:endParaRPr/>
          </a:p>
          <a:p>
            <a:pPr marL="91440" lvl="0" indent="-91440" algn="l" rtl="0">
              <a:lnSpc>
                <a:spcPct val="90000"/>
              </a:lnSpc>
              <a:spcBef>
                <a:spcPts val="750"/>
              </a:spcBef>
              <a:spcAft>
                <a:spcPts val="0"/>
              </a:spcAft>
              <a:buClr>
                <a:schemeClr val="dk1"/>
              </a:buClr>
              <a:buSzPts val="2400"/>
              <a:buFont typeface="Twentieth Century"/>
              <a:buNone/>
            </a:pPr>
            <a:endParaRPr sz="2400">
              <a:solidFill>
                <a:srgbClr val="FF0000"/>
              </a:solidFill>
              <a:latin typeface="Arial"/>
              <a:ea typeface="Arial"/>
              <a:cs typeface="Arial"/>
              <a:sym typeface="Arial"/>
            </a:endParaRPr>
          </a:p>
          <a:p>
            <a:pPr marL="91440" lvl="0" indent="-91440" algn="l" rtl="0">
              <a:lnSpc>
                <a:spcPct val="90000"/>
              </a:lnSpc>
              <a:spcBef>
                <a:spcPts val="750"/>
              </a:spcBef>
              <a:spcAft>
                <a:spcPts val="0"/>
              </a:spcAft>
              <a:buClr>
                <a:schemeClr val="dk1"/>
              </a:buClr>
              <a:buSzPts val="2400"/>
              <a:buFont typeface="Twentieth Century"/>
              <a:buNone/>
            </a:pPr>
            <a:r>
              <a:rPr lang="en-US" sz="2400">
                <a:latin typeface="Arial"/>
                <a:ea typeface="Arial"/>
                <a:cs typeface="Arial"/>
                <a:sym typeface="Arial"/>
              </a:rPr>
              <a:t>   PV 	= 	RM500  i=10% n=2  m = 2   FV = ?</a:t>
            </a:r>
            <a:endParaRPr/>
          </a:p>
          <a:p>
            <a:pPr marL="91440" lvl="0" indent="-91440" algn="l" rtl="0">
              <a:lnSpc>
                <a:spcPct val="90000"/>
              </a:lnSpc>
              <a:spcBef>
                <a:spcPts val="750"/>
              </a:spcBef>
              <a:spcAft>
                <a:spcPts val="0"/>
              </a:spcAft>
              <a:buClr>
                <a:schemeClr val="dk1"/>
              </a:buClr>
              <a:buSzPts val="2400"/>
              <a:buFont typeface="Twentieth Century"/>
              <a:buNone/>
            </a:pPr>
            <a:endParaRPr sz="2400">
              <a:latin typeface="Arial"/>
              <a:ea typeface="Arial"/>
              <a:cs typeface="Arial"/>
              <a:sym typeface="Arial"/>
            </a:endParaRPr>
          </a:p>
          <a:p>
            <a:pPr marL="91440" lvl="0" indent="-91440" algn="l" rtl="0">
              <a:lnSpc>
                <a:spcPct val="90000"/>
              </a:lnSpc>
              <a:spcBef>
                <a:spcPts val="750"/>
              </a:spcBef>
              <a:spcAft>
                <a:spcPts val="0"/>
              </a:spcAft>
              <a:buClr>
                <a:schemeClr val="dk1"/>
              </a:buClr>
              <a:buSzPts val="2400"/>
              <a:buFont typeface="Twentieth Century"/>
              <a:buNone/>
            </a:pPr>
            <a:r>
              <a:rPr lang="en-US" sz="2400">
                <a:latin typeface="Arial"/>
                <a:ea typeface="Arial"/>
                <a:cs typeface="Arial"/>
                <a:sym typeface="Arial"/>
              </a:rPr>
              <a:t>	  FV  	= 	PV(FVIF i/m, nxm)</a:t>
            </a:r>
            <a:endParaRPr/>
          </a:p>
          <a:p>
            <a:pPr marL="91440" lvl="0" indent="-91440" algn="l" rtl="0">
              <a:lnSpc>
                <a:spcPct val="90000"/>
              </a:lnSpc>
              <a:spcBef>
                <a:spcPts val="750"/>
              </a:spcBef>
              <a:spcAft>
                <a:spcPts val="0"/>
              </a:spcAft>
              <a:buClr>
                <a:schemeClr val="dk1"/>
              </a:buClr>
              <a:buSzPts val="2400"/>
              <a:buFont typeface="Twentieth Century"/>
              <a:buNone/>
            </a:pPr>
            <a:r>
              <a:rPr lang="en-US" sz="2400">
                <a:latin typeface="Arial"/>
                <a:ea typeface="Arial"/>
                <a:cs typeface="Arial"/>
                <a:sym typeface="Arial"/>
              </a:rPr>
              <a:t>	       	= 	PV (FVIF 10%/2, 2 x 2)</a:t>
            </a:r>
            <a:endParaRPr/>
          </a:p>
          <a:p>
            <a:pPr marL="91440" lvl="0" indent="-91440" algn="l" rtl="0">
              <a:lnSpc>
                <a:spcPct val="90000"/>
              </a:lnSpc>
              <a:spcBef>
                <a:spcPts val="750"/>
              </a:spcBef>
              <a:spcAft>
                <a:spcPts val="0"/>
              </a:spcAft>
              <a:buClr>
                <a:schemeClr val="dk1"/>
              </a:buClr>
              <a:buSzPts val="2400"/>
              <a:buFont typeface="Twentieth Century"/>
              <a:buNone/>
            </a:pPr>
            <a:r>
              <a:rPr lang="en-US" sz="2400">
                <a:latin typeface="Arial"/>
                <a:ea typeface="Arial"/>
                <a:cs typeface="Arial"/>
                <a:sym typeface="Arial"/>
              </a:rPr>
              <a:t>        	= 	500(FVIF 5%, 4)</a:t>
            </a:r>
            <a:endParaRPr/>
          </a:p>
          <a:p>
            <a:pPr marL="91440" lvl="0" indent="-91440" algn="l" rtl="0">
              <a:lnSpc>
                <a:spcPct val="90000"/>
              </a:lnSpc>
              <a:spcBef>
                <a:spcPts val="750"/>
              </a:spcBef>
              <a:spcAft>
                <a:spcPts val="0"/>
              </a:spcAft>
              <a:buClr>
                <a:schemeClr val="dk1"/>
              </a:buClr>
              <a:buSzPts val="2400"/>
              <a:buFont typeface="Twentieth Century"/>
              <a:buNone/>
            </a:pPr>
            <a:r>
              <a:rPr lang="en-US" sz="2400">
                <a:latin typeface="Arial"/>
                <a:ea typeface="Arial"/>
                <a:cs typeface="Arial"/>
                <a:sym typeface="Arial"/>
              </a:rPr>
              <a:t>	       	= 	500(1.2155)</a:t>
            </a:r>
            <a:endParaRPr/>
          </a:p>
          <a:p>
            <a:pPr marL="91440" lvl="0" indent="-91440" algn="l" rtl="0">
              <a:lnSpc>
                <a:spcPct val="90000"/>
              </a:lnSpc>
              <a:spcBef>
                <a:spcPts val="750"/>
              </a:spcBef>
              <a:spcAft>
                <a:spcPts val="0"/>
              </a:spcAft>
              <a:buClr>
                <a:schemeClr val="dk1"/>
              </a:buClr>
              <a:buSzPts val="2400"/>
              <a:buFont typeface="Twentieth Century"/>
              <a:buNone/>
            </a:pPr>
            <a:r>
              <a:rPr lang="en-US" sz="2400">
                <a:latin typeface="Arial"/>
                <a:ea typeface="Arial"/>
                <a:cs typeface="Arial"/>
                <a:sym typeface="Arial"/>
              </a:rPr>
              <a:t>	       	= 	</a:t>
            </a:r>
            <a:r>
              <a:rPr lang="en-US" sz="2400" b="1">
                <a:latin typeface="Arial"/>
                <a:ea typeface="Arial"/>
                <a:cs typeface="Arial"/>
                <a:sym typeface="Arial"/>
              </a:rPr>
              <a:t>RM 6077.75</a:t>
            </a:r>
            <a:endParaRPr/>
          </a:p>
          <a:p>
            <a:pPr marL="91440" lvl="0" indent="-91440" algn="l" rtl="0">
              <a:lnSpc>
                <a:spcPct val="90000"/>
              </a:lnSpc>
              <a:spcBef>
                <a:spcPts val="750"/>
              </a:spcBef>
              <a:spcAft>
                <a:spcPts val="0"/>
              </a:spcAft>
              <a:buClr>
                <a:schemeClr val="dk1"/>
              </a:buClr>
              <a:buSzPts val="2400"/>
              <a:buFont typeface="Twentieth Century"/>
              <a:buNone/>
            </a:pPr>
            <a:endParaRPr sz="2400">
              <a:latin typeface="Arial"/>
              <a:ea typeface="Arial"/>
              <a:cs typeface="Arial"/>
              <a:sym typeface="Arial"/>
            </a:endParaRPr>
          </a:p>
          <a:p>
            <a:pPr marL="91440" lvl="0" indent="-91440" algn="l" rtl="0">
              <a:lnSpc>
                <a:spcPct val="90000"/>
              </a:lnSpc>
              <a:spcBef>
                <a:spcPts val="750"/>
              </a:spcBef>
              <a:spcAft>
                <a:spcPts val="0"/>
              </a:spcAft>
              <a:buClr>
                <a:schemeClr val="dk1"/>
              </a:buClr>
              <a:buSzPts val="2400"/>
              <a:buFont typeface="Twentieth Century"/>
              <a:buNone/>
            </a:pPr>
            <a:r>
              <a:rPr lang="en-US" sz="2400">
                <a:latin typeface="Arial"/>
                <a:ea typeface="Arial"/>
                <a:cs typeface="Arial"/>
                <a:sym typeface="Arial"/>
              </a:rPr>
              <a:t>	</a:t>
            </a:r>
            <a:endParaRPr/>
          </a:p>
          <a:p>
            <a:pPr marL="91440" lvl="0" indent="-91440" algn="l" rtl="0">
              <a:lnSpc>
                <a:spcPct val="90000"/>
              </a:lnSpc>
              <a:spcBef>
                <a:spcPts val="750"/>
              </a:spcBef>
              <a:spcAft>
                <a:spcPts val="0"/>
              </a:spcAft>
              <a:buClr>
                <a:schemeClr val="dk1"/>
              </a:buClr>
              <a:buSzPts val="2400"/>
              <a:buFont typeface="Noto Sans Symbols"/>
              <a:buNone/>
            </a:pPr>
            <a:endParaRPr sz="2400">
              <a:latin typeface="Arial"/>
              <a:ea typeface="Arial"/>
              <a:cs typeface="Arial"/>
              <a:sym typeface="Arial"/>
            </a:endParaRPr>
          </a:p>
          <a:p>
            <a:pPr marL="91440" lvl="0" indent="-91440" algn="l" rtl="0">
              <a:lnSpc>
                <a:spcPct val="90000"/>
              </a:lnSpc>
              <a:spcBef>
                <a:spcPts val="750"/>
              </a:spcBef>
              <a:spcAft>
                <a:spcPts val="0"/>
              </a:spcAft>
              <a:buClr>
                <a:schemeClr val="dk1"/>
              </a:buClr>
              <a:buSzPts val="2400"/>
              <a:buFont typeface="Noto Sans Symbols"/>
              <a:buNone/>
            </a:pPr>
            <a:endParaRPr sz="2400">
              <a:latin typeface="Arial"/>
              <a:ea typeface="Arial"/>
              <a:cs typeface="Arial"/>
              <a:sym typeface="Arial"/>
            </a:endParaRPr>
          </a:p>
        </p:txBody>
      </p:sp>
    </p:spTree>
  </p:cSld>
  <p:clrMapOvr>
    <a:masterClrMapping/>
  </p:clrMapOvr>
  <p:transition>
    <p:fade thruBlk="1"/>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638"/>
        <p:cNvGrpSpPr/>
        <p:nvPr/>
      </p:nvGrpSpPr>
      <p:grpSpPr>
        <a:xfrm>
          <a:off x="0" y="0"/>
          <a:ext cx="0" cy="0"/>
          <a:chOff x="0" y="0"/>
          <a:chExt cx="0" cy="0"/>
        </a:xfrm>
      </p:grpSpPr>
      <p:sp>
        <p:nvSpPr>
          <p:cNvPr id="1639" name="Google Shape;1639;p93"/>
          <p:cNvSpPr/>
          <p:nvPr/>
        </p:nvSpPr>
        <p:spPr>
          <a:xfrm>
            <a:off x="1638299" y="3052050"/>
            <a:ext cx="7543800" cy="83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640" name="Google Shape;1640;p93"/>
          <p:cNvSpPr txBox="1">
            <a:spLocks noGrp="1"/>
          </p:cNvSpPr>
          <p:nvPr>
            <p:ph type="body" idx="4294967295"/>
          </p:nvPr>
        </p:nvSpPr>
        <p:spPr>
          <a:xfrm>
            <a:off x="761" y="3188473"/>
            <a:ext cx="8965580" cy="3193821"/>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chemeClr val="dk1"/>
              </a:buClr>
              <a:buSzPts val="2200"/>
              <a:buFont typeface="Twentieth Century"/>
              <a:buNone/>
            </a:pPr>
            <a:r>
              <a:rPr lang="en-US" sz="2200" b="1" dirty="0">
                <a:latin typeface="Arial"/>
                <a:ea typeface="Arial"/>
                <a:cs typeface="Arial"/>
                <a:sym typeface="Arial"/>
              </a:rPr>
              <a:t>           </a:t>
            </a:r>
            <a:r>
              <a:rPr lang="en-US" sz="2200" dirty="0">
                <a:latin typeface="Arial"/>
                <a:ea typeface="Arial"/>
                <a:cs typeface="Arial"/>
                <a:sym typeface="Arial"/>
              </a:rPr>
              <a:t>Di mana:   </a:t>
            </a:r>
            <a:endParaRPr dirty="0"/>
          </a:p>
          <a:p>
            <a:pPr marL="171450" lvl="0" indent="-171450" algn="l" rtl="0">
              <a:lnSpc>
                <a:spcPct val="90000"/>
              </a:lnSpc>
              <a:spcBef>
                <a:spcPts val="750"/>
              </a:spcBef>
              <a:spcAft>
                <a:spcPts val="0"/>
              </a:spcAft>
              <a:buClr>
                <a:schemeClr val="dk1"/>
              </a:buClr>
              <a:buSzPts val="2200"/>
              <a:buFont typeface="Twentieth Century"/>
              <a:buNone/>
            </a:pPr>
            <a:r>
              <a:rPr lang="en-US" sz="2200" dirty="0">
                <a:latin typeface="Arial"/>
                <a:ea typeface="Arial"/>
                <a:cs typeface="Arial"/>
                <a:sym typeface="Arial"/>
              </a:rPr>
              <a:t>		 PV  =  </a:t>
            </a:r>
            <a:r>
              <a:rPr lang="en-US" sz="2200" dirty="0" err="1">
                <a:latin typeface="Arial"/>
                <a:ea typeface="Arial"/>
                <a:cs typeface="Arial"/>
                <a:sym typeface="Arial"/>
              </a:rPr>
              <a:t>Nilai</a:t>
            </a:r>
            <a:r>
              <a:rPr lang="en-US" sz="2200" dirty="0">
                <a:latin typeface="Arial"/>
                <a:ea typeface="Arial"/>
                <a:cs typeface="Arial"/>
                <a:sym typeface="Arial"/>
              </a:rPr>
              <a:t> </a:t>
            </a:r>
            <a:r>
              <a:rPr lang="en-US" sz="2200" dirty="0" err="1">
                <a:latin typeface="Arial"/>
                <a:ea typeface="Arial"/>
                <a:cs typeface="Arial"/>
                <a:sym typeface="Arial"/>
              </a:rPr>
              <a:t>kini</a:t>
            </a:r>
            <a:endParaRPr sz="2200" dirty="0">
              <a:latin typeface="Arial"/>
              <a:ea typeface="Arial"/>
              <a:cs typeface="Arial"/>
              <a:sym typeface="Arial"/>
            </a:endParaRPr>
          </a:p>
          <a:p>
            <a:pPr marL="91440" lvl="0" indent="-91440" algn="l" rtl="0">
              <a:lnSpc>
                <a:spcPct val="90000"/>
              </a:lnSpc>
              <a:spcBef>
                <a:spcPts val="750"/>
              </a:spcBef>
              <a:spcAft>
                <a:spcPts val="0"/>
              </a:spcAft>
              <a:buClr>
                <a:schemeClr val="dk1"/>
              </a:buClr>
              <a:buSzPts val="2200"/>
              <a:buFont typeface="Noto Sans Symbols"/>
              <a:buNone/>
            </a:pPr>
            <a:r>
              <a:rPr lang="en-US" sz="2200" dirty="0">
                <a:latin typeface="Arial"/>
                <a:ea typeface="Arial"/>
                <a:cs typeface="Arial"/>
                <a:sym typeface="Arial"/>
              </a:rPr>
              <a:t>             FV  = </a:t>
            </a:r>
            <a:r>
              <a:rPr lang="en-US" sz="2200" dirty="0" err="1">
                <a:latin typeface="Arial"/>
                <a:ea typeface="Arial"/>
                <a:cs typeface="Arial"/>
                <a:sym typeface="Arial"/>
              </a:rPr>
              <a:t>Nilai</a:t>
            </a:r>
            <a:r>
              <a:rPr lang="en-US" sz="2200" dirty="0">
                <a:latin typeface="Arial"/>
                <a:ea typeface="Arial"/>
                <a:cs typeface="Arial"/>
                <a:sym typeface="Arial"/>
              </a:rPr>
              <a:t> </a:t>
            </a:r>
            <a:r>
              <a:rPr lang="en-US" sz="2200" dirty="0" err="1">
                <a:latin typeface="Arial"/>
                <a:ea typeface="Arial"/>
                <a:cs typeface="Arial"/>
                <a:sym typeface="Arial"/>
              </a:rPr>
              <a:t>depan</a:t>
            </a:r>
            <a:endParaRPr sz="2200" dirty="0">
              <a:latin typeface="Arial"/>
              <a:ea typeface="Arial"/>
              <a:cs typeface="Arial"/>
              <a:sym typeface="Arial"/>
            </a:endParaRPr>
          </a:p>
          <a:p>
            <a:pPr marL="91440" lvl="0" indent="-91440" algn="l" rtl="0">
              <a:lnSpc>
                <a:spcPct val="90000"/>
              </a:lnSpc>
              <a:spcBef>
                <a:spcPts val="750"/>
              </a:spcBef>
              <a:spcAft>
                <a:spcPts val="0"/>
              </a:spcAft>
              <a:buClr>
                <a:schemeClr val="dk1"/>
              </a:buClr>
              <a:buSzPts val="2200"/>
              <a:buFont typeface="Noto Sans Symbols"/>
              <a:buNone/>
            </a:pPr>
            <a:r>
              <a:rPr lang="en-US" sz="2200" dirty="0">
                <a:latin typeface="Arial"/>
                <a:ea typeface="Arial"/>
                <a:cs typeface="Arial"/>
                <a:sym typeface="Arial"/>
              </a:rPr>
              <a:t>             </a:t>
            </a:r>
            <a:r>
              <a:rPr lang="en-US" sz="2200" dirty="0" err="1">
                <a:latin typeface="Arial"/>
                <a:ea typeface="Arial"/>
                <a:cs typeface="Arial"/>
                <a:sym typeface="Arial"/>
              </a:rPr>
              <a:t>i</a:t>
            </a:r>
            <a:r>
              <a:rPr lang="en-US" sz="2200" dirty="0">
                <a:latin typeface="Arial"/>
                <a:ea typeface="Arial"/>
                <a:cs typeface="Arial"/>
                <a:sym typeface="Arial"/>
              </a:rPr>
              <a:t>      = Kadar </a:t>
            </a:r>
            <a:r>
              <a:rPr lang="en-US" sz="2200" dirty="0" err="1">
                <a:latin typeface="Arial"/>
                <a:ea typeface="Arial"/>
                <a:cs typeface="Arial"/>
                <a:sym typeface="Arial"/>
              </a:rPr>
              <a:t>faedah</a:t>
            </a:r>
            <a:r>
              <a:rPr lang="en-US" sz="2200" dirty="0">
                <a:latin typeface="Arial"/>
                <a:ea typeface="Arial"/>
                <a:cs typeface="Arial"/>
                <a:sym typeface="Arial"/>
              </a:rPr>
              <a:t> </a:t>
            </a:r>
            <a:endParaRPr dirty="0"/>
          </a:p>
          <a:p>
            <a:pPr marL="91440" lvl="0" indent="-91440" algn="l" rtl="0">
              <a:lnSpc>
                <a:spcPct val="90000"/>
              </a:lnSpc>
              <a:spcBef>
                <a:spcPts val="750"/>
              </a:spcBef>
              <a:spcAft>
                <a:spcPts val="0"/>
              </a:spcAft>
              <a:buClr>
                <a:schemeClr val="dk1"/>
              </a:buClr>
              <a:buSzPts val="2200"/>
              <a:buFont typeface="Noto Sans Symbols"/>
              <a:buNone/>
            </a:pPr>
            <a:r>
              <a:rPr lang="en-US" sz="2200" dirty="0">
                <a:latin typeface="Arial"/>
                <a:ea typeface="Arial"/>
                <a:cs typeface="Arial"/>
                <a:sym typeface="Arial"/>
              </a:rPr>
              <a:t>             m    = </a:t>
            </a:r>
            <a:r>
              <a:rPr lang="en-US" sz="2200" dirty="0" err="1">
                <a:latin typeface="Arial"/>
                <a:ea typeface="Arial"/>
                <a:cs typeface="Arial"/>
                <a:sym typeface="Arial"/>
              </a:rPr>
              <a:t>Kekerapan</a:t>
            </a:r>
            <a:r>
              <a:rPr lang="en-US" sz="2200" dirty="0">
                <a:latin typeface="Arial"/>
                <a:ea typeface="Arial"/>
                <a:cs typeface="Arial"/>
                <a:sym typeface="Arial"/>
              </a:rPr>
              <a:t> </a:t>
            </a:r>
            <a:r>
              <a:rPr lang="en-US" sz="2200" dirty="0" err="1">
                <a:latin typeface="Arial"/>
                <a:ea typeface="Arial"/>
                <a:cs typeface="Arial"/>
                <a:sym typeface="Arial"/>
              </a:rPr>
              <a:t>pengkompaunan</a:t>
            </a:r>
            <a:r>
              <a:rPr lang="en-US" sz="2200" dirty="0">
                <a:latin typeface="Arial"/>
                <a:ea typeface="Arial"/>
                <a:cs typeface="Arial"/>
                <a:sym typeface="Arial"/>
              </a:rPr>
              <a:t> </a:t>
            </a:r>
            <a:r>
              <a:rPr lang="en-US" sz="2200" dirty="0" err="1">
                <a:latin typeface="Arial"/>
                <a:ea typeface="Arial"/>
                <a:cs typeface="Arial"/>
                <a:sym typeface="Arial"/>
              </a:rPr>
              <a:t>atau</a:t>
            </a:r>
            <a:r>
              <a:rPr lang="en-US" sz="2200" dirty="0">
                <a:latin typeface="Arial"/>
                <a:ea typeface="Arial"/>
                <a:cs typeface="Arial"/>
                <a:sym typeface="Arial"/>
              </a:rPr>
              <a:t>  </a:t>
            </a:r>
            <a:r>
              <a:rPr lang="en-US" sz="2200" dirty="0" err="1">
                <a:latin typeface="Arial"/>
                <a:ea typeface="Arial"/>
                <a:cs typeface="Arial"/>
                <a:sym typeface="Arial"/>
              </a:rPr>
              <a:t>pendiskaunan</a:t>
            </a:r>
            <a:r>
              <a:rPr lang="en-US" sz="2200" dirty="0">
                <a:latin typeface="Arial"/>
                <a:ea typeface="Arial"/>
                <a:cs typeface="Arial"/>
                <a:sym typeface="Arial"/>
              </a:rPr>
              <a:t> </a:t>
            </a:r>
            <a:r>
              <a:rPr lang="en-US" sz="2200" dirty="0" err="1">
                <a:latin typeface="Arial"/>
                <a:ea typeface="Arial"/>
                <a:cs typeface="Arial"/>
                <a:sym typeface="Arial"/>
              </a:rPr>
              <a:t>dalam</a:t>
            </a:r>
            <a:endParaRPr lang="en-US" sz="2200" dirty="0">
              <a:latin typeface="Arial"/>
              <a:ea typeface="Arial"/>
              <a:cs typeface="Arial"/>
              <a:sym typeface="Arial"/>
            </a:endParaRPr>
          </a:p>
          <a:p>
            <a:pPr marL="91440" lvl="0" indent="-91440" algn="l" rtl="0">
              <a:lnSpc>
                <a:spcPct val="90000"/>
              </a:lnSpc>
              <a:spcBef>
                <a:spcPts val="750"/>
              </a:spcBef>
              <a:spcAft>
                <a:spcPts val="0"/>
              </a:spcAft>
              <a:buClr>
                <a:schemeClr val="dk1"/>
              </a:buClr>
              <a:buSzPts val="2200"/>
              <a:buFont typeface="Noto Sans Symbols"/>
              <a:buNone/>
            </a:pPr>
            <a:r>
              <a:rPr lang="en-US" sz="2200" dirty="0">
                <a:latin typeface="Arial"/>
                <a:ea typeface="Arial"/>
                <a:cs typeface="Arial"/>
                <a:sym typeface="Arial"/>
              </a:rPr>
              <a:t>                      </a:t>
            </a:r>
            <a:r>
              <a:rPr lang="en-US" sz="2200" dirty="0" err="1">
                <a:latin typeface="Arial"/>
                <a:ea typeface="Arial"/>
                <a:cs typeface="Arial"/>
                <a:sym typeface="Arial"/>
              </a:rPr>
              <a:t>setahun</a:t>
            </a:r>
            <a:r>
              <a:rPr lang="en-US" sz="2200" dirty="0">
                <a:latin typeface="Arial"/>
                <a:ea typeface="Arial"/>
                <a:cs typeface="Arial"/>
                <a:sym typeface="Arial"/>
              </a:rPr>
              <a:t> </a:t>
            </a:r>
            <a:endParaRPr dirty="0"/>
          </a:p>
          <a:p>
            <a:pPr marL="91440" lvl="0" indent="-91440" algn="l" rtl="0">
              <a:lnSpc>
                <a:spcPct val="90000"/>
              </a:lnSpc>
              <a:spcBef>
                <a:spcPts val="750"/>
              </a:spcBef>
              <a:spcAft>
                <a:spcPts val="0"/>
              </a:spcAft>
              <a:buClr>
                <a:schemeClr val="dk1"/>
              </a:buClr>
              <a:buSzPts val="2200"/>
              <a:buFont typeface="Noto Sans Symbols"/>
              <a:buNone/>
            </a:pPr>
            <a:r>
              <a:rPr lang="en-US" sz="2200" dirty="0">
                <a:latin typeface="Arial"/>
                <a:ea typeface="Arial"/>
                <a:cs typeface="Arial"/>
                <a:sym typeface="Arial"/>
              </a:rPr>
              <a:t>              n   = </a:t>
            </a:r>
            <a:r>
              <a:rPr lang="en-US" sz="2200" dirty="0" err="1">
                <a:latin typeface="Arial"/>
                <a:ea typeface="Arial"/>
                <a:cs typeface="Arial"/>
                <a:sym typeface="Arial"/>
              </a:rPr>
              <a:t>Bilangan</a:t>
            </a:r>
            <a:r>
              <a:rPr lang="en-US" sz="2200" dirty="0">
                <a:latin typeface="Arial"/>
                <a:ea typeface="Arial"/>
                <a:cs typeface="Arial"/>
                <a:sym typeface="Arial"/>
              </a:rPr>
              <a:t> </a:t>
            </a:r>
            <a:r>
              <a:rPr lang="en-US" sz="2200" dirty="0" err="1">
                <a:latin typeface="Arial"/>
                <a:ea typeface="Arial"/>
                <a:cs typeface="Arial"/>
                <a:sym typeface="Arial"/>
              </a:rPr>
              <a:t>tempoh</a:t>
            </a:r>
            <a:endParaRPr sz="2200" dirty="0">
              <a:latin typeface="Arial"/>
              <a:ea typeface="Arial"/>
              <a:cs typeface="Arial"/>
              <a:sym typeface="Arial"/>
            </a:endParaRPr>
          </a:p>
        </p:txBody>
      </p:sp>
      <p:sp>
        <p:nvSpPr>
          <p:cNvPr id="1641" name="Google Shape;1641;p93"/>
          <p:cNvSpPr/>
          <p:nvPr/>
        </p:nvSpPr>
        <p:spPr>
          <a:xfrm>
            <a:off x="685800" y="549275"/>
            <a:ext cx="78486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600" b="1">
                <a:solidFill>
                  <a:schemeClr val="dk1"/>
                </a:solidFill>
                <a:latin typeface="Arial"/>
                <a:ea typeface="Arial"/>
                <a:cs typeface="Arial"/>
                <a:sym typeface="Arial"/>
              </a:rPr>
              <a:t>NILAI KINI (Pengkompaunan Melebihi Sekali)</a:t>
            </a:r>
            <a:endParaRPr/>
          </a:p>
        </p:txBody>
      </p:sp>
      <p:sp>
        <p:nvSpPr>
          <p:cNvPr id="1642" name="Google Shape;1642;p93"/>
          <p:cNvSpPr txBox="1"/>
          <p:nvPr/>
        </p:nvSpPr>
        <p:spPr>
          <a:xfrm>
            <a:off x="990600" y="1387475"/>
            <a:ext cx="465864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Arial"/>
                <a:ea typeface="Arial"/>
                <a:cs typeface="Arial"/>
                <a:sym typeface="Arial"/>
              </a:rPr>
              <a:t>Rumus penyelesaian manual ialah: </a:t>
            </a:r>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p:txBody>
      </p:sp>
      <p:grpSp>
        <p:nvGrpSpPr>
          <p:cNvPr id="1643" name="Google Shape;1643;p93"/>
          <p:cNvGrpSpPr/>
          <p:nvPr/>
        </p:nvGrpSpPr>
        <p:grpSpPr>
          <a:xfrm>
            <a:off x="803276" y="1918346"/>
            <a:ext cx="7731124" cy="1076770"/>
            <a:chOff x="990600" y="2352230"/>
            <a:chExt cx="7731124" cy="1076770"/>
          </a:xfrm>
        </p:grpSpPr>
        <p:sp>
          <p:nvSpPr>
            <p:cNvPr id="1644" name="Google Shape;1644;p93"/>
            <p:cNvSpPr txBox="1"/>
            <p:nvPr/>
          </p:nvSpPr>
          <p:spPr>
            <a:xfrm>
              <a:off x="990600" y="2352230"/>
              <a:ext cx="3124200" cy="107677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645" name="Google Shape;1645;p93"/>
            <p:cNvSpPr txBox="1"/>
            <p:nvPr/>
          </p:nvSpPr>
          <p:spPr>
            <a:xfrm>
              <a:off x="4191000" y="2586335"/>
              <a:ext cx="95975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ATAU</a:t>
              </a:r>
              <a:endParaRPr/>
            </a:p>
          </p:txBody>
        </p:sp>
        <p:sp>
          <p:nvSpPr>
            <p:cNvPr id="1646" name="Google Shape;1646;p93"/>
            <p:cNvSpPr txBox="1"/>
            <p:nvPr/>
          </p:nvSpPr>
          <p:spPr>
            <a:xfrm>
              <a:off x="5410199" y="2621459"/>
              <a:ext cx="3311525" cy="578941"/>
            </a:xfrm>
            <a:prstGeom prst="rect">
              <a:avLst/>
            </a:prstGeom>
            <a:blipFill rotWithShape="1">
              <a:blip r:embed="rId4">
                <a:alphaModFix/>
              </a:blip>
              <a:stretch>
                <a:fillRect l="-3124" t="-14736" b="-315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Tree>
  </p:cSld>
  <p:clrMapOvr>
    <a:masterClrMapping/>
  </p:clrMapOvr>
  <p:transition>
    <p:fade thruBlk="1"/>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650"/>
        <p:cNvGrpSpPr/>
        <p:nvPr/>
      </p:nvGrpSpPr>
      <p:grpSpPr>
        <a:xfrm>
          <a:off x="0" y="0"/>
          <a:ext cx="0" cy="0"/>
          <a:chOff x="0" y="0"/>
          <a:chExt cx="0" cy="0"/>
        </a:xfrm>
      </p:grpSpPr>
      <p:sp>
        <p:nvSpPr>
          <p:cNvPr id="1651" name="Google Shape;1651;p94"/>
          <p:cNvSpPr txBox="1">
            <a:spLocks noGrp="1"/>
          </p:cNvSpPr>
          <p:nvPr>
            <p:ph type="title" idx="4294967295"/>
          </p:nvPr>
        </p:nvSpPr>
        <p:spPr>
          <a:xfrm>
            <a:off x="144965" y="228600"/>
            <a:ext cx="1279525" cy="361950"/>
          </a:xfrm>
          <a:prstGeom prst="rect">
            <a:avLst/>
          </a:prstGeom>
          <a:noFill/>
          <a:ln>
            <a:noFill/>
          </a:ln>
        </p:spPr>
        <p:txBody>
          <a:bodyPr spcFirstLastPara="1" wrap="square" lIns="91425" tIns="45700" rIns="91425" bIns="45700" anchor="ctr" anchorCtr="0">
            <a:noAutofit/>
          </a:bodyPr>
          <a:lstStyle/>
          <a:p>
            <a:pPr marL="0" lvl="0" indent="0" algn="just" rtl="0">
              <a:lnSpc>
                <a:spcPct val="90000"/>
              </a:lnSpc>
              <a:spcBef>
                <a:spcPts val="0"/>
              </a:spcBef>
              <a:spcAft>
                <a:spcPts val="0"/>
              </a:spcAft>
              <a:buClr>
                <a:schemeClr val="dk1"/>
              </a:buClr>
              <a:buSzPts val="2400"/>
              <a:buFont typeface="Arial"/>
              <a:buNone/>
            </a:pPr>
            <a:r>
              <a:rPr lang="en-US" sz="2400" b="1">
                <a:latin typeface="Arial"/>
                <a:ea typeface="Arial"/>
                <a:cs typeface="Arial"/>
                <a:sym typeface="Arial"/>
              </a:rPr>
              <a:t>Contoh </a:t>
            </a:r>
            <a:endParaRPr/>
          </a:p>
        </p:txBody>
      </p:sp>
      <p:sp>
        <p:nvSpPr>
          <p:cNvPr id="1652" name="Google Shape;1652;p94"/>
          <p:cNvSpPr txBox="1">
            <a:spLocks noGrp="1"/>
          </p:cNvSpPr>
          <p:nvPr>
            <p:ph type="body" idx="4294967295"/>
          </p:nvPr>
        </p:nvSpPr>
        <p:spPr>
          <a:xfrm>
            <a:off x="267629" y="717396"/>
            <a:ext cx="8077200" cy="54102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182880" lvl="0" indent="-91440" algn="just" rtl="0">
              <a:lnSpc>
                <a:spcPct val="12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Berapakah nilai kini bagi RM 3500 yang ingin diterima oleh Wardah pada 4 tahun akan datang jika ditawarkan faedah 6% yang didiskaunkan dua kali setahun?</a:t>
            </a:r>
            <a:r>
              <a:rPr lang="en-US" sz="2400">
                <a:solidFill>
                  <a:srgbClr val="FF0000"/>
                </a:solidFill>
                <a:latin typeface="Arial"/>
                <a:ea typeface="Arial"/>
                <a:cs typeface="Arial"/>
                <a:sym typeface="Arial"/>
              </a:rPr>
              <a:t>   </a:t>
            </a:r>
            <a:endParaRPr/>
          </a:p>
          <a:p>
            <a:pPr marL="91440" lvl="0" indent="-91440" algn="just" rtl="0">
              <a:lnSpc>
                <a:spcPct val="90000"/>
              </a:lnSpc>
              <a:spcBef>
                <a:spcPts val="1350"/>
              </a:spcBef>
              <a:spcAft>
                <a:spcPts val="0"/>
              </a:spcAft>
              <a:buClr>
                <a:srgbClr val="FF0000"/>
              </a:buClr>
              <a:buSzPts val="2400"/>
              <a:buFont typeface="Noto Sans Symbols"/>
              <a:buNone/>
            </a:pPr>
            <a:r>
              <a:rPr lang="en-US" sz="2400">
                <a:solidFill>
                  <a:srgbClr val="FF0000"/>
                </a:solidFill>
                <a:latin typeface="Arial"/>
                <a:ea typeface="Arial"/>
                <a:cs typeface="Arial"/>
                <a:sym typeface="Arial"/>
              </a:rPr>
              <a:t>   </a:t>
            </a:r>
            <a:endParaRPr/>
          </a:p>
          <a:p>
            <a:pPr marL="91440" lvl="0" indent="-91440" algn="just" rtl="0">
              <a:lnSpc>
                <a:spcPct val="90000"/>
              </a:lnSpc>
              <a:spcBef>
                <a:spcPts val="75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Penyelesaian:</a:t>
            </a:r>
            <a:endParaRPr/>
          </a:p>
          <a:p>
            <a:pPr marL="91440" lvl="0" indent="-91440" algn="just" rtl="0">
              <a:lnSpc>
                <a:spcPct val="100000"/>
              </a:lnSpc>
              <a:spcBef>
                <a:spcPts val="1200"/>
              </a:spcBef>
              <a:spcAft>
                <a:spcPts val="0"/>
              </a:spcAft>
              <a:buClr>
                <a:schemeClr val="dk1"/>
              </a:buClr>
              <a:buSzPts val="2400"/>
              <a:buFont typeface="Twentieth Century"/>
              <a:buNone/>
            </a:pPr>
            <a:r>
              <a:rPr lang="en-US" sz="2400">
                <a:solidFill>
                  <a:schemeClr val="dk1"/>
                </a:solidFill>
                <a:latin typeface="Arial"/>
                <a:ea typeface="Arial"/>
                <a:cs typeface="Arial"/>
                <a:sym typeface="Arial"/>
              </a:rPr>
              <a:t> FV = RM3500  i=6% n=4  m = 2   PV = ?</a:t>
            </a:r>
            <a:endParaRPr/>
          </a:p>
          <a:p>
            <a:pPr marL="91440" lvl="0" indent="-91440" algn="just" rtl="0">
              <a:lnSpc>
                <a:spcPct val="90000"/>
              </a:lnSpc>
              <a:spcBef>
                <a:spcPts val="1800"/>
              </a:spcBef>
              <a:spcAft>
                <a:spcPts val="0"/>
              </a:spcAft>
              <a:buClr>
                <a:schemeClr val="dk1"/>
              </a:buClr>
              <a:buSzPts val="2400"/>
              <a:buFont typeface="Twentieth Century"/>
              <a:buNone/>
            </a:pPr>
            <a:r>
              <a:rPr lang="en-US" sz="2400">
                <a:solidFill>
                  <a:schemeClr val="dk1"/>
                </a:solidFill>
                <a:latin typeface="Arial"/>
                <a:ea typeface="Arial"/>
                <a:cs typeface="Arial"/>
                <a:sym typeface="Arial"/>
              </a:rPr>
              <a:t> PV = FV(PVIF i/m, nxm)</a:t>
            </a:r>
            <a:endParaRPr/>
          </a:p>
          <a:p>
            <a:pPr marL="91440" lvl="0" indent="-91440" algn="just" rtl="0">
              <a:lnSpc>
                <a:spcPct val="90000"/>
              </a:lnSpc>
              <a:spcBef>
                <a:spcPts val="750"/>
              </a:spcBef>
              <a:spcAft>
                <a:spcPts val="0"/>
              </a:spcAft>
              <a:buClr>
                <a:schemeClr val="dk1"/>
              </a:buClr>
              <a:buSzPts val="2400"/>
              <a:buFont typeface="Twentieth Century"/>
              <a:buNone/>
            </a:pPr>
            <a:r>
              <a:rPr lang="en-US" sz="2400">
                <a:solidFill>
                  <a:schemeClr val="dk1"/>
                </a:solidFill>
                <a:latin typeface="Arial"/>
                <a:ea typeface="Arial"/>
                <a:cs typeface="Arial"/>
                <a:sym typeface="Arial"/>
              </a:rPr>
              <a:t>	      = PV (PVIF 6%/2, 4 x 2)</a:t>
            </a:r>
            <a:endParaRPr/>
          </a:p>
          <a:p>
            <a:pPr marL="91440" lvl="0" indent="-91440" algn="just" rtl="0">
              <a:lnSpc>
                <a:spcPct val="90000"/>
              </a:lnSpc>
              <a:spcBef>
                <a:spcPts val="750"/>
              </a:spcBef>
              <a:spcAft>
                <a:spcPts val="0"/>
              </a:spcAft>
              <a:buClr>
                <a:schemeClr val="dk1"/>
              </a:buClr>
              <a:buSzPts val="2400"/>
              <a:buFont typeface="Twentieth Century"/>
              <a:buNone/>
            </a:pPr>
            <a:r>
              <a:rPr lang="en-US" sz="2400">
                <a:solidFill>
                  <a:schemeClr val="dk1"/>
                </a:solidFill>
                <a:latin typeface="Arial"/>
                <a:ea typeface="Arial"/>
                <a:cs typeface="Arial"/>
                <a:sym typeface="Arial"/>
              </a:rPr>
              <a:t>       = 3500(PVIF 3%, 8)</a:t>
            </a:r>
            <a:endParaRPr/>
          </a:p>
          <a:p>
            <a:pPr marL="91440" lvl="0" indent="-91440" algn="just" rtl="0">
              <a:lnSpc>
                <a:spcPct val="90000"/>
              </a:lnSpc>
              <a:spcBef>
                <a:spcPts val="750"/>
              </a:spcBef>
              <a:spcAft>
                <a:spcPts val="0"/>
              </a:spcAft>
              <a:buClr>
                <a:schemeClr val="dk1"/>
              </a:buClr>
              <a:buSzPts val="2400"/>
              <a:buFont typeface="Twentieth Century"/>
              <a:buNone/>
            </a:pPr>
            <a:r>
              <a:rPr lang="en-US" sz="2400">
                <a:solidFill>
                  <a:schemeClr val="dk1"/>
                </a:solidFill>
                <a:latin typeface="Arial"/>
                <a:ea typeface="Arial"/>
                <a:cs typeface="Arial"/>
                <a:sym typeface="Arial"/>
              </a:rPr>
              <a:t>	      = 3500(0.7894)</a:t>
            </a:r>
            <a:endParaRPr/>
          </a:p>
          <a:p>
            <a:pPr marL="91440" lvl="0" indent="-91440" algn="just" rtl="0">
              <a:lnSpc>
                <a:spcPct val="90000"/>
              </a:lnSpc>
              <a:spcBef>
                <a:spcPts val="750"/>
              </a:spcBef>
              <a:spcAft>
                <a:spcPts val="0"/>
              </a:spcAft>
              <a:buClr>
                <a:schemeClr val="dk1"/>
              </a:buClr>
              <a:buSzPts val="2400"/>
              <a:buFont typeface="Twentieth Century"/>
              <a:buNone/>
            </a:pPr>
            <a:r>
              <a:rPr lang="en-US" sz="2400">
                <a:solidFill>
                  <a:schemeClr val="dk1"/>
                </a:solidFill>
                <a:latin typeface="Arial"/>
                <a:ea typeface="Arial"/>
                <a:cs typeface="Arial"/>
                <a:sym typeface="Arial"/>
              </a:rPr>
              <a:t>	      = </a:t>
            </a:r>
            <a:r>
              <a:rPr lang="en-US" sz="2400" b="1">
                <a:solidFill>
                  <a:schemeClr val="dk1"/>
                </a:solidFill>
                <a:latin typeface="Arial"/>
                <a:ea typeface="Arial"/>
                <a:cs typeface="Arial"/>
                <a:sym typeface="Arial"/>
              </a:rPr>
              <a:t>RM 2,762.90</a:t>
            </a:r>
            <a:endParaRPr/>
          </a:p>
          <a:p>
            <a:pPr marL="91440" lvl="0" indent="-91440" algn="just" rtl="0">
              <a:lnSpc>
                <a:spcPct val="90000"/>
              </a:lnSpc>
              <a:spcBef>
                <a:spcPts val="750"/>
              </a:spcBef>
              <a:spcAft>
                <a:spcPts val="0"/>
              </a:spcAft>
              <a:buClr>
                <a:schemeClr val="dk1"/>
              </a:buClr>
              <a:buSzPts val="2400"/>
              <a:buFont typeface="Noto Sans Symbols"/>
              <a:buNone/>
            </a:pPr>
            <a:endParaRPr sz="2400">
              <a:latin typeface="Arial"/>
              <a:ea typeface="Arial"/>
              <a:cs typeface="Arial"/>
              <a:sym typeface="Arial"/>
            </a:endParaRPr>
          </a:p>
        </p:txBody>
      </p:sp>
    </p:spTree>
  </p:cSld>
  <p:clrMapOvr>
    <a:masterClrMapping/>
  </p:clrMapOvr>
  <p:transition>
    <p:fade thruBlk="1"/>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656"/>
        <p:cNvGrpSpPr/>
        <p:nvPr/>
      </p:nvGrpSpPr>
      <p:grpSpPr>
        <a:xfrm>
          <a:off x="0" y="0"/>
          <a:ext cx="0" cy="0"/>
          <a:chOff x="0" y="0"/>
          <a:chExt cx="0" cy="0"/>
        </a:xfrm>
      </p:grpSpPr>
      <p:sp>
        <p:nvSpPr>
          <p:cNvPr id="1657" name="Google Shape;1657;p95"/>
          <p:cNvSpPr/>
          <p:nvPr/>
        </p:nvSpPr>
        <p:spPr>
          <a:xfrm>
            <a:off x="762000" y="488949"/>
            <a:ext cx="7391400" cy="1042988"/>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7.3 (b) - KEPEKAAN NILAI MASA WANG</a:t>
            </a:r>
            <a:endParaRPr/>
          </a:p>
        </p:txBody>
      </p:sp>
      <p:sp>
        <p:nvSpPr>
          <p:cNvPr id="1658" name="Google Shape;1658;p95"/>
          <p:cNvSpPr/>
          <p:nvPr/>
        </p:nvSpPr>
        <p:spPr>
          <a:xfrm>
            <a:off x="2514600" y="2130425"/>
            <a:ext cx="4267200" cy="1069975"/>
          </a:xfrm>
          <a:prstGeom prst="cube">
            <a:avLst>
              <a:gd name="adj" fmla="val 7671"/>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PERUBAHAN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KADAR FAEDAH </a:t>
            </a:r>
            <a:endParaRPr/>
          </a:p>
        </p:txBody>
      </p:sp>
      <p:sp>
        <p:nvSpPr>
          <p:cNvPr id="1659" name="Google Shape;1659;p95"/>
          <p:cNvSpPr/>
          <p:nvPr/>
        </p:nvSpPr>
        <p:spPr>
          <a:xfrm>
            <a:off x="2514600" y="3581400"/>
            <a:ext cx="4267200" cy="914400"/>
          </a:xfrm>
          <a:prstGeom prst="cube">
            <a:avLst>
              <a:gd name="adj" fmla="val 7671"/>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PERUBAHAN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TEMPOH (n)</a:t>
            </a:r>
            <a:endParaRPr/>
          </a:p>
        </p:txBody>
      </p:sp>
      <p:sp>
        <p:nvSpPr>
          <p:cNvPr id="1660" name="Google Shape;1660;p95"/>
          <p:cNvSpPr/>
          <p:nvPr/>
        </p:nvSpPr>
        <p:spPr>
          <a:xfrm>
            <a:off x="2436813" y="5094288"/>
            <a:ext cx="4344987" cy="990600"/>
          </a:xfrm>
          <a:prstGeom prst="cube">
            <a:avLst>
              <a:gd name="adj" fmla="val 7671"/>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PERUBAHAN </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AMAUN</a:t>
            </a:r>
            <a:endParaRPr/>
          </a:p>
        </p:txBody>
      </p:sp>
      <p:sp>
        <p:nvSpPr>
          <p:cNvPr id="1661" name="Google Shape;1661;p9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83</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665"/>
        <p:cNvGrpSpPr/>
        <p:nvPr/>
      </p:nvGrpSpPr>
      <p:grpSpPr>
        <a:xfrm>
          <a:off x="0" y="0"/>
          <a:ext cx="0" cy="0"/>
          <a:chOff x="0" y="0"/>
          <a:chExt cx="0" cy="0"/>
        </a:xfrm>
      </p:grpSpPr>
      <p:sp>
        <p:nvSpPr>
          <p:cNvPr id="1666" name="Google Shape;1666;p96"/>
          <p:cNvSpPr/>
          <p:nvPr/>
        </p:nvSpPr>
        <p:spPr>
          <a:xfrm>
            <a:off x="871538" y="501650"/>
            <a:ext cx="7467600" cy="1219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KEPEKAAN NILAI MASA WANG</a:t>
            </a:r>
            <a:endParaRPr/>
          </a:p>
          <a:p>
            <a:pPr marL="0" marR="0" lvl="0" indent="0" algn="ctr" rtl="0">
              <a:spcBef>
                <a:spcPts val="0"/>
              </a:spcBef>
              <a:spcAft>
                <a:spcPts val="0"/>
              </a:spcAft>
              <a:buNone/>
            </a:pPr>
            <a:r>
              <a:rPr lang="en-US" sz="2800" b="1">
                <a:solidFill>
                  <a:schemeClr val="dk1"/>
                </a:solidFill>
                <a:latin typeface="Arial"/>
                <a:ea typeface="Arial"/>
                <a:cs typeface="Arial"/>
                <a:sym typeface="Arial"/>
              </a:rPr>
              <a:t> (i)  Perubahan Kadar Faedah (i)</a:t>
            </a:r>
            <a:endParaRPr/>
          </a:p>
        </p:txBody>
      </p:sp>
      <p:sp>
        <p:nvSpPr>
          <p:cNvPr id="1667" name="Google Shape;1667;p96"/>
          <p:cNvSpPr txBox="1">
            <a:spLocks noGrp="1"/>
          </p:cNvSpPr>
          <p:nvPr>
            <p:ph type="sldNum" sz="quarter" idx="12"/>
          </p:nvPr>
        </p:nvSpPr>
        <p:spPr>
          <a:prstGeom prst="rect">
            <a:avLst/>
          </a:prstGeom>
          <a:solidFill>
            <a:schemeClr val="lt1"/>
          </a:solid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84</a:t>
            </a:fld>
            <a:endParaRPr sz="1200">
              <a:solidFill>
                <a:schemeClr val="dk1"/>
              </a:solidFill>
              <a:latin typeface="Arial"/>
              <a:ea typeface="Arial"/>
              <a:cs typeface="Arial"/>
              <a:sym typeface="Arial"/>
            </a:endParaRPr>
          </a:p>
        </p:txBody>
      </p:sp>
      <p:sp>
        <p:nvSpPr>
          <p:cNvPr id="1668" name="Google Shape;1668;p96"/>
          <p:cNvSpPr txBox="1"/>
          <p:nvPr/>
        </p:nvSpPr>
        <p:spPr>
          <a:xfrm>
            <a:off x="703263" y="2046287"/>
            <a:ext cx="7907337" cy="193833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465138" marR="0" lvl="0" indent="-465138" algn="just"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Nilai depan sesuatu amaun akan meningkat jika berlaku  peningkatan dalam kadar faedah.</a:t>
            </a:r>
            <a:endParaRPr/>
          </a:p>
          <a:p>
            <a:pPr marL="465138" marR="0" lvl="0" indent="-465138" algn="just"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Pengkompaunan kadar faedah menyebabkan nilai depan akan meningkat pada kadar yang semakin meningkat apabila kadar faedah semakin meningkat.</a:t>
            </a:r>
            <a:endParaRPr/>
          </a:p>
        </p:txBody>
      </p:sp>
      <p:sp>
        <p:nvSpPr>
          <p:cNvPr id="1669" name="Google Shape;1669;p96"/>
          <p:cNvSpPr txBox="1"/>
          <p:nvPr/>
        </p:nvSpPr>
        <p:spPr>
          <a:xfrm>
            <a:off x="703263" y="4310063"/>
            <a:ext cx="7983537" cy="19383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465138" marR="0" lvl="0" indent="-465138" algn="just"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Nilai kini sesuatu amaun mempunyai hubungan yang songsang dengan kadar faedah.</a:t>
            </a:r>
            <a:endParaRPr/>
          </a:p>
          <a:p>
            <a:pPr marL="465138" marR="0" lvl="0" indent="-465138" algn="just"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Pendiskaunan kadar faedah menyebabkan nilai kini akan berkurang pada kadar yang semakin mengurang apabila kadar faedah semakin meningkat.  </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8"/>
                                        </p:tgtEl>
                                        <p:attrNameLst>
                                          <p:attrName>style.visibility</p:attrName>
                                        </p:attrNameLst>
                                      </p:cBhvr>
                                      <p:to>
                                        <p:strVal val="visible"/>
                                      </p:to>
                                    </p:set>
                                    <p:animEffect transition="in" filter="fade">
                                      <p:cBhvr>
                                        <p:cTn id="7" dur="500"/>
                                        <p:tgtEl>
                                          <p:spTgt spid="16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69"/>
                                        </p:tgtEl>
                                        <p:attrNameLst>
                                          <p:attrName>style.visibility</p:attrName>
                                        </p:attrNameLst>
                                      </p:cBhvr>
                                      <p:to>
                                        <p:strVal val="visible"/>
                                      </p:to>
                                    </p:set>
                                    <p:animEffect transition="in" filter="fade">
                                      <p:cBhvr>
                                        <p:cTn id="12" dur="1000"/>
                                        <p:tgtEl>
                                          <p:spTgt spid="1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673"/>
        <p:cNvGrpSpPr/>
        <p:nvPr/>
      </p:nvGrpSpPr>
      <p:grpSpPr>
        <a:xfrm>
          <a:off x="0" y="0"/>
          <a:ext cx="0" cy="0"/>
          <a:chOff x="0" y="0"/>
          <a:chExt cx="0" cy="0"/>
        </a:xfrm>
      </p:grpSpPr>
      <p:sp>
        <p:nvSpPr>
          <p:cNvPr id="1674" name="Google Shape;1674;p9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85</a:t>
            </a:fld>
            <a:endParaRPr sz="1200">
              <a:solidFill>
                <a:srgbClr val="1D4577"/>
              </a:solidFill>
              <a:latin typeface="Times New Roman"/>
              <a:ea typeface="Times New Roman"/>
              <a:cs typeface="Times New Roman"/>
              <a:sym typeface="Times New Roman"/>
            </a:endParaRPr>
          </a:p>
        </p:txBody>
      </p:sp>
      <p:sp>
        <p:nvSpPr>
          <p:cNvPr id="1675" name="Google Shape;1675;p97"/>
          <p:cNvSpPr txBox="1">
            <a:spLocks noGrp="1"/>
          </p:cNvSpPr>
          <p:nvPr>
            <p:ph type="title" idx="4294967295"/>
          </p:nvPr>
        </p:nvSpPr>
        <p:spPr>
          <a:xfrm>
            <a:off x="0" y="381000"/>
            <a:ext cx="8229600" cy="11430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C0C0C"/>
              </a:buClr>
              <a:buSzPts val="2800"/>
              <a:buFont typeface="Arial"/>
              <a:buNone/>
            </a:pPr>
            <a:r>
              <a:rPr lang="en-US" sz="2800" b="1">
                <a:solidFill>
                  <a:srgbClr val="0C0C0C"/>
                </a:solidFill>
                <a:latin typeface="Arial"/>
                <a:ea typeface="Arial"/>
                <a:cs typeface="Arial"/>
                <a:sym typeface="Arial"/>
              </a:rPr>
              <a:t>KEPEKAAN NILAI MASA WANG (NILAI DEPAN) TERHADAP PERUBAHAN FAEDAH (i)</a:t>
            </a:r>
            <a:endParaRPr/>
          </a:p>
        </p:txBody>
      </p:sp>
      <p:sp>
        <p:nvSpPr>
          <p:cNvPr id="1676" name="Google Shape;1676;p97"/>
          <p:cNvSpPr txBox="1">
            <a:spLocks noGrp="1"/>
          </p:cNvSpPr>
          <p:nvPr>
            <p:ph type="body" idx="4294967295"/>
          </p:nvPr>
        </p:nvSpPr>
        <p:spPr>
          <a:xfrm>
            <a:off x="0" y="1808163"/>
            <a:ext cx="8229600" cy="42624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1000"/>
              <a:buFont typeface="Noto Sans Symbols"/>
              <a:buNone/>
            </a:pPr>
            <a:endParaRPr sz="1000">
              <a:latin typeface="Arial"/>
              <a:ea typeface="Arial"/>
              <a:cs typeface="Arial"/>
              <a:sym typeface="Arial"/>
            </a:endParaRPr>
          </a:p>
          <a:p>
            <a:pPr marL="0" lvl="0" indent="0" algn="just" rtl="0">
              <a:lnSpc>
                <a:spcPct val="90000"/>
              </a:lnSpc>
              <a:spcBef>
                <a:spcPts val="75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Jika En Fitri ingin menyimpan RM 2,500 hari ini, berapakah jumlah yang bakal beliau perolehi dalam masa 10 tahun akan datang jika faedah tahunan berbeza seperti berikut:</a:t>
            </a:r>
            <a:endParaRPr/>
          </a:p>
          <a:p>
            <a:pPr marL="0" lvl="0" indent="0" algn="just" rtl="0">
              <a:lnSpc>
                <a:spcPct val="90000"/>
              </a:lnSpc>
              <a:spcBef>
                <a:spcPts val="750"/>
              </a:spcBef>
              <a:spcAft>
                <a:spcPts val="0"/>
              </a:spcAft>
              <a:buClr>
                <a:schemeClr val="dk1"/>
              </a:buClr>
              <a:buSzPts val="2400"/>
              <a:buFont typeface="Twentieth Century"/>
              <a:buNone/>
            </a:pPr>
            <a:r>
              <a:rPr lang="en-US" sz="2400">
                <a:solidFill>
                  <a:schemeClr val="dk1"/>
                </a:solidFill>
                <a:latin typeface="Arial"/>
                <a:ea typeface="Arial"/>
                <a:cs typeface="Arial"/>
                <a:sym typeface="Arial"/>
              </a:rPr>
              <a:t>      a) 10%</a:t>
            </a:r>
            <a:endParaRPr/>
          </a:p>
          <a:p>
            <a:pPr marL="0" lvl="0" indent="0" algn="just" rtl="0">
              <a:lnSpc>
                <a:spcPct val="90000"/>
              </a:lnSpc>
              <a:spcBef>
                <a:spcPts val="750"/>
              </a:spcBef>
              <a:spcAft>
                <a:spcPts val="0"/>
              </a:spcAft>
              <a:buClr>
                <a:schemeClr val="dk1"/>
              </a:buClr>
              <a:buSzPts val="2400"/>
              <a:buFont typeface="Twentieth Century"/>
              <a:buNone/>
            </a:pPr>
            <a:r>
              <a:rPr lang="en-US" sz="2400">
                <a:solidFill>
                  <a:schemeClr val="dk1"/>
                </a:solidFill>
                <a:latin typeface="Arial"/>
                <a:ea typeface="Arial"/>
                <a:cs typeface="Arial"/>
                <a:sym typeface="Arial"/>
              </a:rPr>
              <a:t>      b) 8%</a:t>
            </a:r>
            <a:endParaRPr/>
          </a:p>
          <a:p>
            <a:pPr marL="0" lvl="0" indent="0" algn="just" rtl="0">
              <a:lnSpc>
                <a:spcPct val="90000"/>
              </a:lnSpc>
              <a:spcBef>
                <a:spcPts val="750"/>
              </a:spcBef>
              <a:spcAft>
                <a:spcPts val="0"/>
              </a:spcAft>
              <a:buClr>
                <a:schemeClr val="dk1"/>
              </a:buClr>
              <a:buSzPts val="2400"/>
              <a:buFont typeface="Twentieth Century"/>
              <a:buNone/>
            </a:pPr>
            <a:r>
              <a:rPr lang="en-US" sz="2400">
                <a:solidFill>
                  <a:schemeClr val="dk1"/>
                </a:solidFill>
                <a:latin typeface="Arial"/>
                <a:ea typeface="Arial"/>
                <a:cs typeface="Arial"/>
                <a:sym typeface="Arial"/>
              </a:rPr>
              <a:t>      c) 6%</a:t>
            </a:r>
            <a:endParaRPr/>
          </a:p>
          <a:p>
            <a:pPr marL="514350" lvl="0" indent="-514350" algn="just" rtl="0">
              <a:lnSpc>
                <a:spcPct val="90000"/>
              </a:lnSpc>
              <a:spcBef>
                <a:spcPts val="750"/>
              </a:spcBef>
              <a:spcAft>
                <a:spcPts val="0"/>
              </a:spcAft>
              <a:buClr>
                <a:schemeClr val="dk1"/>
              </a:buClr>
              <a:buSzPts val="2400"/>
              <a:buFont typeface="Noto Sans Symbols"/>
              <a:buNone/>
            </a:pPr>
            <a:endParaRPr sz="2400" b="1">
              <a:latin typeface="Arial"/>
              <a:ea typeface="Arial"/>
              <a:cs typeface="Arial"/>
              <a:sym typeface="Arial"/>
            </a:endParaRPr>
          </a:p>
          <a:p>
            <a:pPr marL="514350" lvl="0" indent="-514350" algn="just" rtl="0">
              <a:lnSpc>
                <a:spcPct val="90000"/>
              </a:lnSpc>
              <a:spcBef>
                <a:spcPts val="750"/>
              </a:spcBef>
              <a:spcAft>
                <a:spcPts val="0"/>
              </a:spcAft>
              <a:buClr>
                <a:schemeClr val="dk1"/>
              </a:buClr>
              <a:buSzPts val="2400"/>
              <a:buFont typeface="Noto Sans Symbols"/>
              <a:buNone/>
            </a:pPr>
            <a:r>
              <a:rPr lang="en-US" sz="2400" b="1">
                <a:solidFill>
                  <a:schemeClr val="dk1"/>
                </a:solidFill>
                <a:latin typeface="Arial"/>
                <a:ea typeface="Arial"/>
                <a:cs typeface="Arial"/>
                <a:sym typeface="Arial"/>
              </a:rPr>
              <a:t>Jawapan:</a:t>
            </a:r>
            <a:endParaRPr/>
          </a:p>
          <a:p>
            <a:pPr marL="514350" lvl="0" indent="-514350" algn="just" rtl="0">
              <a:lnSpc>
                <a:spcPct val="90000"/>
              </a:lnSpc>
              <a:spcBef>
                <a:spcPts val="750"/>
              </a:spcBef>
              <a:spcAft>
                <a:spcPts val="0"/>
              </a:spcAft>
              <a:buClr>
                <a:schemeClr val="dk1"/>
              </a:buClr>
              <a:buSzPts val="2400"/>
              <a:buFont typeface="Noto Sans Symbols"/>
              <a:buNone/>
            </a:pPr>
            <a:r>
              <a:rPr lang="en-US" sz="2400" b="1">
                <a:solidFill>
                  <a:schemeClr val="dk1"/>
                </a:solidFill>
                <a:latin typeface="Arial"/>
                <a:ea typeface="Arial"/>
                <a:cs typeface="Arial"/>
                <a:sym typeface="Arial"/>
              </a:rPr>
              <a:t>a) RM 6484.25   b)  RM 5397.25   c)  RM 4477.00</a:t>
            </a:r>
            <a:endParaRPr/>
          </a:p>
          <a:p>
            <a:pPr marL="91440" lvl="0" indent="0" algn="just" rtl="0">
              <a:lnSpc>
                <a:spcPct val="90000"/>
              </a:lnSpc>
              <a:spcBef>
                <a:spcPts val="750"/>
              </a:spcBef>
              <a:spcAft>
                <a:spcPts val="0"/>
              </a:spcAft>
              <a:buClr>
                <a:schemeClr val="dk1"/>
              </a:buClr>
              <a:buSzPts val="2400"/>
              <a:buNone/>
            </a:pPr>
            <a:endParaRPr sz="2400" b="1">
              <a:latin typeface="Arial"/>
              <a:ea typeface="Arial"/>
              <a:cs typeface="Arial"/>
              <a:sym typeface="Arial"/>
            </a:endParaRPr>
          </a:p>
        </p:txBody>
      </p:sp>
    </p:spTree>
  </p:cSld>
  <p:clrMapOvr>
    <a:masterClrMapping/>
  </p:clrMapOvr>
  <p:transition>
    <p:fade thruBlk="1"/>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680"/>
        <p:cNvGrpSpPr/>
        <p:nvPr/>
      </p:nvGrpSpPr>
      <p:grpSpPr>
        <a:xfrm>
          <a:off x="0" y="0"/>
          <a:ext cx="0" cy="0"/>
          <a:chOff x="0" y="0"/>
          <a:chExt cx="0" cy="0"/>
        </a:xfrm>
      </p:grpSpPr>
      <p:sp>
        <p:nvSpPr>
          <p:cNvPr id="1681" name="Google Shape;1681;p9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86</a:t>
            </a:fld>
            <a:endParaRPr sz="1200">
              <a:solidFill>
                <a:srgbClr val="1D4577"/>
              </a:solidFill>
              <a:latin typeface="Times New Roman"/>
              <a:ea typeface="Times New Roman"/>
              <a:cs typeface="Times New Roman"/>
              <a:sym typeface="Times New Roman"/>
            </a:endParaRPr>
          </a:p>
        </p:txBody>
      </p:sp>
      <p:sp>
        <p:nvSpPr>
          <p:cNvPr id="1682" name="Google Shape;1682;p98"/>
          <p:cNvSpPr txBox="1">
            <a:spLocks noGrp="1"/>
          </p:cNvSpPr>
          <p:nvPr>
            <p:ph type="title" idx="4294967295"/>
          </p:nvPr>
        </p:nvSpPr>
        <p:spPr>
          <a:xfrm>
            <a:off x="0" y="447675"/>
            <a:ext cx="7953375" cy="11430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n-US" sz="2800" b="1">
                <a:solidFill>
                  <a:schemeClr val="dk1"/>
                </a:solidFill>
                <a:latin typeface="Arial"/>
                <a:ea typeface="Arial"/>
                <a:cs typeface="Arial"/>
                <a:sym typeface="Arial"/>
              </a:rPr>
              <a:t>KEPEKAAN NILAI MASA WANG (NILAI KINI) TERHADAP PERUBAHAN FAEDAH (i)</a:t>
            </a:r>
            <a:endParaRPr/>
          </a:p>
        </p:txBody>
      </p:sp>
      <p:sp>
        <p:nvSpPr>
          <p:cNvPr id="1683" name="Google Shape;1683;p98"/>
          <p:cNvSpPr txBox="1">
            <a:spLocks noGrp="1"/>
          </p:cNvSpPr>
          <p:nvPr>
            <p:ph type="body" idx="4294967295"/>
          </p:nvPr>
        </p:nvSpPr>
        <p:spPr>
          <a:xfrm>
            <a:off x="0" y="1785938"/>
            <a:ext cx="7924800" cy="45720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Pn Fatihah bercadang untuk membeli harta bernilai RM 25,000 dalam tempoh 15 tahun akan datang.  Kirakan berapakah jumlah yang perlu beliau simpan sekarang jika kadar faedah berubah-ubah seperti berikut:</a:t>
            </a:r>
            <a:endParaRPr/>
          </a:p>
          <a:p>
            <a:pPr marL="514350" lvl="0" indent="-514350" algn="just" rtl="0">
              <a:lnSpc>
                <a:spcPct val="90000"/>
              </a:lnSpc>
              <a:spcBef>
                <a:spcPts val="750"/>
              </a:spcBef>
              <a:spcAft>
                <a:spcPts val="0"/>
              </a:spcAft>
              <a:buClr>
                <a:schemeClr val="dk1"/>
              </a:buClr>
              <a:buSzPts val="2400"/>
              <a:buFont typeface="Noto Sans Symbols"/>
              <a:buAutoNum type="alphaLcParenR"/>
            </a:pPr>
            <a:r>
              <a:rPr lang="en-US" sz="2400">
                <a:solidFill>
                  <a:schemeClr val="dk1"/>
                </a:solidFill>
                <a:latin typeface="Arial"/>
                <a:ea typeface="Arial"/>
                <a:cs typeface="Arial"/>
                <a:sym typeface="Arial"/>
              </a:rPr>
              <a:t>5 %</a:t>
            </a:r>
            <a:endParaRPr/>
          </a:p>
          <a:p>
            <a:pPr marL="514350" lvl="0" indent="-514350" algn="l" rtl="0">
              <a:lnSpc>
                <a:spcPct val="90000"/>
              </a:lnSpc>
              <a:spcBef>
                <a:spcPts val="750"/>
              </a:spcBef>
              <a:spcAft>
                <a:spcPts val="0"/>
              </a:spcAft>
              <a:buClr>
                <a:schemeClr val="dk1"/>
              </a:buClr>
              <a:buSzPts val="2400"/>
              <a:buFont typeface="Noto Sans Symbols"/>
              <a:buAutoNum type="alphaLcParenR"/>
            </a:pPr>
            <a:r>
              <a:rPr lang="en-US" sz="2400">
                <a:solidFill>
                  <a:schemeClr val="dk1"/>
                </a:solidFill>
                <a:latin typeface="Arial"/>
                <a:ea typeface="Arial"/>
                <a:cs typeface="Arial"/>
                <a:sym typeface="Arial"/>
              </a:rPr>
              <a:t>3.5 %</a:t>
            </a:r>
            <a:endParaRPr/>
          </a:p>
          <a:p>
            <a:pPr marL="514350" lvl="0" indent="-514350" algn="l" rtl="0">
              <a:lnSpc>
                <a:spcPct val="90000"/>
              </a:lnSpc>
              <a:spcBef>
                <a:spcPts val="750"/>
              </a:spcBef>
              <a:spcAft>
                <a:spcPts val="0"/>
              </a:spcAft>
              <a:buClr>
                <a:schemeClr val="dk1"/>
              </a:buClr>
              <a:buSzPts val="2400"/>
              <a:buFont typeface="Noto Sans Symbols"/>
              <a:buAutoNum type="alphaLcParenR"/>
            </a:pPr>
            <a:r>
              <a:rPr lang="en-US" sz="2400">
                <a:solidFill>
                  <a:schemeClr val="dk1"/>
                </a:solidFill>
                <a:latin typeface="Arial"/>
                <a:ea typeface="Arial"/>
                <a:cs typeface="Arial"/>
                <a:sym typeface="Arial"/>
              </a:rPr>
              <a:t>2.8 %</a:t>
            </a:r>
            <a:endParaRPr/>
          </a:p>
          <a:p>
            <a:pPr marL="514350" lvl="0" indent="-514350" algn="l" rtl="0">
              <a:lnSpc>
                <a:spcPct val="90000"/>
              </a:lnSpc>
              <a:spcBef>
                <a:spcPts val="750"/>
              </a:spcBef>
              <a:spcAft>
                <a:spcPts val="0"/>
              </a:spcAft>
              <a:buClr>
                <a:schemeClr val="dk1"/>
              </a:buClr>
              <a:buSzPts val="2400"/>
              <a:buFont typeface="Noto Sans Symbols"/>
              <a:buNone/>
            </a:pPr>
            <a:endParaRPr sz="2400">
              <a:latin typeface="Arial"/>
              <a:ea typeface="Arial"/>
              <a:cs typeface="Arial"/>
              <a:sym typeface="Arial"/>
            </a:endParaRPr>
          </a:p>
          <a:p>
            <a:pPr marL="514350" lvl="0" indent="-514350" algn="l" rtl="0">
              <a:lnSpc>
                <a:spcPct val="90000"/>
              </a:lnSpc>
              <a:spcBef>
                <a:spcPts val="750"/>
              </a:spcBef>
              <a:spcAft>
                <a:spcPts val="0"/>
              </a:spcAft>
              <a:buClr>
                <a:schemeClr val="dk1"/>
              </a:buClr>
              <a:buSzPts val="2400"/>
              <a:buFont typeface="Noto Sans Symbols"/>
              <a:buNone/>
            </a:pPr>
            <a:r>
              <a:rPr lang="en-US" sz="2400" b="1">
                <a:solidFill>
                  <a:schemeClr val="dk1"/>
                </a:solidFill>
                <a:latin typeface="Arial"/>
                <a:ea typeface="Arial"/>
                <a:cs typeface="Arial"/>
                <a:sym typeface="Arial"/>
              </a:rPr>
              <a:t>Jawapan:</a:t>
            </a:r>
            <a:endParaRPr/>
          </a:p>
          <a:p>
            <a:pPr marL="514350" lvl="0" indent="-514350" algn="l" rtl="0">
              <a:lnSpc>
                <a:spcPct val="90000"/>
              </a:lnSpc>
              <a:spcBef>
                <a:spcPts val="750"/>
              </a:spcBef>
              <a:spcAft>
                <a:spcPts val="0"/>
              </a:spcAft>
              <a:buClr>
                <a:schemeClr val="dk1"/>
              </a:buClr>
              <a:buSzPts val="2400"/>
              <a:buFont typeface="Noto Sans Symbols"/>
              <a:buNone/>
            </a:pPr>
            <a:r>
              <a:rPr lang="en-US" sz="2400" b="1">
                <a:solidFill>
                  <a:schemeClr val="dk1"/>
                </a:solidFill>
                <a:latin typeface="Arial"/>
                <a:ea typeface="Arial"/>
                <a:cs typeface="Arial"/>
                <a:sym typeface="Arial"/>
              </a:rPr>
              <a:t>a) RM  12,025  b) RM 14,922.27  c) RM 16,521.26</a:t>
            </a:r>
            <a:endParaRPr/>
          </a:p>
          <a:p>
            <a:pPr marL="91440" lvl="0" indent="0" algn="l" rtl="0">
              <a:lnSpc>
                <a:spcPct val="90000"/>
              </a:lnSpc>
              <a:spcBef>
                <a:spcPts val="750"/>
              </a:spcBef>
              <a:spcAft>
                <a:spcPts val="0"/>
              </a:spcAft>
              <a:buClr>
                <a:schemeClr val="dk1"/>
              </a:buClr>
              <a:buSzPts val="2400"/>
              <a:buNone/>
            </a:pPr>
            <a:endParaRPr sz="2400">
              <a:latin typeface="Arial"/>
              <a:ea typeface="Arial"/>
              <a:cs typeface="Arial"/>
              <a:sym typeface="Arial"/>
            </a:endParaRPr>
          </a:p>
        </p:txBody>
      </p:sp>
    </p:spTree>
  </p:cSld>
  <p:clrMapOvr>
    <a:masterClrMapping/>
  </p:clrMapOvr>
  <p:transition>
    <p:fade thruBlk="1"/>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687"/>
        <p:cNvGrpSpPr/>
        <p:nvPr/>
      </p:nvGrpSpPr>
      <p:grpSpPr>
        <a:xfrm>
          <a:off x="0" y="0"/>
          <a:ext cx="0" cy="0"/>
          <a:chOff x="0" y="0"/>
          <a:chExt cx="0" cy="0"/>
        </a:xfrm>
      </p:grpSpPr>
      <p:sp>
        <p:nvSpPr>
          <p:cNvPr id="1688" name="Google Shape;1688;p9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87</a:t>
            </a:fld>
            <a:endParaRPr sz="1200">
              <a:solidFill>
                <a:srgbClr val="1D4577"/>
              </a:solidFill>
              <a:latin typeface="Times New Roman"/>
              <a:ea typeface="Times New Roman"/>
              <a:cs typeface="Times New Roman"/>
              <a:sym typeface="Times New Roman"/>
            </a:endParaRPr>
          </a:p>
        </p:txBody>
      </p:sp>
      <p:sp>
        <p:nvSpPr>
          <p:cNvPr id="1689" name="Google Shape;1689;p99"/>
          <p:cNvSpPr txBox="1"/>
          <p:nvPr/>
        </p:nvSpPr>
        <p:spPr>
          <a:xfrm>
            <a:off x="285750" y="2228850"/>
            <a:ext cx="8205788" cy="193833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465138" marR="0" lvl="0" indent="-465138" algn="just"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Nilai depan sesuatu amaun mempunyai hubungan yang positif dengan tempoh.</a:t>
            </a:r>
            <a:endParaRPr/>
          </a:p>
          <a:p>
            <a:pPr marL="465138" marR="0" lvl="0" indent="-465138" algn="just"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Semakin panjang masa menyebabkan nilai depan meningkat pada kadar yang semakin tinggi disebabkan pengkompaunan kadar faedah yang digunakan. </a:t>
            </a:r>
            <a:endParaRPr/>
          </a:p>
        </p:txBody>
      </p:sp>
      <p:sp>
        <p:nvSpPr>
          <p:cNvPr id="1690" name="Google Shape;1690;p99"/>
          <p:cNvSpPr txBox="1"/>
          <p:nvPr/>
        </p:nvSpPr>
        <p:spPr>
          <a:xfrm>
            <a:off x="285750" y="4514850"/>
            <a:ext cx="8229600" cy="120015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465138" marR="0" lvl="0" indent="-465138" algn="just"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Semakin panjang tempoh pendiskaunan menyebabkan nilai kini akan berkurang pada kadar yang semakin kurang</a:t>
            </a:r>
            <a:endParaRPr sz="2400">
              <a:solidFill>
                <a:schemeClr val="dk1"/>
              </a:solidFill>
              <a:latin typeface="Arial"/>
              <a:ea typeface="Arial"/>
              <a:cs typeface="Arial"/>
              <a:sym typeface="Arial"/>
            </a:endParaRPr>
          </a:p>
        </p:txBody>
      </p:sp>
      <p:sp>
        <p:nvSpPr>
          <p:cNvPr id="1691" name="Google Shape;1691;p99"/>
          <p:cNvSpPr/>
          <p:nvPr/>
        </p:nvSpPr>
        <p:spPr>
          <a:xfrm>
            <a:off x="742950" y="457200"/>
            <a:ext cx="7467600" cy="1219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KEPEKAAN NILAI MASA WANG</a:t>
            </a:r>
            <a:endParaRPr/>
          </a:p>
          <a:p>
            <a:pPr marL="0" marR="0" lvl="0" indent="0" algn="ctr" rtl="0">
              <a:spcBef>
                <a:spcPts val="0"/>
              </a:spcBef>
              <a:spcAft>
                <a:spcPts val="0"/>
              </a:spcAft>
              <a:buNone/>
            </a:pPr>
            <a:r>
              <a:rPr lang="en-US" sz="2800" b="1">
                <a:solidFill>
                  <a:schemeClr val="dk1"/>
                </a:solidFill>
                <a:latin typeface="Arial"/>
                <a:ea typeface="Arial"/>
                <a:cs typeface="Arial"/>
                <a:sym typeface="Arial"/>
              </a:rPr>
              <a:t> (ii)  Perubahan Tempoh (n)</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9"/>
                                        </p:tgtEl>
                                        <p:attrNameLst>
                                          <p:attrName>style.visibility</p:attrName>
                                        </p:attrNameLst>
                                      </p:cBhvr>
                                      <p:to>
                                        <p:strVal val="visible"/>
                                      </p:to>
                                    </p:set>
                                    <p:animEffect transition="in" filter="fade">
                                      <p:cBhvr>
                                        <p:cTn id="7" dur="1000"/>
                                        <p:tgtEl>
                                          <p:spTgt spid="16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90"/>
                                        </p:tgtEl>
                                        <p:attrNameLst>
                                          <p:attrName>style.visibility</p:attrName>
                                        </p:attrNameLst>
                                      </p:cBhvr>
                                      <p:to>
                                        <p:strVal val="visible"/>
                                      </p:to>
                                    </p:set>
                                    <p:animEffect transition="in" filter="fade">
                                      <p:cBhvr>
                                        <p:cTn id="12" dur="1230"/>
                                        <p:tgtEl>
                                          <p:spTgt spid="1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695"/>
        <p:cNvGrpSpPr/>
        <p:nvPr/>
      </p:nvGrpSpPr>
      <p:grpSpPr>
        <a:xfrm>
          <a:off x="0" y="0"/>
          <a:ext cx="0" cy="0"/>
          <a:chOff x="0" y="0"/>
          <a:chExt cx="0" cy="0"/>
        </a:xfrm>
      </p:grpSpPr>
      <p:sp>
        <p:nvSpPr>
          <p:cNvPr id="1696" name="Google Shape;1696;p10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88</a:t>
            </a:fld>
            <a:endParaRPr sz="1200">
              <a:solidFill>
                <a:srgbClr val="1D4577"/>
              </a:solidFill>
              <a:latin typeface="Times New Roman"/>
              <a:ea typeface="Times New Roman"/>
              <a:cs typeface="Times New Roman"/>
              <a:sym typeface="Times New Roman"/>
            </a:endParaRPr>
          </a:p>
        </p:txBody>
      </p:sp>
      <p:sp>
        <p:nvSpPr>
          <p:cNvPr id="1697" name="Google Shape;1697;p100"/>
          <p:cNvSpPr txBox="1">
            <a:spLocks noGrp="1"/>
          </p:cNvSpPr>
          <p:nvPr>
            <p:ph type="title" idx="4294967295"/>
          </p:nvPr>
        </p:nvSpPr>
        <p:spPr>
          <a:xfrm>
            <a:off x="0" y="228600"/>
            <a:ext cx="8229600" cy="11430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n-US" sz="2800" b="1">
                <a:solidFill>
                  <a:schemeClr val="dk1"/>
                </a:solidFill>
                <a:latin typeface="Arial"/>
                <a:ea typeface="Arial"/>
                <a:cs typeface="Arial"/>
                <a:sym typeface="Arial"/>
              </a:rPr>
              <a:t>KEPEKAAN NMW (NILAI DEPAN) TERHADAP PERUBAHAN  TEMPOH (n)</a:t>
            </a:r>
            <a:endParaRPr/>
          </a:p>
        </p:txBody>
      </p:sp>
      <p:sp>
        <p:nvSpPr>
          <p:cNvPr id="1698" name="Google Shape;1698;p100"/>
          <p:cNvSpPr txBox="1">
            <a:spLocks noGrp="1"/>
          </p:cNvSpPr>
          <p:nvPr>
            <p:ph type="body" idx="4294967295"/>
          </p:nvPr>
        </p:nvSpPr>
        <p:spPr>
          <a:xfrm>
            <a:off x="0" y="1708150"/>
            <a:ext cx="8229600" cy="46482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Sekiranya En Mat mendepositkan RM 1,500 hari ini dengan kadar faedah tahunan 3%, berapakah jumlah yang bakal beliau perolehi dalam tempoh yang berbeza untuk masa akan datang seperti berikut:</a:t>
            </a:r>
            <a:endParaRPr/>
          </a:p>
          <a:p>
            <a:pPr marL="514350" lvl="0" indent="-514350" algn="l" rtl="0">
              <a:lnSpc>
                <a:spcPct val="90000"/>
              </a:lnSpc>
              <a:spcBef>
                <a:spcPts val="1350"/>
              </a:spcBef>
              <a:spcAft>
                <a:spcPts val="0"/>
              </a:spcAft>
              <a:buClr>
                <a:schemeClr val="dk1"/>
              </a:buClr>
              <a:buSzPts val="2400"/>
              <a:buFont typeface="Noto Sans Symbols"/>
              <a:buAutoNum type="alphaLcParenR"/>
            </a:pPr>
            <a:r>
              <a:rPr lang="en-US" sz="2400">
                <a:solidFill>
                  <a:schemeClr val="dk1"/>
                </a:solidFill>
                <a:latin typeface="Arial"/>
                <a:ea typeface="Arial"/>
                <a:cs typeface="Arial"/>
                <a:sym typeface="Arial"/>
              </a:rPr>
              <a:t>3 tahun</a:t>
            </a:r>
            <a:endParaRPr sz="2400">
              <a:latin typeface="Arial"/>
              <a:ea typeface="Arial"/>
              <a:cs typeface="Arial"/>
              <a:sym typeface="Arial"/>
            </a:endParaRPr>
          </a:p>
          <a:p>
            <a:pPr marL="514350" lvl="0" indent="-514350" algn="l" rtl="0">
              <a:lnSpc>
                <a:spcPct val="90000"/>
              </a:lnSpc>
              <a:spcBef>
                <a:spcPts val="750"/>
              </a:spcBef>
              <a:spcAft>
                <a:spcPts val="0"/>
              </a:spcAft>
              <a:buClr>
                <a:schemeClr val="dk1"/>
              </a:buClr>
              <a:buSzPts val="2400"/>
              <a:buFont typeface="Noto Sans Symbols"/>
              <a:buAutoNum type="alphaLcParenR"/>
            </a:pPr>
            <a:r>
              <a:rPr lang="en-US" sz="2400">
                <a:solidFill>
                  <a:schemeClr val="dk1"/>
                </a:solidFill>
                <a:latin typeface="Arial"/>
                <a:ea typeface="Arial"/>
                <a:cs typeface="Arial"/>
                <a:sym typeface="Arial"/>
              </a:rPr>
              <a:t>6 tahun </a:t>
            </a:r>
            <a:endParaRPr/>
          </a:p>
          <a:p>
            <a:pPr marL="514350" lvl="0" indent="-514350" algn="l" rtl="0">
              <a:lnSpc>
                <a:spcPct val="90000"/>
              </a:lnSpc>
              <a:spcBef>
                <a:spcPts val="750"/>
              </a:spcBef>
              <a:spcAft>
                <a:spcPts val="0"/>
              </a:spcAft>
              <a:buClr>
                <a:schemeClr val="dk1"/>
              </a:buClr>
              <a:buSzPts val="2400"/>
              <a:buFont typeface="Noto Sans Symbols"/>
              <a:buAutoNum type="alphaLcParenR"/>
            </a:pPr>
            <a:r>
              <a:rPr lang="en-US" sz="2400">
                <a:solidFill>
                  <a:schemeClr val="dk1"/>
                </a:solidFill>
                <a:latin typeface="Arial"/>
                <a:ea typeface="Arial"/>
                <a:cs typeface="Arial"/>
                <a:sym typeface="Arial"/>
              </a:rPr>
              <a:t>9 tahun</a:t>
            </a:r>
            <a:endParaRPr sz="2400">
              <a:latin typeface="Arial"/>
              <a:ea typeface="Arial"/>
              <a:cs typeface="Arial"/>
              <a:sym typeface="Arial"/>
            </a:endParaRPr>
          </a:p>
          <a:p>
            <a:pPr marL="514350" lvl="0" indent="-361950" algn="l" rtl="0">
              <a:lnSpc>
                <a:spcPct val="90000"/>
              </a:lnSpc>
              <a:spcBef>
                <a:spcPts val="750"/>
              </a:spcBef>
              <a:spcAft>
                <a:spcPts val="0"/>
              </a:spcAft>
              <a:buClr>
                <a:schemeClr val="dk1"/>
              </a:buClr>
              <a:buSzPts val="2400"/>
              <a:buFont typeface="Noto Sans Symbols"/>
              <a:buNone/>
            </a:pPr>
            <a:endParaRPr sz="2400">
              <a:latin typeface="Arial"/>
              <a:ea typeface="Arial"/>
              <a:cs typeface="Arial"/>
              <a:sym typeface="Arial"/>
            </a:endParaRPr>
          </a:p>
          <a:p>
            <a:pPr marL="514350" lvl="0" indent="-514350" algn="l" rtl="0">
              <a:lnSpc>
                <a:spcPct val="90000"/>
              </a:lnSpc>
              <a:spcBef>
                <a:spcPts val="75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Jawapan:</a:t>
            </a:r>
            <a:endParaRPr/>
          </a:p>
          <a:p>
            <a:pPr marL="514350" lvl="0" indent="-514350" algn="l" rtl="0">
              <a:lnSpc>
                <a:spcPct val="90000"/>
              </a:lnSpc>
              <a:spcBef>
                <a:spcPts val="750"/>
              </a:spcBef>
              <a:spcAft>
                <a:spcPts val="0"/>
              </a:spcAft>
              <a:buClr>
                <a:schemeClr val="dk1"/>
              </a:buClr>
              <a:buSzPts val="2400"/>
              <a:buFont typeface="Noto Sans Symbols"/>
              <a:buNone/>
            </a:pPr>
            <a:r>
              <a:rPr lang="en-US" sz="2400" b="1">
                <a:solidFill>
                  <a:schemeClr val="dk1"/>
                </a:solidFill>
                <a:latin typeface="Arial"/>
                <a:ea typeface="Arial"/>
                <a:cs typeface="Arial"/>
                <a:sym typeface="Arial"/>
              </a:rPr>
              <a:t>a) RM 1,639.05	b) RM 1,791.15	c) RM 1,957.20</a:t>
            </a:r>
            <a:endParaRPr sz="2400">
              <a:latin typeface="Arial"/>
              <a:ea typeface="Arial"/>
              <a:cs typeface="Arial"/>
              <a:sym typeface="Arial"/>
            </a:endParaRPr>
          </a:p>
        </p:txBody>
      </p:sp>
    </p:spTree>
  </p:cSld>
  <p:clrMapOvr>
    <a:masterClrMapping/>
  </p:clrMapOvr>
  <p:transition>
    <p:fade thruBlk="1"/>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1703" name="Google Shape;1703;p101"/>
          <p:cNvSpPr txBox="1"/>
          <p:nvPr/>
        </p:nvSpPr>
        <p:spPr>
          <a:xfrm>
            <a:off x="533400" y="102513"/>
            <a:ext cx="8288526"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Kepekaan nilai depan terhadap perubahan kadar faedah dan bilangan tempoh pengkompaunan</a:t>
            </a:r>
            <a:endParaRPr sz="2400" b="1">
              <a:solidFill>
                <a:schemeClr val="dk1"/>
              </a:solidFill>
              <a:latin typeface="Arial"/>
              <a:ea typeface="Arial"/>
              <a:cs typeface="Arial"/>
              <a:sym typeface="Arial"/>
            </a:endParaRPr>
          </a:p>
        </p:txBody>
      </p:sp>
      <p:cxnSp>
        <p:nvCxnSpPr>
          <p:cNvPr id="1704" name="Google Shape;1704;p101"/>
          <p:cNvCxnSpPr/>
          <p:nvPr/>
        </p:nvCxnSpPr>
        <p:spPr>
          <a:xfrm rot="10800000">
            <a:off x="1905000" y="1295400"/>
            <a:ext cx="0" cy="4648200"/>
          </a:xfrm>
          <a:prstGeom prst="straightConnector1">
            <a:avLst/>
          </a:prstGeom>
          <a:noFill/>
          <a:ln w="38100" cap="flat" cmpd="sng">
            <a:solidFill>
              <a:schemeClr val="dk1"/>
            </a:solidFill>
            <a:prstDash val="solid"/>
            <a:round/>
            <a:headEnd type="none" w="med" len="med"/>
            <a:tailEnd type="triangle" w="med" len="med"/>
          </a:ln>
        </p:spPr>
      </p:cxnSp>
      <p:cxnSp>
        <p:nvCxnSpPr>
          <p:cNvPr id="1705" name="Google Shape;1705;p101"/>
          <p:cNvCxnSpPr/>
          <p:nvPr/>
        </p:nvCxnSpPr>
        <p:spPr>
          <a:xfrm>
            <a:off x="1828800" y="5927725"/>
            <a:ext cx="6781800" cy="0"/>
          </a:xfrm>
          <a:prstGeom prst="straightConnector1">
            <a:avLst/>
          </a:prstGeom>
          <a:noFill/>
          <a:ln w="38100" cap="flat" cmpd="sng">
            <a:solidFill>
              <a:schemeClr val="dk1"/>
            </a:solidFill>
            <a:prstDash val="solid"/>
            <a:round/>
            <a:headEnd type="none" w="med" len="med"/>
            <a:tailEnd type="triangle" w="med" len="med"/>
          </a:ln>
        </p:spPr>
      </p:cxnSp>
      <p:cxnSp>
        <p:nvCxnSpPr>
          <p:cNvPr id="1706" name="Google Shape;1706;p101"/>
          <p:cNvCxnSpPr/>
          <p:nvPr/>
        </p:nvCxnSpPr>
        <p:spPr>
          <a:xfrm>
            <a:off x="1676400" y="5089525"/>
            <a:ext cx="457200" cy="0"/>
          </a:xfrm>
          <a:prstGeom prst="straightConnector1">
            <a:avLst/>
          </a:prstGeom>
          <a:noFill/>
          <a:ln w="38100" cap="flat" cmpd="sng">
            <a:solidFill>
              <a:schemeClr val="dk1"/>
            </a:solidFill>
            <a:prstDash val="solid"/>
            <a:round/>
            <a:headEnd type="none" w="med" len="med"/>
            <a:tailEnd type="none" w="med" len="med"/>
          </a:ln>
        </p:spPr>
      </p:cxnSp>
      <p:cxnSp>
        <p:nvCxnSpPr>
          <p:cNvPr id="1707" name="Google Shape;1707;p101"/>
          <p:cNvCxnSpPr/>
          <p:nvPr/>
        </p:nvCxnSpPr>
        <p:spPr>
          <a:xfrm>
            <a:off x="1676400" y="4251325"/>
            <a:ext cx="457200" cy="0"/>
          </a:xfrm>
          <a:prstGeom prst="straightConnector1">
            <a:avLst/>
          </a:prstGeom>
          <a:noFill/>
          <a:ln w="38100" cap="flat" cmpd="sng">
            <a:solidFill>
              <a:schemeClr val="dk1"/>
            </a:solidFill>
            <a:prstDash val="solid"/>
            <a:round/>
            <a:headEnd type="none" w="med" len="med"/>
            <a:tailEnd type="none" w="med" len="med"/>
          </a:ln>
        </p:spPr>
      </p:cxnSp>
      <p:cxnSp>
        <p:nvCxnSpPr>
          <p:cNvPr id="1708" name="Google Shape;1708;p101"/>
          <p:cNvCxnSpPr/>
          <p:nvPr/>
        </p:nvCxnSpPr>
        <p:spPr>
          <a:xfrm>
            <a:off x="1676400" y="3413125"/>
            <a:ext cx="457200" cy="0"/>
          </a:xfrm>
          <a:prstGeom prst="straightConnector1">
            <a:avLst/>
          </a:prstGeom>
          <a:noFill/>
          <a:ln w="38100" cap="flat" cmpd="sng">
            <a:solidFill>
              <a:schemeClr val="dk1"/>
            </a:solidFill>
            <a:prstDash val="solid"/>
            <a:round/>
            <a:headEnd type="none" w="med" len="med"/>
            <a:tailEnd type="none" w="med" len="med"/>
          </a:ln>
        </p:spPr>
      </p:cxnSp>
      <p:cxnSp>
        <p:nvCxnSpPr>
          <p:cNvPr id="1709" name="Google Shape;1709;p101"/>
          <p:cNvCxnSpPr/>
          <p:nvPr/>
        </p:nvCxnSpPr>
        <p:spPr>
          <a:xfrm>
            <a:off x="1676400" y="2574925"/>
            <a:ext cx="457200" cy="0"/>
          </a:xfrm>
          <a:prstGeom prst="straightConnector1">
            <a:avLst/>
          </a:prstGeom>
          <a:noFill/>
          <a:ln w="38100" cap="flat" cmpd="sng">
            <a:solidFill>
              <a:schemeClr val="dk1"/>
            </a:solidFill>
            <a:prstDash val="solid"/>
            <a:round/>
            <a:headEnd type="none" w="med" len="med"/>
            <a:tailEnd type="none" w="med" len="med"/>
          </a:ln>
        </p:spPr>
      </p:cxnSp>
      <p:cxnSp>
        <p:nvCxnSpPr>
          <p:cNvPr id="1710" name="Google Shape;1710;p101"/>
          <p:cNvCxnSpPr/>
          <p:nvPr/>
        </p:nvCxnSpPr>
        <p:spPr>
          <a:xfrm>
            <a:off x="1676400" y="1736725"/>
            <a:ext cx="457200" cy="0"/>
          </a:xfrm>
          <a:prstGeom prst="straightConnector1">
            <a:avLst/>
          </a:prstGeom>
          <a:noFill/>
          <a:ln w="38100" cap="flat" cmpd="sng">
            <a:solidFill>
              <a:schemeClr val="dk1"/>
            </a:solidFill>
            <a:prstDash val="solid"/>
            <a:round/>
            <a:headEnd type="none" w="med" len="med"/>
            <a:tailEnd type="none" w="med" len="med"/>
          </a:ln>
        </p:spPr>
      </p:cxnSp>
      <p:cxnSp>
        <p:nvCxnSpPr>
          <p:cNvPr id="1711" name="Google Shape;1711;p101"/>
          <p:cNvCxnSpPr/>
          <p:nvPr/>
        </p:nvCxnSpPr>
        <p:spPr>
          <a:xfrm>
            <a:off x="2971800" y="5775325"/>
            <a:ext cx="0" cy="381000"/>
          </a:xfrm>
          <a:prstGeom prst="straightConnector1">
            <a:avLst/>
          </a:prstGeom>
          <a:noFill/>
          <a:ln w="38100" cap="flat" cmpd="sng">
            <a:solidFill>
              <a:schemeClr val="dk1"/>
            </a:solidFill>
            <a:prstDash val="solid"/>
            <a:round/>
            <a:headEnd type="none" w="med" len="med"/>
            <a:tailEnd type="none" w="med" len="med"/>
          </a:ln>
        </p:spPr>
      </p:cxnSp>
      <p:cxnSp>
        <p:nvCxnSpPr>
          <p:cNvPr id="1712" name="Google Shape;1712;p101"/>
          <p:cNvCxnSpPr/>
          <p:nvPr/>
        </p:nvCxnSpPr>
        <p:spPr>
          <a:xfrm>
            <a:off x="4038600" y="5775325"/>
            <a:ext cx="0" cy="381000"/>
          </a:xfrm>
          <a:prstGeom prst="straightConnector1">
            <a:avLst/>
          </a:prstGeom>
          <a:noFill/>
          <a:ln w="38100" cap="flat" cmpd="sng">
            <a:solidFill>
              <a:schemeClr val="dk1"/>
            </a:solidFill>
            <a:prstDash val="solid"/>
            <a:round/>
            <a:headEnd type="none" w="med" len="med"/>
            <a:tailEnd type="none" w="med" len="med"/>
          </a:ln>
        </p:spPr>
      </p:cxnSp>
      <p:cxnSp>
        <p:nvCxnSpPr>
          <p:cNvPr id="1713" name="Google Shape;1713;p101"/>
          <p:cNvCxnSpPr/>
          <p:nvPr/>
        </p:nvCxnSpPr>
        <p:spPr>
          <a:xfrm>
            <a:off x="5105400" y="5775325"/>
            <a:ext cx="0" cy="381000"/>
          </a:xfrm>
          <a:prstGeom prst="straightConnector1">
            <a:avLst/>
          </a:prstGeom>
          <a:noFill/>
          <a:ln w="38100" cap="flat" cmpd="sng">
            <a:solidFill>
              <a:schemeClr val="dk1"/>
            </a:solidFill>
            <a:prstDash val="solid"/>
            <a:round/>
            <a:headEnd type="none" w="med" len="med"/>
            <a:tailEnd type="none" w="med" len="med"/>
          </a:ln>
        </p:spPr>
      </p:cxnSp>
      <p:cxnSp>
        <p:nvCxnSpPr>
          <p:cNvPr id="1714" name="Google Shape;1714;p101"/>
          <p:cNvCxnSpPr/>
          <p:nvPr/>
        </p:nvCxnSpPr>
        <p:spPr>
          <a:xfrm>
            <a:off x="6172200" y="5775325"/>
            <a:ext cx="0" cy="381000"/>
          </a:xfrm>
          <a:prstGeom prst="straightConnector1">
            <a:avLst/>
          </a:prstGeom>
          <a:noFill/>
          <a:ln w="38100" cap="flat" cmpd="sng">
            <a:solidFill>
              <a:schemeClr val="dk1"/>
            </a:solidFill>
            <a:prstDash val="solid"/>
            <a:round/>
            <a:headEnd type="none" w="med" len="med"/>
            <a:tailEnd type="none" w="med" len="med"/>
          </a:ln>
        </p:spPr>
      </p:cxnSp>
      <p:cxnSp>
        <p:nvCxnSpPr>
          <p:cNvPr id="1715" name="Google Shape;1715;p101"/>
          <p:cNvCxnSpPr/>
          <p:nvPr/>
        </p:nvCxnSpPr>
        <p:spPr>
          <a:xfrm>
            <a:off x="7239000" y="5775325"/>
            <a:ext cx="0" cy="381000"/>
          </a:xfrm>
          <a:prstGeom prst="straightConnector1">
            <a:avLst/>
          </a:prstGeom>
          <a:noFill/>
          <a:ln w="38100" cap="flat" cmpd="sng">
            <a:solidFill>
              <a:schemeClr val="dk1"/>
            </a:solidFill>
            <a:prstDash val="solid"/>
            <a:round/>
            <a:headEnd type="none" w="med" len="med"/>
            <a:tailEnd type="none" w="med" len="med"/>
          </a:ln>
        </p:spPr>
      </p:cxnSp>
      <p:sp>
        <p:nvSpPr>
          <p:cNvPr id="1716" name="Google Shape;1716;p101"/>
          <p:cNvSpPr txBox="1"/>
          <p:nvPr/>
        </p:nvSpPr>
        <p:spPr>
          <a:xfrm>
            <a:off x="89967" y="882650"/>
            <a:ext cx="1552028"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Nilai depan</a:t>
            </a:r>
            <a:endParaRPr sz="2000" b="1">
              <a:solidFill>
                <a:schemeClr val="dk1"/>
              </a:solidFill>
              <a:latin typeface="Arial"/>
              <a:ea typeface="Arial"/>
              <a:cs typeface="Arial"/>
              <a:sym typeface="Arial"/>
            </a:endParaRPr>
          </a:p>
          <a:p>
            <a:pPr marL="0" marR="0" lvl="0" indent="0" algn="ctr" rtl="0">
              <a:spcBef>
                <a:spcPts val="0"/>
              </a:spcBef>
              <a:spcAft>
                <a:spcPts val="0"/>
              </a:spcAft>
              <a:buNone/>
            </a:pPr>
            <a:r>
              <a:rPr lang="en-US" sz="2000" b="1">
                <a:solidFill>
                  <a:schemeClr val="dk1"/>
                </a:solidFill>
                <a:latin typeface="Arial"/>
                <a:ea typeface="Arial"/>
                <a:cs typeface="Arial"/>
                <a:sym typeface="Arial"/>
              </a:rPr>
              <a:t>Bagi RM1</a:t>
            </a:r>
            <a:endParaRPr/>
          </a:p>
        </p:txBody>
      </p:sp>
      <p:sp>
        <p:nvSpPr>
          <p:cNvPr id="1717" name="Google Shape;1717;p101"/>
          <p:cNvSpPr txBox="1"/>
          <p:nvPr/>
        </p:nvSpPr>
        <p:spPr>
          <a:xfrm>
            <a:off x="795050" y="4860925"/>
            <a:ext cx="6832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1.00</a:t>
            </a:r>
            <a:endParaRPr/>
          </a:p>
        </p:txBody>
      </p:sp>
      <p:sp>
        <p:nvSpPr>
          <p:cNvPr id="1718" name="Google Shape;1718;p101"/>
          <p:cNvSpPr txBox="1"/>
          <p:nvPr/>
        </p:nvSpPr>
        <p:spPr>
          <a:xfrm>
            <a:off x="795050" y="4098925"/>
            <a:ext cx="6832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2.00</a:t>
            </a:r>
            <a:endParaRPr/>
          </a:p>
        </p:txBody>
      </p:sp>
      <p:sp>
        <p:nvSpPr>
          <p:cNvPr id="1719" name="Google Shape;1719;p101"/>
          <p:cNvSpPr txBox="1"/>
          <p:nvPr/>
        </p:nvSpPr>
        <p:spPr>
          <a:xfrm>
            <a:off x="795050" y="3260725"/>
            <a:ext cx="6832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3.00</a:t>
            </a:r>
            <a:endParaRPr/>
          </a:p>
        </p:txBody>
      </p:sp>
      <p:sp>
        <p:nvSpPr>
          <p:cNvPr id="1720" name="Google Shape;1720;p101"/>
          <p:cNvSpPr txBox="1"/>
          <p:nvPr/>
        </p:nvSpPr>
        <p:spPr>
          <a:xfrm>
            <a:off x="795050" y="2346325"/>
            <a:ext cx="6832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4.00</a:t>
            </a:r>
            <a:endParaRPr/>
          </a:p>
        </p:txBody>
      </p:sp>
      <p:sp>
        <p:nvSpPr>
          <p:cNvPr id="1721" name="Google Shape;1721;p101"/>
          <p:cNvSpPr txBox="1"/>
          <p:nvPr/>
        </p:nvSpPr>
        <p:spPr>
          <a:xfrm>
            <a:off x="795050" y="1508125"/>
            <a:ext cx="6832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5.00</a:t>
            </a:r>
            <a:endParaRPr/>
          </a:p>
        </p:txBody>
      </p:sp>
      <p:sp>
        <p:nvSpPr>
          <p:cNvPr id="1722" name="Google Shape;1722;p101"/>
          <p:cNvSpPr txBox="1"/>
          <p:nvPr/>
        </p:nvSpPr>
        <p:spPr>
          <a:xfrm>
            <a:off x="7832725" y="6003925"/>
            <a:ext cx="862013"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masa</a:t>
            </a:r>
            <a:endParaRPr/>
          </a:p>
        </p:txBody>
      </p:sp>
      <p:sp>
        <p:nvSpPr>
          <p:cNvPr id="1723" name="Google Shape;1723;p101"/>
          <p:cNvSpPr txBox="1"/>
          <p:nvPr/>
        </p:nvSpPr>
        <p:spPr>
          <a:xfrm>
            <a:off x="2828770" y="6216650"/>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2</a:t>
            </a:r>
            <a:endParaRPr/>
          </a:p>
        </p:txBody>
      </p:sp>
      <p:sp>
        <p:nvSpPr>
          <p:cNvPr id="1724" name="Google Shape;1724;p101"/>
          <p:cNvSpPr txBox="1"/>
          <p:nvPr/>
        </p:nvSpPr>
        <p:spPr>
          <a:xfrm>
            <a:off x="3854295" y="6232525"/>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4</a:t>
            </a:r>
            <a:endParaRPr/>
          </a:p>
        </p:txBody>
      </p:sp>
      <p:sp>
        <p:nvSpPr>
          <p:cNvPr id="1725" name="Google Shape;1725;p101"/>
          <p:cNvSpPr txBox="1"/>
          <p:nvPr/>
        </p:nvSpPr>
        <p:spPr>
          <a:xfrm>
            <a:off x="4921095" y="6232525"/>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6</a:t>
            </a:r>
            <a:endParaRPr/>
          </a:p>
        </p:txBody>
      </p:sp>
      <p:sp>
        <p:nvSpPr>
          <p:cNvPr id="1726" name="Google Shape;1726;p101"/>
          <p:cNvSpPr txBox="1"/>
          <p:nvPr/>
        </p:nvSpPr>
        <p:spPr>
          <a:xfrm>
            <a:off x="5987895" y="6232525"/>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8</a:t>
            </a:r>
            <a:endParaRPr/>
          </a:p>
        </p:txBody>
      </p:sp>
      <p:sp>
        <p:nvSpPr>
          <p:cNvPr id="1727" name="Google Shape;1727;p101"/>
          <p:cNvSpPr txBox="1"/>
          <p:nvPr/>
        </p:nvSpPr>
        <p:spPr>
          <a:xfrm>
            <a:off x="7029400" y="6232525"/>
            <a:ext cx="4700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10</a:t>
            </a:r>
            <a:endParaRPr/>
          </a:p>
        </p:txBody>
      </p:sp>
      <p:cxnSp>
        <p:nvCxnSpPr>
          <p:cNvPr id="1728" name="Google Shape;1728;p101"/>
          <p:cNvCxnSpPr/>
          <p:nvPr/>
        </p:nvCxnSpPr>
        <p:spPr>
          <a:xfrm>
            <a:off x="1828800" y="5089525"/>
            <a:ext cx="6400800" cy="0"/>
          </a:xfrm>
          <a:prstGeom prst="straightConnector1">
            <a:avLst/>
          </a:prstGeom>
          <a:noFill/>
          <a:ln w="9525" cap="flat" cmpd="sng">
            <a:solidFill>
              <a:schemeClr val="dk1"/>
            </a:solidFill>
            <a:prstDash val="solid"/>
            <a:round/>
            <a:headEnd type="none" w="med" len="med"/>
            <a:tailEnd type="stealth" w="med" len="med"/>
          </a:ln>
        </p:spPr>
      </p:cxnSp>
      <p:sp>
        <p:nvSpPr>
          <p:cNvPr id="1729" name="Google Shape;1729;p101"/>
          <p:cNvSpPr txBox="1"/>
          <p:nvPr/>
        </p:nvSpPr>
        <p:spPr>
          <a:xfrm>
            <a:off x="7471633" y="4708525"/>
            <a:ext cx="774571"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i=0%</a:t>
            </a:r>
            <a:endParaRPr/>
          </a:p>
        </p:txBody>
      </p:sp>
      <p:sp>
        <p:nvSpPr>
          <p:cNvPr id="1730" name="Google Shape;1730;p101"/>
          <p:cNvSpPr/>
          <p:nvPr/>
        </p:nvSpPr>
        <p:spPr>
          <a:xfrm>
            <a:off x="1905000" y="4327525"/>
            <a:ext cx="6248400" cy="762000"/>
          </a:xfrm>
          <a:custGeom>
            <a:avLst/>
            <a:gdLst/>
            <a:ahLst/>
            <a:cxnLst/>
            <a:rect l="l" t="t" r="r" b="b"/>
            <a:pathLst>
              <a:path w="3936" h="480" extrusionOk="0">
                <a:moveTo>
                  <a:pt x="0" y="480"/>
                </a:moveTo>
                <a:cubicBezTo>
                  <a:pt x="332" y="468"/>
                  <a:pt x="664" y="456"/>
                  <a:pt x="1008" y="432"/>
                </a:cubicBezTo>
                <a:cubicBezTo>
                  <a:pt x="1352" y="408"/>
                  <a:pt x="1752" y="376"/>
                  <a:pt x="2064" y="336"/>
                </a:cubicBezTo>
                <a:cubicBezTo>
                  <a:pt x="2376" y="296"/>
                  <a:pt x="2568" y="248"/>
                  <a:pt x="2880" y="192"/>
                </a:cubicBezTo>
                <a:cubicBezTo>
                  <a:pt x="3192" y="136"/>
                  <a:pt x="3564" y="68"/>
                  <a:pt x="3936"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31" name="Google Shape;1731;p101"/>
          <p:cNvSpPr txBox="1"/>
          <p:nvPr/>
        </p:nvSpPr>
        <p:spPr>
          <a:xfrm>
            <a:off x="7547833" y="3946525"/>
            <a:ext cx="774571"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i=5%</a:t>
            </a:r>
            <a:endParaRPr/>
          </a:p>
        </p:txBody>
      </p:sp>
      <p:sp>
        <p:nvSpPr>
          <p:cNvPr id="1732" name="Google Shape;1732;p101"/>
          <p:cNvSpPr/>
          <p:nvPr/>
        </p:nvSpPr>
        <p:spPr>
          <a:xfrm>
            <a:off x="1905000" y="3108325"/>
            <a:ext cx="6248400" cy="1981200"/>
          </a:xfrm>
          <a:custGeom>
            <a:avLst/>
            <a:gdLst/>
            <a:ahLst/>
            <a:cxnLst/>
            <a:rect l="l" t="t" r="r" b="b"/>
            <a:pathLst>
              <a:path w="3936" h="1248" extrusionOk="0">
                <a:moveTo>
                  <a:pt x="0" y="1248"/>
                </a:moveTo>
                <a:cubicBezTo>
                  <a:pt x="372" y="1204"/>
                  <a:pt x="744" y="1160"/>
                  <a:pt x="1056" y="1104"/>
                </a:cubicBezTo>
                <a:cubicBezTo>
                  <a:pt x="1368" y="1048"/>
                  <a:pt x="1600" y="984"/>
                  <a:pt x="1872" y="912"/>
                </a:cubicBezTo>
                <a:cubicBezTo>
                  <a:pt x="2144" y="840"/>
                  <a:pt x="2416" y="776"/>
                  <a:pt x="2688" y="672"/>
                </a:cubicBezTo>
                <a:cubicBezTo>
                  <a:pt x="2960" y="568"/>
                  <a:pt x="3296" y="400"/>
                  <a:pt x="3504" y="288"/>
                </a:cubicBezTo>
                <a:cubicBezTo>
                  <a:pt x="3712" y="176"/>
                  <a:pt x="3864" y="48"/>
                  <a:pt x="3936"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33" name="Google Shape;1733;p101"/>
          <p:cNvSpPr txBox="1"/>
          <p:nvPr/>
        </p:nvSpPr>
        <p:spPr>
          <a:xfrm>
            <a:off x="7536825" y="2727325"/>
            <a:ext cx="91723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i=10%</a:t>
            </a:r>
            <a:endParaRPr/>
          </a:p>
        </p:txBody>
      </p:sp>
      <p:sp>
        <p:nvSpPr>
          <p:cNvPr id="1734" name="Google Shape;1734;p101"/>
          <p:cNvSpPr/>
          <p:nvPr/>
        </p:nvSpPr>
        <p:spPr>
          <a:xfrm>
            <a:off x="1905000" y="1965325"/>
            <a:ext cx="6019800" cy="3124200"/>
          </a:xfrm>
          <a:custGeom>
            <a:avLst/>
            <a:gdLst/>
            <a:ahLst/>
            <a:cxnLst/>
            <a:rect l="l" t="t" r="r" b="b"/>
            <a:pathLst>
              <a:path w="3792" h="1968" extrusionOk="0">
                <a:moveTo>
                  <a:pt x="0" y="1968"/>
                </a:moveTo>
                <a:cubicBezTo>
                  <a:pt x="204" y="1936"/>
                  <a:pt x="408" y="1904"/>
                  <a:pt x="672" y="1824"/>
                </a:cubicBezTo>
                <a:cubicBezTo>
                  <a:pt x="936" y="1744"/>
                  <a:pt x="1304" y="1608"/>
                  <a:pt x="1584" y="1488"/>
                </a:cubicBezTo>
                <a:cubicBezTo>
                  <a:pt x="1864" y="1368"/>
                  <a:pt x="2096" y="1264"/>
                  <a:pt x="2352" y="1104"/>
                </a:cubicBezTo>
                <a:cubicBezTo>
                  <a:pt x="2608" y="944"/>
                  <a:pt x="2880" y="712"/>
                  <a:pt x="3120" y="528"/>
                </a:cubicBezTo>
                <a:cubicBezTo>
                  <a:pt x="3360" y="344"/>
                  <a:pt x="3576" y="172"/>
                  <a:pt x="3792"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35" name="Google Shape;1735;p101"/>
          <p:cNvSpPr txBox="1"/>
          <p:nvPr/>
        </p:nvSpPr>
        <p:spPr>
          <a:xfrm>
            <a:off x="7557462" y="1584325"/>
            <a:ext cx="91723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i=15%</a:t>
            </a:r>
            <a:endParaRPr/>
          </a:p>
        </p:txBody>
      </p:sp>
      <p:sp>
        <p:nvSpPr>
          <p:cNvPr id="1736" name="Google Shape;1736;p101"/>
          <p:cNvSpPr txBox="1">
            <a:spLocks noGrp="1"/>
          </p:cNvSpPr>
          <p:nvPr>
            <p:ph type="sldNum" sz="quarter" idx="12"/>
          </p:nvPr>
        </p:nvSpPr>
        <p:spPr>
          <a:xfrm>
            <a:off x="6553200" y="6492875"/>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89</a:t>
            </a:fld>
            <a:endParaRPr sz="120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740"/>
        <p:cNvGrpSpPr/>
        <p:nvPr/>
      </p:nvGrpSpPr>
      <p:grpSpPr>
        <a:xfrm>
          <a:off x="0" y="0"/>
          <a:ext cx="0" cy="0"/>
          <a:chOff x="0" y="0"/>
          <a:chExt cx="0" cy="0"/>
        </a:xfrm>
      </p:grpSpPr>
      <p:sp>
        <p:nvSpPr>
          <p:cNvPr id="1741" name="Google Shape;1741;p102"/>
          <p:cNvSpPr txBox="1"/>
          <p:nvPr/>
        </p:nvSpPr>
        <p:spPr>
          <a:xfrm>
            <a:off x="357188" y="235803"/>
            <a:ext cx="8482012"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Kepekaan nilai kini terhadap perubahan kadar faedah dan bilangan tempoh pendiskaunan</a:t>
            </a:r>
            <a:endParaRPr sz="2400" b="1">
              <a:solidFill>
                <a:schemeClr val="dk1"/>
              </a:solidFill>
              <a:latin typeface="Arial"/>
              <a:ea typeface="Arial"/>
              <a:cs typeface="Arial"/>
              <a:sym typeface="Arial"/>
            </a:endParaRPr>
          </a:p>
        </p:txBody>
      </p:sp>
      <p:cxnSp>
        <p:nvCxnSpPr>
          <p:cNvPr id="1742" name="Google Shape;1742;p102"/>
          <p:cNvCxnSpPr/>
          <p:nvPr/>
        </p:nvCxnSpPr>
        <p:spPr>
          <a:xfrm rot="10800000">
            <a:off x="1905000" y="1143000"/>
            <a:ext cx="0" cy="5575300"/>
          </a:xfrm>
          <a:prstGeom prst="straightConnector1">
            <a:avLst/>
          </a:prstGeom>
          <a:noFill/>
          <a:ln w="38100" cap="flat" cmpd="sng">
            <a:solidFill>
              <a:schemeClr val="dk1"/>
            </a:solidFill>
            <a:prstDash val="solid"/>
            <a:round/>
            <a:headEnd type="none" w="med" len="med"/>
            <a:tailEnd type="triangle" w="med" len="med"/>
          </a:ln>
        </p:spPr>
      </p:cxnSp>
      <p:cxnSp>
        <p:nvCxnSpPr>
          <p:cNvPr id="1743" name="Google Shape;1743;p102"/>
          <p:cNvCxnSpPr/>
          <p:nvPr/>
        </p:nvCxnSpPr>
        <p:spPr>
          <a:xfrm>
            <a:off x="1828800" y="5791200"/>
            <a:ext cx="6781800" cy="0"/>
          </a:xfrm>
          <a:prstGeom prst="straightConnector1">
            <a:avLst/>
          </a:prstGeom>
          <a:noFill/>
          <a:ln w="38100" cap="flat" cmpd="sng">
            <a:solidFill>
              <a:schemeClr val="dk1"/>
            </a:solidFill>
            <a:prstDash val="solid"/>
            <a:round/>
            <a:headEnd type="none" w="med" len="med"/>
            <a:tailEnd type="triangle" w="med" len="med"/>
          </a:ln>
        </p:spPr>
      </p:cxnSp>
      <p:cxnSp>
        <p:nvCxnSpPr>
          <p:cNvPr id="1744" name="Google Shape;1744;p102"/>
          <p:cNvCxnSpPr/>
          <p:nvPr/>
        </p:nvCxnSpPr>
        <p:spPr>
          <a:xfrm>
            <a:off x="1676400" y="4953000"/>
            <a:ext cx="457200" cy="0"/>
          </a:xfrm>
          <a:prstGeom prst="straightConnector1">
            <a:avLst/>
          </a:prstGeom>
          <a:noFill/>
          <a:ln w="38100" cap="flat" cmpd="sng">
            <a:solidFill>
              <a:schemeClr val="dk1"/>
            </a:solidFill>
            <a:prstDash val="solid"/>
            <a:round/>
            <a:headEnd type="none" w="med" len="med"/>
            <a:tailEnd type="none" w="med" len="med"/>
          </a:ln>
        </p:spPr>
      </p:cxnSp>
      <p:cxnSp>
        <p:nvCxnSpPr>
          <p:cNvPr id="1745" name="Google Shape;1745;p102"/>
          <p:cNvCxnSpPr/>
          <p:nvPr/>
        </p:nvCxnSpPr>
        <p:spPr>
          <a:xfrm>
            <a:off x="1676400" y="4114800"/>
            <a:ext cx="457200" cy="0"/>
          </a:xfrm>
          <a:prstGeom prst="straightConnector1">
            <a:avLst/>
          </a:prstGeom>
          <a:noFill/>
          <a:ln w="38100" cap="flat" cmpd="sng">
            <a:solidFill>
              <a:schemeClr val="dk1"/>
            </a:solidFill>
            <a:prstDash val="solid"/>
            <a:round/>
            <a:headEnd type="none" w="med" len="med"/>
            <a:tailEnd type="none" w="med" len="med"/>
          </a:ln>
        </p:spPr>
      </p:cxnSp>
      <p:cxnSp>
        <p:nvCxnSpPr>
          <p:cNvPr id="1746" name="Google Shape;1746;p102"/>
          <p:cNvCxnSpPr/>
          <p:nvPr/>
        </p:nvCxnSpPr>
        <p:spPr>
          <a:xfrm>
            <a:off x="1676400" y="3276600"/>
            <a:ext cx="457200" cy="0"/>
          </a:xfrm>
          <a:prstGeom prst="straightConnector1">
            <a:avLst/>
          </a:prstGeom>
          <a:noFill/>
          <a:ln w="38100" cap="flat" cmpd="sng">
            <a:solidFill>
              <a:schemeClr val="dk1"/>
            </a:solidFill>
            <a:prstDash val="solid"/>
            <a:round/>
            <a:headEnd type="none" w="med" len="med"/>
            <a:tailEnd type="none" w="med" len="med"/>
          </a:ln>
        </p:spPr>
      </p:cxnSp>
      <p:cxnSp>
        <p:nvCxnSpPr>
          <p:cNvPr id="1747" name="Google Shape;1747;p102"/>
          <p:cNvCxnSpPr/>
          <p:nvPr/>
        </p:nvCxnSpPr>
        <p:spPr>
          <a:xfrm>
            <a:off x="1676400" y="2438400"/>
            <a:ext cx="457200" cy="0"/>
          </a:xfrm>
          <a:prstGeom prst="straightConnector1">
            <a:avLst/>
          </a:prstGeom>
          <a:noFill/>
          <a:ln w="38100" cap="flat" cmpd="sng">
            <a:solidFill>
              <a:schemeClr val="dk1"/>
            </a:solidFill>
            <a:prstDash val="solid"/>
            <a:round/>
            <a:headEnd type="none" w="med" len="med"/>
            <a:tailEnd type="none" w="med" len="med"/>
          </a:ln>
        </p:spPr>
      </p:cxnSp>
      <p:cxnSp>
        <p:nvCxnSpPr>
          <p:cNvPr id="1748" name="Google Shape;1748;p102"/>
          <p:cNvCxnSpPr/>
          <p:nvPr/>
        </p:nvCxnSpPr>
        <p:spPr>
          <a:xfrm>
            <a:off x="2971800" y="56388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749" name="Google Shape;1749;p102"/>
          <p:cNvCxnSpPr/>
          <p:nvPr/>
        </p:nvCxnSpPr>
        <p:spPr>
          <a:xfrm>
            <a:off x="4038600" y="56388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750" name="Google Shape;1750;p102"/>
          <p:cNvCxnSpPr/>
          <p:nvPr/>
        </p:nvCxnSpPr>
        <p:spPr>
          <a:xfrm>
            <a:off x="5105400" y="56388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751" name="Google Shape;1751;p102"/>
          <p:cNvCxnSpPr/>
          <p:nvPr/>
        </p:nvCxnSpPr>
        <p:spPr>
          <a:xfrm>
            <a:off x="6172200" y="56388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752" name="Google Shape;1752;p102"/>
          <p:cNvCxnSpPr/>
          <p:nvPr/>
        </p:nvCxnSpPr>
        <p:spPr>
          <a:xfrm>
            <a:off x="7239000" y="5638800"/>
            <a:ext cx="0" cy="457200"/>
          </a:xfrm>
          <a:prstGeom prst="straightConnector1">
            <a:avLst/>
          </a:prstGeom>
          <a:noFill/>
          <a:ln w="38100" cap="flat" cmpd="sng">
            <a:solidFill>
              <a:schemeClr val="dk1"/>
            </a:solidFill>
            <a:prstDash val="solid"/>
            <a:round/>
            <a:headEnd type="none" w="med" len="med"/>
            <a:tailEnd type="none" w="med" len="med"/>
          </a:ln>
        </p:spPr>
      </p:cxnSp>
      <p:sp>
        <p:nvSpPr>
          <p:cNvPr id="1753" name="Google Shape;1753;p102"/>
          <p:cNvSpPr txBox="1"/>
          <p:nvPr/>
        </p:nvSpPr>
        <p:spPr>
          <a:xfrm>
            <a:off x="378266" y="1279525"/>
            <a:ext cx="1353255"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Nilai kini</a:t>
            </a:r>
            <a:endParaRPr sz="2000" b="1">
              <a:solidFill>
                <a:schemeClr val="dk1"/>
              </a:solidFill>
              <a:latin typeface="Arial"/>
              <a:ea typeface="Arial"/>
              <a:cs typeface="Arial"/>
              <a:sym typeface="Arial"/>
            </a:endParaRPr>
          </a:p>
          <a:p>
            <a:pPr marL="0" marR="0" lvl="0" indent="0" algn="ctr" rtl="0">
              <a:spcBef>
                <a:spcPts val="0"/>
              </a:spcBef>
              <a:spcAft>
                <a:spcPts val="0"/>
              </a:spcAft>
              <a:buNone/>
            </a:pPr>
            <a:r>
              <a:rPr lang="en-US" sz="2000" b="1">
                <a:solidFill>
                  <a:schemeClr val="dk1"/>
                </a:solidFill>
                <a:latin typeface="Arial"/>
                <a:ea typeface="Arial"/>
                <a:cs typeface="Arial"/>
                <a:sym typeface="Arial"/>
              </a:rPr>
              <a:t>Bagi RM1</a:t>
            </a:r>
            <a:endParaRPr/>
          </a:p>
        </p:txBody>
      </p:sp>
      <p:sp>
        <p:nvSpPr>
          <p:cNvPr id="1754" name="Google Shape;1754;p102"/>
          <p:cNvSpPr txBox="1"/>
          <p:nvPr/>
        </p:nvSpPr>
        <p:spPr>
          <a:xfrm>
            <a:off x="795049" y="4724400"/>
            <a:ext cx="6832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0.25</a:t>
            </a:r>
            <a:endParaRPr/>
          </a:p>
        </p:txBody>
      </p:sp>
      <p:sp>
        <p:nvSpPr>
          <p:cNvPr id="1755" name="Google Shape;1755;p102"/>
          <p:cNvSpPr txBox="1"/>
          <p:nvPr/>
        </p:nvSpPr>
        <p:spPr>
          <a:xfrm>
            <a:off x="795049" y="3962400"/>
            <a:ext cx="6832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0.50</a:t>
            </a:r>
            <a:endParaRPr/>
          </a:p>
        </p:txBody>
      </p:sp>
      <p:sp>
        <p:nvSpPr>
          <p:cNvPr id="1756" name="Google Shape;1756;p102"/>
          <p:cNvSpPr txBox="1"/>
          <p:nvPr/>
        </p:nvSpPr>
        <p:spPr>
          <a:xfrm>
            <a:off x="795049" y="3124200"/>
            <a:ext cx="6832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0.75</a:t>
            </a:r>
            <a:endParaRPr/>
          </a:p>
        </p:txBody>
      </p:sp>
      <p:sp>
        <p:nvSpPr>
          <p:cNvPr id="1757" name="Google Shape;1757;p102"/>
          <p:cNvSpPr txBox="1"/>
          <p:nvPr/>
        </p:nvSpPr>
        <p:spPr>
          <a:xfrm>
            <a:off x="795049" y="2209800"/>
            <a:ext cx="6832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1.00</a:t>
            </a:r>
            <a:endParaRPr/>
          </a:p>
        </p:txBody>
      </p:sp>
      <p:sp>
        <p:nvSpPr>
          <p:cNvPr id="1758" name="Google Shape;1758;p102"/>
          <p:cNvSpPr txBox="1"/>
          <p:nvPr/>
        </p:nvSpPr>
        <p:spPr>
          <a:xfrm>
            <a:off x="7829157" y="5867400"/>
            <a:ext cx="86914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masa</a:t>
            </a:r>
            <a:endParaRPr/>
          </a:p>
        </p:txBody>
      </p:sp>
      <p:sp>
        <p:nvSpPr>
          <p:cNvPr id="1759" name="Google Shape;1759;p102"/>
          <p:cNvSpPr txBox="1"/>
          <p:nvPr/>
        </p:nvSpPr>
        <p:spPr>
          <a:xfrm>
            <a:off x="2828770" y="6080125"/>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2</a:t>
            </a:r>
            <a:endParaRPr/>
          </a:p>
        </p:txBody>
      </p:sp>
      <p:sp>
        <p:nvSpPr>
          <p:cNvPr id="1760" name="Google Shape;1760;p102"/>
          <p:cNvSpPr txBox="1"/>
          <p:nvPr/>
        </p:nvSpPr>
        <p:spPr>
          <a:xfrm>
            <a:off x="3854295" y="6096000"/>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4</a:t>
            </a:r>
            <a:endParaRPr/>
          </a:p>
        </p:txBody>
      </p:sp>
      <p:sp>
        <p:nvSpPr>
          <p:cNvPr id="1761" name="Google Shape;1761;p102"/>
          <p:cNvSpPr txBox="1"/>
          <p:nvPr/>
        </p:nvSpPr>
        <p:spPr>
          <a:xfrm>
            <a:off x="4921095" y="6096000"/>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6</a:t>
            </a:r>
            <a:endParaRPr/>
          </a:p>
        </p:txBody>
      </p:sp>
      <p:sp>
        <p:nvSpPr>
          <p:cNvPr id="1762" name="Google Shape;1762;p102"/>
          <p:cNvSpPr txBox="1"/>
          <p:nvPr/>
        </p:nvSpPr>
        <p:spPr>
          <a:xfrm>
            <a:off x="5987895" y="6096000"/>
            <a:ext cx="327334"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8</a:t>
            </a:r>
            <a:endParaRPr/>
          </a:p>
        </p:txBody>
      </p:sp>
      <p:sp>
        <p:nvSpPr>
          <p:cNvPr id="1763" name="Google Shape;1763;p102"/>
          <p:cNvSpPr txBox="1"/>
          <p:nvPr/>
        </p:nvSpPr>
        <p:spPr>
          <a:xfrm>
            <a:off x="7029400" y="6096000"/>
            <a:ext cx="47000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10</a:t>
            </a:r>
            <a:endParaRPr/>
          </a:p>
        </p:txBody>
      </p:sp>
      <p:cxnSp>
        <p:nvCxnSpPr>
          <p:cNvPr id="1764" name="Google Shape;1764;p102"/>
          <p:cNvCxnSpPr/>
          <p:nvPr/>
        </p:nvCxnSpPr>
        <p:spPr>
          <a:xfrm>
            <a:off x="1828800" y="2438400"/>
            <a:ext cx="6400800" cy="0"/>
          </a:xfrm>
          <a:prstGeom prst="straightConnector1">
            <a:avLst/>
          </a:prstGeom>
          <a:noFill/>
          <a:ln w="9525" cap="flat" cmpd="sng">
            <a:solidFill>
              <a:schemeClr val="dk1"/>
            </a:solidFill>
            <a:prstDash val="solid"/>
            <a:round/>
            <a:headEnd type="none" w="med" len="med"/>
            <a:tailEnd type="stealth" w="med" len="med"/>
          </a:ln>
        </p:spPr>
      </p:cxnSp>
      <p:sp>
        <p:nvSpPr>
          <p:cNvPr id="1765" name="Google Shape;1765;p102"/>
          <p:cNvSpPr txBox="1"/>
          <p:nvPr/>
        </p:nvSpPr>
        <p:spPr>
          <a:xfrm>
            <a:off x="7527196" y="2057400"/>
            <a:ext cx="774571"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i=0%</a:t>
            </a:r>
            <a:endParaRPr/>
          </a:p>
        </p:txBody>
      </p:sp>
      <p:sp>
        <p:nvSpPr>
          <p:cNvPr id="1766" name="Google Shape;1766;p102"/>
          <p:cNvSpPr txBox="1"/>
          <p:nvPr/>
        </p:nvSpPr>
        <p:spPr>
          <a:xfrm>
            <a:off x="7547834" y="2498725"/>
            <a:ext cx="774571"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i=5%</a:t>
            </a:r>
            <a:endParaRPr/>
          </a:p>
        </p:txBody>
      </p:sp>
      <p:sp>
        <p:nvSpPr>
          <p:cNvPr id="1767" name="Google Shape;1767;p102"/>
          <p:cNvSpPr txBox="1"/>
          <p:nvPr/>
        </p:nvSpPr>
        <p:spPr>
          <a:xfrm>
            <a:off x="7536825" y="3413125"/>
            <a:ext cx="917239"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i=10%</a:t>
            </a:r>
            <a:endParaRPr/>
          </a:p>
        </p:txBody>
      </p:sp>
      <p:sp>
        <p:nvSpPr>
          <p:cNvPr id="1768" name="Google Shape;1768;p102"/>
          <p:cNvSpPr txBox="1"/>
          <p:nvPr/>
        </p:nvSpPr>
        <p:spPr>
          <a:xfrm>
            <a:off x="7557462" y="4479925"/>
            <a:ext cx="917239"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i=15%</a:t>
            </a:r>
            <a:endParaRPr/>
          </a:p>
        </p:txBody>
      </p:sp>
      <p:sp>
        <p:nvSpPr>
          <p:cNvPr id="1769" name="Google Shape;1769;p102"/>
          <p:cNvSpPr/>
          <p:nvPr/>
        </p:nvSpPr>
        <p:spPr>
          <a:xfrm>
            <a:off x="1905000" y="2438400"/>
            <a:ext cx="6248400" cy="547688"/>
          </a:xfrm>
          <a:custGeom>
            <a:avLst/>
            <a:gdLst/>
            <a:ahLst/>
            <a:cxnLst/>
            <a:rect l="l" t="t" r="r" b="b"/>
            <a:pathLst>
              <a:path w="3936" h="288" extrusionOk="0">
                <a:moveTo>
                  <a:pt x="0" y="0"/>
                </a:moveTo>
                <a:cubicBezTo>
                  <a:pt x="396" y="16"/>
                  <a:pt x="792" y="32"/>
                  <a:pt x="1104" y="48"/>
                </a:cubicBezTo>
                <a:cubicBezTo>
                  <a:pt x="1416" y="64"/>
                  <a:pt x="1560" y="72"/>
                  <a:pt x="1872" y="96"/>
                </a:cubicBezTo>
                <a:cubicBezTo>
                  <a:pt x="2184" y="120"/>
                  <a:pt x="2632" y="160"/>
                  <a:pt x="2976" y="192"/>
                </a:cubicBezTo>
                <a:cubicBezTo>
                  <a:pt x="3320" y="224"/>
                  <a:pt x="3628" y="256"/>
                  <a:pt x="3936" y="288"/>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Arial"/>
              <a:ea typeface="Arial"/>
              <a:cs typeface="Arial"/>
              <a:sym typeface="Arial"/>
            </a:endParaRPr>
          </a:p>
        </p:txBody>
      </p:sp>
      <p:sp>
        <p:nvSpPr>
          <p:cNvPr id="1770" name="Google Shape;1770;p102"/>
          <p:cNvSpPr/>
          <p:nvPr/>
        </p:nvSpPr>
        <p:spPr>
          <a:xfrm>
            <a:off x="1905000" y="2438400"/>
            <a:ext cx="6324600" cy="1827213"/>
          </a:xfrm>
          <a:custGeom>
            <a:avLst/>
            <a:gdLst/>
            <a:ahLst/>
            <a:cxnLst/>
            <a:rect l="l" t="t" r="r" b="b"/>
            <a:pathLst>
              <a:path w="3984" h="960" extrusionOk="0">
                <a:moveTo>
                  <a:pt x="0" y="0"/>
                </a:moveTo>
                <a:cubicBezTo>
                  <a:pt x="328" y="44"/>
                  <a:pt x="656" y="88"/>
                  <a:pt x="960" y="144"/>
                </a:cubicBezTo>
                <a:cubicBezTo>
                  <a:pt x="1264" y="200"/>
                  <a:pt x="1504" y="256"/>
                  <a:pt x="1824" y="336"/>
                </a:cubicBezTo>
                <a:cubicBezTo>
                  <a:pt x="2144" y="416"/>
                  <a:pt x="2520" y="520"/>
                  <a:pt x="2880" y="624"/>
                </a:cubicBezTo>
                <a:cubicBezTo>
                  <a:pt x="3240" y="728"/>
                  <a:pt x="3800" y="904"/>
                  <a:pt x="3984" y="96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Arial"/>
              <a:ea typeface="Arial"/>
              <a:cs typeface="Arial"/>
              <a:sym typeface="Arial"/>
            </a:endParaRPr>
          </a:p>
        </p:txBody>
      </p:sp>
      <p:sp>
        <p:nvSpPr>
          <p:cNvPr id="1771" name="Google Shape;1771;p102"/>
          <p:cNvSpPr/>
          <p:nvPr/>
        </p:nvSpPr>
        <p:spPr>
          <a:xfrm>
            <a:off x="1905000" y="2438400"/>
            <a:ext cx="6248400" cy="3290888"/>
          </a:xfrm>
          <a:custGeom>
            <a:avLst/>
            <a:gdLst/>
            <a:ahLst/>
            <a:cxnLst/>
            <a:rect l="l" t="t" r="r" b="b"/>
            <a:pathLst>
              <a:path w="3936" h="1728" extrusionOk="0">
                <a:moveTo>
                  <a:pt x="0" y="0"/>
                </a:moveTo>
                <a:cubicBezTo>
                  <a:pt x="196" y="48"/>
                  <a:pt x="392" y="96"/>
                  <a:pt x="672" y="192"/>
                </a:cubicBezTo>
                <a:cubicBezTo>
                  <a:pt x="952" y="288"/>
                  <a:pt x="1288" y="416"/>
                  <a:pt x="1680" y="576"/>
                </a:cubicBezTo>
                <a:cubicBezTo>
                  <a:pt x="2072" y="736"/>
                  <a:pt x="2648" y="960"/>
                  <a:pt x="3024" y="1152"/>
                </a:cubicBezTo>
                <a:cubicBezTo>
                  <a:pt x="3400" y="1344"/>
                  <a:pt x="3668" y="1536"/>
                  <a:pt x="3936" y="1728"/>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Arial"/>
              <a:ea typeface="Arial"/>
              <a:cs typeface="Arial"/>
              <a:sym typeface="Arial"/>
            </a:endParaRPr>
          </a:p>
        </p:txBody>
      </p:sp>
      <p:sp>
        <p:nvSpPr>
          <p:cNvPr id="1772" name="Google Shape;1772;p10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90</a:t>
            </a:fld>
            <a:endParaRPr sz="120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776"/>
        <p:cNvGrpSpPr/>
        <p:nvPr/>
      </p:nvGrpSpPr>
      <p:grpSpPr>
        <a:xfrm>
          <a:off x="0" y="0"/>
          <a:ext cx="0" cy="0"/>
          <a:chOff x="0" y="0"/>
          <a:chExt cx="0" cy="0"/>
        </a:xfrm>
      </p:grpSpPr>
      <p:sp>
        <p:nvSpPr>
          <p:cNvPr id="1777" name="Google Shape;1777;p103"/>
          <p:cNvSpPr/>
          <p:nvPr/>
        </p:nvSpPr>
        <p:spPr>
          <a:xfrm>
            <a:off x="381000" y="228600"/>
            <a:ext cx="83058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Mencari kadar faedah   (i)</a:t>
            </a:r>
            <a:endParaRPr/>
          </a:p>
        </p:txBody>
      </p:sp>
      <p:grpSp>
        <p:nvGrpSpPr>
          <p:cNvPr id="1778" name="Google Shape;1778;p103"/>
          <p:cNvGrpSpPr/>
          <p:nvPr/>
        </p:nvGrpSpPr>
        <p:grpSpPr>
          <a:xfrm>
            <a:off x="1359083" y="2647890"/>
            <a:ext cx="5651317" cy="1466910"/>
            <a:chOff x="1359083" y="2647890"/>
            <a:chExt cx="5651317" cy="1466910"/>
          </a:xfrm>
        </p:grpSpPr>
        <p:cxnSp>
          <p:nvCxnSpPr>
            <p:cNvPr id="1779" name="Google Shape;1779;p103"/>
            <p:cNvCxnSpPr/>
            <p:nvPr/>
          </p:nvCxnSpPr>
          <p:spPr>
            <a:xfrm>
              <a:off x="1701825" y="3257490"/>
              <a:ext cx="4800600" cy="0"/>
            </a:xfrm>
            <a:prstGeom prst="straightConnector1">
              <a:avLst/>
            </a:prstGeom>
            <a:noFill/>
            <a:ln w="38100" cap="flat" cmpd="sng">
              <a:solidFill>
                <a:schemeClr val="dk1"/>
              </a:solidFill>
              <a:prstDash val="solid"/>
              <a:round/>
              <a:headEnd type="none" w="med" len="med"/>
              <a:tailEnd type="none" w="med" len="med"/>
            </a:ln>
          </p:spPr>
        </p:cxnSp>
        <p:cxnSp>
          <p:nvCxnSpPr>
            <p:cNvPr id="1780" name="Google Shape;1780;p103"/>
            <p:cNvCxnSpPr/>
            <p:nvPr/>
          </p:nvCxnSpPr>
          <p:spPr>
            <a:xfrm>
              <a:off x="1701825" y="3105090"/>
              <a:ext cx="0" cy="304800"/>
            </a:xfrm>
            <a:prstGeom prst="straightConnector1">
              <a:avLst/>
            </a:prstGeom>
            <a:noFill/>
            <a:ln w="38100" cap="flat" cmpd="sng">
              <a:solidFill>
                <a:schemeClr val="dk1"/>
              </a:solidFill>
              <a:prstDash val="solid"/>
              <a:round/>
              <a:headEnd type="none" w="med" len="med"/>
              <a:tailEnd type="none" w="med" len="med"/>
            </a:ln>
          </p:spPr>
        </p:cxnSp>
        <p:cxnSp>
          <p:nvCxnSpPr>
            <p:cNvPr id="1781" name="Google Shape;1781;p103"/>
            <p:cNvCxnSpPr/>
            <p:nvPr/>
          </p:nvCxnSpPr>
          <p:spPr>
            <a:xfrm>
              <a:off x="2997225" y="3105090"/>
              <a:ext cx="0" cy="304800"/>
            </a:xfrm>
            <a:prstGeom prst="straightConnector1">
              <a:avLst/>
            </a:prstGeom>
            <a:noFill/>
            <a:ln w="38100" cap="flat" cmpd="sng">
              <a:solidFill>
                <a:schemeClr val="dk1"/>
              </a:solidFill>
              <a:prstDash val="solid"/>
              <a:round/>
              <a:headEnd type="none" w="med" len="med"/>
              <a:tailEnd type="none" w="med" len="med"/>
            </a:ln>
          </p:spPr>
        </p:cxnSp>
        <p:cxnSp>
          <p:nvCxnSpPr>
            <p:cNvPr id="1782" name="Google Shape;1782;p103"/>
            <p:cNvCxnSpPr/>
            <p:nvPr/>
          </p:nvCxnSpPr>
          <p:spPr>
            <a:xfrm>
              <a:off x="4445025" y="3105090"/>
              <a:ext cx="0" cy="304800"/>
            </a:xfrm>
            <a:prstGeom prst="straightConnector1">
              <a:avLst/>
            </a:prstGeom>
            <a:noFill/>
            <a:ln w="38100" cap="flat" cmpd="sng">
              <a:solidFill>
                <a:schemeClr val="dk1"/>
              </a:solidFill>
              <a:prstDash val="solid"/>
              <a:round/>
              <a:headEnd type="none" w="med" len="med"/>
              <a:tailEnd type="none" w="med" len="med"/>
            </a:ln>
          </p:spPr>
        </p:cxnSp>
        <p:cxnSp>
          <p:nvCxnSpPr>
            <p:cNvPr id="1783" name="Google Shape;1783;p103"/>
            <p:cNvCxnSpPr/>
            <p:nvPr/>
          </p:nvCxnSpPr>
          <p:spPr>
            <a:xfrm>
              <a:off x="5892825" y="3105090"/>
              <a:ext cx="0" cy="304800"/>
            </a:xfrm>
            <a:prstGeom prst="straightConnector1">
              <a:avLst/>
            </a:prstGeom>
            <a:noFill/>
            <a:ln w="38100" cap="flat" cmpd="sng">
              <a:solidFill>
                <a:schemeClr val="dk1"/>
              </a:solidFill>
              <a:prstDash val="solid"/>
              <a:round/>
              <a:headEnd type="none" w="med" len="med"/>
              <a:tailEnd type="none" w="med" len="med"/>
            </a:ln>
          </p:spPr>
        </p:cxnSp>
        <p:sp>
          <p:nvSpPr>
            <p:cNvPr id="1784" name="Google Shape;1784;p103"/>
            <p:cNvSpPr txBox="1"/>
            <p:nvPr/>
          </p:nvSpPr>
          <p:spPr>
            <a:xfrm>
              <a:off x="1477198" y="2654240"/>
              <a:ext cx="45878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1785" name="Google Shape;1785;p103"/>
            <p:cNvSpPr txBox="1"/>
            <p:nvPr/>
          </p:nvSpPr>
          <p:spPr>
            <a:xfrm>
              <a:off x="2789266" y="2647890"/>
              <a:ext cx="45878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1786" name="Google Shape;1786;p103"/>
            <p:cNvSpPr txBox="1"/>
            <p:nvPr/>
          </p:nvSpPr>
          <p:spPr>
            <a:xfrm>
              <a:off x="4237066" y="2647890"/>
              <a:ext cx="45878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1787" name="Google Shape;1787;p103"/>
            <p:cNvSpPr txBox="1"/>
            <p:nvPr/>
          </p:nvSpPr>
          <p:spPr>
            <a:xfrm>
              <a:off x="5703619" y="2647890"/>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1788" name="Google Shape;1788;p103"/>
            <p:cNvSpPr txBox="1"/>
            <p:nvPr/>
          </p:nvSpPr>
          <p:spPr>
            <a:xfrm>
              <a:off x="1359083" y="3333690"/>
              <a:ext cx="755335"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1500</a:t>
              </a:r>
              <a:endParaRPr/>
            </a:p>
          </p:txBody>
        </p:sp>
        <p:cxnSp>
          <p:nvCxnSpPr>
            <p:cNvPr id="1789" name="Google Shape;1789;p103"/>
            <p:cNvCxnSpPr/>
            <p:nvPr/>
          </p:nvCxnSpPr>
          <p:spPr>
            <a:xfrm>
              <a:off x="1701825" y="3714690"/>
              <a:ext cx="0" cy="228600"/>
            </a:xfrm>
            <a:prstGeom prst="straightConnector1">
              <a:avLst/>
            </a:prstGeom>
            <a:noFill/>
            <a:ln w="38100" cap="flat" cmpd="sng">
              <a:solidFill>
                <a:schemeClr val="dk1"/>
              </a:solidFill>
              <a:prstDash val="solid"/>
              <a:round/>
              <a:headEnd type="none" w="med" len="med"/>
              <a:tailEnd type="none" w="med" len="med"/>
            </a:ln>
          </p:spPr>
        </p:cxnSp>
        <p:cxnSp>
          <p:nvCxnSpPr>
            <p:cNvPr id="1790" name="Google Shape;1790;p103"/>
            <p:cNvCxnSpPr/>
            <p:nvPr/>
          </p:nvCxnSpPr>
          <p:spPr>
            <a:xfrm>
              <a:off x="1701825" y="3943290"/>
              <a:ext cx="4191000" cy="0"/>
            </a:xfrm>
            <a:prstGeom prst="straightConnector1">
              <a:avLst/>
            </a:prstGeom>
            <a:noFill/>
            <a:ln w="38100" cap="flat" cmpd="sng">
              <a:solidFill>
                <a:schemeClr val="dk1"/>
              </a:solidFill>
              <a:prstDash val="solid"/>
              <a:round/>
              <a:headEnd type="none" w="med" len="med"/>
              <a:tailEnd type="stealth" w="med" len="med"/>
            </a:ln>
          </p:spPr>
        </p:cxnSp>
        <p:sp>
          <p:nvSpPr>
            <p:cNvPr id="1791" name="Google Shape;1791;p103"/>
            <p:cNvSpPr txBox="1"/>
            <p:nvPr/>
          </p:nvSpPr>
          <p:spPr>
            <a:xfrm>
              <a:off x="5899198" y="3714690"/>
              <a:ext cx="11112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1736.40</a:t>
              </a:r>
              <a:endParaRPr/>
            </a:p>
          </p:txBody>
        </p:sp>
        <p:sp>
          <p:nvSpPr>
            <p:cNvPr id="1792" name="Google Shape;1792;p103"/>
            <p:cNvSpPr txBox="1"/>
            <p:nvPr/>
          </p:nvSpPr>
          <p:spPr>
            <a:xfrm>
              <a:off x="2100589" y="2800290"/>
              <a:ext cx="561371"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a:t>
              </a:r>
              <a:endParaRPr/>
            </a:p>
          </p:txBody>
        </p:sp>
      </p:grpSp>
      <p:pic>
        <p:nvPicPr>
          <p:cNvPr id="1793" name="Google Shape;1793;p103"/>
          <p:cNvPicPr preferRelativeResize="0"/>
          <p:nvPr/>
        </p:nvPicPr>
        <p:blipFill rotWithShape="1">
          <a:blip r:embed="rId3">
            <a:alphaModFix/>
          </a:blip>
          <a:srcRect/>
          <a:stretch/>
        </p:blipFill>
        <p:spPr>
          <a:xfrm>
            <a:off x="2205039" y="4246032"/>
            <a:ext cx="2865164" cy="484309"/>
          </a:xfrm>
          <a:prstGeom prst="rect">
            <a:avLst/>
          </a:prstGeom>
          <a:noFill/>
          <a:ln>
            <a:noFill/>
          </a:ln>
        </p:spPr>
      </p:pic>
      <p:pic>
        <p:nvPicPr>
          <p:cNvPr id="1794" name="Google Shape;1794;p103"/>
          <p:cNvPicPr preferRelativeResize="0"/>
          <p:nvPr/>
        </p:nvPicPr>
        <p:blipFill rotWithShape="1">
          <a:blip r:embed="rId4">
            <a:alphaModFix/>
          </a:blip>
          <a:srcRect/>
          <a:stretch/>
        </p:blipFill>
        <p:spPr>
          <a:xfrm>
            <a:off x="1676400" y="4754187"/>
            <a:ext cx="3286395" cy="503613"/>
          </a:xfrm>
          <a:prstGeom prst="rect">
            <a:avLst/>
          </a:prstGeom>
          <a:noFill/>
          <a:ln>
            <a:noFill/>
          </a:ln>
        </p:spPr>
      </p:pic>
      <p:pic>
        <p:nvPicPr>
          <p:cNvPr id="1795" name="Google Shape;1795;p103"/>
          <p:cNvPicPr preferRelativeResize="0"/>
          <p:nvPr/>
        </p:nvPicPr>
        <p:blipFill rotWithShape="1">
          <a:blip r:embed="rId5">
            <a:alphaModFix/>
          </a:blip>
          <a:srcRect/>
          <a:stretch/>
        </p:blipFill>
        <p:spPr>
          <a:xfrm>
            <a:off x="1829788" y="5281646"/>
            <a:ext cx="2742212" cy="509554"/>
          </a:xfrm>
          <a:prstGeom prst="rect">
            <a:avLst/>
          </a:prstGeom>
          <a:noFill/>
          <a:ln>
            <a:noFill/>
          </a:ln>
        </p:spPr>
      </p:pic>
      <p:pic>
        <p:nvPicPr>
          <p:cNvPr id="1796" name="Google Shape;1796;p103"/>
          <p:cNvPicPr preferRelativeResize="0"/>
          <p:nvPr/>
        </p:nvPicPr>
        <p:blipFill rotWithShape="1">
          <a:blip r:embed="rId6">
            <a:alphaModFix/>
          </a:blip>
          <a:srcRect/>
          <a:stretch/>
        </p:blipFill>
        <p:spPr>
          <a:xfrm>
            <a:off x="2668699" y="5791200"/>
            <a:ext cx="988901" cy="304800"/>
          </a:xfrm>
          <a:prstGeom prst="rect">
            <a:avLst/>
          </a:prstGeom>
          <a:noFill/>
          <a:ln>
            <a:noFill/>
          </a:ln>
        </p:spPr>
      </p:pic>
      <p:sp>
        <p:nvSpPr>
          <p:cNvPr id="1797" name="Google Shape;1797;p10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91</a:t>
            </a:fld>
            <a:endParaRPr sz="1200">
              <a:solidFill>
                <a:srgbClr val="1D4577"/>
              </a:solidFill>
              <a:latin typeface="Times New Roman"/>
              <a:ea typeface="Times New Roman"/>
              <a:cs typeface="Times New Roman"/>
              <a:sym typeface="Times New Roman"/>
            </a:endParaRPr>
          </a:p>
        </p:txBody>
      </p:sp>
      <p:sp>
        <p:nvSpPr>
          <p:cNvPr id="1798" name="Google Shape;1798;p103"/>
          <p:cNvSpPr txBox="1"/>
          <p:nvPr/>
        </p:nvSpPr>
        <p:spPr>
          <a:xfrm>
            <a:off x="381000" y="1219200"/>
            <a:ext cx="8305800" cy="120015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Encik Selamat menyimpan sebanyak RM1500 tiga tahun lepas dan nilai simpanannya kini ialah RM1,736.40. Berapakah kadar kompaun yang diterimanya?</a:t>
            </a:r>
            <a:endParaRPr/>
          </a:p>
        </p:txBody>
      </p:sp>
    </p:spTree>
  </p:cSld>
  <p:clrMapOvr>
    <a:masterClrMapping/>
  </p:clrMapOvr>
  <p:transition>
    <p:fade thruBlk="1"/>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802"/>
        <p:cNvGrpSpPr/>
        <p:nvPr/>
      </p:nvGrpSpPr>
      <p:grpSpPr>
        <a:xfrm>
          <a:off x="0" y="0"/>
          <a:ext cx="0" cy="0"/>
          <a:chOff x="0" y="0"/>
          <a:chExt cx="0" cy="0"/>
        </a:xfrm>
      </p:grpSpPr>
      <p:sp>
        <p:nvSpPr>
          <p:cNvPr id="1803" name="Google Shape;1803;p104"/>
          <p:cNvSpPr/>
          <p:nvPr/>
        </p:nvSpPr>
        <p:spPr>
          <a:xfrm>
            <a:off x="466299" y="1392804"/>
            <a:ext cx="8229600" cy="156966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Ashraf ingin menyimpan RM200 hari ini di dalam satu akaun simpanan supaya pada hujung tahun ke tiga belas nanti jumlah simpanannya mencapai RM543.92. Hitung kadar faedah tahunan yang dibayar ke atas simpanannya.</a:t>
            </a:r>
            <a:endParaRPr/>
          </a:p>
        </p:txBody>
      </p:sp>
      <p:pic>
        <p:nvPicPr>
          <p:cNvPr id="1804" name="Google Shape;1804;p104"/>
          <p:cNvPicPr preferRelativeResize="0"/>
          <p:nvPr/>
        </p:nvPicPr>
        <p:blipFill rotWithShape="1">
          <a:blip r:embed="rId3">
            <a:alphaModFix/>
          </a:blip>
          <a:srcRect/>
          <a:stretch/>
        </p:blipFill>
        <p:spPr>
          <a:xfrm>
            <a:off x="2438400" y="3581400"/>
            <a:ext cx="3269754" cy="515967"/>
          </a:xfrm>
          <a:prstGeom prst="rect">
            <a:avLst/>
          </a:prstGeom>
          <a:noFill/>
          <a:ln>
            <a:noFill/>
          </a:ln>
        </p:spPr>
      </p:pic>
      <p:pic>
        <p:nvPicPr>
          <p:cNvPr id="1805" name="Google Shape;1805;p104"/>
          <p:cNvPicPr preferRelativeResize="0"/>
          <p:nvPr/>
        </p:nvPicPr>
        <p:blipFill rotWithShape="1">
          <a:blip r:embed="rId4">
            <a:alphaModFix/>
          </a:blip>
          <a:srcRect/>
          <a:stretch/>
        </p:blipFill>
        <p:spPr>
          <a:xfrm>
            <a:off x="1860550" y="4114800"/>
            <a:ext cx="3854450" cy="515967"/>
          </a:xfrm>
          <a:prstGeom prst="rect">
            <a:avLst/>
          </a:prstGeom>
          <a:noFill/>
          <a:ln>
            <a:noFill/>
          </a:ln>
        </p:spPr>
      </p:pic>
      <p:pic>
        <p:nvPicPr>
          <p:cNvPr id="1806" name="Google Shape;1806;p104"/>
          <p:cNvPicPr preferRelativeResize="0"/>
          <p:nvPr/>
        </p:nvPicPr>
        <p:blipFill rotWithShape="1">
          <a:blip r:embed="rId5">
            <a:alphaModFix/>
          </a:blip>
          <a:srcRect/>
          <a:stretch/>
        </p:blipFill>
        <p:spPr>
          <a:xfrm>
            <a:off x="2819400" y="5181600"/>
            <a:ext cx="1295400" cy="389097"/>
          </a:xfrm>
          <a:prstGeom prst="rect">
            <a:avLst/>
          </a:prstGeom>
          <a:noFill/>
          <a:ln>
            <a:noFill/>
          </a:ln>
        </p:spPr>
      </p:pic>
      <p:sp>
        <p:nvSpPr>
          <p:cNvPr id="1807" name="Google Shape;1807;p10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92</a:t>
            </a:fld>
            <a:endParaRPr sz="1200">
              <a:solidFill>
                <a:srgbClr val="1D4577"/>
              </a:solidFill>
              <a:latin typeface="Times New Roman"/>
              <a:ea typeface="Times New Roman"/>
              <a:cs typeface="Times New Roman"/>
              <a:sym typeface="Times New Roman"/>
            </a:endParaRPr>
          </a:p>
        </p:txBody>
      </p:sp>
      <p:pic>
        <p:nvPicPr>
          <p:cNvPr id="1808" name="Google Shape;1808;p104"/>
          <p:cNvPicPr preferRelativeResize="0"/>
          <p:nvPr/>
        </p:nvPicPr>
        <p:blipFill rotWithShape="1">
          <a:blip r:embed="rId6">
            <a:alphaModFix/>
          </a:blip>
          <a:srcRect/>
          <a:stretch/>
        </p:blipFill>
        <p:spPr>
          <a:xfrm>
            <a:off x="1828800" y="4648200"/>
            <a:ext cx="3475534" cy="515967"/>
          </a:xfrm>
          <a:prstGeom prst="rect">
            <a:avLst/>
          </a:prstGeom>
          <a:noFill/>
          <a:ln>
            <a:noFill/>
          </a:ln>
        </p:spPr>
      </p:pic>
      <p:sp>
        <p:nvSpPr>
          <p:cNvPr id="1809" name="Google Shape;1809;p104"/>
          <p:cNvSpPr txBox="1"/>
          <p:nvPr/>
        </p:nvSpPr>
        <p:spPr>
          <a:xfrm>
            <a:off x="609600" y="685800"/>
            <a:ext cx="2362200" cy="4619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Contoh  </a:t>
            </a:r>
            <a:endParaRPr/>
          </a:p>
        </p:txBody>
      </p:sp>
    </p:spTree>
  </p:cSld>
  <p:clrMapOvr>
    <a:masterClrMapping/>
  </p:clrMapOvr>
  <p:transition>
    <p:fade thruBlk="1"/>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813"/>
        <p:cNvGrpSpPr/>
        <p:nvPr/>
      </p:nvGrpSpPr>
      <p:grpSpPr>
        <a:xfrm>
          <a:off x="0" y="0"/>
          <a:ext cx="0" cy="0"/>
          <a:chOff x="0" y="0"/>
          <a:chExt cx="0" cy="0"/>
        </a:xfrm>
      </p:grpSpPr>
      <p:sp>
        <p:nvSpPr>
          <p:cNvPr id="1814" name="Google Shape;1814;p105"/>
          <p:cNvSpPr/>
          <p:nvPr/>
        </p:nvSpPr>
        <p:spPr>
          <a:xfrm>
            <a:off x="651016" y="690562"/>
            <a:ext cx="7800975"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Mencari tempoh   (n)</a:t>
            </a:r>
            <a:endParaRPr/>
          </a:p>
        </p:txBody>
      </p:sp>
      <p:sp>
        <p:nvSpPr>
          <p:cNvPr id="1815" name="Google Shape;1815;p105"/>
          <p:cNvSpPr txBox="1"/>
          <p:nvPr/>
        </p:nvSpPr>
        <p:spPr>
          <a:xfrm>
            <a:off x="762000" y="3675268"/>
            <a:ext cx="7835900" cy="4619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PV=RM2000,      FV=RM4317.80,        i=8% ,        n= ?</a:t>
            </a:r>
            <a:endParaRPr/>
          </a:p>
        </p:txBody>
      </p:sp>
      <p:pic>
        <p:nvPicPr>
          <p:cNvPr id="1816" name="Google Shape;1816;p105"/>
          <p:cNvPicPr preferRelativeResize="0"/>
          <p:nvPr/>
        </p:nvPicPr>
        <p:blipFill rotWithShape="1">
          <a:blip r:embed="rId3">
            <a:alphaModFix/>
          </a:blip>
          <a:srcRect/>
          <a:stretch/>
        </p:blipFill>
        <p:spPr>
          <a:xfrm>
            <a:off x="2321067" y="4343400"/>
            <a:ext cx="3448050" cy="458665"/>
          </a:xfrm>
          <a:prstGeom prst="rect">
            <a:avLst/>
          </a:prstGeom>
          <a:noFill/>
          <a:ln>
            <a:noFill/>
          </a:ln>
        </p:spPr>
      </p:pic>
      <p:pic>
        <p:nvPicPr>
          <p:cNvPr id="1817" name="Google Shape;1817;p105"/>
          <p:cNvPicPr preferRelativeResize="0"/>
          <p:nvPr/>
        </p:nvPicPr>
        <p:blipFill rotWithShape="1">
          <a:blip r:embed="rId4">
            <a:alphaModFix/>
          </a:blip>
          <a:srcRect/>
          <a:stretch/>
        </p:blipFill>
        <p:spPr>
          <a:xfrm>
            <a:off x="1905000" y="4843165"/>
            <a:ext cx="3429000" cy="492301"/>
          </a:xfrm>
          <a:prstGeom prst="rect">
            <a:avLst/>
          </a:prstGeom>
          <a:noFill/>
          <a:ln>
            <a:noFill/>
          </a:ln>
        </p:spPr>
      </p:pic>
      <p:pic>
        <p:nvPicPr>
          <p:cNvPr id="1818" name="Google Shape;1818;p105"/>
          <p:cNvPicPr preferRelativeResize="0"/>
          <p:nvPr/>
        </p:nvPicPr>
        <p:blipFill rotWithShape="1">
          <a:blip r:embed="rId5">
            <a:alphaModFix/>
          </a:blip>
          <a:srcRect/>
          <a:stretch/>
        </p:blipFill>
        <p:spPr>
          <a:xfrm>
            <a:off x="1752600" y="5335466"/>
            <a:ext cx="3516312" cy="495422"/>
          </a:xfrm>
          <a:prstGeom prst="rect">
            <a:avLst/>
          </a:prstGeom>
          <a:noFill/>
          <a:ln>
            <a:noFill/>
          </a:ln>
        </p:spPr>
      </p:pic>
      <p:sp>
        <p:nvSpPr>
          <p:cNvPr id="1819" name="Google Shape;1819;p105"/>
          <p:cNvSpPr txBox="1"/>
          <p:nvPr/>
        </p:nvSpPr>
        <p:spPr>
          <a:xfrm>
            <a:off x="1943100" y="5830888"/>
            <a:ext cx="3352800" cy="46196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n  = 10 tahun</a:t>
            </a:r>
            <a:endParaRPr sz="2400">
              <a:solidFill>
                <a:schemeClr val="dk1"/>
              </a:solidFill>
              <a:latin typeface="Arial"/>
              <a:ea typeface="Arial"/>
              <a:cs typeface="Arial"/>
              <a:sym typeface="Arial"/>
            </a:endParaRPr>
          </a:p>
        </p:txBody>
      </p:sp>
      <p:sp>
        <p:nvSpPr>
          <p:cNvPr id="1820" name="Google Shape;1820;p10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93</a:t>
            </a:fld>
            <a:endParaRPr sz="1200">
              <a:solidFill>
                <a:srgbClr val="1D4577"/>
              </a:solidFill>
              <a:latin typeface="Times New Roman"/>
              <a:ea typeface="Times New Roman"/>
              <a:cs typeface="Times New Roman"/>
              <a:sym typeface="Times New Roman"/>
            </a:endParaRPr>
          </a:p>
        </p:txBody>
      </p:sp>
      <p:sp>
        <p:nvSpPr>
          <p:cNvPr id="1821" name="Google Shape;1821;p105"/>
          <p:cNvSpPr txBox="1"/>
          <p:nvPr/>
        </p:nvSpPr>
        <p:spPr>
          <a:xfrm>
            <a:off x="679591" y="1832766"/>
            <a:ext cx="7772400" cy="156966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Jenny menyimpan sebanyak RM2000 dalam akaun simpanannya dengan kadar faedah 8% setahun. Berapa lamakah simpanannya akan mencapai RM4,317.80?</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15"/>
                                        </p:tgtEl>
                                        <p:attrNameLst>
                                          <p:attrName>style.visibility</p:attrName>
                                        </p:attrNameLst>
                                      </p:cBhvr>
                                      <p:to>
                                        <p:strVal val="visible"/>
                                      </p:to>
                                    </p:set>
                                    <p:anim calcmode="lin" valueType="num">
                                      <p:cBhvr additive="base">
                                        <p:cTn id="7" dur="500"/>
                                        <p:tgtEl>
                                          <p:spTgt spid="1815"/>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819"/>
                                        </p:tgtEl>
                                        <p:attrNameLst>
                                          <p:attrName>style.visibility</p:attrName>
                                        </p:attrNameLst>
                                      </p:cBhvr>
                                      <p:to>
                                        <p:strVal val="visible"/>
                                      </p:to>
                                    </p:set>
                                    <p:anim calcmode="lin" valueType="num">
                                      <p:cBhvr additive="base">
                                        <p:cTn id="12" dur="500"/>
                                        <p:tgtEl>
                                          <p:spTgt spid="181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825"/>
        <p:cNvGrpSpPr/>
        <p:nvPr/>
      </p:nvGrpSpPr>
      <p:grpSpPr>
        <a:xfrm>
          <a:off x="0" y="0"/>
          <a:ext cx="0" cy="0"/>
          <a:chOff x="0" y="0"/>
          <a:chExt cx="0" cy="0"/>
        </a:xfrm>
      </p:grpSpPr>
      <p:sp>
        <p:nvSpPr>
          <p:cNvPr id="1826" name="Google Shape;1826;p106"/>
          <p:cNvSpPr txBox="1"/>
          <p:nvPr/>
        </p:nvSpPr>
        <p:spPr>
          <a:xfrm>
            <a:off x="400137" y="1146538"/>
            <a:ext cx="8342313" cy="120032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Encik Nizar melabur sebanyak RM6000 dalam satu pelaburan dengan kadar keuntungan 8% setahun. Berapa lamakah pelaburannya akan mencapai RM12953.40?</a:t>
            </a:r>
            <a:endParaRPr sz="2400">
              <a:solidFill>
                <a:schemeClr val="dk1"/>
              </a:solidFill>
              <a:latin typeface="Arial"/>
              <a:ea typeface="Arial"/>
              <a:cs typeface="Arial"/>
              <a:sym typeface="Arial"/>
            </a:endParaRPr>
          </a:p>
        </p:txBody>
      </p:sp>
      <p:pic>
        <p:nvPicPr>
          <p:cNvPr id="1827" name="Google Shape;1827;p106"/>
          <p:cNvPicPr preferRelativeResize="0"/>
          <p:nvPr/>
        </p:nvPicPr>
        <p:blipFill rotWithShape="1">
          <a:blip r:embed="rId3">
            <a:alphaModFix/>
          </a:blip>
          <a:srcRect/>
          <a:stretch/>
        </p:blipFill>
        <p:spPr>
          <a:xfrm>
            <a:off x="2289846" y="2895600"/>
            <a:ext cx="3478945" cy="542610"/>
          </a:xfrm>
          <a:prstGeom prst="rect">
            <a:avLst/>
          </a:prstGeom>
          <a:noFill/>
          <a:ln>
            <a:noFill/>
          </a:ln>
        </p:spPr>
      </p:pic>
      <p:pic>
        <p:nvPicPr>
          <p:cNvPr id="1828" name="Google Shape;1828;p106"/>
          <p:cNvPicPr preferRelativeResize="0"/>
          <p:nvPr/>
        </p:nvPicPr>
        <p:blipFill rotWithShape="1">
          <a:blip r:embed="rId4">
            <a:alphaModFix/>
          </a:blip>
          <a:srcRect/>
          <a:stretch/>
        </p:blipFill>
        <p:spPr>
          <a:xfrm>
            <a:off x="1697658" y="3505200"/>
            <a:ext cx="3636342" cy="541978"/>
          </a:xfrm>
          <a:prstGeom prst="rect">
            <a:avLst/>
          </a:prstGeom>
          <a:noFill/>
          <a:ln>
            <a:noFill/>
          </a:ln>
        </p:spPr>
      </p:pic>
      <p:pic>
        <p:nvPicPr>
          <p:cNvPr id="1829" name="Google Shape;1829;p106"/>
          <p:cNvPicPr preferRelativeResize="0"/>
          <p:nvPr/>
        </p:nvPicPr>
        <p:blipFill rotWithShape="1">
          <a:blip r:embed="rId5">
            <a:alphaModFix/>
          </a:blip>
          <a:srcRect/>
          <a:stretch/>
        </p:blipFill>
        <p:spPr>
          <a:xfrm>
            <a:off x="1127830" y="4038600"/>
            <a:ext cx="3444170" cy="542610"/>
          </a:xfrm>
          <a:prstGeom prst="rect">
            <a:avLst/>
          </a:prstGeom>
          <a:noFill/>
          <a:ln>
            <a:noFill/>
          </a:ln>
        </p:spPr>
      </p:pic>
      <p:pic>
        <p:nvPicPr>
          <p:cNvPr id="1830" name="Google Shape;1830;p106"/>
          <p:cNvPicPr preferRelativeResize="0"/>
          <p:nvPr/>
        </p:nvPicPr>
        <p:blipFill rotWithShape="1">
          <a:blip r:embed="rId6">
            <a:alphaModFix/>
          </a:blip>
          <a:srcRect/>
          <a:stretch/>
        </p:blipFill>
        <p:spPr>
          <a:xfrm>
            <a:off x="1022057" y="4572000"/>
            <a:ext cx="3549943" cy="542610"/>
          </a:xfrm>
          <a:prstGeom prst="rect">
            <a:avLst/>
          </a:prstGeom>
          <a:noFill/>
          <a:ln>
            <a:noFill/>
          </a:ln>
        </p:spPr>
      </p:pic>
      <p:pic>
        <p:nvPicPr>
          <p:cNvPr id="1831" name="Google Shape;1831;p106"/>
          <p:cNvPicPr preferRelativeResize="0"/>
          <p:nvPr/>
        </p:nvPicPr>
        <p:blipFill rotWithShape="1">
          <a:blip r:embed="rId7">
            <a:alphaModFix/>
          </a:blip>
          <a:srcRect/>
          <a:stretch/>
        </p:blipFill>
        <p:spPr>
          <a:xfrm>
            <a:off x="2697569" y="5181600"/>
            <a:ext cx="2179231" cy="457199"/>
          </a:xfrm>
          <a:prstGeom prst="rect">
            <a:avLst/>
          </a:prstGeom>
          <a:noFill/>
          <a:ln>
            <a:noFill/>
          </a:ln>
        </p:spPr>
      </p:pic>
      <p:sp>
        <p:nvSpPr>
          <p:cNvPr id="1832" name="Google Shape;1832;p106"/>
          <p:cNvSpPr txBox="1">
            <a:spLocks noGrp="1"/>
          </p:cNvSpPr>
          <p:nvPr>
            <p:ph type="sldNum" sz="quarter" idx="12"/>
          </p:nvPr>
        </p:nvSpPr>
        <p:spPr>
          <a:xfrm>
            <a:off x="6457950" y="6356350"/>
            <a:ext cx="20855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94</a:t>
            </a:fld>
            <a:endParaRPr sz="1200">
              <a:solidFill>
                <a:schemeClr val="dk1"/>
              </a:solidFill>
              <a:latin typeface="Arial"/>
              <a:ea typeface="Arial"/>
              <a:cs typeface="Arial"/>
              <a:sym typeface="Arial"/>
            </a:endParaRPr>
          </a:p>
        </p:txBody>
      </p:sp>
      <p:sp>
        <p:nvSpPr>
          <p:cNvPr id="1833" name="Google Shape;1833;p106"/>
          <p:cNvSpPr txBox="1"/>
          <p:nvPr/>
        </p:nvSpPr>
        <p:spPr>
          <a:xfrm>
            <a:off x="344488" y="466725"/>
            <a:ext cx="247491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Contoh </a:t>
            </a:r>
            <a:endParaRPr/>
          </a:p>
        </p:txBody>
      </p:sp>
    </p:spTree>
  </p:cSld>
  <p:clrMapOvr>
    <a:masterClrMapping/>
  </p:clrMapOvr>
  <p:transition>
    <p:fade thruBlk="1"/>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837"/>
        <p:cNvGrpSpPr/>
        <p:nvPr/>
      </p:nvGrpSpPr>
      <p:grpSpPr>
        <a:xfrm>
          <a:off x="0" y="0"/>
          <a:ext cx="0" cy="0"/>
          <a:chOff x="0" y="0"/>
          <a:chExt cx="0" cy="0"/>
        </a:xfrm>
      </p:grpSpPr>
      <p:sp>
        <p:nvSpPr>
          <p:cNvPr id="1838" name="Google Shape;1838;p10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95</a:t>
            </a:fld>
            <a:endParaRPr sz="1200">
              <a:solidFill>
                <a:srgbClr val="1D4577"/>
              </a:solidFill>
              <a:latin typeface="Times New Roman"/>
              <a:ea typeface="Times New Roman"/>
              <a:cs typeface="Times New Roman"/>
              <a:sym typeface="Times New Roman"/>
            </a:endParaRPr>
          </a:p>
        </p:txBody>
      </p:sp>
      <p:sp>
        <p:nvSpPr>
          <p:cNvPr id="1839" name="Google Shape;1839;p107"/>
          <p:cNvSpPr/>
          <p:nvPr/>
        </p:nvSpPr>
        <p:spPr>
          <a:xfrm>
            <a:off x="895350" y="669925"/>
            <a:ext cx="7467600" cy="1219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KEPEKAAN NILAI MASA WANG</a:t>
            </a:r>
            <a:endParaRPr/>
          </a:p>
          <a:p>
            <a:pPr marL="0" marR="0" lvl="0" indent="0" algn="ctr" rtl="0">
              <a:spcBef>
                <a:spcPts val="0"/>
              </a:spcBef>
              <a:spcAft>
                <a:spcPts val="0"/>
              </a:spcAft>
              <a:buNone/>
            </a:pPr>
            <a:r>
              <a:rPr lang="en-US" sz="2800" b="1">
                <a:solidFill>
                  <a:schemeClr val="dk1"/>
                </a:solidFill>
                <a:latin typeface="Arial"/>
                <a:ea typeface="Arial"/>
                <a:cs typeface="Arial"/>
                <a:sym typeface="Arial"/>
              </a:rPr>
              <a:t> (iii)  Perubahan Amaun </a:t>
            </a:r>
            <a:endParaRPr/>
          </a:p>
        </p:txBody>
      </p:sp>
      <p:sp>
        <p:nvSpPr>
          <p:cNvPr id="1840" name="Google Shape;1840;p107"/>
          <p:cNvSpPr/>
          <p:nvPr/>
        </p:nvSpPr>
        <p:spPr>
          <a:xfrm>
            <a:off x="895350" y="2667000"/>
            <a:ext cx="7467600" cy="1938992"/>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Amaun pelaburan yang sedikit hari ini akan menghasilkan nilai depan yang lebih kecil berbanding amaun pelaburan yang besar hari ini yang akan menghasilkan amaun nilai depan yang lebih besar di masa depan. </a:t>
            </a:r>
            <a:endParaRPr/>
          </a:p>
        </p:txBody>
      </p:sp>
    </p:spTree>
  </p:cSld>
  <p:clrMapOvr>
    <a:masterClrMapping/>
  </p:clrMapOvr>
  <p:transition>
    <p:fade thruBlk="1"/>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844"/>
        <p:cNvGrpSpPr/>
        <p:nvPr/>
      </p:nvGrpSpPr>
      <p:grpSpPr>
        <a:xfrm>
          <a:off x="0" y="0"/>
          <a:ext cx="0" cy="0"/>
          <a:chOff x="0" y="0"/>
          <a:chExt cx="0" cy="0"/>
        </a:xfrm>
      </p:grpSpPr>
      <p:sp>
        <p:nvSpPr>
          <p:cNvPr id="1845" name="Google Shape;1845;p108"/>
          <p:cNvSpPr txBox="1"/>
          <p:nvPr/>
        </p:nvSpPr>
        <p:spPr>
          <a:xfrm>
            <a:off x="315619" y="1467227"/>
            <a:ext cx="8599781" cy="156966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Arial"/>
                <a:ea typeface="Arial"/>
                <a:cs typeface="Arial"/>
                <a:sym typeface="Arial"/>
              </a:rPr>
              <a:t>Cuba </a:t>
            </a:r>
            <a:r>
              <a:rPr lang="en-US" sz="2400" dirty="0" err="1">
                <a:solidFill>
                  <a:schemeClr val="dk1"/>
                </a:solidFill>
                <a:latin typeface="Arial"/>
                <a:ea typeface="Arial"/>
                <a:cs typeface="Arial"/>
                <a:sym typeface="Arial"/>
              </a:rPr>
              <a:t>bandingkan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hasil</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diperolehi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oleh</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Encik</a:t>
            </a:r>
            <a:r>
              <a:rPr lang="en-US" sz="2400" dirty="0">
                <a:solidFill>
                  <a:schemeClr val="dk1"/>
                </a:solidFill>
                <a:latin typeface="Arial"/>
                <a:ea typeface="Arial"/>
                <a:cs typeface="Arial"/>
                <a:sym typeface="Arial"/>
              </a:rPr>
              <a:t> Nizar </a:t>
            </a:r>
            <a:r>
              <a:rPr lang="en-US" sz="2400" dirty="0" err="1">
                <a:solidFill>
                  <a:schemeClr val="dk1"/>
                </a:solidFill>
                <a:latin typeface="Arial"/>
                <a:ea typeface="Arial"/>
                <a:cs typeface="Arial"/>
                <a:sym typeface="Arial"/>
              </a:rPr>
              <a:t>selepas</a:t>
            </a:r>
            <a:r>
              <a:rPr lang="en-US" sz="2400" dirty="0">
                <a:solidFill>
                  <a:schemeClr val="dk1"/>
                </a:solidFill>
                <a:latin typeface="Arial"/>
                <a:ea typeface="Arial"/>
                <a:cs typeface="Arial"/>
                <a:sym typeface="Arial"/>
              </a:rPr>
              <a:t> lima </a:t>
            </a:r>
            <a:r>
              <a:rPr lang="en-US" sz="2400" dirty="0" err="1">
                <a:solidFill>
                  <a:schemeClr val="dk1"/>
                </a:solidFill>
                <a:latin typeface="Arial"/>
                <a:ea typeface="Arial"/>
                <a:cs typeface="Arial"/>
                <a:sym typeface="Arial"/>
              </a:rPr>
              <a:t>tahun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bagi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dua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pelaburannya</a:t>
            </a:r>
            <a:r>
              <a:rPr lang="en-US" sz="2400" dirty="0">
                <a:solidFill>
                  <a:schemeClr val="dk1"/>
                </a:solidFill>
                <a:latin typeface="Arial"/>
                <a:ea typeface="Arial"/>
                <a:cs typeface="Arial"/>
                <a:sym typeface="Arial"/>
              </a:rPr>
              <a:t> di </a:t>
            </a:r>
            <a:r>
              <a:rPr lang="en-US" sz="2400" dirty="0" err="1">
                <a:solidFill>
                  <a:schemeClr val="dk1"/>
                </a:solidFill>
                <a:latin typeface="Arial"/>
                <a:ea typeface="Arial"/>
                <a:cs typeface="Arial"/>
                <a:sym typeface="Arial"/>
              </a:rPr>
              <a:t>dalam</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akaun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pelaburan</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memberikan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kadar</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pulangan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sebanyak</a:t>
            </a:r>
            <a:r>
              <a:rPr lang="en-US" sz="2400" dirty="0">
                <a:solidFill>
                  <a:schemeClr val="dk1"/>
                </a:solidFill>
                <a:latin typeface="Arial"/>
                <a:ea typeface="Arial"/>
                <a:cs typeface="Arial"/>
                <a:sym typeface="Arial"/>
              </a:rPr>
              <a:t> 12% </a:t>
            </a:r>
            <a:r>
              <a:rPr lang="en-US" sz="2400" dirty="0" err="1">
                <a:solidFill>
                  <a:schemeClr val="dk1"/>
                </a:solidFill>
                <a:latin typeface="Arial"/>
                <a:ea typeface="Arial"/>
                <a:cs typeface="Arial"/>
                <a:sym typeface="Arial"/>
              </a:rPr>
              <a:t>setahun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Apakah</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kesimpulan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anda</a:t>
            </a:r>
            <a:r>
              <a:rPr lang="en-US" sz="2400" dirty="0">
                <a:solidFill>
                  <a:schemeClr val="dk1"/>
                </a:solidFill>
                <a:latin typeface="Arial"/>
                <a:ea typeface="Arial"/>
                <a:cs typeface="Arial"/>
                <a:sym typeface="Arial"/>
              </a:rPr>
              <a:t>?</a:t>
            </a:r>
            <a:endParaRPr dirty="0"/>
          </a:p>
        </p:txBody>
      </p:sp>
      <p:grpSp>
        <p:nvGrpSpPr>
          <p:cNvPr id="1846" name="Google Shape;1846;p108"/>
          <p:cNvGrpSpPr/>
          <p:nvPr/>
        </p:nvGrpSpPr>
        <p:grpSpPr>
          <a:xfrm>
            <a:off x="182815" y="2951162"/>
            <a:ext cx="8503164" cy="3502592"/>
            <a:chOff x="215797" y="3056086"/>
            <a:chExt cx="8503164" cy="3502592"/>
          </a:xfrm>
        </p:grpSpPr>
        <p:cxnSp>
          <p:nvCxnSpPr>
            <p:cNvPr id="1847" name="Google Shape;1847;p108"/>
            <p:cNvCxnSpPr/>
            <p:nvPr/>
          </p:nvCxnSpPr>
          <p:spPr>
            <a:xfrm>
              <a:off x="457200" y="3894286"/>
              <a:ext cx="8001000" cy="42863"/>
            </a:xfrm>
            <a:prstGeom prst="straightConnector1">
              <a:avLst/>
            </a:prstGeom>
            <a:noFill/>
            <a:ln w="38100" cap="flat" cmpd="sng">
              <a:solidFill>
                <a:schemeClr val="dk1"/>
              </a:solidFill>
              <a:prstDash val="solid"/>
              <a:miter lim="800000"/>
              <a:headEnd type="none" w="med" len="med"/>
              <a:tailEnd type="none" w="med" len="med"/>
            </a:ln>
          </p:spPr>
        </p:cxnSp>
        <p:cxnSp>
          <p:nvCxnSpPr>
            <p:cNvPr id="1848" name="Google Shape;1848;p108"/>
            <p:cNvCxnSpPr/>
            <p:nvPr/>
          </p:nvCxnSpPr>
          <p:spPr>
            <a:xfrm>
              <a:off x="1905000" y="3632349"/>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849" name="Google Shape;1849;p108"/>
            <p:cNvCxnSpPr/>
            <p:nvPr/>
          </p:nvCxnSpPr>
          <p:spPr>
            <a:xfrm>
              <a:off x="3276600" y="3632349"/>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850" name="Google Shape;1850;p108"/>
            <p:cNvCxnSpPr/>
            <p:nvPr/>
          </p:nvCxnSpPr>
          <p:spPr>
            <a:xfrm>
              <a:off x="4724400" y="3589486"/>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851" name="Google Shape;1851;p108"/>
            <p:cNvCxnSpPr/>
            <p:nvPr/>
          </p:nvCxnSpPr>
          <p:spPr>
            <a:xfrm>
              <a:off x="6248400" y="3632349"/>
              <a:ext cx="0" cy="685800"/>
            </a:xfrm>
            <a:prstGeom prst="straightConnector1">
              <a:avLst/>
            </a:prstGeom>
            <a:noFill/>
            <a:ln w="38100" cap="flat" cmpd="sng">
              <a:solidFill>
                <a:schemeClr val="dk1"/>
              </a:solidFill>
              <a:prstDash val="solid"/>
              <a:miter lim="800000"/>
              <a:headEnd type="none" w="med" len="med"/>
              <a:tailEnd type="none" w="med" len="med"/>
            </a:ln>
          </p:spPr>
        </p:cxnSp>
        <p:cxnSp>
          <p:nvCxnSpPr>
            <p:cNvPr id="1852" name="Google Shape;1852;p108"/>
            <p:cNvCxnSpPr/>
            <p:nvPr/>
          </p:nvCxnSpPr>
          <p:spPr>
            <a:xfrm>
              <a:off x="7848600" y="3632349"/>
              <a:ext cx="0" cy="685800"/>
            </a:xfrm>
            <a:prstGeom prst="straightConnector1">
              <a:avLst/>
            </a:prstGeom>
            <a:noFill/>
            <a:ln w="38100" cap="flat" cmpd="sng">
              <a:solidFill>
                <a:schemeClr val="dk1"/>
              </a:solidFill>
              <a:prstDash val="solid"/>
              <a:miter lim="800000"/>
              <a:headEnd type="none" w="med" len="med"/>
              <a:tailEnd type="none" w="med" len="med"/>
            </a:ln>
          </p:spPr>
        </p:cxnSp>
        <p:sp>
          <p:nvSpPr>
            <p:cNvPr id="1853" name="Google Shape;1853;p108"/>
            <p:cNvSpPr txBox="1"/>
            <p:nvPr/>
          </p:nvSpPr>
          <p:spPr>
            <a:xfrm>
              <a:off x="315619" y="3056086"/>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0</a:t>
              </a:r>
              <a:endParaRPr/>
            </a:p>
          </p:txBody>
        </p:sp>
        <p:sp>
          <p:nvSpPr>
            <p:cNvPr id="1854" name="Google Shape;1854;p108"/>
            <p:cNvSpPr txBox="1"/>
            <p:nvPr/>
          </p:nvSpPr>
          <p:spPr>
            <a:xfrm>
              <a:off x="1763419" y="309894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a:t>
              </a:r>
              <a:endParaRPr/>
            </a:p>
          </p:txBody>
        </p:sp>
        <p:sp>
          <p:nvSpPr>
            <p:cNvPr id="1855" name="Google Shape;1855;p108"/>
            <p:cNvSpPr txBox="1"/>
            <p:nvPr/>
          </p:nvSpPr>
          <p:spPr>
            <a:xfrm>
              <a:off x="3135019" y="309894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a:t>
              </a:r>
              <a:endParaRPr/>
            </a:p>
          </p:txBody>
        </p:sp>
        <p:sp>
          <p:nvSpPr>
            <p:cNvPr id="1856" name="Google Shape;1856;p108"/>
            <p:cNvSpPr txBox="1"/>
            <p:nvPr/>
          </p:nvSpPr>
          <p:spPr>
            <a:xfrm>
              <a:off x="4582819" y="309894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3</a:t>
              </a:r>
              <a:endParaRPr/>
            </a:p>
          </p:txBody>
        </p:sp>
        <p:sp>
          <p:nvSpPr>
            <p:cNvPr id="1857" name="Google Shape;1857;p108"/>
            <p:cNvSpPr txBox="1"/>
            <p:nvPr/>
          </p:nvSpPr>
          <p:spPr>
            <a:xfrm>
              <a:off x="6106819" y="3098949"/>
              <a:ext cx="35618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4</a:t>
              </a:r>
              <a:endParaRPr/>
            </a:p>
          </p:txBody>
        </p:sp>
        <p:sp>
          <p:nvSpPr>
            <p:cNvPr id="1858" name="Google Shape;1858;p108"/>
            <p:cNvSpPr txBox="1"/>
            <p:nvPr/>
          </p:nvSpPr>
          <p:spPr>
            <a:xfrm>
              <a:off x="215797" y="4275286"/>
              <a:ext cx="97334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-1000</a:t>
              </a:r>
              <a:endParaRPr/>
            </a:p>
          </p:txBody>
        </p:sp>
        <p:cxnSp>
          <p:nvCxnSpPr>
            <p:cNvPr id="1859" name="Google Shape;1859;p108"/>
            <p:cNvCxnSpPr/>
            <p:nvPr/>
          </p:nvCxnSpPr>
          <p:spPr>
            <a:xfrm>
              <a:off x="457200" y="5638800"/>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860" name="Google Shape;1860;p108"/>
            <p:cNvCxnSpPr/>
            <p:nvPr/>
          </p:nvCxnSpPr>
          <p:spPr>
            <a:xfrm>
              <a:off x="457200" y="6096000"/>
              <a:ext cx="7467600" cy="0"/>
            </a:xfrm>
            <a:prstGeom prst="straightConnector1">
              <a:avLst/>
            </a:prstGeom>
            <a:noFill/>
            <a:ln w="9525" cap="flat" cmpd="sng">
              <a:solidFill>
                <a:schemeClr val="dk1"/>
              </a:solidFill>
              <a:prstDash val="solid"/>
              <a:miter lim="800000"/>
              <a:headEnd type="none" w="med" len="med"/>
              <a:tailEnd type="triangle" w="med" len="med"/>
            </a:ln>
          </p:spPr>
        </p:cxnSp>
        <p:sp>
          <p:nvSpPr>
            <p:cNvPr id="1861" name="Google Shape;1861;p108"/>
            <p:cNvSpPr txBox="1"/>
            <p:nvPr/>
          </p:nvSpPr>
          <p:spPr>
            <a:xfrm>
              <a:off x="6368638" y="5177135"/>
              <a:ext cx="235032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chemeClr val="dk1"/>
                  </a:solidFill>
                  <a:latin typeface="Arial"/>
                  <a:ea typeface="Arial"/>
                  <a:cs typeface="Arial"/>
                  <a:sym typeface="Arial"/>
                </a:rPr>
                <a:t>FV=RM1762.30</a:t>
              </a:r>
              <a:endParaRPr dirty="0"/>
            </a:p>
          </p:txBody>
        </p:sp>
        <p:sp>
          <p:nvSpPr>
            <p:cNvPr id="1862" name="Google Shape;1862;p108"/>
            <p:cNvSpPr txBox="1"/>
            <p:nvPr/>
          </p:nvSpPr>
          <p:spPr>
            <a:xfrm>
              <a:off x="831376" y="3322364"/>
              <a:ext cx="80182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12%</a:t>
              </a:r>
              <a:endParaRPr/>
            </a:p>
          </p:txBody>
        </p:sp>
        <p:cxnSp>
          <p:nvCxnSpPr>
            <p:cNvPr id="1863" name="Google Shape;1863;p108"/>
            <p:cNvCxnSpPr/>
            <p:nvPr/>
          </p:nvCxnSpPr>
          <p:spPr>
            <a:xfrm>
              <a:off x="457200" y="3589486"/>
              <a:ext cx="0" cy="685800"/>
            </a:xfrm>
            <a:prstGeom prst="straightConnector1">
              <a:avLst/>
            </a:prstGeom>
            <a:noFill/>
            <a:ln w="38100" cap="flat" cmpd="sng">
              <a:solidFill>
                <a:schemeClr val="dk1"/>
              </a:solidFill>
              <a:prstDash val="solid"/>
              <a:miter lim="800000"/>
              <a:headEnd type="none" w="med" len="med"/>
              <a:tailEnd type="none" w="med" len="med"/>
            </a:ln>
          </p:spPr>
        </p:cxnSp>
        <p:sp>
          <p:nvSpPr>
            <p:cNvPr id="1864" name="Google Shape;1864;p108"/>
            <p:cNvSpPr txBox="1"/>
            <p:nvPr/>
          </p:nvSpPr>
          <p:spPr>
            <a:xfrm>
              <a:off x="7708606" y="3132286"/>
              <a:ext cx="35618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5</a:t>
              </a:r>
              <a:endParaRPr/>
            </a:p>
          </p:txBody>
        </p:sp>
        <p:sp>
          <p:nvSpPr>
            <p:cNvPr id="1865" name="Google Shape;1865;p108"/>
            <p:cNvSpPr txBox="1"/>
            <p:nvPr/>
          </p:nvSpPr>
          <p:spPr>
            <a:xfrm>
              <a:off x="215797" y="5176838"/>
              <a:ext cx="97334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-1500</a:t>
              </a:r>
              <a:endParaRPr/>
            </a:p>
          </p:txBody>
        </p:sp>
        <p:cxnSp>
          <p:nvCxnSpPr>
            <p:cNvPr id="1866" name="Google Shape;1866;p108"/>
            <p:cNvCxnSpPr/>
            <p:nvPr/>
          </p:nvCxnSpPr>
          <p:spPr>
            <a:xfrm>
              <a:off x="457200" y="4656286"/>
              <a:ext cx="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867" name="Google Shape;1867;p108"/>
            <p:cNvCxnSpPr/>
            <p:nvPr/>
          </p:nvCxnSpPr>
          <p:spPr>
            <a:xfrm>
              <a:off x="457200" y="5113486"/>
              <a:ext cx="7467600" cy="0"/>
            </a:xfrm>
            <a:prstGeom prst="straightConnector1">
              <a:avLst/>
            </a:prstGeom>
            <a:noFill/>
            <a:ln w="9525" cap="flat" cmpd="sng">
              <a:solidFill>
                <a:schemeClr val="dk1"/>
              </a:solidFill>
              <a:prstDash val="solid"/>
              <a:miter lim="800000"/>
              <a:headEnd type="none" w="med" len="med"/>
              <a:tailEnd type="triangle" w="med" len="med"/>
            </a:ln>
          </p:spPr>
        </p:cxnSp>
        <p:pic>
          <p:nvPicPr>
            <p:cNvPr id="1868" name="Google Shape;1868;p108"/>
            <p:cNvPicPr preferRelativeResize="0"/>
            <p:nvPr/>
          </p:nvPicPr>
          <p:blipFill rotWithShape="1">
            <a:blip r:embed="rId3">
              <a:alphaModFix/>
            </a:blip>
            <a:srcRect/>
            <a:stretch/>
          </p:blipFill>
          <p:spPr>
            <a:xfrm>
              <a:off x="2590800" y="4732486"/>
              <a:ext cx="3260725" cy="457200"/>
            </a:xfrm>
            <a:prstGeom prst="rect">
              <a:avLst/>
            </a:prstGeom>
            <a:noFill/>
            <a:ln>
              <a:noFill/>
            </a:ln>
          </p:spPr>
        </p:pic>
        <p:pic>
          <p:nvPicPr>
            <p:cNvPr id="1869" name="Google Shape;1869;p108"/>
            <p:cNvPicPr preferRelativeResize="0"/>
            <p:nvPr/>
          </p:nvPicPr>
          <p:blipFill rotWithShape="1">
            <a:blip r:embed="rId4">
              <a:alphaModFix/>
            </a:blip>
            <a:srcRect/>
            <a:stretch/>
          </p:blipFill>
          <p:spPr>
            <a:xfrm>
              <a:off x="2590800" y="5715000"/>
              <a:ext cx="3260725" cy="457200"/>
            </a:xfrm>
            <a:prstGeom prst="rect">
              <a:avLst/>
            </a:prstGeom>
            <a:noFill/>
            <a:ln>
              <a:noFill/>
            </a:ln>
          </p:spPr>
        </p:pic>
        <p:sp>
          <p:nvSpPr>
            <p:cNvPr id="1870" name="Google Shape;1870;p108"/>
            <p:cNvSpPr txBox="1"/>
            <p:nvPr/>
          </p:nvSpPr>
          <p:spPr>
            <a:xfrm>
              <a:off x="6368638" y="6097013"/>
              <a:ext cx="235032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chemeClr val="dk1"/>
                  </a:solidFill>
                  <a:sym typeface="Arial"/>
                </a:rPr>
                <a:t>FV=RM2643.45</a:t>
              </a:r>
              <a:endParaRPr sz="2400" dirty="0"/>
            </a:p>
          </p:txBody>
        </p:sp>
      </p:grpSp>
      <p:sp>
        <p:nvSpPr>
          <p:cNvPr id="1871" name="Google Shape;1871;p108"/>
          <p:cNvSpPr txBox="1">
            <a:spLocks noGrp="1"/>
          </p:cNvSpPr>
          <p:nvPr>
            <p:ph type="sldNum" sz="quarter" idx="12"/>
          </p:nvPr>
        </p:nvSpPr>
        <p:spPr>
          <a:xfrm>
            <a:off x="6628579" y="64387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96</a:t>
            </a:fld>
            <a:endParaRPr sz="1200">
              <a:solidFill>
                <a:srgbClr val="1D4577"/>
              </a:solidFill>
              <a:latin typeface="Times New Roman"/>
              <a:ea typeface="Times New Roman"/>
              <a:cs typeface="Times New Roman"/>
              <a:sym typeface="Times New Roman"/>
            </a:endParaRPr>
          </a:p>
        </p:txBody>
      </p:sp>
      <p:sp>
        <p:nvSpPr>
          <p:cNvPr id="1872" name="Google Shape;1872;p108"/>
          <p:cNvSpPr/>
          <p:nvPr/>
        </p:nvSpPr>
        <p:spPr>
          <a:xfrm>
            <a:off x="838200" y="228600"/>
            <a:ext cx="7467600" cy="1219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KEPEKAAN NILAI MASA WANG</a:t>
            </a:r>
            <a:endParaRPr/>
          </a:p>
          <a:p>
            <a:pPr marL="0" marR="0" lvl="0" indent="0" algn="ctr" rtl="0">
              <a:spcBef>
                <a:spcPts val="0"/>
              </a:spcBef>
              <a:spcAft>
                <a:spcPts val="0"/>
              </a:spcAft>
              <a:buNone/>
            </a:pPr>
            <a:r>
              <a:rPr lang="en-US" sz="2800" b="1">
                <a:solidFill>
                  <a:schemeClr val="dk1"/>
                </a:solidFill>
                <a:latin typeface="Arial"/>
                <a:ea typeface="Arial"/>
                <a:cs typeface="Arial"/>
                <a:sym typeface="Arial"/>
              </a:rPr>
              <a:t> (iii)  Perubahan Amaun</a:t>
            </a:r>
            <a:endParaRPr sz="2800" b="1">
              <a:solidFill>
                <a:schemeClr val="dk1"/>
              </a:solidFill>
              <a:latin typeface="Arial"/>
              <a:ea typeface="Arial"/>
              <a:cs typeface="Arial"/>
              <a:sym typeface="Arial"/>
            </a:endParaRPr>
          </a:p>
        </p:txBody>
      </p:sp>
    </p:spTree>
  </p:cSld>
  <p:clrMapOvr>
    <a:masterClrMapping/>
  </p:clrMapOvr>
  <p:transition>
    <p:fade thruBlk="1"/>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p109"/>
          <p:cNvSpPr/>
          <p:nvPr/>
        </p:nvSpPr>
        <p:spPr>
          <a:xfrm>
            <a:off x="381000" y="228600"/>
            <a:ext cx="83058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b="1">
                <a:solidFill>
                  <a:schemeClr val="dk1"/>
                </a:solidFill>
                <a:latin typeface="Arial"/>
                <a:ea typeface="Arial"/>
                <a:cs typeface="Arial"/>
                <a:sym typeface="Arial"/>
              </a:rPr>
              <a:t>APLIKASI NILAI MASA WANG – (i) Simpanan/tabungan</a:t>
            </a:r>
            <a:endParaRPr sz="2400" b="1">
              <a:solidFill>
                <a:schemeClr val="dk1"/>
              </a:solidFill>
              <a:latin typeface="Arial"/>
              <a:ea typeface="Arial"/>
              <a:cs typeface="Arial"/>
              <a:sym typeface="Arial"/>
            </a:endParaRPr>
          </a:p>
        </p:txBody>
      </p:sp>
      <p:sp>
        <p:nvSpPr>
          <p:cNvPr id="1878" name="Google Shape;1878;p109"/>
          <p:cNvSpPr txBox="1"/>
          <p:nvPr/>
        </p:nvSpPr>
        <p:spPr>
          <a:xfrm>
            <a:off x="1337901" y="1252538"/>
            <a:ext cx="6607898"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Jadual simpanan Faiz adalah seperti di bawah:</a:t>
            </a:r>
            <a:endParaRPr/>
          </a:p>
        </p:txBody>
      </p:sp>
      <p:graphicFrame>
        <p:nvGraphicFramePr>
          <p:cNvPr id="1879" name="Google Shape;1879;p109"/>
          <p:cNvGraphicFramePr/>
          <p:nvPr/>
        </p:nvGraphicFramePr>
        <p:xfrm>
          <a:off x="1524000" y="1828800"/>
          <a:ext cx="6096000" cy="3440185"/>
        </p:xfrm>
        <a:graphic>
          <a:graphicData uri="http://schemas.openxmlformats.org/drawingml/2006/table">
            <a:tbl>
              <a:tblPr>
                <a:noFill/>
                <a:tableStyleId>{583BA780-5EA6-48F8-90CF-626E18444947}</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57200">
                <a:tc>
                  <a:txBody>
                    <a:bodyPr/>
                    <a:lstStyle/>
                    <a:p>
                      <a:pPr marL="0" marR="0" lvl="0" indent="0" algn="ctr" rtl="0">
                        <a:lnSpc>
                          <a:spcPct val="100000"/>
                        </a:lnSpc>
                        <a:spcBef>
                          <a:spcPts val="0"/>
                        </a:spcBef>
                        <a:spcAft>
                          <a:spcPts val="0"/>
                        </a:spcAft>
                        <a:buClr>
                          <a:schemeClr val="dk1"/>
                        </a:buClr>
                        <a:buSzPts val="2400"/>
                        <a:buFont typeface="Arial"/>
                        <a:buNone/>
                      </a:pPr>
                      <a:r>
                        <a:rPr lang="en-US" sz="2400" b="1" u="none" strike="noStrike" cap="none">
                          <a:latin typeface="Arial"/>
                          <a:ea typeface="Arial"/>
                          <a:cs typeface="Arial"/>
                          <a:sym typeface="Arial"/>
                        </a:rPr>
                        <a:t>Tarikh</a:t>
                      </a:r>
                      <a:endParaRPr sz="2400" b="1"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Arial"/>
                        <a:buNone/>
                      </a:pPr>
                      <a:r>
                        <a:rPr lang="en-US" sz="2400" b="1" u="none" strike="noStrike" cap="none">
                          <a:latin typeface="Arial"/>
                          <a:ea typeface="Arial"/>
                          <a:cs typeface="Arial"/>
                          <a:sym typeface="Arial"/>
                        </a:rPr>
                        <a:t>Simpanan</a:t>
                      </a:r>
                      <a:endParaRPr sz="2400" b="1"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496900">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1 Januari 2020</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RM200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496900">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1 Januari 2021</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RM200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498475">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1 Januari 2022</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RM200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r h="496900">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1 Januari 2023</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RM200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4"/>
                  </a:ext>
                </a:extLst>
              </a:tr>
              <a:tr h="496900">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1 Januari 2024</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RM200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5"/>
                  </a:ext>
                </a:extLst>
              </a:tr>
              <a:tr h="496900">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1 Januari 2025</a:t>
                      </a:r>
                      <a:endParaRPr sz="24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Arial"/>
                        <a:buNone/>
                      </a:pPr>
                      <a:r>
                        <a:rPr lang="en-US" sz="2400" u="none" strike="noStrike" cap="none">
                          <a:latin typeface="Arial"/>
                          <a:ea typeface="Arial"/>
                          <a:cs typeface="Arial"/>
                          <a:sym typeface="Arial"/>
                        </a:rPr>
                        <a:t>RM200</a:t>
                      </a:r>
                      <a:endParaRPr sz="24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6"/>
                  </a:ext>
                </a:extLst>
              </a:tr>
            </a:tbl>
          </a:graphicData>
        </a:graphic>
      </p:graphicFrame>
      <p:sp>
        <p:nvSpPr>
          <p:cNvPr id="1880" name="Google Shape;1880;p109"/>
          <p:cNvSpPr txBox="1"/>
          <p:nvPr/>
        </p:nvSpPr>
        <p:spPr>
          <a:xfrm>
            <a:off x="277813" y="5353050"/>
            <a:ext cx="8332787" cy="12001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Berapakah jumlah simpanan Faiz pada 1 Januari 2025 jika bank menetapkan kadar keuntungan sebanyak 10% setahun? </a:t>
            </a:r>
            <a:endParaRPr/>
          </a:p>
        </p:txBody>
      </p:sp>
      <p:sp>
        <p:nvSpPr>
          <p:cNvPr id="1881" name="Google Shape;1881;p10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97</a:t>
            </a:fld>
            <a:endParaRPr sz="1200">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78"/>
                                        </p:tgtEl>
                                        <p:attrNameLst>
                                          <p:attrName>style.visibility</p:attrName>
                                        </p:attrNameLst>
                                      </p:cBhvr>
                                      <p:to>
                                        <p:strVal val="visible"/>
                                      </p:to>
                                    </p:set>
                                    <p:anim calcmode="lin" valueType="num">
                                      <p:cBhvr additive="base">
                                        <p:cTn id="7" dur="500"/>
                                        <p:tgtEl>
                                          <p:spTgt spid="187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879"/>
                                        </p:tgtEl>
                                        <p:attrNameLst>
                                          <p:attrName>style.visibility</p:attrName>
                                        </p:attrNameLst>
                                      </p:cBhvr>
                                      <p:to>
                                        <p:strVal val="visible"/>
                                      </p:to>
                                    </p:set>
                                    <p:anim calcmode="lin" valueType="num">
                                      <p:cBhvr additive="base">
                                        <p:cTn id="12" dur="500"/>
                                        <p:tgtEl>
                                          <p:spTgt spid="1879"/>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880"/>
                                        </p:tgtEl>
                                        <p:attrNameLst>
                                          <p:attrName>style.visibility</p:attrName>
                                        </p:attrNameLst>
                                      </p:cBhvr>
                                      <p:to>
                                        <p:strVal val="visible"/>
                                      </p:to>
                                    </p:set>
                                    <p:anim calcmode="lin" valueType="num">
                                      <p:cBhvr additive="base">
                                        <p:cTn id="17" dur="500"/>
                                        <p:tgtEl>
                                          <p:spTgt spid="188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6" name="Google Shape;1886;p110"/>
          <p:cNvSpPr/>
          <p:nvPr/>
        </p:nvSpPr>
        <p:spPr>
          <a:xfrm>
            <a:off x="381000" y="452427"/>
            <a:ext cx="83058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APLIKASI NILAI MASA WANG – (i) Simpanan/tabungan</a:t>
            </a:r>
            <a:endParaRPr sz="2400" b="1">
              <a:solidFill>
                <a:schemeClr val="dk1"/>
              </a:solidFill>
              <a:latin typeface="Arial"/>
              <a:ea typeface="Arial"/>
              <a:cs typeface="Arial"/>
              <a:sym typeface="Arial"/>
            </a:endParaRPr>
          </a:p>
        </p:txBody>
      </p:sp>
      <p:sp>
        <p:nvSpPr>
          <p:cNvPr id="1887" name="Google Shape;1887;p110"/>
          <p:cNvSpPr txBox="1"/>
          <p:nvPr/>
        </p:nvSpPr>
        <p:spPr>
          <a:xfrm>
            <a:off x="343878" y="1710680"/>
            <a:ext cx="758092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Gambarkan situasi tersebut menggunakan garis masa</a:t>
            </a:r>
            <a:endParaRPr/>
          </a:p>
        </p:txBody>
      </p:sp>
      <p:grpSp>
        <p:nvGrpSpPr>
          <p:cNvPr id="1888" name="Google Shape;1888;p110"/>
          <p:cNvGrpSpPr/>
          <p:nvPr/>
        </p:nvGrpSpPr>
        <p:grpSpPr>
          <a:xfrm>
            <a:off x="340091" y="2590800"/>
            <a:ext cx="8424461" cy="2198390"/>
            <a:chOff x="340091" y="2590800"/>
            <a:chExt cx="8424461" cy="2198390"/>
          </a:xfrm>
        </p:grpSpPr>
        <p:cxnSp>
          <p:nvCxnSpPr>
            <p:cNvPr id="1889" name="Google Shape;1889;p110"/>
            <p:cNvCxnSpPr/>
            <p:nvPr/>
          </p:nvCxnSpPr>
          <p:spPr>
            <a:xfrm>
              <a:off x="609600" y="3352800"/>
              <a:ext cx="7848600" cy="0"/>
            </a:xfrm>
            <a:prstGeom prst="straightConnector1">
              <a:avLst/>
            </a:prstGeom>
            <a:noFill/>
            <a:ln w="38100" cap="flat" cmpd="sng">
              <a:solidFill>
                <a:schemeClr val="dk1"/>
              </a:solidFill>
              <a:prstDash val="solid"/>
              <a:round/>
              <a:headEnd type="none" w="med" len="med"/>
              <a:tailEnd type="none" w="med" len="med"/>
            </a:ln>
          </p:spPr>
        </p:cxnSp>
        <p:cxnSp>
          <p:nvCxnSpPr>
            <p:cNvPr id="1890" name="Google Shape;1890;p110"/>
            <p:cNvCxnSpPr/>
            <p:nvPr/>
          </p:nvCxnSpPr>
          <p:spPr>
            <a:xfrm>
              <a:off x="762000" y="31242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891" name="Google Shape;1891;p110"/>
            <p:cNvCxnSpPr/>
            <p:nvPr/>
          </p:nvCxnSpPr>
          <p:spPr>
            <a:xfrm>
              <a:off x="2133600" y="31242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892" name="Google Shape;1892;p110"/>
            <p:cNvCxnSpPr/>
            <p:nvPr/>
          </p:nvCxnSpPr>
          <p:spPr>
            <a:xfrm>
              <a:off x="3505200" y="31242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893" name="Google Shape;1893;p110"/>
            <p:cNvCxnSpPr/>
            <p:nvPr/>
          </p:nvCxnSpPr>
          <p:spPr>
            <a:xfrm>
              <a:off x="4876800" y="31242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894" name="Google Shape;1894;p110"/>
            <p:cNvCxnSpPr/>
            <p:nvPr/>
          </p:nvCxnSpPr>
          <p:spPr>
            <a:xfrm>
              <a:off x="6248400" y="31242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895" name="Google Shape;1895;p110"/>
            <p:cNvCxnSpPr/>
            <p:nvPr/>
          </p:nvCxnSpPr>
          <p:spPr>
            <a:xfrm>
              <a:off x="7620000" y="3124200"/>
              <a:ext cx="0" cy="457200"/>
            </a:xfrm>
            <a:prstGeom prst="straightConnector1">
              <a:avLst/>
            </a:prstGeom>
            <a:noFill/>
            <a:ln w="38100" cap="flat" cmpd="sng">
              <a:solidFill>
                <a:schemeClr val="dk1"/>
              </a:solidFill>
              <a:prstDash val="solid"/>
              <a:round/>
              <a:headEnd type="none" w="med" len="med"/>
              <a:tailEnd type="none" w="med" len="med"/>
            </a:ln>
          </p:spPr>
        </p:cxnSp>
        <p:sp>
          <p:nvSpPr>
            <p:cNvPr id="1896" name="Google Shape;1896;p110"/>
            <p:cNvSpPr txBox="1"/>
            <p:nvPr/>
          </p:nvSpPr>
          <p:spPr>
            <a:xfrm>
              <a:off x="340091" y="2590800"/>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1.1.20</a:t>
              </a:r>
              <a:endParaRPr/>
            </a:p>
          </p:txBody>
        </p:sp>
        <p:sp>
          <p:nvSpPr>
            <p:cNvPr id="1897" name="Google Shape;1897;p110"/>
            <p:cNvSpPr txBox="1"/>
            <p:nvPr/>
          </p:nvSpPr>
          <p:spPr>
            <a:xfrm>
              <a:off x="1575165" y="2590800"/>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1.1.21</a:t>
              </a:r>
              <a:endParaRPr/>
            </a:p>
          </p:txBody>
        </p:sp>
        <p:sp>
          <p:nvSpPr>
            <p:cNvPr id="1898" name="Google Shape;1898;p110"/>
            <p:cNvSpPr txBox="1"/>
            <p:nvPr/>
          </p:nvSpPr>
          <p:spPr>
            <a:xfrm>
              <a:off x="2946766" y="2590800"/>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1.1.22</a:t>
              </a:r>
              <a:endParaRPr/>
            </a:p>
          </p:txBody>
        </p:sp>
        <p:sp>
          <p:nvSpPr>
            <p:cNvPr id="1899" name="Google Shape;1899;p110"/>
            <p:cNvSpPr txBox="1"/>
            <p:nvPr/>
          </p:nvSpPr>
          <p:spPr>
            <a:xfrm>
              <a:off x="4394566" y="2590800"/>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1.1.23</a:t>
              </a:r>
              <a:endParaRPr/>
            </a:p>
          </p:txBody>
        </p:sp>
        <p:sp>
          <p:nvSpPr>
            <p:cNvPr id="1900" name="Google Shape;1900;p110"/>
            <p:cNvSpPr txBox="1"/>
            <p:nvPr/>
          </p:nvSpPr>
          <p:spPr>
            <a:xfrm>
              <a:off x="5689966" y="2590800"/>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1.1.24</a:t>
              </a:r>
              <a:endParaRPr/>
            </a:p>
          </p:txBody>
        </p:sp>
        <p:sp>
          <p:nvSpPr>
            <p:cNvPr id="1901" name="Google Shape;1901;p110"/>
            <p:cNvSpPr txBox="1"/>
            <p:nvPr/>
          </p:nvSpPr>
          <p:spPr>
            <a:xfrm>
              <a:off x="7137766" y="2590800"/>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1.1.25</a:t>
              </a:r>
              <a:endParaRPr/>
            </a:p>
          </p:txBody>
        </p:sp>
        <p:sp>
          <p:nvSpPr>
            <p:cNvPr id="1902" name="Google Shape;1902;p110"/>
            <p:cNvSpPr txBox="1"/>
            <p:nvPr/>
          </p:nvSpPr>
          <p:spPr>
            <a:xfrm>
              <a:off x="458423" y="3657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03" name="Google Shape;1903;p110"/>
            <p:cNvSpPr txBox="1"/>
            <p:nvPr/>
          </p:nvSpPr>
          <p:spPr>
            <a:xfrm>
              <a:off x="1753823" y="3657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04" name="Google Shape;1904;p110"/>
            <p:cNvSpPr txBox="1"/>
            <p:nvPr/>
          </p:nvSpPr>
          <p:spPr>
            <a:xfrm>
              <a:off x="3201623" y="3657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05" name="Google Shape;1905;p110"/>
            <p:cNvSpPr txBox="1"/>
            <p:nvPr/>
          </p:nvSpPr>
          <p:spPr>
            <a:xfrm>
              <a:off x="4497023" y="3657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06" name="Google Shape;1906;p110"/>
            <p:cNvSpPr txBox="1"/>
            <p:nvPr/>
          </p:nvSpPr>
          <p:spPr>
            <a:xfrm>
              <a:off x="5944823" y="3657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07" name="Google Shape;1907;p110"/>
            <p:cNvSpPr txBox="1"/>
            <p:nvPr/>
          </p:nvSpPr>
          <p:spPr>
            <a:xfrm>
              <a:off x="7316423" y="3657600"/>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08" name="Google Shape;1908;p110"/>
            <p:cNvSpPr txBox="1"/>
            <p:nvPr/>
          </p:nvSpPr>
          <p:spPr>
            <a:xfrm>
              <a:off x="1164363" y="2955925"/>
              <a:ext cx="80182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a:t>
              </a:r>
              <a:endParaRPr/>
            </a:p>
          </p:txBody>
        </p:sp>
        <p:cxnSp>
          <p:nvCxnSpPr>
            <p:cNvPr id="1909" name="Google Shape;1909;p110"/>
            <p:cNvCxnSpPr/>
            <p:nvPr/>
          </p:nvCxnSpPr>
          <p:spPr>
            <a:xfrm>
              <a:off x="762000" y="40386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10" name="Google Shape;1910;p110"/>
            <p:cNvCxnSpPr/>
            <p:nvPr/>
          </p:nvCxnSpPr>
          <p:spPr>
            <a:xfrm>
              <a:off x="762000" y="4495800"/>
              <a:ext cx="7162800" cy="0"/>
            </a:xfrm>
            <a:prstGeom prst="straightConnector1">
              <a:avLst/>
            </a:prstGeom>
            <a:noFill/>
            <a:ln w="38100" cap="flat" cmpd="sng">
              <a:solidFill>
                <a:schemeClr val="dk1"/>
              </a:solidFill>
              <a:prstDash val="solid"/>
              <a:round/>
              <a:headEnd type="none" w="med" len="med"/>
              <a:tailEnd type="stealth" w="med" len="med"/>
            </a:ln>
          </p:spPr>
        </p:cxnSp>
        <p:cxnSp>
          <p:nvCxnSpPr>
            <p:cNvPr id="1911" name="Google Shape;1911;p110"/>
            <p:cNvCxnSpPr/>
            <p:nvPr/>
          </p:nvCxnSpPr>
          <p:spPr>
            <a:xfrm>
              <a:off x="2133600" y="40386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12" name="Google Shape;1912;p110"/>
            <p:cNvCxnSpPr/>
            <p:nvPr/>
          </p:nvCxnSpPr>
          <p:spPr>
            <a:xfrm>
              <a:off x="3505200" y="40386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13" name="Google Shape;1913;p110"/>
            <p:cNvCxnSpPr/>
            <p:nvPr/>
          </p:nvCxnSpPr>
          <p:spPr>
            <a:xfrm>
              <a:off x="4876800" y="40386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14" name="Google Shape;1914;p110"/>
            <p:cNvCxnSpPr/>
            <p:nvPr/>
          </p:nvCxnSpPr>
          <p:spPr>
            <a:xfrm>
              <a:off x="6248400" y="4038600"/>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15" name="Google Shape;1915;p110"/>
            <p:cNvCxnSpPr/>
            <p:nvPr/>
          </p:nvCxnSpPr>
          <p:spPr>
            <a:xfrm>
              <a:off x="7620000" y="4038600"/>
              <a:ext cx="0" cy="457200"/>
            </a:xfrm>
            <a:prstGeom prst="straightConnector1">
              <a:avLst/>
            </a:prstGeom>
            <a:noFill/>
            <a:ln w="38100" cap="flat" cmpd="sng">
              <a:solidFill>
                <a:schemeClr val="dk1"/>
              </a:solidFill>
              <a:prstDash val="solid"/>
              <a:round/>
              <a:headEnd type="none" w="med" len="med"/>
              <a:tailEnd type="none" w="med" len="med"/>
            </a:ln>
          </p:spPr>
        </p:cxnSp>
        <p:sp>
          <p:nvSpPr>
            <p:cNvPr id="1916" name="Google Shape;1916;p110"/>
            <p:cNvSpPr txBox="1"/>
            <p:nvPr/>
          </p:nvSpPr>
          <p:spPr>
            <a:xfrm>
              <a:off x="7820062" y="4327525"/>
              <a:ext cx="94449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FV=?</a:t>
              </a:r>
              <a:endParaRPr/>
            </a:p>
          </p:txBody>
        </p:sp>
      </p:grpSp>
      <p:sp>
        <p:nvSpPr>
          <p:cNvPr id="1917" name="Google Shape;1917;p11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98</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87"/>
                                        </p:tgtEl>
                                        <p:attrNameLst>
                                          <p:attrName>style.visibility</p:attrName>
                                        </p:attrNameLst>
                                      </p:cBhvr>
                                      <p:to>
                                        <p:strVal val="visible"/>
                                      </p:to>
                                    </p:set>
                                    <p:animEffect transition="in" filter="fade">
                                      <p:cBhvr>
                                        <p:cTn id="7" dur="1000"/>
                                        <p:tgtEl>
                                          <p:spTgt spid="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921"/>
        <p:cNvGrpSpPr/>
        <p:nvPr/>
      </p:nvGrpSpPr>
      <p:grpSpPr>
        <a:xfrm>
          <a:off x="0" y="0"/>
          <a:ext cx="0" cy="0"/>
          <a:chOff x="0" y="0"/>
          <a:chExt cx="0" cy="0"/>
        </a:xfrm>
      </p:grpSpPr>
      <p:sp>
        <p:nvSpPr>
          <p:cNvPr id="1922" name="Google Shape;1922;p111"/>
          <p:cNvSpPr/>
          <p:nvPr/>
        </p:nvSpPr>
        <p:spPr>
          <a:xfrm>
            <a:off x="381000" y="228600"/>
            <a:ext cx="83058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APLIKASI NILAI MASA WANG – (i) Simpanan/tabungan</a:t>
            </a:r>
            <a:endParaRPr sz="2400" b="1">
              <a:solidFill>
                <a:schemeClr val="dk1"/>
              </a:solidFill>
              <a:latin typeface="Arial"/>
              <a:ea typeface="Arial"/>
              <a:cs typeface="Arial"/>
              <a:sym typeface="Arial"/>
            </a:endParaRPr>
          </a:p>
        </p:txBody>
      </p:sp>
      <p:sp>
        <p:nvSpPr>
          <p:cNvPr id="1923" name="Google Shape;1923;p111"/>
          <p:cNvSpPr txBox="1"/>
          <p:nvPr/>
        </p:nvSpPr>
        <p:spPr>
          <a:xfrm>
            <a:off x="3236750" y="1371898"/>
            <a:ext cx="131478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Cara 1 :</a:t>
            </a:r>
            <a:endParaRPr/>
          </a:p>
        </p:txBody>
      </p:sp>
      <p:grpSp>
        <p:nvGrpSpPr>
          <p:cNvPr id="1924" name="Google Shape;1924;p111"/>
          <p:cNvGrpSpPr/>
          <p:nvPr/>
        </p:nvGrpSpPr>
        <p:grpSpPr>
          <a:xfrm>
            <a:off x="203566" y="2100263"/>
            <a:ext cx="8788034" cy="3543002"/>
            <a:chOff x="203566" y="2100263"/>
            <a:chExt cx="8788034" cy="3543002"/>
          </a:xfrm>
        </p:grpSpPr>
        <p:cxnSp>
          <p:nvCxnSpPr>
            <p:cNvPr id="1925" name="Google Shape;1925;p111"/>
            <p:cNvCxnSpPr/>
            <p:nvPr/>
          </p:nvCxnSpPr>
          <p:spPr>
            <a:xfrm>
              <a:off x="457200" y="2862263"/>
              <a:ext cx="6019800" cy="0"/>
            </a:xfrm>
            <a:prstGeom prst="straightConnector1">
              <a:avLst/>
            </a:prstGeom>
            <a:noFill/>
            <a:ln w="38100" cap="flat" cmpd="sng">
              <a:solidFill>
                <a:schemeClr val="dk1"/>
              </a:solidFill>
              <a:prstDash val="solid"/>
              <a:round/>
              <a:headEnd type="none" w="med" len="med"/>
              <a:tailEnd type="none" w="med" len="med"/>
            </a:ln>
          </p:spPr>
        </p:cxnSp>
        <p:cxnSp>
          <p:nvCxnSpPr>
            <p:cNvPr id="1926" name="Google Shape;1926;p111"/>
            <p:cNvCxnSpPr/>
            <p:nvPr/>
          </p:nvCxnSpPr>
          <p:spPr>
            <a:xfrm>
              <a:off x="7620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27" name="Google Shape;1927;p111"/>
            <p:cNvCxnSpPr/>
            <p:nvPr/>
          </p:nvCxnSpPr>
          <p:spPr>
            <a:xfrm>
              <a:off x="17526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28" name="Google Shape;1928;p111"/>
            <p:cNvCxnSpPr/>
            <p:nvPr/>
          </p:nvCxnSpPr>
          <p:spPr>
            <a:xfrm>
              <a:off x="27432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29" name="Google Shape;1929;p111"/>
            <p:cNvCxnSpPr/>
            <p:nvPr/>
          </p:nvCxnSpPr>
          <p:spPr>
            <a:xfrm>
              <a:off x="38100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30" name="Google Shape;1930;p111"/>
            <p:cNvCxnSpPr/>
            <p:nvPr/>
          </p:nvCxnSpPr>
          <p:spPr>
            <a:xfrm>
              <a:off x="48768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31" name="Google Shape;1931;p111"/>
            <p:cNvCxnSpPr/>
            <p:nvPr/>
          </p:nvCxnSpPr>
          <p:spPr>
            <a:xfrm>
              <a:off x="5867400" y="2633663"/>
              <a:ext cx="0" cy="457200"/>
            </a:xfrm>
            <a:prstGeom prst="straightConnector1">
              <a:avLst/>
            </a:prstGeom>
            <a:noFill/>
            <a:ln w="38100" cap="flat" cmpd="sng">
              <a:solidFill>
                <a:schemeClr val="dk1"/>
              </a:solidFill>
              <a:prstDash val="solid"/>
              <a:round/>
              <a:headEnd type="none" w="med" len="med"/>
              <a:tailEnd type="none" w="med" len="med"/>
            </a:ln>
          </p:spPr>
        </p:cxnSp>
        <p:sp>
          <p:nvSpPr>
            <p:cNvPr id="1932" name="Google Shape;1932;p111"/>
            <p:cNvSpPr txBox="1"/>
            <p:nvPr/>
          </p:nvSpPr>
          <p:spPr>
            <a:xfrm>
              <a:off x="203566" y="2100263"/>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1.1.20</a:t>
              </a:r>
              <a:endParaRPr/>
            </a:p>
          </p:txBody>
        </p:sp>
        <p:sp>
          <p:nvSpPr>
            <p:cNvPr id="1933" name="Google Shape;1933;p111"/>
            <p:cNvSpPr txBox="1"/>
            <p:nvPr/>
          </p:nvSpPr>
          <p:spPr>
            <a:xfrm>
              <a:off x="1270365" y="2100263"/>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1.1.21</a:t>
              </a:r>
              <a:endParaRPr/>
            </a:p>
          </p:txBody>
        </p:sp>
        <p:sp>
          <p:nvSpPr>
            <p:cNvPr id="1934" name="Google Shape;1934;p111"/>
            <p:cNvSpPr txBox="1"/>
            <p:nvPr/>
          </p:nvSpPr>
          <p:spPr>
            <a:xfrm>
              <a:off x="2260966" y="2100263"/>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1.1.22</a:t>
              </a:r>
              <a:endParaRPr/>
            </a:p>
          </p:txBody>
        </p:sp>
        <p:sp>
          <p:nvSpPr>
            <p:cNvPr id="1935" name="Google Shape;1935;p111"/>
            <p:cNvSpPr txBox="1"/>
            <p:nvPr/>
          </p:nvSpPr>
          <p:spPr>
            <a:xfrm>
              <a:off x="3327766" y="2100263"/>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1.1.23</a:t>
              </a:r>
              <a:endParaRPr/>
            </a:p>
          </p:txBody>
        </p:sp>
        <p:sp>
          <p:nvSpPr>
            <p:cNvPr id="1936" name="Google Shape;1936;p111"/>
            <p:cNvSpPr txBox="1"/>
            <p:nvPr/>
          </p:nvSpPr>
          <p:spPr>
            <a:xfrm>
              <a:off x="4394566" y="2100263"/>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1.1.24</a:t>
              </a:r>
              <a:endParaRPr/>
            </a:p>
          </p:txBody>
        </p:sp>
        <p:sp>
          <p:nvSpPr>
            <p:cNvPr id="1937" name="Google Shape;1937;p111"/>
            <p:cNvSpPr txBox="1"/>
            <p:nvPr/>
          </p:nvSpPr>
          <p:spPr>
            <a:xfrm>
              <a:off x="5385166" y="2100263"/>
              <a:ext cx="104067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1.1.25</a:t>
              </a:r>
              <a:endParaRPr/>
            </a:p>
          </p:txBody>
        </p:sp>
        <p:sp>
          <p:nvSpPr>
            <p:cNvPr id="1938" name="Google Shape;1938;p111"/>
            <p:cNvSpPr txBox="1"/>
            <p:nvPr/>
          </p:nvSpPr>
          <p:spPr>
            <a:xfrm>
              <a:off x="458423" y="31670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39" name="Google Shape;1939;p111"/>
            <p:cNvSpPr txBox="1"/>
            <p:nvPr/>
          </p:nvSpPr>
          <p:spPr>
            <a:xfrm>
              <a:off x="1433148" y="31670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40" name="Google Shape;1940;p111"/>
            <p:cNvSpPr txBox="1"/>
            <p:nvPr/>
          </p:nvSpPr>
          <p:spPr>
            <a:xfrm>
              <a:off x="2423748" y="31670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41" name="Google Shape;1941;p111"/>
            <p:cNvSpPr txBox="1"/>
            <p:nvPr/>
          </p:nvSpPr>
          <p:spPr>
            <a:xfrm>
              <a:off x="3414348" y="31670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42" name="Google Shape;1942;p111"/>
            <p:cNvSpPr txBox="1"/>
            <p:nvPr/>
          </p:nvSpPr>
          <p:spPr>
            <a:xfrm>
              <a:off x="4557348" y="31670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43" name="Google Shape;1943;p111"/>
            <p:cNvSpPr txBox="1"/>
            <p:nvPr/>
          </p:nvSpPr>
          <p:spPr>
            <a:xfrm>
              <a:off x="5547948" y="3167063"/>
              <a:ext cx="69923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200</a:t>
              </a:r>
              <a:endParaRPr/>
            </a:p>
          </p:txBody>
        </p:sp>
        <p:sp>
          <p:nvSpPr>
            <p:cNvPr id="1944" name="Google Shape;1944;p111"/>
            <p:cNvSpPr txBox="1"/>
            <p:nvPr/>
          </p:nvSpPr>
          <p:spPr>
            <a:xfrm>
              <a:off x="843688" y="2465388"/>
              <a:ext cx="80182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10%</a:t>
              </a:r>
              <a:endParaRPr/>
            </a:p>
          </p:txBody>
        </p:sp>
        <p:cxnSp>
          <p:nvCxnSpPr>
            <p:cNvPr id="1945" name="Google Shape;1945;p111"/>
            <p:cNvCxnSpPr/>
            <p:nvPr/>
          </p:nvCxnSpPr>
          <p:spPr>
            <a:xfrm>
              <a:off x="762000" y="3548063"/>
              <a:ext cx="0" cy="1404937"/>
            </a:xfrm>
            <a:prstGeom prst="straightConnector1">
              <a:avLst/>
            </a:prstGeom>
            <a:noFill/>
            <a:ln w="38100" cap="flat" cmpd="sng">
              <a:solidFill>
                <a:schemeClr val="dk1"/>
              </a:solidFill>
              <a:prstDash val="solid"/>
              <a:round/>
              <a:headEnd type="none" w="med" len="med"/>
              <a:tailEnd type="none" w="med" len="med"/>
            </a:ln>
          </p:spPr>
        </p:cxnSp>
        <p:cxnSp>
          <p:nvCxnSpPr>
            <p:cNvPr id="1946" name="Google Shape;1946;p111"/>
            <p:cNvCxnSpPr/>
            <p:nvPr/>
          </p:nvCxnSpPr>
          <p:spPr>
            <a:xfrm rot="10800000" flipH="1">
              <a:off x="762000" y="4919663"/>
              <a:ext cx="5257800" cy="33337"/>
            </a:xfrm>
            <a:prstGeom prst="straightConnector1">
              <a:avLst/>
            </a:prstGeom>
            <a:noFill/>
            <a:ln w="38100" cap="flat" cmpd="sng">
              <a:solidFill>
                <a:schemeClr val="dk1"/>
              </a:solidFill>
              <a:prstDash val="solid"/>
              <a:round/>
              <a:headEnd type="none" w="med" len="med"/>
              <a:tailEnd type="stealth" w="med" len="med"/>
            </a:ln>
          </p:spPr>
        </p:cxnSp>
        <p:cxnSp>
          <p:nvCxnSpPr>
            <p:cNvPr id="1947" name="Google Shape;1947;p111"/>
            <p:cNvCxnSpPr/>
            <p:nvPr/>
          </p:nvCxnSpPr>
          <p:spPr>
            <a:xfrm>
              <a:off x="1752600" y="3548063"/>
              <a:ext cx="0" cy="1404937"/>
            </a:xfrm>
            <a:prstGeom prst="straightConnector1">
              <a:avLst/>
            </a:prstGeom>
            <a:noFill/>
            <a:ln w="38100" cap="flat" cmpd="sng">
              <a:solidFill>
                <a:schemeClr val="dk1"/>
              </a:solidFill>
              <a:prstDash val="solid"/>
              <a:round/>
              <a:headEnd type="none" w="med" len="med"/>
              <a:tailEnd type="none" w="med" len="med"/>
            </a:ln>
          </p:spPr>
        </p:cxnSp>
        <p:cxnSp>
          <p:nvCxnSpPr>
            <p:cNvPr id="1948" name="Google Shape;1948;p111"/>
            <p:cNvCxnSpPr/>
            <p:nvPr/>
          </p:nvCxnSpPr>
          <p:spPr>
            <a:xfrm>
              <a:off x="2743200" y="3548063"/>
              <a:ext cx="0" cy="1404937"/>
            </a:xfrm>
            <a:prstGeom prst="straightConnector1">
              <a:avLst/>
            </a:prstGeom>
            <a:noFill/>
            <a:ln w="38100" cap="flat" cmpd="sng">
              <a:solidFill>
                <a:schemeClr val="dk1"/>
              </a:solidFill>
              <a:prstDash val="solid"/>
              <a:round/>
              <a:headEnd type="none" w="med" len="med"/>
              <a:tailEnd type="none" w="med" len="med"/>
            </a:ln>
          </p:spPr>
        </p:cxnSp>
        <p:cxnSp>
          <p:nvCxnSpPr>
            <p:cNvPr id="1949" name="Google Shape;1949;p111"/>
            <p:cNvCxnSpPr/>
            <p:nvPr/>
          </p:nvCxnSpPr>
          <p:spPr>
            <a:xfrm>
              <a:off x="3810000" y="3548063"/>
              <a:ext cx="0" cy="1404937"/>
            </a:xfrm>
            <a:prstGeom prst="straightConnector1">
              <a:avLst/>
            </a:prstGeom>
            <a:noFill/>
            <a:ln w="38100" cap="flat" cmpd="sng">
              <a:solidFill>
                <a:schemeClr val="dk1"/>
              </a:solidFill>
              <a:prstDash val="solid"/>
              <a:round/>
              <a:headEnd type="none" w="med" len="med"/>
              <a:tailEnd type="none" w="med" len="med"/>
            </a:ln>
          </p:spPr>
        </p:cxnSp>
        <p:cxnSp>
          <p:nvCxnSpPr>
            <p:cNvPr id="1950" name="Google Shape;1950;p111"/>
            <p:cNvCxnSpPr/>
            <p:nvPr/>
          </p:nvCxnSpPr>
          <p:spPr>
            <a:xfrm>
              <a:off x="4876800" y="3548063"/>
              <a:ext cx="0" cy="1404937"/>
            </a:xfrm>
            <a:prstGeom prst="straightConnector1">
              <a:avLst/>
            </a:prstGeom>
            <a:noFill/>
            <a:ln w="38100" cap="flat" cmpd="sng">
              <a:solidFill>
                <a:schemeClr val="dk1"/>
              </a:solidFill>
              <a:prstDash val="solid"/>
              <a:round/>
              <a:headEnd type="none" w="med" len="med"/>
              <a:tailEnd type="none" w="med" len="med"/>
            </a:ln>
          </p:spPr>
        </p:cxnSp>
        <p:cxnSp>
          <p:nvCxnSpPr>
            <p:cNvPr id="1951" name="Google Shape;1951;p111"/>
            <p:cNvCxnSpPr/>
            <p:nvPr/>
          </p:nvCxnSpPr>
          <p:spPr>
            <a:xfrm>
              <a:off x="5867400" y="35480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52" name="Google Shape;1952;p111"/>
            <p:cNvCxnSpPr/>
            <p:nvPr/>
          </p:nvCxnSpPr>
          <p:spPr>
            <a:xfrm>
              <a:off x="5715000" y="5148263"/>
              <a:ext cx="2971800" cy="0"/>
            </a:xfrm>
            <a:prstGeom prst="straightConnector1">
              <a:avLst/>
            </a:prstGeom>
            <a:noFill/>
            <a:ln w="38100" cap="flat" cmpd="sng">
              <a:solidFill>
                <a:schemeClr val="dk1"/>
              </a:solidFill>
              <a:prstDash val="solid"/>
              <a:round/>
              <a:headEnd type="none" w="med" len="med"/>
              <a:tailEnd type="none" w="med" len="med"/>
            </a:ln>
          </p:spPr>
        </p:cxnSp>
        <p:pic>
          <p:nvPicPr>
            <p:cNvPr id="1953" name="Google Shape;1953;p111"/>
            <p:cNvPicPr preferRelativeResize="0"/>
            <p:nvPr/>
          </p:nvPicPr>
          <p:blipFill rotWithShape="1">
            <a:blip r:embed="rId3">
              <a:alphaModFix/>
            </a:blip>
            <a:srcRect/>
            <a:stretch/>
          </p:blipFill>
          <p:spPr>
            <a:xfrm>
              <a:off x="5913438" y="3657600"/>
              <a:ext cx="1868487" cy="471191"/>
            </a:xfrm>
            <a:prstGeom prst="rect">
              <a:avLst/>
            </a:prstGeom>
            <a:noFill/>
            <a:ln>
              <a:noFill/>
            </a:ln>
          </p:spPr>
        </p:pic>
        <p:pic>
          <p:nvPicPr>
            <p:cNvPr id="1954" name="Google Shape;1954;p111"/>
            <p:cNvPicPr preferRelativeResize="0"/>
            <p:nvPr/>
          </p:nvPicPr>
          <p:blipFill rotWithShape="1">
            <a:blip r:embed="rId4">
              <a:alphaModFix/>
            </a:blip>
            <a:srcRect/>
            <a:stretch/>
          </p:blipFill>
          <p:spPr>
            <a:xfrm>
              <a:off x="5181599" y="4419600"/>
              <a:ext cx="3810001" cy="479423"/>
            </a:xfrm>
            <a:prstGeom prst="rect">
              <a:avLst/>
            </a:prstGeom>
            <a:noFill/>
            <a:ln>
              <a:noFill/>
            </a:ln>
          </p:spPr>
        </p:pic>
        <p:sp>
          <p:nvSpPr>
            <p:cNvPr id="1955" name="Google Shape;1955;p111"/>
            <p:cNvSpPr txBox="1"/>
            <p:nvPr/>
          </p:nvSpPr>
          <p:spPr>
            <a:xfrm>
              <a:off x="6586896" y="5181600"/>
              <a:ext cx="186301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RM1,543.12</a:t>
              </a:r>
              <a:endParaRPr/>
            </a:p>
          </p:txBody>
        </p:sp>
      </p:grpSp>
      <p:sp>
        <p:nvSpPr>
          <p:cNvPr id="1956" name="Google Shape;1956;p11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99</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960"/>
        <p:cNvGrpSpPr/>
        <p:nvPr/>
      </p:nvGrpSpPr>
      <p:grpSpPr>
        <a:xfrm>
          <a:off x="0" y="0"/>
          <a:ext cx="0" cy="0"/>
          <a:chOff x="0" y="0"/>
          <a:chExt cx="0" cy="0"/>
        </a:xfrm>
      </p:grpSpPr>
      <p:sp>
        <p:nvSpPr>
          <p:cNvPr id="1961" name="Google Shape;1961;p112"/>
          <p:cNvSpPr/>
          <p:nvPr/>
        </p:nvSpPr>
        <p:spPr>
          <a:xfrm>
            <a:off x="381000" y="228600"/>
            <a:ext cx="83058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APLIKASI NILAI MASA WANG – (i) Simpanan/tabungan</a:t>
            </a:r>
            <a:endParaRPr sz="2400" b="1">
              <a:solidFill>
                <a:schemeClr val="dk1"/>
              </a:solidFill>
              <a:latin typeface="Arial"/>
              <a:ea typeface="Arial"/>
              <a:cs typeface="Arial"/>
              <a:sym typeface="Arial"/>
            </a:endParaRPr>
          </a:p>
        </p:txBody>
      </p:sp>
      <p:sp>
        <p:nvSpPr>
          <p:cNvPr id="1962" name="Google Shape;1962;p112"/>
          <p:cNvSpPr txBox="1"/>
          <p:nvPr/>
        </p:nvSpPr>
        <p:spPr>
          <a:xfrm>
            <a:off x="3220871" y="1219200"/>
            <a:ext cx="131478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Cara 2 :</a:t>
            </a:r>
            <a:endParaRPr/>
          </a:p>
        </p:txBody>
      </p:sp>
      <p:sp>
        <p:nvSpPr>
          <p:cNvPr id="1963" name="Google Shape;1963;p112"/>
          <p:cNvSpPr txBox="1"/>
          <p:nvPr/>
        </p:nvSpPr>
        <p:spPr>
          <a:xfrm>
            <a:off x="6649244" y="6268491"/>
            <a:ext cx="186301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RM1,543.12</a:t>
            </a:r>
            <a:endParaRPr/>
          </a:p>
        </p:txBody>
      </p:sp>
      <p:grpSp>
        <p:nvGrpSpPr>
          <p:cNvPr id="1964" name="Google Shape;1964;p112"/>
          <p:cNvGrpSpPr/>
          <p:nvPr/>
        </p:nvGrpSpPr>
        <p:grpSpPr>
          <a:xfrm>
            <a:off x="223838" y="2100263"/>
            <a:ext cx="8616950" cy="4224337"/>
            <a:chOff x="223838" y="2100263"/>
            <a:chExt cx="8616950" cy="4224337"/>
          </a:xfrm>
        </p:grpSpPr>
        <p:cxnSp>
          <p:nvCxnSpPr>
            <p:cNvPr id="1965" name="Google Shape;1965;p112"/>
            <p:cNvCxnSpPr/>
            <p:nvPr/>
          </p:nvCxnSpPr>
          <p:spPr>
            <a:xfrm>
              <a:off x="457200" y="2862263"/>
              <a:ext cx="6019800" cy="0"/>
            </a:xfrm>
            <a:prstGeom prst="straightConnector1">
              <a:avLst/>
            </a:prstGeom>
            <a:noFill/>
            <a:ln w="38100" cap="flat" cmpd="sng">
              <a:solidFill>
                <a:schemeClr val="dk1"/>
              </a:solidFill>
              <a:prstDash val="solid"/>
              <a:round/>
              <a:headEnd type="none" w="med" len="med"/>
              <a:tailEnd type="none" w="med" len="med"/>
            </a:ln>
          </p:spPr>
        </p:cxnSp>
        <p:cxnSp>
          <p:nvCxnSpPr>
            <p:cNvPr id="1966" name="Google Shape;1966;p112"/>
            <p:cNvCxnSpPr/>
            <p:nvPr/>
          </p:nvCxnSpPr>
          <p:spPr>
            <a:xfrm>
              <a:off x="7620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67" name="Google Shape;1967;p112"/>
            <p:cNvCxnSpPr/>
            <p:nvPr/>
          </p:nvCxnSpPr>
          <p:spPr>
            <a:xfrm>
              <a:off x="17526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68" name="Google Shape;1968;p112"/>
            <p:cNvCxnSpPr/>
            <p:nvPr/>
          </p:nvCxnSpPr>
          <p:spPr>
            <a:xfrm>
              <a:off x="27432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69" name="Google Shape;1969;p112"/>
            <p:cNvCxnSpPr/>
            <p:nvPr/>
          </p:nvCxnSpPr>
          <p:spPr>
            <a:xfrm>
              <a:off x="38100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70" name="Google Shape;1970;p112"/>
            <p:cNvCxnSpPr/>
            <p:nvPr/>
          </p:nvCxnSpPr>
          <p:spPr>
            <a:xfrm>
              <a:off x="4876800" y="2633663"/>
              <a:ext cx="0" cy="457200"/>
            </a:xfrm>
            <a:prstGeom prst="straightConnector1">
              <a:avLst/>
            </a:prstGeom>
            <a:noFill/>
            <a:ln w="38100" cap="flat" cmpd="sng">
              <a:solidFill>
                <a:schemeClr val="dk1"/>
              </a:solidFill>
              <a:prstDash val="solid"/>
              <a:round/>
              <a:headEnd type="none" w="med" len="med"/>
              <a:tailEnd type="none" w="med" len="med"/>
            </a:ln>
          </p:spPr>
        </p:cxnSp>
        <p:cxnSp>
          <p:nvCxnSpPr>
            <p:cNvPr id="1971" name="Google Shape;1971;p112"/>
            <p:cNvCxnSpPr/>
            <p:nvPr/>
          </p:nvCxnSpPr>
          <p:spPr>
            <a:xfrm>
              <a:off x="5867400" y="2633663"/>
              <a:ext cx="0" cy="457200"/>
            </a:xfrm>
            <a:prstGeom prst="straightConnector1">
              <a:avLst/>
            </a:prstGeom>
            <a:noFill/>
            <a:ln w="38100" cap="flat" cmpd="sng">
              <a:solidFill>
                <a:schemeClr val="dk1"/>
              </a:solidFill>
              <a:prstDash val="solid"/>
              <a:round/>
              <a:headEnd type="none" w="med" len="med"/>
              <a:tailEnd type="none" w="med" len="med"/>
            </a:ln>
          </p:spPr>
        </p:cxnSp>
        <p:sp>
          <p:nvSpPr>
            <p:cNvPr id="1972" name="Google Shape;1972;p112"/>
            <p:cNvSpPr txBox="1"/>
            <p:nvPr/>
          </p:nvSpPr>
          <p:spPr>
            <a:xfrm>
              <a:off x="223838" y="2100263"/>
              <a:ext cx="100012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1.1.20</a:t>
              </a:r>
              <a:endParaRPr/>
            </a:p>
          </p:txBody>
        </p:sp>
        <p:sp>
          <p:nvSpPr>
            <p:cNvPr id="1973" name="Google Shape;1973;p112"/>
            <p:cNvSpPr txBox="1"/>
            <p:nvPr/>
          </p:nvSpPr>
          <p:spPr>
            <a:xfrm>
              <a:off x="1290638" y="2100263"/>
              <a:ext cx="100012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1.1.21</a:t>
              </a:r>
              <a:endParaRPr/>
            </a:p>
          </p:txBody>
        </p:sp>
        <p:sp>
          <p:nvSpPr>
            <p:cNvPr id="1974" name="Google Shape;1974;p112"/>
            <p:cNvSpPr txBox="1"/>
            <p:nvPr/>
          </p:nvSpPr>
          <p:spPr>
            <a:xfrm>
              <a:off x="2281238" y="2100263"/>
              <a:ext cx="100012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1.1.22</a:t>
              </a:r>
              <a:endParaRPr/>
            </a:p>
          </p:txBody>
        </p:sp>
        <p:sp>
          <p:nvSpPr>
            <p:cNvPr id="1975" name="Google Shape;1975;p112"/>
            <p:cNvSpPr txBox="1"/>
            <p:nvPr/>
          </p:nvSpPr>
          <p:spPr>
            <a:xfrm>
              <a:off x="3348038" y="2100263"/>
              <a:ext cx="100012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1.1.23</a:t>
              </a:r>
              <a:endParaRPr/>
            </a:p>
          </p:txBody>
        </p:sp>
        <p:sp>
          <p:nvSpPr>
            <p:cNvPr id="1976" name="Google Shape;1976;p112"/>
            <p:cNvSpPr txBox="1"/>
            <p:nvPr/>
          </p:nvSpPr>
          <p:spPr>
            <a:xfrm>
              <a:off x="4414838" y="2100263"/>
              <a:ext cx="100012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1.1.24</a:t>
              </a:r>
              <a:endParaRPr/>
            </a:p>
          </p:txBody>
        </p:sp>
        <p:sp>
          <p:nvSpPr>
            <p:cNvPr id="1977" name="Google Shape;1977;p112"/>
            <p:cNvSpPr txBox="1"/>
            <p:nvPr/>
          </p:nvSpPr>
          <p:spPr>
            <a:xfrm>
              <a:off x="5405438" y="2100263"/>
              <a:ext cx="1000125"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1.1.25</a:t>
              </a:r>
              <a:endParaRPr/>
            </a:p>
          </p:txBody>
        </p:sp>
        <p:sp>
          <p:nvSpPr>
            <p:cNvPr id="1978" name="Google Shape;1978;p112"/>
            <p:cNvSpPr txBox="1"/>
            <p:nvPr/>
          </p:nvSpPr>
          <p:spPr>
            <a:xfrm>
              <a:off x="457200" y="3184525"/>
              <a:ext cx="669925"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200</a:t>
              </a:r>
              <a:endParaRPr/>
            </a:p>
          </p:txBody>
        </p:sp>
        <p:sp>
          <p:nvSpPr>
            <p:cNvPr id="1979" name="Google Shape;1979;p112"/>
            <p:cNvSpPr txBox="1"/>
            <p:nvPr/>
          </p:nvSpPr>
          <p:spPr>
            <a:xfrm>
              <a:off x="1447800" y="3167063"/>
              <a:ext cx="669925"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200</a:t>
              </a:r>
              <a:endParaRPr/>
            </a:p>
          </p:txBody>
        </p:sp>
        <p:sp>
          <p:nvSpPr>
            <p:cNvPr id="1980" name="Google Shape;1980;p112"/>
            <p:cNvSpPr txBox="1"/>
            <p:nvPr/>
          </p:nvSpPr>
          <p:spPr>
            <a:xfrm>
              <a:off x="2438400" y="3167063"/>
              <a:ext cx="669925"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200</a:t>
              </a:r>
              <a:endParaRPr/>
            </a:p>
          </p:txBody>
        </p:sp>
        <p:sp>
          <p:nvSpPr>
            <p:cNvPr id="1981" name="Google Shape;1981;p112"/>
            <p:cNvSpPr txBox="1"/>
            <p:nvPr/>
          </p:nvSpPr>
          <p:spPr>
            <a:xfrm>
              <a:off x="3429000" y="3167063"/>
              <a:ext cx="669925"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200</a:t>
              </a:r>
              <a:endParaRPr/>
            </a:p>
          </p:txBody>
        </p:sp>
        <p:sp>
          <p:nvSpPr>
            <p:cNvPr id="1982" name="Google Shape;1982;p112"/>
            <p:cNvSpPr txBox="1"/>
            <p:nvPr/>
          </p:nvSpPr>
          <p:spPr>
            <a:xfrm>
              <a:off x="4572000" y="3167063"/>
              <a:ext cx="669925"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200</a:t>
              </a:r>
              <a:endParaRPr/>
            </a:p>
          </p:txBody>
        </p:sp>
        <p:sp>
          <p:nvSpPr>
            <p:cNvPr id="1983" name="Google Shape;1983;p112"/>
            <p:cNvSpPr txBox="1"/>
            <p:nvPr/>
          </p:nvSpPr>
          <p:spPr>
            <a:xfrm>
              <a:off x="5562600" y="3167063"/>
              <a:ext cx="669925"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200</a:t>
              </a:r>
              <a:endParaRPr/>
            </a:p>
          </p:txBody>
        </p:sp>
        <p:sp>
          <p:nvSpPr>
            <p:cNvPr id="1984" name="Google Shape;1984;p112"/>
            <p:cNvSpPr txBox="1"/>
            <p:nvPr/>
          </p:nvSpPr>
          <p:spPr>
            <a:xfrm>
              <a:off x="838200" y="2465388"/>
              <a:ext cx="812800"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Tahoma"/>
                  <a:ea typeface="Tahoma"/>
                  <a:cs typeface="Tahoma"/>
                  <a:sym typeface="Tahoma"/>
                </a:rPr>
                <a:t>10%</a:t>
              </a:r>
              <a:endParaRPr/>
            </a:p>
          </p:txBody>
        </p:sp>
        <p:cxnSp>
          <p:nvCxnSpPr>
            <p:cNvPr id="1985" name="Google Shape;1985;p112"/>
            <p:cNvCxnSpPr/>
            <p:nvPr/>
          </p:nvCxnSpPr>
          <p:spPr>
            <a:xfrm>
              <a:off x="762000" y="3548063"/>
              <a:ext cx="0" cy="2547937"/>
            </a:xfrm>
            <a:prstGeom prst="straightConnector1">
              <a:avLst/>
            </a:prstGeom>
            <a:noFill/>
            <a:ln w="38100" cap="flat" cmpd="sng">
              <a:solidFill>
                <a:schemeClr val="dk1"/>
              </a:solidFill>
              <a:prstDash val="solid"/>
              <a:round/>
              <a:headEnd type="none" w="med" len="med"/>
              <a:tailEnd type="none" w="med" len="med"/>
            </a:ln>
          </p:spPr>
        </p:cxnSp>
        <p:cxnSp>
          <p:nvCxnSpPr>
            <p:cNvPr id="1986" name="Google Shape;1986;p112"/>
            <p:cNvCxnSpPr/>
            <p:nvPr/>
          </p:nvCxnSpPr>
          <p:spPr>
            <a:xfrm>
              <a:off x="762000" y="6096000"/>
              <a:ext cx="5105400" cy="0"/>
            </a:xfrm>
            <a:prstGeom prst="straightConnector1">
              <a:avLst/>
            </a:prstGeom>
            <a:noFill/>
            <a:ln w="38100" cap="flat" cmpd="sng">
              <a:solidFill>
                <a:schemeClr val="dk1"/>
              </a:solidFill>
              <a:prstDash val="solid"/>
              <a:round/>
              <a:headEnd type="none" w="med" len="med"/>
              <a:tailEnd type="stealth" w="med" len="med"/>
            </a:ln>
          </p:spPr>
        </p:cxnSp>
        <p:cxnSp>
          <p:nvCxnSpPr>
            <p:cNvPr id="1987" name="Google Shape;1987;p112"/>
            <p:cNvCxnSpPr/>
            <p:nvPr/>
          </p:nvCxnSpPr>
          <p:spPr>
            <a:xfrm>
              <a:off x="1752600" y="3548063"/>
              <a:ext cx="0" cy="2014537"/>
            </a:xfrm>
            <a:prstGeom prst="straightConnector1">
              <a:avLst/>
            </a:prstGeom>
            <a:noFill/>
            <a:ln w="38100" cap="flat" cmpd="sng">
              <a:solidFill>
                <a:schemeClr val="dk1"/>
              </a:solidFill>
              <a:prstDash val="solid"/>
              <a:round/>
              <a:headEnd type="none" w="med" len="med"/>
              <a:tailEnd type="none" w="med" len="med"/>
            </a:ln>
          </p:spPr>
        </p:cxnSp>
        <p:cxnSp>
          <p:nvCxnSpPr>
            <p:cNvPr id="1988" name="Google Shape;1988;p112"/>
            <p:cNvCxnSpPr/>
            <p:nvPr/>
          </p:nvCxnSpPr>
          <p:spPr>
            <a:xfrm>
              <a:off x="2743200" y="3548063"/>
              <a:ext cx="0" cy="1557337"/>
            </a:xfrm>
            <a:prstGeom prst="straightConnector1">
              <a:avLst/>
            </a:prstGeom>
            <a:noFill/>
            <a:ln w="38100" cap="flat" cmpd="sng">
              <a:solidFill>
                <a:schemeClr val="dk1"/>
              </a:solidFill>
              <a:prstDash val="solid"/>
              <a:round/>
              <a:headEnd type="none" w="med" len="med"/>
              <a:tailEnd type="none" w="med" len="med"/>
            </a:ln>
          </p:spPr>
        </p:cxnSp>
        <p:cxnSp>
          <p:nvCxnSpPr>
            <p:cNvPr id="1989" name="Google Shape;1989;p112"/>
            <p:cNvCxnSpPr/>
            <p:nvPr/>
          </p:nvCxnSpPr>
          <p:spPr>
            <a:xfrm>
              <a:off x="3810000" y="3548063"/>
              <a:ext cx="0" cy="1023937"/>
            </a:xfrm>
            <a:prstGeom prst="straightConnector1">
              <a:avLst/>
            </a:prstGeom>
            <a:noFill/>
            <a:ln w="38100" cap="flat" cmpd="sng">
              <a:solidFill>
                <a:schemeClr val="dk1"/>
              </a:solidFill>
              <a:prstDash val="solid"/>
              <a:round/>
              <a:headEnd type="none" w="med" len="med"/>
              <a:tailEnd type="none" w="med" len="med"/>
            </a:ln>
          </p:spPr>
        </p:cxnSp>
        <p:cxnSp>
          <p:nvCxnSpPr>
            <p:cNvPr id="1990" name="Google Shape;1990;p112"/>
            <p:cNvCxnSpPr/>
            <p:nvPr/>
          </p:nvCxnSpPr>
          <p:spPr>
            <a:xfrm>
              <a:off x="4876800" y="3610472"/>
              <a:ext cx="0" cy="504328"/>
            </a:xfrm>
            <a:prstGeom prst="straightConnector1">
              <a:avLst/>
            </a:prstGeom>
            <a:noFill/>
            <a:ln w="38100" cap="flat" cmpd="sng">
              <a:solidFill>
                <a:schemeClr val="dk1"/>
              </a:solidFill>
              <a:prstDash val="solid"/>
              <a:round/>
              <a:headEnd type="none" w="med" len="med"/>
              <a:tailEnd type="none" w="med" len="med"/>
            </a:ln>
          </p:spPr>
        </p:cxnSp>
        <p:cxnSp>
          <p:nvCxnSpPr>
            <p:cNvPr id="1991" name="Google Shape;1991;p112"/>
            <p:cNvCxnSpPr/>
            <p:nvPr/>
          </p:nvCxnSpPr>
          <p:spPr>
            <a:xfrm>
              <a:off x="5715000" y="6248400"/>
              <a:ext cx="2971800" cy="0"/>
            </a:xfrm>
            <a:prstGeom prst="straightConnector1">
              <a:avLst/>
            </a:prstGeom>
            <a:noFill/>
            <a:ln w="38100" cap="flat" cmpd="sng">
              <a:solidFill>
                <a:schemeClr val="dk1"/>
              </a:solidFill>
              <a:prstDash val="solid"/>
              <a:round/>
              <a:headEnd type="none" w="med" len="med"/>
              <a:tailEnd type="none" w="med" len="med"/>
            </a:ln>
          </p:spPr>
        </p:cxnSp>
        <p:pic>
          <p:nvPicPr>
            <p:cNvPr id="1992" name="Google Shape;1992;p112"/>
            <p:cNvPicPr preferRelativeResize="0"/>
            <p:nvPr/>
          </p:nvPicPr>
          <p:blipFill rotWithShape="1">
            <a:blip r:embed="rId3">
              <a:alphaModFix/>
            </a:blip>
            <a:srcRect/>
            <a:stretch/>
          </p:blipFill>
          <p:spPr>
            <a:xfrm>
              <a:off x="5715000" y="3487738"/>
              <a:ext cx="1868488" cy="474662"/>
            </a:xfrm>
            <a:prstGeom prst="rect">
              <a:avLst/>
            </a:prstGeom>
            <a:noFill/>
            <a:ln>
              <a:noFill/>
            </a:ln>
          </p:spPr>
        </p:pic>
        <p:pic>
          <p:nvPicPr>
            <p:cNvPr id="1993" name="Google Shape;1993;p112"/>
            <p:cNvPicPr preferRelativeResize="0"/>
            <p:nvPr/>
          </p:nvPicPr>
          <p:blipFill rotWithShape="1">
            <a:blip r:embed="rId4">
              <a:alphaModFix/>
            </a:blip>
            <a:srcRect/>
            <a:stretch/>
          </p:blipFill>
          <p:spPr>
            <a:xfrm>
              <a:off x="5865813" y="5849938"/>
              <a:ext cx="2973387" cy="474662"/>
            </a:xfrm>
            <a:prstGeom prst="rect">
              <a:avLst/>
            </a:prstGeom>
            <a:noFill/>
            <a:ln>
              <a:noFill/>
            </a:ln>
          </p:spPr>
        </p:pic>
        <p:cxnSp>
          <p:nvCxnSpPr>
            <p:cNvPr id="1994" name="Google Shape;1994;p112"/>
            <p:cNvCxnSpPr/>
            <p:nvPr/>
          </p:nvCxnSpPr>
          <p:spPr>
            <a:xfrm>
              <a:off x="1676400" y="5562600"/>
              <a:ext cx="4267200" cy="0"/>
            </a:xfrm>
            <a:prstGeom prst="straightConnector1">
              <a:avLst/>
            </a:prstGeom>
            <a:noFill/>
            <a:ln w="38100" cap="flat" cmpd="sng">
              <a:solidFill>
                <a:schemeClr val="dk1"/>
              </a:solidFill>
              <a:prstDash val="solid"/>
              <a:round/>
              <a:headEnd type="none" w="med" len="med"/>
              <a:tailEnd type="stealth" w="med" len="med"/>
            </a:ln>
          </p:spPr>
        </p:cxnSp>
        <p:cxnSp>
          <p:nvCxnSpPr>
            <p:cNvPr id="1995" name="Google Shape;1995;p112"/>
            <p:cNvCxnSpPr/>
            <p:nvPr/>
          </p:nvCxnSpPr>
          <p:spPr>
            <a:xfrm>
              <a:off x="2743200" y="5105400"/>
              <a:ext cx="3200400" cy="0"/>
            </a:xfrm>
            <a:prstGeom prst="straightConnector1">
              <a:avLst/>
            </a:prstGeom>
            <a:noFill/>
            <a:ln w="38100" cap="flat" cmpd="sng">
              <a:solidFill>
                <a:schemeClr val="dk1"/>
              </a:solidFill>
              <a:prstDash val="solid"/>
              <a:round/>
              <a:headEnd type="none" w="med" len="med"/>
              <a:tailEnd type="stealth" w="med" len="med"/>
            </a:ln>
          </p:spPr>
        </p:cxnSp>
        <p:cxnSp>
          <p:nvCxnSpPr>
            <p:cNvPr id="1996" name="Google Shape;1996;p112"/>
            <p:cNvCxnSpPr/>
            <p:nvPr/>
          </p:nvCxnSpPr>
          <p:spPr>
            <a:xfrm>
              <a:off x="3810000" y="4572000"/>
              <a:ext cx="2133600" cy="0"/>
            </a:xfrm>
            <a:prstGeom prst="straightConnector1">
              <a:avLst/>
            </a:prstGeom>
            <a:noFill/>
            <a:ln w="38100" cap="flat" cmpd="sng">
              <a:solidFill>
                <a:schemeClr val="dk1"/>
              </a:solidFill>
              <a:prstDash val="solid"/>
              <a:round/>
              <a:headEnd type="none" w="med" len="med"/>
              <a:tailEnd type="stealth" w="med" len="med"/>
            </a:ln>
          </p:spPr>
        </p:cxnSp>
        <p:cxnSp>
          <p:nvCxnSpPr>
            <p:cNvPr id="1997" name="Google Shape;1997;p112"/>
            <p:cNvCxnSpPr/>
            <p:nvPr/>
          </p:nvCxnSpPr>
          <p:spPr>
            <a:xfrm>
              <a:off x="4876800" y="4114800"/>
              <a:ext cx="1066800" cy="0"/>
            </a:xfrm>
            <a:prstGeom prst="straightConnector1">
              <a:avLst/>
            </a:prstGeom>
            <a:noFill/>
            <a:ln w="38100" cap="flat" cmpd="sng">
              <a:solidFill>
                <a:schemeClr val="dk1"/>
              </a:solidFill>
              <a:prstDash val="solid"/>
              <a:round/>
              <a:headEnd type="none" w="med" len="med"/>
              <a:tailEnd type="stealth" w="med" len="med"/>
            </a:ln>
          </p:spPr>
        </p:cxnSp>
        <p:pic>
          <p:nvPicPr>
            <p:cNvPr id="1998" name="Google Shape;1998;p112"/>
            <p:cNvPicPr preferRelativeResize="0"/>
            <p:nvPr/>
          </p:nvPicPr>
          <p:blipFill rotWithShape="1">
            <a:blip r:embed="rId5">
              <a:alphaModFix/>
            </a:blip>
            <a:srcRect/>
            <a:stretch/>
          </p:blipFill>
          <p:spPr>
            <a:xfrm>
              <a:off x="5867400" y="5334000"/>
              <a:ext cx="2973388" cy="474662"/>
            </a:xfrm>
            <a:prstGeom prst="rect">
              <a:avLst/>
            </a:prstGeom>
            <a:noFill/>
            <a:ln>
              <a:noFill/>
            </a:ln>
          </p:spPr>
        </p:pic>
        <p:pic>
          <p:nvPicPr>
            <p:cNvPr id="1999" name="Google Shape;1999;p112"/>
            <p:cNvPicPr preferRelativeResize="0"/>
            <p:nvPr/>
          </p:nvPicPr>
          <p:blipFill rotWithShape="1">
            <a:blip r:embed="rId6">
              <a:alphaModFix/>
            </a:blip>
            <a:srcRect/>
            <a:stretch/>
          </p:blipFill>
          <p:spPr>
            <a:xfrm>
              <a:off x="5867400" y="4876800"/>
              <a:ext cx="2973388" cy="474662"/>
            </a:xfrm>
            <a:prstGeom prst="rect">
              <a:avLst/>
            </a:prstGeom>
            <a:noFill/>
            <a:ln>
              <a:noFill/>
            </a:ln>
          </p:spPr>
        </p:pic>
        <p:pic>
          <p:nvPicPr>
            <p:cNvPr id="2000" name="Google Shape;2000;p112"/>
            <p:cNvPicPr preferRelativeResize="0"/>
            <p:nvPr/>
          </p:nvPicPr>
          <p:blipFill rotWithShape="1">
            <a:blip r:embed="rId7">
              <a:alphaModFix/>
            </a:blip>
            <a:srcRect/>
            <a:stretch/>
          </p:blipFill>
          <p:spPr>
            <a:xfrm>
              <a:off x="5867400" y="4402138"/>
              <a:ext cx="2973388" cy="474662"/>
            </a:xfrm>
            <a:prstGeom prst="rect">
              <a:avLst/>
            </a:prstGeom>
            <a:noFill/>
            <a:ln>
              <a:noFill/>
            </a:ln>
          </p:spPr>
        </p:pic>
        <p:pic>
          <p:nvPicPr>
            <p:cNvPr id="2001" name="Google Shape;2001;p112"/>
            <p:cNvPicPr preferRelativeResize="0"/>
            <p:nvPr/>
          </p:nvPicPr>
          <p:blipFill rotWithShape="1">
            <a:blip r:embed="rId8">
              <a:alphaModFix/>
            </a:blip>
            <a:srcRect/>
            <a:stretch/>
          </p:blipFill>
          <p:spPr>
            <a:xfrm>
              <a:off x="5881688" y="3944938"/>
              <a:ext cx="2944812" cy="474662"/>
            </a:xfrm>
            <a:prstGeom prst="rect">
              <a:avLst/>
            </a:prstGeom>
            <a:noFill/>
            <a:ln>
              <a:noFill/>
            </a:ln>
          </p:spPr>
        </p:pic>
      </p:grpSp>
      <p:sp>
        <p:nvSpPr>
          <p:cNvPr id="2002" name="Google Shape;2002;p112"/>
          <p:cNvSpPr txBox="1">
            <a:spLocks noGrp="1"/>
          </p:cNvSpPr>
          <p:nvPr>
            <p:ph type="sldNum" sz="quarter" idx="12"/>
          </p:nvPr>
        </p:nvSpPr>
        <p:spPr>
          <a:xfrm>
            <a:off x="6781800" y="646430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100</a:t>
            </a:fld>
            <a:endParaRPr sz="1200">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63"/>
                                        </p:tgtEl>
                                        <p:attrNameLst>
                                          <p:attrName>style.visibility</p:attrName>
                                        </p:attrNameLst>
                                      </p:cBhvr>
                                      <p:to>
                                        <p:strVal val="visible"/>
                                      </p:to>
                                    </p:set>
                                    <p:anim calcmode="lin" valueType="num">
                                      <p:cBhvr additive="base">
                                        <p:cTn id="7" dur="500"/>
                                        <p:tgtEl>
                                          <p:spTgt spid="196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006"/>
        <p:cNvGrpSpPr/>
        <p:nvPr/>
      </p:nvGrpSpPr>
      <p:grpSpPr>
        <a:xfrm>
          <a:off x="0" y="0"/>
          <a:ext cx="0" cy="0"/>
          <a:chOff x="0" y="0"/>
          <a:chExt cx="0" cy="0"/>
        </a:xfrm>
      </p:grpSpPr>
      <p:sp>
        <p:nvSpPr>
          <p:cNvPr id="2007" name="Google Shape;2007;p113"/>
          <p:cNvSpPr/>
          <p:nvPr/>
        </p:nvSpPr>
        <p:spPr>
          <a:xfrm>
            <a:off x="304799" y="507058"/>
            <a:ext cx="8538949"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APLIKASI NILAI MASA WANG – (ii)  Pelunasan pinjaman</a:t>
            </a:r>
            <a:endParaRPr sz="2400" b="1">
              <a:solidFill>
                <a:schemeClr val="dk1"/>
              </a:solidFill>
              <a:latin typeface="Arial"/>
              <a:ea typeface="Arial"/>
              <a:cs typeface="Arial"/>
              <a:sym typeface="Arial"/>
            </a:endParaRPr>
          </a:p>
        </p:txBody>
      </p:sp>
      <p:sp>
        <p:nvSpPr>
          <p:cNvPr id="2008" name="Google Shape;2008;p113"/>
          <p:cNvSpPr txBox="1"/>
          <p:nvPr/>
        </p:nvSpPr>
        <p:spPr>
          <a:xfrm>
            <a:off x="152400" y="1743301"/>
            <a:ext cx="87630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Langkah menyediakan jadual pelunasan pinjaman:</a:t>
            </a:r>
            <a:endParaRPr/>
          </a:p>
        </p:txBody>
      </p:sp>
      <p:sp>
        <p:nvSpPr>
          <p:cNvPr id="2009" name="Google Shape;2009;p113"/>
          <p:cNvSpPr txBox="1"/>
          <p:nvPr/>
        </p:nvSpPr>
        <p:spPr>
          <a:xfrm>
            <a:off x="2038811" y="2607558"/>
            <a:ext cx="4857420" cy="461665"/>
          </a:xfrm>
          <a:prstGeom prst="rect">
            <a:avLst/>
          </a:prstGeom>
          <a:noFill/>
          <a:ln>
            <a:noFill/>
          </a:ln>
        </p:spPr>
        <p:txBody>
          <a:bodyPr spcFirstLastPara="1" wrap="square" lIns="91425" tIns="45700" rIns="91425" bIns="45700" anchor="t" anchorCtr="0">
            <a:spAutoFit/>
          </a:bodyPr>
          <a:lstStyle/>
          <a:p>
            <a:pPr marL="457200" marR="0" lvl="1" indent="-152400" algn="l" rtl="0">
              <a:spcBef>
                <a:spcPts val="0"/>
              </a:spcBef>
              <a:spcAft>
                <a:spcPts val="0"/>
              </a:spcAft>
              <a:buClr>
                <a:schemeClr val="dk1"/>
              </a:buClr>
              <a:buSzPts val="2400"/>
              <a:buFont typeface="Noto Sans Symbols"/>
              <a:buChar char="❖"/>
            </a:pPr>
            <a:r>
              <a:rPr lang="en-US" sz="2400" b="0" i="0" u="none" strike="noStrike" cap="none">
                <a:solidFill>
                  <a:schemeClr val="dk1"/>
                </a:solidFill>
                <a:latin typeface="Arial"/>
                <a:ea typeface="Arial"/>
                <a:cs typeface="Arial"/>
                <a:sym typeface="Arial"/>
              </a:rPr>
              <a:t>    Mengira bayaran ansuran </a:t>
            </a:r>
            <a:endParaRPr/>
          </a:p>
        </p:txBody>
      </p:sp>
      <p:sp>
        <p:nvSpPr>
          <p:cNvPr id="2010" name="Google Shape;2010;p113"/>
          <p:cNvSpPr txBox="1"/>
          <p:nvPr/>
        </p:nvSpPr>
        <p:spPr>
          <a:xfrm>
            <a:off x="2456323" y="3412420"/>
            <a:ext cx="4960012" cy="461665"/>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   Mengira faedah setiap tempoh </a:t>
            </a:r>
            <a:endParaRPr/>
          </a:p>
        </p:txBody>
      </p:sp>
      <p:sp>
        <p:nvSpPr>
          <p:cNvPr id="2011" name="Google Shape;2011;p113"/>
          <p:cNvSpPr txBox="1"/>
          <p:nvPr/>
        </p:nvSpPr>
        <p:spPr>
          <a:xfrm>
            <a:off x="2198022" y="4250620"/>
            <a:ext cx="5288628" cy="461665"/>
          </a:xfrm>
          <a:prstGeom prst="rect">
            <a:avLst/>
          </a:prstGeom>
          <a:noFill/>
          <a:ln>
            <a:noFill/>
          </a:ln>
        </p:spPr>
        <p:txBody>
          <a:bodyPr spcFirstLastPara="1" wrap="square" lIns="91425" tIns="45700" rIns="91425" bIns="45700" anchor="t" anchorCtr="0">
            <a:spAutoFit/>
          </a:bodyPr>
          <a:lstStyle/>
          <a:p>
            <a:pPr marL="0" marR="0" lvl="0" indent="-152400" algn="ctr" rtl="0">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  Mengira bayaran prinsipal (pokok)</a:t>
            </a:r>
            <a:endParaRPr/>
          </a:p>
        </p:txBody>
      </p:sp>
      <p:sp>
        <p:nvSpPr>
          <p:cNvPr id="2012" name="Google Shape;2012;p11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101</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009"/>
                                        </p:tgtEl>
                                        <p:attrNameLst>
                                          <p:attrName>style.visibility</p:attrName>
                                        </p:attrNameLst>
                                      </p:cBhvr>
                                      <p:to>
                                        <p:strVal val="visible"/>
                                      </p:to>
                                    </p:set>
                                    <p:animEffect transition="in" filter="fade">
                                      <p:cBhvr>
                                        <p:cTn id="11" dur="500"/>
                                        <p:tgtEl>
                                          <p:spTgt spid="200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010"/>
                                        </p:tgtEl>
                                        <p:attrNameLst>
                                          <p:attrName>style.visibility</p:attrName>
                                        </p:attrNameLst>
                                      </p:cBhvr>
                                      <p:to>
                                        <p:strVal val="visible"/>
                                      </p:to>
                                    </p:set>
                                    <p:animEffect transition="in" filter="fade">
                                      <p:cBhvr>
                                        <p:cTn id="16" dur="500"/>
                                        <p:tgtEl>
                                          <p:spTgt spid="2010"/>
                                        </p:tgtEl>
                                      </p:cBhvr>
                                    </p:animEffect>
                                  </p:childTnLst>
                                </p:cTn>
                              </p:par>
                              <p:par>
                                <p:cTn id="17" presetID="10" presetClass="entr" presetSubtype="0" fill="hold" nodeType="withEffect">
                                  <p:stCondLst>
                                    <p:cond delay="0"/>
                                  </p:stCondLst>
                                  <p:childTnLst>
                                    <p:set>
                                      <p:cBhvr>
                                        <p:cTn id="18" dur="1" fill="hold">
                                          <p:stCondLst>
                                            <p:cond delay="0"/>
                                          </p:stCondLst>
                                        </p:cTn>
                                        <p:tgtEl>
                                          <p:spTgt spid="2011"/>
                                        </p:tgtEl>
                                        <p:attrNameLst>
                                          <p:attrName>style.visibility</p:attrName>
                                        </p:attrNameLst>
                                      </p:cBhvr>
                                      <p:to>
                                        <p:strVal val="visible"/>
                                      </p:to>
                                    </p:set>
                                    <p:animEffect transition="in" filter="fade">
                                      <p:cBhvr>
                                        <p:cTn id="19" dur="500"/>
                                        <p:tgtEl>
                                          <p:spTgt spid="2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016"/>
        <p:cNvGrpSpPr/>
        <p:nvPr/>
      </p:nvGrpSpPr>
      <p:grpSpPr>
        <a:xfrm>
          <a:off x="0" y="0"/>
          <a:ext cx="0" cy="0"/>
          <a:chOff x="0" y="0"/>
          <a:chExt cx="0" cy="0"/>
        </a:xfrm>
      </p:grpSpPr>
      <p:sp>
        <p:nvSpPr>
          <p:cNvPr id="2017" name="Google Shape;2017;p114"/>
          <p:cNvSpPr/>
          <p:nvPr/>
        </p:nvSpPr>
        <p:spPr>
          <a:xfrm>
            <a:off x="381000" y="228600"/>
            <a:ext cx="85344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APLIKASI NILAI MASA WANG – (ii)  Pelunasan pinjaman</a:t>
            </a:r>
            <a:endParaRPr sz="2400" b="1">
              <a:solidFill>
                <a:schemeClr val="dk1"/>
              </a:solidFill>
              <a:latin typeface="Arial"/>
              <a:ea typeface="Arial"/>
              <a:cs typeface="Arial"/>
              <a:sym typeface="Arial"/>
            </a:endParaRPr>
          </a:p>
        </p:txBody>
      </p:sp>
      <p:sp>
        <p:nvSpPr>
          <p:cNvPr id="2018" name="Google Shape;2018;p114"/>
          <p:cNvSpPr txBox="1"/>
          <p:nvPr/>
        </p:nvSpPr>
        <p:spPr>
          <a:xfrm>
            <a:off x="150019" y="3750400"/>
            <a:ext cx="671195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Langkah</a:t>
            </a:r>
            <a:r>
              <a:rPr lang="en-US" sz="2400" b="1" dirty="0">
                <a:solidFill>
                  <a:schemeClr val="dk1"/>
                </a:solidFill>
                <a:latin typeface="Arial"/>
                <a:ea typeface="Arial"/>
                <a:cs typeface="Arial"/>
                <a:sym typeface="Arial"/>
              </a:rPr>
              <a:t> 1 :  </a:t>
            </a:r>
            <a:r>
              <a:rPr lang="en-US" sz="2400" b="1" dirty="0" err="1">
                <a:solidFill>
                  <a:schemeClr val="dk1"/>
                </a:solidFill>
                <a:latin typeface="Arial"/>
                <a:ea typeface="Arial"/>
                <a:cs typeface="Arial"/>
                <a:sym typeface="Arial"/>
              </a:rPr>
              <a:t>mengira</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bayaran</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ansuran</a:t>
            </a:r>
            <a:endParaRPr sz="2400" b="1" dirty="0">
              <a:solidFill>
                <a:schemeClr val="dk1"/>
              </a:solidFill>
              <a:latin typeface="Arial"/>
              <a:ea typeface="Arial"/>
              <a:cs typeface="Arial"/>
              <a:sym typeface="Arial"/>
            </a:endParaRPr>
          </a:p>
        </p:txBody>
      </p:sp>
      <p:sp>
        <p:nvSpPr>
          <p:cNvPr id="2019" name="Google Shape;2019;p114"/>
          <p:cNvSpPr txBox="1"/>
          <p:nvPr/>
        </p:nvSpPr>
        <p:spPr>
          <a:xfrm>
            <a:off x="493713" y="4179985"/>
            <a:ext cx="8762999"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Arial"/>
                <a:ea typeface="Arial"/>
                <a:cs typeface="Arial"/>
                <a:sym typeface="Arial"/>
              </a:rPr>
              <a:t>Di mana   PVA = RM10,000    </a:t>
            </a:r>
            <a:r>
              <a:rPr lang="en-US" sz="2400" dirty="0" err="1">
                <a:solidFill>
                  <a:schemeClr val="dk1"/>
                </a:solidFill>
                <a:latin typeface="Arial"/>
                <a:ea typeface="Arial"/>
                <a:cs typeface="Arial"/>
                <a:sym typeface="Arial"/>
              </a:rPr>
              <a:t>i</a:t>
            </a:r>
            <a:r>
              <a:rPr lang="en-US" sz="2400" dirty="0">
                <a:solidFill>
                  <a:schemeClr val="dk1"/>
                </a:solidFill>
                <a:latin typeface="Arial"/>
                <a:ea typeface="Arial"/>
                <a:cs typeface="Arial"/>
                <a:sym typeface="Arial"/>
              </a:rPr>
              <a:t> =  7%     n = 5          PMT = ? </a:t>
            </a:r>
            <a:endParaRPr dirty="0"/>
          </a:p>
        </p:txBody>
      </p:sp>
      <p:pic>
        <p:nvPicPr>
          <p:cNvPr id="2020" name="Google Shape;2020;p114"/>
          <p:cNvPicPr preferRelativeResize="0"/>
          <p:nvPr/>
        </p:nvPicPr>
        <p:blipFill rotWithShape="1">
          <a:blip r:embed="rId3">
            <a:alphaModFix/>
          </a:blip>
          <a:srcRect/>
          <a:stretch/>
        </p:blipFill>
        <p:spPr>
          <a:xfrm>
            <a:off x="1828470" y="4626267"/>
            <a:ext cx="3355048" cy="494865"/>
          </a:xfrm>
          <a:prstGeom prst="rect">
            <a:avLst/>
          </a:prstGeom>
          <a:noFill/>
          <a:ln>
            <a:noFill/>
          </a:ln>
        </p:spPr>
      </p:pic>
      <p:pic>
        <p:nvPicPr>
          <p:cNvPr id="2021" name="Google Shape;2021;p114"/>
          <p:cNvPicPr preferRelativeResize="0"/>
          <p:nvPr/>
        </p:nvPicPr>
        <p:blipFill rotWithShape="1">
          <a:blip r:embed="rId4">
            <a:alphaModFix/>
          </a:blip>
          <a:srcRect/>
          <a:stretch/>
        </p:blipFill>
        <p:spPr>
          <a:xfrm>
            <a:off x="1527506" y="5001787"/>
            <a:ext cx="3656012" cy="487133"/>
          </a:xfrm>
          <a:prstGeom prst="rect">
            <a:avLst/>
          </a:prstGeom>
          <a:noFill/>
          <a:ln>
            <a:noFill/>
          </a:ln>
        </p:spPr>
      </p:pic>
      <p:pic>
        <p:nvPicPr>
          <p:cNvPr id="2022" name="Google Shape;2022;p114"/>
          <p:cNvPicPr preferRelativeResize="0"/>
          <p:nvPr/>
        </p:nvPicPr>
        <p:blipFill rotWithShape="1">
          <a:blip r:embed="rId5">
            <a:alphaModFix/>
          </a:blip>
          <a:srcRect/>
          <a:stretch/>
        </p:blipFill>
        <p:spPr>
          <a:xfrm>
            <a:off x="1527506" y="5488920"/>
            <a:ext cx="3169644" cy="389191"/>
          </a:xfrm>
          <a:prstGeom prst="rect">
            <a:avLst/>
          </a:prstGeom>
          <a:noFill/>
          <a:ln>
            <a:noFill/>
          </a:ln>
        </p:spPr>
      </p:pic>
      <p:pic>
        <p:nvPicPr>
          <p:cNvPr id="2023" name="Google Shape;2023;p114"/>
          <p:cNvPicPr preferRelativeResize="0"/>
          <p:nvPr/>
        </p:nvPicPr>
        <p:blipFill rotWithShape="1">
          <a:blip r:embed="rId6">
            <a:alphaModFix/>
          </a:blip>
          <a:srcRect/>
          <a:stretch/>
        </p:blipFill>
        <p:spPr>
          <a:xfrm>
            <a:off x="1557983" y="5906029"/>
            <a:ext cx="3108690" cy="426564"/>
          </a:xfrm>
          <a:prstGeom prst="rect">
            <a:avLst/>
          </a:prstGeom>
          <a:noFill/>
          <a:ln>
            <a:noFill/>
          </a:ln>
        </p:spPr>
      </p:pic>
      <p:sp>
        <p:nvSpPr>
          <p:cNvPr id="2024" name="Google Shape;2024;p11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102</a:t>
            </a:fld>
            <a:endParaRPr sz="1200">
              <a:solidFill>
                <a:srgbClr val="1D4577"/>
              </a:solidFill>
              <a:latin typeface="Times New Roman"/>
              <a:ea typeface="Times New Roman"/>
              <a:cs typeface="Times New Roman"/>
              <a:sym typeface="Times New Roman"/>
            </a:endParaRPr>
          </a:p>
        </p:txBody>
      </p:sp>
      <p:sp>
        <p:nvSpPr>
          <p:cNvPr id="2025" name="Google Shape;2025;p114"/>
          <p:cNvSpPr/>
          <p:nvPr/>
        </p:nvSpPr>
        <p:spPr>
          <a:xfrm>
            <a:off x="493713" y="1219200"/>
            <a:ext cx="8345487" cy="2438400"/>
          </a:xfrm>
          <a:prstGeom prst="foldedCorner">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300">
                <a:solidFill>
                  <a:schemeClr val="dk1"/>
                </a:solidFill>
                <a:latin typeface="Arial"/>
                <a:ea typeface="Arial"/>
                <a:cs typeface="Arial"/>
                <a:sym typeface="Arial"/>
              </a:rPr>
              <a:t>Rosli membeli kereta berharga RM25,000 daripada syarikat </a:t>
            </a:r>
            <a:endParaRPr/>
          </a:p>
          <a:p>
            <a:pPr marL="0" marR="0" lvl="0" indent="0" algn="just" rtl="0">
              <a:spcBef>
                <a:spcPts val="0"/>
              </a:spcBef>
              <a:spcAft>
                <a:spcPts val="0"/>
              </a:spcAft>
              <a:buNone/>
            </a:pPr>
            <a:r>
              <a:rPr lang="en-US" sz="2300">
                <a:solidFill>
                  <a:schemeClr val="dk1"/>
                </a:solidFill>
                <a:latin typeface="Arial"/>
                <a:ea typeface="Arial"/>
                <a:cs typeface="Arial"/>
                <a:sym typeface="Arial"/>
              </a:rPr>
              <a:t>kereta terpakai dan membayar secara tunai sebanyak RM15,000. Selebihnya akan dibayar secara ansuran tahunan selama 5 tahun. Bayaran pertama akan dibuat pada akhir tahun ini. Kadar faedah atas pinjaman tersebut adalah sebanyak 7% setahun. Sediakan jadual pelunasan pinjaman.</a:t>
            </a:r>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8"/>
                                        </p:tgtEl>
                                        <p:attrNameLst>
                                          <p:attrName>style.visibility</p:attrName>
                                        </p:attrNameLst>
                                      </p:cBhvr>
                                      <p:to>
                                        <p:strVal val="visible"/>
                                      </p:to>
                                    </p:set>
                                    <p:animEffect transition="in" filter="fade">
                                      <p:cBhvr>
                                        <p:cTn id="7" dur="500"/>
                                        <p:tgtEl>
                                          <p:spTgt spid="20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019"/>
                                        </p:tgtEl>
                                        <p:attrNameLst>
                                          <p:attrName>style.visibility</p:attrName>
                                        </p:attrNameLst>
                                      </p:cBhvr>
                                      <p:to>
                                        <p:strVal val="visible"/>
                                      </p:to>
                                    </p:set>
                                    <p:anim calcmode="lin" valueType="num">
                                      <p:cBhvr additive="base">
                                        <p:cTn id="12" dur="500"/>
                                        <p:tgtEl>
                                          <p:spTgt spid="201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029"/>
        <p:cNvGrpSpPr/>
        <p:nvPr/>
      </p:nvGrpSpPr>
      <p:grpSpPr>
        <a:xfrm>
          <a:off x="0" y="0"/>
          <a:ext cx="0" cy="0"/>
          <a:chOff x="0" y="0"/>
          <a:chExt cx="0" cy="0"/>
        </a:xfrm>
      </p:grpSpPr>
      <p:sp>
        <p:nvSpPr>
          <p:cNvPr id="2030" name="Google Shape;2030;p115"/>
          <p:cNvSpPr/>
          <p:nvPr/>
        </p:nvSpPr>
        <p:spPr>
          <a:xfrm>
            <a:off x="304800" y="228600"/>
            <a:ext cx="8534400" cy="838200"/>
          </a:xfrm>
          <a:prstGeom prst="bevel">
            <a:avLst>
              <a:gd name="adj" fmla="val 125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APLIKASI NILAI MASA WANG – (ii)  Pelunasan pinjaman</a:t>
            </a:r>
            <a:endParaRPr sz="2400" b="1">
              <a:solidFill>
                <a:schemeClr val="dk1"/>
              </a:solidFill>
              <a:latin typeface="Arial"/>
              <a:ea typeface="Arial"/>
              <a:cs typeface="Arial"/>
              <a:sym typeface="Arial"/>
            </a:endParaRPr>
          </a:p>
        </p:txBody>
      </p:sp>
      <p:sp>
        <p:nvSpPr>
          <p:cNvPr id="2031" name="Google Shape;2031;p115"/>
          <p:cNvSpPr txBox="1"/>
          <p:nvPr/>
        </p:nvSpPr>
        <p:spPr>
          <a:xfrm>
            <a:off x="0" y="1212502"/>
            <a:ext cx="84582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err="1">
                <a:solidFill>
                  <a:schemeClr val="dk1"/>
                </a:solidFill>
                <a:latin typeface="Arial"/>
                <a:ea typeface="Arial"/>
                <a:cs typeface="Arial"/>
                <a:sym typeface="Arial"/>
              </a:rPr>
              <a:t>Langkah</a:t>
            </a:r>
            <a:r>
              <a:rPr lang="en-US" sz="2400" b="1" dirty="0">
                <a:solidFill>
                  <a:schemeClr val="dk1"/>
                </a:solidFill>
                <a:latin typeface="Arial"/>
                <a:ea typeface="Arial"/>
                <a:cs typeface="Arial"/>
                <a:sym typeface="Arial"/>
              </a:rPr>
              <a:t> 2 :  </a:t>
            </a:r>
            <a:r>
              <a:rPr lang="en-US" sz="2400" b="1" dirty="0" err="1">
                <a:solidFill>
                  <a:schemeClr val="dk1"/>
                </a:solidFill>
                <a:latin typeface="Arial"/>
                <a:ea typeface="Arial"/>
                <a:cs typeface="Arial"/>
                <a:sym typeface="Arial"/>
              </a:rPr>
              <a:t>menyediakan</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jadual</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pelunasan</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pinjaman</a:t>
            </a:r>
            <a:endParaRPr sz="2400" b="1" dirty="0">
              <a:solidFill>
                <a:schemeClr val="dk1"/>
              </a:solidFill>
              <a:latin typeface="Arial"/>
              <a:ea typeface="Arial"/>
              <a:cs typeface="Arial"/>
              <a:sym typeface="Arial"/>
            </a:endParaRPr>
          </a:p>
        </p:txBody>
      </p:sp>
      <p:graphicFrame>
        <p:nvGraphicFramePr>
          <p:cNvPr id="2032" name="Google Shape;2032;p115"/>
          <p:cNvGraphicFramePr/>
          <p:nvPr/>
        </p:nvGraphicFramePr>
        <p:xfrm>
          <a:off x="304800" y="1981200"/>
          <a:ext cx="8534400" cy="701675"/>
        </p:xfrm>
        <a:graphic>
          <a:graphicData uri="http://schemas.openxmlformats.org/drawingml/2006/table">
            <a:tbl>
              <a:tblPr>
                <a:noFill/>
                <a:tableStyleId>{583BA780-5EA6-48F8-90CF-626E18444947}</a:tableStyleId>
              </a:tblPr>
              <a:tblGrid>
                <a:gridCol w="11430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701675">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dirty="0">
                          <a:latin typeface="Arial"/>
                          <a:ea typeface="Arial"/>
                          <a:cs typeface="Arial"/>
                          <a:sym typeface="Arial"/>
                        </a:rPr>
                        <a:t>TAHUN</a:t>
                      </a:r>
                      <a:endParaRPr sz="1800" b="1" i="0" u="none" strike="noStrike" cap="none" dirty="0">
                        <a:solidFill>
                          <a:srgbClr val="385623"/>
                        </a:solidFill>
                        <a:latin typeface="Arial"/>
                        <a:ea typeface="Arial"/>
                        <a:cs typeface="Arial"/>
                        <a:sym typeface="Arial"/>
                      </a:endParaRPr>
                    </a:p>
                  </a:txBody>
                  <a:tcPr marL="91450" marR="91450" marT="45750" marB="45750"/>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BAKI AWAL</a:t>
                      </a:r>
                      <a:endParaRPr sz="1800" b="1" i="0" u="none" strike="noStrike" cap="none">
                        <a:solidFill>
                          <a:srgbClr val="385623"/>
                        </a:solidFill>
                        <a:latin typeface="Arial"/>
                        <a:ea typeface="Arial"/>
                        <a:cs typeface="Arial"/>
                        <a:sym typeface="Arial"/>
                      </a:endParaRPr>
                    </a:p>
                  </a:txBody>
                  <a:tcPr marL="91450" marR="91450" marT="45750" marB="45750"/>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dirty="0">
                          <a:latin typeface="Arial"/>
                          <a:ea typeface="Arial"/>
                          <a:cs typeface="Arial"/>
                          <a:sym typeface="Arial"/>
                        </a:rPr>
                        <a:t>ANSURAN (PMT)</a:t>
                      </a:r>
                      <a:endParaRPr sz="1800" b="1" i="0" u="none" strike="noStrike" cap="none" dirty="0">
                        <a:solidFill>
                          <a:srgbClr val="385623"/>
                        </a:solidFill>
                        <a:latin typeface="Arial"/>
                        <a:ea typeface="Arial"/>
                        <a:cs typeface="Arial"/>
                        <a:sym typeface="Arial"/>
                      </a:endParaRPr>
                    </a:p>
                  </a:txBody>
                  <a:tcPr marL="91450" marR="91450" marT="45750" marB="45750"/>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dirty="0">
                          <a:latin typeface="Arial"/>
                          <a:ea typeface="Arial"/>
                          <a:cs typeface="Arial"/>
                          <a:sym typeface="Arial"/>
                        </a:rPr>
                        <a:t>FAEDAH</a:t>
                      </a:r>
                      <a:endParaRPr sz="1800" b="1" i="0" u="none" strike="noStrike" cap="none" dirty="0">
                        <a:solidFill>
                          <a:srgbClr val="385623"/>
                        </a:solidFill>
                        <a:latin typeface="Arial"/>
                        <a:ea typeface="Arial"/>
                        <a:cs typeface="Arial"/>
                        <a:sym typeface="Arial"/>
                      </a:endParaRPr>
                    </a:p>
                  </a:txBody>
                  <a:tcPr marL="91450" marR="91450" marT="45750" marB="45750"/>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latin typeface="Arial"/>
                          <a:ea typeface="Arial"/>
                          <a:cs typeface="Arial"/>
                          <a:sym typeface="Arial"/>
                        </a:rPr>
                        <a:t>PRINSIPAL</a:t>
                      </a:r>
                      <a:endParaRPr/>
                    </a:p>
                    <a:p>
                      <a:pPr marL="0" marR="0" lvl="0" indent="0" algn="ctr" rtl="0">
                        <a:lnSpc>
                          <a:spcPct val="100000"/>
                        </a:lnSpc>
                        <a:spcBef>
                          <a:spcPts val="36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(RM)</a:t>
                      </a:r>
                      <a:endParaRPr/>
                    </a:p>
                  </a:txBody>
                  <a:tcPr marL="91450" marR="91450" marT="45750" marB="45750"/>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dirty="0">
                          <a:latin typeface="Arial"/>
                          <a:ea typeface="Arial"/>
                          <a:cs typeface="Arial"/>
                          <a:sym typeface="Arial"/>
                        </a:rPr>
                        <a:t>BAKI AKHIR</a:t>
                      </a:r>
                      <a:endParaRPr dirty="0"/>
                    </a:p>
                    <a:p>
                      <a:pPr marL="0" marR="0" lvl="0" indent="0" algn="ctr" rtl="0">
                        <a:lnSpc>
                          <a:spcPct val="100000"/>
                        </a:lnSpc>
                        <a:spcBef>
                          <a:spcPts val="360"/>
                        </a:spcBef>
                        <a:spcAft>
                          <a:spcPts val="0"/>
                        </a:spcAft>
                        <a:buClr>
                          <a:schemeClr val="dk1"/>
                        </a:buClr>
                        <a:buSzPts val="1800"/>
                        <a:buFont typeface="Arial"/>
                        <a:buNone/>
                      </a:pPr>
                      <a:r>
                        <a:rPr lang="en-US" sz="1800" b="1" i="0" u="none" strike="noStrike" cap="none" dirty="0">
                          <a:solidFill>
                            <a:schemeClr val="dk1"/>
                          </a:solidFill>
                          <a:latin typeface="Arial"/>
                          <a:ea typeface="Arial"/>
                          <a:cs typeface="Arial"/>
                          <a:sym typeface="Arial"/>
                        </a:rPr>
                        <a:t>(RM)</a:t>
                      </a:r>
                      <a:endParaRPr dirty="0"/>
                    </a:p>
                  </a:txBody>
                  <a:tcPr marL="91450" marR="91450" marT="45750" marB="45750"/>
                </a:tc>
                <a:extLst>
                  <a:ext uri="{0D108BD9-81ED-4DB2-BD59-A6C34878D82A}">
                    <a16:rowId xmlns:a16="http://schemas.microsoft.com/office/drawing/2014/main" val="10000"/>
                  </a:ext>
                </a:extLst>
              </a:tr>
            </a:tbl>
          </a:graphicData>
        </a:graphic>
      </p:graphicFrame>
      <p:sp>
        <p:nvSpPr>
          <p:cNvPr id="2033" name="Google Shape;2033;p115"/>
          <p:cNvSpPr txBox="1"/>
          <p:nvPr/>
        </p:nvSpPr>
        <p:spPr>
          <a:xfrm>
            <a:off x="304800" y="2667000"/>
            <a:ext cx="1143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0</a:t>
            </a:r>
            <a:endParaRPr/>
          </a:p>
        </p:txBody>
      </p:sp>
      <p:sp>
        <p:nvSpPr>
          <p:cNvPr id="2034" name="Google Shape;2034;p115"/>
          <p:cNvSpPr txBox="1"/>
          <p:nvPr/>
        </p:nvSpPr>
        <p:spPr>
          <a:xfrm>
            <a:off x="1447800" y="2667000"/>
            <a:ext cx="14478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035" name="Google Shape;2035;p115"/>
          <p:cNvSpPr txBox="1"/>
          <p:nvPr/>
        </p:nvSpPr>
        <p:spPr>
          <a:xfrm>
            <a:off x="2895600" y="26670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036" name="Google Shape;2036;p115"/>
          <p:cNvSpPr txBox="1"/>
          <p:nvPr/>
        </p:nvSpPr>
        <p:spPr>
          <a:xfrm>
            <a:off x="4419600" y="2667000"/>
            <a:ext cx="13716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037" name="Google Shape;2037;p115"/>
          <p:cNvSpPr txBox="1"/>
          <p:nvPr/>
        </p:nvSpPr>
        <p:spPr>
          <a:xfrm>
            <a:off x="5791200" y="26670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038" name="Google Shape;2038;p115"/>
          <p:cNvSpPr txBox="1"/>
          <p:nvPr/>
        </p:nvSpPr>
        <p:spPr>
          <a:xfrm>
            <a:off x="7315200" y="26670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10,000</a:t>
            </a:r>
            <a:endParaRPr/>
          </a:p>
        </p:txBody>
      </p:sp>
      <p:sp>
        <p:nvSpPr>
          <p:cNvPr id="2039" name="Google Shape;2039;p115"/>
          <p:cNvSpPr txBox="1"/>
          <p:nvPr/>
        </p:nvSpPr>
        <p:spPr>
          <a:xfrm>
            <a:off x="304800" y="3098800"/>
            <a:ext cx="1143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1</a:t>
            </a:r>
            <a:endParaRPr/>
          </a:p>
        </p:txBody>
      </p:sp>
      <p:sp>
        <p:nvSpPr>
          <p:cNvPr id="2040" name="Google Shape;2040;p115"/>
          <p:cNvSpPr txBox="1"/>
          <p:nvPr/>
        </p:nvSpPr>
        <p:spPr>
          <a:xfrm>
            <a:off x="304800" y="3505200"/>
            <a:ext cx="1143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a:t>
            </a:r>
            <a:endParaRPr/>
          </a:p>
        </p:txBody>
      </p:sp>
      <p:sp>
        <p:nvSpPr>
          <p:cNvPr id="2041" name="Google Shape;2041;p115"/>
          <p:cNvSpPr txBox="1"/>
          <p:nvPr/>
        </p:nvSpPr>
        <p:spPr>
          <a:xfrm>
            <a:off x="304800" y="3937000"/>
            <a:ext cx="1143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a:t>
            </a:r>
            <a:endParaRPr/>
          </a:p>
        </p:txBody>
      </p:sp>
      <p:sp>
        <p:nvSpPr>
          <p:cNvPr id="2042" name="Google Shape;2042;p115"/>
          <p:cNvSpPr txBox="1"/>
          <p:nvPr/>
        </p:nvSpPr>
        <p:spPr>
          <a:xfrm>
            <a:off x="304800" y="4343400"/>
            <a:ext cx="1143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a:t>
            </a:r>
            <a:endParaRPr/>
          </a:p>
        </p:txBody>
      </p:sp>
      <p:sp>
        <p:nvSpPr>
          <p:cNvPr id="2043" name="Google Shape;2043;p115"/>
          <p:cNvSpPr txBox="1"/>
          <p:nvPr/>
        </p:nvSpPr>
        <p:spPr>
          <a:xfrm>
            <a:off x="304800" y="4775200"/>
            <a:ext cx="1143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5</a:t>
            </a:r>
            <a:endParaRPr/>
          </a:p>
        </p:txBody>
      </p:sp>
      <p:sp>
        <p:nvSpPr>
          <p:cNvPr id="2044" name="Google Shape;2044;p115"/>
          <p:cNvSpPr txBox="1"/>
          <p:nvPr/>
        </p:nvSpPr>
        <p:spPr>
          <a:xfrm>
            <a:off x="2895600" y="30988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2,438.91</a:t>
            </a:r>
            <a:endParaRPr/>
          </a:p>
        </p:txBody>
      </p:sp>
      <p:sp>
        <p:nvSpPr>
          <p:cNvPr id="2045" name="Google Shape;2045;p115"/>
          <p:cNvSpPr txBox="1"/>
          <p:nvPr/>
        </p:nvSpPr>
        <p:spPr>
          <a:xfrm>
            <a:off x="2895600" y="35052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2,438.91</a:t>
            </a:r>
            <a:endParaRPr/>
          </a:p>
        </p:txBody>
      </p:sp>
      <p:sp>
        <p:nvSpPr>
          <p:cNvPr id="2046" name="Google Shape;2046;p115"/>
          <p:cNvSpPr txBox="1"/>
          <p:nvPr/>
        </p:nvSpPr>
        <p:spPr>
          <a:xfrm>
            <a:off x="2895600" y="39370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2,438.91</a:t>
            </a:r>
            <a:endParaRPr/>
          </a:p>
        </p:txBody>
      </p:sp>
      <p:sp>
        <p:nvSpPr>
          <p:cNvPr id="2047" name="Google Shape;2047;p115"/>
          <p:cNvSpPr txBox="1"/>
          <p:nvPr/>
        </p:nvSpPr>
        <p:spPr>
          <a:xfrm>
            <a:off x="2895600" y="43434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2,438.91</a:t>
            </a:r>
            <a:endParaRPr/>
          </a:p>
        </p:txBody>
      </p:sp>
      <p:sp>
        <p:nvSpPr>
          <p:cNvPr id="2048" name="Google Shape;2048;p115"/>
          <p:cNvSpPr txBox="1"/>
          <p:nvPr/>
        </p:nvSpPr>
        <p:spPr>
          <a:xfrm>
            <a:off x="2895600" y="47752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2,438.91</a:t>
            </a:r>
            <a:endParaRPr/>
          </a:p>
        </p:txBody>
      </p:sp>
      <p:sp>
        <p:nvSpPr>
          <p:cNvPr id="2049" name="Google Shape;2049;p115"/>
          <p:cNvSpPr txBox="1"/>
          <p:nvPr/>
        </p:nvSpPr>
        <p:spPr>
          <a:xfrm>
            <a:off x="1447800" y="3098800"/>
            <a:ext cx="14478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10,000</a:t>
            </a:r>
            <a:endParaRPr/>
          </a:p>
        </p:txBody>
      </p:sp>
      <p:sp>
        <p:nvSpPr>
          <p:cNvPr id="2050" name="Google Shape;2050;p115"/>
          <p:cNvSpPr txBox="1"/>
          <p:nvPr/>
        </p:nvSpPr>
        <p:spPr>
          <a:xfrm>
            <a:off x="4419600" y="3098800"/>
            <a:ext cx="13716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700</a:t>
            </a:r>
            <a:endParaRPr/>
          </a:p>
        </p:txBody>
      </p:sp>
      <p:sp>
        <p:nvSpPr>
          <p:cNvPr id="2051" name="Google Shape;2051;p115"/>
          <p:cNvSpPr txBox="1"/>
          <p:nvPr/>
        </p:nvSpPr>
        <p:spPr>
          <a:xfrm>
            <a:off x="5791200" y="30988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1,738.91</a:t>
            </a:r>
            <a:endParaRPr/>
          </a:p>
        </p:txBody>
      </p:sp>
      <p:sp>
        <p:nvSpPr>
          <p:cNvPr id="2052" name="Google Shape;2052;p115"/>
          <p:cNvSpPr txBox="1"/>
          <p:nvPr/>
        </p:nvSpPr>
        <p:spPr>
          <a:xfrm>
            <a:off x="7315200" y="30988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8,261.09</a:t>
            </a:r>
            <a:endParaRPr/>
          </a:p>
        </p:txBody>
      </p:sp>
      <p:sp>
        <p:nvSpPr>
          <p:cNvPr id="2053" name="Google Shape;2053;p115"/>
          <p:cNvSpPr txBox="1"/>
          <p:nvPr/>
        </p:nvSpPr>
        <p:spPr>
          <a:xfrm>
            <a:off x="1447800" y="3505200"/>
            <a:ext cx="14478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8,261.09</a:t>
            </a:r>
            <a:endParaRPr/>
          </a:p>
        </p:txBody>
      </p:sp>
      <p:sp>
        <p:nvSpPr>
          <p:cNvPr id="2054" name="Google Shape;2054;p115"/>
          <p:cNvSpPr txBox="1"/>
          <p:nvPr/>
        </p:nvSpPr>
        <p:spPr>
          <a:xfrm>
            <a:off x="4419600" y="3505200"/>
            <a:ext cx="13716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578.28</a:t>
            </a:r>
            <a:endParaRPr/>
          </a:p>
        </p:txBody>
      </p:sp>
      <p:sp>
        <p:nvSpPr>
          <p:cNvPr id="2055" name="Google Shape;2055;p115"/>
          <p:cNvSpPr txBox="1"/>
          <p:nvPr/>
        </p:nvSpPr>
        <p:spPr>
          <a:xfrm>
            <a:off x="5791200" y="35052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1,860.63</a:t>
            </a:r>
            <a:endParaRPr/>
          </a:p>
        </p:txBody>
      </p:sp>
      <p:sp>
        <p:nvSpPr>
          <p:cNvPr id="2056" name="Google Shape;2056;p115"/>
          <p:cNvSpPr txBox="1"/>
          <p:nvPr/>
        </p:nvSpPr>
        <p:spPr>
          <a:xfrm>
            <a:off x="7315200" y="35052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6,400.46</a:t>
            </a:r>
            <a:endParaRPr/>
          </a:p>
        </p:txBody>
      </p:sp>
      <p:sp>
        <p:nvSpPr>
          <p:cNvPr id="2057" name="Google Shape;2057;p115"/>
          <p:cNvSpPr txBox="1"/>
          <p:nvPr/>
        </p:nvSpPr>
        <p:spPr>
          <a:xfrm>
            <a:off x="1447800" y="3937000"/>
            <a:ext cx="14478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6,400.46</a:t>
            </a:r>
            <a:endParaRPr/>
          </a:p>
        </p:txBody>
      </p:sp>
      <p:sp>
        <p:nvSpPr>
          <p:cNvPr id="2058" name="Google Shape;2058;p115"/>
          <p:cNvSpPr txBox="1"/>
          <p:nvPr/>
        </p:nvSpPr>
        <p:spPr>
          <a:xfrm>
            <a:off x="4419600" y="3937000"/>
            <a:ext cx="13716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448.03</a:t>
            </a:r>
            <a:endParaRPr dirty="0"/>
          </a:p>
        </p:txBody>
      </p:sp>
      <p:sp>
        <p:nvSpPr>
          <p:cNvPr id="2059" name="Google Shape;2059;p115"/>
          <p:cNvSpPr txBox="1"/>
          <p:nvPr/>
        </p:nvSpPr>
        <p:spPr>
          <a:xfrm>
            <a:off x="5791200" y="39370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1,990.88</a:t>
            </a:r>
            <a:endParaRPr/>
          </a:p>
        </p:txBody>
      </p:sp>
      <p:sp>
        <p:nvSpPr>
          <p:cNvPr id="2060" name="Google Shape;2060;p115"/>
          <p:cNvSpPr txBox="1"/>
          <p:nvPr/>
        </p:nvSpPr>
        <p:spPr>
          <a:xfrm>
            <a:off x="7315200" y="39370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4409.58</a:t>
            </a:r>
            <a:endParaRPr/>
          </a:p>
        </p:txBody>
      </p:sp>
      <p:sp>
        <p:nvSpPr>
          <p:cNvPr id="2061" name="Google Shape;2061;p115"/>
          <p:cNvSpPr txBox="1"/>
          <p:nvPr/>
        </p:nvSpPr>
        <p:spPr>
          <a:xfrm>
            <a:off x="1447800" y="4343400"/>
            <a:ext cx="14478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4,409.58</a:t>
            </a:r>
            <a:endParaRPr/>
          </a:p>
        </p:txBody>
      </p:sp>
      <p:sp>
        <p:nvSpPr>
          <p:cNvPr id="2062" name="Google Shape;2062;p115"/>
          <p:cNvSpPr txBox="1"/>
          <p:nvPr/>
        </p:nvSpPr>
        <p:spPr>
          <a:xfrm>
            <a:off x="4419600" y="4343400"/>
            <a:ext cx="13716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308.67</a:t>
            </a:r>
            <a:endParaRPr/>
          </a:p>
        </p:txBody>
      </p:sp>
      <p:sp>
        <p:nvSpPr>
          <p:cNvPr id="2063" name="Google Shape;2063;p115"/>
          <p:cNvSpPr txBox="1"/>
          <p:nvPr/>
        </p:nvSpPr>
        <p:spPr>
          <a:xfrm>
            <a:off x="5791200" y="43434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2,130.24</a:t>
            </a:r>
            <a:endParaRPr/>
          </a:p>
        </p:txBody>
      </p:sp>
      <p:sp>
        <p:nvSpPr>
          <p:cNvPr id="2064" name="Google Shape;2064;p115"/>
          <p:cNvSpPr txBox="1"/>
          <p:nvPr/>
        </p:nvSpPr>
        <p:spPr>
          <a:xfrm>
            <a:off x="7315200" y="43434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2,279.34</a:t>
            </a:r>
            <a:endParaRPr/>
          </a:p>
        </p:txBody>
      </p:sp>
      <p:sp>
        <p:nvSpPr>
          <p:cNvPr id="2065" name="Google Shape;2065;p115"/>
          <p:cNvSpPr txBox="1"/>
          <p:nvPr/>
        </p:nvSpPr>
        <p:spPr>
          <a:xfrm>
            <a:off x="1447800" y="4775200"/>
            <a:ext cx="14478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2,279.34</a:t>
            </a:r>
            <a:endParaRPr/>
          </a:p>
        </p:txBody>
      </p:sp>
      <p:sp>
        <p:nvSpPr>
          <p:cNvPr id="2066" name="Google Shape;2066;p115"/>
          <p:cNvSpPr txBox="1"/>
          <p:nvPr/>
        </p:nvSpPr>
        <p:spPr>
          <a:xfrm>
            <a:off x="4419600" y="4775200"/>
            <a:ext cx="13716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159.55</a:t>
            </a:r>
            <a:endParaRPr/>
          </a:p>
        </p:txBody>
      </p:sp>
      <p:sp>
        <p:nvSpPr>
          <p:cNvPr id="2067" name="Google Shape;2067;p115"/>
          <p:cNvSpPr txBox="1"/>
          <p:nvPr/>
        </p:nvSpPr>
        <p:spPr>
          <a:xfrm>
            <a:off x="5791200" y="47752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2,279.36</a:t>
            </a:r>
            <a:endParaRPr/>
          </a:p>
        </p:txBody>
      </p:sp>
      <p:sp>
        <p:nvSpPr>
          <p:cNvPr id="2068" name="Google Shape;2068;p115"/>
          <p:cNvSpPr txBox="1"/>
          <p:nvPr/>
        </p:nvSpPr>
        <p:spPr>
          <a:xfrm>
            <a:off x="7315200" y="4775200"/>
            <a:ext cx="1524000" cy="46166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0</a:t>
            </a:r>
            <a:endParaRPr/>
          </a:p>
        </p:txBody>
      </p:sp>
      <p:sp>
        <p:nvSpPr>
          <p:cNvPr id="2069" name="Google Shape;2069;p115"/>
          <p:cNvSpPr txBox="1"/>
          <p:nvPr/>
        </p:nvSpPr>
        <p:spPr>
          <a:xfrm>
            <a:off x="304800" y="5334000"/>
            <a:ext cx="8534400" cy="1200329"/>
          </a:xfrm>
          <a:prstGeom prst="rect">
            <a:avLst/>
          </a:prstGeom>
          <a:solidFill>
            <a:schemeClr val="accent1">
              <a:lumMod val="20000"/>
              <a:lumOff val="80000"/>
            </a:schemeClr>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Daripada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jadual</a:t>
            </a:r>
            <a:r>
              <a:rPr lang="en-US" sz="2400" dirty="0">
                <a:solidFill>
                  <a:schemeClr val="dk1"/>
                </a:solidFill>
                <a:latin typeface="Arial"/>
                <a:ea typeface="Arial"/>
                <a:cs typeface="Arial"/>
                <a:sym typeface="Arial"/>
              </a:rPr>
              <a:t> di </a:t>
            </a:r>
            <a:r>
              <a:rPr lang="en-US" sz="2400" dirty="0" err="1">
                <a:solidFill>
                  <a:schemeClr val="dk1"/>
                </a:solidFill>
                <a:latin typeface="Arial"/>
                <a:ea typeface="Arial"/>
                <a:cs typeface="Arial"/>
                <a:sym typeface="Arial"/>
              </a:rPr>
              <a:t>atas</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cuba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perhatikan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corak</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bayaran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faedah</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prinsipal</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dibayar</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bagi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setiap</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tahun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Apakah</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boleh</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anda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simpulkan</a:t>
            </a:r>
            <a:r>
              <a:rPr lang="en-US" sz="2400" dirty="0">
                <a:solidFill>
                  <a:schemeClr val="dk1"/>
                </a:solidFill>
                <a:latin typeface="Arial"/>
                <a:ea typeface="Arial"/>
                <a:cs typeface="Arial"/>
                <a:sym typeface="Arial"/>
              </a:rPr>
              <a:t> ?</a:t>
            </a:r>
            <a:endParaRPr dirty="0"/>
          </a:p>
        </p:txBody>
      </p:sp>
      <p:sp>
        <p:nvSpPr>
          <p:cNvPr id="2070" name="Google Shape;2070;p11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103</a:t>
            </a:fld>
            <a:endParaRPr sz="1200">
              <a:solidFill>
                <a:srgbClr val="1D4577"/>
              </a:solidFill>
              <a:latin typeface="Times New Roman"/>
              <a:ea typeface="Times New Roman"/>
              <a:cs typeface="Times New Roman"/>
              <a:sym typeface="Times New Roman"/>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31"/>
                                        </p:tgtEl>
                                        <p:attrNameLst>
                                          <p:attrName>style.visibility</p:attrName>
                                        </p:attrNameLst>
                                      </p:cBhvr>
                                      <p:to>
                                        <p:strVal val="visible"/>
                                      </p:to>
                                    </p:set>
                                    <p:anim calcmode="lin" valueType="num">
                                      <p:cBhvr additive="base">
                                        <p:cTn id="7" dur="500"/>
                                        <p:tgtEl>
                                          <p:spTgt spid="2031"/>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032"/>
                                        </p:tgtEl>
                                        <p:attrNameLst>
                                          <p:attrName>style.visibility</p:attrName>
                                        </p:attrNameLst>
                                      </p:cBhvr>
                                      <p:to>
                                        <p:strVal val="visible"/>
                                      </p:to>
                                    </p:set>
                                    <p:anim calcmode="lin" valueType="num">
                                      <p:cBhvr additive="base">
                                        <p:cTn id="12" dur="500"/>
                                        <p:tgtEl>
                                          <p:spTgt spid="2032"/>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033"/>
                                        </p:tgtEl>
                                        <p:attrNameLst>
                                          <p:attrName>style.visibility</p:attrName>
                                        </p:attrNameLst>
                                      </p:cBhvr>
                                      <p:to>
                                        <p:strVal val="visible"/>
                                      </p:to>
                                    </p:set>
                                    <p:anim calcmode="lin" valueType="num">
                                      <p:cBhvr additive="base">
                                        <p:cTn id="17" dur="500"/>
                                        <p:tgtEl>
                                          <p:spTgt spid="2033"/>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034"/>
                                        </p:tgtEl>
                                        <p:attrNameLst>
                                          <p:attrName>style.visibility</p:attrName>
                                        </p:attrNameLst>
                                      </p:cBhvr>
                                      <p:to>
                                        <p:strVal val="visible"/>
                                      </p:to>
                                    </p:set>
                                    <p:anim calcmode="lin" valueType="num">
                                      <p:cBhvr additive="base">
                                        <p:cTn id="22" dur="500"/>
                                        <p:tgtEl>
                                          <p:spTgt spid="2034"/>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035"/>
                                        </p:tgtEl>
                                        <p:attrNameLst>
                                          <p:attrName>style.visibility</p:attrName>
                                        </p:attrNameLst>
                                      </p:cBhvr>
                                      <p:to>
                                        <p:strVal val="visible"/>
                                      </p:to>
                                    </p:set>
                                    <p:anim calcmode="lin" valueType="num">
                                      <p:cBhvr additive="base">
                                        <p:cTn id="27" dur="500"/>
                                        <p:tgtEl>
                                          <p:spTgt spid="2035"/>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036"/>
                                        </p:tgtEl>
                                        <p:attrNameLst>
                                          <p:attrName>style.visibility</p:attrName>
                                        </p:attrNameLst>
                                      </p:cBhvr>
                                      <p:to>
                                        <p:strVal val="visible"/>
                                      </p:to>
                                    </p:set>
                                    <p:anim calcmode="lin" valueType="num">
                                      <p:cBhvr additive="base">
                                        <p:cTn id="32" dur="500"/>
                                        <p:tgtEl>
                                          <p:spTgt spid="2036"/>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037"/>
                                        </p:tgtEl>
                                        <p:attrNameLst>
                                          <p:attrName>style.visibility</p:attrName>
                                        </p:attrNameLst>
                                      </p:cBhvr>
                                      <p:to>
                                        <p:strVal val="visible"/>
                                      </p:to>
                                    </p:set>
                                    <p:anim calcmode="lin" valueType="num">
                                      <p:cBhvr additive="base">
                                        <p:cTn id="37" dur="500"/>
                                        <p:tgtEl>
                                          <p:spTgt spid="2037"/>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2038"/>
                                        </p:tgtEl>
                                        <p:attrNameLst>
                                          <p:attrName>style.visibility</p:attrName>
                                        </p:attrNameLst>
                                      </p:cBhvr>
                                      <p:to>
                                        <p:strVal val="visible"/>
                                      </p:to>
                                    </p:set>
                                    <p:anim calcmode="lin" valueType="num">
                                      <p:cBhvr additive="base">
                                        <p:cTn id="42" dur="500"/>
                                        <p:tgtEl>
                                          <p:spTgt spid="2038"/>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2039"/>
                                        </p:tgtEl>
                                        <p:attrNameLst>
                                          <p:attrName>style.visibility</p:attrName>
                                        </p:attrNameLst>
                                      </p:cBhvr>
                                      <p:to>
                                        <p:strVal val="visible"/>
                                      </p:to>
                                    </p:set>
                                    <p:anim calcmode="lin" valueType="num">
                                      <p:cBhvr additive="base">
                                        <p:cTn id="47" dur="500"/>
                                        <p:tgtEl>
                                          <p:spTgt spid="2039"/>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2040"/>
                                        </p:tgtEl>
                                        <p:attrNameLst>
                                          <p:attrName>style.visibility</p:attrName>
                                        </p:attrNameLst>
                                      </p:cBhvr>
                                      <p:to>
                                        <p:strVal val="visible"/>
                                      </p:to>
                                    </p:set>
                                    <p:anim calcmode="lin" valueType="num">
                                      <p:cBhvr additive="base">
                                        <p:cTn id="52" dur="500"/>
                                        <p:tgtEl>
                                          <p:spTgt spid="2040"/>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2041"/>
                                        </p:tgtEl>
                                        <p:attrNameLst>
                                          <p:attrName>style.visibility</p:attrName>
                                        </p:attrNameLst>
                                      </p:cBhvr>
                                      <p:to>
                                        <p:strVal val="visible"/>
                                      </p:to>
                                    </p:set>
                                    <p:anim calcmode="lin" valueType="num">
                                      <p:cBhvr additive="base">
                                        <p:cTn id="57" dur="500"/>
                                        <p:tgtEl>
                                          <p:spTgt spid="2041"/>
                                        </p:tgtEl>
                                        <p:attrNameLst>
                                          <p:attrName>ppt_x</p:attrName>
                                        </p:attrNameLst>
                                      </p:cBhvr>
                                      <p:tavLst>
                                        <p:tav tm="0">
                                          <p:val>
                                            <p:strVal val="#ppt_x-1"/>
                                          </p:val>
                                        </p:tav>
                                        <p:tav tm="100000">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2042"/>
                                        </p:tgtEl>
                                        <p:attrNameLst>
                                          <p:attrName>style.visibility</p:attrName>
                                        </p:attrNameLst>
                                      </p:cBhvr>
                                      <p:to>
                                        <p:strVal val="visible"/>
                                      </p:to>
                                    </p:set>
                                    <p:anim calcmode="lin" valueType="num">
                                      <p:cBhvr additive="base">
                                        <p:cTn id="62" dur="500"/>
                                        <p:tgtEl>
                                          <p:spTgt spid="2042"/>
                                        </p:tgtEl>
                                        <p:attrNameLst>
                                          <p:attrName>ppt_x</p:attrName>
                                        </p:attrNameLst>
                                      </p:cBhvr>
                                      <p:tavLst>
                                        <p:tav tm="0">
                                          <p:val>
                                            <p:strVal val="#ppt_x-1"/>
                                          </p:val>
                                        </p:tav>
                                        <p:tav tm="100000">
                                          <p:val>
                                            <p:strVal val="#ppt_x"/>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2043"/>
                                        </p:tgtEl>
                                        <p:attrNameLst>
                                          <p:attrName>style.visibility</p:attrName>
                                        </p:attrNameLst>
                                      </p:cBhvr>
                                      <p:to>
                                        <p:strVal val="visible"/>
                                      </p:to>
                                    </p:set>
                                    <p:anim calcmode="lin" valueType="num">
                                      <p:cBhvr additive="base">
                                        <p:cTn id="67" dur="500"/>
                                        <p:tgtEl>
                                          <p:spTgt spid="2043"/>
                                        </p:tgtEl>
                                        <p:attrNameLst>
                                          <p:attrName>ppt_x</p:attrName>
                                        </p:attrNameLst>
                                      </p:cBhvr>
                                      <p:tavLst>
                                        <p:tav tm="0">
                                          <p:val>
                                            <p:strVal val="#ppt_x-1"/>
                                          </p:val>
                                        </p:tav>
                                        <p:tav tm="100000">
                                          <p:val>
                                            <p:strVal val="#ppt_x"/>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nodeType="clickEffect">
                                  <p:stCondLst>
                                    <p:cond delay="0"/>
                                  </p:stCondLst>
                                  <p:childTnLst>
                                    <p:set>
                                      <p:cBhvr>
                                        <p:cTn id="71" dur="1" fill="hold">
                                          <p:stCondLst>
                                            <p:cond delay="0"/>
                                          </p:stCondLst>
                                        </p:cTn>
                                        <p:tgtEl>
                                          <p:spTgt spid="2044"/>
                                        </p:tgtEl>
                                        <p:attrNameLst>
                                          <p:attrName>style.visibility</p:attrName>
                                        </p:attrNameLst>
                                      </p:cBhvr>
                                      <p:to>
                                        <p:strVal val="visible"/>
                                      </p:to>
                                    </p:set>
                                    <p:anim calcmode="lin" valueType="num">
                                      <p:cBhvr additive="base">
                                        <p:cTn id="72" dur="500"/>
                                        <p:tgtEl>
                                          <p:spTgt spid="2044"/>
                                        </p:tgtEl>
                                        <p:attrNameLst>
                                          <p:attrName>ppt_x</p:attrName>
                                        </p:attrNameLst>
                                      </p:cBhvr>
                                      <p:tavLst>
                                        <p:tav tm="0">
                                          <p:val>
                                            <p:strVal val="#ppt_x-1"/>
                                          </p:val>
                                        </p:tav>
                                        <p:tav tm="100000">
                                          <p:val>
                                            <p:strVal val="#ppt_x"/>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nodeType="clickEffect">
                                  <p:stCondLst>
                                    <p:cond delay="0"/>
                                  </p:stCondLst>
                                  <p:childTnLst>
                                    <p:set>
                                      <p:cBhvr>
                                        <p:cTn id="76" dur="1" fill="hold">
                                          <p:stCondLst>
                                            <p:cond delay="0"/>
                                          </p:stCondLst>
                                        </p:cTn>
                                        <p:tgtEl>
                                          <p:spTgt spid="2045"/>
                                        </p:tgtEl>
                                        <p:attrNameLst>
                                          <p:attrName>style.visibility</p:attrName>
                                        </p:attrNameLst>
                                      </p:cBhvr>
                                      <p:to>
                                        <p:strVal val="visible"/>
                                      </p:to>
                                    </p:set>
                                    <p:anim calcmode="lin" valueType="num">
                                      <p:cBhvr additive="base">
                                        <p:cTn id="77" dur="500"/>
                                        <p:tgtEl>
                                          <p:spTgt spid="2045"/>
                                        </p:tgtEl>
                                        <p:attrNameLst>
                                          <p:attrName>ppt_x</p:attrName>
                                        </p:attrNameLst>
                                      </p:cBhvr>
                                      <p:tavLst>
                                        <p:tav tm="0">
                                          <p:val>
                                            <p:strVal val="#ppt_x-1"/>
                                          </p:val>
                                        </p:tav>
                                        <p:tav tm="100000">
                                          <p:val>
                                            <p:strVal val="#ppt_x"/>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nodeType="clickEffect">
                                  <p:stCondLst>
                                    <p:cond delay="0"/>
                                  </p:stCondLst>
                                  <p:childTnLst>
                                    <p:set>
                                      <p:cBhvr>
                                        <p:cTn id="81" dur="1" fill="hold">
                                          <p:stCondLst>
                                            <p:cond delay="0"/>
                                          </p:stCondLst>
                                        </p:cTn>
                                        <p:tgtEl>
                                          <p:spTgt spid="2046"/>
                                        </p:tgtEl>
                                        <p:attrNameLst>
                                          <p:attrName>style.visibility</p:attrName>
                                        </p:attrNameLst>
                                      </p:cBhvr>
                                      <p:to>
                                        <p:strVal val="visible"/>
                                      </p:to>
                                    </p:set>
                                    <p:anim calcmode="lin" valueType="num">
                                      <p:cBhvr additive="base">
                                        <p:cTn id="82" dur="500"/>
                                        <p:tgtEl>
                                          <p:spTgt spid="2046"/>
                                        </p:tgtEl>
                                        <p:attrNameLst>
                                          <p:attrName>ppt_x</p:attrName>
                                        </p:attrNameLst>
                                      </p:cBhvr>
                                      <p:tavLst>
                                        <p:tav tm="0">
                                          <p:val>
                                            <p:strVal val="#ppt_x-1"/>
                                          </p:val>
                                        </p:tav>
                                        <p:tav tm="100000">
                                          <p:val>
                                            <p:strVal val="#ppt_x"/>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nodeType="clickEffect">
                                  <p:stCondLst>
                                    <p:cond delay="0"/>
                                  </p:stCondLst>
                                  <p:childTnLst>
                                    <p:set>
                                      <p:cBhvr>
                                        <p:cTn id="86" dur="1" fill="hold">
                                          <p:stCondLst>
                                            <p:cond delay="0"/>
                                          </p:stCondLst>
                                        </p:cTn>
                                        <p:tgtEl>
                                          <p:spTgt spid="2047"/>
                                        </p:tgtEl>
                                        <p:attrNameLst>
                                          <p:attrName>style.visibility</p:attrName>
                                        </p:attrNameLst>
                                      </p:cBhvr>
                                      <p:to>
                                        <p:strVal val="visible"/>
                                      </p:to>
                                    </p:set>
                                    <p:anim calcmode="lin" valueType="num">
                                      <p:cBhvr additive="base">
                                        <p:cTn id="87" dur="500"/>
                                        <p:tgtEl>
                                          <p:spTgt spid="2047"/>
                                        </p:tgtEl>
                                        <p:attrNameLst>
                                          <p:attrName>ppt_x</p:attrName>
                                        </p:attrNameLst>
                                      </p:cBhvr>
                                      <p:tavLst>
                                        <p:tav tm="0">
                                          <p:val>
                                            <p:strVal val="#ppt_x-1"/>
                                          </p:val>
                                        </p:tav>
                                        <p:tav tm="100000">
                                          <p:val>
                                            <p:strVal val="#ppt_x"/>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8" fill="hold" nodeType="clickEffect">
                                  <p:stCondLst>
                                    <p:cond delay="0"/>
                                  </p:stCondLst>
                                  <p:childTnLst>
                                    <p:set>
                                      <p:cBhvr>
                                        <p:cTn id="91" dur="1" fill="hold">
                                          <p:stCondLst>
                                            <p:cond delay="0"/>
                                          </p:stCondLst>
                                        </p:cTn>
                                        <p:tgtEl>
                                          <p:spTgt spid="2048"/>
                                        </p:tgtEl>
                                        <p:attrNameLst>
                                          <p:attrName>style.visibility</p:attrName>
                                        </p:attrNameLst>
                                      </p:cBhvr>
                                      <p:to>
                                        <p:strVal val="visible"/>
                                      </p:to>
                                    </p:set>
                                    <p:anim calcmode="lin" valueType="num">
                                      <p:cBhvr additive="base">
                                        <p:cTn id="92" dur="500"/>
                                        <p:tgtEl>
                                          <p:spTgt spid="2048"/>
                                        </p:tgtEl>
                                        <p:attrNameLst>
                                          <p:attrName>ppt_x</p:attrName>
                                        </p:attrNameLst>
                                      </p:cBhvr>
                                      <p:tavLst>
                                        <p:tav tm="0">
                                          <p:val>
                                            <p:strVal val="#ppt_x-1"/>
                                          </p:val>
                                        </p:tav>
                                        <p:tav tm="100000">
                                          <p:val>
                                            <p:strVal val="#ppt_x"/>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nodeType="clickEffect">
                                  <p:stCondLst>
                                    <p:cond delay="0"/>
                                  </p:stCondLst>
                                  <p:childTnLst>
                                    <p:set>
                                      <p:cBhvr>
                                        <p:cTn id="96" dur="1" fill="hold">
                                          <p:stCondLst>
                                            <p:cond delay="0"/>
                                          </p:stCondLst>
                                        </p:cTn>
                                        <p:tgtEl>
                                          <p:spTgt spid="2049"/>
                                        </p:tgtEl>
                                        <p:attrNameLst>
                                          <p:attrName>style.visibility</p:attrName>
                                        </p:attrNameLst>
                                      </p:cBhvr>
                                      <p:to>
                                        <p:strVal val="visible"/>
                                      </p:to>
                                    </p:set>
                                    <p:anim calcmode="lin" valueType="num">
                                      <p:cBhvr additive="base">
                                        <p:cTn id="97" dur="500"/>
                                        <p:tgtEl>
                                          <p:spTgt spid="2049"/>
                                        </p:tgtEl>
                                        <p:attrNameLst>
                                          <p:attrName>ppt_x</p:attrName>
                                        </p:attrNameLst>
                                      </p:cBhvr>
                                      <p:tavLst>
                                        <p:tav tm="0">
                                          <p:val>
                                            <p:strVal val="#ppt_x-1"/>
                                          </p:val>
                                        </p:tav>
                                        <p:tav tm="100000">
                                          <p:val>
                                            <p:strVal val="#ppt_x"/>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8" fill="hold" nodeType="clickEffect">
                                  <p:stCondLst>
                                    <p:cond delay="0"/>
                                  </p:stCondLst>
                                  <p:childTnLst>
                                    <p:set>
                                      <p:cBhvr>
                                        <p:cTn id="101" dur="1" fill="hold">
                                          <p:stCondLst>
                                            <p:cond delay="0"/>
                                          </p:stCondLst>
                                        </p:cTn>
                                        <p:tgtEl>
                                          <p:spTgt spid="2050"/>
                                        </p:tgtEl>
                                        <p:attrNameLst>
                                          <p:attrName>style.visibility</p:attrName>
                                        </p:attrNameLst>
                                      </p:cBhvr>
                                      <p:to>
                                        <p:strVal val="visible"/>
                                      </p:to>
                                    </p:set>
                                    <p:anim calcmode="lin" valueType="num">
                                      <p:cBhvr additive="base">
                                        <p:cTn id="102" dur="500"/>
                                        <p:tgtEl>
                                          <p:spTgt spid="2050"/>
                                        </p:tgtEl>
                                        <p:attrNameLst>
                                          <p:attrName>ppt_x</p:attrName>
                                        </p:attrNameLst>
                                      </p:cBhvr>
                                      <p:tavLst>
                                        <p:tav tm="0">
                                          <p:val>
                                            <p:strVal val="#ppt_x-1"/>
                                          </p:val>
                                        </p:tav>
                                        <p:tav tm="100000">
                                          <p:val>
                                            <p:strVal val="#ppt_x"/>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8" fill="hold" nodeType="clickEffect">
                                  <p:stCondLst>
                                    <p:cond delay="0"/>
                                  </p:stCondLst>
                                  <p:childTnLst>
                                    <p:set>
                                      <p:cBhvr>
                                        <p:cTn id="106" dur="1" fill="hold">
                                          <p:stCondLst>
                                            <p:cond delay="0"/>
                                          </p:stCondLst>
                                        </p:cTn>
                                        <p:tgtEl>
                                          <p:spTgt spid="2051"/>
                                        </p:tgtEl>
                                        <p:attrNameLst>
                                          <p:attrName>style.visibility</p:attrName>
                                        </p:attrNameLst>
                                      </p:cBhvr>
                                      <p:to>
                                        <p:strVal val="visible"/>
                                      </p:to>
                                    </p:set>
                                    <p:anim calcmode="lin" valueType="num">
                                      <p:cBhvr additive="base">
                                        <p:cTn id="107" dur="500"/>
                                        <p:tgtEl>
                                          <p:spTgt spid="2051"/>
                                        </p:tgtEl>
                                        <p:attrNameLst>
                                          <p:attrName>ppt_x</p:attrName>
                                        </p:attrNameLst>
                                      </p:cBhvr>
                                      <p:tavLst>
                                        <p:tav tm="0">
                                          <p:val>
                                            <p:strVal val="#ppt_x-1"/>
                                          </p:val>
                                        </p:tav>
                                        <p:tav tm="100000">
                                          <p:val>
                                            <p:strVal val="#ppt_x"/>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8" fill="hold" nodeType="clickEffect">
                                  <p:stCondLst>
                                    <p:cond delay="0"/>
                                  </p:stCondLst>
                                  <p:childTnLst>
                                    <p:set>
                                      <p:cBhvr>
                                        <p:cTn id="111" dur="1" fill="hold">
                                          <p:stCondLst>
                                            <p:cond delay="0"/>
                                          </p:stCondLst>
                                        </p:cTn>
                                        <p:tgtEl>
                                          <p:spTgt spid="2052"/>
                                        </p:tgtEl>
                                        <p:attrNameLst>
                                          <p:attrName>style.visibility</p:attrName>
                                        </p:attrNameLst>
                                      </p:cBhvr>
                                      <p:to>
                                        <p:strVal val="visible"/>
                                      </p:to>
                                    </p:set>
                                    <p:anim calcmode="lin" valueType="num">
                                      <p:cBhvr additive="base">
                                        <p:cTn id="112" dur="500"/>
                                        <p:tgtEl>
                                          <p:spTgt spid="2052"/>
                                        </p:tgtEl>
                                        <p:attrNameLst>
                                          <p:attrName>ppt_x</p:attrName>
                                        </p:attrNameLst>
                                      </p:cBhvr>
                                      <p:tavLst>
                                        <p:tav tm="0">
                                          <p:val>
                                            <p:strVal val="#ppt_x-1"/>
                                          </p:val>
                                        </p:tav>
                                        <p:tav tm="100000">
                                          <p:val>
                                            <p:strVal val="#ppt_x"/>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8" fill="hold" nodeType="clickEffect">
                                  <p:stCondLst>
                                    <p:cond delay="0"/>
                                  </p:stCondLst>
                                  <p:childTnLst>
                                    <p:set>
                                      <p:cBhvr>
                                        <p:cTn id="116" dur="1" fill="hold">
                                          <p:stCondLst>
                                            <p:cond delay="0"/>
                                          </p:stCondLst>
                                        </p:cTn>
                                        <p:tgtEl>
                                          <p:spTgt spid="2053"/>
                                        </p:tgtEl>
                                        <p:attrNameLst>
                                          <p:attrName>style.visibility</p:attrName>
                                        </p:attrNameLst>
                                      </p:cBhvr>
                                      <p:to>
                                        <p:strVal val="visible"/>
                                      </p:to>
                                    </p:set>
                                    <p:anim calcmode="lin" valueType="num">
                                      <p:cBhvr additive="base">
                                        <p:cTn id="117" dur="500"/>
                                        <p:tgtEl>
                                          <p:spTgt spid="2053"/>
                                        </p:tgtEl>
                                        <p:attrNameLst>
                                          <p:attrName>ppt_x</p:attrName>
                                        </p:attrNameLst>
                                      </p:cBhvr>
                                      <p:tavLst>
                                        <p:tav tm="0">
                                          <p:val>
                                            <p:strVal val="#ppt_x-1"/>
                                          </p:val>
                                        </p:tav>
                                        <p:tav tm="100000">
                                          <p:val>
                                            <p:strVal val="#ppt_x"/>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8" fill="hold" nodeType="clickEffect">
                                  <p:stCondLst>
                                    <p:cond delay="0"/>
                                  </p:stCondLst>
                                  <p:childTnLst>
                                    <p:set>
                                      <p:cBhvr>
                                        <p:cTn id="121" dur="1" fill="hold">
                                          <p:stCondLst>
                                            <p:cond delay="0"/>
                                          </p:stCondLst>
                                        </p:cTn>
                                        <p:tgtEl>
                                          <p:spTgt spid="2054"/>
                                        </p:tgtEl>
                                        <p:attrNameLst>
                                          <p:attrName>style.visibility</p:attrName>
                                        </p:attrNameLst>
                                      </p:cBhvr>
                                      <p:to>
                                        <p:strVal val="visible"/>
                                      </p:to>
                                    </p:set>
                                    <p:anim calcmode="lin" valueType="num">
                                      <p:cBhvr additive="base">
                                        <p:cTn id="122" dur="500"/>
                                        <p:tgtEl>
                                          <p:spTgt spid="2054"/>
                                        </p:tgtEl>
                                        <p:attrNameLst>
                                          <p:attrName>ppt_x</p:attrName>
                                        </p:attrNameLst>
                                      </p:cBhvr>
                                      <p:tavLst>
                                        <p:tav tm="0">
                                          <p:val>
                                            <p:strVal val="#ppt_x-1"/>
                                          </p:val>
                                        </p:tav>
                                        <p:tav tm="100000">
                                          <p:val>
                                            <p:strVal val="#ppt_x"/>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nodeType="clickEffect">
                                  <p:stCondLst>
                                    <p:cond delay="0"/>
                                  </p:stCondLst>
                                  <p:childTnLst>
                                    <p:set>
                                      <p:cBhvr>
                                        <p:cTn id="126" dur="1" fill="hold">
                                          <p:stCondLst>
                                            <p:cond delay="0"/>
                                          </p:stCondLst>
                                        </p:cTn>
                                        <p:tgtEl>
                                          <p:spTgt spid="2055"/>
                                        </p:tgtEl>
                                        <p:attrNameLst>
                                          <p:attrName>style.visibility</p:attrName>
                                        </p:attrNameLst>
                                      </p:cBhvr>
                                      <p:to>
                                        <p:strVal val="visible"/>
                                      </p:to>
                                    </p:set>
                                    <p:anim calcmode="lin" valueType="num">
                                      <p:cBhvr additive="base">
                                        <p:cTn id="127" dur="500"/>
                                        <p:tgtEl>
                                          <p:spTgt spid="2055"/>
                                        </p:tgtEl>
                                        <p:attrNameLst>
                                          <p:attrName>ppt_x</p:attrName>
                                        </p:attrNameLst>
                                      </p:cBhvr>
                                      <p:tavLst>
                                        <p:tav tm="0">
                                          <p:val>
                                            <p:strVal val="#ppt_x-1"/>
                                          </p:val>
                                        </p:tav>
                                        <p:tav tm="100000">
                                          <p:val>
                                            <p:strVal val="#ppt_x"/>
                                          </p:val>
                                        </p:tav>
                                      </p:tavLst>
                                    </p:anim>
                                  </p:childTnLst>
                                </p:cTn>
                              </p:par>
                            </p:childTnLst>
                          </p:cTn>
                        </p:par>
                      </p:childTnLst>
                    </p:cTn>
                  </p:par>
                  <p:par>
                    <p:cTn id="128" fill="hold">
                      <p:stCondLst>
                        <p:cond delay="indefinite"/>
                      </p:stCondLst>
                      <p:childTnLst>
                        <p:par>
                          <p:cTn id="129" fill="hold">
                            <p:stCondLst>
                              <p:cond delay="0"/>
                            </p:stCondLst>
                            <p:childTnLst>
                              <p:par>
                                <p:cTn id="130" presetID="2" presetClass="entr" presetSubtype="8" fill="hold" nodeType="clickEffect">
                                  <p:stCondLst>
                                    <p:cond delay="0"/>
                                  </p:stCondLst>
                                  <p:childTnLst>
                                    <p:set>
                                      <p:cBhvr>
                                        <p:cTn id="131" dur="1" fill="hold">
                                          <p:stCondLst>
                                            <p:cond delay="0"/>
                                          </p:stCondLst>
                                        </p:cTn>
                                        <p:tgtEl>
                                          <p:spTgt spid="2056"/>
                                        </p:tgtEl>
                                        <p:attrNameLst>
                                          <p:attrName>style.visibility</p:attrName>
                                        </p:attrNameLst>
                                      </p:cBhvr>
                                      <p:to>
                                        <p:strVal val="visible"/>
                                      </p:to>
                                    </p:set>
                                    <p:anim calcmode="lin" valueType="num">
                                      <p:cBhvr additive="base">
                                        <p:cTn id="132" dur="500"/>
                                        <p:tgtEl>
                                          <p:spTgt spid="2056"/>
                                        </p:tgtEl>
                                        <p:attrNameLst>
                                          <p:attrName>ppt_x</p:attrName>
                                        </p:attrNameLst>
                                      </p:cBhvr>
                                      <p:tavLst>
                                        <p:tav tm="0">
                                          <p:val>
                                            <p:strVal val="#ppt_x-1"/>
                                          </p:val>
                                        </p:tav>
                                        <p:tav tm="100000">
                                          <p:val>
                                            <p:strVal val="#ppt_x"/>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8" fill="hold" nodeType="clickEffect">
                                  <p:stCondLst>
                                    <p:cond delay="0"/>
                                  </p:stCondLst>
                                  <p:childTnLst>
                                    <p:set>
                                      <p:cBhvr>
                                        <p:cTn id="136" dur="1" fill="hold">
                                          <p:stCondLst>
                                            <p:cond delay="0"/>
                                          </p:stCondLst>
                                        </p:cTn>
                                        <p:tgtEl>
                                          <p:spTgt spid="2057"/>
                                        </p:tgtEl>
                                        <p:attrNameLst>
                                          <p:attrName>style.visibility</p:attrName>
                                        </p:attrNameLst>
                                      </p:cBhvr>
                                      <p:to>
                                        <p:strVal val="visible"/>
                                      </p:to>
                                    </p:set>
                                    <p:anim calcmode="lin" valueType="num">
                                      <p:cBhvr additive="base">
                                        <p:cTn id="137" dur="500"/>
                                        <p:tgtEl>
                                          <p:spTgt spid="2057"/>
                                        </p:tgtEl>
                                        <p:attrNameLst>
                                          <p:attrName>ppt_x</p:attrName>
                                        </p:attrNameLst>
                                      </p:cBhvr>
                                      <p:tavLst>
                                        <p:tav tm="0">
                                          <p:val>
                                            <p:strVal val="#ppt_x-1"/>
                                          </p:val>
                                        </p:tav>
                                        <p:tav tm="100000">
                                          <p:val>
                                            <p:strVal val="#ppt_x"/>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8" fill="hold" nodeType="clickEffect">
                                  <p:stCondLst>
                                    <p:cond delay="0"/>
                                  </p:stCondLst>
                                  <p:childTnLst>
                                    <p:set>
                                      <p:cBhvr>
                                        <p:cTn id="141" dur="1" fill="hold">
                                          <p:stCondLst>
                                            <p:cond delay="0"/>
                                          </p:stCondLst>
                                        </p:cTn>
                                        <p:tgtEl>
                                          <p:spTgt spid="2058"/>
                                        </p:tgtEl>
                                        <p:attrNameLst>
                                          <p:attrName>style.visibility</p:attrName>
                                        </p:attrNameLst>
                                      </p:cBhvr>
                                      <p:to>
                                        <p:strVal val="visible"/>
                                      </p:to>
                                    </p:set>
                                    <p:anim calcmode="lin" valueType="num">
                                      <p:cBhvr additive="base">
                                        <p:cTn id="142" dur="500"/>
                                        <p:tgtEl>
                                          <p:spTgt spid="2058"/>
                                        </p:tgtEl>
                                        <p:attrNameLst>
                                          <p:attrName>ppt_x</p:attrName>
                                        </p:attrNameLst>
                                      </p:cBhvr>
                                      <p:tavLst>
                                        <p:tav tm="0">
                                          <p:val>
                                            <p:strVal val="#ppt_x-1"/>
                                          </p:val>
                                        </p:tav>
                                        <p:tav tm="100000">
                                          <p:val>
                                            <p:strVal val="#ppt_x"/>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8" fill="hold" nodeType="clickEffect">
                                  <p:stCondLst>
                                    <p:cond delay="0"/>
                                  </p:stCondLst>
                                  <p:childTnLst>
                                    <p:set>
                                      <p:cBhvr>
                                        <p:cTn id="146" dur="1" fill="hold">
                                          <p:stCondLst>
                                            <p:cond delay="0"/>
                                          </p:stCondLst>
                                        </p:cTn>
                                        <p:tgtEl>
                                          <p:spTgt spid="2059"/>
                                        </p:tgtEl>
                                        <p:attrNameLst>
                                          <p:attrName>style.visibility</p:attrName>
                                        </p:attrNameLst>
                                      </p:cBhvr>
                                      <p:to>
                                        <p:strVal val="visible"/>
                                      </p:to>
                                    </p:set>
                                    <p:anim calcmode="lin" valueType="num">
                                      <p:cBhvr additive="base">
                                        <p:cTn id="147" dur="500"/>
                                        <p:tgtEl>
                                          <p:spTgt spid="2059"/>
                                        </p:tgtEl>
                                        <p:attrNameLst>
                                          <p:attrName>ppt_x</p:attrName>
                                        </p:attrNameLst>
                                      </p:cBhvr>
                                      <p:tavLst>
                                        <p:tav tm="0">
                                          <p:val>
                                            <p:strVal val="#ppt_x-1"/>
                                          </p:val>
                                        </p:tav>
                                        <p:tav tm="100000">
                                          <p:val>
                                            <p:strVal val="#ppt_x"/>
                                          </p:val>
                                        </p:tav>
                                      </p:tavLst>
                                    </p:anim>
                                  </p:childTnLst>
                                </p:cTn>
                              </p:par>
                            </p:childTnLst>
                          </p:cTn>
                        </p:par>
                      </p:childTnLst>
                    </p:cTn>
                  </p:par>
                  <p:par>
                    <p:cTn id="148" fill="hold">
                      <p:stCondLst>
                        <p:cond delay="indefinite"/>
                      </p:stCondLst>
                      <p:childTnLst>
                        <p:par>
                          <p:cTn id="149" fill="hold">
                            <p:stCondLst>
                              <p:cond delay="0"/>
                            </p:stCondLst>
                            <p:childTnLst>
                              <p:par>
                                <p:cTn id="150" presetID="2" presetClass="entr" presetSubtype="8" fill="hold" nodeType="clickEffect">
                                  <p:stCondLst>
                                    <p:cond delay="0"/>
                                  </p:stCondLst>
                                  <p:childTnLst>
                                    <p:set>
                                      <p:cBhvr>
                                        <p:cTn id="151" dur="1" fill="hold">
                                          <p:stCondLst>
                                            <p:cond delay="0"/>
                                          </p:stCondLst>
                                        </p:cTn>
                                        <p:tgtEl>
                                          <p:spTgt spid="2060"/>
                                        </p:tgtEl>
                                        <p:attrNameLst>
                                          <p:attrName>style.visibility</p:attrName>
                                        </p:attrNameLst>
                                      </p:cBhvr>
                                      <p:to>
                                        <p:strVal val="visible"/>
                                      </p:to>
                                    </p:set>
                                    <p:anim calcmode="lin" valueType="num">
                                      <p:cBhvr additive="base">
                                        <p:cTn id="152" dur="500"/>
                                        <p:tgtEl>
                                          <p:spTgt spid="2060"/>
                                        </p:tgtEl>
                                        <p:attrNameLst>
                                          <p:attrName>ppt_x</p:attrName>
                                        </p:attrNameLst>
                                      </p:cBhvr>
                                      <p:tavLst>
                                        <p:tav tm="0">
                                          <p:val>
                                            <p:strVal val="#ppt_x-1"/>
                                          </p:val>
                                        </p:tav>
                                        <p:tav tm="100000">
                                          <p:val>
                                            <p:strVal val="#ppt_x"/>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nodeType="clickEffect">
                                  <p:stCondLst>
                                    <p:cond delay="0"/>
                                  </p:stCondLst>
                                  <p:childTnLst>
                                    <p:set>
                                      <p:cBhvr>
                                        <p:cTn id="156" dur="1" fill="hold">
                                          <p:stCondLst>
                                            <p:cond delay="0"/>
                                          </p:stCondLst>
                                        </p:cTn>
                                        <p:tgtEl>
                                          <p:spTgt spid="2061"/>
                                        </p:tgtEl>
                                        <p:attrNameLst>
                                          <p:attrName>style.visibility</p:attrName>
                                        </p:attrNameLst>
                                      </p:cBhvr>
                                      <p:to>
                                        <p:strVal val="visible"/>
                                      </p:to>
                                    </p:set>
                                    <p:anim calcmode="lin" valueType="num">
                                      <p:cBhvr additive="base">
                                        <p:cTn id="157" dur="500"/>
                                        <p:tgtEl>
                                          <p:spTgt spid="2061"/>
                                        </p:tgtEl>
                                        <p:attrNameLst>
                                          <p:attrName>ppt_x</p:attrName>
                                        </p:attrNameLst>
                                      </p:cBhvr>
                                      <p:tavLst>
                                        <p:tav tm="0">
                                          <p:val>
                                            <p:strVal val="#ppt_x-1"/>
                                          </p:val>
                                        </p:tav>
                                        <p:tav tm="100000">
                                          <p:val>
                                            <p:strVal val="#ppt_x"/>
                                          </p:val>
                                        </p:tav>
                                      </p:tavLst>
                                    </p:anim>
                                  </p:childTnLst>
                                </p:cTn>
                              </p:par>
                            </p:childTnLst>
                          </p:cTn>
                        </p:par>
                      </p:childTnLst>
                    </p:cTn>
                  </p:par>
                  <p:par>
                    <p:cTn id="158" fill="hold">
                      <p:stCondLst>
                        <p:cond delay="indefinite"/>
                      </p:stCondLst>
                      <p:childTnLst>
                        <p:par>
                          <p:cTn id="159" fill="hold">
                            <p:stCondLst>
                              <p:cond delay="0"/>
                            </p:stCondLst>
                            <p:childTnLst>
                              <p:par>
                                <p:cTn id="160" presetID="2" presetClass="entr" presetSubtype="8" fill="hold" nodeType="clickEffect">
                                  <p:stCondLst>
                                    <p:cond delay="0"/>
                                  </p:stCondLst>
                                  <p:childTnLst>
                                    <p:set>
                                      <p:cBhvr>
                                        <p:cTn id="161" dur="1" fill="hold">
                                          <p:stCondLst>
                                            <p:cond delay="0"/>
                                          </p:stCondLst>
                                        </p:cTn>
                                        <p:tgtEl>
                                          <p:spTgt spid="2062"/>
                                        </p:tgtEl>
                                        <p:attrNameLst>
                                          <p:attrName>style.visibility</p:attrName>
                                        </p:attrNameLst>
                                      </p:cBhvr>
                                      <p:to>
                                        <p:strVal val="visible"/>
                                      </p:to>
                                    </p:set>
                                    <p:anim calcmode="lin" valueType="num">
                                      <p:cBhvr additive="base">
                                        <p:cTn id="162" dur="500"/>
                                        <p:tgtEl>
                                          <p:spTgt spid="2062"/>
                                        </p:tgtEl>
                                        <p:attrNameLst>
                                          <p:attrName>ppt_x</p:attrName>
                                        </p:attrNameLst>
                                      </p:cBhvr>
                                      <p:tavLst>
                                        <p:tav tm="0">
                                          <p:val>
                                            <p:strVal val="#ppt_x-1"/>
                                          </p:val>
                                        </p:tav>
                                        <p:tav tm="100000">
                                          <p:val>
                                            <p:strVal val="#ppt_x"/>
                                          </p:val>
                                        </p:tav>
                                      </p:tavLst>
                                    </p:anim>
                                  </p:childTnLst>
                                </p:cTn>
                              </p:par>
                            </p:childTnLst>
                          </p:cTn>
                        </p:par>
                      </p:childTnLst>
                    </p:cTn>
                  </p:par>
                  <p:par>
                    <p:cTn id="163" fill="hold">
                      <p:stCondLst>
                        <p:cond delay="indefinite"/>
                      </p:stCondLst>
                      <p:childTnLst>
                        <p:par>
                          <p:cTn id="164" fill="hold">
                            <p:stCondLst>
                              <p:cond delay="0"/>
                            </p:stCondLst>
                            <p:childTnLst>
                              <p:par>
                                <p:cTn id="165" presetID="2" presetClass="entr" presetSubtype="8" fill="hold" nodeType="clickEffect">
                                  <p:stCondLst>
                                    <p:cond delay="0"/>
                                  </p:stCondLst>
                                  <p:childTnLst>
                                    <p:set>
                                      <p:cBhvr>
                                        <p:cTn id="166" dur="1" fill="hold">
                                          <p:stCondLst>
                                            <p:cond delay="0"/>
                                          </p:stCondLst>
                                        </p:cTn>
                                        <p:tgtEl>
                                          <p:spTgt spid="2063"/>
                                        </p:tgtEl>
                                        <p:attrNameLst>
                                          <p:attrName>style.visibility</p:attrName>
                                        </p:attrNameLst>
                                      </p:cBhvr>
                                      <p:to>
                                        <p:strVal val="visible"/>
                                      </p:to>
                                    </p:set>
                                    <p:anim calcmode="lin" valueType="num">
                                      <p:cBhvr additive="base">
                                        <p:cTn id="167" dur="500"/>
                                        <p:tgtEl>
                                          <p:spTgt spid="2063"/>
                                        </p:tgtEl>
                                        <p:attrNameLst>
                                          <p:attrName>ppt_x</p:attrName>
                                        </p:attrNameLst>
                                      </p:cBhvr>
                                      <p:tavLst>
                                        <p:tav tm="0">
                                          <p:val>
                                            <p:strVal val="#ppt_x-1"/>
                                          </p:val>
                                        </p:tav>
                                        <p:tav tm="100000">
                                          <p:val>
                                            <p:strVal val="#ppt_x"/>
                                          </p:val>
                                        </p:tav>
                                      </p:tavLst>
                                    </p:anim>
                                  </p:childTnLst>
                                </p:cTn>
                              </p:par>
                            </p:childTnLst>
                          </p:cTn>
                        </p:par>
                      </p:childTnLst>
                    </p:cTn>
                  </p:par>
                  <p:par>
                    <p:cTn id="168" fill="hold">
                      <p:stCondLst>
                        <p:cond delay="indefinite"/>
                      </p:stCondLst>
                      <p:childTnLst>
                        <p:par>
                          <p:cTn id="169" fill="hold">
                            <p:stCondLst>
                              <p:cond delay="0"/>
                            </p:stCondLst>
                            <p:childTnLst>
                              <p:par>
                                <p:cTn id="170" presetID="2" presetClass="entr" presetSubtype="8" fill="hold" nodeType="clickEffect">
                                  <p:stCondLst>
                                    <p:cond delay="0"/>
                                  </p:stCondLst>
                                  <p:childTnLst>
                                    <p:set>
                                      <p:cBhvr>
                                        <p:cTn id="171" dur="1" fill="hold">
                                          <p:stCondLst>
                                            <p:cond delay="0"/>
                                          </p:stCondLst>
                                        </p:cTn>
                                        <p:tgtEl>
                                          <p:spTgt spid="2064"/>
                                        </p:tgtEl>
                                        <p:attrNameLst>
                                          <p:attrName>style.visibility</p:attrName>
                                        </p:attrNameLst>
                                      </p:cBhvr>
                                      <p:to>
                                        <p:strVal val="visible"/>
                                      </p:to>
                                    </p:set>
                                    <p:anim calcmode="lin" valueType="num">
                                      <p:cBhvr additive="base">
                                        <p:cTn id="172" dur="500"/>
                                        <p:tgtEl>
                                          <p:spTgt spid="2064"/>
                                        </p:tgtEl>
                                        <p:attrNameLst>
                                          <p:attrName>ppt_x</p:attrName>
                                        </p:attrNameLst>
                                      </p:cBhvr>
                                      <p:tavLst>
                                        <p:tav tm="0">
                                          <p:val>
                                            <p:strVal val="#ppt_x-1"/>
                                          </p:val>
                                        </p:tav>
                                        <p:tav tm="100000">
                                          <p:val>
                                            <p:strVal val="#ppt_x"/>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8" fill="hold" nodeType="clickEffect">
                                  <p:stCondLst>
                                    <p:cond delay="0"/>
                                  </p:stCondLst>
                                  <p:childTnLst>
                                    <p:set>
                                      <p:cBhvr>
                                        <p:cTn id="176" dur="1" fill="hold">
                                          <p:stCondLst>
                                            <p:cond delay="0"/>
                                          </p:stCondLst>
                                        </p:cTn>
                                        <p:tgtEl>
                                          <p:spTgt spid="2065"/>
                                        </p:tgtEl>
                                        <p:attrNameLst>
                                          <p:attrName>style.visibility</p:attrName>
                                        </p:attrNameLst>
                                      </p:cBhvr>
                                      <p:to>
                                        <p:strVal val="visible"/>
                                      </p:to>
                                    </p:set>
                                    <p:anim calcmode="lin" valueType="num">
                                      <p:cBhvr additive="base">
                                        <p:cTn id="177" dur="500"/>
                                        <p:tgtEl>
                                          <p:spTgt spid="2065"/>
                                        </p:tgtEl>
                                        <p:attrNameLst>
                                          <p:attrName>ppt_x</p:attrName>
                                        </p:attrNameLst>
                                      </p:cBhvr>
                                      <p:tavLst>
                                        <p:tav tm="0">
                                          <p:val>
                                            <p:strVal val="#ppt_x-1"/>
                                          </p:val>
                                        </p:tav>
                                        <p:tav tm="100000">
                                          <p:val>
                                            <p:strVal val="#ppt_x"/>
                                          </p:val>
                                        </p:tav>
                                      </p:tavLst>
                                    </p:anim>
                                  </p:childTnLst>
                                </p:cTn>
                              </p:par>
                            </p:childTnLst>
                          </p:cTn>
                        </p:par>
                      </p:childTnLst>
                    </p:cTn>
                  </p:par>
                  <p:par>
                    <p:cTn id="178" fill="hold">
                      <p:stCondLst>
                        <p:cond delay="indefinite"/>
                      </p:stCondLst>
                      <p:childTnLst>
                        <p:par>
                          <p:cTn id="179" fill="hold">
                            <p:stCondLst>
                              <p:cond delay="0"/>
                            </p:stCondLst>
                            <p:childTnLst>
                              <p:par>
                                <p:cTn id="180" presetID="2" presetClass="entr" presetSubtype="8" fill="hold" nodeType="clickEffect">
                                  <p:stCondLst>
                                    <p:cond delay="0"/>
                                  </p:stCondLst>
                                  <p:childTnLst>
                                    <p:set>
                                      <p:cBhvr>
                                        <p:cTn id="181" dur="1" fill="hold">
                                          <p:stCondLst>
                                            <p:cond delay="0"/>
                                          </p:stCondLst>
                                        </p:cTn>
                                        <p:tgtEl>
                                          <p:spTgt spid="2066"/>
                                        </p:tgtEl>
                                        <p:attrNameLst>
                                          <p:attrName>style.visibility</p:attrName>
                                        </p:attrNameLst>
                                      </p:cBhvr>
                                      <p:to>
                                        <p:strVal val="visible"/>
                                      </p:to>
                                    </p:set>
                                    <p:anim calcmode="lin" valueType="num">
                                      <p:cBhvr additive="base">
                                        <p:cTn id="182" dur="500"/>
                                        <p:tgtEl>
                                          <p:spTgt spid="2066"/>
                                        </p:tgtEl>
                                        <p:attrNameLst>
                                          <p:attrName>ppt_x</p:attrName>
                                        </p:attrNameLst>
                                      </p:cBhvr>
                                      <p:tavLst>
                                        <p:tav tm="0">
                                          <p:val>
                                            <p:strVal val="#ppt_x-1"/>
                                          </p:val>
                                        </p:tav>
                                        <p:tav tm="100000">
                                          <p:val>
                                            <p:strVal val="#ppt_x"/>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nodeType="clickEffect">
                                  <p:stCondLst>
                                    <p:cond delay="0"/>
                                  </p:stCondLst>
                                  <p:childTnLst>
                                    <p:set>
                                      <p:cBhvr>
                                        <p:cTn id="186" dur="1" fill="hold">
                                          <p:stCondLst>
                                            <p:cond delay="0"/>
                                          </p:stCondLst>
                                        </p:cTn>
                                        <p:tgtEl>
                                          <p:spTgt spid="2067"/>
                                        </p:tgtEl>
                                        <p:attrNameLst>
                                          <p:attrName>style.visibility</p:attrName>
                                        </p:attrNameLst>
                                      </p:cBhvr>
                                      <p:to>
                                        <p:strVal val="visible"/>
                                      </p:to>
                                    </p:set>
                                    <p:anim calcmode="lin" valueType="num">
                                      <p:cBhvr additive="base">
                                        <p:cTn id="187" dur="500"/>
                                        <p:tgtEl>
                                          <p:spTgt spid="2067"/>
                                        </p:tgtEl>
                                        <p:attrNameLst>
                                          <p:attrName>ppt_x</p:attrName>
                                        </p:attrNameLst>
                                      </p:cBhvr>
                                      <p:tavLst>
                                        <p:tav tm="0">
                                          <p:val>
                                            <p:strVal val="#ppt_x-1"/>
                                          </p:val>
                                        </p:tav>
                                        <p:tav tm="100000">
                                          <p:val>
                                            <p:strVal val="#ppt_x"/>
                                          </p:val>
                                        </p:tav>
                                      </p:tavLst>
                                    </p:anim>
                                  </p:childTnLst>
                                </p:cTn>
                              </p:par>
                            </p:childTnLst>
                          </p:cTn>
                        </p:par>
                      </p:childTnLst>
                    </p:cTn>
                  </p:par>
                  <p:par>
                    <p:cTn id="188" fill="hold">
                      <p:stCondLst>
                        <p:cond delay="indefinite"/>
                      </p:stCondLst>
                      <p:childTnLst>
                        <p:par>
                          <p:cTn id="189" fill="hold">
                            <p:stCondLst>
                              <p:cond delay="0"/>
                            </p:stCondLst>
                            <p:childTnLst>
                              <p:par>
                                <p:cTn id="190" presetID="2" presetClass="entr" presetSubtype="8" fill="hold" nodeType="clickEffect">
                                  <p:stCondLst>
                                    <p:cond delay="0"/>
                                  </p:stCondLst>
                                  <p:childTnLst>
                                    <p:set>
                                      <p:cBhvr>
                                        <p:cTn id="191" dur="1" fill="hold">
                                          <p:stCondLst>
                                            <p:cond delay="0"/>
                                          </p:stCondLst>
                                        </p:cTn>
                                        <p:tgtEl>
                                          <p:spTgt spid="2068"/>
                                        </p:tgtEl>
                                        <p:attrNameLst>
                                          <p:attrName>style.visibility</p:attrName>
                                        </p:attrNameLst>
                                      </p:cBhvr>
                                      <p:to>
                                        <p:strVal val="visible"/>
                                      </p:to>
                                    </p:set>
                                    <p:anim calcmode="lin" valueType="num">
                                      <p:cBhvr additive="base">
                                        <p:cTn id="192" dur="500"/>
                                        <p:tgtEl>
                                          <p:spTgt spid="2068"/>
                                        </p:tgtEl>
                                        <p:attrNameLst>
                                          <p:attrName>ppt_x</p:attrName>
                                        </p:attrNameLst>
                                      </p:cBhvr>
                                      <p:tavLst>
                                        <p:tav tm="0">
                                          <p:val>
                                            <p:strVal val="#ppt_x-1"/>
                                          </p:val>
                                        </p:tav>
                                        <p:tav tm="100000">
                                          <p:val>
                                            <p:strVal val="#ppt_x"/>
                                          </p:val>
                                        </p:tav>
                                      </p:tavLst>
                                    </p:anim>
                                  </p:childTnLst>
                                </p:cTn>
                              </p:par>
                            </p:childTnLst>
                          </p:cTn>
                        </p:par>
                      </p:childTnLst>
                    </p:cTn>
                  </p:par>
                  <p:par>
                    <p:cTn id="193" fill="hold">
                      <p:stCondLst>
                        <p:cond delay="indefinite"/>
                      </p:stCondLst>
                      <p:childTnLst>
                        <p:par>
                          <p:cTn id="194"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2069"/>
                                        </p:tgtEl>
                                        <p:attrNameLst>
                                          <p:attrName>style.visibility</p:attrName>
                                        </p:attrNameLst>
                                      </p:cBhvr>
                                      <p:to>
                                        <p:strVal val="visible"/>
                                      </p:to>
                                    </p:set>
                                    <p:animEffect transition="in" filter="fade">
                                      <p:cBhvr>
                                        <p:cTn id="197" dur="500"/>
                                        <p:tgtEl>
                                          <p:spTgt spid="2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074"/>
        <p:cNvGrpSpPr/>
        <p:nvPr/>
      </p:nvGrpSpPr>
      <p:grpSpPr>
        <a:xfrm>
          <a:off x="0" y="0"/>
          <a:ext cx="0" cy="0"/>
          <a:chOff x="0" y="0"/>
          <a:chExt cx="0" cy="0"/>
        </a:xfrm>
      </p:grpSpPr>
      <p:sp>
        <p:nvSpPr>
          <p:cNvPr id="2075" name="Google Shape;2075;p116"/>
          <p:cNvSpPr/>
          <p:nvPr/>
        </p:nvSpPr>
        <p:spPr>
          <a:xfrm>
            <a:off x="393510" y="1123454"/>
            <a:ext cx="8382000" cy="2258218"/>
          </a:xfrm>
          <a:prstGeom prst="foldedCorner">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Tawaran hebat!!</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M  E  S  I  N      B  A  S  U  H</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JENAMA : SHRAP</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HARGA  : RM480</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BAYARAN BULANAN   :  (SELAMA 3 BULAN)</a:t>
            </a:r>
            <a:endParaRPr/>
          </a:p>
          <a:p>
            <a:pPr marL="0" marR="0" lvl="0" indent="0" algn="ctr" rtl="0">
              <a:spcBef>
                <a:spcPts val="0"/>
              </a:spcBef>
              <a:spcAft>
                <a:spcPts val="0"/>
              </a:spcAft>
              <a:buNone/>
            </a:pPr>
            <a:r>
              <a:rPr lang="en-US" sz="2400" b="1">
                <a:solidFill>
                  <a:schemeClr val="dk1"/>
                </a:solidFill>
                <a:latin typeface="Arial"/>
                <a:ea typeface="Arial"/>
                <a:cs typeface="Arial"/>
                <a:sym typeface="Arial"/>
              </a:rPr>
              <a:t>KADAR FAEDAH : 5% SEBULAN </a:t>
            </a:r>
            <a:endParaRPr/>
          </a:p>
          <a:p>
            <a:pPr marL="0" marR="0" lvl="0" indent="0" algn="ctr" rtl="0">
              <a:spcBef>
                <a:spcPts val="0"/>
              </a:spcBef>
              <a:spcAft>
                <a:spcPts val="0"/>
              </a:spcAft>
              <a:buNone/>
            </a:pPr>
            <a:endParaRPr sz="2400" b="1">
              <a:solidFill>
                <a:schemeClr val="dk1"/>
              </a:solidFill>
              <a:latin typeface="Arial"/>
              <a:ea typeface="Arial"/>
              <a:cs typeface="Arial"/>
              <a:sym typeface="Arial"/>
            </a:endParaRPr>
          </a:p>
        </p:txBody>
      </p:sp>
      <p:sp>
        <p:nvSpPr>
          <p:cNvPr id="2076" name="Google Shape;2076;p116"/>
          <p:cNvSpPr txBox="1"/>
          <p:nvPr/>
        </p:nvSpPr>
        <p:spPr>
          <a:xfrm>
            <a:off x="360528" y="3572668"/>
            <a:ext cx="8250072" cy="8302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Arial"/>
                <a:ea typeface="Arial"/>
                <a:cs typeface="Arial"/>
                <a:sym typeface="Arial"/>
              </a:rPr>
              <a:t>Hitung bayaran yang perlu dibayar setiap bulan dan sediakan jadual pelunasan pinjaman</a:t>
            </a:r>
            <a:endParaRPr sz="2400">
              <a:solidFill>
                <a:schemeClr val="dk1"/>
              </a:solidFill>
              <a:latin typeface="Arial"/>
              <a:ea typeface="Arial"/>
              <a:cs typeface="Arial"/>
              <a:sym typeface="Arial"/>
            </a:endParaRPr>
          </a:p>
        </p:txBody>
      </p:sp>
      <p:sp>
        <p:nvSpPr>
          <p:cNvPr id="2077" name="Google Shape;2077;p116"/>
          <p:cNvSpPr txBox="1">
            <a:spLocks noGrp="1"/>
          </p:cNvSpPr>
          <p:nvPr>
            <p:ph type="sldNum" sz="quarter" idx="12"/>
          </p:nvPr>
        </p:nvSpPr>
        <p:spPr>
          <a:xfrm>
            <a:off x="6718110" y="6239192"/>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1D4577"/>
                </a:solidFill>
                <a:latin typeface="Times New Roman"/>
                <a:ea typeface="Times New Roman"/>
                <a:cs typeface="Times New Roman"/>
                <a:sym typeface="Times New Roman"/>
              </a:rPr>
              <a:t>104</a:t>
            </a:fld>
            <a:endParaRPr sz="1200">
              <a:solidFill>
                <a:srgbClr val="1D4577"/>
              </a:solidFill>
              <a:latin typeface="Times New Roman"/>
              <a:ea typeface="Times New Roman"/>
              <a:cs typeface="Times New Roman"/>
              <a:sym typeface="Times New Roman"/>
            </a:endParaRPr>
          </a:p>
        </p:txBody>
      </p:sp>
      <p:sp>
        <p:nvSpPr>
          <p:cNvPr id="2078" name="Google Shape;2078;p116"/>
          <p:cNvSpPr txBox="1"/>
          <p:nvPr/>
        </p:nvSpPr>
        <p:spPr>
          <a:xfrm>
            <a:off x="381000" y="365178"/>
            <a:ext cx="24384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Contoh  </a:t>
            </a:r>
            <a:endParaRPr/>
          </a:p>
        </p:txBody>
      </p:sp>
      <p:pic>
        <p:nvPicPr>
          <p:cNvPr id="2079" name="Google Shape;2079;p116"/>
          <p:cNvPicPr preferRelativeResize="0"/>
          <p:nvPr/>
        </p:nvPicPr>
        <p:blipFill rotWithShape="1">
          <a:blip r:embed="rId3">
            <a:alphaModFix/>
          </a:blip>
          <a:srcRect/>
          <a:stretch/>
        </p:blipFill>
        <p:spPr>
          <a:xfrm>
            <a:off x="1117410" y="4566999"/>
            <a:ext cx="4794250" cy="539041"/>
          </a:xfrm>
          <a:prstGeom prst="rect">
            <a:avLst/>
          </a:prstGeom>
          <a:noFill/>
          <a:ln>
            <a:noFill/>
          </a:ln>
        </p:spPr>
      </p:pic>
      <p:pic>
        <p:nvPicPr>
          <p:cNvPr id="2080" name="Google Shape;2080;p116"/>
          <p:cNvPicPr preferRelativeResize="0"/>
          <p:nvPr/>
        </p:nvPicPr>
        <p:blipFill rotWithShape="1">
          <a:blip r:embed="rId4">
            <a:alphaModFix/>
          </a:blip>
          <a:srcRect/>
          <a:stretch/>
        </p:blipFill>
        <p:spPr>
          <a:xfrm>
            <a:off x="1269810" y="5149612"/>
            <a:ext cx="4140390" cy="453553"/>
          </a:xfrm>
          <a:prstGeom prst="rect">
            <a:avLst/>
          </a:prstGeom>
          <a:noFill/>
          <a:ln>
            <a:noFill/>
          </a:ln>
        </p:spPr>
      </p:pic>
      <p:pic>
        <p:nvPicPr>
          <p:cNvPr id="2081" name="Google Shape;2081;p116"/>
          <p:cNvPicPr preferRelativeResize="0"/>
          <p:nvPr/>
        </p:nvPicPr>
        <p:blipFill rotWithShape="1">
          <a:blip r:embed="rId5">
            <a:alphaModFix/>
          </a:blip>
          <a:srcRect/>
          <a:stretch/>
        </p:blipFill>
        <p:spPr>
          <a:xfrm>
            <a:off x="1117410" y="5735399"/>
            <a:ext cx="3225990" cy="396563"/>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76"/>
                                        </p:tgtEl>
                                        <p:attrNameLst>
                                          <p:attrName>style.visibility</p:attrName>
                                        </p:attrNameLst>
                                      </p:cBhvr>
                                      <p:to>
                                        <p:strVal val="visible"/>
                                      </p:to>
                                    </p:set>
                                    <p:animEffect transition="in" filter="fade">
                                      <p:cBhvr>
                                        <p:cTn id="7" dur="500"/>
                                        <p:tgtEl>
                                          <p:spTgt spid="2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085"/>
        <p:cNvGrpSpPr/>
        <p:nvPr/>
      </p:nvGrpSpPr>
      <p:grpSpPr>
        <a:xfrm>
          <a:off x="0" y="0"/>
          <a:ext cx="0" cy="0"/>
          <a:chOff x="0" y="0"/>
          <a:chExt cx="0" cy="0"/>
        </a:xfrm>
      </p:grpSpPr>
      <p:sp>
        <p:nvSpPr>
          <p:cNvPr id="2086" name="Google Shape;2086;p11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105</a:t>
            </a:fld>
            <a:endParaRPr/>
          </a:p>
        </p:txBody>
      </p:sp>
      <p:sp>
        <p:nvSpPr>
          <p:cNvPr id="2087" name="Google Shape;2087;p117"/>
          <p:cNvSpPr txBox="1"/>
          <p:nvPr/>
        </p:nvSpPr>
        <p:spPr>
          <a:xfrm>
            <a:off x="2085222" y="420291"/>
            <a:ext cx="51259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JADUAL PELUNASAN PINJAMAN</a:t>
            </a:r>
            <a:endParaRPr/>
          </a:p>
        </p:txBody>
      </p:sp>
      <p:graphicFrame>
        <p:nvGraphicFramePr>
          <p:cNvPr id="2088" name="Google Shape;2088;p117"/>
          <p:cNvGraphicFramePr/>
          <p:nvPr/>
        </p:nvGraphicFramePr>
        <p:xfrm>
          <a:off x="482221" y="881956"/>
          <a:ext cx="8382000" cy="3403575"/>
        </p:xfrm>
        <a:graphic>
          <a:graphicData uri="http://schemas.openxmlformats.org/drawingml/2006/table">
            <a:tbl>
              <a:tblPr firstRow="1" bandRow="1">
                <a:noFill/>
                <a:tableStyleId>{583BA780-5EA6-48F8-90CF-626E18444947}</a:tableStyleId>
              </a:tblPr>
              <a:tblGrid>
                <a:gridCol w="13970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gridCol w="1397000">
                  <a:extLst>
                    <a:ext uri="{9D8B030D-6E8A-4147-A177-3AD203B41FA5}">
                      <a16:colId xmlns:a16="http://schemas.microsoft.com/office/drawing/2014/main" val="20003"/>
                    </a:ext>
                  </a:extLst>
                </a:gridCol>
                <a:gridCol w="1397000">
                  <a:extLst>
                    <a:ext uri="{9D8B030D-6E8A-4147-A177-3AD203B41FA5}">
                      <a16:colId xmlns:a16="http://schemas.microsoft.com/office/drawing/2014/main" val="20004"/>
                    </a:ext>
                  </a:extLst>
                </a:gridCol>
                <a:gridCol w="1397000">
                  <a:extLst>
                    <a:ext uri="{9D8B030D-6E8A-4147-A177-3AD203B41FA5}">
                      <a16:colId xmlns:a16="http://schemas.microsoft.com/office/drawing/2014/main" val="20005"/>
                    </a:ext>
                  </a:extLst>
                </a:gridCol>
              </a:tblGrid>
              <a:tr h="1025975">
                <a:tc>
                  <a:txBody>
                    <a:bodyPr/>
                    <a:lstStyle/>
                    <a:p>
                      <a:pPr marL="0" marR="0" lvl="0" indent="0" algn="ctr" rtl="0">
                        <a:spcBef>
                          <a:spcPts val="0"/>
                        </a:spcBef>
                        <a:spcAft>
                          <a:spcPts val="0"/>
                        </a:spcAft>
                        <a:buNone/>
                      </a:pPr>
                      <a:r>
                        <a:rPr lang="en-US" sz="1800" b="1">
                          <a:latin typeface="Arial"/>
                          <a:ea typeface="Arial"/>
                          <a:cs typeface="Arial"/>
                          <a:sym typeface="Arial"/>
                        </a:rPr>
                        <a:t>BULAN</a:t>
                      </a:r>
                      <a:endParaRPr/>
                    </a:p>
                  </a:txBody>
                  <a:tcPr marL="91450" marR="91450" marT="45725" marB="45725" anchor="ctr"/>
                </a:tc>
                <a:tc>
                  <a:txBody>
                    <a:bodyPr/>
                    <a:lstStyle/>
                    <a:p>
                      <a:pPr marL="0" marR="0" lvl="0" indent="0" algn="ctr" rtl="0">
                        <a:spcBef>
                          <a:spcPts val="0"/>
                        </a:spcBef>
                        <a:spcAft>
                          <a:spcPts val="0"/>
                        </a:spcAft>
                        <a:buNone/>
                      </a:pPr>
                      <a:r>
                        <a:rPr lang="en-US" sz="1800" b="1">
                          <a:latin typeface="Arial"/>
                          <a:ea typeface="Arial"/>
                          <a:cs typeface="Arial"/>
                          <a:sym typeface="Arial"/>
                        </a:rPr>
                        <a:t>BAKI AWAL</a:t>
                      </a:r>
                      <a:endParaRPr/>
                    </a:p>
                    <a:p>
                      <a:pPr marL="0" marR="0" lvl="0" indent="0" algn="ctr" rtl="0">
                        <a:spcBef>
                          <a:spcPts val="0"/>
                        </a:spcBef>
                        <a:spcAft>
                          <a:spcPts val="0"/>
                        </a:spcAft>
                        <a:buNone/>
                      </a:pPr>
                      <a:r>
                        <a:rPr lang="en-US" sz="1800" b="1">
                          <a:latin typeface="Arial"/>
                          <a:ea typeface="Arial"/>
                          <a:cs typeface="Arial"/>
                          <a:sym typeface="Arial"/>
                        </a:rPr>
                        <a:t>(A)</a:t>
                      </a:r>
                      <a:endParaRPr/>
                    </a:p>
                  </a:txBody>
                  <a:tcPr marL="91450" marR="91450" marT="45725" marB="45725" anchor="ctr"/>
                </a:tc>
                <a:tc>
                  <a:txBody>
                    <a:bodyPr/>
                    <a:lstStyle/>
                    <a:p>
                      <a:pPr marL="0" marR="0" lvl="0" indent="0" algn="ctr" rtl="0">
                        <a:spcBef>
                          <a:spcPts val="0"/>
                        </a:spcBef>
                        <a:spcAft>
                          <a:spcPts val="0"/>
                        </a:spcAft>
                        <a:buNone/>
                      </a:pPr>
                      <a:r>
                        <a:rPr lang="en-US" sz="1800" b="1">
                          <a:latin typeface="Arial"/>
                          <a:ea typeface="Arial"/>
                          <a:cs typeface="Arial"/>
                          <a:sym typeface="Arial"/>
                        </a:rPr>
                        <a:t>ANSURAN (PMT)</a:t>
                      </a:r>
                      <a:endParaRPr/>
                    </a:p>
                    <a:p>
                      <a:pPr marL="0" marR="0" lvl="0" indent="0" algn="ctr" rtl="0">
                        <a:spcBef>
                          <a:spcPts val="0"/>
                        </a:spcBef>
                        <a:spcAft>
                          <a:spcPts val="0"/>
                        </a:spcAft>
                        <a:buNone/>
                      </a:pPr>
                      <a:r>
                        <a:rPr lang="en-US" sz="1800" b="1">
                          <a:latin typeface="Arial"/>
                          <a:ea typeface="Arial"/>
                          <a:cs typeface="Arial"/>
                          <a:sym typeface="Arial"/>
                        </a:rPr>
                        <a:t>(B)</a:t>
                      </a:r>
                      <a:endParaRPr/>
                    </a:p>
                  </a:txBody>
                  <a:tcPr marL="91450" marR="91450" marT="45725" marB="45725" anchor="ctr"/>
                </a:tc>
                <a:tc>
                  <a:txBody>
                    <a:bodyPr/>
                    <a:lstStyle/>
                    <a:p>
                      <a:pPr marL="0" marR="0" lvl="0" indent="0" algn="ctr" rtl="0">
                        <a:spcBef>
                          <a:spcPts val="0"/>
                        </a:spcBef>
                        <a:spcAft>
                          <a:spcPts val="0"/>
                        </a:spcAft>
                        <a:buNone/>
                      </a:pPr>
                      <a:r>
                        <a:rPr lang="en-US" sz="1800" b="1">
                          <a:latin typeface="Arial"/>
                          <a:ea typeface="Arial"/>
                          <a:cs typeface="Arial"/>
                          <a:sym typeface="Arial"/>
                        </a:rPr>
                        <a:t>FAEDAH</a:t>
                      </a:r>
                      <a:endParaRPr/>
                    </a:p>
                    <a:p>
                      <a:pPr marL="0" marR="0" lvl="0" indent="0" algn="ctr" rtl="0">
                        <a:spcBef>
                          <a:spcPts val="0"/>
                        </a:spcBef>
                        <a:spcAft>
                          <a:spcPts val="0"/>
                        </a:spcAft>
                        <a:buNone/>
                      </a:pPr>
                      <a:r>
                        <a:rPr lang="en-US" sz="1800" b="1">
                          <a:latin typeface="Arial"/>
                          <a:ea typeface="Arial"/>
                          <a:cs typeface="Arial"/>
                          <a:sym typeface="Arial"/>
                        </a:rPr>
                        <a:t>(C)</a:t>
                      </a:r>
                      <a:endParaRPr/>
                    </a:p>
                  </a:txBody>
                  <a:tcPr marL="91450" marR="91450" marT="45725" marB="45725" anchor="ctr"/>
                </a:tc>
                <a:tc>
                  <a:txBody>
                    <a:bodyPr/>
                    <a:lstStyle/>
                    <a:p>
                      <a:pPr marL="0" marR="0" lvl="0" indent="0" algn="ctr" rtl="0">
                        <a:spcBef>
                          <a:spcPts val="0"/>
                        </a:spcBef>
                        <a:spcAft>
                          <a:spcPts val="0"/>
                        </a:spcAft>
                        <a:buNone/>
                      </a:pPr>
                      <a:r>
                        <a:rPr lang="en-US" sz="1800" b="1">
                          <a:latin typeface="Arial"/>
                          <a:ea typeface="Arial"/>
                          <a:cs typeface="Arial"/>
                          <a:sym typeface="Arial"/>
                        </a:rPr>
                        <a:t>PRINSIPAL (D)</a:t>
                      </a:r>
                      <a:endParaRPr/>
                    </a:p>
                    <a:p>
                      <a:pPr marL="0" marR="0" lvl="0" indent="0" algn="ctr" rtl="0">
                        <a:spcBef>
                          <a:spcPts val="0"/>
                        </a:spcBef>
                        <a:spcAft>
                          <a:spcPts val="0"/>
                        </a:spcAft>
                        <a:buNone/>
                      </a:pPr>
                      <a:r>
                        <a:rPr lang="en-US" sz="1800" b="1">
                          <a:latin typeface="Arial"/>
                          <a:ea typeface="Arial"/>
                          <a:cs typeface="Arial"/>
                          <a:sym typeface="Arial"/>
                        </a:rPr>
                        <a:t>(B) – (C)</a:t>
                      </a:r>
                      <a:endParaRPr sz="18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1800" b="1">
                          <a:latin typeface="Arial"/>
                          <a:ea typeface="Arial"/>
                          <a:cs typeface="Arial"/>
                          <a:sym typeface="Arial"/>
                        </a:rPr>
                        <a:t>BAKI AKHIR (E)</a:t>
                      </a:r>
                      <a:endParaRPr/>
                    </a:p>
                    <a:p>
                      <a:pPr marL="0" marR="0" lvl="0" indent="0" algn="ctr" rtl="0">
                        <a:spcBef>
                          <a:spcPts val="0"/>
                        </a:spcBef>
                        <a:spcAft>
                          <a:spcPts val="0"/>
                        </a:spcAft>
                        <a:buNone/>
                      </a:pPr>
                      <a:r>
                        <a:rPr lang="en-US" sz="1800" b="1">
                          <a:latin typeface="Arial"/>
                          <a:ea typeface="Arial"/>
                          <a:cs typeface="Arial"/>
                          <a:sym typeface="Arial"/>
                        </a:rPr>
                        <a:t>(A – D)</a:t>
                      </a:r>
                      <a:endParaRPr/>
                    </a:p>
                  </a:txBody>
                  <a:tcPr marL="91450" marR="91450" marT="45725" marB="45725" anchor="ctr"/>
                </a:tc>
                <a:extLst>
                  <a:ext uri="{0D108BD9-81ED-4DB2-BD59-A6C34878D82A}">
                    <a16:rowId xmlns:a16="http://schemas.microsoft.com/office/drawing/2014/main" val="10000"/>
                  </a:ext>
                </a:extLst>
              </a:tr>
              <a:tr h="594400">
                <a:tc>
                  <a:txBody>
                    <a:bodyPr/>
                    <a:lstStyle/>
                    <a:p>
                      <a:pPr marL="0" marR="0" lvl="0" indent="0" algn="ctr" rtl="0">
                        <a:spcBef>
                          <a:spcPts val="0"/>
                        </a:spcBef>
                        <a:spcAft>
                          <a:spcPts val="0"/>
                        </a:spcAft>
                        <a:buNone/>
                      </a:pPr>
                      <a:r>
                        <a:rPr lang="en-US" sz="2400">
                          <a:latin typeface="Arial"/>
                          <a:ea typeface="Arial"/>
                          <a:cs typeface="Arial"/>
                          <a:sym typeface="Arial"/>
                        </a:rPr>
                        <a:t>0</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480</a:t>
                      </a:r>
                      <a:endParaRPr sz="2400" b="1">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594400">
                <a:tc>
                  <a:txBody>
                    <a:bodyPr/>
                    <a:lstStyle/>
                    <a:p>
                      <a:pPr marL="0" marR="0" lvl="0" indent="0" algn="ctr" rtl="0">
                        <a:spcBef>
                          <a:spcPts val="0"/>
                        </a:spcBef>
                        <a:spcAft>
                          <a:spcPts val="0"/>
                        </a:spcAft>
                        <a:buNone/>
                      </a:pPr>
                      <a:r>
                        <a:rPr lang="en-US" sz="2400">
                          <a:latin typeface="Arial"/>
                          <a:ea typeface="Arial"/>
                          <a:cs typeface="Arial"/>
                          <a:sym typeface="Arial"/>
                        </a:rPr>
                        <a:t>1</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480</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176.26</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24.00</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152.26</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327.74</a:t>
                      </a:r>
                      <a:endParaRPr sz="2400" b="1">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594400">
                <a:tc>
                  <a:txBody>
                    <a:bodyPr/>
                    <a:lstStyle/>
                    <a:p>
                      <a:pPr marL="0" marR="0" lvl="0" indent="0" algn="ctr" rtl="0">
                        <a:spcBef>
                          <a:spcPts val="0"/>
                        </a:spcBef>
                        <a:spcAft>
                          <a:spcPts val="0"/>
                        </a:spcAft>
                        <a:buNone/>
                      </a:pPr>
                      <a:r>
                        <a:rPr lang="en-US" sz="2400">
                          <a:latin typeface="Arial"/>
                          <a:ea typeface="Arial"/>
                          <a:cs typeface="Arial"/>
                          <a:sym typeface="Arial"/>
                        </a:rPr>
                        <a:t>2</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327.74</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176.26</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16.39</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159.87</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167.87</a:t>
                      </a:r>
                      <a:endParaRPr sz="2400" b="1">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594400">
                <a:tc>
                  <a:txBody>
                    <a:bodyPr/>
                    <a:lstStyle/>
                    <a:p>
                      <a:pPr marL="0" marR="0" lvl="0" indent="0" algn="ctr" rtl="0">
                        <a:spcBef>
                          <a:spcPts val="0"/>
                        </a:spcBef>
                        <a:spcAft>
                          <a:spcPts val="0"/>
                        </a:spcAft>
                        <a:buNone/>
                      </a:pPr>
                      <a:r>
                        <a:rPr lang="en-US" sz="2400">
                          <a:latin typeface="Arial"/>
                          <a:ea typeface="Arial"/>
                          <a:cs typeface="Arial"/>
                          <a:sym typeface="Arial"/>
                        </a:rPr>
                        <a:t>3</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167.87</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176.26</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8.39</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167.87</a:t>
                      </a:r>
                      <a:endParaRPr sz="2400" b="1">
                        <a:latin typeface="Arial"/>
                        <a:ea typeface="Arial"/>
                        <a:cs typeface="Arial"/>
                        <a:sym typeface="Arial"/>
                      </a:endParaRPr>
                    </a:p>
                  </a:txBody>
                  <a:tcPr marL="91450" marR="91450" marT="45725" marB="45725" anchor="ctr"/>
                </a:tc>
                <a:tc>
                  <a:txBody>
                    <a:bodyPr/>
                    <a:lstStyle/>
                    <a:p>
                      <a:pPr marL="0" marR="0" lvl="0" indent="0" algn="ctr" rtl="0">
                        <a:spcBef>
                          <a:spcPts val="0"/>
                        </a:spcBef>
                        <a:spcAft>
                          <a:spcPts val="0"/>
                        </a:spcAft>
                        <a:buNone/>
                      </a:pPr>
                      <a:r>
                        <a:rPr lang="en-US" sz="2400">
                          <a:latin typeface="Arial"/>
                          <a:ea typeface="Arial"/>
                          <a:cs typeface="Arial"/>
                          <a:sym typeface="Arial"/>
                        </a:rPr>
                        <a:t>0</a:t>
                      </a:r>
                      <a:endParaRPr sz="2400" b="1">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bl>
          </a:graphicData>
        </a:graphic>
      </p:graphicFrame>
      <p:sp>
        <p:nvSpPr>
          <p:cNvPr id="2089" name="Google Shape;2089;p117"/>
          <p:cNvSpPr txBox="1"/>
          <p:nvPr/>
        </p:nvSpPr>
        <p:spPr>
          <a:xfrm>
            <a:off x="483358" y="4432485"/>
            <a:ext cx="8382000" cy="120028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Noto Sans Symbols"/>
              <a:buChar char="▪"/>
            </a:pPr>
            <a:r>
              <a:rPr lang="en-US" sz="1800" dirty="0" err="1">
                <a:solidFill>
                  <a:schemeClr val="dk1"/>
                </a:solidFill>
              </a:rPr>
              <a:t>Lajur</a:t>
            </a:r>
            <a:r>
              <a:rPr lang="en-US" sz="1800" dirty="0">
                <a:solidFill>
                  <a:schemeClr val="dk1"/>
                </a:solidFill>
                <a:latin typeface="Arial"/>
                <a:ea typeface="Arial"/>
                <a:cs typeface="Arial"/>
                <a:sym typeface="Arial"/>
              </a:rPr>
              <a:t>(C), </a:t>
            </a:r>
            <a:r>
              <a:rPr lang="en-US" sz="1800" dirty="0" err="1">
                <a:solidFill>
                  <a:schemeClr val="dk1"/>
                </a:solidFill>
                <a:latin typeface="Arial"/>
                <a:ea typeface="Arial"/>
                <a:cs typeface="Arial"/>
                <a:sym typeface="Arial"/>
              </a:rPr>
              <a:t>Faedah</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tahunan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adalah</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berdasarkan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baki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awal</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tahun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berkenaan</a:t>
            </a:r>
            <a:endParaRPr sz="1800" dirty="0">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1800"/>
              <a:buFont typeface="Noto Sans Symbols"/>
              <a:buChar char="▪"/>
            </a:pPr>
            <a:r>
              <a:rPr lang="en-US" sz="1800" dirty="0" err="1">
                <a:solidFill>
                  <a:schemeClr val="dk1"/>
                </a:solidFill>
              </a:rPr>
              <a:t>Lajur</a:t>
            </a:r>
            <a:r>
              <a:rPr lang="en-US" sz="1800" dirty="0">
                <a:solidFill>
                  <a:schemeClr val="dk1"/>
                </a:solidFill>
                <a:latin typeface="Arial"/>
                <a:ea typeface="Arial"/>
                <a:cs typeface="Arial"/>
                <a:sym typeface="Arial"/>
              </a:rPr>
              <a:t> (D), </a:t>
            </a:r>
            <a:r>
              <a:rPr lang="en-US" sz="1800" dirty="0" err="1">
                <a:solidFill>
                  <a:schemeClr val="dk1"/>
                </a:solidFill>
                <a:latin typeface="Arial"/>
                <a:ea typeface="Arial"/>
                <a:cs typeface="Arial"/>
                <a:sym typeface="Arial"/>
              </a:rPr>
              <a:t>bayaran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balik</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pinjaman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pokok</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prinsipal</a:t>
            </a:r>
            <a:r>
              <a:rPr lang="en-US" sz="1800" dirty="0">
                <a:solidFill>
                  <a:schemeClr val="dk1"/>
                </a:solidFill>
                <a:latin typeface="Arial"/>
                <a:ea typeface="Arial"/>
                <a:cs typeface="Arial"/>
                <a:sym typeface="Arial"/>
              </a:rPr>
              <a:t>) = </a:t>
            </a:r>
            <a:r>
              <a:rPr lang="en-US" sz="1800" dirty="0" err="1">
                <a:solidFill>
                  <a:schemeClr val="dk1"/>
                </a:solidFill>
                <a:latin typeface="Arial"/>
                <a:ea typeface="Arial"/>
                <a:cs typeface="Arial"/>
                <a:sym typeface="Arial"/>
              </a:rPr>
              <a:t>bayaran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ansuran</a:t>
            </a:r>
            <a:r>
              <a:rPr lang="en-US" sz="1800" dirty="0">
                <a:solidFill>
                  <a:schemeClr val="dk1"/>
                </a:solidFill>
                <a:latin typeface="Arial"/>
                <a:ea typeface="Arial"/>
                <a:cs typeface="Arial"/>
                <a:sym typeface="Arial"/>
              </a:rPr>
              <a:t> – </a:t>
            </a:r>
            <a:r>
              <a:rPr lang="en-US" sz="1800" dirty="0" err="1">
                <a:solidFill>
                  <a:schemeClr val="dk1"/>
                </a:solidFill>
                <a:latin typeface="Arial"/>
                <a:ea typeface="Arial"/>
                <a:cs typeface="Arial"/>
                <a:sym typeface="Arial"/>
              </a:rPr>
              <a:t>faedah</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tahunan</a:t>
            </a:r>
            <a:endParaRPr sz="1800" dirty="0">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1800"/>
              <a:buFont typeface="Noto Sans Symbols"/>
              <a:buChar char="▪"/>
            </a:pPr>
            <a:r>
              <a:rPr lang="en-US" sz="1800">
                <a:solidFill>
                  <a:schemeClr val="dk1"/>
                </a:solidFill>
              </a:rPr>
              <a:t>Lajur</a:t>
            </a:r>
            <a:r>
              <a:rPr lang="en-US" sz="1800">
                <a:solidFill>
                  <a:schemeClr val="dk1"/>
                </a:solidFill>
                <a:latin typeface="Arial"/>
                <a:ea typeface="Arial"/>
                <a:cs typeface="Arial"/>
                <a:sym typeface="Arial"/>
              </a:rPr>
              <a:t> </a:t>
            </a:r>
            <a:r>
              <a:rPr lang="en-US" sz="1800" dirty="0">
                <a:solidFill>
                  <a:schemeClr val="dk1"/>
                </a:solidFill>
                <a:latin typeface="Arial"/>
                <a:ea typeface="Arial"/>
                <a:cs typeface="Arial"/>
                <a:sym typeface="Arial"/>
              </a:rPr>
              <a:t>(E), </a:t>
            </a:r>
            <a:r>
              <a:rPr lang="en-US" sz="1800" dirty="0" err="1">
                <a:solidFill>
                  <a:schemeClr val="dk1"/>
                </a:solidFill>
                <a:latin typeface="Arial"/>
                <a:ea typeface="Arial"/>
                <a:cs typeface="Arial"/>
                <a:sym typeface="Arial"/>
              </a:rPr>
              <a:t>baki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akhir</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sesuatu</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tahun</a:t>
            </a:r>
            <a:r>
              <a:rPr lang="en-US" sz="1800" dirty="0">
                <a:solidFill>
                  <a:schemeClr val="dk1"/>
                </a:solidFill>
                <a:latin typeface="Arial"/>
                <a:ea typeface="Arial"/>
                <a:cs typeface="Arial"/>
                <a:sym typeface="Arial"/>
              </a:rPr>
              <a:t> = </a:t>
            </a:r>
            <a:r>
              <a:rPr lang="en-US" sz="1800" dirty="0" err="1">
                <a:solidFill>
                  <a:schemeClr val="dk1"/>
                </a:solidFill>
                <a:latin typeface="Arial"/>
                <a:ea typeface="Arial"/>
                <a:cs typeface="Arial"/>
                <a:sym typeface="Arial"/>
              </a:rPr>
              <a:t>baki</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awal</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tahun</a:t>
            </a:r>
            <a:r>
              <a:rPr lang="en-US" sz="1800" dirty="0">
                <a:solidFill>
                  <a:schemeClr val="dk1"/>
                </a:solidFill>
                <a:latin typeface="Arial"/>
                <a:ea typeface="Arial"/>
                <a:cs typeface="Arial"/>
                <a:sym typeface="Arial"/>
              </a:rPr>
              <a:t> – </a:t>
            </a:r>
            <a:r>
              <a:rPr lang="en-US" sz="1800" dirty="0" err="1">
                <a:solidFill>
                  <a:schemeClr val="dk1"/>
                </a:solidFill>
                <a:latin typeface="Arial"/>
                <a:ea typeface="Arial"/>
                <a:cs typeface="Arial"/>
                <a:sym typeface="Arial"/>
              </a:rPr>
              <a:t>bayaran</a:t>
            </a:r>
            <a:r>
              <a:rPr lang="en-US" sz="1800" dirty="0">
                <a:solidFill>
                  <a:schemeClr val="dk1"/>
                </a:solidFill>
                <a:latin typeface="Arial"/>
                <a:ea typeface="Arial"/>
                <a:cs typeface="Arial"/>
                <a:sym typeface="Arial"/>
              </a:rPr>
              <a:t> </a:t>
            </a:r>
            <a:r>
              <a:rPr lang="en-US" sz="1800" dirty="0" err="1">
                <a:solidFill>
                  <a:schemeClr val="dk1"/>
                </a:solidFill>
                <a:latin typeface="Arial"/>
                <a:ea typeface="Arial"/>
                <a:cs typeface="Arial"/>
                <a:sym typeface="Arial"/>
              </a:rPr>
              <a:t>prinsipal</a:t>
            </a:r>
            <a:endParaRPr sz="1800" dirty="0">
              <a:solidFill>
                <a:schemeClr val="dk1"/>
              </a:solidFill>
              <a:latin typeface="Arial"/>
              <a:ea typeface="Arial"/>
              <a:cs typeface="Arial"/>
              <a:sym typeface="Arial"/>
            </a:endParaRPr>
          </a:p>
        </p:txBody>
      </p:sp>
    </p:spTree>
  </p:cSld>
  <p:clrMapOvr>
    <a:masterClrMapping/>
  </p:clrMapOvr>
  <p:transition>
    <p:fade thruBlk="1"/>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093"/>
        <p:cNvGrpSpPr/>
        <p:nvPr/>
      </p:nvGrpSpPr>
      <p:grpSpPr>
        <a:xfrm>
          <a:off x="0" y="0"/>
          <a:ext cx="0" cy="0"/>
          <a:chOff x="0" y="0"/>
          <a:chExt cx="0" cy="0"/>
        </a:xfrm>
      </p:grpSpPr>
      <p:sp>
        <p:nvSpPr>
          <p:cNvPr id="2094" name="Google Shape;2094;p11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106</a:t>
            </a:fld>
            <a:endParaRPr/>
          </a:p>
        </p:txBody>
      </p:sp>
      <p:sp>
        <p:nvSpPr>
          <p:cNvPr id="2095" name="Google Shape;2095;p118"/>
          <p:cNvSpPr txBox="1"/>
          <p:nvPr/>
        </p:nvSpPr>
        <p:spPr>
          <a:xfrm>
            <a:off x="2261704" y="3276600"/>
            <a:ext cx="5224946" cy="11147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600" b="1">
                <a:solidFill>
                  <a:srgbClr val="FF3300"/>
                </a:solidFill>
                <a:latin typeface="Arial"/>
                <a:ea typeface="Arial"/>
                <a:cs typeface="Arial"/>
                <a:sym typeface="Arial"/>
              </a:rPr>
              <a:t>T</a:t>
            </a:r>
            <a:r>
              <a:rPr lang="en-US" sz="6600" b="1">
                <a:solidFill>
                  <a:schemeClr val="accent2"/>
                </a:solidFill>
                <a:latin typeface="Arial"/>
                <a:ea typeface="Arial"/>
                <a:cs typeface="Arial"/>
                <a:sym typeface="Arial"/>
              </a:rPr>
              <a:t>A</a:t>
            </a:r>
            <a:r>
              <a:rPr lang="en-US" sz="6600" b="1">
                <a:solidFill>
                  <a:srgbClr val="2F5496"/>
                </a:solidFill>
                <a:latin typeface="Arial"/>
                <a:ea typeface="Arial"/>
                <a:cs typeface="Arial"/>
                <a:sym typeface="Arial"/>
              </a:rPr>
              <a:t>M</a:t>
            </a:r>
            <a:r>
              <a:rPr lang="en-US" sz="6600" b="1">
                <a:solidFill>
                  <a:srgbClr val="1E4E79"/>
                </a:solidFill>
                <a:latin typeface="Arial"/>
                <a:ea typeface="Arial"/>
                <a:cs typeface="Arial"/>
                <a:sym typeface="Arial"/>
              </a:rPr>
              <a:t>A</a:t>
            </a:r>
            <a:r>
              <a:rPr lang="en-US" sz="6600" b="1">
                <a:solidFill>
                  <a:srgbClr val="FF3399"/>
                </a:solidFill>
                <a:latin typeface="Arial"/>
                <a:ea typeface="Arial"/>
                <a:cs typeface="Arial"/>
                <a:sym typeface="Arial"/>
              </a:rPr>
              <a:t>T</a:t>
            </a:r>
            <a:endParaRPr/>
          </a:p>
        </p:txBody>
      </p:sp>
    </p:spTree>
  </p:cSld>
  <p:clrMapOvr>
    <a:masterClrMapping/>
  </p:clrMapOvr>
  <p:transition>
    <p:fade thruBlk="1"/>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TotalTime>
  <Words>4969</Words>
  <Application>Microsoft Office PowerPoint</Application>
  <PresentationFormat>全屏显示(4:3)</PresentationFormat>
  <Paragraphs>1378</Paragraphs>
  <Slides>106</Slides>
  <Notes>106</Notes>
  <HiddenSlides>0</HiddenSlides>
  <MMClips>0</MMClips>
  <ScaleCrop>false</ScaleCrop>
  <HeadingPairs>
    <vt:vector size="4" baseType="variant">
      <vt:variant>
        <vt:lpstr>主题</vt:lpstr>
      </vt:variant>
      <vt:variant>
        <vt:i4>1</vt:i4>
      </vt:variant>
      <vt:variant>
        <vt:lpstr>幻灯片标题</vt:lpstr>
      </vt:variant>
      <vt:variant>
        <vt:i4>106</vt:i4>
      </vt:variant>
    </vt:vector>
  </HeadingPairs>
  <TitlesOfParts>
    <vt:vector size="107" baseType="lpstr">
      <vt:lpstr>Retrospect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GARIS MASA BAGI ANUITI</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Contoh </vt:lpstr>
      <vt:lpstr>PowerPoint 演示文稿</vt:lpstr>
      <vt:lpstr>PowerPoint 演示文稿</vt:lpstr>
      <vt:lpstr>Contoh </vt:lpstr>
      <vt:lpstr>PowerPoint 演示文稿</vt:lpstr>
      <vt:lpstr>PowerPoint 演示文稿</vt:lpstr>
      <vt:lpstr>KEPEKAAN NILAI MASA WANG (NILAI DEPAN) TERHADAP PERUBAHAN FAEDAH (i)</vt:lpstr>
      <vt:lpstr>KEPEKAAN NILAI MASA WANG (NILAI KINI) TERHADAP PERUBAHAN FAEDAH (i)</vt:lpstr>
      <vt:lpstr>PowerPoint 演示文稿</vt:lpstr>
      <vt:lpstr>KEPEKAAN NMW (NILAI DEPAN) TERHADAP PERUBAHAN  TEMPOH (n)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Noor Zalina binti Mustafa</dc:creator>
  <cp:lastModifiedBy>SEE ZHI KAI</cp:lastModifiedBy>
  <cp:revision>19</cp:revision>
  <dcterms:modified xsi:type="dcterms:W3CDTF">2022-11-21T22:08:37Z</dcterms:modified>
</cp:coreProperties>
</file>