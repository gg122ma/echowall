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55"/>
  </p:notesMasterIdLst>
  <p:handoutMasterIdLst>
    <p:handoutMasterId r:id="rId5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58000" type="screen4x3"/>
  <p:notesSz cx="9525000" cy="6858000"/>
  <p:embeddedFontLst>
    <p:embeddedFont>
      <p:font typeface="Calibri" panose="020F0502020204030204" pitchFamily="34" charset="0"/>
      <p:regular r:id="rId57"/>
      <p:bold r:id="rId58"/>
      <p:italic r:id="rId59"/>
      <p:boldItalic r:id="rId60"/>
    </p:embeddedFont>
    <p:embeddedFont>
      <p:font typeface="Federo" panose="02000000000000000000"/>
      <p:regular r:id="rId61"/>
    </p:embeddedFont>
    <p:embeddedFont>
      <p:font typeface="Tahoma" panose="020B0604030504040204" pitchFamily="34" charset="0"/>
      <p:regular r:id="rId62"/>
      <p:bold r:id="rId63"/>
    </p:embeddedFont>
    <p:embeddedFont>
      <p:font typeface="Trebuchet MS" panose="020B0603020202020204" pitchFamily="3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27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F49E64-9B18-400D-887F-D7DD6A00DD8E}">
  <a:tblStyle styleId="{95F49E64-9B18-400D-887F-D7DD6A00DD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64" y="108"/>
      </p:cViewPr>
      <p:guideLst>
        <p:guide orient="horz" pos="2137"/>
        <p:guide pos="2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notesMaster" Target="notesMasters/notesMaster1.xml" /><Relationship Id="rId63" Type="http://schemas.openxmlformats.org/officeDocument/2006/relationships/font" Target="fonts/font7.fntdata" /><Relationship Id="rId68" Type="http://schemas.openxmlformats.org/officeDocument/2006/relationships/presProps" Target="presProps.xml" /><Relationship Id="rId7" Type="http://schemas.openxmlformats.org/officeDocument/2006/relationships/slide" Target="slides/slide6.xml" /><Relationship Id="rId71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font" Target="fonts/font2.fntdata" /><Relationship Id="rId66" Type="http://schemas.openxmlformats.org/officeDocument/2006/relationships/font" Target="fonts/font10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font" Target="fonts/font1.fntdata" /><Relationship Id="rId61" Type="http://schemas.openxmlformats.org/officeDocument/2006/relationships/font" Target="fonts/font5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font" Target="fonts/font4.fntdata" /><Relationship Id="rId65" Type="http://schemas.openxmlformats.org/officeDocument/2006/relationships/font" Target="fonts/font9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handoutMaster" Target="handoutMasters/handoutMaster1.xml" /><Relationship Id="rId64" Type="http://schemas.openxmlformats.org/officeDocument/2006/relationships/font" Target="fonts/font8.fntdata" /><Relationship Id="rId69" Type="http://schemas.openxmlformats.org/officeDocument/2006/relationships/viewProps" Target="viewProps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font" Target="fonts/font3.fntdata" /><Relationship Id="rId67" Type="http://schemas.openxmlformats.org/officeDocument/2006/relationships/font" Target="fonts/font11.fntdata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font" Target="fonts/font6.fntdata" /><Relationship Id="rId70" Type="http://schemas.openxmlformats.org/officeDocument/2006/relationships/theme" Target="theme/theme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275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95296" y="1"/>
            <a:ext cx="41275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6C037-2797-4642-B0D8-0CFB29C6931D}" type="datetimeFigureOut">
              <a:rPr lang="en-MY" smtClean="0"/>
              <a:t>22/11/2022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1275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95296" y="6513910"/>
            <a:ext cx="41275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220A1-4B24-4402-8E82-DD3596F3DD5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85212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9525000" cy="6858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4127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5395296" y="0"/>
            <a:ext cx="4127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/>
          <p:nvPr/>
        </p:nvSpPr>
        <p:spPr>
          <a:xfrm>
            <a:off x="0" y="6513910"/>
            <a:ext cx="4127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5395297" y="6513910"/>
            <a:ext cx="4125296" cy="34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5395296" y="6513911"/>
            <a:ext cx="4125295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:notes"/>
          <p:cNvSpPr txBox="1"/>
          <p:nvPr/>
        </p:nvSpPr>
        <p:spPr>
          <a:xfrm>
            <a:off x="5395296" y="6513910"/>
            <a:ext cx="4127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1143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952500" y="3257550"/>
            <a:ext cx="762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92" name="Google Shape;192;p13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55" name="Google Shape;255;p17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1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90" name="Google Shape;290;p21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99" name="Google Shape;299;p22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5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78" name="Google Shape;378;p25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6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85" name="Google Shape;385;p26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7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92" name="Google Shape;392;p27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8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99" name="Google Shape;399;p28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0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14" name="Google Shape;414;p30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1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1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22" name="Google Shape;422;p31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2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2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30" name="Google Shape;430;p32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7" name="Google Shape;43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4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55" name="Google Shape;455;p34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5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62" name="Google Shape;462;p35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6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7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8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9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9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94" name="Google Shape;494;p39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0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0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02" name="Google Shape;502;p40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8" name="Google Shape;50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2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4" name="Google Shape;52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3:notes"/>
          <p:cNvSpPr txBox="1">
            <a:spLocks noGrp="1"/>
          </p:cNvSpPr>
          <p:nvPr>
            <p:ph type="body" idx="1"/>
          </p:nvPr>
        </p:nvSpPr>
        <p:spPr>
          <a:xfrm>
            <a:off x="1378704" y="2375865"/>
            <a:ext cx="11026405" cy="224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1" name="Google Shape;54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:notes"/>
          <p:cNvSpPr txBox="1">
            <a:spLocks noGrp="1"/>
          </p:cNvSpPr>
          <p:nvPr>
            <p:ph type="sldNum" idx="12"/>
          </p:nvPr>
        </p:nvSpPr>
        <p:spPr>
          <a:xfrm>
            <a:off x="5395296" y="6513911"/>
            <a:ext cx="4125295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44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5:notes"/>
          <p:cNvSpPr txBox="1">
            <a:spLocks noGrp="1"/>
          </p:cNvSpPr>
          <p:nvPr>
            <p:ph type="sldNum" idx="12"/>
          </p:nvPr>
        </p:nvSpPr>
        <p:spPr>
          <a:xfrm>
            <a:off x="5395296" y="6513911"/>
            <a:ext cx="4125295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p45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:notes"/>
          <p:cNvSpPr txBox="1">
            <a:spLocks noGrp="1"/>
          </p:cNvSpPr>
          <p:nvPr>
            <p:ph type="sldNum" idx="12"/>
          </p:nvPr>
        </p:nvSpPr>
        <p:spPr>
          <a:xfrm>
            <a:off x="5395296" y="6513911"/>
            <a:ext cx="4125295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p46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:notes"/>
          <p:cNvSpPr txBox="1">
            <a:spLocks noGrp="1"/>
          </p:cNvSpPr>
          <p:nvPr>
            <p:ph type="sldNum" idx="12"/>
          </p:nvPr>
        </p:nvSpPr>
        <p:spPr>
          <a:xfrm>
            <a:off x="5395296" y="6513911"/>
            <a:ext cx="4125295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p47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8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8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91" name="Google Shape;591;p48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9:notes"/>
          <p:cNvSpPr txBox="1"/>
          <p:nvPr/>
        </p:nvSpPr>
        <p:spPr>
          <a:xfrm>
            <a:off x="3" y="4750859"/>
            <a:ext cx="5974364" cy="25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75" tIns="47375" rIns="94775" bIns="47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Kolej Matrikulasi Negeri Sembilan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9:notes"/>
          <p:cNvSpPr txBox="1"/>
          <p:nvPr/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41975" y="374650"/>
            <a:ext cx="250031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99" name="Google Shape;599;p49:notes"/>
          <p:cNvSpPr txBox="1">
            <a:spLocks noGrp="1"/>
          </p:cNvSpPr>
          <p:nvPr>
            <p:ph type="body" idx="1"/>
          </p:nvPr>
        </p:nvSpPr>
        <p:spPr>
          <a:xfrm>
            <a:off x="1378703" y="2376731"/>
            <a:ext cx="11029597" cy="225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0:notes"/>
          <p:cNvSpPr txBox="1">
            <a:spLocks noGrp="1"/>
          </p:cNvSpPr>
          <p:nvPr>
            <p:ph type="sldNum" idx="12"/>
          </p:nvPr>
        </p:nvSpPr>
        <p:spPr>
          <a:xfrm>
            <a:off x="7809443" y="4750858"/>
            <a:ext cx="5971174" cy="24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p50:notes"/>
          <p:cNvSpPr txBox="1"/>
          <p:nvPr/>
        </p:nvSpPr>
        <p:spPr>
          <a:xfrm>
            <a:off x="5395296" y="6622256"/>
            <a:ext cx="4127500" cy="34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9425" y="522288"/>
            <a:ext cx="3486150" cy="2614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7" name="Google Shape;607;p50:notes"/>
          <p:cNvSpPr txBox="1">
            <a:spLocks noGrp="1"/>
          </p:cNvSpPr>
          <p:nvPr>
            <p:ph type="body" idx="1"/>
          </p:nvPr>
        </p:nvSpPr>
        <p:spPr>
          <a:xfrm>
            <a:off x="952500" y="3312320"/>
            <a:ext cx="7620000" cy="313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1:notes"/>
          <p:cNvSpPr txBox="1">
            <a:spLocks noGrp="1"/>
          </p:cNvSpPr>
          <p:nvPr>
            <p:ph type="sldNum" idx="12"/>
          </p:nvPr>
        </p:nvSpPr>
        <p:spPr>
          <a:xfrm>
            <a:off x="5395296" y="6513911"/>
            <a:ext cx="4125295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6" name="Google Shape;656;p51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2:notes"/>
          <p:cNvSpPr txBox="1">
            <a:spLocks noGrp="1"/>
          </p:cNvSpPr>
          <p:nvPr>
            <p:ph type="sldNum" idx="12"/>
          </p:nvPr>
        </p:nvSpPr>
        <p:spPr>
          <a:xfrm>
            <a:off x="5395296" y="6513911"/>
            <a:ext cx="4125295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52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p52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3:notes"/>
          <p:cNvSpPr txBox="1">
            <a:spLocks noGrp="1"/>
          </p:cNvSpPr>
          <p:nvPr>
            <p:ph type="body" idx="1"/>
          </p:nvPr>
        </p:nvSpPr>
        <p:spPr>
          <a:xfrm>
            <a:off x="952501" y="3257550"/>
            <a:ext cx="7617796" cy="30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7413" cy="257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iagram or Organization Chart" type="dgm">
  <p:cSld name="DIAGRAM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>
            <a:spLocks noGrp="1"/>
          </p:cNvSpPr>
          <p:nvPr>
            <p:ph type="pic" idx="2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6" Type="http://schemas.openxmlformats.org/officeDocument/2006/relationships/image" Target="../media/image1.jp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3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5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5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4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4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4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4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4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3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4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4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4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3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3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3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3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3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1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1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1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3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3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 /><Relationship Id="rId1" Type="http://schemas.openxmlformats.org/officeDocument/2006/relationships/slideLayout" Target="../slideLayouts/slideLayout3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 /><Relationship Id="rId1" Type="http://schemas.openxmlformats.org/officeDocument/2006/relationships/slideLayout" Target="../slideLayouts/slideLayout3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 /><Relationship Id="rId1" Type="http://schemas.openxmlformats.org/officeDocument/2006/relationships/slideLayout" Target="../slideLayouts/slideLayout3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 /><Relationship Id="rId1" Type="http://schemas.openxmlformats.org/officeDocument/2006/relationships/slideLayout" Target="../slideLayouts/slideLayout3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 /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 /><Relationship Id="rId1" Type="http://schemas.openxmlformats.org/officeDocument/2006/relationships/slideLayout" Target="../slideLayouts/slideLayout3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 /><Relationship Id="rId1" Type="http://schemas.openxmlformats.org/officeDocument/2006/relationships/slideLayout" Target="../slideLayouts/slideLayout3.xml" 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notesSlide" Target="../notesSlides/notesSlide53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88691" y="2936439"/>
            <a:ext cx="5109092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BAB 2 </a:t>
            </a:r>
            <a:endParaRPr sz="5400" b="1" i="0" u="none" strike="noStrike" cap="none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PENGURUSAN</a:t>
            </a:r>
            <a:endParaRPr sz="5400" b="1" i="0" u="none" strike="noStrike" cap="none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1714500" y="2842260"/>
            <a:ext cx="571500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r>
              <a:rPr lang="en-US" sz="4000" b="1" i="0" u="none" strike="noStrike" cap="none">
                <a:solidFill>
                  <a:srgbClr val="FFFF00"/>
                </a:solidFill>
                <a:latin typeface="Federo"/>
                <a:ea typeface="Federo"/>
                <a:cs typeface="Federo"/>
                <a:sym typeface="Federo"/>
              </a:rPr>
              <a:t>2.3 PENGORGANISASIAN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500187" y="1781810"/>
            <a:ext cx="6550025" cy="2667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381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1757363" y="219075"/>
            <a:ext cx="7225678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Federo"/>
              <a:buNone/>
            </a:pPr>
            <a:r>
              <a:rPr lang="en-US" sz="252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2.3.1	PENGENALAN PENGORGANISASIAN</a:t>
            </a:r>
            <a:br>
              <a:rPr lang="en-US" sz="252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520" b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 </a:t>
            </a:r>
            <a:endParaRPr sz="2520" b="1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271463" y="1259303"/>
            <a:ext cx="8711578" cy="335522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marR="0" lvl="1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	Takrif Pengorganisasian</a:t>
            </a:r>
            <a:b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Proses di mana pengurus </a:t>
            </a:r>
            <a:r>
              <a:rPr lang="en-US" sz="2800" b="1" i="0" u="none" strike="noStrike" cap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menyusun dan mengagihkan sumber-sumber organisasi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 melaksanakan tugas yang telah ditetapkan agar dapat mencapai matlamat organisasi dengan cekap dan berkesan.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285750" y="1259304"/>
            <a:ext cx="8697291" cy="2834232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marR="0" lvl="1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	Takrif Pengorganisasian</a:t>
            </a:r>
            <a:b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Proses di mana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pengurus menentukan apa yang perlu di laksanakan, bagaimana ia dilaksanakan dan siapa yang akan melaksanakannya.</a:t>
            </a:r>
            <a:b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>
            <a:off x="342901" y="271463"/>
            <a:ext cx="8644390" cy="425800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Kepentingan Pengorganisasian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72"/>
              <a:buFont typeface="Noto Sans Symbols"/>
              <a:buAutoNum type="romanLcPeriod"/>
            </a:pPr>
            <a:r>
              <a:rPr lang="en-US" sz="2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Menghasilkan satu susunan tenaga kerja yang sistematik bagi mencapai matlamat organisasi.</a:t>
            </a:r>
            <a:endParaRPr/>
          </a:p>
          <a:p>
            <a:pPr marL="571500" marR="0" lvl="0" indent="-571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72"/>
              <a:buFont typeface="Noto Sans Symbols"/>
              <a:buAutoNum type="romanLcPeriod"/>
            </a:pPr>
            <a: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Memastikan pengagihan sumber di antara jabatan dapat dilakukan dengan saksama.</a:t>
            </a:r>
            <a:endParaRPr sz="2800"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72"/>
              <a:buFont typeface="Noto Sans Symbols"/>
              <a:buAutoNum type="romanLcPeriod"/>
            </a:pPr>
            <a:r>
              <a:rPr lang="en-US" sz="280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Mengawal tingkah laku pekerja melalui prosedur dan sistem yang telah ditetapkan</a:t>
            </a:r>
            <a:r>
              <a:rPr lang="en-US" sz="2800" b="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/>
        </p:nvSpPr>
        <p:spPr>
          <a:xfrm>
            <a:off x="1477926" y="0"/>
            <a:ext cx="7187882" cy="564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2.3.2 Konsep Pengorganisasian</a:t>
            </a: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329609" y="910266"/>
            <a:ext cx="8208335" cy="4023242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38225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AutoNum type="romanLcPeriod"/>
            </a:pPr>
            <a:r>
              <a:rPr lang="en-US" sz="2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Pengkhususan Kerja</a:t>
            </a:r>
            <a:endParaRPr sz="28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38225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AutoNum type="romanLcPeriod"/>
            </a:pPr>
            <a:r>
              <a:rPr lang="en-US" sz="2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Penjabatanan</a:t>
            </a:r>
            <a:endParaRPr sz="28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38225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AutoNum type="romanLcPeriod"/>
            </a:pPr>
            <a:r>
              <a:rPr lang="en-US" sz="2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Rantaian Arahan (Autoriti dan Kesatuan    Arahan</a:t>
            </a:r>
            <a:endParaRPr sz="28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38225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AutoNum type="romanLcPeriod"/>
            </a:pPr>
            <a:r>
              <a:rPr lang="en-US" sz="2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Jangkauan Kawalan (Luas dan Sempit)</a:t>
            </a:r>
            <a:endParaRPr sz="28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38225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AutoNum type="romanLcPeriod"/>
            </a:pPr>
            <a:r>
              <a:rPr lang="en-US" sz="2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Delegasi autoriti / tugas  (Pemusatan dan Pemencaran)</a:t>
            </a:r>
            <a:endParaRPr sz="28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38225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AutoNum type="romanLcPeriod"/>
            </a:pPr>
            <a:r>
              <a:rPr lang="en-US" sz="2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Keformalan</a:t>
            </a:r>
            <a:endParaRPr sz="28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400050" y="385763"/>
            <a:ext cx="8543925" cy="474976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2800" b="1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i. 	Pengkhususan Kerja</a:t>
            </a:r>
            <a:endParaRPr sz="2800" b="1" i="0" u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▶"/>
            </a:pPr>
            <a:r>
              <a:rPr lang="en-US" sz="2800" b="1" i="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Pembahagian sesuatu aktiviti kerja/tugas kepada komponen-komponen yang khusus.  </a:t>
            </a: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Pekerja hanya menumpukan dalam melakukan sejenis pekerjaan atau aktiviti tertentu mengikut kemahiran seseorang pekerja.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▶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Contoh: </a:t>
            </a:r>
            <a:r>
              <a:rPr lang="en-US" sz="2800" b="1" i="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Restoran McDonald’s mengamalkan pengkhususan kerja dalam kalangan pekerja McD untuk perkhidmatan penyediaan makanan segera.</a:t>
            </a:r>
            <a:endParaRPr sz="2800" b="1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571500" y="22955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t="-5666" b="-11724"/>
          <a:stretch/>
        </p:blipFill>
        <p:spPr>
          <a:xfrm>
            <a:off x="571500" y="1377766"/>
            <a:ext cx="8221437" cy="463102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1119078" y="268011"/>
            <a:ext cx="7364186" cy="7642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Rajah  Pengkhususan Kerja Dalam Kalangan Pekerja Restoran McDonald's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685800" y="1012825"/>
            <a:ext cx="8086725" cy="435661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2800" b="1" i="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Kebaikan pengkhususan kerja</a:t>
            </a:r>
            <a:endParaRPr sz="2800" b="1" i="0" u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Dapat meningkatkan kemahiran pekerja dan kebolehan dalam melakukan sesuatu kerja.</a:t>
            </a:r>
            <a:endParaRPr sz="2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Dapat meningkatkan produktiviti.</a:t>
            </a:r>
            <a:endParaRPr sz="2800">
              <a:solidFill>
                <a:srgbClr val="9933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Kerja dapat disiapkan dengan lebih cepat dan menjimatkan masa.</a:t>
            </a:r>
            <a:endParaRPr sz="28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Menjimatkan kos latihan.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Penggunaan sumber-sumber dengan lebih efisien.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9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85140" marR="0" lvl="0" indent="-2006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/>
        </p:nvSpPr>
        <p:spPr>
          <a:xfrm>
            <a:off x="385763" y="314326"/>
            <a:ext cx="8470264" cy="522523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Kelemahan pengkhususan kerja:</a:t>
            </a:r>
            <a:endParaRPr sz="2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2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Kurang kreativiti di mana kerja yang sama sahaja yang dilakukan dan tiada pembaharuan.</a:t>
            </a:r>
            <a:endParaRPr sz="2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2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Pekerja cepat rasa bosan dan malas.</a:t>
            </a:r>
            <a:endParaRPr sz="2800" b="0" i="0" u="none" strike="noStrike" cap="none">
              <a:solidFill>
                <a:srgbClr val="9933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2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Tidak dapat menguasai bidang baru.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2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Tidak berpeluang menunjukkan bakat baru.</a:t>
            </a:r>
            <a:endParaRPr sz="2800" b="0" i="0" u="none" strike="noStrike" cap="non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2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Produktiviti menurun kerana konsentrasi menurun.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2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Menaikkan kos latihan sekiranya ada sebarang perubahan kepada gaya kerja yang dilakukan.</a:t>
            </a:r>
            <a:endParaRPr sz="2800" b="0" i="0" u="none" strike="noStrike" cap="none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9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944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/>
        </p:nvSpPr>
        <p:spPr>
          <a:xfrm>
            <a:off x="528638" y="918423"/>
            <a:ext cx="8058150" cy="4716834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Menyusun sumber-sumbernya dengan cara yang efisien dan berkesan.  Aktiviti-aktiviti yang sama diletakkan di bawah satu unit, bahagian atau kumpulan.</a:t>
            </a:r>
            <a:endParaRPr sz="2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Proses mengumpul dan menyatukan semua kegiatan yang sama dengan cara yang sesuai dan praktikal di panggil penjabatanan.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Biasanya setiap organisasi akan membentuk penjabatanan bergantung kepada aktiviti utama organisasi tersebut.  Untuk tujuan ini, carta organisasi digunakan untuk menjelaskan bagaimana tugas diagih, dikelompok dan ditempatkan.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1714500" y="231961"/>
            <a:ext cx="4686300" cy="6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ii. Penjabatanan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/>
        </p:nvSpPr>
        <p:spPr>
          <a:xfrm>
            <a:off x="-76200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6" name="Google Shape;186;p27"/>
          <p:cNvPicPr preferRelativeResize="0"/>
          <p:nvPr/>
        </p:nvPicPr>
        <p:blipFill rotWithShape="1">
          <a:blip r:embed="rId3">
            <a:alphaModFix/>
          </a:blip>
          <a:srcRect t="-6172" b="-6043"/>
          <a:stretch/>
        </p:blipFill>
        <p:spPr>
          <a:xfrm>
            <a:off x="528638" y="457200"/>
            <a:ext cx="8353424" cy="3605212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928688" y="4408805"/>
            <a:ext cx="7754937" cy="107759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Rajah Penjabatanan ditunjukkan oleh kotak segi empat di mana tugas dikelompok ikut fungsian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>
            <a:spLocks noGrp="1"/>
          </p:cNvSpPr>
          <p:nvPr>
            <p:ph type="body" idx="1"/>
          </p:nvPr>
        </p:nvSpPr>
        <p:spPr>
          <a:xfrm>
            <a:off x="477048" y="1119822"/>
            <a:ext cx="7874472" cy="420401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▪"/>
            </a:pP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Garisan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autoriti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menunjukkan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hubungan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langsung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antara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ketua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diatas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bahagian</a:t>
            </a: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paling </a:t>
            </a:r>
            <a:r>
              <a:rPr lang="en-US" sz="2800" b="0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bawah</a:t>
            </a:r>
            <a:r>
              <a:rPr lang="en-US" sz="2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menggambarkan</a:t>
            </a:r>
            <a:r>
              <a:rPr lang="en-US" sz="2800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siapa</a:t>
            </a:r>
            <a:r>
              <a:rPr lang="en-US" sz="2800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melapor</a:t>
            </a:r>
            <a:r>
              <a:rPr lang="en-US" sz="2800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kepada</a:t>
            </a:r>
            <a:r>
              <a:rPr lang="en-US" sz="2800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siapa</a:t>
            </a:r>
            <a:r>
              <a:rPr lang="en-US" sz="2800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dirty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▪"/>
            </a:pPr>
            <a:r>
              <a:rPr lang="en-US" sz="2800" b="0" i="0" u="none" dirty="0" err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Rantaian</a:t>
            </a:r>
            <a:r>
              <a:rPr lang="en-US" sz="2800" b="0" i="0" u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arahan</a:t>
            </a:r>
            <a:r>
              <a:rPr lang="en-US" sz="2800" b="0" i="0" u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menunjukkan</a:t>
            </a:r>
            <a:r>
              <a:rPr lang="en-US" sz="2800" b="0" i="0" u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800" b="0" i="0" u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pelaporan</a:t>
            </a:r>
            <a:r>
              <a:rPr lang="en-US" sz="2800" b="0" i="0" u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2800" b="0" i="0" u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sesebuah</a:t>
            </a:r>
            <a:r>
              <a:rPr lang="en-US" sz="2800" b="0" i="0" u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organisasi</a:t>
            </a:r>
            <a:r>
              <a:rPr lang="en-US" sz="2800" b="0" i="0" u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dirty="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▪"/>
            </a:pP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Arahan</a:t>
            </a:r>
            <a:r>
              <a:rPr lang="en-US" sz="28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bergerak</a:t>
            </a:r>
            <a:r>
              <a:rPr lang="en-US" sz="28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daripada</a:t>
            </a:r>
            <a:r>
              <a:rPr lang="en-US" sz="28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atas</a:t>
            </a:r>
            <a:r>
              <a:rPr lang="en-US" sz="28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28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bawah</a:t>
            </a:r>
            <a:r>
              <a:rPr lang="en-US" sz="28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sepanjang</a:t>
            </a:r>
            <a:r>
              <a:rPr lang="en-US" sz="28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rantaian</a:t>
            </a:r>
            <a:r>
              <a:rPr lang="en-US" sz="28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arahan</a:t>
            </a:r>
            <a:r>
              <a:rPr lang="en-US" sz="2800" b="0" i="0" u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0" u="none" dirty="0" err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manakala</a:t>
            </a:r>
            <a:r>
              <a:rPr lang="en-US" sz="2800" b="0" i="0" u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8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akauntabiliti</a:t>
            </a:r>
            <a:r>
              <a:rPr lang="en-US" sz="28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bergerak</a:t>
            </a:r>
            <a:r>
              <a:rPr lang="en-US" sz="28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daripada</a:t>
            </a:r>
            <a:r>
              <a:rPr lang="en-US" sz="28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bawah</a:t>
            </a:r>
            <a:r>
              <a:rPr lang="en-US" sz="28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28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atas</a:t>
            </a:r>
            <a:r>
              <a:rPr lang="en-US" sz="28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8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3114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endParaRPr sz="2800" b="0" i="0" u="none" dirty="0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2311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endParaRPr sz="2800" b="0" i="0" u="none" dirty="0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2376487" y="285338"/>
            <a:ext cx="547243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edero"/>
              <a:buNone/>
            </a:pPr>
            <a:b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</a:b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iii. Rantaian Arahan</a:t>
            </a:r>
            <a:br>
              <a:rPr lang="en-US" sz="44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</a:br>
            <a:endParaRPr sz="44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201" name="Google Shape;201;p29"/>
          <p:cNvGrpSpPr/>
          <p:nvPr/>
        </p:nvGrpSpPr>
        <p:grpSpPr>
          <a:xfrm>
            <a:off x="2121821" y="436881"/>
            <a:ext cx="2937859" cy="5262880"/>
            <a:chOff x="2203101" y="412751"/>
            <a:chExt cx="3178516" cy="6111875"/>
          </a:xfrm>
        </p:grpSpPr>
        <p:sp>
          <p:nvSpPr>
            <p:cNvPr id="202" name="Google Shape;202;p29"/>
            <p:cNvSpPr txBox="1"/>
            <p:nvPr/>
          </p:nvSpPr>
          <p:spPr>
            <a:xfrm>
              <a:off x="2285993" y="412751"/>
              <a:ext cx="3081336" cy="89535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Pengarah Urusan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9"/>
            <p:cNvSpPr txBox="1"/>
            <p:nvPr/>
          </p:nvSpPr>
          <p:spPr>
            <a:xfrm>
              <a:off x="2300281" y="1725611"/>
              <a:ext cx="3081336" cy="808040"/>
            </a:xfrm>
            <a:prstGeom prst="rect">
              <a:avLst/>
            </a:prstGeom>
            <a:solidFill>
              <a:srgbClr val="548135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Pengarah Bahagian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9"/>
            <p:cNvSpPr txBox="1"/>
            <p:nvPr/>
          </p:nvSpPr>
          <p:spPr>
            <a:xfrm>
              <a:off x="2203101" y="2951167"/>
              <a:ext cx="3081336" cy="89535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Pengurus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9"/>
            <p:cNvSpPr txBox="1"/>
            <p:nvPr/>
          </p:nvSpPr>
          <p:spPr>
            <a:xfrm>
              <a:off x="2241202" y="4294191"/>
              <a:ext cx="3081336" cy="895350"/>
            </a:xfrm>
            <a:prstGeom prst="rect">
              <a:avLst/>
            </a:prstGeom>
            <a:solidFill>
              <a:srgbClr val="990033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Penyelia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9"/>
            <p:cNvSpPr txBox="1"/>
            <p:nvPr/>
          </p:nvSpPr>
          <p:spPr>
            <a:xfrm>
              <a:off x="2300281" y="5629276"/>
              <a:ext cx="3081336" cy="895350"/>
            </a:xfrm>
            <a:prstGeom prst="rect">
              <a:avLst/>
            </a:prstGeom>
            <a:solidFill>
              <a:srgbClr val="548135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Pekerja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9"/>
            <p:cNvSpPr/>
            <p:nvPr/>
          </p:nvSpPr>
          <p:spPr>
            <a:xfrm>
              <a:off x="3678810" y="1325563"/>
              <a:ext cx="271883" cy="400048"/>
            </a:xfrm>
            <a:prstGeom prst="downArrow">
              <a:avLst>
                <a:gd name="adj1" fmla="val 13500"/>
                <a:gd name="adj2" fmla="val 50000"/>
              </a:avLst>
            </a:prstGeom>
            <a:solidFill>
              <a:schemeClr val="accent1"/>
            </a:solidFill>
            <a:ln w="19050" cap="rnd" cmpd="sng">
              <a:solidFill>
                <a:srgbClr val="688E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9"/>
            <p:cNvSpPr/>
            <p:nvPr/>
          </p:nvSpPr>
          <p:spPr>
            <a:xfrm>
              <a:off x="3673207" y="5243512"/>
              <a:ext cx="217327" cy="385763"/>
            </a:xfrm>
            <a:prstGeom prst="downArrow">
              <a:avLst>
                <a:gd name="adj1" fmla="val 13500"/>
                <a:gd name="adj2" fmla="val 50000"/>
              </a:avLst>
            </a:prstGeom>
            <a:solidFill>
              <a:schemeClr val="accent1"/>
            </a:solidFill>
            <a:ln w="19050" cap="rnd" cmpd="sng">
              <a:solidFill>
                <a:srgbClr val="688E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3650235" y="3894143"/>
              <a:ext cx="280988" cy="365125"/>
            </a:xfrm>
            <a:prstGeom prst="downArrow">
              <a:avLst>
                <a:gd name="adj1" fmla="val 13500"/>
                <a:gd name="adj2" fmla="val 50000"/>
              </a:avLst>
            </a:prstGeom>
            <a:solidFill>
              <a:schemeClr val="accent1"/>
            </a:solidFill>
            <a:ln w="19050" cap="rnd" cmpd="sng">
              <a:solidFill>
                <a:srgbClr val="688E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3621237" y="2576516"/>
              <a:ext cx="309985" cy="365125"/>
            </a:xfrm>
            <a:prstGeom prst="downArrow">
              <a:avLst>
                <a:gd name="adj1" fmla="val 13500"/>
                <a:gd name="adj2" fmla="val 50000"/>
              </a:avLst>
            </a:prstGeom>
            <a:solidFill>
              <a:schemeClr val="accent1"/>
            </a:solidFill>
            <a:ln w="19050" cap="rnd" cmpd="sng">
              <a:solidFill>
                <a:srgbClr val="688E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>
            <a:spLocks noGrp="1"/>
          </p:cNvSpPr>
          <p:nvPr>
            <p:ph type="body" idx="4294967295"/>
          </p:nvPr>
        </p:nvSpPr>
        <p:spPr>
          <a:xfrm>
            <a:off x="264160" y="855981"/>
            <a:ext cx="8694103" cy="493522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4155" lvl="0" indent="-2241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Autoriti ialah hak untuk membuat keputusan dan mengambil tindakan untuk menjalankan sesuatu kerja. </a:t>
            </a: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None/>
            </a:pP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4155" lvl="0" indent="-2241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400" b="0" i="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Semua pengurus mempunyai autoriti tetapi darjah autoriti yang dimiliki itu adalah berbeza berasaskan peringkat pengurusan di mana mereka berada.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None/>
            </a:pPr>
            <a:endParaRPr sz="2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4155" lvl="0" indent="-2241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Autoriti bukan sahaja membolehkan pengurus membuat keputusan dan mengambil tindakan ke atas keputusannya tetapi juga membolehkan pengurus mengarah dan menurunkan kuasanya kepada staf di bawahnya.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None/>
            </a:pPr>
            <a:endParaRPr sz="2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None/>
            </a:pPr>
            <a:r>
              <a:rPr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Terdapat 2 jenis autoriti iaitu: </a:t>
            </a:r>
            <a:endParaRPr sz="2400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63345" lvl="2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Font typeface="Noto Sans Symbols"/>
              <a:buChar char="➢"/>
            </a:pPr>
            <a:r>
              <a:rPr lang="en-US" sz="210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Autoriti Lini</a:t>
            </a:r>
            <a:endParaRPr sz="2100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63345" lvl="2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Font typeface="Noto Sans Symbols"/>
              <a:buChar char="➢"/>
            </a:pPr>
            <a:r>
              <a:rPr lang="en-US" sz="210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Autoriti Staf</a:t>
            </a:r>
            <a:endParaRPr sz="2100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2921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endParaRPr/>
          </a:p>
        </p:txBody>
      </p:sp>
      <p:sp>
        <p:nvSpPr>
          <p:cNvPr id="216" name="Google Shape;216;p30"/>
          <p:cNvSpPr/>
          <p:nvPr/>
        </p:nvSpPr>
        <p:spPr>
          <a:xfrm>
            <a:off x="1994852" y="141605"/>
            <a:ext cx="61150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edero"/>
              <a:buNone/>
            </a:pPr>
            <a:b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</a:b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a. Autoriti</a:t>
            </a:r>
            <a:br>
              <a:rPr lang="en-US" sz="44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</a:br>
            <a:endParaRPr sz="44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/>
        </p:nvSpPr>
        <p:spPr>
          <a:xfrm>
            <a:off x="1208725" y="943120"/>
            <a:ext cx="6726550" cy="497175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Autoriti Staf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______  Autoriti Lini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3825223" y="2336989"/>
            <a:ext cx="1362075" cy="407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PENGARAH</a:t>
            </a: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EKSEKUTIF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5375893" y="2894836"/>
            <a:ext cx="1539875" cy="5349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EKSEKUTIF PERUNDANGAN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3417235" y="3878451"/>
            <a:ext cx="1311275" cy="4270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PENGARAH </a:t>
            </a: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4928536" y="3878451"/>
            <a:ext cx="1276350" cy="5540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PENGARAH</a:t>
            </a: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SUMBER MANUSIA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2075798" y="3878451"/>
            <a:ext cx="1103312" cy="4270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PENGARAH</a:t>
            </a: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PEMASARAN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6449360" y="3878451"/>
            <a:ext cx="1211262" cy="4937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PENGARAH AKAUN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2850498" y="4721414"/>
            <a:ext cx="1162050" cy="4175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UNIT 1</a:t>
            </a: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5752448" y="4721414"/>
            <a:ext cx="1133475" cy="4175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UNIT 2</a:t>
            </a: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1867835" y="5488177"/>
            <a:ext cx="1370012" cy="2476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SUMBER MANUSIA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3298173" y="5488176"/>
            <a:ext cx="774700" cy="2476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4341160" y="5488176"/>
            <a:ext cx="765175" cy="2476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AKAUN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5434948" y="5488176"/>
            <a:ext cx="1014412" cy="2476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PEMASARAN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31"/>
          <p:cNvCxnSpPr/>
          <p:nvPr/>
        </p:nvCxnSpPr>
        <p:spPr>
          <a:xfrm>
            <a:off x="4341160" y="2744976"/>
            <a:ext cx="0" cy="11318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5" name="Google Shape;235;p31"/>
          <p:cNvCxnSpPr/>
          <p:nvPr/>
        </p:nvCxnSpPr>
        <p:spPr>
          <a:xfrm>
            <a:off x="4341160" y="4305489"/>
            <a:ext cx="0" cy="23812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6" name="Google Shape;236;p31"/>
          <p:cNvCxnSpPr/>
          <p:nvPr/>
        </p:nvCxnSpPr>
        <p:spPr>
          <a:xfrm>
            <a:off x="3496610" y="4543614"/>
            <a:ext cx="289242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7" name="Google Shape;237;p31"/>
          <p:cNvCxnSpPr/>
          <p:nvPr/>
        </p:nvCxnSpPr>
        <p:spPr>
          <a:xfrm>
            <a:off x="4341160" y="3162489"/>
            <a:ext cx="109378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238" name="Google Shape;238;p31"/>
          <p:cNvCxnSpPr/>
          <p:nvPr/>
        </p:nvCxnSpPr>
        <p:spPr>
          <a:xfrm>
            <a:off x="2640948" y="3599051"/>
            <a:ext cx="427355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2642535" y="3599051"/>
            <a:ext cx="0" cy="2778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0" name="Google Shape;240;p31"/>
          <p:cNvCxnSpPr/>
          <p:nvPr/>
        </p:nvCxnSpPr>
        <p:spPr>
          <a:xfrm>
            <a:off x="5574648" y="3599051"/>
            <a:ext cx="0" cy="2778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1" name="Google Shape;241;p31"/>
          <p:cNvCxnSpPr/>
          <p:nvPr/>
        </p:nvCxnSpPr>
        <p:spPr>
          <a:xfrm>
            <a:off x="6916085" y="3599051"/>
            <a:ext cx="0" cy="2778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2" name="Google Shape;242;p31"/>
          <p:cNvCxnSpPr/>
          <p:nvPr/>
        </p:nvCxnSpPr>
        <p:spPr>
          <a:xfrm>
            <a:off x="3496610" y="4543614"/>
            <a:ext cx="0" cy="1793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3" name="Google Shape;243;p31"/>
          <p:cNvCxnSpPr/>
          <p:nvPr/>
        </p:nvCxnSpPr>
        <p:spPr>
          <a:xfrm>
            <a:off x="3496610" y="5140514"/>
            <a:ext cx="0" cy="3476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4" name="Google Shape;244;p31"/>
          <p:cNvCxnSpPr/>
          <p:nvPr/>
        </p:nvCxnSpPr>
        <p:spPr>
          <a:xfrm>
            <a:off x="6389035" y="4543614"/>
            <a:ext cx="0" cy="1793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5" name="Google Shape;245;p31"/>
          <p:cNvCxnSpPr/>
          <p:nvPr/>
        </p:nvCxnSpPr>
        <p:spPr>
          <a:xfrm>
            <a:off x="2472673" y="5280214"/>
            <a:ext cx="3519487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6" name="Google Shape;246;p31"/>
          <p:cNvCxnSpPr/>
          <p:nvPr/>
        </p:nvCxnSpPr>
        <p:spPr>
          <a:xfrm>
            <a:off x="2472673" y="5280214"/>
            <a:ext cx="0" cy="2079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7" name="Google Shape;247;p31"/>
          <p:cNvCxnSpPr/>
          <p:nvPr/>
        </p:nvCxnSpPr>
        <p:spPr>
          <a:xfrm>
            <a:off x="5990573" y="5280214"/>
            <a:ext cx="0" cy="2079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8" name="Google Shape;248;p31"/>
          <p:cNvCxnSpPr/>
          <p:nvPr/>
        </p:nvCxnSpPr>
        <p:spPr>
          <a:xfrm>
            <a:off x="4728510" y="5280214"/>
            <a:ext cx="0" cy="2079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9" name="Google Shape;249;p31"/>
          <p:cNvSpPr txBox="1"/>
          <p:nvPr/>
        </p:nvSpPr>
        <p:spPr>
          <a:xfrm>
            <a:off x="1550987" y="77152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2247247" y="-218040"/>
            <a:ext cx="4518025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ahoma"/>
              <a:buNone/>
            </a:pPr>
            <a:endParaRPr sz="2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Rajah Autoriti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/>
        </p:nvSpPr>
        <p:spPr>
          <a:xfrm>
            <a:off x="5579745" y="1524000"/>
            <a:ext cx="32766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1"/>
          </p:nvPr>
        </p:nvSpPr>
        <p:spPr>
          <a:xfrm>
            <a:off x="714376" y="218122"/>
            <a:ext cx="8284844" cy="491267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marR="0" lvl="0" indent="-660400" algn="l" rtl="0">
              <a:lnSpc>
                <a:spcPct val="6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i.Autoriti Lini</a:t>
            </a: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2800" b="1" i="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Hak yang dimiliki oleh pengurus untuk mengarah dan mengawal aktiviti staf bawahannya untuk mencapai objektif organisasi.</a:t>
            </a:r>
            <a:endParaRPr sz="2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Autoriti lini mengalir ke bawah organisasi melalui rantaian arahan utama.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Autoriti lini berkait rapat dengan objektif dan proses organisasi.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9580" marR="0" lvl="0" indent="-2362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64" name="Google Shape;264;p33"/>
          <p:cNvSpPr txBox="1"/>
          <p:nvPr/>
        </p:nvSpPr>
        <p:spPr>
          <a:xfrm>
            <a:off x="514350" y="218122"/>
            <a:ext cx="8484870" cy="432339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marR="0" lvl="0" indent="-660400" algn="l" rtl="0">
              <a:lnSpc>
                <a:spcPct val="6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i. Autoriti Lini</a:t>
            </a:r>
            <a:endParaRPr sz="2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lini bertanggungjawab secara langsung dalam melaksanakan tugas bagi pencapaian matlamat organisasi.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Contoh: </a:t>
            </a:r>
            <a:r>
              <a:rPr lang="en-US" sz="2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Pengurus Pemasaran mengarahkan pasukan pemasaran untuk menjalankan penyelidikan pemasaran berkaitan tren pakaian remaja masa kini.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9580" marR="0" lvl="0" indent="-2362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>
            <a:spLocks noGrp="1"/>
          </p:cNvSpPr>
          <p:nvPr>
            <p:ph type="body" idx="1"/>
          </p:nvPr>
        </p:nvSpPr>
        <p:spPr>
          <a:xfrm>
            <a:off x="193039" y="214313"/>
            <a:ext cx="8675371" cy="561752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marR="0" lvl="0" indent="-6604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Autoriti Staf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60400" marR="0" lvl="0" indent="-6604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lvl="0" indent="-466725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560"/>
              <a:buChar char="▶"/>
            </a:pPr>
            <a:r>
              <a:rPr lang="en-US" sz="2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Pengurus yang dilantik hanya sebagai sokongan kepada fungsi lini dan tidak diberikan kuasa untuk mengarah orang lain melalui rantaian arahan. </a:t>
            </a:r>
            <a:endParaRPr sz="2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lvl="0" indent="-466725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560"/>
              <a:buChar char="▶"/>
            </a:pPr>
            <a:r>
              <a:rPr lang="en-US" sz="2800" b="0" i="0" u="none" strike="noStrike" cap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Bertindak memberikan sokongan kepada fungsi lini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dengan memberikan nasihat, cadangan, membuat penyelidikan, menyediakan perkhidmatan pakar dan perkhidmatan khusus.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lvl="0" indent="-466725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560"/>
              <a:buChar char="▶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Contoh: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Eksekutif Perundangan hanya boleh memberikan nasihat kepada Pengurus Sumber Manusia tentang tindakan untuk pemecatan pekerja berkaitan salah laku mengikut Undang-undang Buruh.</a:t>
            </a:r>
            <a:b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body" idx="1"/>
          </p:nvPr>
        </p:nvSpPr>
        <p:spPr>
          <a:xfrm>
            <a:off x="441008" y="770317"/>
            <a:ext cx="8530267" cy="263328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2800" b="0" i="0" u="non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Satu prinsip dimana setiap pekerja di dalam sesebuah organisasi hanya melapor kepada seorang ketua sahaja.</a:t>
            </a:r>
            <a:endParaRPr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▶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Setiap pekerja hanya ada seorang ketua sahaja.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77" name="Google Shape;277;p35"/>
          <p:cNvGrpSpPr/>
          <p:nvPr/>
        </p:nvGrpSpPr>
        <p:grpSpPr>
          <a:xfrm>
            <a:off x="1195380" y="3559207"/>
            <a:ext cx="4942597" cy="1982442"/>
            <a:chOff x="0" y="125652176"/>
            <a:chExt cx="2147483646" cy="2021831470"/>
          </a:xfrm>
        </p:grpSpPr>
        <p:cxnSp>
          <p:nvCxnSpPr>
            <p:cNvPr id="278" name="Google Shape;278;p35"/>
            <p:cNvCxnSpPr/>
            <p:nvPr/>
          </p:nvCxnSpPr>
          <p:spPr>
            <a:xfrm>
              <a:off x="480829126" y="1307163870"/>
              <a:ext cx="1064692216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9" name="Google Shape;279;p35"/>
            <p:cNvCxnSpPr/>
            <p:nvPr/>
          </p:nvCxnSpPr>
          <p:spPr>
            <a:xfrm>
              <a:off x="1030347715" y="840319480"/>
              <a:ext cx="0" cy="46684431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0" name="Google Shape;280;p35"/>
            <p:cNvCxnSpPr/>
            <p:nvPr/>
          </p:nvCxnSpPr>
          <p:spPr>
            <a:xfrm>
              <a:off x="1545521427" y="1307163870"/>
              <a:ext cx="0" cy="28010659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1" name="Google Shape;281;p35"/>
            <p:cNvCxnSpPr/>
            <p:nvPr/>
          </p:nvCxnSpPr>
          <p:spPr>
            <a:xfrm>
              <a:off x="480829126" y="1307163870"/>
              <a:ext cx="0" cy="28010659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2" name="Google Shape;282;p35"/>
            <p:cNvSpPr txBox="1"/>
            <p:nvPr/>
          </p:nvSpPr>
          <p:spPr>
            <a:xfrm>
              <a:off x="583863384" y="125652176"/>
              <a:ext cx="835631728" cy="808036303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Pengurus</a:t>
              </a:r>
              <a:r>
                <a:rPr lang="en-US" sz="2000" b="0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Kewangan</a:t>
              </a:r>
              <a:endParaRPr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5"/>
            <p:cNvSpPr txBox="1"/>
            <p:nvPr/>
          </p:nvSpPr>
          <p:spPr>
            <a:xfrm>
              <a:off x="1133418007" y="1587270463"/>
              <a:ext cx="1014065639" cy="560213091"/>
            </a:xfrm>
            <a:prstGeom prst="rect">
              <a:avLst/>
            </a:prstGeom>
            <a:solidFill>
              <a:srgbClr val="A8D08C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Pegawai Akaun 2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5"/>
            <p:cNvSpPr txBox="1"/>
            <p:nvPr/>
          </p:nvSpPr>
          <p:spPr>
            <a:xfrm>
              <a:off x="0" y="1587270463"/>
              <a:ext cx="974146417" cy="560213183"/>
            </a:xfrm>
            <a:prstGeom prst="rect">
              <a:avLst/>
            </a:prstGeom>
            <a:solidFill>
              <a:srgbClr val="FEE59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Pegawai Akaun 1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35"/>
          <p:cNvSpPr txBox="1"/>
          <p:nvPr/>
        </p:nvSpPr>
        <p:spPr>
          <a:xfrm>
            <a:off x="1887004" y="109246"/>
            <a:ext cx="4515168" cy="6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b. Kesatuan Arahan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/>
        </p:nvSpPr>
        <p:spPr>
          <a:xfrm>
            <a:off x="1407953" y="408543"/>
            <a:ext cx="7349173" cy="6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2.3.2 Pengenalan Pengorganisasian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93" name="Google Shape;293;p36"/>
          <p:cNvSpPr txBox="1">
            <a:spLocks noGrp="1"/>
          </p:cNvSpPr>
          <p:nvPr>
            <p:ph type="body" idx="1"/>
          </p:nvPr>
        </p:nvSpPr>
        <p:spPr>
          <a:xfrm>
            <a:off x="479187" y="1834277"/>
            <a:ext cx="8185626" cy="285964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lvl="0" indent="-466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Char char="▶"/>
            </a:pPr>
            <a:r>
              <a:rPr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Merujuk kepada</a:t>
            </a:r>
            <a:r>
              <a:rPr lang="en-US" sz="280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bilangan staf bawahan yang melapor terus kepada seorang ketua/pengurus</a:t>
            </a:r>
            <a:endParaRPr sz="2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80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Jangkauan kawalan memberi kesan kepada keberkesanan interaksi antara pengurus dan staf bawah serta kepada keberkesanan penyeliaan staf bawah oleh pengurus/penyelia.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2209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1810068" y="1095004"/>
            <a:ext cx="6544945" cy="68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iv. Jangkauan Kawalan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/>
        </p:nvSpPr>
        <p:spPr>
          <a:xfrm>
            <a:off x="1657350" y="418662"/>
            <a:ext cx="7338650" cy="6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2.3.2 Pengenalan Pengorganisasian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02" name="Google Shape;302;p37"/>
          <p:cNvSpPr txBox="1">
            <a:spLocks noGrp="1"/>
          </p:cNvSpPr>
          <p:nvPr>
            <p:ph type="body" idx="1"/>
          </p:nvPr>
        </p:nvSpPr>
        <p:spPr>
          <a:xfrm>
            <a:off x="663575" y="2241550"/>
            <a:ext cx="6793865" cy="23749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marR="0" lvl="0" indent="-466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80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Terdiri daripada;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lang="en-US" sz="280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i.   Jangkauan kawalan luas.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lang="en-US" sz="280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ii.  Jangkauan kawalan sempit. 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2209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1657350" y="1237879"/>
            <a:ext cx="6183312" cy="68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iv. Jangkauan Kawalan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>
            <a:spLocks noGrp="1"/>
          </p:cNvSpPr>
          <p:nvPr>
            <p:ph type="body" idx="4294967295"/>
          </p:nvPr>
        </p:nvSpPr>
        <p:spPr>
          <a:xfrm>
            <a:off x="660628" y="1115278"/>
            <a:ext cx="8133978" cy="1607599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marR="0" lvl="0" indent="-660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i. 	Jangkauan Kawalan Luas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660400" marR="0" lvl="0" indent="-660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Bilangan staf yang diletakkan dibawah kawalan pengurus/ketua adalah ramai.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660400" marR="0" lvl="0" indent="-5181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6B91E"/>
              </a:buClr>
              <a:buSzPts val="2240"/>
              <a:buFont typeface="Noto Sans Symbols"/>
              <a:buNone/>
            </a:pPr>
            <a:endParaRPr sz="2400" b="0" i="0" u="none" strike="noStrike" cap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60400" marR="0" lvl="0" indent="-660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400" b="0" i="0" u="none" strike="noStrike" cap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2006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4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9" name="Google Shape;309;p38"/>
          <p:cNvGrpSpPr/>
          <p:nvPr/>
        </p:nvGrpSpPr>
        <p:grpSpPr>
          <a:xfrm>
            <a:off x="1628775" y="3369493"/>
            <a:ext cx="7197678" cy="1371600"/>
            <a:chOff x="0" y="0"/>
            <a:chExt cx="2147483646" cy="2147483646"/>
          </a:xfrm>
        </p:grpSpPr>
        <p:sp>
          <p:nvSpPr>
            <p:cNvPr id="310" name="Google Shape;310;p38"/>
            <p:cNvSpPr txBox="1"/>
            <p:nvPr/>
          </p:nvSpPr>
          <p:spPr>
            <a:xfrm>
              <a:off x="817184027" y="0"/>
              <a:ext cx="513115571" cy="5602131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1" name="Google Shape;311;p38"/>
            <p:cNvSpPr txBox="1"/>
            <p:nvPr/>
          </p:nvSpPr>
          <p:spPr>
            <a:xfrm>
              <a:off x="0" y="1680639335"/>
              <a:ext cx="342077032" cy="46684431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2" name="Google Shape;312;p38"/>
            <p:cNvSpPr txBox="1"/>
            <p:nvPr/>
          </p:nvSpPr>
          <p:spPr>
            <a:xfrm>
              <a:off x="418094163" y="1680639335"/>
              <a:ext cx="399089894" cy="46684431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3" name="Google Shape;313;p38"/>
            <p:cNvSpPr txBox="1"/>
            <p:nvPr/>
          </p:nvSpPr>
          <p:spPr>
            <a:xfrm>
              <a:off x="893201175" y="1680639335"/>
              <a:ext cx="342077032" cy="46684431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4" name="Google Shape;314;p38"/>
            <p:cNvSpPr txBox="1"/>
            <p:nvPr/>
          </p:nvSpPr>
          <p:spPr>
            <a:xfrm>
              <a:off x="1292290965" y="1680639335"/>
              <a:ext cx="361081319" cy="46684431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5" name="Google Shape;315;p38"/>
            <p:cNvSpPr txBox="1"/>
            <p:nvPr/>
          </p:nvSpPr>
          <p:spPr>
            <a:xfrm>
              <a:off x="1748393752" y="1680639335"/>
              <a:ext cx="399089894" cy="46684431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16" name="Google Shape;316;p38"/>
            <p:cNvCxnSpPr/>
            <p:nvPr/>
          </p:nvCxnSpPr>
          <p:spPr>
            <a:xfrm>
              <a:off x="1064239671" y="560213278"/>
              <a:ext cx="0" cy="11204262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7" name="Google Shape;317;p38"/>
            <p:cNvCxnSpPr/>
            <p:nvPr/>
          </p:nvCxnSpPr>
          <p:spPr>
            <a:xfrm>
              <a:off x="209047082" y="1027057660"/>
              <a:ext cx="174839369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8" name="Google Shape;318;p38"/>
            <p:cNvCxnSpPr/>
            <p:nvPr/>
          </p:nvCxnSpPr>
          <p:spPr>
            <a:xfrm>
              <a:off x="1957440747" y="1027057660"/>
              <a:ext cx="0" cy="6535819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9" name="Google Shape;319;p38"/>
            <p:cNvCxnSpPr/>
            <p:nvPr/>
          </p:nvCxnSpPr>
          <p:spPr>
            <a:xfrm>
              <a:off x="1463329560" y="1027057660"/>
              <a:ext cx="0" cy="6535819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0" name="Google Shape;320;p38"/>
            <p:cNvCxnSpPr/>
            <p:nvPr/>
          </p:nvCxnSpPr>
          <p:spPr>
            <a:xfrm>
              <a:off x="589132684" y="1027057660"/>
              <a:ext cx="0" cy="6535819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1" name="Google Shape;321;p38"/>
            <p:cNvCxnSpPr/>
            <p:nvPr/>
          </p:nvCxnSpPr>
          <p:spPr>
            <a:xfrm>
              <a:off x="209047082" y="1027057660"/>
              <a:ext cx="0" cy="6535819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322" name="Google Shape;32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627" y="7115048"/>
            <a:ext cx="296227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/>
        </p:nvSpPr>
        <p:spPr>
          <a:xfrm>
            <a:off x="942975" y="549331"/>
            <a:ext cx="7754046" cy="1438906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ii. 	Jangkauan Kawalan Sempit</a:t>
            </a:r>
            <a:endParaRPr sz="28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Bilangan staf yang diletakkan dibawah 	seorang pengurus adalah sedikit.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627" y="7115048"/>
            <a:ext cx="2962275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39"/>
          <p:cNvGrpSpPr/>
          <p:nvPr/>
        </p:nvGrpSpPr>
        <p:grpSpPr>
          <a:xfrm>
            <a:off x="708720" y="2255686"/>
            <a:ext cx="7988300" cy="1879948"/>
            <a:chOff x="0" y="0"/>
            <a:chExt cx="2147483646" cy="2147483646"/>
          </a:xfrm>
        </p:grpSpPr>
        <p:sp>
          <p:nvSpPr>
            <p:cNvPr id="330" name="Google Shape;330;p39"/>
            <p:cNvSpPr txBox="1"/>
            <p:nvPr/>
          </p:nvSpPr>
          <p:spPr>
            <a:xfrm>
              <a:off x="813588334" y="0"/>
              <a:ext cx="488486027" cy="39037937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1" name="Google Shape;331;p39"/>
            <p:cNvSpPr txBox="1"/>
            <p:nvPr/>
          </p:nvSpPr>
          <p:spPr>
            <a:xfrm>
              <a:off x="1485811724" y="910885102"/>
              <a:ext cx="407071705" cy="39037937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2" name="Google Shape;332;p39"/>
            <p:cNvSpPr txBox="1"/>
            <p:nvPr/>
          </p:nvSpPr>
          <p:spPr>
            <a:xfrm>
              <a:off x="1852754472" y="1756561867"/>
              <a:ext cx="294729174" cy="39071663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33" name="Google Shape;333;p39"/>
            <p:cNvCxnSpPr/>
            <p:nvPr/>
          </p:nvCxnSpPr>
          <p:spPr>
            <a:xfrm>
              <a:off x="1037477673" y="390379461"/>
              <a:ext cx="0" cy="32531613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4" name="Google Shape;334;p39"/>
            <p:cNvCxnSpPr/>
            <p:nvPr/>
          </p:nvCxnSpPr>
          <p:spPr>
            <a:xfrm rot="10800000" flipH="1">
              <a:off x="467564225" y="704461705"/>
              <a:ext cx="1239497534" cy="1088251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5" name="Google Shape;335;p39"/>
            <p:cNvCxnSpPr/>
            <p:nvPr/>
          </p:nvCxnSpPr>
          <p:spPr>
            <a:xfrm>
              <a:off x="467577376" y="715695459"/>
              <a:ext cx="0" cy="19518968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6" name="Google Shape;336;p39"/>
            <p:cNvCxnSpPr/>
            <p:nvPr/>
          </p:nvCxnSpPr>
          <p:spPr>
            <a:xfrm>
              <a:off x="1709701273" y="1301264789"/>
              <a:ext cx="0" cy="26025289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7" name="Google Shape;337;p39"/>
            <p:cNvCxnSpPr/>
            <p:nvPr/>
          </p:nvCxnSpPr>
          <p:spPr>
            <a:xfrm rot="10800000" flipH="1">
              <a:off x="1459368275" y="1561781751"/>
              <a:ext cx="555056132" cy="2041057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8" name="Google Shape;338;p39"/>
            <p:cNvCxnSpPr/>
            <p:nvPr/>
          </p:nvCxnSpPr>
          <p:spPr>
            <a:xfrm>
              <a:off x="1465828143" y="1561517347"/>
              <a:ext cx="0" cy="19518968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9" name="Google Shape;339;p39"/>
            <p:cNvCxnSpPr/>
            <p:nvPr/>
          </p:nvCxnSpPr>
          <p:spPr>
            <a:xfrm>
              <a:off x="2014449686" y="1561517347"/>
              <a:ext cx="0" cy="19518968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0" name="Google Shape;340;p39"/>
            <p:cNvCxnSpPr/>
            <p:nvPr/>
          </p:nvCxnSpPr>
          <p:spPr>
            <a:xfrm>
              <a:off x="1709701273" y="715695459"/>
              <a:ext cx="0" cy="19518968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1" name="Google Shape;341;p39"/>
            <p:cNvSpPr txBox="1"/>
            <p:nvPr/>
          </p:nvSpPr>
          <p:spPr>
            <a:xfrm>
              <a:off x="1322460698" y="1756438490"/>
              <a:ext cx="325878095" cy="3910451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42" name="Google Shape;342;p39"/>
            <p:cNvGrpSpPr/>
            <p:nvPr/>
          </p:nvGrpSpPr>
          <p:grpSpPr>
            <a:xfrm>
              <a:off x="0" y="910885102"/>
              <a:ext cx="999096028" cy="1236393571"/>
              <a:chOff x="0" y="0"/>
              <a:chExt cx="2147483646" cy="2147483646"/>
            </a:xfrm>
          </p:grpSpPr>
          <p:cxnSp>
            <p:nvCxnSpPr>
              <p:cNvPr id="343" name="Google Shape;343;p39"/>
              <p:cNvCxnSpPr/>
              <p:nvPr/>
            </p:nvCxnSpPr>
            <p:spPr>
              <a:xfrm>
                <a:off x="257365700" y="1130625952"/>
                <a:ext cx="1510905486" cy="3545373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4" name="Google Shape;344;p39"/>
              <p:cNvCxnSpPr/>
              <p:nvPr/>
            </p:nvCxnSpPr>
            <p:spPr>
              <a:xfrm>
                <a:off x="1005023273" y="565083444"/>
                <a:ext cx="0" cy="56508333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5" name="Google Shape;345;p39"/>
              <p:cNvCxnSpPr/>
              <p:nvPr/>
            </p:nvCxnSpPr>
            <p:spPr>
              <a:xfrm>
                <a:off x="260900387" y="1130166888"/>
                <a:ext cx="0" cy="33905001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46" name="Google Shape;346;p39"/>
              <p:cNvSpPr txBox="1"/>
              <p:nvPr/>
            </p:nvSpPr>
            <p:spPr>
              <a:xfrm>
                <a:off x="523789363" y="0"/>
                <a:ext cx="874970828" cy="678100023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7" name="Google Shape;347;p39"/>
              <p:cNvSpPr txBox="1"/>
              <p:nvPr/>
            </p:nvSpPr>
            <p:spPr>
              <a:xfrm>
                <a:off x="1430474930" y="1468797777"/>
                <a:ext cx="717008716" cy="678685869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8" name="Google Shape;348;p39"/>
              <p:cNvSpPr txBox="1"/>
              <p:nvPr/>
            </p:nvSpPr>
            <p:spPr>
              <a:xfrm>
                <a:off x="0" y="1468797777"/>
                <a:ext cx="645638964" cy="678685869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349" name="Google Shape;349;p39"/>
          <p:cNvSpPr txBox="1"/>
          <p:nvPr/>
        </p:nvSpPr>
        <p:spPr>
          <a:xfrm>
            <a:off x="1482725" y="4428483"/>
            <a:ext cx="729615" cy="34036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p39"/>
          <p:cNvSpPr txBox="1"/>
          <p:nvPr/>
        </p:nvSpPr>
        <p:spPr>
          <a:xfrm>
            <a:off x="390525" y="4428483"/>
            <a:ext cx="771525" cy="34036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p39"/>
          <p:cNvSpPr txBox="1"/>
          <p:nvPr/>
        </p:nvSpPr>
        <p:spPr>
          <a:xfrm>
            <a:off x="2905125" y="4403083"/>
            <a:ext cx="729615" cy="34036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2" name="Google Shape;352;p39"/>
          <p:cNvSpPr txBox="1"/>
          <p:nvPr/>
        </p:nvSpPr>
        <p:spPr>
          <a:xfrm>
            <a:off x="3946525" y="4377683"/>
            <a:ext cx="729615" cy="34036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3" name="Google Shape;353;p39"/>
          <p:cNvSpPr txBox="1"/>
          <p:nvPr/>
        </p:nvSpPr>
        <p:spPr>
          <a:xfrm>
            <a:off x="8264525" y="4428483"/>
            <a:ext cx="729615" cy="34036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4" name="Google Shape;354;p39"/>
          <p:cNvSpPr txBox="1"/>
          <p:nvPr/>
        </p:nvSpPr>
        <p:spPr>
          <a:xfrm>
            <a:off x="7257415" y="4428483"/>
            <a:ext cx="729615" cy="34036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55" name="Google Shape;355;p39"/>
          <p:cNvCxnSpPr/>
          <p:nvPr/>
        </p:nvCxnSpPr>
        <p:spPr>
          <a:xfrm>
            <a:off x="1847910" y="4258073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7655620" y="4284108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" name="Google Shape;357;p39"/>
          <p:cNvCxnSpPr/>
          <p:nvPr/>
        </p:nvCxnSpPr>
        <p:spPr>
          <a:xfrm>
            <a:off x="8697020" y="4258708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8" name="Google Shape;358;p39"/>
          <p:cNvCxnSpPr/>
          <p:nvPr/>
        </p:nvCxnSpPr>
        <p:spPr>
          <a:xfrm>
            <a:off x="776665" y="4275853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9" name="Google Shape;359;p39"/>
          <p:cNvSpPr txBox="1"/>
          <p:nvPr/>
        </p:nvSpPr>
        <p:spPr>
          <a:xfrm>
            <a:off x="5368925" y="4428483"/>
            <a:ext cx="729615" cy="34036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0" name="Google Shape;360;p39"/>
          <p:cNvSpPr txBox="1"/>
          <p:nvPr/>
        </p:nvSpPr>
        <p:spPr>
          <a:xfrm>
            <a:off x="6334125" y="4403083"/>
            <a:ext cx="729615" cy="34036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61" name="Google Shape;361;p39"/>
          <p:cNvCxnSpPr/>
          <p:nvPr/>
        </p:nvCxnSpPr>
        <p:spPr>
          <a:xfrm>
            <a:off x="3757930" y="364806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2" name="Google Shape;362;p39"/>
          <p:cNvCxnSpPr/>
          <p:nvPr/>
        </p:nvCxnSpPr>
        <p:spPr>
          <a:xfrm>
            <a:off x="4277420" y="4258708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3" name="Google Shape;363;p39"/>
          <p:cNvCxnSpPr/>
          <p:nvPr/>
        </p:nvCxnSpPr>
        <p:spPr>
          <a:xfrm>
            <a:off x="3185220" y="4233308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4" name="Google Shape;364;p39"/>
          <p:cNvCxnSpPr/>
          <p:nvPr/>
        </p:nvCxnSpPr>
        <p:spPr>
          <a:xfrm>
            <a:off x="1208465" y="4098053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5" name="Google Shape;365;p39"/>
          <p:cNvCxnSpPr/>
          <p:nvPr/>
        </p:nvCxnSpPr>
        <p:spPr>
          <a:xfrm>
            <a:off x="3723065" y="4098053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6" name="Google Shape;366;p39"/>
          <p:cNvCxnSpPr/>
          <p:nvPr/>
        </p:nvCxnSpPr>
        <p:spPr>
          <a:xfrm>
            <a:off x="5628065" y="4250453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7" name="Google Shape;367;p39"/>
          <p:cNvCxnSpPr/>
          <p:nvPr/>
        </p:nvCxnSpPr>
        <p:spPr>
          <a:xfrm>
            <a:off x="6771065" y="4250453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8" name="Google Shape;368;p39"/>
          <p:cNvCxnSpPr/>
          <p:nvPr/>
        </p:nvCxnSpPr>
        <p:spPr>
          <a:xfrm>
            <a:off x="6136065" y="4148853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" name="Google Shape;369;p39"/>
          <p:cNvCxnSpPr/>
          <p:nvPr/>
        </p:nvCxnSpPr>
        <p:spPr>
          <a:xfrm>
            <a:off x="8117265" y="4148853"/>
            <a:ext cx="0" cy="1700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0" name="Google Shape;370;p39"/>
          <p:cNvCxnSpPr/>
          <p:nvPr/>
        </p:nvCxnSpPr>
        <p:spPr>
          <a:xfrm>
            <a:off x="762000" y="4257668"/>
            <a:ext cx="1124585" cy="184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1" name="Google Shape;371;p39"/>
          <p:cNvCxnSpPr/>
          <p:nvPr/>
        </p:nvCxnSpPr>
        <p:spPr>
          <a:xfrm>
            <a:off x="3175000" y="4232268"/>
            <a:ext cx="1124585" cy="184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2" name="Google Shape;372;p39"/>
          <p:cNvCxnSpPr/>
          <p:nvPr/>
        </p:nvCxnSpPr>
        <p:spPr>
          <a:xfrm>
            <a:off x="5650230" y="4250048"/>
            <a:ext cx="1124585" cy="184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3" name="Google Shape;373;p39"/>
          <p:cNvCxnSpPr/>
          <p:nvPr/>
        </p:nvCxnSpPr>
        <p:spPr>
          <a:xfrm>
            <a:off x="7620000" y="4257668"/>
            <a:ext cx="106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 txBox="1"/>
          <p:nvPr/>
        </p:nvSpPr>
        <p:spPr>
          <a:xfrm>
            <a:off x="671514" y="381001"/>
            <a:ext cx="8358186" cy="534924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v. Delegasi autoriti / tugas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Satu cara penumpuan kuasa pada individu tertentu dengan memberikannya autoriti, tanggungjawab, sumber dan kuasa.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Delegasi tanggungjawab untuk membuat keputusan.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Penurunan kuasa yang terkawal.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Mewujudkan suasana agar pekerja dapat  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76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menggunakan keupayaan mereka semaksimum mungkin untuk mencapai matlamat organisasi.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/>
        </p:nvSpPr>
        <p:spPr>
          <a:xfrm>
            <a:off x="628650" y="381001"/>
            <a:ext cx="8093075" cy="385572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v. Delegasi autoriti / tugas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Delegasi tugas berlaku apabila autoriti diagihkan secara penurunan kuasa dalam sesebuah organisasi.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Terdapat dua jenis delegasi tugas iaitu pemusatan dan pemencaran.</a:t>
            </a:r>
            <a:endParaRPr sz="2800" b="0" i="0" u="none" strike="noStrike" cap="non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xfrm>
            <a:off x="0" y="81279"/>
            <a:ext cx="8786813" cy="586232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marR="0" lvl="0" indent="-66040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Pemusatan</a:t>
            </a:r>
            <a:endParaRPr sz="2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60400" marR="0" lvl="0" indent="-66040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endParaRPr sz="2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080"/>
              <a:buChar char="▶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Autoriti dan keputusan tertumpu pada pengurus peringkat atasan dan hanya sedikit dan terbatas sahaja autoriti membuat keputusan diberi kepada pengurus peringkat bawahan.</a:t>
            </a:r>
            <a:endParaRPr/>
          </a:p>
          <a:p>
            <a:pPr marL="0" lvl="0" indent="0" algn="just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080"/>
              <a:buChar char="▶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Keputusan dibuat oleh pihak atasan yang mempunyai autoriti.  Pekerja hanya menerima arahan yang telah diputuskan oleh pihak atasan.</a:t>
            </a:r>
            <a:endParaRPr/>
          </a:p>
          <a:p>
            <a:pPr marL="0" lvl="0" indent="0" algn="just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678"/>
              <a:buChar char="▶"/>
            </a:pPr>
            <a:r>
              <a:rPr lang="en-US" sz="2800" b="0" i="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Proses pembuatan keputusan banyak dibuat oleh ibu pejabat dan amat sedikit di cawangan.</a:t>
            </a:r>
            <a:endParaRPr sz="2800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7147" algn="just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678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080"/>
              <a:buChar char="▶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Contoh: Keputusan untuk meluluskan pinjaman bank yang melebihi RM1 juta akan diputuskan oleh Pengurus Besar di ibupejabat.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60400" marR="0" lvl="0" indent="-52832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60400" marR="0" lvl="0" indent="-66040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 txBox="1">
            <a:spLocks noGrp="1"/>
          </p:cNvSpPr>
          <p:nvPr>
            <p:ph type="body" idx="1"/>
          </p:nvPr>
        </p:nvSpPr>
        <p:spPr>
          <a:xfrm>
            <a:off x="479109" y="383223"/>
            <a:ext cx="8586786" cy="583469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marR="0" lvl="0" indent="-4953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Pemencaran</a:t>
            </a:r>
            <a:endParaRPr sz="2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4953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80"/>
              <a:buChar char="▶"/>
            </a:pPr>
            <a:r>
              <a:rPr lang="en-US" sz="2800" b="0" i="0" u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Proses membuat keputusan diagihkan ke semua peringkat yang lebih rendah dalam hirarki autoriti organisasi. </a:t>
            </a:r>
            <a:endParaRPr sz="2800" b="0" i="0" u="non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80"/>
              <a:buNone/>
            </a:pPr>
            <a:endParaRPr sz="28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80"/>
              <a:buChar char="▶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Pengurus di setiap peringkat organisasi diberi kuasa untuk membuat keputusan dan melibatkan pengurus bawahan di dalam penetapan objektif.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80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80"/>
              <a:buChar char="▶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Proses pembuatan keputusan banyak dibuat di peringkat cawangan.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80"/>
              <a:buNone/>
            </a:pPr>
            <a:endParaRPr sz="2800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80"/>
              <a:buChar char="▶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Contoh: </a:t>
            </a:r>
            <a:r>
              <a:rPr lang="en-US" sz="2800" b="0" i="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Keputusan meluluskan pinjaman bank yang kurang daripada RM1 juta akan diputuskan oleh Pengurus di cawangan masing-masing.</a:t>
            </a:r>
            <a:endParaRPr sz="2800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4953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407" name="Google Shape;407;p44" descr="Centralization vs decentralization: best political organization? - netiv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76" y="933901"/>
            <a:ext cx="7186612" cy="366339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4"/>
          <p:cNvSpPr txBox="1"/>
          <p:nvPr/>
        </p:nvSpPr>
        <p:spPr>
          <a:xfrm>
            <a:off x="1143001" y="4689792"/>
            <a:ext cx="24673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PEMUSATAN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4"/>
          <p:cNvSpPr txBox="1"/>
          <p:nvPr/>
        </p:nvSpPr>
        <p:spPr>
          <a:xfrm>
            <a:off x="4475679" y="4689792"/>
            <a:ext cx="31967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PEMENCARAN 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5"/>
          <p:cNvSpPr txBox="1">
            <a:spLocks noGrp="1"/>
          </p:cNvSpPr>
          <p:nvPr>
            <p:ph type="body" idx="1"/>
          </p:nvPr>
        </p:nvSpPr>
        <p:spPr>
          <a:xfrm>
            <a:off x="442914" y="1643063"/>
            <a:ext cx="7979726" cy="220757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800" b="1" i="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Merujuk kepada sejauh mana pekerjaan di dalam organisasi diseragamkan dan sejauh mana tingkahlaku pekerja di pandu oleh peraturan dan prosedur.  </a:t>
            </a:r>
            <a:endParaRPr sz="2800" b="1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5"/>
          <p:cNvSpPr txBox="1"/>
          <p:nvPr/>
        </p:nvSpPr>
        <p:spPr>
          <a:xfrm>
            <a:off x="2041525" y="490855"/>
            <a:ext cx="4158615" cy="68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vi. Keformalan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6"/>
          <p:cNvSpPr txBox="1">
            <a:spLocks noGrp="1"/>
          </p:cNvSpPr>
          <p:nvPr>
            <p:ph type="body" idx="1"/>
          </p:nvPr>
        </p:nvSpPr>
        <p:spPr>
          <a:xfrm>
            <a:off x="628650" y="985839"/>
            <a:ext cx="8261349" cy="449040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Dalam organisasi formal, terdapat penerangan yang jelas tentang pekerjaan, peraturan organisasi dan prosedur yang jelas yang meliputi proses kerja, kesannya pekerja akan dapat melakukan segala tugasan dengan baik.  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Sebaliknya, sekiranya organisasi mempunyai tahap keformalan yang rendah, pekerja tidak dapat melakukan tugasan dengan baik.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09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5" name="Google Shape;425;p46"/>
          <p:cNvSpPr txBox="1"/>
          <p:nvPr/>
        </p:nvSpPr>
        <p:spPr>
          <a:xfrm>
            <a:off x="1584325" y="147955"/>
            <a:ext cx="4158615" cy="68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vi. Keformalan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7"/>
          <p:cNvSpPr txBox="1">
            <a:spLocks noGrp="1"/>
          </p:cNvSpPr>
          <p:nvPr>
            <p:ph type="body" idx="1"/>
          </p:nvPr>
        </p:nvSpPr>
        <p:spPr>
          <a:xfrm>
            <a:off x="271463" y="1276985"/>
            <a:ext cx="8622347" cy="391477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None/>
            </a:pPr>
            <a:endParaRPr sz="2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678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Suatu sistem atau jaringan formal tentang perkaitan dan perhubungan antara tugas dan aktiviti yang berlainan.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678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Menggambarkan hubungan diantara pelbagai tahap pengurusan.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678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Membentuk struktur lini dan staf melalui carta organisasi.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7"/>
          <p:cNvSpPr txBox="1"/>
          <p:nvPr/>
        </p:nvSpPr>
        <p:spPr>
          <a:xfrm>
            <a:off x="1323976" y="0"/>
            <a:ext cx="7820297" cy="6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endParaRPr sz="36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434" name="Google Shape;434;p47"/>
          <p:cNvSpPr txBox="1"/>
          <p:nvPr/>
        </p:nvSpPr>
        <p:spPr>
          <a:xfrm>
            <a:off x="1323976" y="194284"/>
            <a:ext cx="5976938" cy="6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2.3.2 b STRUKTUR ORGANISASI</a:t>
            </a: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pSp>
        <p:nvGrpSpPr>
          <p:cNvPr id="440" name="Google Shape;440;p48"/>
          <p:cNvGrpSpPr/>
          <p:nvPr/>
        </p:nvGrpSpPr>
        <p:grpSpPr>
          <a:xfrm>
            <a:off x="450645" y="1099608"/>
            <a:ext cx="6643780" cy="4658783"/>
            <a:chOff x="1042258" y="847"/>
            <a:chExt cx="6094917" cy="4716354"/>
          </a:xfrm>
        </p:grpSpPr>
        <p:sp>
          <p:nvSpPr>
            <p:cNvPr id="441" name="Google Shape;441;p48"/>
            <p:cNvSpPr/>
            <p:nvPr/>
          </p:nvSpPr>
          <p:spPr>
            <a:xfrm rot="10800000">
              <a:off x="1697851" y="847"/>
              <a:ext cx="5439324" cy="1311185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878787"/>
                </a:gs>
                <a:gs pos="50000">
                  <a:srgbClr val="787878"/>
                </a:gs>
                <a:gs pos="100000">
                  <a:srgbClr val="696969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8"/>
            <p:cNvSpPr txBox="1"/>
            <p:nvPr/>
          </p:nvSpPr>
          <p:spPr>
            <a:xfrm>
              <a:off x="2025647" y="847"/>
              <a:ext cx="5111528" cy="1311185"/>
            </a:xfrm>
            <a:prstGeom prst="rect">
              <a:avLst/>
            </a:prstGeom>
            <a:solidFill>
              <a:srgbClr val="FEE599"/>
            </a:solidFill>
            <a:ln>
              <a:noFill/>
            </a:ln>
          </p:spPr>
          <p:txBody>
            <a:bodyPr spcFirstLastPara="1" wrap="square" lIns="578175" tIns="152400" rIns="284475" bIns="152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Federo"/>
                <a:buNone/>
              </a:pPr>
              <a:r>
                <a:rPr lang="en-US" sz="4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Struktur Fungsian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8"/>
            <p:cNvSpPr/>
            <p:nvPr/>
          </p:nvSpPr>
          <p:spPr>
            <a:xfrm>
              <a:off x="1042258" y="847"/>
              <a:ext cx="1311185" cy="1311185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8"/>
            <p:cNvSpPr/>
            <p:nvPr/>
          </p:nvSpPr>
          <p:spPr>
            <a:xfrm rot="10800000">
              <a:off x="1697851" y="1703432"/>
              <a:ext cx="5439324" cy="1311185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BDBDBD"/>
                </a:gs>
                <a:gs pos="50000">
                  <a:srgbClr val="B5B5B5"/>
                </a:gs>
                <a:gs pos="100000">
                  <a:srgbClr val="9F9F9F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8"/>
            <p:cNvSpPr txBox="1"/>
            <p:nvPr/>
          </p:nvSpPr>
          <p:spPr>
            <a:xfrm>
              <a:off x="2025647" y="1703432"/>
              <a:ext cx="5111528" cy="131118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578175" tIns="152400" rIns="284475" bIns="152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Federo"/>
                <a:buNone/>
              </a:pPr>
              <a:r>
                <a:rPr lang="en-US" sz="4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Struktur Divisional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8"/>
            <p:cNvSpPr/>
            <p:nvPr/>
          </p:nvSpPr>
          <p:spPr>
            <a:xfrm>
              <a:off x="1042258" y="1703432"/>
              <a:ext cx="1311185" cy="1311185"/>
            </a:xfrm>
            <a:prstGeom prst="ellipse">
              <a:avLst/>
            </a:prstGeom>
            <a:solidFill>
              <a:srgbClr val="D5D5D5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8"/>
            <p:cNvSpPr/>
            <p:nvPr/>
          </p:nvSpPr>
          <p:spPr>
            <a:xfrm rot="10800000">
              <a:off x="1697851" y="3406016"/>
              <a:ext cx="5439324" cy="1311185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BDBDBD"/>
                </a:gs>
                <a:gs pos="50000">
                  <a:srgbClr val="B5B5B5"/>
                </a:gs>
                <a:gs pos="100000">
                  <a:srgbClr val="9F9F9F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8"/>
            <p:cNvSpPr txBox="1"/>
            <p:nvPr/>
          </p:nvSpPr>
          <p:spPr>
            <a:xfrm>
              <a:off x="2025647" y="3406016"/>
              <a:ext cx="5111528" cy="1311185"/>
            </a:xfrm>
            <a:prstGeom prst="rect">
              <a:avLst/>
            </a:prstGeom>
            <a:solidFill>
              <a:srgbClr val="CC66FF"/>
            </a:solidFill>
            <a:ln>
              <a:noFill/>
            </a:ln>
          </p:spPr>
          <p:txBody>
            <a:bodyPr spcFirstLastPara="1" wrap="square" lIns="578175" tIns="152400" rIns="284475" bIns="152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Federo"/>
                <a:buNone/>
              </a:pPr>
              <a:r>
                <a:rPr lang="en-US" sz="4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Struktur Matriks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8"/>
            <p:cNvSpPr/>
            <p:nvPr/>
          </p:nvSpPr>
          <p:spPr>
            <a:xfrm>
              <a:off x="1042258" y="3406016"/>
              <a:ext cx="1311185" cy="1311185"/>
            </a:xfrm>
            <a:prstGeom prst="ellipse">
              <a:avLst/>
            </a:prstGeom>
            <a:solidFill>
              <a:srgbClr val="D3D3D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p48"/>
          <p:cNvSpPr txBox="1"/>
          <p:nvPr/>
        </p:nvSpPr>
        <p:spPr>
          <a:xfrm>
            <a:off x="1363980" y="248920"/>
            <a:ext cx="4817110" cy="68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 Organisasi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9"/>
          <p:cNvSpPr txBox="1">
            <a:spLocks noGrp="1"/>
          </p:cNvSpPr>
          <p:nvPr>
            <p:ph type="body" idx="1"/>
          </p:nvPr>
        </p:nvSpPr>
        <p:spPr>
          <a:xfrm>
            <a:off x="436563" y="662305"/>
            <a:ext cx="7737474" cy="475297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None/>
            </a:pPr>
            <a:r>
              <a:rPr lang="en-US" sz="2800" b="1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i. Struktur Fungsian</a:t>
            </a:r>
            <a:endParaRPr sz="2800" b="0" i="0" u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▶"/>
            </a:pPr>
            <a:r>
              <a:rPr lang="en-US" sz="28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Merupakan pengelompokan kumpulan yang mempunyai persamaan atau berkait dalam </a:t>
            </a:r>
            <a:r>
              <a:rPr lang="en-US" sz="28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kemahiran pekerjaan. </a:t>
            </a:r>
            <a:endParaRPr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▶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Merupakan penjabatan </a:t>
            </a:r>
            <a:r>
              <a:rPr lang="en-US" sz="2800" b="1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yang </a:t>
            </a:r>
            <a:r>
              <a:rPr lang="en-US" sz="2800" b="1" i="0" u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paling asas</a:t>
            </a: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dan lazimnya digunakan oleh </a:t>
            </a:r>
            <a:r>
              <a:rPr lang="en-US" sz="2800" b="1" i="0" u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organisasi kecil yang mempunyai produk yang terhad. </a:t>
            </a:r>
            <a:endParaRPr b="1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▶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Contoh: </a:t>
            </a:r>
            <a:r>
              <a:rPr lang="en-US" sz="2800" b="0" i="0" u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Pengeluaran, kewangan dan pemasaran.</a:t>
            </a:r>
            <a:endParaRPr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4" name="Google Shape;464;p50"/>
          <p:cNvGraphicFramePr/>
          <p:nvPr/>
        </p:nvGraphicFramePr>
        <p:xfrm>
          <a:off x="604520" y="2474936"/>
          <a:ext cx="7662875" cy="3254539"/>
        </p:xfrm>
        <a:graphic>
          <a:graphicData uri="http://schemas.openxmlformats.org/drawingml/2006/table">
            <a:tbl>
              <a:tblPr firstRow="1" bandRow="1">
                <a:noFill/>
                <a:tableStyleId>{95F49E64-9B18-400D-887F-D7DD6A00DD8E}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Tahoma"/>
                        <a:buNone/>
                      </a:pPr>
                      <a:r>
                        <a:rPr lang="en-US" sz="2400" u="none" strike="noStrike" cap="none">
                          <a:solidFill>
                            <a:srgbClr val="0099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Pengeluaran</a:t>
                      </a:r>
                      <a:endParaRPr sz="2400" u="none" strike="noStrike" cap="none">
                        <a:solidFill>
                          <a:srgbClr val="0099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80"/>
                        <a:buFont typeface="Noto Sans Symbols"/>
                        <a:buNone/>
                      </a:pPr>
                      <a:endParaRPr sz="2400" b="0" u="none" strike="noStrike" cap="none">
                        <a:solidFill>
                          <a:srgbClr val="0099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42900" marR="0" lvl="0" indent="-34290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80"/>
                        <a:buFont typeface="Noto Sans Symbols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0099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Aktiviti yang berkait pengilangan produk</a:t>
                      </a:r>
                      <a:endParaRPr sz="2400" u="none" strike="noStrike" cap="none">
                        <a:solidFill>
                          <a:srgbClr val="0099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FE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Tahoma"/>
                        <a:buNone/>
                      </a:pPr>
                      <a:r>
                        <a:rPr lang="en-US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Pemasaran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2400"/>
                        <a:buFont typeface="Tahoma"/>
                        <a:buNone/>
                      </a:pPr>
                      <a:r>
                        <a:rPr lang="en-US" sz="2400" u="none" strike="noStrike" cap="non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Aktiviti promosi dan jualan produk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Tahoma"/>
                        <a:buNone/>
                      </a:pPr>
                      <a:r>
                        <a:rPr lang="en-US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Sumber Manusia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ACB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ahoma"/>
                        <a:buNone/>
                      </a:pPr>
                      <a:r>
                        <a:rPr lang="en-US" sz="2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Bertanggungjawab mengambil dan mengekalkan pekerja yang berpotensi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ACB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Tahoma"/>
                        <a:buNone/>
                      </a:pPr>
                      <a:r>
                        <a:rPr lang="en-US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Kewangan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ahoma"/>
                        <a:buNone/>
                      </a:pPr>
                      <a:r>
                        <a:rPr lang="en-US" sz="2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Mendapatkan dan menguruskan sumber dana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5" name="Google Shape;465;p50"/>
          <p:cNvSpPr txBox="1"/>
          <p:nvPr/>
        </p:nvSpPr>
        <p:spPr>
          <a:xfrm>
            <a:off x="254000" y="304800"/>
            <a:ext cx="8707120" cy="207264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Ciri-ciri Struktur Fungsian</a:t>
            </a:r>
            <a:endParaRPr sz="2800" b="1" i="0" u="none" strike="noStrike" cap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082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endParaRPr sz="2800" b="0" i="0" u="none" strike="noStrike" cap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Dikelaskan mengikut fungsi utama (kemahiran).</a:t>
            </a:r>
            <a:endParaRPr sz="2800" b="0" i="0" u="none" strike="noStrike" cap="non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Kedudukan ahli organisasi  adalah mengikut persamaan dalam kepakaran, kemahiran dan aktiviti kerja.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"/>
          <p:cNvSpPr txBox="1"/>
          <p:nvPr/>
        </p:nvSpPr>
        <p:spPr>
          <a:xfrm>
            <a:off x="2971800" y="2057400"/>
            <a:ext cx="3352800" cy="976630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1"/>
          <p:cNvSpPr txBox="1"/>
          <p:nvPr/>
        </p:nvSpPr>
        <p:spPr>
          <a:xfrm>
            <a:off x="467360" y="3886200"/>
            <a:ext cx="2504440" cy="93345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Kewangan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1"/>
          <p:cNvSpPr txBox="1"/>
          <p:nvPr/>
        </p:nvSpPr>
        <p:spPr>
          <a:xfrm>
            <a:off x="3543300" y="3886200"/>
            <a:ext cx="2362200" cy="933450"/>
          </a:xfrm>
          <a:prstGeom prst="rect">
            <a:avLst/>
          </a:prstGeom>
          <a:solidFill>
            <a:srgbClr val="FF66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Pengeluaran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1"/>
          <p:cNvSpPr txBox="1"/>
          <p:nvPr/>
        </p:nvSpPr>
        <p:spPr>
          <a:xfrm>
            <a:off x="6477000" y="3886200"/>
            <a:ext cx="2324100" cy="93345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Pemasaran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1"/>
          <p:cNvSpPr txBox="1"/>
          <p:nvPr/>
        </p:nvSpPr>
        <p:spPr>
          <a:xfrm>
            <a:off x="3276600" y="23622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Besar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51"/>
          <p:cNvCxnSpPr/>
          <p:nvPr/>
        </p:nvCxnSpPr>
        <p:spPr>
          <a:xfrm flipH="1">
            <a:off x="4648200" y="3034030"/>
            <a:ext cx="9525" cy="85217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6" name="Google Shape;476;p51"/>
          <p:cNvCxnSpPr/>
          <p:nvPr/>
        </p:nvCxnSpPr>
        <p:spPr>
          <a:xfrm rot="10800000">
            <a:off x="7696200" y="3505200"/>
            <a:ext cx="0" cy="38100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7" name="Google Shape;477;p51"/>
          <p:cNvCxnSpPr/>
          <p:nvPr/>
        </p:nvCxnSpPr>
        <p:spPr>
          <a:xfrm rot="10800000">
            <a:off x="1676400" y="3505200"/>
            <a:ext cx="0" cy="38100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8" name="Google Shape;478;p51"/>
          <p:cNvCxnSpPr/>
          <p:nvPr/>
        </p:nvCxnSpPr>
        <p:spPr>
          <a:xfrm>
            <a:off x="1676400" y="3505200"/>
            <a:ext cx="6019800" cy="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9" name="Google Shape;479;p51"/>
          <p:cNvSpPr txBox="1"/>
          <p:nvPr/>
        </p:nvSpPr>
        <p:spPr>
          <a:xfrm>
            <a:off x="1676400" y="643819"/>
            <a:ext cx="44958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i. Struktur Fungsian</a:t>
            </a:r>
            <a:endParaRPr sz="2800" b="0" i="0" u="none" strike="noStrike" cap="non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2"/>
          <p:cNvSpPr txBox="1">
            <a:spLocks noGrp="1"/>
          </p:cNvSpPr>
          <p:nvPr>
            <p:ph type="body" idx="1"/>
          </p:nvPr>
        </p:nvSpPr>
        <p:spPr>
          <a:xfrm>
            <a:off x="242888" y="514350"/>
            <a:ext cx="7885112" cy="483997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432A"/>
              </a:buClr>
              <a:buSzPts val="2240"/>
              <a:buNone/>
            </a:pPr>
            <a:r>
              <a:rPr lang="en-US" sz="28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Kebaikan Struktur Fungsian</a:t>
            </a:r>
            <a:endParaRPr sz="2800" b="1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432A"/>
              </a:buClr>
              <a:buSzPts val="2240"/>
              <a:buNone/>
            </a:pPr>
            <a:endParaRPr sz="2800" b="1" i="0" u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Penumpuan kepada bidang tugas yang diberikan sahaja (pengkhususan kerja).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Pertindihan penggunaan sumber dapat diminimakan.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Penyelesaian masalah lebih cekap disebabkan pengkhususan kemahiran.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romanLcPeriod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Keputusan lebih cekap kerana dibuat secara berpusat.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/>
          <p:nvPr/>
        </p:nvSpPr>
        <p:spPr>
          <a:xfrm>
            <a:off x="657225" y="966787"/>
            <a:ext cx="7613015" cy="374745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Kelemahan Struktur Fungsian</a:t>
            </a:r>
            <a:endParaRPr sz="3200" b="1" i="0" u="none" strike="noStrike" cap="none">
              <a:solidFill>
                <a:srgbClr val="9933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3200" b="1" i="0" u="none" strike="noStrike" cap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/>
            </a:pPr>
            <a:r>
              <a:rPr lang="en-US" sz="32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Penekanan kepada tugas-tugas rutin.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/>
            </a:pPr>
            <a:r>
              <a:rPr lang="en-US" sz="32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Kurang komunikasi antara jabatan.</a:t>
            </a:r>
            <a:endParaRPr sz="3200" b="0" i="0" u="none" strike="noStrike" cap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/>
            </a:pPr>
            <a:r>
              <a:rPr lang="en-US" sz="32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Pembangunan kerjaya terhad dalam bidang- bidang tertentu.</a:t>
            </a:r>
            <a:endParaRPr sz="32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>
            <a:spLocks noGrp="1"/>
          </p:cNvSpPr>
          <p:nvPr>
            <p:ph type="title"/>
          </p:nvPr>
        </p:nvSpPr>
        <p:spPr>
          <a:xfrm>
            <a:off x="1857375" y="673359"/>
            <a:ext cx="6686550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Struktur Divisional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4"/>
          <p:cNvSpPr txBox="1">
            <a:spLocks noGrp="1"/>
          </p:cNvSpPr>
          <p:nvPr>
            <p:ph type="body" idx="1"/>
          </p:nvPr>
        </p:nvSpPr>
        <p:spPr>
          <a:xfrm>
            <a:off x="609600" y="1310641"/>
            <a:ext cx="8178800" cy="353568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marR="0" lvl="0" indent="-466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Char char="▶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Merupakan </a:t>
            </a:r>
            <a:r>
              <a:rPr lang="en-US" sz="2800" b="0" i="0" u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satu bentuk penjabatanan yang tugas atau aktiviti dikelompokkan berdasarkan persamaan dalam produk, perkhidmatan atau pasaran.</a:t>
            </a:r>
            <a:endParaRPr/>
          </a:p>
          <a:p>
            <a:pPr marL="466725" marR="0" lvl="0" indent="-3346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endParaRPr sz="2800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466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Char char="▶"/>
            </a:pPr>
            <a:r>
              <a:rPr lang="en-US" sz="2800" b="0" i="0" u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Pembahagian jabatan dibuat mengikut:</a:t>
            </a:r>
            <a:endParaRPr sz="2800" b="0" i="0" u="non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1" indent="-17144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80"/>
              <a:buFont typeface="Arial"/>
              <a:buChar char="•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Geografik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1" indent="-17144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80"/>
              <a:buFont typeface="Arial"/>
              <a:buChar char="•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Pelanggan 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1" indent="-17144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80"/>
              <a:buFont typeface="Arial"/>
              <a:buChar char="•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Produk</a:t>
            </a:r>
            <a:endParaRPr sz="28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1" indent="-393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Noto Sans Symbols"/>
              <a:buNone/>
            </a:pPr>
            <a:endParaRPr sz="2800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432A"/>
              </a:buClr>
              <a:buSzPts val="2240"/>
              <a:buNone/>
            </a:pPr>
            <a:r>
              <a:rPr lang="en-US" sz="2800" b="1">
                <a:solidFill>
                  <a:srgbClr val="48432A"/>
                </a:solidFill>
                <a:latin typeface="Federo"/>
                <a:ea typeface="Federo"/>
                <a:cs typeface="Federo"/>
                <a:sym typeface="Federo"/>
              </a:rPr>
              <a:t>   </a:t>
            </a:r>
            <a:endParaRPr sz="28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5"/>
          <p:cNvSpPr txBox="1">
            <a:spLocks noGrp="1"/>
          </p:cNvSpPr>
          <p:nvPr>
            <p:ph type="title"/>
          </p:nvPr>
        </p:nvSpPr>
        <p:spPr>
          <a:xfrm>
            <a:off x="1443038" y="366078"/>
            <a:ext cx="6600825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Struktur Divisional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5"/>
          <p:cNvSpPr txBox="1">
            <a:spLocks noGrp="1"/>
          </p:cNvSpPr>
          <p:nvPr>
            <p:ph type="body" idx="1"/>
          </p:nvPr>
        </p:nvSpPr>
        <p:spPr>
          <a:xfrm>
            <a:off x="0" y="1168717"/>
            <a:ext cx="9042400" cy="446976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1" indent="-393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Noto Sans Symbols"/>
              <a:buNone/>
            </a:pPr>
            <a:endParaRPr sz="2800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432A"/>
              </a:buClr>
              <a:buSzPts val="2240"/>
              <a:buNone/>
            </a:pPr>
            <a:r>
              <a:rPr lang="en-US" sz="2800" b="1">
                <a:solidFill>
                  <a:srgbClr val="48432A"/>
                </a:solidFill>
                <a:latin typeface="Federo"/>
                <a:ea typeface="Federo"/>
                <a:cs typeface="Federo"/>
                <a:sym typeface="Federo"/>
              </a:rPr>
              <a:t>   </a:t>
            </a:r>
            <a:r>
              <a:rPr lang="en-US" sz="2800" b="1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Ciri-ciri struktur divisional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432A"/>
              </a:buClr>
              <a:buSzPts val="2240"/>
              <a:buNone/>
            </a:pPr>
            <a:endParaRPr sz="2800" b="1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Struktur diagihkan mengikut produk, pengguna dan geografik.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Setiap divisyen  mempunyai jabatan  fungsian masing-masing</a:t>
            </a:r>
            <a:r>
              <a:rPr lang="en-US" sz="2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Ini bertujuan untuk memastikan bahawa dalam proses pengeluaran dan pemasaran sesuatu produk, setiap divisyen tidak perlu bergantung pada divisyen yang lain.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8255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</a:pPr>
            <a:endParaRPr sz="28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/>
          <p:cNvSpPr txBox="1"/>
          <p:nvPr/>
        </p:nvSpPr>
        <p:spPr>
          <a:xfrm>
            <a:off x="886461" y="3657600"/>
            <a:ext cx="2504440" cy="1499870"/>
          </a:xfrm>
          <a:prstGeom prst="rect">
            <a:avLst/>
          </a:prstGeom>
          <a:solidFill>
            <a:srgbClr val="F4B08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Bahagian Kasut Sukan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6"/>
          <p:cNvSpPr txBox="1"/>
          <p:nvPr/>
        </p:nvSpPr>
        <p:spPr>
          <a:xfrm>
            <a:off x="3570922" y="3657600"/>
            <a:ext cx="2439035" cy="149987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Bahagian Peralatan Sukan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6"/>
          <p:cNvSpPr txBox="1">
            <a:spLocks noGrp="1"/>
          </p:cNvSpPr>
          <p:nvPr>
            <p:ph type="title"/>
          </p:nvPr>
        </p:nvSpPr>
        <p:spPr>
          <a:xfrm>
            <a:off x="604520" y="633730"/>
            <a:ext cx="7620000" cy="6096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Struktur Divisional Mengikut Produk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6"/>
          <p:cNvSpPr txBox="1"/>
          <p:nvPr/>
        </p:nvSpPr>
        <p:spPr>
          <a:xfrm>
            <a:off x="2971800" y="1828800"/>
            <a:ext cx="3657600" cy="91440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4" name="Google Shape;514;p56"/>
          <p:cNvSpPr txBox="1"/>
          <p:nvPr/>
        </p:nvSpPr>
        <p:spPr>
          <a:xfrm>
            <a:off x="6172200" y="3657598"/>
            <a:ext cx="2280920" cy="149987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Bahagian Pakaian Sukan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56"/>
          <p:cNvSpPr txBox="1"/>
          <p:nvPr/>
        </p:nvSpPr>
        <p:spPr>
          <a:xfrm>
            <a:off x="3276600" y="1981200"/>
            <a:ext cx="2895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6" name="Google Shape;516;p56"/>
          <p:cNvSpPr txBox="1"/>
          <p:nvPr/>
        </p:nvSpPr>
        <p:spPr>
          <a:xfrm>
            <a:off x="3352800" y="2057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Besar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7" name="Google Shape;517;p56"/>
          <p:cNvCxnSpPr/>
          <p:nvPr/>
        </p:nvCxnSpPr>
        <p:spPr>
          <a:xfrm>
            <a:off x="4876800" y="2743200"/>
            <a:ext cx="0" cy="91440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8" name="Google Shape;518;p56"/>
          <p:cNvCxnSpPr/>
          <p:nvPr/>
        </p:nvCxnSpPr>
        <p:spPr>
          <a:xfrm>
            <a:off x="2186306" y="3200398"/>
            <a:ext cx="0" cy="45720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9" name="Google Shape;519;p56"/>
          <p:cNvCxnSpPr/>
          <p:nvPr/>
        </p:nvCxnSpPr>
        <p:spPr>
          <a:xfrm>
            <a:off x="7303135" y="3200400"/>
            <a:ext cx="0" cy="45720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0" name="Google Shape;520;p56"/>
          <p:cNvCxnSpPr/>
          <p:nvPr/>
        </p:nvCxnSpPr>
        <p:spPr>
          <a:xfrm>
            <a:off x="2138681" y="3200400"/>
            <a:ext cx="5173979" cy="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1" name="Google Shape;521;p56"/>
          <p:cNvSpPr txBox="1"/>
          <p:nvPr/>
        </p:nvSpPr>
        <p:spPr>
          <a:xfrm>
            <a:off x="2628900" y="541464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 : Produk Adidas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7"/>
          <p:cNvSpPr txBox="1">
            <a:spLocks noGrp="1"/>
          </p:cNvSpPr>
          <p:nvPr>
            <p:ph type="title"/>
          </p:nvPr>
        </p:nvSpPr>
        <p:spPr>
          <a:xfrm>
            <a:off x="904239" y="395287"/>
            <a:ext cx="7620000" cy="6096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 Divisional Mengikut Pengguna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7"/>
          <p:cNvSpPr txBox="1"/>
          <p:nvPr/>
        </p:nvSpPr>
        <p:spPr>
          <a:xfrm>
            <a:off x="3276600" y="1981200"/>
            <a:ext cx="2895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28" name="Google Shape;528;p57"/>
          <p:cNvGrpSpPr/>
          <p:nvPr/>
        </p:nvGrpSpPr>
        <p:grpSpPr>
          <a:xfrm>
            <a:off x="812801" y="1229360"/>
            <a:ext cx="7518398" cy="3871913"/>
            <a:chOff x="1005841" y="1828800"/>
            <a:chExt cx="7518398" cy="3871913"/>
          </a:xfrm>
        </p:grpSpPr>
        <p:sp>
          <p:nvSpPr>
            <p:cNvPr id="529" name="Google Shape;529;p57"/>
            <p:cNvSpPr txBox="1"/>
            <p:nvPr/>
          </p:nvSpPr>
          <p:spPr>
            <a:xfrm>
              <a:off x="1005841" y="3657600"/>
              <a:ext cx="2504440" cy="2043113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Pengurus Bahagian Pakaian Kanak-kanak </a:t>
              </a: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7"/>
            <p:cNvSpPr txBox="1"/>
            <p:nvPr/>
          </p:nvSpPr>
          <p:spPr>
            <a:xfrm>
              <a:off x="3656965" y="3658869"/>
              <a:ext cx="2439035" cy="2041843"/>
            </a:xfrm>
            <a:prstGeom prst="rect">
              <a:avLst/>
            </a:prstGeom>
            <a:solidFill>
              <a:srgbClr val="CC99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Tahoma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Pengurus Bahagian Pakaian Remaja</a:t>
              </a: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7"/>
            <p:cNvSpPr txBox="1"/>
            <p:nvPr/>
          </p:nvSpPr>
          <p:spPr>
            <a:xfrm>
              <a:off x="2971800" y="1828800"/>
              <a:ext cx="3657600" cy="914400"/>
            </a:xfrm>
            <a:prstGeom prst="rect">
              <a:avLst/>
            </a:prstGeom>
            <a:solidFill>
              <a:srgbClr val="C4E0B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2" name="Google Shape;532;p57"/>
            <p:cNvSpPr txBox="1"/>
            <p:nvPr/>
          </p:nvSpPr>
          <p:spPr>
            <a:xfrm>
              <a:off x="6242684" y="3657600"/>
              <a:ext cx="2281555" cy="2043112"/>
            </a:xfrm>
            <a:prstGeom prst="rect">
              <a:avLst/>
            </a:prstGeom>
            <a:solidFill>
              <a:srgbClr val="FF66CC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Pengurus Bahagian Pakaian Dewasa</a:t>
              </a: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" name="Google Shape;533;p57"/>
            <p:cNvCxnSpPr/>
            <p:nvPr/>
          </p:nvCxnSpPr>
          <p:spPr>
            <a:xfrm>
              <a:off x="4876800" y="2743200"/>
              <a:ext cx="0" cy="914400"/>
            </a:xfrm>
            <a:prstGeom prst="straightConnector1">
              <a:avLst/>
            </a:prstGeom>
            <a:noFill/>
            <a:ln w="57150" cap="flat" cmpd="sng">
              <a:solidFill>
                <a:srgbClr val="FF99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4" name="Google Shape;534;p57"/>
            <p:cNvCxnSpPr/>
            <p:nvPr/>
          </p:nvCxnSpPr>
          <p:spPr>
            <a:xfrm>
              <a:off x="2258061" y="3200400"/>
              <a:ext cx="0" cy="457200"/>
            </a:xfrm>
            <a:prstGeom prst="straightConnector1">
              <a:avLst/>
            </a:prstGeom>
            <a:noFill/>
            <a:ln w="57150" cap="flat" cmpd="sng">
              <a:solidFill>
                <a:srgbClr val="FF99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5" name="Google Shape;535;p57"/>
            <p:cNvCxnSpPr/>
            <p:nvPr/>
          </p:nvCxnSpPr>
          <p:spPr>
            <a:xfrm>
              <a:off x="7158038" y="3200400"/>
              <a:ext cx="0" cy="457200"/>
            </a:xfrm>
            <a:prstGeom prst="straightConnector1">
              <a:avLst/>
            </a:prstGeom>
            <a:noFill/>
            <a:ln w="57150" cap="flat" cmpd="sng">
              <a:solidFill>
                <a:srgbClr val="FF99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6" name="Google Shape;536;p57"/>
            <p:cNvCxnSpPr/>
            <p:nvPr/>
          </p:nvCxnSpPr>
          <p:spPr>
            <a:xfrm>
              <a:off x="2258061" y="3200400"/>
              <a:ext cx="4899977" cy="0"/>
            </a:xfrm>
            <a:prstGeom prst="straightConnector1">
              <a:avLst/>
            </a:prstGeom>
            <a:noFill/>
            <a:ln w="57150" cap="flat" cmpd="sng">
              <a:solidFill>
                <a:srgbClr val="FF99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37" name="Google Shape;537;p57"/>
          <p:cNvSpPr txBox="1"/>
          <p:nvPr/>
        </p:nvSpPr>
        <p:spPr>
          <a:xfrm>
            <a:off x="3029109" y="1376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Besar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57"/>
          <p:cNvSpPr txBox="1"/>
          <p:nvPr/>
        </p:nvSpPr>
        <p:spPr>
          <a:xfrm>
            <a:off x="512760" y="5387816"/>
            <a:ext cx="5207319" cy="341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 : Kedai Pakaian Hari hari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8"/>
          <p:cNvSpPr txBox="1"/>
          <p:nvPr/>
        </p:nvSpPr>
        <p:spPr>
          <a:xfrm>
            <a:off x="685800" y="3657600"/>
            <a:ext cx="2504440" cy="1447800"/>
          </a:xfrm>
          <a:prstGeom prst="rect">
            <a:avLst/>
          </a:prstGeom>
          <a:solidFill>
            <a:srgbClr val="FF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Kawasan Tengah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58"/>
          <p:cNvSpPr txBox="1"/>
          <p:nvPr/>
        </p:nvSpPr>
        <p:spPr>
          <a:xfrm>
            <a:off x="3886200" y="3657600"/>
            <a:ext cx="2439035" cy="144780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Kawasan Utara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8"/>
          <p:cNvSpPr txBox="1">
            <a:spLocks noGrp="1"/>
          </p:cNvSpPr>
          <p:nvPr>
            <p:ph type="title"/>
          </p:nvPr>
        </p:nvSpPr>
        <p:spPr>
          <a:xfrm>
            <a:off x="1584960" y="461010"/>
            <a:ext cx="6896100" cy="6096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 Divisional Mengikut Geografik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8"/>
          <p:cNvSpPr txBox="1"/>
          <p:nvPr/>
        </p:nvSpPr>
        <p:spPr>
          <a:xfrm>
            <a:off x="2971800" y="1828800"/>
            <a:ext cx="3657600" cy="9144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7" name="Google Shape;547;p58"/>
          <p:cNvSpPr txBox="1"/>
          <p:nvPr/>
        </p:nvSpPr>
        <p:spPr>
          <a:xfrm>
            <a:off x="6777355" y="3657600"/>
            <a:ext cx="2132965" cy="14478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Pengurus</a:t>
            </a:r>
            <a:r>
              <a:rPr lang="en-US" sz="2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Kawasan</a:t>
            </a:r>
            <a:r>
              <a:rPr lang="en-US" sz="2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Selatan</a:t>
            </a:r>
            <a:endParaRPr sz="2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8"/>
          <p:cNvSpPr txBox="1"/>
          <p:nvPr/>
        </p:nvSpPr>
        <p:spPr>
          <a:xfrm>
            <a:off x="3276600" y="1981200"/>
            <a:ext cx="2895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9" name="Google Shape;549;p58"/>
          <p:cNvSpPr txBox="1"/>
          <p:nvPr/>
        </p:nvSpPr>
        <p:spPr>
          <a:xfrm>
            <a:off x="3352800" y="2057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None/>
            </a:pPr>
            <a: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Pengurus Besar</a:t>
            </a:r>
            <a:endParaRPr sz="28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58"/>
          <p:cNvCxnSpPr/>
          <p:nvPr/>
        </p:nvCxnSpPr>
        <p:spPr>
          <a:xfrm>
            <a:off x="4876800" y="2743200"/>
            <a:ext cx="0" cy="91440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1" name="Google Shape;551;p58"/>
          <p:cNvCxnSpPr/>
          <p:nvPr/>
        </p:nvCxnSpPr>
        <p:spPr>
          <a:xfrm>
            <a:off x="1676400" y="3200400"/>
            <a:ext cx="0" cy="45720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2" name="Google Shape;552;p58"/>
          <p:cNvCxnSpPr/>
          <p:nvPr/>
        </p:nvCxnSpPr>
        <p:spPr>
          <a:xfrm>
            <a:off x="7848600" y="3200400"/>
            <a:ext cx="0" cy="45720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3" name="Google Shape;553;p58"/>
          <p:cNvCxnSpPr/>
          <p:nvPr/>
        </p:nvCxnSpPr>
        <p:spPr>
          <a:xfrm>
            <a:off x="1676400" y="3200400"/>
            <a:ext cx="6172200" cy="0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4" name="Google Shape;554;p58"/>
          <p:cNvSpPr txBox="1"/>
          <p:nvPr/>
        </p:nvSpPr>
        <p:spPr>
          <a:xfrm>
            <a:off x="571818" y="5330190"/>
            <a:ext cx="781018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 : Perkhidmatan Bank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 txBox="1">
            <a:spLocks noGrp="1"/>
          </p:cNvSpPr>
          <p:nvPr>
            <p:ph type="title"/>
          </p:nvPr>
        </p:nvSpPr>
        <p:spPr>
          <a:xfrm>
            <a:off x="1691958" y="428624"/>
            <a:ext cx="5663882" cy="6858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edero"/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Federo"/>
                <a:ea typeface="Federo"/>
                <a:cs typeface="Federo"/>
                <a:sym typeface="Federo"/>
              </a:rPr>
              <a:t>Kebaikan Struktur Divisional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61" name="Google Shape;561;p59"/>
          <p:cNvSpPr txBox="1">
            <a:spLocks noGrp="1"/>
          </p:cNvSpPr>
          <p:nvPr>
            <p:ph type="body" idx="1"/>
          </p:nvPr>
        </p:nvSpPr>
        <p:spPr>
          <a:xfrm>
            <a:off x="119062" y="1558131"/>
            <a:ext cx="8372475" cy="366871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Noto Sans Symbols"/>
              <a:buNone/>
            </a:pPr>
            <a:r>
              <a:rPr lang="en-US" sz="2800" b="1" i="0" u="none" strike="noStrike" cap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Divisional Mengikut Produk</a:t>
            </a:r>
            <a:endParaRPr sz="2800" b="1" i="0" u="none" strike="noStrike" cap="non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Noto Sans Symbols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Meningkatkan kemahiran dalam pengeluaran produk</a:t>
            </a:r>
            <a:endParaRPr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Meningkatkan produktiviti dan kreativiti kerana berlakunya pengkhususan kerja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Mudah untuk menangani perubahan dan masalah dalam proses pengeluaran produk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9276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036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Calibri"/>
              <a:buNone/>
            </a:pPr>
            <a:endParaRPr sz="2300" b="1" i="0" u="none" strike="noStrike" cap="non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2" name="Google Shape;562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44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0"/>
          <p:cNvSpPr txBox="1">
            <a:spLocks noGrp="1"/>
          </p:cNvSpPr>
          <p:nvPr>
            <p:ph type="title"/>
          </p:nvPr>
        </p:nvSpPr>
        <p:spPr>
          <a:xfrm>
            <a:off x="1834198" y="319087"/>
            <a:ext cx="5440362" cy="6858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edero"/>
              <a:buNone/>
            </a:pPr>
            <a:r>
              <a:rPr lang="en-US" sz="2800" b="1" i="0" u="none" strike="noStrike" cap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Kebaikan Struktur Divisional</a:t>
            </a:r>
            <a:endParaRPr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0"/>
          <p:cNvSpPr txBox="1">
            <a:spLocks noGrp="1"/>
          </p:cNvSpPr>
          <p:nvPr>
            <p:ph type="body" idx="1"/>
          </p:nvPr>
        </p:nvSpPr>
        <p:spPr>
          <a:xfrm>
            <a:off x="814388" y="1004887"/>
            <a:ext cx="7700961" cy="416655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Divisional Mengikut Pengguna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Calibri"/>
              <a:buAutoNum type="romanLcPeriod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Meningkatkan tahap perkhidmatan dan kemahiran pekerja kerana dilatih untuk memenuhi kehendak pengguna.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036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Calibri"/>
              <a:buNone/>
            </a:pPr>
            <a:endParaRPr sz="28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40"/>
              <a:buNone/>
            </a:pP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Divisional Mengikut Georafik</a:t>
            </a:r>
            <a:endParaRPr sz="2800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4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Pengurus akan mempunyai pengetahuan yang luas tentang kehendak dan gelagat pengguna bagi kawasan masing-masing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6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45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1"/>
          <p:cNvSpPr txBox="1">
            <a:spLocks noGrp="1"/>
          </p:cNvSpPr>
          <p:nvPr>
            <p:ph type="body" idx="1"/>
          </p:nvPr>
        </p:nvSpPr>
        <p:spPr>
          <a:xfrm>
            <a:off x="400050" y="1671637"/>
            <a:ext cx="8115300" cy="257524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None/>
            </a:pPr>
            <a:r>
              <a:rPr lang="en-US" sz="2800" b="1" i="0" u="none" strike="noStrike" cap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Divisional Mengikut Produk</a:t>
            </a:r>
            <a:endParaRPr sz="2800" b="1" i="0" u="none" strike="noStrike" cap="non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Kos adalah tinggi kerana setiap produk mempunyai piawaian yang tertentu.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Pekerja bimbang mereka mahir dalam keluaran tertentu sahaja.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9784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46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8" name="Google Shape;578;p61"/>
          <p:cNvSpPr/>
          <p:nvPr/>
        </p:nvSpPr>
        <p:spPr>
          <a:xfrm>
            <a:off x="1914525" y="544513"/>
            <a:ext cx="5085715" cy="6858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30"/>
              <a:buFont typeface="Federo"/>
              <a:buNone/>
            </a:pPr>
            <a:r>
              <a:rPr lang="en-US" sz="2730" b="1" i="0" u="none" strike="noStrike" cap="none">
                <a:solidFill>
                  <a:srgbClr val="002060"/>
                </a:solidFill>
                <a:latin typeface="Federo"/>
                <a:ea typeface="Federo"/>
                <a:cs typeface="Federo"/>
                <a:sym typeface="Federo"/>
              </a:rPr>
              <a:t>Kelemahan Struktur Divisional</a:t>
            </a:r>
            <a:endParaRPr sz="14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2"/>
          <p:cNvSpPr txBox="1">
            <a:spLocks noGrp="1"/>
          </p:cNvSpPr>
          <p:nvPr>
            <p:ph type="body" idx="1"/>
          </p:nvPr>
        </p:nvSpPr>
        <p:spPr>
          <a:xfrm>
            <a:off x="242889" y="924560"/>
            <a:ext cx="8386762" cy="493585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None/>
            </a:pPr>
            <a: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Divisional Mengikut Pengguna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Pertindihan usaha dalam menguruskan operasi kerana penekanan kepada pengguna dan bukannya tugas.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Melibatkan kos yang tinggi untuk mengupah, melatih dan membangunkan ramai pengurus untuk setiap jenis pengguna.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9784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None/>
            </a:pPr>
            <a:r>
              <a:rPr lang="en-US" sz="2800" b="1" i="0" u="none" strike="noStrike" cap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Divisional Mengikut Georafik</a:t>
            </a:r>
            <a:endParaRPr sz="28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merasa kurang kuasa untuk mengawal pekerja cawangan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Kos yang tinggi akibat faktor demografi yang berbeza mengikut kawasan.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6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47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6" name="Google Shape;586;p62"/>
          <p:cNvSpPr/>
          <p:nvPr/>
        </p:nvSpPr>
        <p:spPr>
          <a:xfrm>
            <a:off x="786446" y="240664"/>
            <a:ext cx="6600825" cy="6858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30"/>
              <a:buFont typeface="Federo"/>
              <a:buNone/>
            </a:pPr>
            <a:r>
              <a:rPr lang="en-US" sz="273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Kelemahan Struktur Divisional</a:t>
            </a:r>
            <a:endParaRPr sz="1400" b="0" i="0" u="none" strike="noStrike" cap="none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3"/>
          <p:cNvSpPr txBox="1">
            <a:spLocks noGrp="1"/>
          </p:cNvSpPr>
          <p:nvPr>
            <p:ph type="title"/>
          </p:nvPr>
        </p:nvSpPr>
        <p:spPr>
          <a:xfrm>
            <a:off x="1756728" y="348615"/>
            <a:ext cx="3617912" cy="64452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 Struktur Matrik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63"/>
          <p:cNvSpPr txBox="1">
            <a:spLocks noGrp="1"/>
          </p:cNvSpPr>
          <p:nvPr>
            <p:ph type="body" idx="1"/>
          </p:nvPr>
        </p:nvSpPr>
        <p:spPr>
          <a:xfrm>
            <a:off x="528638" y="1485900"/>
            <a:ext cx="8087042" cy="324866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 b="0" i="0" u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Merupakan gabungan antara struktur divisional dan struktur fungsian.  </a:t>
            </a:r>
            <a:endParaRPr sz="28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Juga dikenali sebagai “sistem berbilang arahan”.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 b="0" i="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Staf membuat laporan kepada dua orang ketua iaitu ketua jabatan fungsian dan ketua jabatan divisional.</a:t>
            </a:r>
            <a:endParaRPr sz="2800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None/>
            </a:pPr>
            <a:endParaRPr sz="24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20066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4"/>
          <p:cNvSpPr txBox="1">
            <a:spLocks noGrp="1"/>
          </p:cNvSpPr>
          <p:nvPr>
            <p:ph type="title"/>
          </p:nvPr>
        </p:nvSpPr>
        <p:spPr>
          <a:xfrm>
            <a:off x="1871028" y="420370"/>
            <a:ext cx="3503612" cy="64452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iii.  Struktur Matrik</a:t>
            </a:r>
            <a:endParaRPr/>
          </a:p>
        </p:txBody>
      </p:sp>
      <p:sp>
        <p:nvSpPr>
          <p:cNvPr id="602" name="Google Shape;602;p64"/>
          <p:cNvSpPr txBox="1">
            <a:spLocks noGrp="1"/>
          </p:cNvSpPr>
          <p:nvPr>
            <p:ph type="body" idx="1"/>
          </p:nvPr>
        </p:nvSpPr>
        <p:spPr>
          <a:xfrm>
            <a:off x="182880" y="1257935"/>
            <a:ext cx="8595360" cy="449262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None/>
            </a:pPr>
            <a:endParaRPr sz="2400" b="0" i="0" u="none">
              <a:solidFill>
                <a:srgbClr val="40404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8432A"/>
              </a:buClr>
              <a:buSzPts val="2240"/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Ciri-ciri struktur matrik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80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Menggabungkan struktur divisional dan fungsian.</a:t>
            </a:r>
            <a:endParaRPr sz="2800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Mempunyai dua rantaian arahan; menegak dan melintang.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8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Pekerja perlu membuat laporan kepada dua ketua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(jabatan divisional dan jabatan fungsian)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404040"/>
              </a:buClr>
              <a:buSzPts val="224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 ini bercanggah dengan prinsip kesatuan arahan (unity of command) menyebabkan ianya sukar untuk diuruskan.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5"/>
          <p:cNvSpPr txBox="1"/>
          <p:nvPr/>
        </p:nvSpPr>
        <p:spPr>
          <a:xfrm>
            <a:off x="1336576" y="56084"/>
            <a:ext cx="4048224" cy="60801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edero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 Matrik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5"/>
          <p:cNvSpPr/>
          <p:nvPr/>
        </p:nvSpPr>
        <p:spPr>
          <a:xfrm>
            <a:off x="2555776" y="980728"/>
            <a:ext cx="3581400" cy="5334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Pengarah Urusan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3276600" y="1959496"/>
            <a:ext cx="1981200" cy="762000"/>
          </a:xfrm>
          <a:prstGeom prst="rect">
            <a:avLst/>
          </a:prstGeom>
          <a:solidFill>
            <a:srgbClr val="FEE5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Kewangan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65"/>
          <p:cNvSpPr/>
          <p:nvPr/>
        </p:nvSpPr>
        <p:spPr>
          <a:xfrm>
            <a:off x="533400" y="3254896"/>
            <a:ext cx="1905000" cy="762000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Projek 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65"/>
          <p:cNvSpPr/>
          <p:nvPr/>
        </p:nvSpPr>
        <p:spPr>
          <a:xfrm>
            <a:off x="2996714" y="3319030"/>
            <a:ext cx="2542074" cy="787973"/>
          </a:xfrm>
          <a:prstGeom prst="rect">
            <a:avLst/>
          </a:prstGeom>
          <a:solidFill>
            <a:srgbClr val="F5F4F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 Projek A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Kewangan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65"/>
          <p:cNvSpPr/>
          <p:nvPr/>
        </p:nvSpPr>
        <p:spPr>
          <a:xfrm>
            <a:off x="6228184" y="3218928"/>
            <a:ext cx="2543200" cy="786136"/>
          </a:xfrm>
          <a:prstGeom prst="rect">
            <a:avLst/>
          </a:prstGeom>
          <a:solidFill>
            <a:srgbClr val="F5F4F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 Projek A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Pemasaran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65"/>
          <p:cNvSpPr/>
          <p:nvPr/>
        </p:nvSpPr>
        <p:spPr>
          <a:xfrm>
            <a:off x="544606" y="4321696"/>
            <a:ext cx="1866900" cy="685800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</a:t>
            </a:r>
            <a:b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Projek 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65"/>
          <p:cNvSpPr/>
          <p:nvPr/>
        </p:nvSpPr>
        <p:spPr>
          <a:xfrm>
            <a:off x="2971800" y="4397896"/>
            <a:ext cx="2590800" cy="609600"/>
          </a:xfrm>
          <a:prstGeom prst="rect">
            <a:avLst/>
          </a:prstGeom>
          <a:solidFill>
            <a:srgbClr val="F5F4F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 Projek B 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Kewangan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5"/>
          <p:cNvSpPr/>
          <p:nvPr/>
        </p:nvSpPr>
        <p:spPr>
          <a:xfrm>
            <a:off x="6228184" y="4397896"/>
            <a:ext cx="2539008" cy="609600"/>
          </a:xfrm>
          <a:prstGeom prst="rect">
            <a:avLst/>
          </a:prstGeom>
          <a:solidFill>
            <a:srgbClr val="F5F4F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 Projek A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Pemasaran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5"/>
          <p:cNvSpPr/>
          <p:nvPr/>
        </p:nvSpPr>
        <p:spPr>
          <a:xfrm>
            <a:off x="544606" y="5312296"/>
            <a:ext cx="1866900" cy="685800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</a:t>
            </a:r>
            <a:b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Projek 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65"/>
          <p:cNvSpPr/>
          <p:nvPr/>
        </p:nvSpPr>
        <p:spPr>
          <a:xfrm>
            <a:off x="2971800" y="5388496"/>
            <a:ext cx="2590800" cy="609600"/>
          </a:xfrm>
          <a:prstGeom prst="rect">
            <a:avLst/>
          </a:prstGeom>
          <a:solidFill>
            <a:srgbClr val="F5F4F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 Projek C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Kewangan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5"/>
          <p:cNvSpPr/>
          <p:nvPr/>
        </p:nvSpPr>
        <p:spPr>
          <a:xfrm>
            <a:off x="6228184" y="5388496"/>
            <a:ext cx="2539008" cy="609600"/>
          </a:xfrm>
          <a:prstGeom prst="rect">
            <a:avLst/>
          </a:prstGeom>
          <a:solidFill>
            <a:srgbClr val="F5F4F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 Projek A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Pemasaran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1" name="Google Shape;621;p65"/>
          <p:cNvCxnSpPr/>
          <p:nvPr/>
        </p:nvCxnSpPr>
        <p:spPr>
          <a:xfrm rot="10800000" flipH="1">
            <a:off x="2722339" y="2950096"/>
            <a:ext cx="1490886" cy="26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2" name="Google Shape;622;p65"/>
          <p:cNvCxnSpPr/>
          <p:nvPr/>
        </p:nvCxnSpPr>
        <p:spPr>
          <a:xfrm>
            <a:off x="2771800" y="5767909"/>
            <a:ext cx="167307" cy="31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3" name="Google Shape;623;p65"/>
          <p:cNvCxnSpPr/>
          <p:nvPr/>
        </p:nvCxnSpPr>
        <p:spPr>
          <a:xfrm>
            <a:off x="2771800" y="4777309"/>
            <a:ext cx="200000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4" name="Google Shape;624;p65"/>
          <p:cNvSpPr/>
          <p:nvPr/>
        </p:nvSpPr>
        <p:spPr>
          <a:xfrm>
            <a:off x="6019800" y="1916832"/>
            <a:ext cx="2566988" cy="762000"/>
          </a:xfrm>
          <a:prstGeom prst="rect">
            <a:avLst/>
          </a:prstGeom>
          <a:solidFill>
            <a:srgbClr val="9CC2E5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Pemasaran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65"/>
          <p:cNvCxnSpPr/>
          <p:nvPr/>
        </p:nvCxnSpPr>
        <p:spPr>
          <a:xfrm rot="5400000">
            <a:off x="-1829593" y="3712890"/>
            <a:ext cx="4114800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6" name="Google Shape;626;p65"/>
          <p:cNvCxnSpPr/>
          <p:nvPr/>
        </p:nvCxnSpPr>
        <p:spPr>
          <a:xfrm>
            <a:off x="228600" y="1654696"/>
            <a:ext cx="73152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7" name="Google Shape;627;p65"/>
          <p:cNvCxnSpPr/>
          <p:nvPr/>
        </p:nvCxnSpPr>
        <p:spPr>
          <a:xfrm>
            <a:off x="4258861" y="1502296"/>
            <a:ext cx="8913" cy="45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8" name="Google Shape;628;p65"/>
          <p:cNvCxnSpPr/>
          <p:nvPr/>
        </p:nvCxnSpPr>
        <p:spPr>
          <a:xfrm flipH="1">
            <a:off x="4208785" y="2723084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p65"/>
          <p:cNvCxnSpPr>
            <a:endCxn id="612" idx="1"/>
          </p:cNvCxnSpPr>
          <p:nvPr/>
        </p:nvCxnSpPr>
        <p:spPr>
          <a:xfrm>
            <a:off x="228600" y="3634396"/>
            <a:ext cx="30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p65"/>
          <p:cNvCxnSpPr/>
          <p:nvPr/>
        </p:nvCxnSpPr>
        <p:spPr>
          <a:xfrm>
            <a:off x="228600" y="5767909"/>
            <a:ext cx="304800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1" name="Google Shape;631;p65"/>
          <p:cNvCxnSpPr/>
          <p:nvPr/>
        </p:nvCxnSpPr>
        <p:spPr>
          <a:xfrm>
            <a:off x="228600" y="4777309"/>
            <a:ext cx="304800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2" name="Google Shape;632;p65"/>
          <p:cNvCxnSpPr/>
          <p:nvPr/>
        </p:nvCxnSpPr>
        <p:spPr>
          <a:xfrm>
            <a:off x="2732485" y="2952700"/>
            <a:ext cx="39315" cy="28152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3" name="Google Shape;633;p65"/>
          <p:cNvCxnSpPr/>
          <p:nvPr/>
        </p:nvCxnSpPr>
        <p:spPr>
          <a:xfrm>
            <a:off x="2771800" y="3602360"/>
            <a:ext cx="200000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4" name="Google Shape;634;p65"/>
          <p:cNvCxnSpPr/>
          <p:nvPr/>
        </p:nvCxnSpPr>
        <p:spPr>
          <a:xfrm rot="10800000" flipH="1">
            <a:off x="1475656" y="4210347"/>
            <a:ext cx="6095579" cy="10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5" name="Google Shape;635;p65"/>
          <p:cNvCxnSpPr/>
          <p:nvPr/>
        </p:nvCxnSpPr>
        <p:spPr>
          <a:xfrm>
            <a:off x="5984428" y="2924944"/>
            <a:ext cx="159062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6" name="Google Shape;636;p65"/>
          <p:cNvCxnSpPr/>
          <p:nvPr/>
        </p:nvCxnSpPr>
        <p:spPr>
          <a:xfrm flipH="1">
            <a:off x="7570614" y="2708920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7" name="Google Shape;637;p65"/>
          <p:cNvCxnSpPr/>
          <p:nvPr/>
        </p:nvCxnSpPr>
        <p:spPr>
          <a:xfrm flipH="1">
            <a:off x="7532944" y="1654696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8" name="Google Shape;638;p65"/>
          <p:cNvCxnSpPr/>
          <p:nvPr/>
        </p:nvCxnSpPr>
        <p:spPr>
          <a:xfrm>
            <a:off x="6028184" y="5740153"/>
            <a:ext cx="167307" cy="31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9" name="Google Shape;639;p65"/>
          <p:cNvCxnSpPr/>
          <p:nvPr/>
        </p:nvCxnSpPr>
        <p:spPr>
          <a:xfrm>
            <a:off x="6028184" y="4749553"/>
            <a:ext cx="200000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0" name="Google Shape;640;p65"/>
          <p:cNvCxnSpPr/>
          <p:nvPr/>
        </p:nvCxnSpPr>
        <p:spPr>
          <a:xfrm>
            <a:off x="5988869" y="2924944"/>
            <a:ext cx="39315" cy="28152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1" name="Google Shape;641;p65"/>
          <p:cNvCxnSpPr/>
          <p:nvPr/>
        </p:nvCxnSpPr>
        <p:spPr>
          <a:xfrm>
            <a:off x="6028184" y="3574604"/>
            <a:ext cx="200000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2" name="Google Shape;642;p65"/>
          <p:cNvCxnSpPr/>
          <p:nvPr/>
        </p:nvCxnSpPr>
        <p:spPr>
          <a:xfrm flipH="1">
            <a:off x="4208785" y="3989884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3" name="Google Shape;643;p65"/>
          <p:cNvCxnSpPr/>
          <p:nvPr/>
        </p:nvCxnSpPr>
        <p:spPr>
          <a:xfrm flipH="1">
            <a:off x="1472481" y="4004769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4" name="Google Shape;644;p65"/>
          <p:cNvCxnSpPr/>
          <p:nvPr/>
        </p:nvCxnSpPr>
        <p:spPr>
          <a:xfrm flipH="1">
            <a:off x="7547453" y="3989884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5" name="Google Shape;645;p65"/>
          <p:cNvCxnSpPr/>
          <p:nvPr/>
        </p:nvCxnSpPr>
        <p:spPr>
          <a:xfrm rot="10800000" flipH="1">
            <a:off x="1478831" y="5203574"/>
            <a:ext cx="6095579" cy="10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6" name="Google Shape;646;p65"/>
          <p:cNvCxnSpPr/>
          <p:nvPr/>
        </p:nvCxnSpPr>
        <p:spPr>
          <a:xfrm flipH="1">
            <a:off x="4211960" y="4983111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7" name="Google Shape;647;p65"/>
          <p:cNvCxnSpPr/>
          <p:nvPr/>
        </p:nvCxnSpPr>
        <p:spPr>
          <a:xfrm flipH="1">
            <a:off x="1475656" y="4997996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8" name="Google Shape;648;p65"/>
          <p:cNvCxnSpPr/>
          <p:nvPr/>
        </p:nvCxnSpPr>
        <p:spPr>
          <a:xfrm flipH="1">
            <a:off x="7550628" y="4983111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9" name="Google Shape;649;p65"/>
          <p:cNvCxnSpPr/>
          <p:nvPr/>
        </p:nvCxnSpPr>
        <p:spPr>
          <a:xfrm rot="10800000" flipH="1">
            <a:off x="1478831" y="6211686"/>
            <a:ext cx="6095579" cy="10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0" name="Google Shape;650;p65"/>
          <p:cNvCxnSpPr/>
          <p:nvPr/>
        </p:nvCxnSpPr>
        <p:spPr>
          <a:xfrm flipH="1">
            <a:off x="4211960" y="5991223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1" name="Google Shape;651;p65"/>
          <p:cNvCxnSpPr/>
          <p:nvPr/>
        </p:nvCxnSpPr>
        <p:spPr>
          <a:xfrm flipH="1">
            <a:off x="1475656" y="6006108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2" name="Google Shape;652;p65"/>
          <p:cNvCxnSpPr/>
          <p:nvPr/>
        </p:nvCxnSpPr>
        <p:spPr>
          <a:xfrm flipH="1">
            <a:off x="7550628" y="5991223"/>
            <a:ext cx="3175" cy="2312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6"/>
          <p:cNvSpPr txBox="1">
            <a:spLocks noGrp="1"/>
          </p:cNvSpPr>
          <p:nvPr>
            <p:ph type="title"/>
          </p:nvPr>
        </p:nvSpPr>
        <p:spPr>
          <a:xfrm>
            <a:off x="1364297" y="442595"/>
            <a:ext cx="4061143" cy="55308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edero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Kebaikan Struktur Matrik </a:t>
            </a:r>
            <a:endParaRPr/>
          </a:p>
        </p:txBody>
      </p:sp>
      <p:sp>
        <p:nvSpPr>
          <p:cNvPr id="659" name="Google Shape;659;p66"/>
          <p:cNvSpPr txBox="1">
            <a:spLocks noGrp="1"/>
          </p:cNvSpPr>
          <p:nvPr>
            <p:ph type="body" idx="1"/>
          </p:nvPr>
        </p:nvSpPr>
        <p:spPr>
          <a:xfrm>
            <a:off x="757238" y="1204595"/>
            <a:ext cx="7848281" cy="438340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72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Kebolehan untuk mengendalikan 2 matlamat serentak kerana ada 2 penugas autoriti.</a:t>
            </a:r>
            <a:endParaRPr sz="2800">
              <a:solidFill>
                <a:srgbClr val="9933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72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Organisasi lebih peka kepada perubahan dalam persekitaran.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72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Kerjasama antara bidang dapat dilakukan dengan lebih cekap dan berkesan.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72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Peningkatan komunikasi antara pekerja dapat meningkatkan pertumbuhan perniagaan dan kepelbagaian keluaran dapat dilakukan. </a:t>
            </a:r>
            <a:endParaRPr sz="2800">
              <a:solidFill>
                <a:srgbClr val="99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6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51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7"/>
          <p:cNvSpPr txBox="1">
            <a:spLocks noGrp="1"/>
          </p:cNvSpPr>
          <p:nvPr>
            <p:ph type="title"/>
          </p:nvPr>
        </p:nvSpPr>
        <p:spPr>
          <a:xfrm>
            <a:off x="1681163" y="240664"/>
            <a:ext cx="4424998" cy="622936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Font typeface="Federo"/>
              <a:buNone/>
            </a:pPr>
            <a:r>
              <a:rPr lang="en-US" sz="2800" b="1" i="0" u="none" strike="noStrike" cap="none">
                <a:solidFill>
                  <a:srgbClr val="385623"/>
                </a:solidFill>
                <a:latin typeface="Federo"/>
                <a:ea typeface="Federo"/>
                <a:cs typeface="Federo"/>
                <a:sym typeface="Federo"/>
              </a:rPr>
              <a:t>Kelemahan Struktur Matrik</a:t>
            </a:r>
            <a:endParaRPr sz="2800" b="1" i="0" u="none" strike="noStrike" cap="none">
              <a:solidFill>
                <a:srgbClr val="385623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667" name="Google Shape;667;p67"/>
          <p:cNvSpPr txBox="1">
            <a:spLocks noGrp="1"/>
          </p:cNvSpPr>
          <p:nvPr>
            <p:ph type="body" idx="1"/>
          </p:nvPr>
        </p:nvSpPr>
        <p:spPr>
          <a:xfrm>
            <a:off x="728664" y="1271270"/>
            <a:ext cx="7786686" cy="392049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Kos pengurusan yang tinggi, contohnya apabila lebih banyak perbincangan terpaksa dilakukan untuk mencapai kesepakatan.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Ketua yang ramai akan menyebabkan  perselisihan faham antara staf dan pengurus (percanggahan arahan).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/>
            </a:pPr>
            <a:r>
              <a:rPr lang="en-US" sz="2800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Kuasa selalunya didominasi oleh individu-individu yang ekstrovert (menonjol).</a:t>
            </a:r>
            <a:endParaRPr sz="2800">
              <a:solidFill>
                <a:srgbClr val="9933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514350" lvl="0" indent="-3365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6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52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53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4" name="Google Shape;674;p68"/>
          <p:cNvSpPr txBox="1"/>
          <p:nvPr/>
        </p:nvSpPr>
        <p:spPr>
          <a:xfrm>
            <a:off x="5072062" y="3614737"/>
            <a:ext cx="407193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TAMAT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1786</Words>
  <Application>Microsoft Office PowerPoint</Application>
  <PresentationFormat>全屏显示(4:3)</PresentationFormat>
  <Paragraphs>424</Paragraphs>
  <Slides>53</Slides>
  <Notes>53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54" baseType="lpstr">
      <vt:lpstr>Office Theme</vt:lpstr>
      <vt:lpstr>PowerPoint 演示文稿</vt:lpstr>
      <vt:lpstr>PowerPoint 演示文稿</vt:lpstr>
      <vt:lpstr>2.3.1 PENGENALAN PENGORGANISASIAN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ii. Struktur Divisional </vt:lpstr>
      <vt:lpstr>ii. Struktur Divisional </vt:lpstr>
      <vt:lpstr>Struktur Divisional Mengikut Produk</vt:lpstr>
      <vt:lpstr>Struktur Divisional Mengikut Pengguna</vt:lpstr>
      <vt:lpstr>Struktur Divisional Mengikut Geografik</vt:lpstr>
      <vt:lpstr>Kebaikan Struktur Divisional</vt:lpstr>
      <vt:lpstr>Kebaikan Struktur Divisional</vt:lpstr>
      <vt:lpstr>PowerPoint 演示文稿</vt:lpstr>
      <vt:lpstr>PowerPoint 演示文稿</vt:lpstr>
      <vt:lpstr>iii.  Struktur Matrik</vt:lpstr>
      <vt:lpstr>iii.  Struktur Matrik</vt:lpstr>
      <vt:lpstr>PowerPoint 演示文稿</vt:lpstr>
      <vt:lpstr>Kebaikan Struktur Matrik </vt:lpstr>
      <vt:lpstr>Kelemahan Struktur Matrik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Suhaida Binti. Abu Bakar</dc:creator>
  <cp:lastModifiedBy>SEE ZHI KAI</cp:lastModifiedBy>
  <cp:revision>4</cp:revision>
  <cp:lastPrinted>2022-08-04T08:09:32Z</cp:lastPrinted>
  <dcterms:modified xsi:type="dcterms:W3CDTF">2022-11-21T22:13:38Z</dcterms:modified>
</cp:coreProperties>
</file>