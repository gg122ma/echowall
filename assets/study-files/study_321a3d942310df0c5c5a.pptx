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</p:sldIdLst>
  <p:sldSz cx="12192000" cy="6858000"/>
  <p:notesSz cx="6858000" cy="9144000"/>
  <p:embeddedFontLst>
    <p:embeddedFont>
      <p:font typeface="Calibri" panose="020F0502020204030204" pitchFamily="34" charset="0"/>
      <p:regular r:id="rId99"/>
      <p:bold r:id="rId100"/>
      <p:italic r:id="rId101"/>
      <p:boldItalic r:id="rId102"/>
    </p:embeddedFont>
    <p:embeddedFont>
      <p:font typeface="Century Gothic" panose="020B0502020202020204" pitchFamily="34" charset="0"/>
      <p:regular r:id="rId103"/>
      <p:bold r:id="rId104"/>
      <p:italic r:id="rId105"/>
      <p:boldItalic r:id="rId106"/>
    </p:embeddedFont>
    <p:embeddedFont>
      <p:font typeface="Verdana" panose="020B0604030504040204" pitchFamily="34" charset="0"/>
      <p:regular r:id="rId107"/>
      <p:bold r:id="rId108"/>
      <p:italic r:id="rId109"/>
      <p:boldItalic r:id="rId1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44D8F7-DC1F-408D-8AE7-CB19EDCD78D5}">
  <a:tblStyle styleId="{7544D8F7-DC1F-408D-8AE7-CB19EDCD78D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42EE6C2-54DE-4894-9E7C-0CFA9424715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 /><Relationship Id="rId21" Type="http://schemas.openxmlformats.org/officeDocument/2006/relationships/slide" Target="slides/slide20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84" Type="http://schemas.openxmlformats.org/officeDocument/2006/relationships/slide" Target="slides/slide83.xml" /><Relationship Id="rId89" Type="http://schemas.openxmlformats.org/officeDocument/2006/relationships/slide" Target="slides/slide88.xml" /><Relationship Id="rId112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07" Type="http://schemas.openxmlformats.org/officeDocument/2006/relationships/font" Target="fonts/font9.fntdata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slide" Target="slides/slide73.xml" /><Relationship Id="rId79" Type="http://schemas.openxmlformats.org/officeDocument/2006/relationships/slide" Target="slides/slide78.xml" /><Relationship Id="rId87" Type="http://schemas.openxmlformats.org/officeDocument/2006/relationships/slide" Target="slides/slide86.xml" /><Relationship Id="rId102" Type="http://schemas.openxmlformats.org/officeDocument/2006/relationships/font" Target="fonts/font4.fntdata" /><Relationship Id="rId110" Type="http://schemas.openxmlformats.org/officeDocument/2006/relationships/font" Target="fonts/font12.fntdata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82" Type="http://schemas.openxmlformats.org/officeDocument/2006/relationships/slide" Target="slides/slide81.xml" /><Relationship Id="rId90" Type="http://schemas.openxmlformats.org/officeDocument/2006/relationships/slide" Target="slides/slide89.xml" /><Relationship Id="rId95" Type="http://schemas.openxmlformats.org/officeDocument/2006/relationships/slide" Target="slides/slide94.xml" /><Relationship Id="rId19" Type="http://schemas.openxmlformats.org/officeDocument/2006/relationships/slide" Target="slides/slide1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slide" Target="slides/slide76.xml" /><Relationship Id="rId100" Type="http://schemas.openxmlformats.org/officeDocument/2006/relationships/font" Target="fonts/font2.fntdata" /><Relationship Id="rId105" Type="http://schemas.openxmlformats.org/officeDocument/2006/relationships/font" Target="fonts/font7.fntdata" /><Relationship Id="rId113" Type="http://schemas.openxmlformats.org/officeDocument/2006/relationships/theme" Target="theme/theme1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slide" Target="slides/slide79.xml" /><Relationship Id="rId85" Type="http://schemas.openxmlformats.org/officeDocument/2006/relationships/slide" Target="slides/slide84.xml" /><Relationship Id="rId93" Type="http://schemas.openxmlformats.org/officeDocument/2006/relationships/slide" Target="slides/slide92.xml" /><Relationship Id="rId9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103" Type="http://schemas.openxmlformats.org/officeDocument/2006/relationships/font" Target="fonts/font5.fntdata" /><Relationship Id="rId108" Type="http://schemas.openxmlformats.org/officeDocument/2006/relationships/font" Target="fonts/font10.fntdata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slide" Target="slides/slide74.xml" /><Relationship Id="rId83" Type="http://schemas.openxmlformats.org/officeDocument/2006/relationships/slide" Target="slides/slide82.xml" /><Relationship Id="rId88" Type="http://schemas.openxmlformats.org/officeDocument/2006/relationships/slide" Target="slides/slide87.xml" /><Relationship Id="rId91" Type="http://schemas.openxmlformats.org/officeDocument/2006/relationships/slide" Target="slides/slide90.xml" /><Relationship Id="rId96" Type="http://schemas.openxmlformats.org/officeDocument/2006/relationships/slide" Target="slides/slide95.xml" /><Relationship Id="rId1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106" Type="http://schemas.openxmlformats.org/officeDocument/2006/relationships/font" Target="fonts/font8.fntdata" /><Relationship Id="rId114" Type="http://schemas.openxmlformats.org/officeDocument/2006/relationships/tableStyles" Target="tableStyles.xml" /><Relationship Id="rId10" Type="http://schemas.openxmlformats.org/officeDocument/2006/relationships/slide" Target="slides/slide9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slide" Target="slides/slide77.xml" /><Relationship Id="rId81" Type="http://schemas.openxmlformats.org/officeDocument/2006/relationships/slide" Target="slides/slide80.xml" /><Relationship Id="rId86" Type="http://schemas.openxmlformats.org/officeDocument/2006/relationships/slide" Target="slides/slide85.xml" /><Relationship Id="rId94" Type="http://schemas.openxmlformats.org/officeDocument/2006/relationships/slide" Target="slides/slide93.xml" /><Relationship Id="rId99" Type="http://schemas.openxmlformats.org/officeDocument/2006/relationships/font" Target="fonts/font1.fntdata" /><Relationship Id="rId101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9" Type="http://schemas.openxmlformats.org/officeDocument/2006/relationships/slide" Target="slides/slide38.xml" /><Relationship Id="rId109" Type="http://schemas.openxmlformats.org/officeDocument/2006/relationships/font" Target="fonts/font11.fntdata" /><Relationship Id="rId34" Type="http://schemas.openxmlformats.org/officeDocument/2006/relationships/slide" Target="slides/slide33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76" Type="http://schemas.openxmlformats.org/officeDocument/2006/relationships/slide" Target="slides/slide75.xml" /><Relationship Id="rId97" Type="http://schemas.openxmlformats.org/officeDocument/2006/relationships/slide" Target="slides/slide96.xml" /><Relationship Id="rId104" Type="http://schemas.openxmlformats.org/officeDocument/2006/relationships/font" Target="fonts/font6.fntdata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92" Type="http://schemas.openxmlformats.org/officeDocument/2006/relationships/slide" Target="slides/slide9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 /><Relationship Id="rId1" Type="http://schemas.openxmlformats.org/officeDocument/2006/relationships/notesMaster" Target="../notesMasters/notesMaster1.xml" 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 /><Relationship Id="rId1" Type="http://schemas.openxmlformats.org/officeDocument/2006/relationships/notesMaster" Target="../notesMasters/notesMaster1.xml" 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 /><Relationship Id="rId1" Type="http://schemas.openxmlformats.org/officeDocument/2006/relationships/notesMaster" Target="../notesMasters/notesMaster1.xml" 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 /><Relationship Id="rId1" Type="http://schemas.openxmlformats.org/officeDocument/2006/relationships/notesMaster" Target="../notesMasters/notesMaster1.xml" 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 /><Relationship Id="rId1" Type="http://schemas.openxmlformats.org/officeDocument/2006/relationships/notesMaster" Target="../notesMasters/notesMaster1.xml" 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 /><Relationship Id="rId1" Type="http://schemas.openxmlformats.org/officeDocument/2006/relationships/notesMaster" Target="../notesMasters/notesMaster1.xml" 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 /><Relationship Id="rId1" Type="http://schemas.openxmlformats.org/officeDocument/2006/relationships/notesMaster" Target="../notesMasters/notesMaster1.xml" 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 /><Relationship Id="rId1" Type="http://schemas.openxmlformats.org/officeDocument/2006/relationships/notesMaster" Target="../notesMasters/notesMaster1.xml" 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 /><Relationship Id="rId1" Type="http://schemas.openxmlformats.org/officeDocument/2006/relationships/notesMaster" Target="../notesMasters/notesMaster1.xml" 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 /><Relationship Id="rId1" Type="http://schemas.openxmlformats.org/officeDocument/2006/relationships/notesMaster" Target="../notesMasters/notesMaster1.xml" 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 /><Relationship Id="rId1" Type="http://schemas.openxmlformats.org/officeDocument/2006/relationships/notesMaster" Target="../notesMasters/notesMaster1.xml" 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 /><Relationship Id="rId1" Type="http://schemas.openxmlformats.org/officeDocument/2006/relationships/notesMaster" Target="../notesMasters/notesMaster1.xml" 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 /><Relationship Id="rId1" Type="http://schemas.openxmlformats.org/officeDocument/2006/relationships/notesMaster" Target="../notesMasters/notesMaster1.xml" 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 /><Relationship Id="rId1" Type="http://schemas.openxmlformats.org/officeDocument/2006/relationships/notesMaster" Target="../notesMasters/notesMaster1.xml" 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 /><Relationship Id="rId1" Type="http://schemas.openxmlformats.org/officeDocument/2006/relationships/notesMaster" Target="../notesMasters/notesMaster1.xml" 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 /><Relationship Id="rId1" Type="http://schemas.openxmlformats.org/officeDocument/2006/relationships/notesMaster" Target="../notesMasters/notesMaster1.xml" 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 /><Relationship Id="rId1" Type="http://schemas.openxmlformats.org/officeDocument/2006/relationships/notesMaster" Target="../notesMasters/notesMaster1.xml" 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 /><Relationship Id="rId1" Type="http://schemas.openxmlformats.org/officeDocument/2006/relationships/notesMaster" Target="../notesMasters/notesMaster1.xml" 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 /><Relationship Id="rId1" Type="http://schemas.openxmlformats.org/officeDocument/2006/relationships/notesMaster" Target="../notesMasters/notesMaster1.xml" 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 /><Relationship Id="rId1" Type="http://schemas.openxmlformats.org/officeDocument/2006/relationships/notesMaster" Target="../notesMasters/notesMaster1.xml" 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 /><Relationship Id="rId1" Type="http://schemas.openxmlformats.org/officeDocument/2006/relationships/notesMaster" Target="../notesMasters/notesMaster1.xml" 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 /><Relationship Id="rId1" Type="http://schemas.openxmlformats.org/officeDocument/2006/relationships/notesMaster" Target="../notesMasters/notesMaster1.xml" 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 /><Relationship Id="rId1" Type="http://schemas.openxmlformats.org/officeDocument/2006/relationships/notesMaster" Target="../notesMasters/notesMaster1.xml" 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 /><Relationship Id="rId1" Type="http://schemas.openxmlformats.org/officeDocument/2006/relationships/notesMaster" Target="../notesMasters/notesMaster1.xml" 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 /><Relationship Id="rId1" Type="http://schemas.openxmlformats.org/officeDocument/2006/relationships/notesMaster" Target="../notesMasters/notesMaster1.xml" 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 /><Relationship Id="rId1" Type="http://schemas.openxmlformats.org/officeDocument/2006/relationships/notesMaster" Target="../notesMasters/notesMaster1.xml" 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 /><Relationship Id="rId1" Type="http://schemas.openxmlformats.org/officeDocument/2006/relationships/notesMaster" Target="../notesMasters/notesMaster1.xml" 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 /><Relationship Id="rId1" Type="http://schemas.openxmlformats.org/officeDocument/2006/relationships/notesMaster" Target="../notesMasters/notesMaster1.xml" 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 /><Relationship Id="rId1" Type="http://schemas.openxmlformats.org/officeDocument/2006/relationships/notesMaster" Target="../notesMasters/notesMaster1.xml" 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 /><Relationship Id="rId1" Type="http://schemas.openxmlformats.org/officeDocument/2006/relationships/notesMaster" Target="../notesMasters/notesMaster1.xml" 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 /><Relationship Id="rId1" Type="http://schemas.openxmlformats.org/officeDocument/2006/relationships/notesMaster" Target="../notesMasters/notesMaster1.xml" 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 /><Relationship Id="rId1" Type="http://schemas.openxmlformats.org/officeDocument/2006/relationships/notesMaster" Target="../notesMasters/notesMaster1.xml" 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 /><Relationship Id="rId1" Type="http://schemas.openxmlformats.org/officeDocument/2006/relationships/notesMaster" Target="../notesMasters/notesMaster1.xml" 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 /><Relationship Id="rId1" Type="http://schemas.openxmlformats.org/officeDocument/2006/relationships/notesMaster" Target="../notesMasters/notesMaster1.xml" 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 /><Relationship Id="rId1" Type="http://schemas.openxmlformats.org/officeDocument/2006/relationships/notesMaster" Target="../notesMasters/notesMaster1.xml" 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 /><Relationship Id="rId1" Type="http://schemas.openxmlformats.org/officeDocument/2006/relationships/notesMaster" Target="../notesMasters/notesMaster1.xml" 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 /><Relationship Id="rId1" Type="http://schemas.openxmlformats.org/officeDocument/2006/relationships/notesMaster" Target="../notesMasters/notesMaster1.xml" 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 /><Relationship Id="rId1" Type="http://schemas.openxmlformats.org/officeDocument/2006/relationships/notesMaster" Target="../notesMasters/notesMaster1.xml" 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 /><Relationship Id="rId1" Type="http://schemas.openxmlformats.org/officeDocument/2006/relationships/notesMaster" Target="../notesMasters/notesMaster1.xml" 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 /><Relationship Id="rId1" Type="http://schemas.openxmlformats.org/officeDocument/2006/relationships/notesMaster" Target="../notesMasters/notesMaster1.xml" 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 /><Relationship Id="rId1" Type="http://schemas.openxmlformats.org/officeDocument/2006/relationships/notesMaster" Target="../notesMasters/notesMaster1.xml" 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 /><Relationship Id="rId1" Type="http://schemas.openxmlformats.org/officeDocument/2006/relationships/notesMaster" Target="../notesMasters/notesMaster1.xml" 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 /><Relationship Id="rId1" Type="http://schemas.openxmlformats.org/officeDocument/2006/relationships/notesMaster" Target="../notesMasters/notesMaster1.xml" 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 /><Relationship Id="rId1" Type="http://schemas.openxmlformats.org/officeDocument/2006/relationships/notesMaster" Target="../notesMasters/notesMaster1.xml" 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 /><Relationship Id="rId1" Type="http://schemas.openxmlformats.org/officeDocument/2006/relationships/notesMaster" Target="../notesMasters/notesMaster1.xml" 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5" name="Google Shape;33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" name="Google Shape;35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" name="Google Shape;36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" name="Google Shape;37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" name="Google Shape;42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8" name="Google Shape;43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2" name="Google Shape;45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0" name="Google Shape;47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3" name="Google Shape;48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3" name="Google Shape;50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9" name="Google Shape;50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0" name="Google Shape;52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7" name="Google Shape;52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3" name="Google Shape;53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4" name="Google Shape;54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1" name="Google Shape;55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7" name="Google Shape;55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7" name="Google Shape;56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2" name="Google Shape;58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9" name="Google Shape;58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5" name="Google Shape;59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5" name="Google Shape;60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2" name="Google Shape;61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8" name="Google Shape;61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9" name="Google Shape;629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8" name="Google Shape;63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4" name="Google Shape;644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0" name="Google Shape;650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7" name="Google Shape;657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4" name="Google Shape;66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1" name="Google Shape;67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8" name="Google Shape;678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6" name="Google Shape;68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2" name="Google Shape;692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2" name="Google Shape;702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0" name="Google Shape;710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0" name="Google Shape;720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0" name="Google Shape;730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6" name="Google Shape;73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2" name="Google Shape;742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5" name="Google Shape;755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0" name="Google Shape;770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7" name="Google Shape;777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1" name="Google Shape;791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8" name="Google Shape;798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6" name="Google Shape;806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3" name="Google Shape;813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0" name="Google Shape;830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3" name="Google Shape;843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6" name="Google Shape;856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2" name="Google Shape;872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1" name="Google Shape;881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5" name="Google Shape;895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jpg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jpg" /><Relationship Id="rId5" Type="http://schemas.openxmlformats.org/officeDocument/2006/relationships/image" Target="../media/image6.jpg" /><Relationship Id="rId4" Type="http://schemas.openxmlformats.org/officeDocument/2006/relationships/image" Target="../media/image5.jpg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.jpg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 /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4.jpg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 /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8.png" /><Relationship Id="rId5" Type="http://schemas.openxmlformats.org/officeDocument/2006/relationships/image" Target="../media/image17.jpg" /><Relationship Id="rId4" Type="http://schemas.openxmlformats.org/officeDocument/2006/relationships/image" Target="../media/image16.jpg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 /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 /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 /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 /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 /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 /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 /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 /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 /><Relationship Id="rId1" Type="http://schemas.openxmlformats.org/officeDocument/2006/relationships/slideLayout" Target="../slideLayouts/slideLayout2.xml" 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 /><Relationship Id="rId1" Type="http://schemas.openxmlformats.org/officeDocument/2006/relationships/slideLayout" Target="../slideLayouts/slideLayout2.xml" 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 /><Relationship Id="rId1" Type="http://schemas.openxmlformats.org/officeDocument/2006/relationships/slideLayout" Target="../slideLayouts/slideLayout2.xml" 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 /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 /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 /><Relationship Id="rId1" Type="http://schemas.openxmlformats.org/officeDocument/2006/relationships/slideLayout" Target="../slideLayouts/slideLayout2.xml" 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 /><Relationship Id="rId1" Type="http://schemas.openxmlformats.org/officeDocument/2006/relationships/slideLayout" Target="../slideLayouts/slideLayout2.xml" 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 /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 /><Relationship Id="rId1" Type="http://schemas.openxmlformats.org/officeDocument/2006/relationships/slideLayout" Target="../slideLayouts/slideLayout2.xml" 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67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1.jpg" 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 /><Relationship Id="rId1" Type="http://schemas.openxmlformats.org/officeDocument/2006/relationships/slideLayout" Target="../slideLayouts/slideLayout2.xml" 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 /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 /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 /><Relationship Id="rId1" Type="http://schemas.openxmlformats.org/officeDocument/2006/relationships/slideLayout" Target="../slideLayouts/slideLayout2.xml" 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 /><Relationship Id="rId2" Type="http://schemas.openxmlformats.org/officeDocument/2006/relationships/notesSlide" Target="../notesSlides/notesSlide72.xml" /><Relationship Id="rId1" Type="http://schemas.openxmlformats.org/officeDocument/2006/relationships/slideLayout" Target="../slideLayouts/slideLayout2.xml" 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 /><Relationship Id="rId1" Type="http://schemas.openxmlformats.org/officeDocument/2006/relationships/slideLayout" Target="../slideLayouts/slideLayout2.xml" 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 /><Relationship Id="rId2" Type="http://schemas.openxmlformats.org/officeDocument/2006/relationships/notesSlide" Target="../notesSlides/notesSlide74.xml" /><Relationship Id="rId1" Type="http://schemas.openxmlformats.org/officeDocument/2006/relationships/slideLayout" Target="../slideLayouts/slideLayout2.xml" 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 /><Relationship Id="rId1" Type="http://schemas.openxmlformats.org/officeDocument/2006/relationships/slideLayout" Target="../slideLayouts/slideLayout2.xml" 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 /><Relationship Id="rId1" Type="http://schemas.openxmlformats.org/officeDocument/2006/relationships/slideLayout" Target="../slideLayouts/slideLayout2.xml" 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 /><Relationship Id="rId2" Type="http://schemas.openxmlformats.org/officeDocument/2006/relationships/notesSlide" Target="../notesSlides/notesSlide77.xml" /><Relationship Id="rId1" Type="http://schemas.openxmlformats.org/officeDocument/2006/relationships/slideLayout" Target="../slideLayouts/slideLayout2.xml" 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 /><Relationship Id="rId1" Type="http://schemas.openxmlformats.org/officeDocument/2006/relationships/slideLayout" Target="../slideLayouts/slideLayout2.xml" 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 /><Relationship Id="rId1" Type="http://schemas.openxmlformats.org/officeDocument/2006/relationships/slideLayout" Target="../slideLayouts/slideLayout2.xml" 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 /><Relationship Id="rId1" Type="http://schemas.openxmlformats.org/officeDocument/2006/relationships/slideLayout" Target="../slideLayouts/slideLayout2.xml" 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 /><Relationship Id="rId1" Type="http://schemas.openxmlformats.org/officeDocument/2006/relationships/slideLayout" Target="../slideLayouts/slideLayout2.xml" 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 /><Relationship Id="rId2" Type="http://schemas.openxmlformats.org/officeDocument/2006/relationships/notesSlide" Target="../notesSlides/notesSlide8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6.png" 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 /><Relationship Id="rId2" Type="http://schemas.openxmlformats.org/officeDocument/2006/relationships/notesSlide" Target="../notesSlides/notesSlide83.xml" /><Relationship Id="rId1" Type="http://schemas.openxmlformats.org/officeDocument/2006/relationships/slideLayout" Target="../slideLayouts/slideLayout2.xml" 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 /><Relationship Id="rId1" Type="http://schemas.openxmlformats.org/officeDocument/2006/relationships/slideLayout" Target="../slideLayouts/slideLayout2.xml" 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 /><Relationship Id="rId2" Type="http://schemas.openxmlformats.org/officeDocument/2006/relationships/notesSlide" Target="../notesSlides/notesSlide85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9.jpg" 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 /><Relationship Id="rId1" Type="http://schemas.openxmlformats.org/officeDocument/2006/relationships/slideLayout" Target="../slideLayouts/slideLayout2.xml" 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 /><Relationship Id="rId2" Type="http://schemas.openxmlformats.org/officeDocument/2006/relationships/notesSlide" Target="../notesSlides/notesSlide87.xml" /><Relationship Id="rId1" Type="http://schemas.openxmlformats.org/officeDocument/2006/relationships/slideLayout" Target="../slideLayouts/slideLayout2.xml" 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 /><Relationship Id="rId1" Type="http://schemas.openxmlformats.org/officeDocument/2006/relationships/slideLayout" Target="../slideLayouts/slideLayout2.xml" 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 /><Relationship Id="rId1" Type="http://schemas.openxmlformats.org/officeDocument/2006/relationships/slideLayout" Target="../slideLayouts/slideLayout2.xml" 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 /><Relationship Id="rId2" Type="http://schemas.openxmlformats.org/officeDocument/2006/relationships/notesSlide" Target="../notesSlides/notesSlide90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2.png" 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notesSlide" Target="../notesSlides/notesSlide9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3.jpg" 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 /><Relationship Id="rId2" Type="http://schemas.openxmlformats.org/officeDocument/2006/relationships/notesSlide" Target="../notesSlides/notesSlide92.xml" /><Relationship Id="rId1" Type="http://schemas.openxmlformats.org/officeDocument/2006/relationships/slideLayout" Target="../slideLayouts/slideLayout2.xml" 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 /><Relationship Id="rId2" Type="http://schemas.openxmlformats.org/officeDocument/2006/relationships/notesSlide" Target="../notesSlides/notesSlide93.xml" /><Relationship Id="rId1" Type="http://schemas.openxmlformats.org/officeDocument/2006/relationships/slideLayout" Target="../slideLayouts/slideLayout2.xml" 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 /><Relationship Id="rId1" Type="http://schemas.openxmlformats.org/officeDocument/2006/relationships/slideLayout" Target="../slideLayouts/slideLayout2.xml" 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 /><Relationship Id="rId2" Type="http://schemas.openxmlformats.org/officeDocument/2006/relationships/notesSlide" Target="../notesSlides/notesSlide95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7.jpg" /><Relationship Id="rId4" Type="http://schemas.openxmlformats.org/officeDocument/2006/relationships/image" Target="../media/image36.jpg" 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3434393" y="1105659"/>
            <a:ext cx="4572000" cy="10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BAB 6: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487837" y="2638425"/>
            <a:ext cx="8803038" cy="19891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ANALISIS PENYATA KEWANGAN 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448789" y="1012931"/>
            <a:ext cx="890649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-US" sz="4000" b="1">
                <a:latin typeface="Arial"/>
                <a:ea typeface="Arial"/>
                <a:cs typeface="Arial"/>
                <a:sym typeface="Arial"/>
              </a:rPr>
              <a:t>BAB 6: ANALISIS PENYATA KEWANGAN </a:t>
            </a:r>
            <a:endParaRPr sz="4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1448790" y="2173184"/>
            <a:ext cx="8906494" cy="1223159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6.1 Pengenalan Sistem Maklumat Kewangan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1448790" y="3798623"/>
            <a:ext cx="7659584" cy="6715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6.2 Penyata Kewangan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1448789" y="4872415"/>
            <a:ext cx="6056415" cy="75109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6.3 Kawalan Kewangan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5"/>
          <p:cNvCxnSpPr/>
          <p:nvPr/>
        </p:nvCxnSpPr>
        <p:spPr>
          <a:xfrm rot="5400000">
            <a:off x="2382838" y="2762250"/>
            <a:ext cx="1028700" cy="0"/>
          </a:xfrm>
          <a:prstGeom prst="straightConnector1">
            <a:avLst/>
          </a:prstGeom>
          <a:noFill/>
          <a:ln w="317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03" name="Google Shape;103;p15"/>
          <p:cNvSpPr txBox="1"/>
          <p:nvPr/>
        </p:nvSpPr>
        <p:spPr>
          <a:xfrm>
            <a:off x="7805976" y="3704293"/>
            <a:ext cx="2562965" cy="13950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2850" tIns="22850" rIns="22850" bIns="22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EKUITI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546376" y="3799189"/>
            <a:ext cx="1067435" cy="114427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548939" y="3754972"/>
            <a:ext cx="1805272" cy="13950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LIABILITI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3097174" y="3799189"/>
            <a:ext cx="1067435" cy="114427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dk1"/>
          </a:solidFill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319681" y="3673777"/>
            <a:ext cx="1901730" cy="13950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0475" tIns="30475" rIns="30475" bIns="304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1735921" y="2497586"/>
            <a:ext cx="84064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Persamaan perakaunan ditunjukkan seperti berikut: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0" y="1542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latin typeface="Arial"/>
                <a:ea typeface="Arial"/>
                <a:cs typeface="Arial"/>
                <a:sym typeface="Arial"/>
              </a:rPr>
              <a:t>6.1 PENGENALAN SISTEM MAKLUMAT KEWANGAN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392597" y="1410149"/>
            <a:ext cx="11093116" cy="881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Menjelaskan Persamaan Perakaunan dan Modal Kerja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16"/>
          <p:cNvCxnSpPr/>
          <p:nvPr/>
        </p:nvCxnSpPr>
        <p:spPr>
          <a:xfrm rot="5400000">
            <a:off x="2382838" y="2762250"/>
            <a:ext cx="1028700" cy="0"/>
          </a:xfrm>
          <a:prstGeom prst="straightConnector1">
            <a:avLst/>
          </a:prstGeom>
          <a:noFill/>
          <a:ln w="317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16" name="Google Shape;116;p16"/>
          <p:cNvSpPr txBox="1"/>
          <p:nvPr/>
        </p:nvSpPr>
        <p:spPr>
          <a:xfrm>
            <a:off x="6734718" y="3804304"/>
            <a:ext cx="4392461" cy="11442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2850" tIns="22850" rIns="22850" bIns="22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EKUITI @ ASET BERSIH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3909154" y="3643389"/>
            <a:ext cx="1805272" cy="13950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LIABILITI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630241" y="3768801"/>
            <a:ext cx="1067435" cy="114427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dk1"/>
          </a:solidFill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985652" y="3643390"/>
            <a:ext cx="2352289" cy="13950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0475" tIns="30475" rIns="30475" bIns="304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1735921" y="2535591"/>
            <a:ext cx="718119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Nilai Aset Bersih ditunjukkan seperti berikut: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0" y="1542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latin typeface="Arial"/>
                <a:ea typeface="Arial"/>
                <a:cs typeface="Arial"/>
                <a:sym typeface="Arial"/>
              </a:rPr>
              <a:t>6.1 PENGENALAN SISTEM MAKLUMAT KEWANGAN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392597" y="1219262"/>
            <a:ext cx="11093116" cy="881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Menjelaskan Persamaan Perakaunan dan Modal Kerja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16"/>
          <p:cNvCxnSpPr/>
          <p:nvPr/>
        </p:nvCxnSpPr>
        <p:spPr>
          <a:xfrm rot="10800000" flipH="1">
            <a:off x="2944995" y="4340937"/>
            <a:ext cx="708917" cy="1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17"/>
          <p:cNvCxnSpPr/>
          <p:nvPr/>
        </p:nvCxnSpPr>
        <p:spPr>
          <a:xfrm>
            <a:off x="3450641" y="2672013"/>
            <a:ext cx="0" cy="1543050"/>
          </a:xfrm>
          <a:prstGeom prst="straightConnector1">
            <a:avLst/>
          </a:prstGeom>
          <a:noFill/>
          <a:ln w="317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6304966" y="2672013"/>
            <a:ext cx="0" cy="1543050"/>
          </a:xfrm>
          <a:prstGeom prst="straightConnector1">
            <a:avLst/>
          </a:prstGeom>
          <a:noFill/>
          <a:ln w="317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30" name="Google Shape;130;p17"/>
          <p:cNvSpPr/>
          <p:nvPr/>
        </p:nvSpPr>
        <p:spPr>
          <a:xfrm>
            <a:off x="1416234" y="986087"/>
            <a:ext cx="9169031" cy="914400"/>
          </a:xfrm>
          <a:prstGeom prst="rect">
            <a:avLst/>
          </a:prstGeom>
          <a:solidFill>
            <a:srgbClr val="DDEAF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4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429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494429"/>
                </a:solidFill>
                <a:latin typeface="Arial"/>
                <a:ea typeface="Arial"/>
                <a:cs typeface="Arial"/>
                <a:sym typeface="Arial"/>
              </a:rPr>
              <a:t>Persamaan Perakaunan</a:t>
            </a:r>
            <a:endParaRPr sz="2800" b="1" i="0" u="none" strike="noStrike" cap="none">
              <a:solidFill>
                <a:srgbClr val="4944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1009403" y="2015594"/>
            <a:ext cx="10070275" cy="42123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0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Rumus yang digunakan untuk menghitung Jumlah Aset, Liabiliti dan Ekuiti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Mengambilkira kedudukan aset-aset perniagaan dan sumber terhasilnya aset tersebut sama ada daripada pembiayaan sendiri (modal) atau daripada pihak luar melalui tanggungan.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Terbit daripada Prinsip Entiti Berasingan.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Ekuiti Pemilik ialah bagi perniagaan milikan tunggal manakala Ekuiti Pemegang Saham bagi syarikat.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18"/>
          <p:cNvCxnSpPr/>
          <p:nvPr/>
        </p:nvCxnSpPr>
        <p:spPr>
          <a:xfrm rot="5400000">
            <a:off x="2382838" y="2762250"/>
            <a:ext cx="1028700" cy="0"/>
          </a:xfrm>
          <a:prstGeom prst="straightConnector1">
            <a:avLst/>
          </a:prstGeom>
          <a:noFill/>
          <a:ln w="317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37" name="Google Shape;137;p18"/>
          <p:cNvSpPr txBox="1"/>
          <p:nvPr/>
        </p:nvSpPr>
        <p:spPr>
          <a:xfrm>
            <a:off x="8407730" y="3684185"/>
            <a:ext cx="2780168" cy="13950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2850" tIns="22850" rIns="22850" bIns="22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LIABILITI SEMASA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7210990" y="4163146"/>
            <a:ext cx="1003899" cy="382138"/>
          </a:xfrm>
          <a:custGeom>
            <a:avLst/>
            <a:gdLst/>
            <a:ahLst/>
            <a:cxnLst/>
            <a:rect l="l" t="t" r="r" b="b"/>
            <a:pathLst>
              <a:path w="784457" h="308662" extrusionOk="0">
                <a:moveTo>
                  <a:pt x="0" y="49273"/>
                </a:moveTo>
                <a:lnTo>
                  <a:pt x="266698" y="49273"/>
                </a:lnTo>
                <a:lnTo>
                  <a:pt x="307642" y="13649"/>
                </a:lnTo>
                <a:lnTo>
                  <a:pt x="353987" y="0"/>
                </a:lnTo>
                <a:lnTo>
                  <a:pt x="517759" y="49273"/>
                </a:lnTo>
                <a:lnTo>
                  <a:pt x="784457" y="49273"/>
                </a:lnTo>
                <a:lnTo>
                  <a:pt x="784457" y="300333"/>
                </a:lnTo>
                <a:lnTo>
                  <a:pt x="517759" y="300333"/>
                </a:lnTo>
                <a:lnTo>
                  <a:pt x="517759" y="281366"/>
                </a:lnTo>
                <a:lnTo>
                  <a:pt x="280346" y="308662"/>
                </a:lnTo>
                <a:lnTo>
                  <a:pt x="266698" y="300333"/>
                </a:lnTo>
                <a:lnTo>
                  <a:pt x="0" y="300333"/>
                </a:lnTo>
                <a:lnTo>
                  <a:pt x="0" y="49273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4601858" y="3684185"/>
            <a:ext cx="2151161" cy="13950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ASET SEMASA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317280" y="3782080"/>
            <a:ext cx="1067435" cy="114427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dk1"/>
          </a:solidFill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1063193" y="3782080"/>
            <a:ext cx="2360159" cy="13950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0475" tIns="30475" rIns="30475" bIns="304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MODAL KERJA BERSIH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624071" y="2753380"/>
            <a:ext cx="107035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Rumus Modal kerja Bersih/Modal Kerja ditunjukkan seperti berikut: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943098" y="1364351"/>
            <a:ext cx="10244800" cy="7901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4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Modal Kerja Bersih/Modal Kerja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/>
          <p:nvPr/>
        </p:nvSpPr>
        <p:spPr>
          <a:xfrm>
            <a:off x="0" y="831850"/>
            <a:ext cx="9906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7467600" y="381000"/>
            <a:ext cx="16764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5400000">
            <a:off x="5113338" y="2686050"/>
            <a:ext cx="1028700" cy="0"/>
          </a:xfrm>
          <a:prstGeom prst="straightConnector1">
            <a:avLst/>
          </a:prstGeom>
          <a:noFill/>
          <a:ln w="317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1" name="Google Shape;151;p19"/>
          <p:cNvCxnSpPr/>
          <p:nvPr/>
        </p:nvCxnSpPr>
        <p:spPr>
          <a:xfrm>
            <a:off x="9429667" y="1760290"/>
            <a:ext cx="0" cy="1028700"/>
          </a:xfrm>
          <a:prstGeom prst="straightConnector1">
            <a:avLst/>
          </a:prstGeom>
          <a:noFill/>
          <a:ln w="317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2" name="Google Shape;152;p19"/>
          <p:cNvSpPr/>
          <p:nvPr/>
        </p:nvSpPr>
        <p:spPr>
          <a:xfrm>
            <a:off x="7696200" y="381000"/>
            <a:ext cx="14478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990600" y="1517650"/>
            <a:ext cx="10244800" cy="4607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0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Juga dikenali sebagai Modal Pusingan. Ia merupakan semua pelaburan firma dalam aset semasa.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Aset yg dimiliki dijangka tidak akan disimpan melebihi tempoh setahun.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Aset semasa antaranya meliputi: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Tunai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Sekuriti boleh pasar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Akaun Belum Terima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Akaun prabayar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Inventori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990600" y="562846"/>
            <a:ext cx="10244800" cy="790158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4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Modal Kerja Bersih/Modal Kerja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/>
        </p:nvSpPr>
        <p:spPr>
          <a:xfrm>
            <a:off x="6350" y="872164"/>
            <a:ext cx="12185650" cy="1274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	Menjelaskan kepentingan pihak-pihak berkepentingan terhadap 	penyata kewangan dan nisbah kewangan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-44450" y="84450"/>
            <a:ext cx="12236450" cy="66992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6.2 PENYATA KEWANGAN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1163781" y="2014367"/>
            <a:ext cx="10387159" cy="372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Pihak-pihak berkepentingan yang mahu melihat penyata kewangan dan nisbah kewangan ialah: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	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	Pelabur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	Pembiaya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	Pembekal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	Pesaing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	Pekerja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/>
        </p:nvSpPr>
        <p:spPr>
          <a:xfrm>
            <a:off x="196849" y="-23812"/>
            <a:ext cx="1130301" cy="1312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Verdana"/>
              <a:buNone/>
            </a:pPr>
            <a:r>
              <a:rPr lang="en-US" sz="9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1290638" y="482600"/>
            <a:ext cx="54864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Verdana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510273" y="1819275"/>
            <a:ext cx="11016917" cy="415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Pihak pengurusan menggunakan penyata dan analisis nisbah untuk membuat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perancangan dan kawalan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dengan berkesan.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Melalui analisis, mereka menentukan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untuk membiayai ativiti firma dan menentukan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kegiatan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patut diceburi oleh firma.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 juga membantu pengurusan menentukan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dividen yang patut dibayar kepada pemegang saham.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 juga membantu pengurusan menilai prestasi kakitangan syarikat dalam usaha untuk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memberikan bonus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 lain-lain.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/>
        </p:nvSpPr>
        <p:spPr>
          <a:xfrm>
            <a:off x="196849" y="-23812"/>
            <a:ext cx="1130301" cy="1312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Verdana"/>
              <a:buNone/>
            </a:pPr>
            <a:r>
              <a:rPr lang="en-US" sz="9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1290638" y="482600"/>
            <a:ext cx="54864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Verdana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PELABUR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509336" y="1819275"/>
            <a:ext cx="11016917" cy="385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Pihak yang berminat melihat perkembangan firma dari semasa ke semasa.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Pelabur melihat penyata dan analisis untuk mengetahui pencapaian syarikat kerana kedudukan kewangan mempengaruhi harga saham syarikat.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Mereka mengkaji keupayaan, kelemahan dan peluang dalam sesebuah firma – sama ada untuk melabur @ melepaskan pegangan ke atas saham syarikat.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Pelabur gemar melihat nisbah keberuntungan.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/>
        </p:nvSpPr>
        <p:spPr>
          <a:xfrm>
            <a:off x="196849" y="-23812"/>
            <a:ext cx="1130301" cy="1312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Verdana"/>
              <a:buNone/>
            </a:pPr>
            <a:r>
              <a:rPr lang="en-US" sz="9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1290638" y="482600"/>
            <a:ext cx="54864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Verdana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PEMBIAYA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509336" y="1819275"/>
            <a:ext cx="10750067" cy="313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Pembiaya melihat prestasi kewangan yang lepas dalam aspek kemandirian bagi mengetahui kemampuan syarikat membayar balik hutang.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Mereka melihat nisbah penggunaan hutang sedia ada, sama ada masih ada ruang untuk mendapatkan pinjaman atau tidak.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Pembiaya gemar melihat nisbah kecairan dan nisbah hutang.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/>
        </p:nvSpPr>
        <p:spPr>
          <a:xfrm>
            <a:off x="196849" y="-23812"/>
            <a:ext cx="1130301" cy="1312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Verdana"/>
              <a:buNone/>
            </a:pPr>
            <a:r>
              <a:rPr lang="en-US" sz="9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1290638" y="482600"/>
            <a:ext cx="54864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Verdana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PEMBEKAL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556837" y="1498642"/>
            <a:ext cx="10777363" cy="4458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Pembekal termasuklah kreditor yang memberi pinjaman @ bakal memberi pinjaman.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Pembekal mengkaji penyata dan analisis nisbah kewangan untuk mengetahui sama ada firma mampu membayar semua hutang-hutangnya dan faedah pinjaman dalam tempoh yang sepatutnya.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Melalui penyata dan analisis nisbah, mereka dapat mengetahui pengurusan modal kerja syarikat.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Pembekal gemar melihat nisbah kecairan, nisbah aktiviti dan nisbah hutang.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/>
        </p:nvSpPr>
        <p:spPr>
          <a:xfrm>
            <a:off x="196849" y="-23812"/>
            <a:ext cx="1130301" cy="1312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Verdana"/>
              <a:buNone/>
            </a:pPr>
            <a:r>
              <a:rPr lang="en-US" sz="9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1290638" y="482600"/>
            <a:ext cx="54864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Verdana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PESAING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509336" y="1819275"/>
            <a:ext cx="10750067" cy="407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Syarikat-syarikat pesaing menaruh minat terhadap nisbah/penyata kewangan kerana maklumat yg tersedia boleh dijadikan panduan bagi menyusun strategi seterusnya.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Mereka akan membandingkan pencapaian syarikat mereka dengan pesaing lain agar dapat mengukur kelemahan dan kelebihan pada tahun semasa.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Pesaing kebiasaannya  melihat nisbah aktiviti dan nisbah keberuntungan.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/>
        </p:nvSpPr>
        <p:spPr>
          <a:xfrm>
            <a:off x="196849" y="-23812"/>
            <a:ext cx="1130301" cy="1312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Verdana"/>
              <a:buNone/>
            </a:pPr>
            <a:r>
              <a:rPr lang="en-US" sz="9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1290638" y="482600"/>
            <a:ext cx="54864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Verdana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PEKERJA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509337" y="1819275"/>
            <a:ext cx="10681828" cy="407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Golongan ini berminat untuk mengetahui kedudukan syarikat kerana prestasi syarikat biasanya menjadi asas kepada tuntutan kesatuan sekerja untuk mendapatkan bonus, kenaikan gaji dan sebagainya.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Pekerja akan melihat nisbah keberuntungan untuk melihat prestasi syarikat supaya dapat mengira ganjaran yang mereka akan terima untuk tahun semasa.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/>
        </p:nvSpPr>
        <p:spPr>
          <a:xfrm>
            <a:off x="386035" y="1947642"/>
            <a:ext cx="11408229" cy="481482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Memberikan maklumat kewangan yang penting kepada pihak pengurusan untuk melakukan perancangan dan membuat keputusan.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Maklumat daripada penyata kewangan diperlukan oleh: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Kreditor (Institusi kewangan)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Kerajaan (LHDN, Suruhanjaya Syarikat Malaysia)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Pemegang Saham (saham keutamaan @ saham biasa)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Pihak Pengurusan (organisasi)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Terdiri daripada:	1. Penyata Pendapatan Komprehensif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2. Penyata Kedudukan Kewangan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3. Penyata Aliran Tunai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562B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8156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562B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8156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7"/>
          <p:cNvSpPr/>
          <p:nvPr/>
        </p:nvSpPr>
        <p:spPr>
          <a:xfrm flipH="1">
            <a:off x="7387477" y="1598613"/>
            <a:ext cx="909637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518621" y="593725"/>
            <a:ext cx="10822675" cy="593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	Menganalisis Penyata Kewangan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4080063" y="1272347"/>
            <a:ext cx="3562194" cy="5232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Penyata Kewangan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-44450" y="-33338"/>
            <a:ext cx="12236450" cy="66992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6.2 PENYATA KEWANGAN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489250" y="1425039"/>
            <a:ext cx="11179586" cy="4511739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Menunjukkan hasil operasi firma (jumlah perolehan/keuntungan dari operasi firma dan perbelanjaan yang dilibatkan) bagi satu tempoh tertentu.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Menunjukkan kecekapan seseorang pengurus menggunakan aset untuk menghasilkan keuntungan.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di dalamnya bergantung kepada jenis perniagaan sama ada menjual barang niaga, perkhidmatan atau perkilangan.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Penyata Pendapatan bagi perniagaan yang menjual barang niaga mengandungi komponen kos barang dijual (KBDJ).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1147840" y="631598"/>
            <a:ext cx="9552005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	PENYATA PENDAPATAN KOMPREHENSIF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29"/>
          <p:cNvCxnSpPr/>
          <p:nvPr/>
        </p:nvCxnSpPr>
        <p:spPr>
          <a:xfrm rot="5400000">
            <a:off x="2218257" y="4027181"/>
            <a:ext cx="1028700" cy="0"/>
          </a:xfrm>
          <a:prstGeom prst="straightConnector1">
            <a:avLst/>
          </a:prstGeom>
          <a:noFill/>
          <a:ln w="317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24" name="Google Shape;224;p29"/>
          <p:cNvSpPr/>
          <p:nvPr/>
        </p:nvSpPr>
        <p:spPr>
          <a:xfrm>
            <a:off x="615124" y="2722345"/>
            <a:ext cx="3216526" cy="1905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PENDAPATAN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BERSIH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4645243" y="2722345"/>
            <a:ext cx="2816225" cy="1905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JUMLAH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8275061" y="2657240"/>
            <a:ext cx="3690857" cy="1905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JUMLAH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PERBELANJAAN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9"/>
          <p:cNvSpPr txBox="1"/>
          <p:nvPr/>
        </p:nvSpPr>
        <p:spPr>
          <a:xfrm>
            <a:off x="3913707" y="3074680"/>
            <a:ext cx="762000" cy="1200329"/>
          </a:xfrm>
          <a:prstGeom prst="rect">
            <a:avLst/>
          </a:prstGeom>
          <a:noFill/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7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29"/>
          <p:cNvCxnSpPr/>
          <p:nvPr/>
        </p:nvCxnSpPr>
        <p:spPr>
          <a:xfrm>
            <a:off x="7616796" y="3830850"/>
            <a:ext cx="533400" cy="1588"/>
          </a:xfrm>
          <a:prstGeom prst="straightConnector1">
            <a:avLst/>
          </a:prstGeom>
          <a:noFill/>
          <a:ln w="152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reflection stA="52000" endA="300" endPos="35000" sy="-100000" algn="bl" rotWithShape="0"/>
          </a:effectLst>
        </p:spPr>
      </p:cxnSp>
      <p:sp>
        <p:nvSpPr>
          <p:cNvPr id="229" name="Google Shape;229;p29"/>
          <p:cNvSpPr txBox="1"/>
          <p:nvPr/>
        </p:nvSpPr>
        <p:spPr>
          <a:xfrm>
            <a:off x="1307816" y="1054678"/>
            <a:ext cx="9552005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	PENYATA PENDAPATAN KOMPREHENSIF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/>
        </p:nvSpPr>
        <p:spPr>
          <a:xfrm>
            <a:off x="693820" y="-13252"/>
            <a:ext cx="10495547" cy="112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SYARIKAT MALAYSIAN TECHNO BHD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PENYATA PENDAPATAN KOMPREHENSIF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BAGI TAHUN BERAKHIR 31 DISEMBER 2021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30"/>
          <p:cNvGraphicFramePr/>
          <p:nvPr/>
        </p:nvGraphicFramePr>
        <p:xfrm>
          <a:off x="1992840" y="10577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{7544D8F7-DC1F-408D-8AE7-CB19EDCD78D5}</a:tableStyleId>
              </a:tblPr>
              <a:tblGrid>
                <a:gridCol w="503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Jualan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8,500,000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Kos Barang Dijual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(450,000)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    Untung Kasar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8,050,000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Belanja Jualan dan Pentadbiran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(5,650,000)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Belanja Susutnilai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(80,000)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    Untung Operasi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2,320,000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Belanja Faedah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(700,000)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    Untung Sebelum Cukai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1,620,000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Cukai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(55</a:t>
                      </a:r>
                      <a:r>
                        <a:rPr lang="en-US" sz="1900" u="none" strike="noStrike" cap="none"/>
                        <a:t>1</a:t>
                      </a: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en-US" sz="1900" u="none" strike="noStrike" cap="none"/>
                        <a:t>0</a:t>
                      </a: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    Untung Bersih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1,069,000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Bayaran Dividen Saham Biasa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900" u="none" strike="noStrike" cap="none"/>
                        <a:t>749</a:t>
                      </a: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Untung Tertahan Dibawa Ke Hadapan</a:t>
                      </a:r>
                      <a:endParaRPr sz="1900" b="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/>
        </p:nvSpPr>
        <p:spPr>
          <a:xfrm>
            <a:off x="1101157" y="1582918"/>
            <a:ext cx="10103655" cy="399641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Menunjukkan maklumat tentang kedudukan kewangan sebuah syarikat pada tarikh atau titik masa tertentu.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Dikenali juga sebagai Lembaran Imbangan.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Perkara asas ialah aset, liabiliti dan ekuiti dana pemegang saham.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 menyenaraikan semua milik syarikat, obligasi dan pelaburan pemilik.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 disediakan sekurang-kurangnya sekali dalam setahun.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251284" y="216649"/>
            <a:ext cx="9360569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PENYATA KEDUDUKAN KEWANGAN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/>
        </p:nvSpPr>
        <p:spPr>
          <a:xfrm>
            <a:off x="859399" y="1040036"/>
            <a:ext cx="10366134" cy="565104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Aset (apa yang dimiliki oleh syarikat)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492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Aset Semasa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492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Aset Bukan Semasa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LcPeriod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Liabiliti (apa yang dihutang oleh syarikat)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492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Liabiliti Semasa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492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Liabiliti Bukan Semasa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LcPeriod" startAt="3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Ekuiti Pemegang Saham (nilai syarikat kepada pemiliknya)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492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Saham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492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Premium modal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492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Perolehan tertahan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1251284" y="216649"/>
            <a:ext cx="9360569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Komponen Penyata Kedudukan Kewangan: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31360" t="24279" r="29193" b="9483"/>
          <a:stretch/>
        </p:blipFill>
        <p:spPr>
          <a:xfrm>
            <a:off x="855023" y="0"/>
            <a:ext cx="10631485" cy="6750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/>
        </p:nvSpPr>
        <p:spPr>
          <a:xfrm>
            <a:off x="833103" y="952953"/>
            <a:ext cx="10525794" cy="56365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0" marR="0" lvl="0" indent="-508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Merupakan satu penyata tentang aliran sumber dan penggunaan tunai yang menunjukkan perubahan kedudukan tunai bagi suatu tempoh perakaunan.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0" marR="0" lvl="0" indent="-508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Membantu pihak pengurusan membuat perancangan aktiviti harian, pelaburan jangka panjang dan mencari peluang perniagaan.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0" marR="0" lvl="0" indent="-508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Juga digunakan oleh pihak luar untuk mengukur keupayaan firma membayar dividen, menyelesaikan hutang dan membayar faedah.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0" marR="0" lvl="0" indent="-508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Aliran Tunai boleh dibahagikan kepada 3 aktiviti kewangan: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2337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Aktiviti Operasi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2337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Aktiviti Pelaburan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2337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Aktiviti Pembiayaan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0" y="48208"/>
            <a:ext cx="12192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PENYATA ALIRAN TUNAI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/>
        </p:nvSpPr>
        <p:spPr>
          <a:xfrm>
            <a:off x="664718" y="909411"/>
            <a:ext cx="10772536" cy="581070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L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Aliran Tunai daripada Aktiviti Operasi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	Termasuk untung bersih campur item-item belanja bukan 	tunai seperti susut nilai dan perubahan dalam beberapa 	akaun Modal Kerja.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	Aliran Tunai daripada Aktiviti Pelaburan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	Menunjukkan aktiviti pelaburan untuk sekuriti jangka panjang, 	mesin, kilang dan aset tetap lain.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iii.	Aliran Tunai daripada Aktiviti Pembiayaan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	Menunjukkan aliran tunai aktiviti pembiayaan modal syarikat 	iaitu penjualan atau penamatan bon, saham utama dan 	saham biasa.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0" y="48208"/>
            <a:ext cx="12192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PENYATA ALIRAN TUNAI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/>
        </p:nvSpPr>
        <p:spPr>
          <a:xfrm>
            <a:off x="1901372" y="-29028"/>
            <a:ext cx="8215086" cy="100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SYARIKAT MALAYSIAN TECHNO BHD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PENYATA ALIRAN TUNAI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BAGI TAHUN BERAKHIR 31 DISEMBER 2021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Google Shape;270;p36"/>
          <p:cNvGraphicFramePr/>
          <p:nvPr/>
        </p:nvGraphicFramePr>
        <p:xfrm>
          <a:off x="2438401" y="9792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{042EE6C2-54DE-4894-9E7C-0CFA94247151}</a:tableStyleId>
              </a:tblPr>
              <a:tblGrid>
                <a:gridCol w="576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RM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Aliran Tunai Dari Aktiviti Operasi:</a:t>
                      </a:r>
                      <a:endParaRPr sz="1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endParaRPr sz="1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Tunai diterima untuk hasil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709,000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Tunai dibayar untuk belanja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(209,000)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Aliran Tunai Bersih Dari Aktiviti Operasi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500,000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Aliran Tunai Dari Aktiviti Pelaburan:</a:t>
                      </a:r>
                      <a:endParaRPr sz="1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endParaRPr sz="1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Belian aset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Jualan aset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(50,000)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Aliran Tunai Bersih Dari Aktiviti Pelaburan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(160,000)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Aliran Tunai Dari Aktiviti Pembiayaan:</a:t>
                      </a:r>
                      <a:endParaRPr sz="1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endParaRPr sz="1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Terbitan saham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Bayaran dividen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(130,000)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Aliran Tunai Bersih Dari Aktiviti Pembiayaan</a:t>
                      </a:r>
                      <a:endParaRPr sz="1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Pertambahan dalam Tunai Bersih</a:t>
                      </a:r>
                      <a:endParaRPr sz="1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Bagi Tunai Awal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b="0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190,000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Bagi Tunai Akhir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900,000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/>
          <p:nvPr/>
        </p:nvSpPr>
        <p:spPr>
          <a:xfrm>
            <a:off x="999068" y="1814418"/>
            <a:ext cx="9632646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5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Analisis Nisbah Kewangan: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8" indent="-465138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Kaedah yang digunakan untuk menilai kedudukan kewangan, kecekapan dan keberuntungan sesebuah perniagaan.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1" indent="-465138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Dilakukan dengan membandingkan maklumat kewangan bagi beberapa tempoh tertentu atau membandingkan dengan perniagaan lain.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404053" y="928688"/>
            <a:ext cx="10822675" cy="593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	Menyediakan dan Menganalisis Nisbah Kewangan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7"/>
          <p:cNvSpPr/>
          <p:nvPr/>
        </p:nvSpPr>
        <p:spPr>
          <a:xfrm>
            <a:off x="-44450" y="-33338"/>
            <a:ext cx="12236450" cy="66992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6.2 PENYATA KEWANGAN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/>
          <p:nvPr/>
        </p:nvSpPr>
        <p:spPr>
          <a:xfrm>
            <a:off x="6553199" y="5989722"/>
            <a:ext cx="1752600" cy="304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8"/>
          <p:cNvSpPr/>
          <p:nvPr/>
        </p:nvSpPr>
        <p:spPr>
          <a:xfrm>
            <a:off x="3581399" y="5875422"/>
            <a:ext cx="1752600" cy="533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8"/>
          <p:cNvSpPr/>
          <p:nvPr/>
        </p:nvSpPr>
        <p:spPr>
          <a:xfrm>
            <a:off x="4366483" y="2541036"/>
            <a:ext cx="4138887" cy="1870284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JENIS-JENIS NISBAH KEWANGAN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8"/>
          <p:cNvSpPr txBox="1"/>
          <p:nvPr/>
        </p:nvSpPr>
        <p:spPr>
          <a:xfrm>
            <a:off x="1062995" y="3057252"/>
            <a:ext cx="2824812" cy="5232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Kecairan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8"/>
          <p:cNvSpPr txBox="1"/>
          <p:nvPr/>
        </p:nvSpPr>
        <p:spPr>
          <a:xfrm>
            <a:off x="3081646" y="1285765"/>
            <a:ext cx="5861050" cy="5232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Keuntungan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8627787" y="2952958"/>
            <a:ext cx="2565125" cy="5232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Hutang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1792528" y="4620151"/>
            <a:ext cx="2421880" cy="5232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Aktiviti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7223526" y="4677301"/>
            <a:ext cx="3046027" cy="5232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Pelaburan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/>
          <p:nvPr/>
        </p:nvSpPr>
        <p:spPr>
          <a:xfrm>
            <a:off x="747485" y="1623274"/>
            <a:ext cx="10740572" cy="445821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keupayaan sesebuah perniagaan untuk membayar pembiayaan jangka pendek dan memenuhi tunai yg dijangkakan.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ini penting kerana kegagalan untuk menyelesaikan tanggungan ini mengakibatkan firma boleh diisytihar muflis.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Kedudukan kecairan yang mencukupi penting bagi memenuhi tuntutan pemiutang.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Kecairan yg terlalu rendah menjejaskan kepercayaan pembekal terhadap keupayaan firma membayar hutang – firma mungkin sukar mendapat kemudahan kredit pada masa depan.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9"/>
          <p:cNvSpPr txBox="1"/>
          <p:nvPr/>
        </p:nvSpPr>
        <p:spPr>
          <a:xfrm>
            <a:off x="2110013" y="496501"/>
            <a:ext cx="7696200" cy="7699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	NISBAH KECAIRAN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40"/>
          <p:cNvGrpSpPr/>
          <p:nvPr/>
        </p:nvGrpSpPr>
        <p:grpSpPr>
          <a:xfrm>
            <a:off x="1036637" y="2170113"/>
            <a:ext cx="10537743" cy="3488946"/>
            <a:chOff x="2523" y="236013"/>
            <a:chExt cx="6090953" cy="3488422"/>
          </a:xfrm>
        </p:grpSpPr>
        <p:sp>
          <p:nvSpPr>
            <p:cNvPr id="301" name="Google Shape;301;p40"/>
            <p:cNvSpPr/>
            <p:nvPr/>
          </p:nvSpPr>
          <p:spPr>
            <a:xfrm>
              <a:off x="2523" y="236013"/>
              <a:ext cx="2244982" cy="2244982"/>
            </a:xfrm>
            <a:prstGeom prst="roundRect">
              <a:avLst>
                <a:gd name="adj" fmla="val 10000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  <a:effectLst>
              <a:outerShdw blurRad="107950" dist="12700" dir="5400000" algn="ctr" rotWithShape="0">
                <a:srgbClr val="000000"/>
              </a:outerShdw>
              <a:reflection stA="50000" endA="300" endPos="55000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0"/>
            <p:cNvSpPr/>
            <p:nvPr/>
          </p:nvSpPr>
          <p:spPr>
            <a:xfrm>
              <a:off x="365175" y="1424256"/>
              <a:ext cx="2244035" cy="2244388"/>
            </a:xfrm>
            <a:prstGeom prst="roundRect">
              <a:avLst>
                <a:gd name="adj" fmla="val 10000"/>
              </a:avLst>
            </a:prstGeom>
            <a:solidFill>
              <a:srgbClr val="50848E"/>
            </a:solidFill>
            <a:ln>
              <a:noFill/>
            </a:ln>
            <a:effectLst>
              <a:outerShdw blurRad="190500" dist="228600" dir="2700000" algn="ctr" rotWithShape="0">
                <a:srgbClr val="000000">
                  <a:alpha val="2901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0"/>
            <p:cNvSpPr txBox="1"/>
            <p:nvPr/>
          </p:nvSpPr>
          <p:spPr>
            <a:xfrm>
              <a:off x="433783" y="1424256"/>
              <a:ext cx="2113476" cy="21134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5725" tIns="125725" rIns="125725" bIns="125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FD1"/>
                </a:buClr>
                <a:buSzPts val="33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i. Nisbah Semasa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0"/>
            <p:cNvSpPr/>
            <p:nvPr/>
          </p:nvSpPr>
          <p:spPr>
            <a:xfrm>
              <a:off x="3483030" y="236013"/>
              <a:ext cx="2244982" cy="2244982"/>
            </a:xfrm>
            <a:prstGeom prst="roundRect">
              <a:avLst>
                <a:gd name="adj" fmla="val 10000"/>
              </a:avLst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  <a:effectLst>
              <a:outerShdw blurRad="107950" dist="12700" dir="5400000" algn="ctr" rotWithShape="0">
                <a:srgbClr val="000000"/>
              </a:outerShdw>
              <a:reflection stA="50000" endA="300" endPos="55000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0"/>
            <p:cNvSpPr/>
            <p:nvPr/>
          </p:nvSpPr>
          <p:spPr>
            <a:xfrm>
              <a:off x="3848065" y="1480047"/>
              <a:ext cx="2245411" cy="2244388"/>
            </a:xfrm>
            <a:prstGeom prst="roundRect">
              <a:avLst>
                <a:gd name="adj" fmla="val 10000"/>
              </a:avLst>
            </a:prstGeom>
            <a:solidFill>
              <a:srgbClr val="7B9B55"/>
            </a:solidFill>
            <a:ln>
              <a:noFill/>
            </a:ln>
            <a:effectLst>
              <a:outerShdw blurRad="190500" dist="228600" dir="2700000" algn="ctr" rotWithShape="0">
                <a:srgbClr val="000000">
                  <a:alpha val="2901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0"/>
            <p:cNvSpPr txBox="1"/>
            <p:nvPr/>
          </p:nvSpPr>
          <p:spPr>
            <a:xfrm>
              <a:off x="3914032" y="1545503"/>
              <a:ext cx="2113476" cy="21134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5725" tIns="125725" rIns="125725" bIns="125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FD1"/>
                </a:buClr>
                <a:buSzPts val="33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ii. Nisbah Segera (Cepat)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p40"/>
          <p:cNvSpPr txBox="1"/>
          <p:nvPr/>
        </p:nvSpPr>
        <p:spPr>
          <a:xfrm>
            <a:off x="2139042" y="503714"/>
            <a:ext cx="7696200" cy="7699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	NISBAH KECAIRAN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/>
          <p:nvPr/>
        </p:nvSpPr>
        <p:spPr>
          <a:xfrm>
            <a:off x="1074057" y="827666"/>
            <a:ext cx="7315200" cy="831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 Nisbah Semasa (Current Ratio)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1"/>
          <p:cNvSpPr txBox="1"/>
          <p:nvPr/>
        </p:nvSpPr>
        <p:spPr>
          <a:xfrm>
            <a:off x="1074057" y="2194071"/>
            <a:ext cx="10130972" cy="28423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keupayaan sesebuah perniagaan untuk membayar hutang jangka pendek.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Mengukur tahap aset semasa yang mampu untuk membayar balik liabiliti semasa.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Semakin tinggi nisbah semasa, semakin kukuh keupayaan firma membayar balik hutang jangka pendek.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/>
          <p:nvPr/>
        </p:nvSpPr>
        <p:spPr>
          <a:xfrm>
            <a:off x="1046246" y="4237637"/>
            <a:ext cx="10114018" cy="209059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Firma mampu membayar balik hutang jangka pendek seandainya nisbah semasa firma melebihi 1.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yang kurang daripada 1 menunjukkan firma tidak berupaya untuk menjelaskan tuntutan semasanya.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p42"/>
          <p:cNvGrpSpPr/>
          <p:nvPr/>
        </p:nvGrpSpPr>
        <p:grpSpPr>
          <a:xfrm>
            <a:off x="2303594" y="1960276"/>
            <a:ext cx="7183436" cy="1223311"/>
            <a:chOff x="1503452" y="532463"/>
            <a:chExt cx="7183348" cy="1224602"/>
          </a:xfrm>
        </p:grpSpPr>
        <p:sp>
          <p:nvSpPr>
            <p:cNvPr id="320" name="Google Shape;320;p42"/>
            <p:cNvSpPr txBox="1"/>
            <p:nvPr/>
          </p:nvSpPr>
          <p:spPr>
            <a:xfrm>
              <a:off x="1503452" y="914400"/>
              <a:ext cx="3657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Nisbah Semasa =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2"/>
            <p:cNvSpPr txBox="1"/>
            <p:nvPr/>
          </p:nvSpPr>
          <p:spPr>
            <a:xfrm>
              <a:off x="5763131" y="532463"/>
              <a:ext cx="2667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Aset Semasa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2"/>
            <p:cNvSpPr txBox="1"/>
            <p:nvPr/>
          </p:nvSpPr>
          <p:spPr>
            <a:xfrm>
              <a:off x="5542052" y="1295400"/>
              <a:ext cx="314474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Liabiliti Semasa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42"/>
            <p:cNvCxnSpPr/>
            <p:nvPr/>
          </p:nvCxnSpPr>
          <p:spPr>
            <a:xfrm>
              <a:off x="5751132" y="1143643"/>
              <a:ext cx="2362171" cy="15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24" name="Google Shape;324;p42"/>
          <p:cNvSpPr txBox="1"/>
          <p:nvPr/>
        </p:nvSpPr>
        <p:spPr>
          <a:xfrm>
            <a:off x="1046246" y="638757"/>
            <a:ext cx="7315200" cy="831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 Nisbah Semasa (Current Ratio)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4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31360" t="24279" r="29193" b="9483"/>
          <a:stretch/>
        </p:blipFill>
        <p:spPr>
          <a:xfrm>
            <a:off x="2000526" y="0"/>
            <a:ext cx="9616610" cy="6750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3" descr="investment: 11 smart money moves investors can make to improve finances,  make more money in 2022 - The Economic Time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071" y="831273"/>
            <a:ext cx="2514425" cy="1448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3" descr="Is Now A Good Time To Invest? | Clever Girl Fina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069" y="2646961"/>
            <a:ext cx="2514425" cy="1678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3" descr="Business concept for investment-money growth Vector Imag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069" y="4597364"/>
            <a:ext cx="2514425" cy="1880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/>
          <p:nvPr/>
        </p:nvSpPr>
        <p:spPr>
          <a:xfrm>
            <a:off x="0" y="-1"/>
            <a:ext cx="12192000" cy="113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SYARIKAT MALAYSIAN TECHNO BHD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PENYATA PENDAPATAN KOMPREHENSIF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BAGI TAHUN BERAKHIR 31 DISEMBER 2021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8" name="Google Shape;338;p44"/>
          <p:cNvGraphicFramePr/>
          <p:nvPr/>
        </p:nvGraphicFramePr>
        <p:xfrm>
          <a:off x="1042814" y="143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{7544D8F7-DC1F-408D-8AE7-CB19EDCD78D5}</a:tableStyleId>
              </a:tblPr>
              <a:tblGrid>
                <a:gridCol w="503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Jualan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8,500,000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Kos Barang Dijual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(450,000)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    Untung Kasar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8,050,000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Belanja Jualan dan Pentadbiran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(5,650,000)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Belanja Susutnilai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(80,000)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    Untung Operasi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2,320,000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Belanja Faedah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(700,000)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    Untung Sebelum Cukai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1,620,000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Cukai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(55</a:t>
                      </a:r>
                      <a:r>
                        <a:rPr lang="en-US" sz="1900" u="none" strike="noStrike" cap="none"/>
                        <a:t>1</a:t>
                      </a: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en-US" sz="1900" u="none" strike="noStrike" cap="none"/>
                        <a:t>0</a:t>
                      </a: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    Untung Bersih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1,069,000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Bayaran Dividen Saham Biasa</a:t>
                      </a:r>
                      <a:endParaRPr sz="190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900" u="none" strike="noStrike" cap="none"/>
                        <a:t>749</a:t>
                      </a:r>
                      <a:r>
                        <a:rPr lang="en-US" sz="190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,000)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Untung Tertahan Dibawa Ke Hadapan</a:t>
                      </a:r>
                      <a:endParaRPr sz="1900" b="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320,000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339" name="Google Shape;339;p44" descr="Business idea with money growth success, vector illustration, finance  investment for flat businessman woman people character | Can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47192" y="2860943"/>
            <a:ext cx="2816070" cy="1912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4" descr="Best Investment For Youngsters In 20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7192" y="4929313"/>
            <a:ext cx="2816070" cy="1478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 txBox="1">
            <a:spLocks noGrp="1"/>
          </p:cNvSpPr>
          <p:nvPr>
            <p:ph type="body" idx="1"/>
          </p:nvPr>
        </p:nvSpPr>
        <p:spPr>
          <a:xfrm>
            <a:off x="1071313" y="1619471"/>
            <a:ext cx="9246039" cy="4612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 u="sng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Aset Semasa</a:t>
            </a: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38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Tunai			RM    900,000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38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Stok			RM 1,000,000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38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Penghutang		RM 1,100,000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38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38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 u="sng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Liabiliti Semasa</a:t>
            </a: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38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Pemiutang		RM    530,000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638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638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Berdasarkan maklumat di atas, hitungkan nisbah semasa Syarikat Malaysian Techno.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638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5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Rujuk Penyata Kedudukan Kewangan &amp; Penyata Pendapatan Komprehensif Syarikat Malaysian Techno Berhad</a:t>
            </a:r>
            <a:endParaRPr sz="2800" b="0" i="0" u="none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45" descr="What are Liquid Funds? Should You Invest? | Paytm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8516" y="2596100"/>
            <a:ext cx="3419925" cy="235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 txBox="1">
            <a:spLocks noGrp="1"/>
          </p:cNvSpPr>
          <p:nvPr>
            <p:ph type="body" idx="1"/>
          </p:nvPr>
        </p:nvSpPr>
        <p:spPr>
          <a:xfrm>
            <a:off x="661738" y="1451432"/>
            <a:ext cx="10978720" cy="523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 u="sng">
                <a:latin typeface="Arial"/>
                <a:ea typeface="Arial"/>
                <a:cs typeface="Arial"/>
                <a:sym typeface="Arial"/>
              </a:rPr>
              <a:t>Aset Semasa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	= 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RM 3,000,000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Liabiliti Semasa      RM    530,000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= 5.66 kali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Pada tahun 2021, setiap RM 1 liabiliti semasa Syarikat Malaysian Techno dapat ditanggung dengan RM5.66 aset semasa syarikat.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	ATAU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Syarikat Malaysian Techno mempunyai kemampuan sebanyak 5.66 kali aset semasa bagi setiap 1.0 kali liabiliti semasa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Ini menunjukkan Syarikat Malaysian Techno mempunyai lebihan aset semasa sebanyak RM4.66 dan mampu membayar hutang jangka pendeknya.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6"/>
          <p:cNvSpPr txBox="1"/>
          <p:nvPr/>
        </p:nvSpPr>
        <p:spPr>
          <a:xfrm>
            <a:off x="705279" y="319667"/>
            <a:ext cx="7315200" cy="831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 Nisbah Semasa (Current Ratio)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46" descr="What is investing and who can invest? — Bitpanda Academ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2078" y="855023"/>
            <a:ext cx="3277590" cy="2457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/>
          <p:nvPr/>
        </p:nvSpPr>
        <p:spPr>
          <a:xfrm>
            <a:off x="8734425" y="7896225"/>
            <a:ext cx="304800" cy="152400"/>
          </a:xfrm>
          <a:prstGeom prst="rect">
            <a:avLst/>
          </a:prstGeom>
          <a:solidFill>
            <a:srgbClr val="F274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47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7"/>
          <p:cNvSpPr txBox="1"/>
          <p:nvPr/>
        </p:nvSpPr>
        <p:spPr>
          <a:xfrm>
            <a:off x="539115" y="354327"/>
            <a:ext cx="7086600" cy="1053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	Nisbah Cepat/Segera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Quick Ratio/Acid Test Ratio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230356" y="1509645"/>
            <a:ext cx="10828420" cy="405460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Cepat mengukur keupayaan tunai dan aset hampir tunai tanpa inventori untuk menampung liabiliti semasa.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ini memberi penekanan kepada kecairan sebenar melalui pengecualian nilai inventori kerana inventori sukar ditukar kepada tunai.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Inventori sukar ditukarkan kepada tunai kerana ianya merangkumi 3 item; bahan mentah, barang separuh siap, barang siap dan pembelian secara kredit. Oleh itu ianya mengambil masa untuk mendapatkan tunai.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47" descr="Pin on Liquidity Ratio Analysi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3923" y="5158611"/>
            <a:ext cx="3549526" cy="157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/>
          <p:nvPr/>
        </p:nvSpPr>
        <p:spPr>
          <a:xfrm>
            <a:off x="838877" y="3715536"/>
            <a:ext cx="10511294" cy="281589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Firma mampu membayar balik hutang jangka pendek pada tahun 2021 dengan segera seandainya nisbah cepat firma melebihi 1.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yang kurang drpd 1 menunjukkan firma tidak berupaya utk menjelaskan liabiliti  semasanya dengan kadar segera.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Lebih tinggi nisbah adalah lebih baik.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8"/>
          <p:cNvSpPr txBox="1"/>
          <p:nvPr/>
        </p:nvSpPr>
        <p:spPr>
          <a:xfrm>
            <a:off x="1847961" y="2128825"/>
            <a:ext cx="36576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Cepat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8"/>
          <p:cNvSpPr txBox="1"/>
          <p:nvPr/>
        </p:nvSpPr>
        <p:spPr>
          <a:xfrm>
            <a:off x="5219018" y="2075435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Aset Semasa - Inventori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8"/>
          <p:cNvSpPr txBox="1"/>
          <p:nvPr/>
        </p:nvSpPr>
        <p:spPr>
          <a:xfrm>
            <a:off x="5930750" y="2590787"/>
            <a:ext cx="3144837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Liabiliti Semasa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8"/>
          <p:cNvSpPr txBox="1"/>
          <p:nvPr/>
        </p:nvSpPr>
        <p:spPr>
          <a:xfrm>
            <a:off x="4533218" y="2180836"/>
            <a:ext cx="685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8"/>
          <p:cNvSpPr txBox="1"/>
          <p:nvPr/>
        </p:nvSpPr>
        <p:spPr>
          <a:xfrm>
            <a:off x="539115" y="354327"/>
            <a:ext cx="7086600" cy="1053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	Nisbah Cepat/Segera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Quick Ratio/Acid Test Ratio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>
            <a:spLocks noGrp="1"/>
          </p:cNvSpPr>
          <p:nvPr>
            <p:ph type="body" idx="1"/>
          </p:nvPr>
        </p:nvSpPr>
        <p:spPr>
          <a:xfrm>
            <a:off x="475342" y="3721375"/>
            <a:ext cx="11469914" cy="30277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65138" lvl="0" indent="-465138" algn="l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Pada tahun 2021, setiap RM 1 liabiliti semasa Syarikat Malaysian Techno boleh dibayar sebanyak RM3.77 aset semasa tidak termasuk inventori.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65138" lvl="0" indent="-465138" algn="l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ATAU Syarikat Malaysian Techno ada 2.77 kali aset semasa tanpa inventori bagi setiap 1.0 kali liabiliti semasa.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65138" lvl="0" indent="-465138" algn="l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Ini menunjukkan Syarikat Malaysian Techno mampu membiayai hutang jangka pendeknya dengan cepat @ segera.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9"/>
          <p:cNvSpPr txBox="1"/>
          <p:nvPr/>
        </p:nvSpPr>
        <p:spPr>
          <a:xfrm>
            <a:off x="5188971" y="1980198"/>
            <a:ext cx="5943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RM 3,000,000 - RM 1,000,000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    RM 530,000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3.77 kali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9"/>
          <p:cNvSpPr/>
          <p:nvPr/>
        </p:nvSpPr>
        <p:spPr>
          <a:xfrm>
            <a:off x="954314" y="1941617"/>
            <a:ext cx="45720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Aset Semasa- Inventori</a:t>
            </a:r>
            <a:endParaRPr sz="2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Liabiliti Semasa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9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ujuk Penyata Kedudukan Kewangan &amp; Penyata Pendapatan Komprehensif Syarikat Malaysian Techno Berhad</a:t>
            </a:r>
            <a:endParaRPr sz="2800" b="0" i="1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/>
          <p:nvPr/>
        </p:nvSpPr>
        <p:spPr>
          <a:xfrm>
            <a:off x="2716189" y="387476"/>
            <a:ext cx="6400800" cy="76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2. 	NISBAH HUTANG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0"/>
          <p:cNvSpPr txBox="1"/>
          <p:nvPr/>
        </p:nvSpPr>
        <p:spPr>
          <a:xfrm>
            <a:off x="660942" y="1288777"/>
            <a:ext cx="10511294" cy="291113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Menganalisis tanggungan hutang firma.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Mengetahui kebolehan firma untuk menguruskan hutang.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Pengurusan hutang melibatkan persoalan sama ada firma berupaya untuk membayar faedah.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sama ada peratusan hutang yang ditanggung bersesuaian atau sebaliknya.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50" descr="1,214 Financial Ratio Stock Photos, Pictures &amp; Royalty-Free Images - i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9512" y="4620553"/>
            <a:ext cx="2535035" cy="2106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0" descr="466 Financial Ratio Illustrations &amp; Clip Art - iSto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9508" y="4331270"/>
            <a:ext cx="2757096" cy="2275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1"/>
          <p:cNvSpPr/>
          <p:nvPr/>
        </p:nvSpPr>
        <p:spPr>
          <a:xfrm>
            <a:off x="3228473" y="826168"/>
            <a:ext cx="72390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5113" y="1967917"/>
            <a:ext cx="1600200" cy="1547711"/>
          </a:xfrm>
          <a:prstGeom prst="ellipse">
            <a:avLst/>
          </a:prstGeom>
          <a:noFill/>
          <a:ln>
            <a:noFill/>
          </a:ln>
          <a:effectLst>
            <a:outerShdw blurRad="127000" dist="127000" dir="8460000" algn="ctr">
              <a:srgbClr val="000000">
                <a:alpha val="21960"/>
              </a:srgbClr>
            </a:outerShdw>
          </a:effectLst>
        </p:spPr>
      </p:pic>
      <p:pic>
        <p:nvPicPr>
          <p:cNvPr id="395" name="Google Shape;395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13712" y="4407568"/>
            <a:ext cx="1676400" cy="1524000"/>
          </a:xfrm>
          <a:prstGeom prst="ellipse">
            <a:avLst/>
          </a:prstGeom>
          <a:noFill/>
          <a:ln>
            <a:noFill/>
          </a:ln>
          <a:effectLst>
            <a:outerShdw blurRad="127000" dist="127000" dir="8460000" algn="ctr">
              <a:srgbClr val="000000">
                <a:alpha val="21960"/>
              </a:srgbClr>
            </a:outerShdw>
          </a:effectLst>
        </p:spPr>
      </p:pic>
      <p:sp>
        <p:nvSpPr>
          <p:cNvPr id="396" name="Google Shape;396;p51"/>
          <p:cNvSpPr txBox="1"/>
          <p:nvPr/>
        </p:nvSpPr>
        <p:spPr>
          <a:xfrm flipH="1">
            <a:off x="3890112" y="2331912"/>
            <a:ext cx="5544971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i. 	Hutang Atas Ekuiti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1"/>
          <p:cNvSpPr txBox="1"/>
          <p:nvPr/>
        </p:nvSpPr>
        <p:spPr>
          <a:xfrm flipH="1">
            <a:off x="4075487" y="4875880"/>
            <a:ext cx="5544971" cy="58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ii. 	Hutang Atas 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1"/>
          <p:cNvSpPr/>
          <p:nvPr/>
        </p:nvSpPr>
        <p:spPr>
          <a:xfrm>
            <a:off x="1672723" y="505493"/>
            <a:ext cx="86106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	NISBAH HUTANG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51" descr="Financial Ratios Analysis With A Live Exampl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24562" y="2331912"/>
            <a:ext cx="2884508" cy="2152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1" descr="Understand Business Financial Ratios | Middletown, NJ Patch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55190" y="4650842"/>
            <a:ext cx="2753880" cy="195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"/>
          <p:cNvSpPr txBox="1"/>
          <p:nvPr/>
        </p:nvSpPr>
        <p:spPr>
          <a:xfrm>
            <a:off x="952474" y="878229"/>
            <a:ext cx="743745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romanLcPeriod"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Hutang Atas Ekuiti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52"/>
          <p:cNvSpPr txBox="1"/>
          <p:nvPr/>
        </p:nvSpPr>
        <p:spPr>
          <a:xfrm>
            <a:off x="1160951" y="3700766"/>
            <a:ext cx="9942477" cy="193833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hutang atas ekuiti mengukur amaun hutang bagi setiap ringgit ekuiti.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 Hutang: Hutang Jangka Pendek dan Hutang Jangka Panjang.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2"/>
          <p:cNvSpPr txBox="1"/>
          <p:nvPr/>
        </p:nvSpPr>
        <p:spPr>
          <a:xfrm>
            <a:off x="1160951" y="2245770"/>
            <a:ext cx="486075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426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504426"/>
                </a:solidFill>
                <a:latin typeface="Arial"/>
                <a:ea typeface="Arial"/>
                <a:cs typeface="Arial"/>
                <a:sym typeface="Arial"/>
              </a:rPr>
              <a:t>Nisbah Hutang Atas Ekuiti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2"/>
          <p:cNvSpPr txBox="1"/>
          <p:nvPr/>
        </p:nvSpPr>
        <p:spPr>
          <a:xfrm>
            <a:off x="6544747" y="2055602"/>
            <a:ext cx="2590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426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rgbClr val="504426"/>
                </a:solidFill>
                <a:latin typeface="Arial"/>
                <a:ea typeface="Arial"/>
                <a:cs typeface="Arial"/>
                <a:sym typeface="Arial"/>
              </a:rPr>
              <a:t>Jumlah Hutang</a:t>
            </a:r>
            <a:endParaRPr sz="2800" b="0" i="0" u="sng" strike="noStrike" cap="none">
              <a:solidFill>
                <a:srgbClr val="5044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52"/>
          <p:cNvSpPr txBox="1"/>
          <p:nvPr/>
        </p:nvSpPr>
        <p:spPr>
          <a:xfrm>
            <a:off x="6745379" y="2550570"/>
            <a:ext cx="248570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426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504426"/>
                </a:solidFill>
                <a:latin typeface="Arial"/>
                <a:ea typeface="Arial"/>
                <a:cs typeface="Arial"/>
                <a:sym typeface="Arial"/>
              </a:rPr>
              <a:t>Jumlah Ekuiti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2"/>
          <p:cNvSpPr txBox="1"/>
          <p:nvPr/>
        </p:nvSpPr>
        <p:spPr>
          <a:xfrm>
            <a:off x="5756124" y="2245770"/>
            <a:ext cx="685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426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504426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2"/>
          <p:cNvSpPr txBox="1"/>
          <p:nvPr/>
        </p:nvSpPr>
        <p:spPr>
          <a:xfrm>
            <a:off x="9450709" y="216957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426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504426"/>
                </a:solidFill>
                <a:latin typeface="Arial"/>
                <a:ea typeface="Arial"/>
                <a:cs typeface="Arial"/>
                <a:sym typeface="Arial"/>
              </a:rPr>
              <a:t>X 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3"/>
          <p:cNvSpPr txBox="1">
            <a:spLocks noGrp="1"/>
          </p:cNvSpPr>
          <p:nvPr>
            <p:ph type="title"/>
          </p:nvPr>
        </p:nvSpPr>
        <p:spPr>
          <a:xfrm>
            <a:off x="524822" y="1400033"/>
            <a:ext cx="6954253" cy="985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65138" lvl="0" indent="-4651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i. 	Nisbah Hutang Atas Ekuiti</a:t>
            </a:r>
            <a:endParaRPr sz="2800" b="1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3"/>
          <p:cNvSpPr txBox="1">
            <a:spLocks noGrp="1"/>
          </p:cNvSpPr>
          <p:nvPr>
            <p:ph type="body" idx="1"/>
          </p:nvPr>
        </p:nvSpPr>
        <p:spPr>
          <a:xfrm>
            <a:off x="981576" y="2676136"/>
            <a:ext cx="10837385" cy="38611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4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Jumlah Liabiliti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Pemiutang				RM    530,000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Pinjaman Jangka Panjang		RM 2,000,000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4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Jumlah Ekuiti 				RM 2,120,000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Berdasarkan maklumat di atas, hitungkan nisbah hutang atas ekuiti Syarikat Malaysian Techno.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3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Rujuk Penyata Kedudukan Kewangan &amp; Penyata Pendapatan Komprehensif Syarikat Malaysian Techno Berhad</a:t>
            </a:r>
            <a:endParaRPr sz="2800" b="1" i="0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>
            <a:spLocks noGrp="1"/>
          </p:cNvSpPr>
          <p:nvPr>
            <p:ph type="body" idx="1"/>
          </p:nvPr>
        </p:nvSpPr>
        <p:spPr>
          <a:xfrm>
            <a:off x="489336" y="1606193"/>
            <a:ext cx="11060077" cy="45141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Nisbah Hutang Atas Ekuiti:   =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Jumlah Liabiliti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 100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52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	 	Jumlah Ekuiti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52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	=   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RM 2,530,000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 x 100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							RM 2,120,000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	=    	119.34%  		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80000"/>
              </a:lnSpc>
              <a:spcBef>
                <a:spcPts val="52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Ini menunjukkan bahawa pada 2021, setiap RM1 yang disumbangkan oleh pemegang saham, terdapat RM1.19 hutang dalam struktur kewangan syarikat. Dana syarikat dibiayai oleh hutang sebanyak 119.34% berbanding ekuiti 100%.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4"/>
          <p:cNvSpPr txBox="1"/>
          <p:nvPr/>
        </p:nvSpPr>
        <p:spPr>
          <a:xfrm>
            <a:off x="667466" y="431484"/>
            <a:ext cx="743745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romanLcPeriod"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Hutang Atas Ekuiti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5"/>
          <p:cNvSpPr txBox="1"/>
          <p:nvPr/>
        </p:nvSpPr>
        <p:spPr>
          <a:xfrm>
            <a:off x="876300" y="631827"/>
            <a:ext cx="7437456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Nisbah Hutang Atas 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5"/>
          <p:cNvSpPr txBox="1"/>
          <p:nvPr/>
        </p:nvSpPr>
        <p:spPr>
          <a:xfrm>
            <a:off x="1073047" y="3599881"/>
            <a:ext cx="10169862" cy="224116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Menunjukkan peratusan aset yang dibiayai oleh hutang atau pihak ketiga iaitu pemberi pinjaman.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 Hutang: Liabiliti Semasa dan Liabiliti Bukan Semasa.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 Aset: Aset Semasa dan Aset Bukan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5"/>
          <p:cNvSpPr txBox="1"/>
          <p:nvPr/>
        </p:nvSpPr>
        <p:spPr>
          <a:xfrm>
            <a:off x="1528543" y="2241105"/>
            <a:ext cx="41910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Hutang Atas 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5"/>
          <p:cNvSpPr txBox="1"/>
          <p:nvPr/>
        </p:nvSpPr>
        <p:spPr>
          <a:xfrm>
            <a:off x="6405343" y="2017267"/>
            <a:ext cx="2590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Jumlah Liabiliti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5"/>
          <p:cNvSpPr txBox="1"/>
          <p:nvPr/>
        </p:nvSpPr>
        <p:spPr>
          <a:xfrm>
            <a:off x="6575581" y="2479230"/>
            <a:ext cx="25627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Jumlah 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5"/>
          <p:cNvSpPr txBox="1"/>
          <p:nvPr/>
        </p:nvSpPr>
        <p:spPr>
          <a:xfrm>
            <a:off x="5719543" y="2241105"/>
            <a:ext cx="685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5"/>
          <p:cNvSpPr txBox="1"/>
          <p:nvPr/>
        </p:nvSpPr>
        <p:spPr>
          <a:xfrm>
            <a:off x="8919943" y="2241105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>
            <a:spLocks noGrp="1"/>
          </p:cNvSpPr>
          <p:nvPr>
            <p:ph type="title"/>
          </p:nvPr>
        </p:nvSpPr>
        <p:spPr>
          <a:xfrm>
            <a:off x="609929" y="145632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ii. Nisbah Hutang Atas Aset</a:t>
            </a:r>
            <a:endParaRPr sz="2800" b="1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6"/>
          <p:cNvSpPr txBox="1">
            <a:spLocks noGrp="1"/>
          </p:cNvSpPr>
          <p:nvPr>
            <p:ph type="body" idx="1"/>
          </p:nvPr>
        </p:nvSpPr>
        <p:spPr>
          <a:xfrm>
            <a:off x="1060305" y="2665857"/>
            <a:ext cx="10362871" cy="39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4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Jumlah Liabiliti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Pemiutang			RM    530,000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Pinjaman Jangka Panjang	RM 2,000,000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4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Jumlah Aset: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Aset Semasa			RM 3,000,000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Aset Bukan Semasa		RM 1,650,000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Berdasarkan maklumat di atas, hitungkan nisbah hutang atas aset Syarikat Malaysian Techno.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6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ujuk Penyata Kedudukan Kewangan &amp; Penyata Pendapatan Komprehensif Syarikat Malaysian Techno Berhad</a:t>
            </a:r>
            <a:endParaRPr sz="2800" b="0" i="1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56" descr="Financial Ratios - Learn formula, meaning, example and interpreta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9529" y="1646332"/>
            <a:ext cx="2820602" cy="3969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7"/>
          <p:cNvSpPr txBox="1">
            <a:spLocks noGrp="1"/>
          </p:cNvSpPr>
          <p:nvPr>
            <p:ph type="title"/>
          </p:nvPr>
        </p:nvSpPr>
        <p:spPr>
          <a:xfrm>
            <a:off x="807013" y="602184"/>
            <a:ext cx="8229600" cy="953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latin typeface="Arial"/>
                <a:ea typeface="Arial"/>
                <a:cs typeface="Arial"/>
                <a:sym typeface="Arial"/>
              </a:rPr>
              <a:t>ii. Nisbah Hutang Atas Aset</a:t>
            </a:r>
            <a:endParaRPr sz="36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7"/>
          <p:cNvSpPr txBox="1">
            <a:spLocks noGrp="1"/>
          </p:cNvSpPr>
          <p:nvPr>
            <p:ph type="body" idx="1"/>
          </p:nvPr>
        </p:nvSpPr>
        <p:spPr>
          <a:xfrm>
            <a:off x="1251104" y="1805636"/>
            <a:ext cx="10144777" cy="42539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Nisbah Hutang Atas Aset 	=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Jumlah Liabiliti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 100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     		Jumlah Aset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525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   	= 	</a:t>
            </a:r>
            <a:r>
              <a:rPr lang="en-US" u="sng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RM 2,530,000</a:t>
            </a: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  x 100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 							RM 4,650,000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						=    	54.41%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Ini menunjukkan pada 2021, 54.41% daripada keseluruhan aset Syarikat Malaysian Techno dibiayai secara hutang.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8"/>
          <p:cNvSpPr txBox="1"/>
          <p:nvPr/>
        </p:nvSpPr>
        <p:spPr>
          <a:xfrm>
            <a:off x="1329949" y="471510"/>
            <a:ext cx="8763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	NISBAH KEUNTUNGAN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58"/>
          <p:cNvSpPr txBox="1"/>
          <p:nvPr/>
        </p:nvSpPr>
        <p:spPr>
          <a:xfrm>
            <a:off x="914400" y="1527091"/>
            <a:ext cx="10553699" cy="15684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Nisbah-nisbah di dalam kumpulan ini mengukur keberkesanan aktiviti-aktiviti firma dalam menjana keuntungan.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Terdapat dua jenis Nisbah Keuntungan iaitu: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6" name="Google Shape;456;p58"/>
          <p:cNvGraphicFramePr/>
          <p:nvPr/>
        </p:nvGraphicFramePr>
        <p:xfrm>
          <a:off x="914400" y="310922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{042EE6C2-54DE-4894-9E7C-0CFA94247151}</a:tableStyleId>
              </a:tblPr>
              <a:tblGrid>
                <a:gridCol w="53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8075">
                <a:tc>
                  <a:txBody>
                    <a:bodyPr/>
                    <a:lstStyle/>
                    <a:p>
                      <a:pPr marL="914400" marR="0" lvl="1" indent="-457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AutoNum type="alphaLcPeriod"/>
                      </a:pPr>
                      <a:r>
                        <a:rPr lang="en-US" sz="2800" u="none" strike="noStrike" cap="none"/>
                        <a:t>Margin Keuntungan:</a:t>
                      </a:r>
                      <a:endParaRPr sz="1400" u="none" strike="noStrike" cap="none"/>
                    </a:p>
                    <a:p>
                      <a:pPr marL="1377950" marR="0" lvl="1" indent="-463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Char char="•"/>
                      </a:pPr>
                      <a:r>
                        <a:rPr lang="en-US" sz="2800" u="none" strike="noStrike" cap="none"/>
                        <a:t>Mengukur pencapaian berbanding dengan jualan.</a:t>
                      </a:r>
                      <a:endParaRPr sz="1400" u="none" strike="noStrike" cap="none"/>
                    </a:p>
                    <a:p>
                      <a:pPr marL="1377950" marR="0" lvl="1" indent="-463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Char char="•"/>
                      </a:pPr>
                      <a:r>
                        <a:rPr lang="en-US" sz="2800" u="none" strike="noStrike" cap="none"/>
                        <a:t>Jenis-jenis:</a:t>
                      </a:r>
                      <a:endParaRPr sz="1400" u="none" strike="noStrike" cap="none"/>
                    </a:p>
                    <a:p>
                      <a:pPr marL="1828800" marR="0" lvl="1" indent="-450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AutoNum type="romanLcPeriod"/>
                      </a:pPr>
                      <a:r>
                        <a:rPr lang="en-US" sz="2800" u="none" strike="noStrike" cap="none"/>
                        <a:t>Margin Untung Kasar, </a:t>
                      </a:r>
                      <a:endParaRPr sz="1400" u="none" strike="noStrike" cap="none"/>
                    </a:p>
                    <a:p>
                      <a:pPr marL="1828800" marR="0" lvl="1" indent="-450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AutoNum type="romanLcPeriod"/>
                      </a:pPr>
                      <a:r>
                        <a:rPr lang="en-US" sz="2800" u="none" strike="noStrike" cap="none"/>
                        <a:t>Margin Untung Bersih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463550" marR="0" lvl="1" indent="-457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AutoNum type="alphaLcPeriod" startAt="2"/>
                      </a:pPr>
                      <a:r>
                        <a:rPr lang="en-US" sz="2800" u="none" strike="noStrike" cap="none"/>
                        <a:t>Nisbah-Nisbah Pulangan:</a:t>
                      </a:r>
                      <a:endParaRPr sz="1400" u="none" strike="noStrike" cap="none"/>
                    </a:p>
                    <a:p>
                      <a:pPr marL="914400" marR="0" lvl="1" indent="-463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Char char="•"/>
                      </a:pPr>
                      <a:r>
                        <a:rPr lang="en-US" sz="2800" u="none" strike="noStrike" cap="none"/>
                        <a:t>Mengukur  pencapaian berbanding dengan saiz pelaburan.</a:t>
                      </a:r>
                      <a:endParaRPr sz="2800" u="sng" strike="noStrike" cap="none"/>
                    </a:p>
                    <a:p>
                      <a:pPr marL="914400" marR="0" lvl="1" indent="-463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Char char="•"/>
                      </a:pPr>
                      <a:r>
                        <a:rPr lang="en-US" sz="2800" u="none" strike="noStrike" cap="none"/>
                        <a:t>Jenis-jenis:			</a:t>
                      </a:r>
                      <a:endParaRPr sz="1400" u="none" strike="noStrike" cap="none"/>
                    </a:p>
                    <a:p>
                      <a:pPr marL="1377950" marR="0" lvl="1" indent="-450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AutoNum type="romanLcPeriod"/>
                      </a:pPr>
                      <a:r>
                        <a:rPr lang="en-US" sz="2800" u="none" strike="noStrike" cap="none"/>
                        <a:t>Pulangan Atas Ekuiti, </a:t>
                      </a:r>
                      <a:endParaRPr sz="1400" u="none" strike="noStrike" cap="none"/>
                    </a:p>
                    <a:p>
                      <a:pPr marL="1377950" marR="0" lvl="1" indent="-450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AutoNum type="romanLcPeriod"/>
                      </a:pPr>
                      <a:r>
                        <a:rPr lang="en-US" sz="2800" u="none" strike="noStrike" cap="none"/>
                        <a:t>Pulangan Atas Aset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/>
          <p:nvPr/>
        </p:nvSpPr>
        <p:spPr>
          <a:xfrm>
            <a:off x="500058" y="446926"/>
            <a:ext cx="10331715" cy="97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1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	Margin Keuntungan: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i. 	Margin Untung Kasar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Gross Profit Margin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9"/>
          <p:cNvSpPr txBox="1"/>
          <p:nvPr/>
        </p:nvSpPr>
        <p:spPr>
          <a:xfrm>
            <a:off x="944839" y="3890521"/>
            <a:ext cx="10176860" cy="2133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peratus untung kasar yang diperolehi bagi setiap ringgit jualan.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Menunjukkan lebihan dari setiap ringgit jualan sebelum ditolak dengan semua belanja firma.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9"/>
          <p:cNvSpPr txBox="1"/>
          <p:nvPr/>
        </p:nvSpPr>
        <p:spPr>
          <a:xfrm>
            <a:off x="1232669" y="2305550"/>
            <a:ext cx="4419600" cy="673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Margin Untung Kasar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9"/>
          <p:cNvSpPr txBox="1"/>
          <p:nvPr/>
        </p:nvSpPr>
        <p:spPr>
          <a:xfrm>
            <a:off x="6033269" y="2108815"/>
            <a:ext cx="4114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Untung Kasar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9"/>
          <p:cNvSpPr txBox="1"/>
          <p:nvPr/>
        </p:nvSpPr>
        <p:spPr>
          <a:xfrm>
            <a:off x="6490469" y="2566015"/>
            <a:ext cx="26670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Jualan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9"/>
          <p:cNvSpPr txBox="1"/>
          <p:nvPr/>
        </p:nvSpPr>
        <p:spPr>
          <a:xfrm>
            <a:off x="5423669" y="2337415"/>
            <a:ext cx="685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9"/>
          <p:cNvSpPr txBox="1"/>
          <p:nvPr/>
        </p:nvSpPr>
        <p:spPr>
          <a:xfrm>
            <a:off x="8852669" y="2337415"/>
            <a:ext cx="17526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0"/>
          <p:cNvSpPr txBox="1">
            <a:spLocks noGrp="1"/>
          </p:cNvSpPr>
          <p:nvPr>
            <p:ph type="body" idx="1"/>
          </p:nvPr>
        </p:nvSpPr>
        <p:spPr>
          <a:xfrm>
            <a:off x="893930" y="3329845"/>
            <a:ext cx="10624782" cy="2552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Jualan				RM 8,500,000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Pendapatan kasar		RM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8,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050,000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Berdasarkan maklumat di atas, hitungkan margin untung kasar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Syarikat Malaysian Techno.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0"/>
          <p:cNvSpPr txBox="1"/>
          <p:nvPr/>
        </p:nvSpPr>
        <p:spPr>
          <a:xfrm>
            <a:off x="472762" y="1782170"/>
            <a:ext cx="10331715" cy="97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1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	Margin Keberuntungan: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i. 	Margin Untung Kasar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Gross Profit Margin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60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ujuk Penyata Kedudukan Kewangan &amp; Penyata Pendapatan Komprehensif Syarikat Malaysian Techno Berhad</a:t>
            </a:r>
            <a:endParaRPr sz="2800" b="0" i="1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1"/>
          <p:cNvSpPr txBox="1">
            <a:spLocks noGrp="1"/>
          </p:cNvSpPr>
          <p:nvPr>
            <p:ph type="body" idx="1"/>
          </p:nvPr>
        </p:nvSpPr>
        <p:spPr>
          <a:xfrm>
            <a:off x="955676" y="1941139"/>
            <a:ext cx="10412910" cy="45259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Margin Untung Kasar =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Untung Kasar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 100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                                      Jualan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 =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RM 8,050,000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 100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                           	RM 8,500,000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= 	94.71%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Setiap RM1 jualan Syarikat Malaysian Techno pada tahun 2021 menyumbangkan keuntungan kasar sebanyak RM0.95.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1"/>
          <p:cNvSpPr txBox="1"/>
          <p:nvPr/>
        </p:nvSpPr>
        <p:spPr>
          <a:xfrm>
            <a:off x="500058" y="446926"/>
            <a:ext cx="10331715" cy="97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1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	Margin Keberuntungan: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i. 	Margin Untung Kasar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Gross Profit Margin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2"/>
          <p:cNvSpPr txBox="1"/>
          <p:nvPr/>
        </p:nvSpPr>
        <p:spPr>
          <a:xfrm>
            <a:off x="925504" y="4350151"/>
            <a:ext cx="10176860" cy="2133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peratus untung bersih yang diperolehi bagi setiap ringgit jualan.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Menunjukkan lebihan dari setiap ringgit jualan setelah ditolak dengan semua belanja firma.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62"/>
          <p:cNvSpPr txBox="1"/>
          <p:nvPr/>
        </p:nvSpPr>
        <p:spPr>
          <a:xfrm>
            <a:off x="1137134" y="2170400"/>
            <a:ext cx="44196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Margin Untung Bersih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(Pulangan Atas Jualan)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62"/>
          <p:cNvSpPr txBox="1"/>
          <p:nvPr/>
        </p:nvSpPr>
        <p:spPr>
          <a:xfrm>
            <a:off x="5937734" y="2094200"/>
            <a:ext cx="4114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Untung Bersih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62"/>
          <p:cNvSpPr txBox="1"/>
          <p:nvPr/>
        </p:nvSpPr>
        <p:spPr>
          <a:xfrm>
            <a:off x="6166334" y="2627600"/>
            <a:ext cx="26670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Jualan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62"/>
          <p:cNvCxnSpPr/>
          <p:nvPr/>
        </p:nvCxnSpPr>
        <p:spPr>
          <a:xfrm>
            <a:off x="6013934" y="2551400"/>
            <a:ext cx="2362200" cy="1588"/>
          </a:xfrm>
          <a:prstGeom prst="straightConnector1">
            <a:avLst/>
          </a:prstGeom>
          <a:noFill/>
          <a:ln w="38100" cap="flat" cmpd="sng">
            <a:solidFill>
              <a:srgbClr val="021F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0" name="Google Shape;490;p62"/>
          <p:cNvSpPr txBox="1"/>
          <p:nvPr/>
        </p:nvSpPr>
        <p:spPr>
          <a:xfrm>
            <a:off x="5328134" y="2322800"/>
            <a:ext cx="685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62"/>
          <p:cNvSpPr txBox="1"/>
          <p:nvPr/>
        </p:nvSpPr>
        <p:spPr>
          <a:xfrm>
            <a:off x="8757134" y="2322800"/>
            <a:ext cx="17526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62"/>
          <p:cNvSpPr/>
          <p:nvPr/>
        </p:nvSpPr>
        <p:spPr>
          <a:xfrm>
            <a:off x="1042887" y="3241963"/>
            <a:ext cx="915678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Untung yg diguna adalah untung selepas cukai.</a:t>
            </a:r>
            <a:endParaRPr sz="28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62"/>
          <p:cNvSpPr txBox="1"/>
          <p:nvPr/>
        </p:nvSpPr>
        <p:spPr>
          <a:xfrm>
            <a:off x="500058" y="446926"/>
            <a:ext cx="10331715" cy="97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1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	Margin keberuntungan: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ii. Margin Untung Bersih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 Profit Margin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3"/>
          <p:cNvSpPr txBox="1">
            <a:spLocks noGrp="1"/>
          </p:cNvSpPr>
          <p:nvPr>
            <p:ph type="body" idx="1"/>
          </p:nvPr>
        </p:nvSpPr>
        <p:spPr>
          <a:xfrm>
            <a:off x="825691" y="3357140"/>
            <a:ext cx="10624782" cy="242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Jualan					RM 8,500,000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Pendapatan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selepas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 cukai		RM 1,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069,000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Berdasarkan maklumat di atas, hitungkan Margin Untung Bersih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Syarikat Malaysian Techno.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63"/>
          <p:cNvSpPr txBox="1"/>
          <p:nvPr/>
        </p:nvSpPr>
        <p:spPr>
          <a:xfrm>
            <a:off x="486411" y="1843386"/>
            <a:ext cx="10331715" cy="97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1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	Margin keberuntungan: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ii. Margin Untung Bersih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 Profit Margin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63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ujuk Penyata Kedudukan Kewangan &amp; Penyata Pendapatan Komprehensif Syarikat Malaysian Techno Berhad</a:t>
            </a:r>
            <a:endParaRPr sz="2800" b="0" i="1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4"/>
          <p:cNvSpPr txBox="1">
            <a:spLocks noGrp="1"/>
          </p:cNvSpPr>
          <p:nvPr>
            <p:ph type="body" idx="1"/>
          </p:nvPr>
        </p:nvSpPr>
        <p:spPr>
          <a:xfrm>
            <a:off x="955676" y="2023026"/>
            <a:ext cx="10412910" cy="45259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Margin Untung Bersih =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Untung Bersih Selepas Cukai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 100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                                      	        Jualan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 =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RM 1,069,000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 100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                           	RM 8,500,000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= 	12.58%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Setiap RM1 jualan Syarikat Malaysian Techno pada tahun 2021 menyumbangkan keuntungan bersih sebanyak RM0.13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64"/>
          <p:cNvSpPr txBox="1"/>
          <p:nvPr/>
        </p:nvSpPr>
        <p:spPr>
          <a:xfrm>
            <a:off x="500058" y="392335"/>
            <a:ext cx="10331715" cy="114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1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	Margin keberuntungan: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ii. Margin Untung Bersih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 Profit Margin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5"/>
          <p:cNvSpPr txBox="1"/>
          <p:nvPr/>
        </p:nvSpPr>
        <p:spPr>
          <a:xfrm>
            <a:off x="1680668" y="3795118"/>
            <a:ext cx="9824396" cy="274781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pulangan yang diperolehi oleh pemilik bagi setiap ringgit yang dilaburkan dalam perniagaan.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Membandingkan untung bersih syarikat dengan jumlah ekuiti.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Lebih tinggi nisbah ini menggambarkan jumlah ekuiti yang dilaburkan mampu menjana keuntungan yang tinggi.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65"/>
          <p:cNvSpPr txBox="1"/>
          <p:nvPr/>
        </p:nvSpPr>
        <p:spPr>
          <a:xfrm>
            <a:off x="1488197" y="2207080"/>
            <a:ext cx="4267200" cy="950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Pulangan Atas Ekuiti (ROE)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5"/>
          <p:cNvSpPr txBox="1"/>
          <p:nvPr/>
        </p:nvSpPr>
        <p:spPr>
          <a:xfrm>
            <a:off x="6060197" y="2207080"/>
            <a:ext cx="4114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Untung Bersih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5"/>
          <p:cNvSpPr txBox="1"/>
          <p:nvPr/>
        </p:nvSpPr>
        <p:spPr>
          <a:xfrm>
            <a:off x="6130709" y="2696041"/>
            <a:ext cx="2527516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Jumlah Ekuiti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65"/>
          <p:cNvSpPr txBox="1"/>
          <p:nvPr/>
        </p:nvSpPr>
        <p:spPr>
          <a:xfrm>
            <a:off x="5526797" y="2207080"/>
            <a:ext cx="685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65"/>
          <p:cNvSpPr txBox="1"/>
          <p:nvPr/>
        </p:nvSpPr>
        <p:spPr>
          <a:xfrm>
            <a:off x="8650997" y="2358124"/>
            <a:ext cx="15240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65"/>
          <p:cNvSpPr txBox="1"/>
          <p:nvPr/>
        </p:nvSpPr>
        <p:spPr>
          <a:xfrm>
            <a:off x="789953" y="420104"/>
            <a:ext cx="10331715" cy="114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1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	Nisbah Pulangan: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i. Pulangan Atas Ekuiti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on Equity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6"/>
          <p:cNvSpPr txBox="1">
            <a:spLocks noGrp="1"/>
          </p:cNvSpPr>
          <p:nvPr>
            <p:ph type="body" idx="1"/>
          </p:nvPr>
        </p:nvSpPr>
        <p:spPr>
          <a:xfrm>
            <a:off x="1139438" y="3233504"/>
            <a:ext cx="10022306" cy="2880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Pendapatan bersih			RM 1 069 000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4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Ekuiti Pemegang Saham		RM 2,120,000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Berdasarkan maklumat di atas, hitungkan pulangan atas ekuiti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Syarikat Malaysian Techno.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66"/>
          <p:cNvSpPr txBox="1"/>
          <p:nvPr/>
        </p:nvSpPr>
        <p:spPr>
          <a:xfrm>
            <a:off x="653475" y="1623840"/>
            <a:ext cx="10331715" cy="114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1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	Nisbah Pulangan: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i. Pulangan Atas Ekuiti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on Equity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66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ujuk Penyata Kedudukan Kewangan &amp; Penyata Pendapatan Komprehensif Syarikat Malaysian Techno Berhad</a:t>
            </a:r>
            <a:endParaRPr sz="2800" b="0" i="1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7"/>
          <p:cNvSpPr txBox="1">
            <a:spLocks noGrp="1"/>
          </p:cNvSpPr>
          <p:nvPr>
            <p:ph type="body" idx="1"/>
          </p:nvPr>
        </p:nvSpPr>
        <p:spPr>
          <a:xfrm>
            <a:off x="1381566" y="2016637"/>
            <a:ext cx="9877837" cy="48487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 u="sng">
                <a:latin typeface="Arial"/>
                <a:ea typeface="Arial"/>
                <a:cs typeface="Arial"/>
                <a:sym typeface="Arial"/>
              </a:rPr>
              <a:t>Pendapatan selepas cukai/pendapatan bersih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x 100%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                 Jumlah Ekuiti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=   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RM 1,069,000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 100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		RM 2,120,000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=     	50.42%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Setiap RM1 yang dilaburkan Syarikat Malaysian Techno pada 2021 akan menjana keuntungan bersih sebanyak RM0.50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67"/>
          <p:cNvSpPr txBox="1"/>
          <p:nvPr/>
        </p:nvSpPr>
        <p:spPr>
          <a:xfrm>
            <a:off x="535405" y="522528"/>
            <a:ext cx="10331715" cy="114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1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	Nisbah Pulangan: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i. Pulangan Atas Ekuiti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on Equity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8"/>
          <p:cNvSpPr txBox="1"/>
          <p:nvPr/>
        </p:nvSpPr>
        <p:spPr>
          <a:xfrm>
            <a:off x="472939" y="479353"/>
            <a:ext cx="11423922" cy="1450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LcPeriod" startAt="2"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Pulangan: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ii.	Pulangan Atas Aset/Pulangan Atas Pelaburan 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On Assets - ROA/ROI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68"/>
          <p:cNvSpPr txBox="1"/>
          <p:nvPr/>
        </p:nvSpPr>
        <p:spPr>
          <a:xfrm>
            <a:off x="1066799" y="3847798"/>
            <a:ext cx="10134601" cy="255373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kadar keuntungan daripada setiap ringgit yang dilaburkan ke atas aset.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Menunjukkan kecekapan firma di dalam pelaburan aset.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Semakin tinggi, semakin baik kerana menunjukkan keuntungan yang diperolehi.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68"/>
          <p:cNvSpPr txBox="1"/>
          <p:nvPr/>
        </p:nvSpPr>
        <p:spPr>
          <a:xfrm>
            <a:off x="1066799" y="2570013"/>
            <a:ext cx="449580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Pulangan Atas Aset (ROA)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68"/>
          <p:cNvSpPr txBox="1"/>
          <p:nvPr/>
        </p:nvSpPr>
        <p:spPr>
          <a:xfrm>
            <a:off x="6438899" y="2247900"/>
            <a:ext cx="4114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Untung Bersih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68"/>
          <p:cNvSpPr txBox="1"/>
          <p:nvPr/>
        </p:nvSpPr>
        <p:spPr>
          <a:xfrm>
            <a:off x="6591299" y="2739398"/>
            <a:ext cx="24384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Jumlah 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8"/>
          <p:cNvSpPr txBox="1"/>
          <p:nvPr/>
        </p:nvSpPr>
        <p:spPr>
          <a:xfrm>
            <a:off x="5600699" y="2624138"/>
            <a:ext cx="685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68"/>
          <p:cNvSpPr txBox="1"/>
          <p:nvPr/>
        </p:nvSpPr>
        <p:spPr>
          <a:xfrm>
            <a:off x="9029699" y="2476500"/>
            <a:ext cx="15240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9"/>
          <p:cNvSpPr txBox="1">
            <a:spLocks noGrp="1"/>
          </p:cNvSpPr>
          <p:nvPr>
            <p:ph type="body" idx="1"/>
          </p:nvPr>
        </p:nvSpPr>
        <p:spPr>
          <a:xfrm>
            <a:off x="958181" y="3903579"/>
            <a:ext cx="10275637" cy="24153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Pendapatan bersih 		RM 1,069,000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Jumla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h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Aset 			RM 4,650,000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Berdasarkan maklumat di atas, hitungkan pulangan atas aset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Syarikat Malaysian Techno.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384038" y="1689852"/>
            <a:ext cx="11423922" cy="1450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LcPeriod" startAt="2"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Pulangan: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ii.	Pulangan Atas Aset/Pulangan Atas Pelaburan 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On Assets - ROA/ROI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9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ujuk Penyata Kedudukan Kewangan &amp; Penyata Pendapatan Komprehensif Syarikat Malaysian Techno Berhad</a:t>
            </a:r>
            <a:endParaRPr sz="2800" b="0" i="1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>
            <a:spLocks noGrp="1"/>
          </p:cNvSpPr>
          <p:nvPr>
            <p:ph type="body" idx="1"/>
          </p:nvPr>
        </p:nvSpPr>
        <p:spPr>
          <a:xfrm>
            <a:off x="961190" y="2324769"/>
            <a:ext cx="10418010" cy="42538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=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Pendapatan selepas cukai/pendapatan bersih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x 100                            			Jumlah Aset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=   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RM 1,069,000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x 100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			RM 4,650,000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=     	22.99%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Setiap RM1 yang dilaburkan Syarikat Malaysian Techno pada 2021 ke atas aset menyumbangkan keuntungan sebanyak RM0.23.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70"/>
          <p:cNvSpPr txBox="1"/>
          <p:nvPr/>
        </p:nvSpPr>
        <p:spPr>
          <a:xfrm>
            <a:off x="491290" y="597652"/>
            <a:ext cx="10659310" cy="1450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572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lphaLcPeriod" startAt="2"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Pulangan: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ii.	Pulangan Atas Aset/Pulangan Atas Pelaburan 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On Assets - ROA/ROI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1"/>
          <p:cNvSpPr txBox="1"/>
          <p:nvPr/>
        </p:nvSpPr>
        <p:spPr>
          <a:xfrm>
            <a:off x="2373395" y="510383"/>
            <a:ext cx="6934200" cy="76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NISBAH AKTIVITI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1"/>
          <p:cNvSpPr txBox="1"/>
          <p:nvPr/>
        </p:nvSpPr>
        <p:spPr>
          <a:xfrm>
            <a:off x="1009855" y="1883136"/>
            <a:ext cx="10369345" cy="18311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sejauh mana keberkesanan syarikat dalam menggunakan aset-aset dalam operasinya.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jenis nisbah aktiviti: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1" name="Google Shape;561;p71"/>
          <p:cNvGrpSpPr/>
          <p:nvPr/>
        </p:nvGrpSpPr>
        <p:grpSpPr>
          <a:xfrm>
            <a:off x="1009855" y="3714316"/>
            <a:ext cx="10369345" cy="1992313"/>
            <a:chOff x="344205" y="1625859"/>
            <a:chExt cx="6588538" cy="1625859"/>
          </a:xfrm>
        </p:grpSpPr>
        <p:sp>
          <p:nvSpPr>
            <p:cNvPr id="562" name="Google Shape;562;p71"/>
            <p:cNvSpPr txBox="1"/>
            <p:nvPr/>
          </p:nvSpPr>
          <p:spPr>
            <a:xfrm>
              <a:off x="344205" y="1625859"/>
              <a:ext cx="1922560" cy="16258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5125" tIns="135125" rIns="135125" bIns="1351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9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i. Pusing Ganti Inventori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71"/>
            <p:cNvSpPr txBox="1"/>
            <p:nvPr/>
          </p:nvSpPr>
          <p:spPr>
            <a:xfrm>
              <a:off x="2334444" y="1625859"/>
              <a:ext cx="2265310" cy="16258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5125" tIns="135125" rIns="135125" bIns="1351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9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ii. Pusing Ganti Jumlah Aset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71"/>
            <p:cNvSpPr txBox="1"/>
            <p:nvPr/>
          </p:nvSpPr>
          <p:spPr>
            <a:xfrm>
              <a:off x="4667433" y="1625859"/>
              <a:ext cx="2265310" cy="16258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5125" tIns="135125" rIns="135125" bIns="1351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9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iii. Tempoh Purata Kutipan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2"/>
          <p:cNvSpPr txBox="1"/>
          <p:nvPr/>
        </p:nvSpPr>
        <p:spPr>
          <a:xfrm>
            <a:off x="891370" y="439654"/>
            <a:ext cx="7437459" cy="71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 Pusing Ganti Inventori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72"/>
          <p:cNvSpPr txBox="1"/>
          <p:nvPr/>
        </p:nvSpPr>
        <p:spPr>
          <a:xfrm>
            <a:off x="1238641" y="4401493"/>
            <a:ext cx="9790918" cy="207344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 menerangkan kecekapan firma dalam menukarkan inventori kepada jualan.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Lebih tinggi adalah lebih baik kerana firma tidak menyimpan stok berlebihan.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72"/>
          <p:cNvSpPr txBox="1"/>
          <p:nvPr/>
        </p:nvSpPr>
        <p:spPr>
          <a:xfrm>
            <a:off x="1238641" y="1664723"/>
            <a:ext cx="41910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Pusing Ganti Inventori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72"/>
          <p:cNvSpPr txBox="1"/>
          <p:nvPr/>
        </p:nvSpPr>
        <p:spPr>
          <a:xfrm>
            <a:off x="6039241" y="1314679"/>
            <a:ext cx="33909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Kos Barang Dijual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72"/>
          <p:cNvSpPr txBox="1"/>
          <p:nvPr/>
        </p:nvSpPr>
        <p:spPr>
          <a:xfrm>
            <a:off x="6629791" y="1849802"/>
            <a:ext cx="1699038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72"/>
          <p:cNvSpPr txBox="1"/>
          <p:nvPr/>
        </p:nvSpPr>
        <p:spPr>
          <a:xfrm>
            <a:off x="5239141" y="1668692"/>
            <a:ext cx="685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72"/>
          <p:cNvSpPr txBox="1"/>
          <p:nvPr/>
        </p:nvSpPr>
        <p:spPr>
          <a:xfrm>
            <a:off x="1238641" y="2372915"/>
            <a:ext cx="685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72"/>
          <p:cNvSpPr txBox="1"/>
          <p:nvPr/>
        </p:nvSpPr>
        <p:spPr>
          <a:xfrm>
            <a:off x="1238641" y="3259136"/>
            <a:ext cx="41910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Pusing Ganti Inventori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72"/>
          <p:cNvSpPr txBox="1"/>
          <p:nvPr/>
        </p:nvSpPr>
        <p:spPr>
          <a:xfrm>
            <a:off x="6039241" y="2999119"/>
            <a:ext cx="228958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Jualan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72"/>
          <p:cNvSpPr txBox="1"/>
          <p:nvPr/>
        </p:nvSpPr>
        <p:spPr>
          <a:xfrm>
            <a:off x="6498446" y="3493758"/>
            <a:ext cx="2209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72"/>
          <p:cNvSpPr txBox="1"/>
          <p:nvPr/>
        </p:nvSpPr>
        <p:spPr>
          <a:xfrm>
            <a:off x="5239141" y="3263105"/>
            <a:ext cx="685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3"/>
          <p:cNvSpPr txBox="1">
            <a:spLocks noGrp="1"/>
          </p:cNvSpPr>
          <p:nvPr>
            <p:ph type="body" idx="1"/>
          </p:nvPr>
        </p:nvSpPr>
        <p:spPr>
          <a:xfrm>
            <a:off x="809459" y="2793330"/>
            <a:ext cx="10417341" cy="31434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Jualan	: RM 8,500,000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Inventori	: RM 1,000,000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KBDJ	: RM    450,000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Berdasarkan maklumat di atas, hitungkan pusing ganti inventori </a:t>
            </a: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Syarikat Malaysian Techno.</a:t>
            </a:r>
            <a:endParaRPr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73"/>
          <p:cNvSpPr txBox="1"/>
          <p:nvPr/>
        </p:nvSpPr>
        <p:spPr>
          <a:xfrm>
            <a:off x="408770" y="1679638"/>
            <a:ext cx="7437459" cy="551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 Pusing Ganti Inventori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73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ujuk Penyata Kedudukan Kewangan &amp; Penyata Pendapatan Komprehensif Syarikat Malaysian Techno Berhad</a:t>
            </a:r>
            <a:endParaRPr sz="2800" b="0" i="1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4"/>
          <p:cNvSpPr txBox="1">
            <a:spLocks noGrp="1"/>
          </p:cNvSpPr>
          <p:nvPr>
            <p:ph type="body" idx="1"/>
          </p:nvPr>
        </p:nvSpPr>
        <p:spPr>
          <a:xfrm>
            <a:off x="720559" y="2094831"/>
            <a:ext cx="10823741" cy="43059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Pusing Ganti Inventori	=	</a:t>
            </a:r>
            <a:r>
              <a:rPr lang="en-US" u="sng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Jualan</a:t>
            </a: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		@	</a:t>
            </a:r>
            <a:r>
              <a:rPr lang="en-US" u="sng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KBDJ</a:t>
            </a: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                                  	  	Inventori			Inventori</a:t>
            </a:r>
            <a:endParaRPr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					= 	</a:t>
            </a:r>
            <a:r>
              <a:rPr lang="en-US" u="sng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8,500,000</a:t>
            </a: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u="sng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450,000</a:t>
            </a:r>
            <a:endParaRPr u="sng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	    	1,000,000			1,000,000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					=	8.5 kali			0.45 kali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Kesimpulan: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Pada tahun 2021, setiap RM 1 inventori Syarikat Malaysian Techno dapat menghasilkan jualan sebanyak 8.5 kali atau RM 8.50.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74"/>
          <p:cNvSpPr txBox="1"/>
          <p:nvPr/>
        </p:nvSpPr>
        <p:spPr>
          <a:xfrm>
            <a:off x="408770" y="954585"/>
            <a:ext cx="7437459" cy="551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 Pusing Ganti Inventori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5"/>
          <p:cNvSpPr txBox="1"/>
          <p:nvPr/>
        </p:nvSpPr>
        <p:spPr>
          <a:xfrm>
            <a:off x="927100" y="760324"/>
            <a:ext cx="743745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Pusing Ganti Jumlah 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75"/>
          <p:cNvSpPr txBox="1"/>
          <p:nvPr/>
        </p:nvSpPr>
        <p:spPr>
          <a:xfrm>
            <a:off x="927100" y="4335484"/>
            <a:ext cx="10239057" cy="14102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Menunjukkan keupayaan dan kecekapan penggunaan aset firma untuk menjana hasil jualan.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75"/>
          <p:cNvSpPr txBox="1"/>
          <p:nvPr/>
        </p:nvSpPr>
        <p:spPr>
          <a:xfrm>
            <a:off x="1500973" y="2353490"/>
            <a:ext cx="450404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Pusing Ganti Jumlah Aset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75"/>
          <p:cNvSpPr txBox="1"/>
          <p:nvPr/>
        </p:nvSpPr>
        <p:spPr>
          <a:xfrm>
            <a:off x="6816896" y="2263686"/>
            <a:ext cx="24384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Jualan</a:t>
            </a:r>
            <a:endParaRPr sz="28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75"/>
          <p:cNvSpPr txBox="1"/>
          <p:nvPr/>
        </p:nvSpPr>
        <p:spPr>
          <a:xfrm>
            <a:off x="6801890" y="2789367"/>
            <a:ext cx="2773211" cy="49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 Aset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75"/>
          <p:cNvSpPr txBox="1"/>
          <p:nvPr/>
        </p:nvSpPr>
        <p:spPr>
          <a:xfrm>
            <a:off x="6298709" y="2353490"/>
            <a:ext cx="685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6"/>
          <p:cNvSpPr txBox="1">
            <a:spLocks noGrp="1"/>
          </p:cNvSpPr>
          <p:nvPr>
            <p:ph type="body" idx="1"/>
          </p:nvPr>
        </p:nvSpPr>
        <p:spPr>
          <a:xfrm>
            <a:off x="869949" y="2624556"/>
            <a:ext cx="10426701" cy="30142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Maklumat: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Jualan		: RM 8,500,000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Jumlah Aset	: RM 4,650,000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Berdasarkan maklumat di atas, hitungkan pusing ganti jumlah aset.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76"/>
          <p:cNvSpPr txBox="1"/>
          <p:nvPr/>
        </p:nvSpPr>
        <p:spPr>
          <a:xfrm>
            <a:off x="373355" y="1482052"/>
            <a:ext cx="7437453" cy="700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Pusing Ganti Jumlah 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76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ujuk Penyata Kedudukan Kewangan &amp; Penyata Pendapatan Komprehensif Syarikat Malaysian Techno Berhad</a:t>
            </a:r>
            <a:endParaRPr sz="2800" b="0" i="1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7"/>
          <p:cNvSpPr txBox="1">
            <a:spLocks noGrp="1"/>
          </p:cNvSpPr>
          <p:nvPr>
            <p:ph type="body" idx="1"/>
          </p:nvPr>
        </p:nvSpPr>
        <p:spPr>
          <a:xfrm>
            <a:off x="944538" y="2078836"/>
            <a:ext cx="10314865" cy="44239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Pusing Ganti Jumlah Aset   	=  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Jualan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                      			Jumlah Aset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    	=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8,500,000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                                  		4,650,000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 	=	1.83 kali 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Ini menunjukkan bahawa setiap RM 1 yang dilaburkan Syarikat Malaysian Techno pada tahun 2021 ke atas aset dapat menghasilkan jualan sebanyak RM1.83 @ 1.83 kali.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77"/>
          <p:cNvSpPr txBox="1"/>
          <p:nvPr/>
        </p:nvSpPr>
        <p:spPr>
          <a:xfrm>
            <a:off x="428893" y="1023997"/>
            <a:ext cx="7437453" cy="700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Pusing Ganti Jumlah 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8"/>
          <p:cNvSpPr txBox="1"/>
          <p:nvPr/>
        </p:nvSpPr>
        <p:spPr>
          <a:xfrm>
            <a:off x="582558" y="513176"/>
            <a:ext cx="7437459" cy="635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iii. Tempoh Purata Kutipan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78"/>
          <p:cNvSpPr txBox="1"/>
          <p:nvPr/>
        </p:nvSpPr>
        <p:spPr>
          <a:xfrm>
            <a:off x="1460833" y="4254743"/>
            <a:ext cx="9842168" cy="219509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keupayaan firma untuk mengutip hutang daripada pelanggan.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 menunjukkan purata masa yang diambil untuk mengutip hutang daripada pelanggan atau akaun belum terima.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78"/>
          <p:cNvSpPr txBox="1"/>
          <p:nvPr/>
        </p:nvSpPr>
        <p:spPr>
          <a:xfrm>
            <a:off x="1244599" y="1871065"/>
            <a:ext cx="4110787" cy="69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Tempoh Purata Kutipan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78"/>
          <p:cNvSpPr txBox="1"/>
          <p:nvPr/>
        </p:nvSpPr>
        <p:spPr>
          <a:xfrm>
            <a:off x="5355386" y="1660445"/>
            <a:ext cx="42672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8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Akaun Belum Terima</a:t>
            </a:r>
            <a:endParaRPr sz="28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78"/>
          <p:cNvSpPr txBox="1"/>
          <p:nvPr/>
        </p:nvSpPr>
        <p:spPr>
          <a:xfrm>
            <a:off x="5507786" y="2172220"/>
            <a:ext cx="4360114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*Purata Jualan Kredit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78"/>
          <p:cNvSpPr txBox="1"/>
          <p:nvPr/>
        </p:nvSpPr>
        <p:spPr>
          <a:xfrm>
            <a:off x="5507786" y="1889045"/>
            <a:ext cx="685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9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8A59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78"/>
          <p:cNvSpPr txBox="1"/>
          <p:nvPr/>
        </p:nvSpPr>
        <p:spPr>
          <a:xfrm>
            <a:off x="1142999" y="3050396"/>
            <a:ext cx="9049753" cy="598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*Jika tidak diberi jualan kredit, boleh guna jualan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9"/>
          <p:cNvSpPr txBox="1">
            <a:spLocks noGrp="1"/>
          </p:cNvSpPr>
          <p:nvPr>
            <p:ph type="body" idx="1"/>
          </p:nvPr>
        </p:nvSpPr>
        <p:spPr>
          <a:xfrm>
            <a:off x="1221650" y="2725922"/>
            <a:ext cx="10145797" cy="283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Jualan			: RM 8,500,000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Penghutang		: RM   300,000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Berdasarkan maklumat di atas, hitungkan tempoh purata kutipan Syarikat Malaysian Techno.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79"/>
          <p:cNvSpPr txBox="1"/>
          <p:nvPr/>
        </p:nvSpPr>
        <p:spPr>
          <a:xfrm>
            <a:off x="506358" y="1677493"/>
            <a:ext cx="7437459" cy="635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iii. Tempoh Purata Kutipan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79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ujuk Penyata Kedudukan Kewangan &amp; Penyata Pendapatan Komprehensif Syarikat Malaysian Techno Berhad</a:t>
            </a:r>
            <a:endParaRPr sz="2800" b="0" i="1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4" name="Google Shape;634;p79" descr="What is a Good Debt To Asset Ratio? (Calculator + Ratios to Avoid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5084" y="4583142"/>
            <a:ext cx="3264519" cy="194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79" descr="Difference Between Accounting and Finance (with Comparison Chart) - Key  Difference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9545" y="1752630"/>
            <a:ext cx="2848882" cy="193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0"/>
          <p:cNvSpPr txBox="1">
            <a:spLocks noGrp="1"/>
          </p:cNvSpPr>
          <p:nvPr>
            <p:ph type="body" idx="1"/>
          </p:nvPr>
        </p:nvSpPr>
        <p:spPr>
          <a:xfrm>
            <a:off x="1180707" y="1997193"/>
            <a:ext cx="10145797" cy="429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Tempoh Purata Kutipan	= 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ABT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 x 365 Hari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 	     	Jualan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   	=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1,100,000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x 365 Hari</a:t>
            </a:r>
            <a:endParaRPr u="sng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                                        	8,500,000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	=      	47.24 @ 48 hari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Ini menunjukkan bahawa pada 2021, Syarikat Malaysian Techno mengambil masa selama 48 hari untuk mengutip hutang dari pelanggan-pelanggannya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80"/>
          <p:cNvSpPr txBox="1"/>
          <p:nvPr/>
        </p:nvSpPr>
        <p:spPr>
          <a:xfrm>
            <a:off x="506358" y="1023206"/>
            <a:ext cx="7437459" cy="635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iii. Tempoh Purata Kutipan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1"/>
          <p:cNvSpPr txBox="1"/>
          <p:nvPr/>
        </p:nvSpPr>
        <p:spPr>
          <a:xfrm>
            <a:off x="1994283" y="742950"/>
            <a:ext cx="80010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NISBAH PELABURAN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81"/>
          <p:cNvSpPr txBox="1"/>
          <p:nvPr/>
        </p:nvSpPr>
        <p:spPr>
          <a:xfrm>
            <a:off x="1073698" y="1626919"/>
            <a:ext cx="10136607" cy="375788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Nisbah yang mengukur prestasi saham syarikat.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Jenis-jenis Nisbah Pelaburan ialah: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 Pendapatan Sesaham (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Earning per Share - EPS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Harga Perolehan (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Price-Earning Ratio – P/E Ratio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iii. Nilai Buku Sesaham (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 Value per Share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iv. Nilai Pasaran kepada Nilai Buku (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Market-to-Book Value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2"/>
          <p:cNvSpPr txBox="1"/>
          <p:nvPr/>
        </p:nvSpPr>
        <p:spPr>
          <a:xfrm>
            <a:off x="732954" y="574969"/>
            <a:ext cx="7437459" cy="1050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 	Pendapatan Sesaham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Earning per Share - EPS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82"/>
          <p:cNvSpPr txBox="1"/>
          <p:nvPr/>
        </p:nvSpPr>
        <p:spPr>
          <a:xfrm>
            <a:off x="1282700" y="3759053"/>
            <a:ext cx="9677400" cy="23082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Mengukur untung yang diperolehi oleh syarikat daripada setiap saham yang diterbitkan.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Penting untuk menggambarkan pengembangan perniagaan dan beri prospek yang baik kepada pemegang saham untuk menerima dividen.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82"/>
          <p:cNvSpPr txBox="1"/>
          <p:nvPr/>
        </p:nvSpPr>
        <p:spPr>
          <a:xfrm>
            <a:off x="1384300" y="2197027"/>
            <a:ext cx="9725526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Pendapatan Sesaham = 	</a:t>
            </a: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Untung Bersih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Bilangan saham biasa	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3"/>
          <p:cNvSpPr txBox="1">
            <a:spLocks noGrp="1"/>
          </p:cNvSpPr>
          <p:nvPr>
            <p:ph type="title"/>
          </p:nvPr>
        </p:nvSpPr>
        <p:spPr>
          <a:xfrm>
            <a:off x="517777" y="1257426"/>
            <a:ext cx="7082589" cy="99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i. 	Nisbah </a:t>
            </a:r>
            <a:r>
              <a:rPr lang="en-US" sz="3200" b="1">
                <a:solidFill>
                  <a:srgbClr val="4B350D"/>
                </a:solidFill>
                <a:latin typeface="Arial"/>
                <a:ea typeface="Arial"/>
                <a:cs typeface="Arial"/>
                <a:sym typeface="Arial"/>
              </a:rPr>
              <a:t>Pendapatan Sesaham</a:t>
            </a:r>
            <a:endParaRPr/>
          </a:p>
        </p:txBody>
      </p:sp>
      <p:sp>
        <p:nvSpPr>
          <p:cNvPr id="660" name="Google Shape;660;p83"/>
          <p:cNvSpPr txBox="1">
            <a:spLocks noGrp="1"/>
          </p:cNvSpPr>
          <p:nvPr>
            <p:ph type="body" idx="1"/>
          </p:nvPr>
        </p:nvSpPr>
        <p:spPr>
          <a:xfrm>
            <a:off x="975097" y="2361971"/>
            <a:ext cx="9929464" cy="357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Maklumat: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Untung Bersih			: RM 1,069,000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Bilangan saham biasa 	: 2,900,000 unit 								(RM1,450,000/RM0.50)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Berdasarkan maklumat di atas, hitungkan nisbah pendapatan sesaham Syarikat Malaysian Techno.	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83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ujuk Penyata Kedudukan Kewangan &amp; Penyata Pendapatan Komprehensif Syarikat Malaysian Techno Berhad</a:t>
            </a:r>
            <a:endParaRPr sz="2800" b="0" i="1" u="sng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4"/>
          <p:cNvSpPr txBox="1">
            <a:spLocks noGrp="1"/>
          </p:cNvSpPr>
          <p:nvPr>
            <p:ph type="title"/>
          </p:nvPr>
        </p:nvSpPr>
        <p:spPr>
          <a:xfrm>
            <a:off x="517777" y="1080005"/>
            <a:ext cx="7082589" cy="99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i. 	Nisbah Pendapatan Sesaham</a:t>
            </a:r>
            <a:endParaRPr/>
          </a:p>
        </p:txBody>
      </p:sp>
      <p:sp>
        <p:nvSpPr>
          <p:cNvPr id="667" name="Google Shape;667;p84"/>
          <p:cNvSpPr txBox="1">
            <a:spLocks noGrp="1"/>
          </p:cNvSpPr>
          <p:nvPr>
            <p:ph type="body" idx="1"/>
          </p:nvPr>
        </p:nvSpPr>
        <p:spPr>
          <a:xfrm>
            <a:off x="975097" y="2361971"/>
            <a:ext cx="10216067" cy="3929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Pendapatan Sesaham 	=  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Untung Bersih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          	    	Bilangan saham biasa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          	=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1,069,000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                          	     	2,900,000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          	= 	RM 0.37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Ini menunjukkan setiap seunit saham yang dilaburkan oleh Syarikat Malaysian Techno pada 2021 dapat memberi keuntungan bersih sebanyak RM0.37.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8" name="Google Shape;668;p84" descr="Subex Investors | Annual Reports | Financial Resul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04573" y="2715511"/>
            <a:ext cx="2409825" cy="189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5"/>
          <p:cNvSpPr txBox="1"/>
          <p:nvPr/>
        </p:nvSpPr>
        <p:spPr>
          <a:xfrm>
            <a:off x="339725" y="-381687"/>
            <a:ext cx="11742821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Harga Perolehan (</a:t>
            </a:r>
            <a:r>
              <a:rPr lang="en-US" sz="2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Price-Earning Ratio – P/E Ratio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85"/>
          <p:cNvSpPr txBox="1"/>
          <p:nvPr/>
        </p:nvSpPr>
        <p:spPr>
          <a:xfrm>
            <a:off x="830019" y="2477763"/>
            <a:ext cx="10361145" cy="39639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Pelabur dan pengurus menggunakan nisbah ini sebagai petunjuk prospek firma pada masa depan.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Kedudukan nisbah ini menunjukkan tahap keyakinan pelabur ke atas prestasi firma.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Jika nisbah tinggi, pelabur menjangkakan keuntungan syarikat akan berubah pada masa depan kerana keyakinan yang digambarkan oleh nisbah.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Menunjukkan jumlah ringgit yang sanggup dibayar pelabur bagi setiap RM1 keuntungan yang dilaporkan oleh syarikat.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85"/>
          <p:cNvSpPr txBox="1"/>
          <p:nvPr/>
        </p:nvSpPr>
        <p:spPr>
          <a:xfrm>
            <a:off x="1132764" y="1180800"/>
            <a:ext cx="9376012" cy="107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Harga Perolehan 	= 	</a:t>
            </a: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Harga Pasaran Sesaham</a:t>
            </a:r>
            <a:endParaRPr sz="2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				Pendapatan Sesaham	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6"/>
          <p:cNvSpPr txBox="1">
            <a:spLocks noGrp="1"/>
          </p:cNvSpPr>
          <p:nvPr>
            <p:ph type="body" idx="1"/>
          </p:nvPr>
        </p:nvSpPr>
        <p:spPr>
          <a:xfrm>
            <a:off x="893867" y="2673587"/>
            <a:ext cx="10037991" cy="327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Maklumat: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Untung Bersih			: RM1,069,000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Bilangan saham biasa   	: 2,900,000 unit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Harga pasaran sesaham	: RM 0.69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Berdasarkan maklumat di atas, hitungkan nisbah harga perolehan Syarikat Malaysian Techno.	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86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Rujuk Penyata Kedudukan Kewangan &amp; Penyata Pendapatan Komprehensif Syarikat Malaysian Techno Berhad</a:t>
            </a:r>
            <a:endParaRPr sz="2800" b="0" i="0" u="none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86"/>
          <p:cNvSpPr txBox="1"/>
          <p:nvPr/>
        </p:nvSpPr>
        <p:spPr>
          <a:xfrm>
            <a:off x="449179" y="896329"/>
            <a:ext cx="11742821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Harga Perolehan (</a:t>
            </a:r>
            <a:r>
              <a:rPr lang="en-US" sz="2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Price-Earning Ratio – P/E Ratio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3" name="Google Shape;683;p86" descr="277,348 Investor Images, Stock Photos &amp; Vectors | Shutter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5916" y="2476736"/>
            <a:ext cx="2623251" cy="2214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7"/>
          <p:cNvSpPr txBox="1">
            <a:spLocks noGrp="1"/>
          </p:cNvSpPr>
          <p:nvPr>
            <p:ph type="body" idx="1"/>
          </p:nvPr>
        </p:nvSpPr>
        <p:spPr>
          <a:xfrm>
            <a:off x="743742" y="1626919"/>
            <a:ext cx="10542958" cy="4924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Nisbah Harga-Perolehan	=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Harga Pasaran Sesaham</a:t>
            </a:r>
            <a:endParaRPr u="sng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					Pendapatan Sesaham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	= 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0.69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  		0.37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                              	= 	1.86 kali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Ini menunjukkan bagi setiap pendapatan sesaham Syarikat Malaysian Techno pada 2021, pelabur sanggup membayar sebanyak 1.86 kali.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87"/>
          <p:cNvSpPr txBox="1"/>
          <p:nvPr/>
        </p:nvSpPr>
        <p:spPr>
          <a:xfrm>
            <a:off x="283159" y="609726"/>
            <a:ext cx="11742821" cy="80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ii. 	Harga Perolehan (</a:t>
            </a:r>
            <a:r>
              <a:rPr lang="en-US" sz="2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Price-Earning Ratio – P/E Ratio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8"/>
          <p:cNvSpPr txBox="1"/>
          <p:nvPr/>
        </p:nvSpPr>
        <p:spPr>
          <a:xfrm>
            <a:off x="838200" y="535196"/>
            <a:ext cx="7256986" cy="100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iii. Nilai Buku Sesaham             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3088" marR="0" lvl="0" indent="-5730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 Value per Share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88"/>
          <p:cNvSpPr txBox="1"/>
          <p:nvPr/>
        </p:nvSpPr>
        <p:spPr>
          <a:xfrm>
            <a:off x="1440787" y="3390421"/>
            <a:ext cx="9859559" cy="312637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Merupakan lebihan bagi saham syarikat setelah menjual asetnya, membayar liabiliti kepada kreditor dan pemegang saham keutamaan (nilai bersih saham).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 adalah nilai instrumen atau nilai komersil seperti yang dimasukkan dalam buku kewangan syarikat, bukan amaun yang boleh dijual beli dipasaran tertentu.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Lebih tinggi nisbah adalah lebih baik.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88"/>
          <p:cNvSpPr txBox="1"/>
          <p:nvPr/>
        </p:nvSpPr>
        <p:spPr>
          <a:xfrm>
            <a:off x="1324375" y="2148955"/>
            <a:ext cx="369252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Nilai Buku Sesaham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88"/>
          <p:cNvSpPr txBox="1"/>
          <p:nvPr/>
        </p:nvSpPr>
        <p:spPr>
          <a:xfrm>
            <a:off x="5174063" y="2495539"/>
            <a:ext cx="6126283" cy="63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Jumlah Unit Saham Biasa Diterbitkan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88"/>
          <p:cNvSpPr txBox="1"/>
          <p:nvPr/>
        </p:nvSpPr>
        <p:spPr>
          <a:xfrm>
            <a:off x="5624865" y="2029155"/>
            <a:ext cx="5224679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Ekuiti Pemegang Saham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88"/>
          <p:cNvSpPr txBox="1"/>
          <p:nvPr/>
        </p:nvSpPr>
        <p:spPr>
          <a:xfrm>
            <a:off x="4859738" y="2210185"/>
            <a:ext cx="6286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9"/>
          <p:cNvSpPr txBox="1">
            <a:spLocks noGrp="1"/>
          </p:cNvSpPr>
          <p:nvPr>
            <p:ph type="body" idx="1"/>
          </p:nvPr>
        </p:nvSpPr>
        <p:spPr>
          <a:xfrm>
            <a:off x="948456" y="2978643"/>
            <a:ext cx="10037991" cy="3217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Maklumat: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Ekuiti Pemegang Saham	: RM2,120,000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Bilangan saham biasa 	: 2,900,000 unit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Berdasarkan maklumat di atas, hitungkan nilai buku sesaham Syarikat Malaysian Techno.	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89"/>
          <p:cNvSpPr txBox="1"/>
          <p:nvPr/>
        </p:nvSpPr>
        <p:spPr>
          <a:xfrm>
            <a:off x="0" y="0"/>
            <a:ext cx="12192000" cy="12574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 Pengiraan:</a:t>
            </a:r>
            <a:br>
              <a:rPr lang="en-US" sz="2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Rujuk Penyata Kedudukan Kewangan &amp; Penyata Pendapatan Komprehensif Syarikat Malaysian Techno Berhad</a:t>
            </a:r>
            <a:endParaRPr sz="2800" b="0" i="0" u="none" strike="noStrike" cap="none">
              <a:solidFill>
                <a:srgbClr val="4B3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89"/>
          <p:cNvSpPr txBox="1"/>
          <p:nvPr/>
        </p:nvSpPr>
        <p:spPr>
          <a:xfrm>
            <a:off x="442414" y="1642993"/>
            <a:ext cx="10653215" cy="759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iii. Nilai Buku Sesaham (</a:t>
            </a:r>
            <a:r>
              <a:rPr lang="en-US" sz="2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 Value per Share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7" name="Google Shape;707;p89" descr="Are you a risk averse investor? Here are some investment options for yo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92053" y="2402007"/>
            <a:ext cx="3323895" cy="19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0"/>
          <p:cNvSpPr txBox="1"/>
          <p:nvPr/>
        </p:nvSpPr>
        <p:spPr>
          <a:xfrm>
            <a:off x="1133304" y="3528582"/>
            <a:ext cx="9825846" cy="31178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         		=  </a:t>
            </a: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2,120,000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			    2,900,000          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=  RM 0.73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Kesimpulan: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 menunjukkan bagi setiap seunit saham yang dilaburkan oleh Syarikat Malaysian Techno pada 2021, nilai bersih saham adalah RM0.73.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375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     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138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90"/>
          <p:cNvSpPr txBox="1"/>
          <p:nvPr/>
        </p:nvSpPr>
        <p:spPr>
          <a:xfrm>
            <a:off x="729017" y="711407"/>
            <a:ext cx="10653215" cy="759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iii. Nilai Buku Sesaham (</a:t>
            </a:r>
            <a:r>
              <a:rPr lang="en-US" sz="28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 Value per Share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90"/>
          <p:cNvSpPr txBox="1"/>
          <p:nvPr/>
        </p:nvSpPr>
        <p:spPr>
          <a:xfrm>
            <a:off x="1242488" y="2261158"/>
            <a:ext cx="369252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Nilai Buku Sesaham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90"/>
          <p:cNvSpPr txBox="1"/>
          <p:nvPr/>
        </p:nvSpPr>
        <p:spPr>
          <a:xfrm>
            <a:off x="5092176" y="2607742"/>
            <a:ext cx="6126283" cy="63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Jumlah Unit Saham Biasa Diterbitkan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90"/>
          <p:cNvSpPr txBox="1"/>
          <p:nvPr/>
        </p:nvSpPr>
        <p:spPr>
          <a:xfrm>
            <a:off x="5542978" y="2141358"/>
            <a:ext cx="5224679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Ekuiti Pemegang Saham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90"/>
          <p:cNvSpPr txBox="1"/>
          <p:nvPr/>
        </p:nvSpPr>
        <p:spPr>
          <a:xfrm>
            <a:off x="4777851" y="2275884"/>
            <a:ext cx="6286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91"/>
          <p:cNvSpPr txBox="1"/>
          <p:nvPr/>
        </p:nvSpPr>
        <p:spPr>
          <a:xfrm>
            <a:off x="870352" y="500857"/>
            <a:ext cx="8219057" cy="104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iv. Nilai Pasaran kepada Nilai Buku                                 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Market-to-Book Value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91"/>
          <p:cNvSpPr txBox="1"/>
          <p:nvPr/>
        </p:nvSpPr>
        <p:spPr>
          <a:xfrm>
            <a:off x="1523102" y="3675036"/>
            <a:ext cx="9586176" cy="23411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Juga dikenali sebagai Nilai Aset Bersih.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Memberi gambaran tentang persepsi pelabur terhadap saham syarikat. Nisbah yang tinggi menunjukkan pelabur sanggup membayar lebih bagi setiap ringgit nilai buku saham tersebut.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91"/>
          <p:cNvSpPr txBox="1"/>
          <p:nvPr/>
        </p:nvSpPr>
        <p:spPr>
          <a:xfrm>
            <a:off x="1142914" y="2020398"/>
            <a:ext cx="4011237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Nilai Pasaran kepada Nilai Buku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91"/>
          <p:cNvSpPr txBox="1"/>
          <p:nvPr/>
        </p:nvSpPr>
        <p:spPr>
          <a:xfrm>
            <a:off x="6094469" y="2490439"/>
            <a:ext cx="4495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Nilai Buku Sesaham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91"/>
          <p:cNvSpPr txBox="1"/>
          <p:nvPr/>
        </p:nvSpPr>
        <p:spPr>
          <a:xfrm>
            <a:off x="6026058" y="1973566"/>
            <a:ext cx="459422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Harga Pasaran Sesaham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91"/>
          <p:cNvSpPr txBox="1"/>
          <p:nvPr/>
        </p:nvSpPr>
        <p:spPr>
          <a:xfrm>
            <a:off x="5256337" y="2259458"/>
            <a:ext cx="599124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2"/>
          <p:cNvSpPr txBox="1">
            <a:spLocks noGrp="1"/>
          </p:cNvSpPr>
          <p:nvPr>
            <p:ph type="body" idx="1"/>
          </p:nvPr>
        </p:nvSpPr>
        <p:spPr>
          <a:xfrm>
            <a:off x="1410356" y="2171391"/>
            <a:ext cx="9794456" cy="3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Maklumat: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Untung Bersih			: RM1,069,000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Bilangan saham biasa   	: 2,900,000 unit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Harga pasaran sesaham	: RM 0.69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Berdasarkan maklumat di atas, hitungkan Nilai Pasaran kepada Nilai Buku Syarikat Malaysian Techno.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92"/>
          <p:cNvSpPr txBox="1"/>
          <p:nvPr/>
        </p:nvSpPr>
        <p:spPr>
          <a:xfrm>
            <a:off x="870352" y="500857"/>
            <a:ext cx="8219057" cy="104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iv. Nilai Pasaran kepada Nilai Buku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Market-to-Book Value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93"/>
          <p:cNvSpPr txBox="1">
            <a:spLocks noGrp="1"/>
          </p:cNvSpPr>
          <p:nvPr>
            <p:ph type="body" idx="1"/>
          </p:nvPr>
        </p:nvSpPr>
        <p:spPr>
          <a:xfrm>
            <a:off x="1392072" y="1816548"/>
            <a:ext cx="10140286" cy="463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Nilai Pasaran Kepada Nilai Buku  	=  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Harga Pasaran Sesaham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33D58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       		      Nilai Buku Sesaham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     		= 	</a:t>
            </a:r>
            <a:r>
              <a:rPr lang="en-US" u="sng">
                <a:latin typeface="Arial"/>
                <a:ea typeface="Arial"/>
                <a:cs typeface="Arial"/>
                <a:sym typeface="Arial"/>
              </a:rPr>
              <a:t>0.69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		  	0.73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		= 	0.95 kali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Kesimpulan: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B350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Ini menunjukkan setiap nilai buku Syarikat Malaysian Techno pada 2021 hanya meningkatkan harga saham dipasaran sebanyak 0.95 kali. 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93"/>
          <p:cNvSpPr txBox="1"/>
          <p:nvPr/>
        </p:nvSpPr>
        <p:spPr>
          <a:xfrm>
            <a:off x="883999" y="405323"/>
            <a:ext cx="8219057" cy="104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iv. Nilai Pasaran kepada Nilai Buku                                  (</a:t>
            </a:r>
            <a:r>
              <a:rPr lang="en-US" sz="32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Market-to-Book Value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4"/>
          <p:cNvSpPr/>
          <p:nvPr/>
        </p:nvSpPr>
        <p:spPr>
          <a:xfrm>
            <a:off x="-44450" y="-33338"/>
            <a:ext cx="12236450" cy="66992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6.2 PENYATA KEWANGAN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94"/>
          <p:cNvSpPr txBox="1"/>
          <p:nvPr/>
        </p:nvSpPr>
        <p:spPr>
          <a:xfrm flipH="1">
            <a:off x="6643067" y="3578294"/>
            <a:ext cx="4164013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2A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422A00"/>
                </a:solidFill>
                <a:latin typeface="Arial"/>
                <a:ea typeface="Arial"/>
                <a:cs typeface="Arial"/>
                <a:sym typeface="Arial"/>
              </a:rPr>
              <a:t>Perbandingan Trend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94"/>
          <p:cNvSpPr txBox="1"/>
          <p:nvPr/>
        </p:nvSpPr>
        <p:spPr>
          <a:xfrm flipH="1">
            <a:off x="6481142" y="4992757"/>
            <a:ext cx="4164013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2A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422A00"/>
                </a:solidFill>
                <a:latin typeface="Arial"/>
                <a:ea typeface="Arial"/>
                <a:cs typeface="Arial"/>
                <a:sym typeface="Arial"/>
              </a:rPr>
              <a:t>Perbandingan Industri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94"/>
          <p:cNvSpPr/>
          <p:nvPr/>
        </p:nvSpPr>
        <p:spPr>
          <a:xfrm>
            <a:off x="5736605" y="3637032"/>
            <a:ext cx="646112" cy="476250"/>
          </a:xfrm>
          <a:prstGeom prst="ellipse">
            <a:avLst/>
          </a:prstGeom>
          <a:solidFill>
            <a:srgbClr val="E4EBD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94"/>
          <p:cNvSpPr/>
          <p:nvPr/>
        </p:nvSpPr>
        <p:spPr>
          <a:xfrm>
            <a:off x="5588967" y="4940369"/>
            <a:ext cx="693738" cy="706438"/>
          </a:xfrm>
          <a:prstGeom prst="ellipse">
            <a:avLst/>
          </a:prstGeom>
          <a:solidFill>
            <a:srgbClr val="E4EBD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94"/>
          <p:cNvSpPr txBox="1"/>
          <p:nvPr/>
        </p:nvSpPr>
        <p:spPr>
          <a:xfrm>
            <a:off x="3977382" y="1913766"/>
            <a:ext cx="7644397" cy="9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Prestasi kewangan syarikat boleh dinilai berdasarkan: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94"/>
          <p:cNvSpPr txBox="1"/>
          <p:nvPr/>
        </p:nvSpPr>
        <p:spPr>
          <a:xfrm>
            <a:off x="570900" y="896018"/>
            <a:ext cx="9946888" cy="72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d) Menga</a:t>
            </a: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nalisis Prestasi Kewangan Syarikat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1" name="Google Shape;751;p94" descr="Bizflu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601" y="1794912"/>
            <a:ext cx="2619375" cy="174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94" descr="Best Premium Software Testing by Engineers Illustration download in PNG &amp;  Vector forma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1928" y="3697945"/>
            <a:ext cx="3046536" cy="2073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5"/>
          <p:cNvSpPr/>
          <p:nvPr/>
        </p:nvSpPr>
        <p:spPr>
          <a:xfrm>
            <a:off x="8558464" y="1399674"/>
            <a:ext cx="131992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95"/>
          <p:cNvSpPr txBox="1"/>
          <p:nvPr/>
        </p:nvSpPr>
        <p:spPr>
          <a:xfrm flipH="1">
            <a:off x="3667377" y="5319212"/>
            <a:ext cx="8243886" cy="1430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Ia dapat membantu menjangka sama ada kewangan firma akan berkembang atau menjadi semakin buruk melalui tempoh masa.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95"/>
          <p:cNvSpPr/>
          <p:nvPr/>
        </p:nvSpPr>
        <p:spPr>
          <a:xfrm>
            <a:off x="3634720" y="3374524"/>
            <a:ext cx="386941" cy="312738"/>
          </a:xfrm>
          <a:prstGeom prst="ellipse">
            <a:avLst/>
          </a:prstGeom>
          <a:solidFill>
            <a:srgbClr val="E4EBD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95"/>
          <p:cNvSpPr/>
          <p:nvPr/>
        </p:nvSpPr>
        <p:spPr>
          <a:xfrm>
            <a:off x="3577886" y="4544511"/>
            <a:ext cx="384977" cy="312737"/>
          </a:xfrm>
          <a:prstGeom prst="ellipse">
            <a:avLst/>
          </a:prstGeom>
          <a:solidFill>
            <a:srgbClr val="E4EBD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95"/>
          <p:cNvSpPr/>
          <p:nvPr/>
        </p:nvSpPr>
        <p:spPr>
          <a:xfrm>
            <a:off x="3214938" y="5584324"/>
            <a:ext cx="384977" cy="312738"/>
          </a:xfrm>
          <a:prstGeom prst="ellipse">
            <a:avLst/>
          </a:prstGeom>
          <a:solidFill>
            <a:srgbClr val="E4EBD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95"/>
          <p:cNvSpPr/>
          <p:nvPr/>
        </p:nvSpPr>
        <p:spPr>
          <a:xfrm>
            <a:off x="1896492" y="656253"/>
            <a:ext cx="9361532" cy="68674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Arial"/>
              </a:rPr>
              <a:t>1. PERBANDINGAN TREND</a:t>
            </a:r>
          </a:p>
        </p:txBody>
      </p:sp>
      <p:sp>
        <p:nvSpPr>
          <p:cNvPr id="763" name="Google Shape;763;p95"/>
          <p:cNvSpPr txBox="1"/>
          <p:nvPr/>
        </p:nvSpPr>
        <p:spPr>
          <a:xfrm flipH="1">
            <a:off x="4167437" y="3062580"/>
            <a:ext cx="7090587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Dikenali juga sebagai analisis siri masa (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time-series analysis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95"/>
          <p:cNvSpPr txBox="1"/>
          <p:nvPr/>
        </p:nvSpPr>
        <p:spPr>
          <a:xfrm flipH="1">
            <a:off x="3667376" y="1775912"/>
            <a:ext cx="8243885" cy="1136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Merupakan perbandingan nisbah tahun semasa firma dengan nisbah firma pada tahun sebelumnya</a:t>
            </a:r>
            <a:endParaRPr sz="28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95"/>
          <p:cNvSpPr txBox="1"/>
          <p:nvPr/>
        </p:nvSpPr>
        <p:spPr>
          <a:xfrm flipH="1">
            <a:off x="4084889" y="4315912"/>
            <a:ext cx="7441364" cy="10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Analisis dapat menunjukkan arah aliran (</a:t>
            </a:r>
            <a:r>
              <a:rPr lang="en-US" sz="2800" b="0" i="1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trend</a:t>
            </a:r>
            <a:r>
              <a:rPr lang="en-US" sz="28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) kewangan firma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95"/>
          <p:cNvSpPr/>
          <p:nvPr/>
        </p:nvSpPr>
        <p:spPr>
          <a:xfrm>
            <a:off x="3009692" y="2209266"/>
            <a:ext cx="386941" cy="312738"/>
          </a:xfrm>
          <a:prstGeom prst="ellipse">
            <a:avLst/>
          </a:prstGeom>
          <a:solidFill>
            <a:srgbClr val="E4EBD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7" name="Google Shape;767;p95" descr="Time Series Analysis - 1 | Time Series in Excel | Time Series Forecasting |  Data Science|Simplilearn - YouTub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6" y="2639480"/>
            <a:ext cx="2120940" cy="271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2" name="Google Shape;772;p96"/>
          <p:cNvGraphicFramePr/>
          <p:nvPr/>
        </p:nvGraphicFramePr>
        <p:xfrm>
          <a:off x="1553823" y="19265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{7544D8F7-DC1F-408D-8AE7-CB19EDCD78D5}</a:tableStyleId>
              </a:tblPr>
              <a:tblGrid>
                <a:gridCol w="569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975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Source Sans Pro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Tahun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Source Sans Pro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Source Sans Pro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75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Syarikat Malaysian Techno Bhd 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Source Sans Pro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15.35%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22.99%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3" name="Google Shape;773;p96"/>
          <p:cNvSpPr txBox="1"/>
          <p:nvPr/>
        </p:nvSpPr>
        <p:spPr>
          <a:xfrm>
            <a:off x="353178" y="537101"/>
            <a:ext cx="11353800" cy="1092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Contoh: Nisbah Pulangan Atas Aset Syarikat Malaysian Techno Bhd pada 2021 dan 2020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96"/>
          <p:cNvSpPr txBox="1"/>
          <p:nvPr/>
        </p:nvSpPr>
        <p:spPr>
          <a:xfrm>
            <a:off x="607935" y="3619850"/>
            <a:ext cx="10637819" cy="3047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Pada 2021 pulangan atas aset Syarikat Malaysian Techno ialah 22.99%, manakala pada tahun 2020 pulangan atas aset syarikat ialah 15.35 %.  Ini menunjukkan 2021 lebih baik berbanding tahun 2020.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Kesimpulannya, setiap RM1.00 aset Syarikat Malaysian Techno mampu menjana jualan sebanyak RM0.23 pada tahun 2021 berbanding hanya RM0.15 pada tahun 2020.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7"/>
          <p:cNvSpPr/>
          <p:nvPr/>
        </p:nvSpPr>
        <p:spPr>
          <a:xfrm>
            <a:off x="8077200" y="990600"/>
            <a:ext cx="10668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97"/>
          <p:cNvSpPr txBox="1"/>
          <p:nvPr/>
        </p:nvSpPr>
        <p:spPr>
          <a:xfrm flipH="1">
            <a:off x="4073236" y="4856261"/>
            <a:ext cx="7184788" cy="936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Dilakukan melalui analisis perbandingan (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comparative analysis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97"/>
          <p:cNvSpPr txBox="1"/>
          <p:nvPr/>
        </p:nvSpPr>
        <p:spPr>
          <a:xfrm flipH="1">
            <a:off x="4073236" y="3681052"/>
            <a:ext cx="7184788" cy="111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Dikenali juga sebagai analisis keratan rentas (</a:t>
            </a:r>
            <a:r>
              <a:rPr lang="en-US" sz="2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 sectional analysis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97"/>
          <p:cNvSpPr txBox="1"/>
          <p:nvPr/>
        </p:nvSpPr>
        <p:spPr>
          <a:xfrm flipH="1">
            <a:off x="3976375" y="2105108"/>
            <a:ext cx="7167585" cy="1513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Membandingkan suatu nisbah firma dengan nisbah firma-firma yang lain dalam industri yang sama dan tahun yang sama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97"/>
          <p:cNvSpPr/>
          <p:nvPr/>
        </p:nvSpPr>
        <p:spPr>
          <a:xfrm>
            <a:off x="3614149" y="2657638"/>
            <a:ext cx="360387" cy="311150"/>
          </a:xfrm>
          <a:prstGeom prst="ellipse">
            <a:avLst/>
          </a:prstGeom>
          <a:solidFill>
            <a:srgbClr val="E4EBD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97"/>
          <p:cNvSpPr/>
          <p:nvPr/>
        </p:nvSpPr>
        <p:spPr>
          <a:xfrm>
            <a:off x="3614149" y="4123283"/>
            <a:ext cx="362226" cy="311150"/>
          </a:xfrm>
          <a:prstGeom prst="ellipse">
            <a:avLst/>
          </a:prstGeom>
          <a:solidFill>
            <a:srgbClr val="E4EBD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97"/>
          <p:cNvSpPr/>
          <p:nvPr/>
        </p:nvSpPr>
        <p:spPr>
          <a:xfrm>
            <a:off x="3615988" y="5324726"/>
            <a:ext cx="360387" cy="312737"/>
          </a:xfrm>
          <a:prstGeom prst="ellipse">
            <a:avLst/>
          </a:prstGeom>
          <a:solidFill>
            <a:srgbClr val="E4EBD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97"/>
          <p:cNvSpPr/>
          <p:nvPr/>
        </p:nvSpPr>
        <p:spPr>
          <a:xfrm>
            <a:off x="1896492" y="656253"/>
            <a:ext cx="9361532" cy="68674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Arial"/>
              </a:rPr>
              <a:t>2. PERBANDINGAN INDUSTRI</a:t>
            </a:r>
          </a:p>
        </p:txBody>
      </p:sp>
      <p:pic>
        <p:nvPicPr>
          <p:cNvPr id="787" name="Google Shape;787;p97" descr="Effective Financial Statement Analysis in 3 Steps | FineRepo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901" y="1811014"/>
            <a:ext cx="2529443" cy="1902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97" descr="Objectives Of Financial Statement Analysis – Financial Yar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1901" y="3802467"/>
            <a:ext cx="2555387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3" name="Google Shape;793;p98"/>
          <p:cNvGraphicFramePr/>
          <p:nvPr/>
        </p:nvGraphicFramePr>
        <p:xfrm>
          <a:off x="1066799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{7544D8F7-DC1F-408D-8AE7-CB19EDCD78D5}</a:tableStyleId>
              </a:tblPr>
              <a:tblGrid>
                <a:gridCol w="590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900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Source Sans Pro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Tahun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Source Sans Pro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75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Syarikat Malaysian Techno Bhd 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22.99%</a:t>
                      </a:r>
                      <a:endParaRPr sz="2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75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Source Sans Pro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Purata Industri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CC"/>
                        </a:buClr>
                        <a:buSzPts val="2000"/>
                        <a:buFont typeface="Source Sans Pro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23.75%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4" name="Google Shape;794;p98"/>
          <p:cNvSpPr txBox="1"/>
          <p:nvPr/>
        </p:nvSpPr>
        <p:spPr>
          <a:xfrm>
            <a:off x="509588" y="426871"/>
            <a:ext cx="10904621" cy="1081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Contoh: Nisbah Pulangan Atas Aset Syarikat Malaysian Techno dan Purata Industri pada 2021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98"/>
          <p:cNvSpPr txBox="1"/>
          <p:nvPr/>
        </p:nvSpPr>
        <p:spPr>
          <a:xfrm>
            <a:off x="736979" y="4364869"/>
            <a:ext cx="10577015" cy="2377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Pulangan atas aset syarikat pada 2021 ialah 22.99%, lebih buruk berbanding purata industri iaitu 23.75%.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 menunjukkan bagi setiap RM1.00 aset, Syarikat Malaysian Techno menjana jualan sebanyak RM0.23 dimana lebih buruk berbanding purata industri iaitu RM0.24.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8775" marR="0" lvl="0" indent="-180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99"/>
          <p:cNvSpPr/>
          <p:nvPr/>
        </p:nvSpPr>
        <p:spPr>
          <a:xfrm>
            <a:off x="855024" y="1769424"/>
            <a:ext cx="10437092" cy="441366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Kawalan kewangan merupakan salah satu pendekatan yang berkesan bagi mengawal prestasi keseluruhan firma.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Kawalan kewangan melibatkan aspek peraturan, perundangan selain teknik untuk mencegah berlakunya pengagihan dana yang tidak berpatutan.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Salah satu kaedah yang digunakan ialah analisis nisbah kewangan yang membolehkan kelemahan dan kekuatan firma dikenalpasti.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99"/>
          <p:cNvSpPr txBox="1"/>
          <p:nvPr/>
        </p:nvSpPr>
        <p:spPr>
          <a:xfrm>
            <a:off x="465325" y="1146914"/>
            <a:ext cx="9144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Takrif Kawalan Kewangan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99"/>
          <p:cNvSpPr/>
          <p:nvPr/>
        </p:nvSpPr>
        <p:spPr>
          <a:xfrm>
            <a:off x="-44450" y="-19690"/>
            <a:ext cx="12236450" cy="66992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6.3 KAWALAN KEWANGAN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3" name="Google Shape;803;p99" descr="What Is a Financial Controller? Role &amp; Responsibilities | NetSui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0" y="5290192"/>
            <a:ext cx="2952750" cy="155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0"/>
          <p:cNvSpPr/>
          <p:nvPr/>
        </p:nvSpPr>
        <p:spPr>
          <a:xfrm>
            <a:off x="-44450" y="-33338"/>
            <a:ext cx="12236450" cy="84948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6.3 KAWALAN KEWANGAN</a:t>
            </a:r>
            <a:endParaRPr sz="3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00"/>
          <p:cNvSpPr/>
          <p:nvPr/>
        </p:nvSpPr>
        <p:spPr>
          <a:xfrm>
            <a:off x="1029490" y="1938895"/>
            <a:ext cx="10216265" cy="44313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Belanjawan Tunai merupakan perancangan aliran tunai yang membolehkan syarikat merancang akan keperluan tunai untuk satu tempoh jangka pendek pada masa hadapan.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 disediakan untuk menunjukkan aliran tunai mingguan, bulanan supaya pihak pengurusan dapat mengawasi aliran tunai dengan lebih teliti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Jika mengalami kekurangan tunai, pengurus akan mendapatkan pembiayaan tambahan dan jika lebihan akan membuat pelaburan jangka pendek.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00"/>
          <p:cNvSpPr txBox="1"/>
          <p:nvPr/>
        </p:nvSpPr>
        <p:spPr>
          <a:xfrm>
            <a:off x="465325" y="1146914"/>
            <a:ext cx="9144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5138" marR="0" lvl="0" indent="-465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Menyediakan Belanjawan Tunai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1"/>
          <p:cNvSpPr txBox="1"/>
          <p:nvPr/>
        </p:nvSpPr>
        <p:spPr>
          <a:xfrm>
            <a:off x="369888" y="1241111"/>
            <a:ext cx="10602912" cy="69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Belanjawan Tunai terdiri daripada empat komponen utama: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6" name="Google Shape;816;p101"/>
          <p:cNvGrpSpPr/>
          <p:nvPr/>
        </p:nvGrpSpPr>
        <p:grpSpPr>
          <a:xfrm>
            <a:off x="1129336" y="2314080"/>
            <a:ext cx="9652395" cy="3922947"/>
            <a:chOff x="0" y="0"/>
            <a:chExt cx="5794452" cy="4225170"/>
          </a:xfrm>
        </p:grpSpPr>
        <p:sp>
          <p:nvSpPr>
            <p:cNvPr id="817" name="Google Shape;817;p101"/>
            <p:cNvSpPr/>
            <p:nvPr/>
          </p:nvSpPr>
          <p:spPr>
            <a:xfrm>
              <a:off x="0" y="0"/>
              <a:ext cx="4876800" cy="89408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01"/>
            <p:cNvSpPr txBox="1"/>
            <p:nvPr/>
          </p:nvSpPr>
          <p:spPr>
            <a:xfrm>
              <a:off x="26187" y="26187"/>
              <a:ext cx="3836467" cy="84170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463550" marR="0" lvl="0" indent="-4635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 	Penerimaan Tunai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01"/>
            <p:cNvSpPr/>
            <p:nvPr/>
          </p:nvSpPr>
          <p:spPr>
            <a:xfrm>
              <a:off x="408432" y="1056640"/>
              <a:ext cx="4876800" cy="89408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01"/>
            <p:cNvSpPr txBox="1"/>
            <p:nvPr/>
          </p:nvSpPr>
          <p:spPr>
            <a:xfrm>
              <a:off x="434619" y="1082827"/>
              <a:ext cx="3834841" cy="84170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463550" marR="0" lvl="0" indent="-4635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 	Pembayaran Tunai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01"/>
            <p:cNvSpPr/>
            <p:nvPr/>
          </p:nvSpPr>
          <p:spPr>
            <a:xfrm>
              <a:off x="810768" y="2113280"/>
              <a:ext cx="4876800" cy="89408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01"/>
            <p:cNvSpPr txBox="1"/>
            <p:nvPr/>
          </p:nvSpPr>
          <p:spPr>
            <a:xfrm>
              <a:off x="836955" y="2139467"/>
              <a:ext cx="3840937" cy="84170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463550" marR="0" lvl="0" indent="-4635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3.	Perubahan Tunai Bersih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01"/>
            <p:cNvSpPr txBox="1"/>
            <p:nvPr/>
          </p:nvSpPr>
          <p:spPr>
            <a:xfrm>
              <a:off x="1245387" y="3196106"/>
              <a:ext cx="4549065" cy="102906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463550" marR="0" lvl="0" indent="-4635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4. 	Pembiayaan yang diperlukan atau pelaburan yang hendak dilakukan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01"/>
            <p:cNvSpPr/>
            <p:nvPr/>
          </p:nvSpPr>
          <p:spPr>
            <a:xfrm>
              <a:off x="4096740" y="156464"/>
              <a:ext cx="581152" cy="581152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101"/>
            <p:cNvSpPr/>
            <p:nvPr/>
          </p:nvSpPr>
          <p:spPr>
            <a:xfrm>
              <a:off x="4500291" y="1230700"/>
              <a:ext cx="581152" cy="581152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01"/>
            <p:cNvSpPr/>
            <p:nvPr/>
          </p:nvSpPr>
          <p:spPr>
            <a:xfrm>
              <a:off x="4892154" y="2269744"/>
              <a:ext cx="581152" cy="581152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7" name="Google Shape;827;p101"/>
          <p:cNvSpPr/>
          <p:nvPr/>
        </p:nvSpPr>
        <p:spPr>
          <a:xfrm>
            <a:off x="128807" y="15937"/>
            <a:ext cx="12022249" cy="848454"/>
          </a:xfrm>
          <a:prstGeom prst="round2DiagRect">
            <a:avLst>
              <a:gd name="adj1" fmla="val 8646"/>
              <a:gd name="adj2" fmla="val 0"/>
            </a:avLst>
          </a:prstGeom>
          <a:noFill/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BELANJAWAN TUNAI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102"/>
          <p:cNvGrpSpPr/>
          <p:nvPr/>
        </p:nvGrpSpPr>
        <p:grpSpPr>
          <a:xfrm>
            <a:off x="1564873" y="2079624"/>
            <a:ext cx="9741380" cy="4362119"/>
            <a:chOff x="1215648" y="192"/>
            <a:chExt cx="6870888" cy="4546215"/>
          </a:xfrm>
        </p:grpSpPr>
        <p:sp>
          <p:nvSpPr>
            <p:cNvPr id="833" name="Google Shape;833;p102"/>
            <p:cNvSpPr txBox="1"/>
            <p:nvPr/>
          </p:nvSpPr>
          <p:spPr>
            <a:xfrm>
              <a:off x="2479621" y="192"/>
              <a:ext cx="5448730" cy="126354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57325" tIns="76200" rIns="142225" bIns="76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Firma meramal bila dan berapakah kutipan daripada jualan secara kredit telah dilakukan.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02"/>
            <p:cNvSpPr/>
            <p:nvPr/>
          </p:nvSpPr>
          <p:spPr>
            <a:xfrm>
              <a:off x="1215648" y="192"/>
              <a:ext cx="1263973" cy="1263543"/>
            </a:xfrm>
            <a:prstGeom prst="flowChartConnector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  <a:effectLst>
              <a:outerShdw blurRad="107950" dist="12700" dir="5400000" algn="ctr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02"/>
            <p:cNvSpPr txBox="1"/>
            <p:nvPr/>
          </p:nvSpPr>
          <p:spPr>
            <a:xfrm>
              <a:off x="2479621" y="1641528"/>
              <a:ext cx="5448730" cy="126354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57325" tIns="76200" rIns="142225" bIns="76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Komponen penerimaan tunai termasuk semua aliran masuk tunai dalam tempoh perancangan kewangan.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02"/>
            <p:cNvSpPr/>
            <p:nvPr/>
          </p:nvSpPr>
          <p:spPr>
            <a:xfrm>
              <a:off x="1215648" y="1528042"/>
              <a:ext cx="1524194" cy="1377029"/>
            </a:xfrm>
            <a:prstGeom prst="flowChartConnector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  <a:effectLst>
              <a:outerShdw blurRad="107950" dist="12700" dir="5400000" algn="ctr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102"/>
            <p:cNvSpPr txBox="1"/>
            <p:nvPr/>
          </p:nvSpPr>
          <p:spPr>
            <a:xfrm>
              <a:off x="2479621" y="3282864"/>
              <a:ext cx="5606915" cy="126354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57325" tIns="76200" rIns="142225" bIns="76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Contohnya: Jualan Tunai, Kutipan dari akaun penghutang/ABT dan penerimaan tunai yang lain.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8" name="Google Shape;838;p102"/>
          <p:cNvSpPr txBox="1"/>
          <p:nvPr/>
        </p:nvSpPr>
        <p:spPr>
          <a:xfrm>
            <a:off x="916056" y="1117995"/>
            <a:ext cx="61722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	Penerimaan Tunai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02"/>
          <p:cNvSpPr/>
          <p:nvPr/>
        </p:nvSpPr>
        <p:spPr>
          <a:xfrm>
            <a:off x="1" y="15937"/>
            <a:ext cx="12151056" cy="848454"/>
          </a:xfrm>
          <a:prstGeom prst="round2DiagRect">
            <a:avLst>
              <a:gd name="adj1" fmla="val 8646"/>
              <a:gd name="adj2" fmla="val 0"/>
            </a:avLst>
          </a:prstGeom>
          <a:noFill/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BELANJAWAN TUNAI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02"/>
          <p:cNvSpPr/>
          <p:nvPr/>
        </p:nvSpPr>
        <p:spPr>
          <a:xfrm>
            <a:off x="1564873" y="5174920"/>
            <a:ext cx="2160966" cy="1321267"/>
          </a:xfrm>
          <a:prstGeom prst="flowChartConnector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  <a:effectLst>
            <a:outerShdw blurRad="107950" dist="12700" dir="5400000" algn="ctr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5" name="Google Shape;845;p103"/>
          <p:cNvGrpSpPr/>
          <p:nvPr/>
        </p:nvGrpSpPr>
        <p:grpSpPr>
          <a:xfrm>
            <a:off x="1387399" y="2317913"/>
            <a:ext cx="9530809" cy="3798899"/>
            <a:chOff x="1089631" y="-36198"/>
            <a:chExt cx="6964735" cy="4120624"/>
          </a:xfrm>
        </p:grpSpPr>
        <p:sp>
          <p:nvSpPr>
            <p:cNvPr id="846" name="Google Shape;846;p103"/>
            <p:cNvSpPr txBox="1"/>
            <p:nvPr/>
          </p:nvSpPr>
          <p:spPr>
            <a:xfrm>
              <a:off x="2415266" y="183"/>
              <a:ext cx="5639100" cy="176741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79600" tIns="102850" rIns="192000" bIns="1028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Termasuk aliran keluar tunai sepanjang tempoh perancangan kewangan.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103"/>
            <p:cNvSpPr/>
            <p:nvPr/>
          </p:nvSpPr>
          <p:spPr>
            <a:xfrm>
              <a:off x="1089632" y="-36198"/>
              <a:ext cx="1768569" cy="176741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03"/>
            <p:cNvSpPr txBox="1"/>
            <p:nvPr/>
          </p:nvSpPr>
          <p:spPr>
            <a:xfrm>
              <a:off x="2415266" y="2296398"/>
              <a:ext cx="5639100" cy="176741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79600" tIns="102850" rIns="192000" bIns="1028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Contoh: Pembelian Barangan, Pemiutang, Bayaran Sewa dan Bayaran Cukai.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03"/>
            <p:cNvSpPr/>
            <p:nvPr/>
          </p:nvSpPr>
          <p:spPr>
            <a:xfrm>
              <a:off x="1089631" y="2317008"/>
              <a:ext cx="1768569" cy="176741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0" name="Google Shape;850;p103"/>
          <p:cNvSpPr txBox="1"/>
          <p:nvPr/>
        </p:nvSpPr>
        <p:spPr>
          <a:xfrm>
            <a:off x="770127" y="1133474"/>
            <a:ext cx="7623246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	Pembayaran Tunai</a:t>
            </a:r>
            <a:endParaRPr sz="105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03"/>
          <p:cNvSpPr/>
          <p:nvPr/>
        </p:nvSpPr>
        <p:spPr>
          <a:xfrm>
            <a:off x="1" y="15937"/>
            <a:ext cx="12151056" cy="848454"/>
          </a:xfrm>
          <a:prstGeom prst="round2DiagRect">
            <a:avLst>
              <a:gd name="adj1" fmla="val 8646"/>
              <a:gd name="adj2" fmla="val 0"/>
            </a:avLst>
          </a:prstGeom>
          <a:noFill/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BELANJAWAN TUNAI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03"/>
          <p:cNvSpPr/>
          <p:nvPr/>
        </p:nvSpPr>
        <p:spPr>
          <a:xfrm>
            <a:off x="1250921" y="4388980"/>
            <a:ext cx="2738317" cy="1839627"/>
          </a:xfrm>
          <a:prstGeom prst="flowChartConnector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107950" dist="12700" dir="5400000" algn="ctr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03"/>
          <p:cNvSpPr/>
          <p:nvPr/>
        </p:nvSpPr>
        <p:spPr>
          <a:xfrm>
            <a:off x="1545449" y="2509051"/>
            <a:ext cx="2084855" cy="132597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  <a:effectLst>
            <a:outerShdw blurRad="107950" dist="12700" dir="5400000" algn="ctr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8" name="Google Shape;858;p104"/>
          <p:cNvGrpSpPr/>
          <p:nvPr/>
        </p:nvGrpSpPr>
        <p:grpSpPr>
          <a:xfrm>
            <a:off x="1269242" y="2157412"/>
            <a:ext cx="9867331" cy="4546600"/>
            <a:chOff x="1848023" y="192"/>
            <a:chExt cx="6080328" cy="4546215"/>
          </a:xfrm>
        </p:grpSpPr>
        <p:sp>
          <p:nvSpPr>
            <p:cNvPr id="859" name="Google Shape;859;p104"/>
            <p:cNvSpPr/>
            <p:nvPr/>
          </p:nvSpPr>
          <p:spPr>
            <a:xfrm rot="10800000">
              <a:off x="1848023" y="192"/>
              <a:ext cx="6080328" cy="1263543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marR="0" lvl="0" indent="-279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04"/>
            <p:cNvSpPr txBox="1"/>
            <p:nvPr/>
          </p:nvSpPr>
          <p:spPr>
            <a:xfrm>
              <a:off x="2411483" y="192"/>
              <a:ext cx="5516867" cy="126354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57325" tIns="68575" rIns="128000" bIns="68575" anchor="ctr" anchorCtr="0">
              <a:noAutofit/>
            </a:bodyPr>
            <a:lstStyle/>
            <a:p>
              <a:pPr marL="457200" marR="0" lvl="0" indent="-457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Char char="•"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Baki Tunai </a:t>
              </a: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akan diperolehi setelah semua penerimaan atau kutipan tunai yang dilakukan ditolak dengan pembayaran tunai.</a:t>
              </a: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04"/>
            <p:cNvSpPr/>
            <p:nvPr/>
          </p:nvSpPr>
          <p:spPr>
            <a:xfrm rot="10800000">
              <a:off x="1848023" y="1641528"/>
              <a:ext cx="6080328" cy="1263543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marR="0" lvl="0" indent="-279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04"/>
            <p:cNvSpPr txBox="1"/>
            <p:nvPr/>
          </p:nvSpPr>
          <p:spPr>
            <a:xfrm>
              <a:off x="2411483" y="1427256"/>
              <a:ext cx="5516868" cy="126354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57325" tIns="68575" rIns="128000" bIns="68575" anchor="ctr" anchorCtr="0">
              <a:noAutofit/>
            </a:bodyPr>
            <a:lstStyle/>
            <a:p>
              <a:pPr marL="457200" marR="0" lvl="0" indent="-457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Char char="•"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Baki Negatif berlaku apabila kutipan lebih rendah daripada pembayaran – Firma perlu menguruskan pinjaman untuk pembiayaan.</a:t>
              </a: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04"/>
            <p:cNvSpPr/>
            <p:nvPr/>
          </p:nvSpPr>
          <p:spPr>
            <a:xfrm rot="10800000">
              <a:off x="1848023" y="3282864"/>
              <a:ext cx="6080328" cy="1263543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marR="0" lvl="0" indent="-279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04"/>
            <p:cNvSpPr txBox="1"/>
            <p:nvPr/>
          </p:nvSpPr>
          <p:spPr>
            <a:xfrm>
              <a:off x="2411483" y="2905071"/>
              <a:ext cx="5516868" cy="164133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57325" tIns="68575" rIns="128000" bIns="68575" anchor="ctr" anchorCtr="0">
              <a:noAutofit/>
            </a:bodyPr>
            <a:lstStyle/>
            <a:p>
              <a:pPr marL="457200" marR="0" lvl="0" indent="-457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Char char="•"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Jika Bakinya Positif, firma perlu memikirkan untuk melabur wang tersebut. Contohnya ke dalam sekuriti boleh pasar (simpanan tetap – boleh dicairkan pada bila-bila masa)</a:t>
              </a:r>
              <a:endPara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5" name="Google Shape;865;p104"/>
          <p:cNvSpPr txBox="1"/>
          <p:nvPr/>
        </p:nvSpPr>
        <p:spPr>
          <a:xfrm>
            <a:off x="801806" y="1156889"/>
            <a:ext cx="8915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	Perubahan Tunai Bersih</a:t>
            </a: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04"/>
          <p:cNvSpPr/>
          <p:nvPr/>
        </p:nvSpPr>
        <p:spPr>
          <a:xfrm>
            <a:off x="1" y="15937"/>
            <a:ext cx="12151056" cy="848454"/>
          </a:xfrm>
          <a:prstGeom prst="round2DiagRect">
            <a:avLst>
              <a:gd name="adj1" fmla="val 8646"/>
              <a:gd name="adj2" fmla="val 0"/>
            </a:avLst>
          </a:prstGeom>
          <a:noFill/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BELANJAWAN TUNAI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104"/>
          <p:cNvSpPr/>
          <p:nvPr/>
        </p:nvSpPr>
        <p:spPr>
          <a:xfrm>
            <a:off x="1119117" y="2135594"/>
            <a:ext cx="1534061" cy="1341858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38100" dist="300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04"/>
          <p:cNvSpPr/>
          <p:nvPr/>
        </p:nvSpPr>
        <p:spPr>
          <a:xfrm>
            <a:off x="1110981" y="3559962"/>
            <a:ext cx="1534061" cy="1341858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38100" dist="300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04"/>
          <p:cNvSpPr/>
          <p:nvPr/>
        </p:nvSpPr>
        <p:spPr>
          <a:xfrm>
            <a:off x="1119117" y="5255010"/>
            <a:ext cx="1534061" cy="1341858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38100" dist="300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8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105"/>
          <p:cNvGrpSpPr/>
          <p:nvPr/>
        </p:nvGrpSpPr>
        <p:grpSpPr>
          <a:xfrm>
            <a:off x="1583556" y="2054260"/>
            <a:ext cx="9976100" cy="4674356"/>
            <a:chOff x="722576" y="56073"/>
            <a:chExt cx="8862711" cy="4211653"/>
          </a:xfrm>
        </p:grpSpPr>
        <p:sp>
          <p:nvSpPr>
            <p:cNvPr id="875" name="Google Shape;875;p105"/>
            <p:cNvSpPr txBox="1"/>
            <p:nvPr/>
          </p:nvSpPr>
          <p:spPr>
            <a:xfrm>
              <a:off x="2080162" y="56073"/>
              <a:ext cx="7505125" cy="421165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50800" tIns="87625" rIns="163575" bIns="87625" anchor="ctr" anchorCtr="0">
              <a:noAutofit/>
            </a:bodyPr>
            <a:lstStyle/>
            <a:p>
              <a:pPr marL="457200" marR="0" lvl="0" indent="-457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Bahagian ini menunjukkan jumlah wang yang diperlukan oleh firma untuk menampung kekurangan tunai yang wujud setelah mengambil kira baki tunai awal dan baki tunai akhir (lebihan/kurangan).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457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Pembiayaan jangka pendek akan dibuat oleh syarikat jika syarikat mempunyai kurangan tunai pada sesuatu tempoh. 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457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Jika syarikat mempunyai lebihan tunai, syarikat akan membuat pelaburan jangka pendek tunai tersebut untuk mendapatkan faedah. Ia lebih baik daripada membiarkan tunai tersebut dalam keadaan yang tidak mendatangkan hasil (idle). 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05"/>
            <p:cNvSpPr/>
            <p:nvPr/>
          </p:nvSpPr>
          <p:spPr>
            <a:xfrm>
              <a:off x="722576" y="693396"/>
              <a:ext cx="2393441" cy="2677757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  <a:effectLst>
              <a:outerShdw blurRad="38100" dist="30000" dir="5400000" rotWithShape="0">
                <a:srgbClr val="000000">
                  <a:alpha val="4392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7" name="Google Shape;877;p105"/>
          <p:cNvSpPr txBox="1"/>
          <p:nvPr/>
        </p:nvSpPr>
        <p:spPr>
          <a:xfrm>
            <a:off x="846138" y="1331912"/>
            <a:ext cx="8833203" cy="65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	Pembiayaan Yang Diperlukan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05"/>
          <p:cNvSpPr/>
          <p:nvPr/>
        </p:nvSpPr>
        <p:spPr>
          <a:xfrm>
            <a:off x="1" y="15937"/>
            <a:ext cx="12151056" cy="848454"/>
          </a:xfrm>
          <a:prstGeom prst="round2DiagRect">
            <a:avLst>
              <a:gd name="adj1" fmla="val 8646"/>
              <a:gd name="adj2" fmla="val 0"/>
            </a:avLst>
          </a:prstGeom>
          <a:noFill/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BELANJAWAN TUNAI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3" name="Google Shape;883;p106"/>
          <p:cNvGraphicFramePr/>
          <p:nvPr/>
        </p:nvGraphicFramePr>
        <p:xfrm>
          <a:off x="522237" y="393574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BFCADC"/>
                </a:solidFill>
                <a:tableStyleId>{7544D8F7-DC1F-408D-8AE7-CB19EDCD78D5}</a:tableStyleId>
              </a:tblPr>
              <a:tblGrid>
                <a:gridCol w="487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8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Tempoh</a:t>
                      </a: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Bulan (RM) </a:t>
                      </a: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Bulan (RM) </a:t>
                      </a: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Bulan (RM) </a:t>
                      </a: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sng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Penerimaan Tunai</a:t>
                      </a: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Jualan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Akaun Belum Terima(Kutipan jualan kt)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Jumlah Penerimaan Tunai</a:t>
                      </a: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sng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Pembayaran Tunai</a:t>
                      </a: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Belian Tunai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Akaun Belum Bayar(Bayaran belian kt)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Belanja Upah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Belanja Pemasaran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Belanja Am dan Pentadbiran</a:t>
                      </a:r>
                      <a:endParaRPr sz="1600" b="1" u="sng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Jumlah Pembayaran Tunai</a:t>
                      </a: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sng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Perubahan Tunai Bersih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*(Penerimaan – Pembayaran)</a:t>
                      </a:r>
                      <a:endParaRPr sz="1600" i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(+) Baki Awal Tunai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(=) Tunai Sedia Ada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(-) Faedah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(-) Tunai Sebelum Pinjaman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(+) Pinjaman @ (-) Pembiayaan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(=) Baki Akhir Tunai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Pembiayaan Kumulatif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07"/>
          <p:cNvSpPr/>
          <p:nvPr/>
        </p:nvSpPr>
        <p:spPr>
          <a:xfrm>
            <a:off x="-77019" y="11353"/>
            <a:ext cx="12269019" cy="1273582"/>
          </a:xfrm>
          <a:prstGeom prst="round2DiagRect">
            <a:avLst>
              <a:gd name="adj1" fmla="val 8646"/>
              <a:gd name="adj2" fmla="val 0"/>
            </a:avLst>
          </a:prstGeom>
          <a:noFill/>
          <a:ln>
            <a:noFill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PERANAN BELANJAWAN TUNAI SEBAGAI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ALAT KAWALAN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07"/>
          <p:cNvSpPr txBox="1"/>
          <p:nvPr/>
        </p:nvSpPr>
        <p:spPr>
          <a:xfrm>
            <a:off x="1828801" y="1420459"/>
            <a:ext cx="9616118" cy="53098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57325" tIns="68575" rIns="128000" bIns="685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 mengawal keluar masuk wang bagi memastikan syarikat mempunyai tunai yang mencukupi bagi menyelesaikan tuntutan tunai daripada pembekal, pekerja dan kerajaan.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Memastikan kewangan syarikat berjalan dengan lancar sepanjang tempoh perancangan.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Contohnya pencapaian sebenar dapat dibandingkan dengan apa yang dirancang. Sekiranya terdapat perbezaan jumlah baki tunai seperti yang dirancang, perubahan perlu dibuat supaya kembali kepada apa yang dirancang.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07"/>
          <p:cNvSpPr/>
          <p:nvPr/>
        </p:nvSpPr>
        <p:spPr>
          <a:xfrm>
            <a:off x="1026132" y="1800185"/>
            <a:ext cx="1343025" cy="126365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38100" dist="300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07"/>
          <p:cNvSpPr/>
          <p:nvPr/>
        </p:nvSpPr>
        <p:spPr>
          <a:xfrm>
            <a:off x="1026133" y="3443560"/>
            <a:ext cx="1343025" cy="126365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  <a:effectLst>
            <a:outerShdw blurRad="38100" dist="300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07"/>
          <p:cNvSpPr/>
          <p:nvPr/>
        </p:nvSpPr>
        <p:spPr>
          <a:xfrm>
            <a:off x="1026132" y="5128025"/>
            <a:ext cx="1343025" cy="126365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  <a:effectLst>
            <a:outerShdw blurRad="38100" dist="300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08"/>
          <p:cNvSpPr/>
          <p:nvPr/>
        </p:nvSpPr>
        <p:spPr>
          <a:xfrm>
            <a:off x="1020762" y="2638424"/>
            <a:ext cx="10120479" cy="25613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TERIMA KASIH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3346</Words>
  <Application>Microsoft Office PowerPoint</Application>
  <PresentationFormat>宽屏</PresentationFormat>
  <Paragraphs>780</Paragraphs>
  <Slides>96</Slides>
  <Notes>96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97" baseType="lpstr">
      <vt:lpstr>Office Theme</vt:lpstr>
      <vt:lpstr>PowerPoint 演示文稿</vt:lpstr>
      <vt:lpstr>BAB 6: ANALISIS PENYATA KEWANGAN </vt:lpstr>
      <vt:lpstr>6.1 PENGENALAN SISTEM MAKLUMAT KEWANGAN</vt:lpstr>
      <vt:lpstr>6.1 PENGENALAN SISTEM MAKLUMAT KEWANGAN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i.  Nisbah Hutang Atas Ekuiti</vt:lpstr>
      <vt:lpstr>PowerPoint 演示文稿</vt:lpstr>
      <vt:lpstr>PowerPoint 演示文稿</vt:lpstr>
      <vt:lpstr>ii. Nisbah Hutang Atas Aset</vt:lpstr>
      <vt:lpstr>ii. Nisbah Hutang Atas Aset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i.  Nisbah Pendapatan Sesaham</vt:lpstr>
      <vt:lpstr>i.  Nisbah Pendapatan Sesaham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Suhaida Binti. Abu Bakar</dc:creator>
  <cp:lastModifiedBy>SEE ZHI KAI</cp:lastModifiedBy>
  <cp:revision>2</cp:revision>
  <dcterms:modified xsi:type="dcterms:W3CDTF">2022-11-21T22:09:20Z</dcterms:modified>
</cp:coreProperties>
</file>