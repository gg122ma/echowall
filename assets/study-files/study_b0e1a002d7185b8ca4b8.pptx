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926638" cy="6797675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Federo" panose="02000000000000000000" pitchFamily="2" charset="0"/>
      <p:regular r:id="rId56"/>
    </p:embeddedFont>
    <p:embeddedFont>
      <p:font typeface="Tahoma" panose="020B0604030504040204" pitchFamily="34" charset="0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4">
          <p15:clr>
            <a:srgbClr val="A4A3A4"/>
          </p15:clr>
        </p15:guide>
        <p15:guide id="2" pos="2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364591-173E-4D7C-8170-F2FB0EAB518C}">
  <a:tblStyle styleId="{21364591-173E-4D7C-8170-F2FB0EAB51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64" y="108"/>
      </p:cViewPr>
      <p:guideLst>
        <p:guide orient="horz" pos="2144"/>
        <p:guide pos="2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notesMaster" Target="notesMasters/notesMaster1.xml" /><Relationship Id="rId55" Type="http://schemas.openxmlformats.org/officeDocument/2006/relationships/font" Target="fonts/font4.fntdata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font" Target="fonts/font3.fntdata" /><Relationship Id="rId6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font" Target="fonts/font2.fntdata" /><Relationship Id="rId58" Type="http://schemas.openxmlformats.org/officeDocument/2006/relationships/font" Target="fonts/font7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font" Target="fonts/font6.fntdata" /><Relationship Id="rId61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font" Target="fonts/font1.fntdata" /><Relationship Id="rId6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font" Target="fonts/font5.fntdata" /><Relationship Id="rId8" Type="http://schemas.openxmlformats.org/officeDocument/2006/relationships/slide" Target="slides/slide7.xml" /><Relationship Id="rId51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1E96E-CEAB-4878-88D7-BF33ACD1E47B}" type="datetimeFigureOut">
              <a:rPr lang="en-MY" smtClean="0"/>
              <a:t>22/11/2022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548B0-236C-47FE-898F-A86DB7ED121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1459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9926638" cy="67976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5622798" y="0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5622799" y="6456612"/>
            <a:ext cx="4299246" cy="33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1436839" y="2354966"/>
            <a:ext cx="11491353" cy="223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43600" y="371475"/>
            <a:ext cx="2478088" cy="185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1436839" y="2354966"/>
            <a:ext cx="11491353" cy="223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43600" y="371475"/>
            <a:ext cx="2478088" cy="185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1436839" y="2354966"/>
            <a:ext cx="11491353" cy="223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43600" y="371475"/>
            <a:ext cx="2478088" cy="185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1436839" y="2354966"/>
            <a:ext cx="11491353" cy="223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43600" y="371475"/>
            <a:ext cx="2478088" cy="185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6" name="Google Shape;246;p20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43600" y="371475"/>
            <a:ext cx="2478088" cy="185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1:notes"/>
          <p:cNvSpPr txBox="1">
            <a:spLocks noGrp="1"/>
          </p:cNvSpPr>
          <p:nvPr>
            <p:ph type="body" idx="1"/>
          </p:nvPr>
        </p:nvSpPr>
        <p:spPr>
          <a:xfrm>
            <a:off x="1436839" y="2354966"/>
            <a:ext cx="11491353" cy="223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21:notes"/>
          <p:cNvSpPr txBox="1">
            <a:spLocks noGrp="1"/>
          </p:cNvSpPr>
          <p:nvPr>
            <p:ph type="sldNum" idx="12"/>
          </p:nvPr>
        </p:nvSpPr>
        <p:spPr>
          <a:xfrm>
            <a:off x="8138742" y="4709067"/>
            <a:ext cx="6222959" cy="24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8500" rIns="93300" bIns="48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/>
              <a:t>21</a:t>
            </a:fld>
            <a:endParaRPr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" name="Google Shape;42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46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:notes"/>
          <p:cNvSpPr txBox="1">
            <a:spLocks noGrp="1"/>
          </p:cNvSpPr>
          <p:nvPr>
            <p:ph type="sldNum" idx="12"/>
          </p:nvPr>
        </p:nvSpPr>
        <p:spPr>
          <a:xfrm>
            <a:off x="5622798" y="6456612"/>
            <a:ext cx="4299245" cy="338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47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7:notes"/>
          <p:cNvSpPr txBox="1"/>
          <p:nvPr/>
        </p:nvSpPr>
        <p:spPr>
          <a:xfrm>
            <a:off x="5622798" y="6456612"/>
            <a:ext cx="4301543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1143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7" name="Google Shape;467;p47:notes"/>
          <p:cNvSpPr txBox="1"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39013" cy="305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7250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1.jp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  <a:defRPr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3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3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jpg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88691" y="2936439"/>
            <a:ext cx="510909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BAB 2 </a:t>
            </a:r>
            <a:endParaRPr sz="5400" b="1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5400" b="1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473776" y="1011754"/>
            <a:ext cx="8255553" cy="42726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ACB8CA"/>
          </a:solidFill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105786" y="3006854"/>
            <a:ext cx="9420446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4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KANDUNGAN TOPIK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2.1 Pengenalan Pengurusan</a:t>
            </a:r>
            <a:endParaRPr sz="4000" b="1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2.2 Perancangan</a:t>
            </a:r>
            <a:endParaRPr sz="4000" b="1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2.3 Pengorganisasian</a:t>
            </a:r>
            <a:endParaRPr sz="4000" b="1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2.4 Kepimpinan dan Motivasi</a:t>
            </a:r>
            <a:endParaRPr sz="4000" b="1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2.5 Pengawalan </a:t>
            </a:r>
            <a:endParaRPr sz="1400" b="1" i="0" u="none" strike="noStrike" cap="none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48586" y="3062265"/>
            <a:ext cx="8920717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PENGENALAN PENGURUSAN</a:t>
            </a:r>
            <a:endParaRPr sz="5400" b="1" i="0" u="none" strike="noStrike" cap="none">
              <a:solidFill>
                <a:srgbClr val="990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608521" y="2124813"/>
            <a:ext cx="1835889" cy="114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2 .1 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0" y="1011754"/>
            <a:ext cx="8670224" cy="42726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ACB8CA"/>
          </a:solidFill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91004" y="1573619"/>
            <a:ext cx="9909544" cy="29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2.1 PENGENALAN PENGURUSAN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2.1.1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Fungsi</a:t>
            </a: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40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2.1.2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Peringkat</a:t>
            </a: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40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4125" marR="0" lvl="0" indent="-1254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2.1.3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Peranan</a:t>
            </a: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Kemahiran</a:t>
            </a: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Pengurusan</a:t>
            </a:r>
            <a:endParaRPr sz="40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dirty="0"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947420" y="0"/>
            <a:ext cx="7249160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2.1.1 FUNGSI PENGURUSAN</a:t>
            </a:r>
            <a:endParaRPr sz="3600" b="1" i="0" u="none" strike="noStrike" cap="none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254000" y="850606"/>
            <a:ext cx="8696325" cy="5505746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0" marR="0" lvl="0" indent="82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2.1.1(a) 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Takrif Pengurusan: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825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Mengkoordinasi dan mengawasi aktiviti kerja orang lain agar aktiviti mereka dapat disiapkan  dengan efektif dan efisien. </a:t>
            </a:r>
            <a:endParaRPr sz="28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8255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(Stephen P. Robbins, 2013, m.s. 9)</a:t>
            </a:r>
            <a:endParaRPr sz="28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60F18"/>
              </a:buClr>
              <a:buSzPts val="32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Proses merancang, mengorganisasi, memimpin dan mengawal  sumber-sumber organisasi untuk mencapai matlamat organisasi secara efektif dan efisien. </a:t>
            </a:r>
            <a:endParaRPr sz="28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0" indent="-31750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lang="en-US" sz="2000" b="1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(Richard L. Daft, 2006 m.s. 8)</a:t>
            </a:r>
            <a:endParaRPr sz="2000" b="1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2667000" y="3505200"/>
            <a:ext cx="4038600" cy="462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89426" y="837565"/>
            <a:ext cx="8393748" cy="533527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2.1.1(a) 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Takrif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182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penyusunan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tenaga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manusia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terancang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matlamat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tertentu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182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Gabungan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dua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orang yang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bekerja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sistematik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berstruktur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matlamat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3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6880" marR="0" lvl="0" indent="-319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1" u="none" strike="noStrike" cap="none" dirty="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396883" y="915354"/>
            <a:ext cx="790130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2.1.1(b)</a:t>
            </a: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Fungsi-fungsi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1535105" y="22894"/>
            <a:ext cx="7249160" cy="68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2.1.1 Fungsi Pengurusan</a:t>
            </a:r>
            <a:endParaRPr sz="36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grpSp>
        <p:nvGrpSpPr>
          <p:cNvPr id="145" name="Google Shape;145;p20"/>
          <p:cNvGrpSpPr/>
          <p:nvPr/>
        </p:nvGrpSpPr>
        <p:grpSpPr>
          <a:xfrm>
            <a:off x="1074420" y="1782714"/>
            <a:ext cx="7314586" cy="4290659"/>
            <a:chOff x="1045548" y="16164"/>
            <a:chExt cx="7242114" cy="4258150"/>
          </a:xfrm>
        </p:grpSpPr>
        <p:sp>
          <p:nvSpPr>
            <p:cNvPr id="146" name="Google Shape;146;p20"/>
            <p:cNvSpPr/>
            <p:nvPr/>
          </p:nvSpPr>
          <p:spPr>
            <a:xfrm>
              <a:off x="3400150" y="1554520"/>
              <a:ext cx="1933850" cy="1181437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3457823" y="1612194"/>
              <a:ext cx="1818503" cy="1066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FUNGSI PENGURUSAN</a:t>
              </a:r>
              <a:endParaRPr sz="20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 rot="-5400000">
              <a:off x="4188617" y="1364310"/>
              <a:ext cx="356918" cy="235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w="15875" cap="flat" cmpd="sng">
              <a:solidFill>
                <a:srgbClr val="1B66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0"/>
            <p:cNvSpPr txBox="1"/>
            <p:nvPr/>
          </p:nvSpPr>
          <p:spPr>
            <a:xfrm rot="-5400000">
              <a:off x="4358153" y="1367139"/>
              <a:ext cx="17845" cy="17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3304898" y="16164"/>
              <a:ext cx="2124357" cy="1181437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3362571" y="73837"/>
              <a:ext cx="2009011" cy="1066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PERANCANGAN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 rot="-13014">
              <a:off x="5333982" y="2129063"/>
              <a:ext cx="404616" cy="235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w="15875" cap="flat" cmpd="sng">
              <a:solidFill>
                <a:srgbClr val="1B66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 rot="-13014">
              <a:off x="5526174" y="2130698"/>
              <a:ext cx="20230" cy="20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5738554" y="1544504"/>
              <a:ext cx="2549108" cy="1181437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0"/>
            <p:cNvSpPr txBox="1"/>
            <p:nvPr/>
          </p:nvSpPr>
          <p:spPr>
            <a:xfrm>
              <a:off x="5796227" y="1602177"/>
              <a:ext cx="2433761" cy="1066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PENGORGANISASIAN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 rot="5400000">
              <a:off x="4188617" y="2902668"/>
              <a:ext cx="356918" cy="235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w="15875" cap="flat" cmpd="sng">
              <a:solidFill>
                <a:srgbClr val="1B66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0"/>
            <p:cNvSpPr txBox="1"/>
            <p:nvPr/>
          </p:nvSpPr>
          <p:spPr>
            <a:xfrm rot="5400000">
              <a:off x="4358152" y="2905495"/>
              <a:ext cx="17845" cy="17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3247750" y="3092877"/>
              <a:ext cx="2238649" cy="1181437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0"/>
            <p:cNvSpPr txBox="1"/>
            <p:nvPr/>
          </p:nvSpPr>
          <p:spPr>
            <a:xfrm>
              <a:off x="3305423" y="3150549"/>
              <a:ext cx="2123303" cy="1066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KEPIMPINAN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0"/>
            <p:cNvSpPr/>
            <p:nvPr/>
          </p:nvSpPr>
          <p:spPr>
            <a:xfrm rot="10792602">
              <a:off x="2965451" y="2136038"/>
              <a:ext cx="434705" cy="235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w="15875" cap="flat" cmpd="sng">
              <a:solidFill>
                <a:srgbClr val="1B66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0"/>
            <p:cNvSpPr txBox="1"/>
            <p:nvPr/>
          </p:nvSpPr>
          <p:spPr>
            <a:xfrm rot="-7398">
              <a:off x="3171936" y="2136920"/>
              <a:ext cx="21735" cy="21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1045548" y="1559603"/>
              <a:ext cx="1919908" cy="1181437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1103221" y="1617277"/>
              <a:ext cx="1804562" cy="1066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PENGAWALAN</a:t>
              </a:r>
              <a:endParaRPr sz="2000" b="1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2528887" y="2223490"/>
            <a:ext cx="5819983" cy="358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endParaRPr sz="2800" b="1" i="0" u="none" strike="noStrike" cap="none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Proses di mana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pengurus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matlamat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ingin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dicapai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membangunkan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strategi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tindakan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paling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bersesuaian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serta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menyelaraskan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aktiviti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peringkat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demi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matlamat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2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838200" y="457200"/>
            <a:ext cx="5793406" cy="588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2.1.1(b)</a:t>
            </a: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Fungsi-fungsi Pengurusan</a:t>
            </a:r>
            <a:endParaRPr sz="14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185987" y="1173123"/>
            <a:ext cx="483978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i. Perancangan</a:t>
            </a:r>
            <a:endParaRPr sz="5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2171700" y="300038"/>
            <a:ext cx="6552565" cy="565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ii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</a:t>
            </a:r>
            <a:r>
              <a:rPr lang="en-US" sz="2800" b="1" i="0" u="none" strike="noStrike" cap="none" dirty="0" err="1">
                <a:solidFill>
                  <a:schemeClr val="dk2"/>
                </a:solidFill>
                <a:latin typeface="Federo"/>
                <a:ea typeface="Federo"/>
                <a:cs typeface="Federo"/>
                <a:sym typeface="Federo"/>
              </a:rPr>
              <a:t>engorganisasian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endParaRPr sz="2800" b="1" i="0" u="none" strike="noStrike" cap="none" dirty="0">
              <a:solidFill>
                <a:schemeClr val="dk2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66725" marR="0" lvl="1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Proses di mana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menyusun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mengagih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menstruktur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sumber-sumber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melaksanakan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tugas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telah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ditetapkan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agar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matlamat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organisasi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1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1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Proses di mana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perlu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laksanakan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dilaksanakan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siapa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melaksanakannya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466311" y="235247"/>
            <a:ext cx="8496935" cy="5645784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Kepimpinan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Proses di mana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pengurus bekerjasama  dengan sumber  manusia/ pekerja untuk mencapai matlamat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organisasi.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Proses di mana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pengurus memotivasi, memimpin dan melaksanakan segala tindakan yang melibatkan berurusan dengan sumber  manusia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mencapai matlamat organisasi.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 cuba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mempengaruhi gelagat pekerja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agar mereka dapat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melaksanakan tugas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yang diberikan dengan efektif dan efisien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/>
        </p:nvSpPr>
        <p:spPr>
          <a:xfrm>
            <a:off x="2286000" y="381000"/>
            <a:ext cx="6518275" cy="38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iv. Pengawalan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endParaRPr sz="36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6725" marR="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Proses di mana </a:t>
            </a:r>
            <a:r>
              <a:rPr lang="en-US" sz="3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pengurus memantau aktiviti- aktiviti semasa, membandingkan prestasi dan membuat tindakan pembetulan </a:t>
            </a: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bagi memastikan </a:t>
            </a:r>
            <a:r>
              <a:rPr lang="en-US" sz="3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hasil akhir kerja tercapai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seperti yang dirancang.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1409568" y="349613"/>
            <a:ext cx="7011419" cy="64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2.1.2 PERINGKAT PENGURUSAN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2009554" y="1565336"/>
            <a:ext cx="6741042" cy="72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90488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 "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2.1.2(a) 3 Tingkat Pengurusan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3427671" y="2239925"/>
            <a:ext cx="5716329" cy="232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wentieth Century"/>
              <a:buAutoNum type="romanL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Pengurusan Atasan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wentieth Century"/>
              <a:buAutoNum type="romanL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Pengurusan Pertengahan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wentieth Century"/>
              <a:buAutoNum type="romanL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Pengurusan Bawahan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1342493" y="261937"/>
            <a:ext cx="717285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a. Tiga Peringkat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520995" y="846712"/>
            <a:ext cx="7994355" cy="531554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7658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romanLcPeriod"/>
            </a:pPr>
            <a:r>
              <a:rPr lang="en-US" sz="3200" b="1" i="0" u="none" strike="noStrike" cap="none" dirty="0" err="1">
                <a:solidFill>
                  <a:srgbClr val="990033"/>
                </a:solidFill>
                <a:latin typeface="Federo"/>
                <a:ea typeface="Federo"/>
                <a:cs typeface="Federo"/>
                <a:sym typeface="Federo"/>
              </a:rPr>
              <a:t>Pengurusan</a:t>
            </a:r>
            <a:r>
              <a:rPr lang="en-US" sz="3200" b="1" i="0" u="none" strike="noStrike" cap="none" dirty="0">
                <a:solidFill>
                  <a:srgbClr val="990033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1" i="0" u="none" strike="noStrike" cap="none" dirty="0" err="1">
                <a:solidFill>
                  <a:srgbClr val="990033"/>
                </a:solidFill>
                <a:latin typeface="Federo"/>
                <a:ea typeface="Federo"/>
                <a:cs typeface="Federo"/>
                <a:sym typeface="Federo"/>
              </a:rPr>
              <a:t>Atasan</a:t>
            </a:r>
            <a:endParaRPr lang="en-US" sz="3200" b="1" i="0" u="none" strike="noStrike" cap="none" dirty="0">
              <a:solidFill>
                <a:srgbClr val="990033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sz="3200" b="1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Bertanggungjawab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untuk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membuat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keputusan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ke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atas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secara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menyeluruh</a:t>
            </a:r>
            <a:r>
              <a:rPr lang="en-US" sz="3200" b="0" i="0" u="none" strike="noStrike" cap="none" dirty="0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1F3864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Membangunkan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matlamat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perancangan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akan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memberi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kesan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keatas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keseluruhan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</a:t>
            </a:r>
            <a:endParaRPr sz="3200" b="0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Tumpuan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kepada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perancangan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jangka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panjang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/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strategik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dirty="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C2E5"/>
              </a:buClr>
              <a:buSzPts val="26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1342493" y="261937"/>
            <a:ext cx="717285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a. Tiga Peringkat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765545" y="1014413"/>
            <a:ext cx="7749806" cy="519785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7658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romanLcPeriod"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Pengurusan Atasan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Menetap dan menggariskan visi, misi, dasar, polisi dan matlamat organisasi serta membimbing organisasi agar interaksinya dengan persekitaran adalah baik.</a:t>
            </a:r>
            <a:endParaRPr/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1F3864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1F3864"/>
                </a:solidFill>
                <a:latin typeface="Federo"/>
                <a:ea typeface="Federo"/>
                <a:cs typeface="Federo"/>
                <a:sym typeface="Federo"/>
              </a:rPr>
              <a:t>Contohnya: Ketua Pegawai Eksekutif (CEO), Presiden, Naib Presiden.</a:t>
            </a:r>
            <a:endParaRPr sz="3200" b="0" i="0" u="none" strike="noStrike" cap="none">
              <a:solidFill>
                <a:srgbClr val="1F3864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797442" y="324293"/>
            <a:ext cx="7474688" cy="5491716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ii. Pengurusan Pertengahan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 yang berada diantara pengurus atasan dan pengurus bawahan serta menyelia pengurus bawahan.</a:t>
            </a:r>
            <a:endParaRPr/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Pengurusan pertengahan  bertanggungjawab untuk melaksanakan segala keputusan yang dibuat oleh pengurusan atasan. </a:t>
            </a: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606056" y="136524"/>
            <a:ext cx="8102009" cy="580637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ii. Pengurusan Pertengahan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 peringkat ini </a:t>
            </a:r>
            <a:r>
              <a:rPr lang="en-US" sz="3200" b="0" i="0" u="none" strike="noStrike" cap="none">
                <a:solidFill>
                  <a:srgbClr val="990033"/>
                </a:solidFill>
                <a:latin typeface="Federo"/>
                <a:ea typeface="Federo"/>
                <a:cs typeface="Federo"/>
                <a:sym typeface="Federo"/>
              </a:rPr>
              <a:t>merangka keputusan jangka sederhana berpandukan matlamat yang ditetapkan oleh pengurusan atasan.</a:t>
            </a:r>
            <a:endParaRPr/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990033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8000"/>
                </a:solidFill>
                <a:latin typeface="Federo"/>
                <a:ea typeface="Federo"/>
                <a:cs typeface="Federo"/>
                <a:sym typeface="Federo"/>
              </a:rPr>
              <a:t>Membuat laporan kepada pengurus atasan.</a:t>
            </a:r>
            <a:endParaRPr/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8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Contohnya: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33CC"/>
                </a:solidFill>
                <a:latin typeface="Federo"/>
                <a:ea typeface="Federo"/>
                <a:cs typeface="Federo"/>
                <a:sym typeface="Federo"/>
              </a:rPr>
              <a:t>Ketua Jabatan Pembangunan Produk, Pengurus Jabatan Sumber Manusia.</a:t>
            </a:r>
            <a:endParaRPr sz="3200" b="0" i="0" u="none" strike="noStrike" cap="none">
              <a:solidFill>
                <a:srgbClr val="0033CC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170120" y="382773"/>
            <a:ext cx="8867553" cy="5752214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iii. Pengurus Bawahan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22605" marR="0" lvl="0" indent="-522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 barisan pertama (first line manager) dan bertanggungjawab ke atas pekerja organisasi yang tidak terlibat dalam pengurusan. </a:t>
            </a:r>
            <a:endParaRPr/>
          </a:p>
          <a:p>
            <a:pPr marL="522605" marR="0" lvl="0" indent="-3803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22605" marR="0" lvl="0" indent="-522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Char char="▪"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Bertanggungjawab secara langsung ke atas pengeluaran produk dan perkhidmatan  serta membuat laporan kepada pengurus pertengahan.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297711" y="479424"/>
            <a:ext cx="8548577" cy="589915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iii. Pengurus Bawahan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22605" marR="0" lvl="0" indent="-522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Tumpuan kepada </a:t>
            </a:r>
            <a:r>
              <a:rPr lang="en-US" sz="3200" b="1" i="0" u="none" strike="noStrike" cap="none">
                <a:solidFill>
                  <a:srgbClr val="0070C0"/>
                </a:solidFill>
                <a:latin typeface="Federo"/>
                <a:ea typeface="Federo"/>
                <a:cs typeface="Federo"/>
                <a:sym typeface="Federo"/>
              </a:rPr>
              <a:t>perancangan jangka pendek.</a:t>
            </a:r>
            <a:endParaRPr/>
          </a:p>
          <a:p>
            <a:pPr marL="522605" marR="0" lvl="0" indent="-3803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None/>
            </a:pPr>
            <a:endParaRPr sz="3200" b="1" i="0" u="none" strike="noStrike" cap="none">
              <a:solidFill>
                <a:srgbClr val="0070C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22605" marR="0" lvl="0" indent="-522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Memberi </a:t>
            </a:r>
            <a:r>
              <a:rPr lang="en-US" sz="3200" b="1" i="0" u="none" strike="noStrike" cap="none">
                <a:solidFill>
                  <a:schemeClr val="accent2"/>
                </a:solidFill>
                <a:latin typeface="Federo"/>
                <a:ea typeface="Federo"/>
                <a:cs typeface="Federo"/>
                <a:sym typeface="Federo"/>
              </a:rPr>
              <a:t>penekanan terhadap tugas penyeliaan 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 atas kerja-kerja operasi dan memastikan pekerja bawahan melaksanakan tugas harian  agar mencapai matlamat organisasi .</a:t>
            </a:r>
            <a:endParaRPr/>
          </a:p>
          <a:p>
            <a:pPr marL="522605" marR="0" lvl="0" indent="-3803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22605" marR="0" lvl="0" indent="-5226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24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1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Penyelia Tapak,  Ketua Kerani, Penyelia Jualan.</a:t>
            </a:r>
            <a:endParaRPr sz="3200" b="1" i="0" u="none" strike="noStrike" cap="none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5283" y="1939272"/>
            <a:ext cx="5803581" cy="45332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33400" y="1193136"/>
            <a:ext cx="790067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Gambarajah Tiga Peringkat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6291580" y="4103672"/>
            <a:ext cx="2567940" cy="96647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6261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PERINGKAT PERTENGAHAN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6143942" y="2628177"/>
            <a:ext cx="2685415" cy="1166495"/>
          </a:xfrm>
          <a:prstGeom prst="leftArrowCallout">
            <a:avLst>
              <a:gd name="adj1" fmla="val 25000"/>
              <a:gd name="adj2" fmla="val 25000"/>
              <a:gd name="adj3" fmla="val 22536"/>
              <a:gd name="adj4" fmla="val 8042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PERINGKAT ATASAN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6232842" y="5389881"/>
            <a:ext cx="2685415" cy="96647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6261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PERINGKAT BAWAHAN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/>
        </p:nvSpPr>
        <p:spPr>
          <a:xfrm>
            <a:off x="1914525" y="228600"/>
            <a:ext cx="722439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2.1.3 PERANAN DAN KEMAHIRAN PENGURUSAN 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2774432" y="2249899"/>
            <a:ext cx="6029611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Definisi Peranan: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Tindakan atau tingkahlaku tertentu yang dijangka dan dipamerkan oleh seseorang pengurus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4" descr="Image result for information dissemina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4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2" name="Google Shape;262;p35"/>
          <p:cNvGrpSpPr/>
          <p:nvPr/>
        </p:nvGrpSpPr>
        <p:grpSpPr>
          <a:xfrm>
            <a:off x="308345" y="2609116"/>
            <a:ext cx="8275586" cy="3747235"/>
            <a:chOff x="-52565" y="403825"/>
            <a:chExt cx="8178025" cy="3080089"/>
          </a:xfrm>
        </p:grpSpPr>
        <p:sp>
          <p:nvSpPr>
            <p:cNvPr id="263" name="Google Shape;263;p35"/>
            <p:cNvSpPr/>
            <p:nvPr/>
          </p:nvSpPr>
          <p:spPr>
            <a:xfrm>
              <a:off x="2540" y="419513"/>
              <a:ext cx="2476500" cy="974043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5"/>
            <p:cNvSpPr txBox="1"/>
            <p:nvPr/>
          </p:nvSpPr>
          <p:spPr>
            <a:xfrm>
              <a:off x="-52565" y="403825"/>
              <a:ext cx="2531605" cy="974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Penjalin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Hubungan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Perorangan</a:t>
              </a:r>
              <a:endParaRPr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5"/>
            <p:cNvSpPr/>
            <p:nvPr/>
          </p:nvSpPr>
          <p:spPr>
            <a:xfrm>
              <a:off x="2540" y="1393556"/>
              <a:ext cx="2476500" cy="2064240"/>
            </a:xfrm>
            <a:prstGeom prst="rect">
              <a:avLst/>
            </a:prstGeom>
            <a:solidFill>
              <a:srgbClr val="CCD3EA">
                <a:alpha val="89019"/>
              </a:srgbClr>
            </a:solidFill>
            <a:ln w="12700" cap="flat" cmpd="sng">
              <a:solidFill>
                <a:srgbClr val="CCD3EA">
                  <a:alpha val="89019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5"/>
            <p:cNvSpPr txBox="1"/>
            <p:nvPr/>
          </p:nvSpPr>
          <p:spPr>
            <a:xfrm>
              <a:off x="2540" y="1419674"/>
              <a:ext cx="2476500" cy="206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Tunggak (</a:t>
              </a:r>
              <a:r>
                <a:rPr lang="en-US" sz="1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Figurehead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Pemimpin  (</a:t>
              </a:r>
              <a:r>
                <a:rPr lang="en-US" sz="1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Leader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Penghubung (</a:t>
              </a:r>
              <a:r>
                <a:rPr lang="en-US" sz="1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Liaison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5"/>
            <p:cNvSpPr/>
            <p:nvPr/>
          </p:nvSpPr>
          <p:spPr>
            <a:xfrm>
              <a:off x="2730500" y="419513"/>
              <a:ext cx="2750820" cy="974043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5"/>
            <p:cNvSpPr txBox="1"/>
            <p:nvPr/>
          </p:nvSpPr>
          <p:spPr>
            <a:xfrm>
              <a:off x="2825749" y="419513"/>
              <a:ext cx="2360295" cy="974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Pembuat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  Keputusan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5"/>
            <p:cNvSpPr/>
            <p:nvPr/>
          </p:nvSpPr>
          <p:spPr>
            <a:xfrm>
              <a:off x="2730500" y="1393556"/>
              <a:ext cx="2750820" cy="2064240"/>
            </a:xfrm>
            <a:prstGeom prst="rect">
              <a:avLst/>
            </a:prstGeom>
            <a:solidFill>
              <a:srgbClr val="CCD3EA">
                <a:alpha val="89019"/>
              </a:srgbClr>
            </a:solidFill>
            <a:ln w="12700" cap="flat" cmpd="sng">
              <a:solidFill>
                <a:srgbClr val="CCD3EA">
                  <a:alpha val="89019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5"/>
            <p:cNvSpPr txBox="1"/>
            <p:nvPr/>
          </p:nvSpPr>
          <p:spPr>
            <a:xfrm>
              <a:off x="2821938" y="1393556"/>
              <a:ext cx="2659382" cy="206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Usahawan (</a:t>
              </a:r>
              <a:r>
                <a:rPr lang="en-US" sz="16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Entreprenuer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Pengagih Sumber (</a:t>
              </a:r>
              <a:r>
                <a:rPr lang="en-US" sz="16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Resource Allocator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Perunding (Negotiator)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Char char="•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Menangani Gangguan (</a:t>
              </a:r>
              <a:r>
                <a:rPr lang="en-US" sz="16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Crisis Handler</a:t>
              </a: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5"/>
            <p:cNvSpPr/>
            <p:nvPr/>
          </p:nvSpPr>
          <p:spPr>
            <a:xfrm>
              <a:off x="5648960" y="419513"/>
              <a:ext cx="2476500" cy="974043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5"/>
            <p:cNvSpPr txBox="1"/>
            <p:nvPr/>
          </p:nvSpPr>
          <p:spPr>
            <a:xfrm>
              <a:off x="5648960" y="419513"/>
              <a:ext cx="2476500" cy="974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775" tIns="65000" rIns="113775" bIns="6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Pemberi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edero"/>
                <a:buNone/>
              </a:pPr>
              <a:r>
                <a:rPr lang="en-US" sz="18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Maklumat</a:t>
              </a:r>
              <a:endParaRPr sz="18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5"/>
            <p:cNvSpPr/>
            <p:nvPr/>
          </p:nvSpPr>
          <p:spPr>
            <a:xfrm>
              <a:off x="5648960" y="1393556"/>
              <a:ext cx="2476500" cy="2064240"/>
            </a:xfrm>
            <a:prstGeom prst="rect">
              <a:avLst/>
            </a:prstGeom>
            <a:solidFill>
              <a:srgbClr val="CCD3EA">
                <a:alpha val="89019"/>
              </a:srgbClr>
            </a:solidFill>
            <a:ln w="12700" cap="flat" cmpd="sng">
              <a:solidFill>
                <a:srgbClr val="CCD3EA">
                  <a:alpha val="89019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5"/>
            <p:cNvSpPr txBox="1"/>
            <p:nvPr/>
          </p:nvSpPr>
          <p:spPr>
            <a:xfrm>
              <a:off x="5648960" y="1393556"/>
              <a:ext cx="2476500" cy="2064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85325" rIns="113775" bIns="128000" anchor="t" anchorCtr="0">
              <a:noAutofit/>
            </a:bodyPr>
            <a:lstStyle/>
            <a:p>
              <a:pPr marL="171450" marR="0" lvl="1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Pem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antau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</a:t>
              </a:r>
              <a:r>
                <a:rPr lang="en-US" sz="1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itor)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nyebar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lang="en-US" sz="1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isseminator)</a:t>
              </a:r>
              <a:endParaRPr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Jurucakap (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Spokeperson)</a:t>
              </a:r>
              <a:endParaRPr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35"/>
          <p:cNvSpPr txBox="1"/>
          <p:nvPr/>
        </p:nvSpPr>
        <p:spPr>
          <a:xfrm>
            <a:off x="560070" y="1419687"/>
            <a:ext cx="7646670" cy="81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570" marR="0" lvl="0" indent="12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lang="en-US" sz="3600" b="1" i="0" u="none" strike="noStrike" cap="none" baseline="3000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Berdasarkan Henry Mintzberg terdapat 10 peranan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" marR="0" lvl="0" indent="12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lang="en-US" sz="3600" b="1" i="0" u="none" strike="noStrike" cap="none" baseline="3000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pengurus yang boleh dikategorikan kepada 3 bahagian:</a:t>
            </a:r>
            <a:endParaRPr sz="3600" b="1" i="0" u="none" strike="noStrike" cap="none" baseline="3000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5715" y="228600"/>
            <a:ext cx="913320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(a) PERANAN PENGURUS MENGIKUT TEORI MINTZBERG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/>
          <p:nvPr/>
        </p:nvSpPr>
        <p:spPr>
          <a:xfrm rot="10800000">
            <a:off x="364106" y="2798727"/>
            <a:ext cx="544195" cy="56642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5"/>
          <p:cNvSpPr/>
          <p:nvPr/>
        </p:nvSpPr>
        <p:spPr>
          <a:xfrm rot="10800000">
            <a:off x="3217140" y="2974658"/>
            <a:ext cx="544195" cy="56642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5"/>
          <p:cNvSpPr/>
          <p:nvPr/>
        </p:nvSpPr>
        <p:spPr>
          <a:xfrm rot="10800000">
            <a:off x="6222209" y="2798727"/>
            <a:ext cx="544195" cy="56642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338919" y="200821"/>
            <a:ext cx="7849405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Penjalin Hubungan Perorangan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	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338919" y="807543"/>
            <a:ext cx="8381999" cy="552893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i. </a:t>
            </a:r>
            <a:r>
              <a:rPr lang="en-US" sz="3200" b="1" i="0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Tunggak (</a:t>
            </a:r>
            <a:r>
              <a:rPr lang="en-US" sz="3200" b="1" i="1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Figurehead</a:t>
            </a:r>
            <a:r>
              <a:rPr lang="en-US" sz="3200" b="1" i="0" u="none" strike="noStrike" cap="none">
                <a:solidFill>
                  <a:srgbClr val="002060"/>
                </a:solidFill>
                <a:latin typeface="Federo"/>
                <a:ea typeface="Federo"/>
                <a:cs typeface="Federo"/>
                <a:sym typeface="Federo"/>
              </a:rPr>
              <a:t>) </a:t>
            </a:r>
            <a:endParaRPr sz="3200" b="1" i="0" u="none" strike="noStrike" cap="none">
              <a:solidFill>
                <a:srgbClr val="00206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Menjalankan beberapa tugas yang berbentuk simbolik atau upacara.</a:t>
            </a: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0" i="0" u="none" strike="noStrike" cap="none">
                <a:solidFill>
                  <a:srgbClr val="9900FF"/>
                </a:solidFill>
                <a:latin typeface="Federo"/>
                <a:ea typeface="Federo"/>
                <a:cs typeface="Federo"/>
                <a:sym typeface="Federo"/>
              </a:rPr>
              <a:t>CEO akan menghadiri majlis, menyampaikan sijil dan anugerah.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990033"/>
                </a:solidFill>
                <a:latin typeface="Federo"/>
                <a:ea typeface="Federo"/>
                <a:cs typeface="Federo"/>
                <a:sym typeface="Federo"/>
              </a:rPr>
              <a:t>Pengarah akan menandatangani dokumen rasmi perjanjian dengan syarikat pembekal .</a:t>
            </a:r>
            <a:endParaRPr sz="3200" b="0" i="0" u="none" strike="noStrike" cap="none">
              <a:solidFill>
                <a:srgbClr val="990033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425886" y="1021726"/>
            <a:ext cx="8398609" cy="523873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ii.	</a:t>
            </a:r>
            <a:r>
              <a:rPr lang="en-US" sz="2800" b="1" i="0" u="none" strike="noStrike" cap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Pemimpin (</a:t>
            </a:r>
            <a:r>
              <a:rPr lang="en-US" sz="2800" b="1" i="1" u="none" strike="noStrike" cap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Leader</a:t>
            </a:r>
            <a:r>
              <a:rPr lang="en-US" sz="2800" b="1" i="0" u="none" strike="noStrike" cap="non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1" i="0" u="none" strike="noStrike" cap="none">
              <a:solidFill>
                <a:srgbClr val="8000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943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28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Mengarah, mengkoordinasi dan memotivasikan pekerja melaksanakan kerja.</a:t>
            </a:r>
            <a:endParaRPr/>
          </a:p>
          <a:p>
            <a:pPr marL="622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943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28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Memastikan kerja-kerja yang dilaksanakan mematuhi apa yang telah dirancang.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943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943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28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2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CEO menggesa agar setiap Pengurus Cawangan dapat mencapai target hasil jualan sebanyak RM20 juta pada penghujung tahun ini.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338919" y="200821"/>
            <a:ext cx="7849405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Penjalin Hubungan Perorangan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	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338918" y="672734"/>
            <a:ext cx="7849405" cy="586617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iii. 	</a:t>
            </a:r>
            <a:r>
              <a:rPr lang="en-US" sz="3200" b="1" i="0" u="none" strike="noStrike" cap="none" dirty="0" err="1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Pengawai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1" i="0" u="none" strike="noStrike" cap="none" dirty="0" err="1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Penghubung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 (</a:t>
            </a:r>
            <a:r>
              <a:rPr lang="en-US" sz="3200" b="1" i="1" u="none" strike="noStrike" cap="none" dirty="0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Liaison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1" i="0" u="none" strike="noStrike" cap="none" dirty="0">
              <a:solidFill>
                <a:srgbClr val="0000FF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Mengekalkan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hubungan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jaringan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(networking)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sama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ada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di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dalam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atau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di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luar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;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melalui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e-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mel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,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panggilan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telefon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dan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mesyuarat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: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Pengurus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Sumber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Manusia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berunding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dengan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Ketua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Kesatuan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Pekerja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berkaitan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ketidakpuasan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hati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pekerja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berkaitan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tuntutan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kerja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lebih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masa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atau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berinteraksi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dengan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pelanggan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,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pembekal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dan</a:t>
            </a:r>
            <a:r>
              <a:rPr lang="en-US" sz="3200" b="0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sebagainy</a:t>
            </a:r>
            <a:r>
              <a:rPr lang="en-US" sz="3200" b="1" i="0" u="none" strike="noStrike" cap="none" dirty="0" err="1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a</a:t>
            </a:r>
            <a:r>
              <a:rPr lang="en-US" sz="3200" b="1" i="0" u="none" strike="noStrike" cap="none" dirty="0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1" i="0" u="none" strike="noStrike" cap="none" dirty="0">
              <a:solidFill>
                <a:srgbClr val="80008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338919" y="200821"/>
            <a:ext cx="7849405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Penjalin Hubungan Perorangan</a:t>
            </a:r>
            <a:endParaRPr sz="28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	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1378683" y="160720"/>
            <a:ext cx="7278124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Pembuat Keputusan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404037" y="930745"/>
            <a:ext cx="8335926" cy="523613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i. 	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Usahawan (</a:t>
            </a:r>
            <a:r>
              <a:rPr lang="en-US" sz="3200" b="0" i="1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entrepreneur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❑"/>
            </a:pPr>
            <a:r>
              <a:rPr lang="en-US" sz="3200" b="1" i="0" u="none" strike="noStrike" cap="none">
                <a:solidFill>
                  <a:srgbClr val="548135"/>
                </a:solidFill>
                <a:latin typeface="Federo"/>
                <a:ea typeface="Federo"/>
                <a:cs typeface="Federo"/>
                <a:sym typeface="Federo"/>
              </a:rPr>
              <a:t>Berperanan sebagai perintis (initiator), pereka dan penggalak kepada perubahan dan inovasi.</a:t>
            </a:r>
            <a:endParaRPr sz="3200" b="1" i="0" u="none" strike="noStrike" cap="none">
              <a:solidFill>
                <a:srgbClr val="548135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CEO Samsung mengumumkan peranti boleh lipat (berada di antara telefon dan tablet) yang pertama dikomersialkan iaitu Galaxy Fold mempunyai 6 kamera dengan harga sekitar RM8051.00. </a:t>
            </a: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478466" y="900166"/>
            <a:ext cx="8178342" cy="545618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571500" marR="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romanLcPeriod" startAt="2"/>
            </a:pP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Menangani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gangguan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(</a:t>
            </a:r>
            <a:r>
              <a:rPr lang="en-US" sz="3200" b="1" i="1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crisis handler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66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Membuat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keputusan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atau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tindakan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tepat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terhadap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krisis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timbul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dalam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supaya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persekitaran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bermasalah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dapat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diselesaikan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14350" marR="0" lvl="0" indent="-400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900"/>
              <a:buFont typeface="Noto Sans Symbols"/>
              <a:buNone/>
            </a:pPr>
            <a:endParaRPr sz="3200" b="0" i="0" u="none" strike="noStrike" cap="none" dirty="0">
              <a:solidFill>
                <a:srgbClr val="FF66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Contoh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: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Pengurus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Sumber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Manusia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berbincang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dengan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wakil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Kesatuan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Sekerja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untuk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menyelesaikan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masalah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ketidakpuasan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hati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pekerja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berkaitan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masalah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kenaikan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gaji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tahunan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 .</a:t>
            </a:r>
            <a:endParaRPr sz="3200" b="0" i="0" u="none" strike="noStrike" cap="none" dirty="0">
              <a:solidFill>
                <a:srgbClr val="FF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1378683" y="160720"/>
            <a:ext cx="7278124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Pembuat Keputusan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28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53163" y="659368"/>
            <a:ext cx="8825023" cy="553941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iii. 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Pengagih sumber (</a:t>
            </a:r>
            <a:r>
              <a:rPr lang="en-US" sz="3200" b="0" i="1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resource allocator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Menetapkan bagaimana sumber organisasi yang terhad diagih dan digunakan oleh semua ahli organisasi untuk mencapai matlamat organisasi.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0" i="0" u="none" strike="noStrike" cap="none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Pengurus Jabatan Kewangan memutuskan pengagihan sumber-sumber dana mengikut keutamaan di mana sebanyak RM30juta diperuntukkan kepada Jabatan Pengeluaran untuk membeli mesin dan jentera.</a:t>
            </a:r>
            <a:endParaRPr sz="3200" b="0" i="0" u="none" strike="noStrike" cap="none">
              <a:solidFill>
                <a:srgbClr val="0000FF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21" name="Google Shape;321;p41"/>
          <p:cNvSpPr txBox="1"/>
          <p:nvPr/>
        </p:nvSpPr>
        <p:spPr>
          <a:xfrm>
            <a:off x="1378683" y="160720"/>
            <a:ext cx="7278124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Pembuat Keputusan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584791" y="1139303"/>
            <a:ext cx="8258799" cy="5208334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iv.	Perunding (</a:t>
            </a:r>
            <a:r>
              <a:rPr lang="en-US" sz="3200" b="0" i="1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negotiator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FF5050"/>
                </a:solidFill>
                <a:latin typeface="Federo"/>
                <a:ea typeface="Federo"/>
                <a:cs typeface="Federo"/>
                <a:sym typeface="Federo"/>
              </a:rPr>
              <a:t>Mewakili organisasi dalam perundingan yang melibatkan bidang kuasa.</a:t>
            </a:r>
            <a:endParaRPr sz="3200" b="0" i="0" u="none" strike="noStrike" cap="none">
              <a:solidFill>
                <a:srgbClr val="FF505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1435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9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66725" marR="0" lvl="0" indent="-466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4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0" i="0" u="none" strike="noStrike" cap="none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Pengurus Jabatan Jualan berunding dengan Pengurusan Jabatan Pengeluaran untuk membuat ramalan jualan berdasarkan kapisiti pengeluaran yang mampu dihasilkan oleh jabatan tersebut untuk tahun hadapan.</a:t>
            </a:r>
            <a:endParaRPr sz="3200" b="0" i="0" u="none" strike="noStrike" cap="none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1378683" y="160720"/>
            <a:ext cx="7278124" cy="535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Pembuat Keputusan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808074" y="345125"/>
            <a:ext cx="8412126" cy="59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Pemberi Maklumat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1052623" y="1189634"/>
            <a:ext cx="7462727" cy="516671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117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.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emantau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(</a:t>
            </a:r>
            <a:r>
              <a:rPr lang="en-US" sz="3200" b="0" i="1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monitor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117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Mencari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dan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menerima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maklumat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,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mengimbas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laporan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berkala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dan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mengekalkan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hubungan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perorangan</a:t>
            </a:r>
            <a:r>
              <a:rPr lang="en-US" sz="3200" b="0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: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Presiden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syarikat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sentiasa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memantau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keadaan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gejala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pendamik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Covid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19  yang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mempengaruhi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perjalanan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operasi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organisasinya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44"/>
          <p:cNvSpPr txBox="1"/>
          <p:nvPr/>
        </p:nvSpPr>
        <p:spPr>
          <a:xfrm>
            <a:off x="467834" y="1106738"/>
            <a:ext cx="7722009" cy="561473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ii.	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Penyebar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maklumat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(</a:t>
            </a:r>
            <a:r>
              <a:rPr lang="en-US" sz="3200" b="0" i="1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disseminator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0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Menyebar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maklumat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penting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diperolehi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sama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ada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dari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dalam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atau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luar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kepada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ahli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melalui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memo,laporan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atau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panggilan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telefon</a:t>
            </a:r>
            <a:r>
              <a:rPr lang="en-US" sz="3200" b="0" i="0" u="none" strike="noStrike" cap="none" dirty="0">
                <a:solidFill>
                  <a:srgbClr val="00990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0099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754253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: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Penyelia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Jualan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perlu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memberi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laporan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jualan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bulanan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kepada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Pengurus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Jabatan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Jualan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pada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setiap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awal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bulan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yang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berikutnya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.</a:t>
            </a:r>
            <a:endParaRPr sz="3200" b="0" i="0" u="none" strike="noStrike" cap="none" dirty="0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42" name="Google Shape;342;p44"/>
          <p:cNvSpPr txBox="1"/>
          <p:nvPr/>
        </p:nvSpPr>
        <p:spPr>
          <a:xfrm>
            <a:off x="808074" y="345125"/>
            <a:ext cx="8412126" cy="59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Pemberi Maklumat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45"/>
          <p:cNvSpPr txBox="1"/>
          <p:nvPr/>
        </p:nvSpPr>
        <p:spPr>
          <a:xfrm>
            <a:off x="180753" y="893720"/>
            <a:ext cx="8771861" cy="501976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60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iii. 	J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urucakap (</a:t>
            </a:r>
            <a:r>
              <a:rPr lang="en-US" sz="3200" b="0" i="1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spokesperson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)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60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Mewakili unit/jabatan untuk memberi maklumat yang jelas kepada pihak pengurusan atasan dalam organisasi atau berkomunikasi dengan individu/kesatuan pekerja di luar organisasi.</a:t>
            </a:r>
            <a:endParaRPr/>
          </a:p>
          <a:p>
            <a:pPr marL="574675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FF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1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Pengawai Perhubungan Awam berucap dalam sidang akhbar berkaitan isu masalah produk yang perlu ditarik balik dari pasaran.</a:t>
            </a:r>
            <a:endParaRPr sz="3200" b="1" i="0" u="none" strike="noStrike" cap="none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986057" y="115844"/>
            <a:ext cx="8412126" cy="59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III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. Pemberi Maklumat</a:t>
            </a:r>
            <a:endParaRPr sz="28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5" name="Google Shape;355;p46"/>
          <p:cNvSpPr txBox="1"/>
          <p:nvPr/>
        </p:nvSpPr>
        <p:spPr>
          <a:xfrm>
            <a:off x="1073888" y="268695"/>
            <a:ext cx="8070112" cy="6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89013" marR="0" lvl="0" indent="-989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(b) KEPENTINGAN KEMAHIRAN DALAM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56" name="Google Shape;356;p46"/>
          <p:cNvSpPr txBox="1"/>
          <p:nvPr/>
        </p:nvSpPr>
        <p:spPr>
          <a:xfrm>
            <a:off x="2110238" y="1712096"/>
            <a:ext cx="7033762" cy="37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AutoNum type="romanLcPeriod"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Pembuat keputusan yang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berkesan</a:t>
            </a:r>
            <a:endParaRPr sz="2800" b="1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Membolehkan pengurus mengenalpasti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masalah dan membuat keputusan yang tepat bagi sesuatu situasi yang penting.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2707444" y="1321638"/>
            <a:ext cx="6877000" cy="45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 </a:t>
            </a:r>
            <a:r>
              <a:rPr lang="en-US" sz="3200" b="1" i="0" u="none" strike="noStrike" cap="none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ii.	Mewujudkan penyelarasan 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9890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organisasi</a:t>
            </a:r>
            <a:endParaRPr sz="3200" b="1" i="0" u="none" strike="noStrike" cap="none">
              <a:solidFill>
                <a:srgbClr val="FF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Membolehkan pengurus menyelaras kerja didalam organisasi secara lebih baik dan   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berkesan supaya dapat mengelakkan 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berlakunya pertindihan tugas serta pengurus boleh mengurus dengan berkesan.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1908869" y="136524"/>
            <a:ext cx="8070112" cy="6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89013" marR="0" lvl="0" indent="-989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(b) KEPENTINGAN KEMAHIRAN DALAM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48"/>
          <p:cNvSpPr txBox="1"/>
          <p:nvPr/>
        </p:nvSpPr>
        <p:spPr>
          <a:xfrm>
            <a:off x="2477386" y="1544103"/>
            <a:ext cx="6666614" cy="4558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 </a:t>
            </a:r>
            <a:r>
              <a:rPr lang="en-US" sz="3200" b="1" i="0" u="none" strike="noStrike" cap="none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iii.	Kebolehan bertindak dengan    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         cepat</a:t>
            </a:r>
            <a:endParaRPr sz="3200" b="0" i="0" u="none" strike="noStrike" cap="none">
              <a:solidFill>
                <a:srgbClr val="0000FF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Pengurus yang berkemahiran dapat mengetahui dan menyelesaikan semua masalah secara cekap </a:t>
            </a: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dan berkesan. 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1775637" y="136524"/>
            <a:ext cx="8070112" cy="6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89013" marR="0" lvl="0" indent="-989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(b) KEPENTINGAN KEMAHIRAN DALAM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49"/>
          <p:cNvSpPr txBox="1"/>
          <p:nvPr/>
        </p:nvSpPr>
        <p:spPr>
          <a:xfrm>
            <a:off x="628650" y="1245709"/>
            <a:ext cx="8708065" cy="518698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 1v. Pengurusan hubungan dengan pekerja dan membangunkan sumber manusia</a:t>
            </a:r>
            <a:endParaRPr sz="28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Federo"/>
                <a:ea typeface="Federo"/>
                <a:cs typeface="Federo"/>
                <a:sym typeface="Federo"/>
              </a:rPr>
              <a:t>Pengurus yang berkemahiran akan mengenalpasti prestasi pekerja yang kurang baik dan akan memastikan ianya tidak akan menjejaskan pencapaian organisasi. </a:t>
            </a:r>
            <a:endParaRPr sz="2800" b="0" i="0" u="none" strike="noStrike" cap="none">
              <a:solidFill>
                <a:srgbClr val="0000FF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</a:t>
            </a:r>
            <a:endParaRPr sz="28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Pengurus yang berkemahiran akan memberi motivasi dan dorongan kepada pekerja agar terus  meningkatkan prestasi kerja para pekerja seperti yang diperlukan oleh organisasi. </a:t>
            </a:r>
            <a:endParaRPr sz="2800" b="0" i="0" u="none" strike="noStrike" cap="none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77" name="Google Shape;377;p49"/>
          <p:cNvSpPr txBox="1"/>
          <p:nvPr/>
        </p:nvSpPr>
        <p:spPr>
          <a:xfrm>
            <a:off x="754912" y="0"/>
            <a:ext cx="8761227" cy="71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89013" marR="0" lvl="0" indent="-989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(b) KEPENTINGAN KEMAHIRAN DALAM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37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50"/>
          <p:cNvSpPr txBox="1"/>
          <p:nvPr/>
        </p:nvSpPr>
        <p:spPr>
          <a:xfrm>
            <a:off x="999460" y="1847368"/>
            <a:ext cx="7903535" cy="418129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v.	Membolehkan pengurus mengenalpasti dan mengambil    peluang yang wujud sama ada dari   dalam dan luar organisasi</a:t>
            </a:r>
            <a:endParaRPr sz="3200" b="0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8000"/>
                </a:solidFill>
                <a:latin typeface="Federo"/>
                <a:ea typeface="Federo"/>
                <a:cs typeface="Federo"/>
                <a:sym typeface="Federo"/>
              </a:rPr>
              <a:t>Pengurus yang berkemahiran akan cuba </a:t>
            </a:r>
            <a:endParaRPr sz="3200" b="0" i="0" u="none" strike="noStrike" cap="none">
              <a:solidFill>
                <a:srgbClr val="008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46088" marR="0" lvl="0" indent="-841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3200" b="0" i="0" u="none" strike="noStrike" cap="none">
                <a:solidFill>
                  <a:srgbClr val="008000"/>
                </a:solidFill>
                <a:latin typeface="Federo"/>
                <a:ea typeface="Federo"/>
                <a:cs typeface="Federo"/>
                <a:sym typeface="Federo"/>
              </a:rPr>
              <a:t>meneroka peluang yang ada di sekelilingnya dan menukarkannya kepada keberhasilan bagi organisasi.</a:t>
            </a:r>
            <a:endParaRPr sz="3200" b="0" i="0" u="none" strike="noStrike" cap="none">
              <a:solidFill>
                <a:srgbClr val="008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999460" y="473148"/>
            <a:ext cx="8761227" cy="71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89013" marR="0" lvl="0" indent="-989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(b) KEPENTINGAN KEMAHIRAN DALAM PENGURUSAN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38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0" name="Google Shape;390;p51"/>
          <p:cNvSpPr txBox="1"/>
          <p:nvPr/>
        </p:nvSpPr>
        <p:spPr>
          <a:xfrm>
            <a:off x="1580905" y="430091"/>
            <a:ext cx="8440538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39850" marR="0" lvl="0" indent="-133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PERANAN DAN KEMAHIRAN PENGURUSAN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51"/>
          <p:cNvGrpSpPr/>
          <p:nvPr/>
        </p:nvGrpSpPr>
        <p:grpSpPr>
          <a:xfrm>
            <a:off x="661416" y="1889277"/>
            <a:ext cx="7287768" cy="3969263"/>
            <a:chOff x="593081" y="16174"/>
            <a:chExt cx="7946880" cy="4274308"/>
          </a:xfrm>
        </p:grpSpPr>
        <p:sp>
          <p:nvSpPr>
            <p:cNvPr id="392" name="Google Shape;392;p51"/>
            <p:cNvSpPr/>
            <p:nvPr/>
          </p:nvSpPr>
          <p:spPr>
            <a:xfrm>
              <a:off x="3304739" y="1893413"/>
              <a:ext cx="2360803" cy="1442275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1"/>
            <p:cNvSpPr txBox="1"/>
            <p:nvPr/>
          </p:nvSpPr>
          <p:spPr>
            <a:xfrm>
              <a:off x="3375145" y="1963819"/>
              <a:ext cx="2219991" cy="130146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KEMAHIRAN PENGURUSAN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1"/>
            <p:cNvSpPr/>
            <p:nvPr/>
          </p:nvSpPr>
          <p:spPr>
            <a:xfrm rot="-5400000">
              <a:off x="4267660" y="1661586"/>
              <a:ext cx="434962" cy="286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1"/>
            <p:cNvSpPr txBox="1"/>
            <p:nvPr/>
          </p:nvSpPr>
          <p:spPr>
            <a:xfrm rot="-5400000">
              <a:off x="4474267" y="1665057"/>
              <a:ext cx="21748" cy="21748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3188456" y="16174"/>
              <a:ext cx="2593370" cy="1442275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1"/>
            <p:cNvSpPr txBox="1"/>
            <p:nvPr/>
          </p:nvSpPr>
          <p:spPr>
            <a:xfrm>
              <a:off x="3258862" y="86580"/>
              <a:ext cx="2452558" cy="130146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KEMAHIRAN KONSEPTUAL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1"/>
            <p:cNvSpPr/>
            <p:nvPr/>
          </p:nvSpPr>
          <p:spPr>
            <a:xfrm rot="1128085">
              <a:off x="5496610" y="3069832"/>
              <a:ext cx="735872" cy="286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1"/>
            <p:cNvSpPr txBox="1"/>
            <p:nvPr/>
          </p:nvSpPr>
          <p:spPr>
            <a:xfrm rot="1128085">
              <a:off x="5846150" y="3065780"/>
              <a:ext cx="36793" cy="3679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6039243" y="2848207"/>
              <a:ext cx="2500718" cy="1442275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1"/>
            <p:cNvSpPr txBox="1"/>
            <p:nvPr/>
          </p:nvSpPr>
          <p:spPr>
            <a:xfrm>
              <a:off x="6109649" y="2918613"/>
              <a:ext cx="2359906" cy="130146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KEMAHIRAN KEMANUSIAN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1"/>
            <p:cNvSpPr/>
            <p:nvPr/>
          </p:nvSpPr>
          <p:spPr>
            <a:xfrm rot="9639519">
              <a:off x="2762610" y="3078579"/>
              <a:ext cx="719331" cy="286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1"/>
            <p:cNvSpPr txBox="1"/>
            <p:nvPr/>
          </p:nvSpPr>
          <p:spPr>
            <a:xfrm rot="-1160481">
              <a:off x="3104293" y="3074941"/>
              <a:ext cx="35966" cy="35966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None/>
              </a:pPr>
              <a:endParaRPr sz="20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593081" y="2848207"/>
              <a:ext cx="2343784" cy="1442275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1"/>
            <p:cNvSpPr txBox="1"/>
            <p:nvPr/>
          </p:nvSpPr>
          <p:spPr>
            <a:xfrm>
              <a:off x="663487" y="2918613"/>
              <a:ext cx="2202972" cy="1301463"/>
            </a:xfrm>
            <a:prstGeom prst="rect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700" tIns="12700" rIns="12700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wentieth Century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KEMAHIRAN TEKNIKAL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39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1711842" y="561658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478465" y="1543050"/>
            <a:ext cx="8310693" cy="5178425"/>
          </a:xfrm>
          <a:prstGeom prst="rect">
            <a:avLst/>
          </a:prstGeom>
          <a:solidFill>
            <a:srgbClr val="D8E2F3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688975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romanLcPeriod"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Kemahiran Konseptual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117475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Kemahiran yang digunakan untuk berfikir dan mengkonsepsualisasikan (memaujudkan) sesuatu yang abstraks dan situasi yang kompleks.</a:t>
            </a:r>
            <a:endParaRPr/>
          </a:p>
          <a:p>
            <a:pPr marL="574675" marR="0" lvl="0" indent="-254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385623"/>
                </a:solidFill>
                <a:latin typeface="Federo"/>
                <a:ea typeface="Federo"/>
                <a:cs typeface="Federo"/>
                <a:sym typeface="Federo"/>
              </a:rPr>
              <a:t>Kemampuan untuk melihat organisasi secara keseluruhan dan mengintegrasikan hubungan antara bahagian-bahagian dalam organisasi.</a:t>
            </a:r>
            <a:endParaRPr sz="3200" b="0" i="0" u="none" strike="noStrike" cap="none">
              <a:solidFill>
                <a:srgbClr val="385623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1169582" y="1543050"/>
            <a:ext cx="7969338" cy="459168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54700" tIns="91425" rIns="91425" bIns="45700" anchor="t" anchorCtr="0">
            <a:noAutofit/>
          </a:bodyPr>
          <a:lstStyle/>
          <a:p>
            <a:pPr marL="688975" marR="0" lvl="0" indent="-571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romanLcPeriod"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Kemahiran Konseptual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117475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C00000"/>
                </a:solidFill>
                <a:latin typeface="Federo"/>
                <a:ea typeface="Federo"/>
                <a:cs typeface="Federo"/>
                <a:sym typeface="Federo"/>
              </a:rPr>
              <a:t>Melibatkan proses perancangan dan pengurusan strategik untuk mencapai matlamat organisasi.</a:t>
            </a:r>
            <a:endParaRPr/>
          </a:p>
          <a:p>
            <a:pPr marL="117475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C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574675" marR="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Melibatkan pembuatan keputusan yang kompleks yang melibatkan kesan jangka panjang.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419" name="Google Shape;419;p53"/>
          <p:cNvSpPr txBox="1"/>
          <p:nvPr/>
        </p:nvSpPr>
        <p:spPr>
          <a:xfrm>
            <a:off x="1711842" y="561658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41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5" name="Google Shape;425;p54"/>
          <p:cNvSpPr txBox="1"/>
          <p:nvPr/>
        </p:nvSpPr>
        <p:spPr>
          <a:xfrm>
            <a:off x="628650" y="1097452"/>
            <a:ext cx="7886700" cy="5258899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ii. 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Kemahiran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Kemanusiaan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28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Kebolehan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bekerja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baik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bersama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orang lain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samada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individu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berkumpulan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28"/>
              <a:buFont typeface="Noto Sans Symbols"/>
              <a:buChar char="❑"/>
            </a:pP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Memimpin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memotivasi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mengurus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konflik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mempengaruhi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perasaan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tingkah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laku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sikap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lain.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6" name="Google Shape;426;p54"/>
          <p:cNvSpPr txBox="1"/>
          <p:nvPr/>
        </p:nvSpPr>
        <p:spPr>
          <a:xfrm>
            <a:off x="1610560" y="285211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42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797442" y="1034179"/>
            <a:ext cx="7717908" cy="5236210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ii. </a:t>
            </a: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Kemahiran Kemanusiaan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FF0000"/>
                </a:solidFill>
                <a:latin typeface="Federo"/>
                <a:ea typeface="Federo"/>
                <a:cs typeface="Federo"/>
                <a:sym typeface="Federo"/>
              </a:rPr>
              <a:t>Kebolehan berkomunikasi dengan pelbagai golongan manusia atau masyarakat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seperti bertemu dengan pelbagai jenis pelanggan, bermesyuarat dengan pegawai atasan, berbincang dan berhubung dengan pekerja.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1493762" y="171242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43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9" name="Google Shape;439;p56"/>
          <p:cNvSpPr txBox="1"/>
          <p:nvPr/>
        </p:nvSpPr>
        <p:spPr>
          <a:xfrm>
            <a:off x="1083192" y="1458492"/>
            <a:ext cx="7432158" cy="4391963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ii. </a:t>
            </a:r>
            <a:r>
              <a:rPr lang="en-US" sz="32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Kemahiran Kemanusiaan</a:t>
            </a: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Contoh: </a:t>
            </a:r>
            <a:r>
              <a:rPr lang="en-US" sz="3200" b="0" i="0" u="none" strike="noStrike" cap="none">
                <a:solidFill>
                  <a:srgbClr val="800080"/>
                </a:solidFill>
                <a:latin typeface="Federo"/>
                <a:ea typeface="Federo"/>
                <a:cs typeface="Federo"/>
                <a:sym typeface="Federo"/>
              </a:rPr>
              <a:t>Pengurus sumber manusia perlu berusaha menangani masalah prestasi pekerja, membekalkan maklumbalas prestasi kerja kepada para pekerja, memotivasi pekerja dan mengawal aktiviti-aktiviti yang membabitkan pengurusan prestasi pekerja.</a:t>
            </a:r>
            <a:endParaRPr sz="3200" b="0" i="0" u="none" strike="noStrike" cap="none">
              <a:solidFill>
                <a:srgbClr val="80008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440" name="Google Shape;440;p56"/>
          <p:cNvSpPr txBox="1"/>
          <p:nvPr/>
        </p:nvSpPr>
        <p:spPr>
          <a:xfrm>
            <a:off x="1487790" y="334040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44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57"/>
          <p:cNvSpPr txBox="1"/>
          <p:nvPr/>
        </p:nvSpPr>
        <p:spPr>
          <a:xfrm>
            <a:off x="691116" y="1158874"/>
            <a:ext cx="8006317" cy="364704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iii. Kemahiran Teknikal</a:t>
            </a: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Pengetahuan berkaitan pekerjaan dan teknik yang diperlukan untuk </a:t>
            </a: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menjalankan tugas dengan cekap.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2540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Kebolehan untuk mengaplikasikan kaedah,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prosedur dan teknik dalam bidang tertentu.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Federo"/>
                <a:ea typeface="Federo"/>
                <a:cs typeface="Federo"/>
                <a:sym typeface="Federo"/>
              </a:rPr>
              <a:t> </a:t>
            </a: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  <a:p>
            <a:pPr marL="457200" marR="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pic>
        <p:nvPicPr>
          <p:cNvPr id="447" name="Google Shape;447;p57" descr="Image result for technical sk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0185" y="5190714"/>
            <a:ext cx="2486651" cy="1603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 descr="Peralatan Perubatan China, Instrumen Pembedahan, Pengeluar Perubatan,  Pembekal, Kilang - JIEY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833" y="5117911"/>
            <a:ext cx="3314700" cy="16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7"/>
          <p:cNvSpPr txBox="1"/>
          <p:nvPr/>
        </p:nvSpPr>
        <p:spPr>
          <a:xfrm>
            <a:off x="1487790" y="334040"/>
            <a:ext cx="6904790" cy="618556"/>
          </a:xfrm>
          <a:prstGeom prst="rect">
            <a:avLst/>
          </a:prstGeom>
          <a:noFill/>
          <a:ln w="9525" cap="flat" cmpd="sng">
            <a:solidFill>
              <a:srgbClr val="FF5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2.1.3 (c)  Kemahiran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45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58"/>
          <p:cNvSpPr txBox="1"/>
          <p:nvPr/>
        </p:nvSpPr>
        <p:spPr>
          <a:xfrm>
            <a:off x="987499" y="574157"/>
            <a:ext cx="7986379" cy="509299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iii. Kemahiran Teknikal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CC3399"/>
                </a:solidFill>
                <a:latin typeface="Arial"/>
                <a:ea typeface="Arial"/>
                <a:cs typeface="Arial"/>
                <a:sym typeface="Arial"/>
              </a:rPr>
              <a:t>Mempunyai kaitan yang rapat dengan aktiviti harian organisasi.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540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560"/>
              <a:buFont typeface="Noto Sans Symbols"/>
              <a:buChar char="❑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Contoh: </a:t>
            </a:r>
            <a:r>
              <a:rPr lang="en-US" sz="32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Ketua Juruteknik Bahagian pengeluaran Syarikat Berjaya memberi tunjuk ajar kepada pekerja bahagian mesin cara untuk membaiki bahagian mesin yang rosak.</a:t>
            </a:r>
            <a:endParaRPr sz="3200" b="0" i="0" u="none" strike="noStrike" cap="non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46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1" name="Google Shape;461;p59"/>
          <p:cNvSpPr txBox="1"/>
          <p:nvPr/>
        </p:nvSpPr>
        <p:spPr>
          <a:xfrm>
            <a:off x="193675" y="-20320"/>
            <a:ext cx="8089265" cy="104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d.  </a:t>
            </a: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Hubungkait Kemahiran Pengurusan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46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     Dengan Peringkat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2" name="Google Shape;462;p59"/>
          <p:cNvGraphicFramePr/>
          <p:nvPr>
            <p:extLst>
              <p:ext uri="{D42A27DB-BD31-4B8C-83A1-F6EECF244321}">
                <p14:modId xmlns:p14="http://schemas.microsoft.com/office/powerpoint/2010/main" val="1205294460"/>
              </p:ext>
            </p:extLst>
          </p:nvPr>
        </p:nvGraphicFramePr>
        <p:xfrm>
          <a:off x="75415" y="968732"/>
          <a:ext cx="8974635" cy="5476221"/>
        </p:xfrm>
        <a:graphic>
          <a:graphicData uri="http://schemas.openxmlformats.org/drawingml/2006/table">
            <a:tbl>
              <a:tblPr firstRow="1" firstCol="1" bandRow="1">
                <a:noFill/>
                <a:tableStyleId>{21364591-173E-4D7C-8170-F2FB0EAB518C}</a:tableStyleId>
              </a:tblPr>
              <a:tblGrid>
                <a:gridCol w="1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2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JENIS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KEMAHIRAN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BAWAHAN (OPERASI)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PERTENGAHAN (JABATAN)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ATASAN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(KETUA ORGANISASI)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KONSEPTUAL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Tidak 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terlibat dengan aktiviti operasi sahaja.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terlibat dalam perancangan dalam jabatan.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Sangat 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perlu terlibat balas terhadap perubahan.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KEMANUSIAAN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komunikasi perlu berlaku antara rakan sejawat dan memberi tunjuk ajar dan penerangan kepada pekerja bawahan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mengurus pekerja dalam jabatan dan berkomunikasi dalam mesyuarat  antara pengurus jabatan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berkomunikasi dengan pihak berkepentingan dan bermesyuarat  dengan pengurus setiap jabatan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TEKNIKAL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Sangat 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perlu memahami proses dan prosedur kerja.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kerana pengurus perlu memberi tunjuk ajar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kepada pekerja jabatan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 dan berbincang dengan penyelia berkaitan operasian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Tidak</a:t>
                      </a:r>
                      <a:r>
                        <a:rPr lang="en-US" sz="1600" b="1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b="1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penting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kerana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pengurus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atasan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tidak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terlibat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dalam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aktiviti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operasi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9" name="Google Shape;469;p60"/>
          <p:cNvCxnSpPr/>
          <p:nvPr/>
        </p:nvCxnSpPr>
        <p:spPr>
          <a:xfrm>
            <a:off x="2018979" y="2341135"/>
            <a:ext cx="14289" cy="40658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0" name="Google Shape;470;p60"/>
          <p:cNvCxnSpPr/>
          <p:nvPr/>
        </p:nvCxnSpPr>
        <p:spPr>
          <a:xfrm>
            <a:off x="2136341" y="6416204"/>
            <a:ext cx="6717474" cy="3524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1" name="Google Shape;471;p60"/>
          <p:cNvCxnSpPr/>
          <p:nvPr/>
        </p:nvCxnSpPr>
        <p:spPr>
          <a:xfrm>
            <a:off x="2098041" y="5072247"/>
            <a:ext cx="6728588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2" name="Google Shape;472;p60"/>
          <p:cNvCxnSpPr/>
          <p:nvPr/>
        </p:nvCxnSpPr>
        <p:spPr>
          <a:xfrm>
            <a:off x="2098041" y="3826029"/>
            <a:ext cx="6773672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3" name="Google Shape;473;p60"/>
          <p:cNvCxnSpPr/>
          <p:nvPr/>
        </p:nvCxnSpPr>
        <p:spPr>
          <a:xfrm rot="10800000" flipH="1">
            <a:off x="2052431" y="2342915"/>
            <a:ext cx="2734945" cy="40578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4" name="Google Shape;474;p60"/>
          <p:cNvCxnSpPr/>
          <p:nvPr/>
        </p:nvCxnSpPr>
        <p:spPr>
          <a:xfrm rot="10800000" flipH="1">
            <a:off x="4267200" y="2361883"/>
            <a:ext cx="2831147" cy="403891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5" name="Google Shape;475;p60"/>
          <p:cNvCxnSpPr/>
          <p:nvPr/>
        </p:nvCxnSpPr>
        <p:spPr>
          <a:xfrm flipH="1">
            <a:off x="8845792" y="2342914"/>
            <a:ext cx="52387" cy="409225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76" name="Google Shape;476;p60"/>
          <p:cNvSpPr txBox="1"/>
          <p:nvPr/>
        </p:nvSpPr>
        <p:spPr>
          <a:xfrm>
            <a:off x="41516" y="5280877"/>
            <a:ext cx="1675878" cy="8334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 Bawahan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0"/>
          <p:cNvSpPr txBox="1"/>
          <p:nvPr/>
        </p:nvSpPr>
        <p:spPr>
          <a:xfrm>
            <a:off x="-85968" y="3931628"/>
            <a:ext cx="2002081" cy="8334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 Pertengahan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0"/>
          <p:cNvSpPr txBox="1"/>
          <p:nvPr/>
        </p:nvSpPr>
        <p:spPr>
          <a:xfrm>
            <a:off x="216809" y="2595562"/>
            <a:ext cx="1502814" cy="8334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Pengurus Atasan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0"/>
          <p:cNvSpPr txBox="1"/>
          <p:nvPr/>
        </p:nvSpPr>
        <p:spPr>
          <a:xfrm>
            <a:off x="2741" y="1513855"/>
            <a:ext cx="2133600" cy="83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Tingkat Pengurusan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0"/>
          <p:cNvSpPr txBox="1"/>
          <p:nvPr/>
        </p:nvSpPr>
        <p:spPr>
          <a:xfrm>
            <a:off x="2393632" y="1545593"/>
            <a:ext cx="2246313" cy="83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Kemahiran Konseptual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0"/>
          <p:cNvSpPr txBox="1"/>
          <p:nvPr/>
        </p:nvSpPr>
        <p:spPr>
          <a:xfrm>
            <a:off x="4964747" y="1562065"/>
            <a:ext cx="2133600" cy="8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Kemahiran Kemanusiaan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0"/>
          <p:cNvSpPr txBox="1"/>
          <p:nvPr/>
        </p:nvSpPr>
        <p:spPr>
          <a:xfrm>
            <a:off x="7177088" y="1545593"/>
            <a:ext cx="1966912" cy="83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Kemahiran Teknikal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1154747" y="380674"/>
            <a:ext cx="7620000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Rajah Hubungkait Antara Kemahiran Pengurusan Dengan Peringkat Pengurusan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60"/>
          <p:cNvCxnSpPr/>
          <p:nvPr/>
        </p:nvCxnSpPr>
        <p:spPr>
          <a:xfrm>
            <a:off x="2045653" y="2319658"/>
            <a:ext cx="6826060" cy="4651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ahoma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48</a:t>
            </a:fld>
            <a:endParaRPr sz="900" b="0" i="0" u="none" strike="noStrike" cap="non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0" name="Google Shape;490;p61"/>
          <p:cNvSpPr txBox="1"/>
          <p:nvPr/>
        </p:nvSpPr>
        <p:spPr>
          <a:xfrm>
            <a:off x="3571875" y="2243137"/>
            <a:ext cx="435568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TAMAT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1310</Words>
  <Application>Microsoft Office PowerPoint</Application>
  <PresentationFormat>全屏显示(4:3)</PresentationFormat>
  <Paragraphs>353</Paragraphs>
  <Slides>48</Slides>
  <Notes>48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49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Suhaida Binti. Abu Bakar</dc:creator>
  <cp:lastModifiedBy>SEE ZHI KAI</cp:lastModifiedBy>
  <cp:revision>7</cp:revision>
  <cp:lastPrinted>2022-08-04T07:43:04Z</cp:lastPrinted>
  <dcterms:modified xsi:type="dcterms:W3CDTF">2022-11-21T22:12:20Z</dcterms:modified>
</cp:coreProperties>
</file>