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59"/>
  </p:notesMasterIdLst>
  <p:handoutMasterIdLst>
    <p:handoutMasterId r:id="rId6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9144000" cy="6858000" type="screen4x3"/>
  <p:notesSz cx="9926638" cy="6797675"/>
  <p:embeddedFontLst>
    <p:embeddedFont>
      <p:font typeface="Calibri" panose="020F0502020204030204" pitchFamily="34" charset="0"/>
      <p:regular r:id="rId61"/>
      <p:bold r:id="rId62"/>
      <p:italic r:id="rId63"/>
      <p:boldItalic r:id="rId64"/>
    </p:embeddedFont>
    <p:embeddedFont>
      <p:font typeface="Century Schoolbook" panose="02040604050505020304" pitchFamily="18" charset="0"/>
      <p:regular r:id="rId65"/>
      <p:bold r:id="rId66"/>
      <p:italic r:id="rId67"/>
      <p:boldItalic r:id="rId68"/>
    </p:embeddedFont>
    <p:embeddedFont>
      <p:font typeface="Federo" panose="02000000000000000000" pitchFamily="2" charset="0"/>
      <p:regular r:id="rId69"/>
    </p:embeddedFont>
    <p:embeddedFont>
      <p:font typeface="Tahoma" panose="020B0604030504040204" pitchFamily="34" charset="0"/>
      <p:regular r:id="rId70"/>
      <p:bold r:id="rId71"/>
    </p:embeddedFont>
    <p:embeddedFont>
      <p:font typeface="Trebuchet MS" panose="020B0603020202020204" pitchFamily="34"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44">
          <p15:clr>
            <a:srgbClr val="A4A3A4"/>
          </p15:clr>
        </p15:guide>
        <p15:guide id="2" pos="2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1FCEC7-0E8C-47CC-956D-54237296FFD6}">
  <a:tblStyle styleId="{C41FCEC7-0E8C-47CC-956D-54237296FFD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BD7EC29C-94BD-41CB-ACF4-98CE6906C2BB}" styleName="Table_1">
    <a:wholeTbl>
      <a:tcTxStyle b="off" i="off">
        <a:font>
          <a:latin typeface="Calibri"/>
          <a:ea typeface="Calibri"/>
          <a:cs typeface="Calibri"/>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EBF1E8"/>
          </a:solidFill>
        </a:fill>
      </a:tcStyle>
    </a:band1H>
    <a:band2H>
      <a:tcTxStyle b="off" i="off"/>
      <a:tcStyle>
        <a:tcBdr/>
      </a:tcStyle>
    </a:band2H>
    <a:band1V>
      <a:tcTxStyle b="off" i="off"/>
      <a:tcStyle>
        <a:tcBdr/>
        <a:fill>
          <a:solidFill>
            <a:srgbClr val="EBF1E8"/>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6"/>
              </a:solidFill>
              <a:prstDash val="solid"/>
              <a:round/>
              <a:headEnd type="none" w="sm" len="sm"/>
              <a:tailEnd type="none" w="sm" len="sm"/>
            </a:ln>
          </a:top>
        </a:tcBdr>
        <a:fill>
          <a:solidFill>
            <a:schemeClr val="l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fill>
          <a:solidFill>
            <a:schemeClr val="accent6"/>
          </a:solidFill>
        </a:fill>
      </a:tcStyle>
    </a:firstRow>
    <a:neCell>
      <a:tcTxStyle b="off" i="off"/>
      <a:tcStyle>
        <a:tcBdr/>
      </a:tcStyle>
    </a:neCell>
    <a:nwCell>
      <a:tcTxStyle b="off" i="off"/>
      <a:tcStyle>
        <a:tcBdr/>
      </a:tcStyle>
    </a:nwCell>
  </a:tblStyle>
  <a:tblStyle styleId="{240A8681-3E34-4FA3-B69B-F9567E24FCE5}" styleName="Table_2">
    <a:wholeTbl>
      <a:tcTxStyle b="off" i="off">
        <a:font>
          <a:latin typeface="Calibri"/>
          <a:ea typeface="Calibri"/>
          <a:cs typeface="Calibri"/>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9B25488-A5DE-4F59-A538-0FB574A2CB1F}" styleName="Table_3">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264" y="108"/>
      </p:cViewPr>
      <p:guideLst>
        <p:guide orient="horz" pos="2144"/>
        <p:guide pos="27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font" Target="fonts/font3.fntdata" /><Relationship Id="rId68" Type="http://schemas.openxmlformats.org/officeDocument/2006/relationships/font" Target="fonts/font8.fntdata" /><Relationship Id="rId76" Type="http://schemas.openxmlformats.org/officeDocument/2006/relationships/presProps" Target="presProps.xml" /><Relationship Id="rId7" Type="http://schemas.openxmlformats.org/officeDocument/2006/relationships/slide" Target="slides/slide6.xml" /><Relationship Id="rId71" Type="http://schemas.openxmlformats.org/officeDocument/2006/relationships/font" Target="fonts/font11.fntdata"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font" Target="fonts/font6.fntdata" /><Relationship Id="rId74" Type="http://schemas.openxmlformats.org/officeDocument/2006/relationships/font" Target="fonts/font14.fntdata" /><Relationship Id="rId79" Type="http://schemas.openxmlformats.org/officeDocument/2006/relationships/tableStyles" Target="tableStyles.xml" /><Relationship Id="rId5" Type="http://schemas.openxmlformats.org/officeDocument/2006/relationships/slide" Target="slides/slide4.xml" /><Relationship Id="rId61" Type="http://schemas.openxmlformats.org/officeDocument/2006/relationships/font" Target="fonts/font1.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handoutMaster" Target="handoutMasters/handoutMaster1.xml" /><Relationship Id="rId65" Type="http://schemas.openxmlformats.org/officeDocument/2006/relationships/font" Target="fonts/font5.fntdata" /><Relationship Id="rId73" Type="http://schemas.openxmlformats.org/officeDocument/2006/relationships/font" Target="fonts/font13.fntdata" /><Relationship Id="rId78"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font" Target="fonts/font4.fntdata" /><Relationship Id="rId69" Type="http://schemas.openxmlformats.org/officeDocument/2006/relationships/font" Target="fonts/font9.fntdata" /><Relationship Id="rId77" Type="http://schemas.openxmlformats.org/officeDocument/2006/relationships/viewProps" Target="viewProp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font" Target="fonts/font12.fntdata"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notesMaster" Target="notesMasters/notesMaster1.xml" /><Relationship Id="rId67" Type="http://schemas.openxmlformats.org/officeDocument/2006/relationships/font" Target="fonts/font7.fntdata"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font" Target="fonts/font2.fntdata" /><Relationship Id="rId70" Type="http://schemas.openxmlformats.org/officeDocument/2006/relationships/font" Target="fonts/font10.fntdata" /><Relationship Id="rId75" Type="http://schemas.openxmlformats.org/officeDocument/2006/relationships/font" Target="fonts/font15.fntdata"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4301543" cy="341064"/>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5622798" y="2"/>
            <a:ext cx="4301543" cy="341064"/>
          </a:xfrm>
          <a:prstGeom prst="rect">
            <a:avLst/>
          </a:prstGeom>
        </p:spPr>
        <p:txBody>
          <a:bodyPr vert="horz" lIns="91440" tIns="45720" rIns="91440" bIns="45720" rtlCol="0"/>
          <a:lstStyle>
            <a:lvl1pPr algn="r">
              <a:defRPr sz="1200"/>
            </a:lvl1pPr>
          </a:lstStyle>
          <a:p>
            <a:fld id="{F0A3F9CB-E3AF-4E0C-97B3-97C8370B209B}" type="datetimeFigureOut">
              <a:rPr lang="en-MY" smtClean="0"/>
              <a:t>22/11/2022</a:t>
            </a:fld>
            <a:endParaRPr lang="en-MY"/>
          </a:p>
        </p:txBody>
      </p:sp>
      <p:sp>
        <p:nvSpPr>
          <p:cNvPr id="4" name="Footer Placeholder 3"/>
          <p:cNvSpPr>
            <a:spLocks noGrp="1"/>
          </p:cNvSpPr>
          <p:nvPr>
            <p:ph type="ftr" sz="quarter" idx="2"/>
          </p:nvPr>
        </p:nvSpPr>
        <p:spPr>
          <a:xfrm>
            <a:off x="0" y="6456613"/>
            <a:ext cx="4301543" cy="341063"/>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5622798" y="6456613"/>
            <a:ext cx="4301543" cy="341063"/>
          </a:xfrm>
          <a:prstGeom prst="rect">
            <a:avLst/>
          </a:prstGeom>
        </p:spPr>
        <p:txBody>
          <a:bodyPr vert="horz" lIns="91440" tIns="45720" rIns="91440" bIns="45720" rtlCol="0" anchor="b"/>
          <a:lstStyle>
            <a:lvl1pPr algn="r">
              <a:defRPr sz="1200"/>
            </a:lvl1pPr>
          </a:lstStyle>
          <a:p>
            <a:fld id="{4B6785AF-5826-441A-9076-411C1C1878E9}" type="slidenum">
              <a:rPr lang="en-MY" smtClean="0"/>
              <a:t>‹#›</a:t>
            </a:fld>
            <a:endParaRPr lang="en-MY"/>
          </a:p>
        </p:txBody>
      </p:sp>
    </p:spTree>
    <p:extLst>
      <p:ext uri="{BB962C8B-B14F-4D97-AF65-F5344CB8AC3E}">
        <p14:creationId xmlns:p14="http://schemas.microsoft.com/office/powerpoint/2010/main" val="1915091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1"/>
            <a:ext cx="9926638" cy="6797675"/>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 name="Google Shape;4;n"/>
          <p:cNvSpPr txBox="1"/>
          <p:nvPr/>
        </p:nvSpPr>
        <p:spPr>
          <a:xfrm>
            <a:off x="0" y="0"/>
            <a:ext cx="4301543" cy="33988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 name="Google Shape;5;n"/>
          <p:cNvSpPr txBox="1"/>
          <p:nvPr/>
        </p:nvSpPr>
        <p:spPr>
          <a:xfrm>
            <a:off x="5622798" y="0"/>
            <a:ext cx="4301543" cy="33988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 name="Google Shape;6;n"/>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 name="Google Shape;7;n"/>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8" name="Google Shape;8;n"/>
          <p:cNvSpPr txBox="1"/>
          <p:nvPr/>
        </p:nvSpPr>
        <p:spPr>
          <a:xfrm>
            <a:off x="0" y="6456612"/>
            <a:ext cx="4301543" cy="33988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n"/>
          <p:cNvSpPr txBox="1">
            <a:spLocks noGrp="1"/>
          </p:cNvSpPr>
          <p:nvPr>
            <p:ph type="sldNum" idx="12"/>
          </p:nvPr>
        </p:nvSpPr>
        <p:spPr>
          <a:xfrm>
            <a:off x="5622799" y="6456612"/>
            <a:ext cx="4299246" cy="338704"/>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rgbClr val="000000"/>
              </a:buClr>
              <a:buSzPts val="1200"/>
              <a:buFont typeface="Arial"/>
              <a:buChar char="•"/>
            </a:pPr>
            <a:fld id="{00000000-1234-1234-1234-123412341234}" type="slidenum">
              <a:rPr lang="en-US">
                <a:latin typeface="Arial"/>
                <a:ea typeface="Arial"/>
                <a:cs typeface="Arial"/>
                <a:sym typeface="Arial"/>
              </a:rPr>
              <a:t>1</a:t>
            </a:fld>
            <a:endParaRPr>
              <a:latin typeface="Arial"/>
              <a:ea typeface="Arial"/>
              <a:cs typeface="Arial"/>
              <a:sym typeface="Arial"/>
            </a:endParaRPr>
          </a:p>
        </p:txBody>
      </p:sp>
      <p:sp>
        <p:nvSpPr>
          <p:cNvPr id="90" name="Google Shape;90;p1:notes"/>
          <p:cNvSpPr txBox="1"/>
          <p:nvPr/>
        </p:nvSpPr>
        <p:spPr>
          <a:xfrm>
            <a:off x="5622798" y="6456612"/>
            <a:ext cx="4301543" cy="339884"/>
          </a:xfrm>
          <a:prstGeom prst="rect">
            <a:avLst/>
          </a:prstGeom>
          <a:noFill/>
          <a:ln>
            <a:noFill/>
          </a:ln>
        </p:spPr>
        <p:txBody>
          <a:bodyPr spcFirstLastPara="1" wrap="square" lIns="90000" tIns="46800" rIns="90000" bIns="46800" anchor="b" anchorCtr="0">
            <a:noAutofit/>
          </a:bodyPr>
          <a:lstStyle/>
          <a:p>
            <a:pPr marL="0" marR="0" lvl="0" indent="-114300" algn="r" rtl="0">
              <a:lnSpc>
                <a:spcPct val="100000"/>
              </a:lnSpc>
              <a:spcBef>
                <a:spcPts val="0"/>
              </a:spcBef>
              <a:spcAft>
                <a:spcPts val="0"/>
              </a:spcAft>
              <a:buClr>
                <a:schemeClr val="dk1"/>
              </a:buClr>
              <a:buSzPts val="1800"/>
              <a:buFont typeface="Arial"/>
              <a:buChar char="•"/>
            </a:pPr>
            <a:fld id="{00000000-1234-1234-1234-123412341234}" type="slidenum">
              <a:rPr lang="en-US" sz="1800" b="0" i="0" u="none" strike="noStrike" cap="none">
                <a:solidFill>
                  <a:schemeClr val="dk1"/>
                </a:solidFill>
                <a:latin typeface="Arial"/>
                <a:ea typeface="Arial"/>
                <a:cs typeface="Arial"/>
                <a:sym typeface="Arial"/>
              </a:rPr>
              <a:t>1</a:t>
            </a:fld>
            <a:endParaRPr sz="1800" b="0" i="0" u="none" strike="noStrike" cap="none">
              <a:solidFill>
                <a:schemeClr val="dk1"/>
              </a:solidFill>
              <a:latin typeface="Arial"/>
              <a:ea typeface="Arial"/>
              <a:cs typeface="Arial"/>
              <a:sym typeface="Arial"/>
            </a:endParaRPr>
          </a:p>
        </p:txBody>
      </p:sp>
      <p:sp>
        <p:nvSpPr>
          <p:cNvPr id="91" name="Google Shape;91;p1:notes"/>
          <p:cNvSpPr>
            <a:spLocks noGrp="1" noRot="1" noChangeAspect="1"/>
          </p:cNvSpPr>
          <p:nvPr>
            <p:ph type="sldImg" idx="2"/>
          </p:nvPr>
        </p:nvSpPr>
        <p:spPr>
          <a:xfrm>
            <a:off x="3263900" y="509588"/>
            <a:ext cx="3398838" cy="25495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92" name="Google Shape;92;p1:notes"/>
          <p:cNvSpPr txBox="1">
            <a:spLocks noGrp="1"/>
          </p:cNvSpPr>
          <p:nvPr>
            <p:ph type="body" idx="1"/>
          </p:nvPr>
        </p:nvSpPr>
        <p:spPr>
          <a:xfrm>
            <a:off x="992664" y="322889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98" name="Google Shape;98;p2: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05" name="Google Shape;105;p3: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13" name="Google Shape;113;p4: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20" name="Google Shape;120;p5: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26" name="Google Shape;126;p6: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6</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34" name="Google Shape;134;p7: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7</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40" name="Google Shape;140;p8: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8</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47" name="Google Shape;147;p9: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9</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53" name="Google Shape;153;p10: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10</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1: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11</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66" name="Google Shape;166;p12: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12</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72" name="Google Shape;172;p13: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13</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1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14</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1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15</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192" name="Google Shape;192;p16: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16</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1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17</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8: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04" name="Google Shape;204;p18: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18</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9: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19</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0: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16" name="Google Shape;216;p20: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20</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1:notes"/>
          <p:cNvSpPr txBox="1">
            <a:spLocks noGrp="1"/>
          </p:cNvSpPr>
          <p:nvPr>
            <p:ph type="body" idx="1"/>
          </p:nvPr>
        </p:nvSpPr>
        <p:spPr>
          <a:xfrm>
            <a:off x="1436840" y="2354967"/>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22" name="Google Shape;222;p21:notes"/>
          <p:cNvSpPr>
            <a:spLocks noGrp="1" noRot="1" noChangeAspect="1"/>
          </p:cNvSpPr>
          <p:nvPr>
            <p:ph type="sldImg" idx="2"/>
          </p:nvPr>
        </p:nvSpPr>
        <p:spPr>
          <a:xfrm>
            <a:off x="5943600" y="371475"/>
            <a:ext cx="2478088"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21</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rgbClr val="000000"/>
              </a:buClr>
              <a:buSzPts val="1200"/>
              <a:buFont typeface="Arial"/>
              <a:buChar char="•"/>
            </a:pPr>
            <a:fld id="{00000000-1234-1234-1234-123412341234}" type="slidenum">
              <a:rPr lang="en-US">
                <a:latin typeface="Arial"/>
                <a:ea typeface="Arial"/>
                <a:cs typeface="Arial"/>
                <a:sym typeface="Arial"/>
              </a:rPr>
              <a:t>22</a:t>
            </a:fld>
            <a:endParaRPr>
              <a:latin typeface="Arial"/>
              <a:ea typeface="Arial"/>
              <a:cs typeface="Arial"/>
              <a:sym typeface="Arial"/>
            </a:endParaRPr>
          </a:p>
        </p:txBody>
      </p:sp>
      <p:sp>
        <p:nvSpPr>
          <p:cNvPr id="257" name="Google Shape;257;p22:notes"/>
          <p:cNvSpPr txBox="1"/>
          <p:nvPr/>
        </p:nvSpPr>
        <p:spPr>
          <a:xfrm>
            <a:off x="5622798" y="6456612"/>
            <a:ext cx="4301543" cy="339884"/>
          </a:xfrm>
          <a:prstGeom prst="rect">
            <a:avLst/>
          </a:prstGeom>
          <a:noFill/>
          <a:ln>
            <a:noFill/>
          </a:ln>
        </p:spPr>
        <p:txBody>
          <a:bodyPr spcFirstLastPara="1" wrap="square" lIns="90000" tIns="46800" rIns="90000" bIns="46800" anchor="b" anchorCtr="0">
            <a:noAutofit/>
          </a:bodyPr>
          <a:lstStyle/>
          <a:p>
            <a:pPr marL="0" marR="0" lvl="0" indent="-114300" algn="r" rtl="0">
              <a:lnSpc>
                <a:spcPct val="100000"/>
              </a:lnSpc>
              <a:spcBef>
                <a:spcPts val="0"/>
              </a:spcBef>
              <a:spcAft>
                <a:spcPts val="0"/>
              </a:spcAft>
              <a:buClr>
                <a:schemeClr val="dk1"/>
              </a:buClr>
              <a:buSzPts val="1800"/>
              <a:buFont typeface="Arial"/>
              <a:buChar char="•"/>
            </a:pPr>
            <a:fld id="{00000000-1234-1234-1234-123412341234}" type="slidenum">
              <a:rPr lang="en-US" sz="1800" b="0" i="0" u="none" strike="noStrike" cap="none">
                <a:solidFill>
                  <a:schemeClr val="dk1"/>
                </a:solidFill>
                <a:latin typeface="Arial"/>
                <a:ea typeface="Arial"/>
                <a:cs typeface="Arial"/>
                <a:sym typeface="Arial"/>
              </a:rPr>
              <a:t>22</a:t>
            </a:fld>
            <a:endParaRPr sz="1800" b="0" i="0" u="none" strike="noStrike" cap="none">
              <a:solidFill>
                <a:schemeClr val="dk1"/>
              </a:solidFill>
              <a:latin typeface="Arial"/>
              <a:ea typeface="Arial"/>
              <a:cs typeface="Arial"/>
              <a:sym typeface="Arial"/>
            </a:endParaRPr>
          </a:p>
        </p:txBody>
      </p:sp>
      <p:sp>
        <p:nvSpPr>
          <p:cNvPr id="258" name="Google Shape;258;p22:notes"/>
          <p:cNvSpPr>
            <a:spLocks noGrp="1" noRot="1" noChangeAspect="1"/>
          </p:cNvSpPr>
          <p:nvPr>
            <p:ph type="sldImg" idx="2"/>
          </p:nvPr>
        </p:nvSpPr>
        <p:spPr>
          <a:xfrm>
            <a:off x="3263900" y="509588"/>
            <a:ext cx="3398838" cy="25495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59" name="Google Shape;259;p22:notes"/>
          <p:cNvSpPr txBox="1">
            <a:spLocks noGrp="1"/>
          </p:cNvSpPr>
          <p:nvPr>
            <p:ph type="body" idx="1"/>
          </p:nvPr>
        </p:nvSpPr>
        <p:spPr>
          <a:xfrm>
            <a:off x="992664" y="322889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90" name="Google Shape;290;p23: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23</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97" name="Google Shape;297;p24: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24</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04" name="Google Shape;304;p25: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25</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11" name="Google Shape;311;p26: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26</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18" name="Google Shape;318;p27: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27</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8: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26" name="Google Shape;326;p28: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28</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32" name="Google Shape;332;p29: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29</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0: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38" name="Google Shape;338;p30: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30</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1: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44" name="Google Shape;344;p31: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31</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50" name="Google Shape;350;p32: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32</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56" name="Google Shape;356;p33: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33</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62" name="Google Shape;362;p34: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34</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68" name="Google Shape;368;p35: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35</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74" name="Google Shape;374;p36: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36</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80" name="Google Shape;380;p37: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37</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8:notes"/>
          <p:cNvSpPr txBox="1">
            <a:spLocks noGrp="1"/>
          </p:cNvSpPr>
          <p:nvPr>
            <p:ph type="ftr" idx="11"/>
          </p:nvPr>
        </p:nvSpPr>
        <p:spPr>
          <a:xfrm>
            <a:off x="0" y="6456612"/>
            <a:ext cx="4301543" cy="339884"/>
          </a:xfrm>
          <a:prstGeom prst="rect">
            <a:avLst/>
          </a:prstGeom>
          <a:noFill/>
          <a:ln>
            <a:noFill/>
          </a:ln>
        </p:spPr>
        <p:txBody>
          <a:bodyPr spcFirstLastPara="1" wrap="square" lIns="91425" tIns="45700" rIns="91425" bIns="45700" anchor="t" anchorCtr="0">
            <a:noAutofit/>
          </a:bodyPr>
          <a:lstStyle/>
          <a:p>
            <a:pPr marL="0" marR="0" lvl="0"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Kolej Matrikulasi Negeri Sembilan</a:t>
            </a:r>
            <a:endParaRPr sz="1400" b="0" i="0" u="none" strike="noStrike" cap="none">
              <a:solidFill>
                <a:srgbClr val="000000"/>
              </a:solidFill>
              <a:latin typeface="Arial"/>
              <a:ea typeface="Arial"/>
              <a:cs typeface="Arial"/>
              <a:sym typeface="Arial"/>
            </a:endParaRPr>
          </a:p>
        </p:txBody>
      </p:sp>
      <p:sp>
        <p:nvSpPr>
          <p:cNvPr id="395" name="Google Shape;395;p38: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Noto Sans Symbols"/>
              <a:buChar char="●"/>
            </a:pPr>
            <a:fld id="{00000000-1234-1234-1234-123412341234}" type="slidenum">
              <a:rPr lang="en-US">
                <a:solidFill>
                  <a:schemeClr val="dk1"/>
                </a:solidFill>
              </a:rPr>
              <a:t>38</a:t>
            </a:fld>
            <a:endParaRPr>
              <a:solidFill>
                <a:schemeClr val="dk1"/>
              </a:solidFill>
            </a:endParaRPr>
          </a:p>
        </p:txBody>
      </p:sp>
      <p:sp>
        <p:nvSpPr>
          <p:cNvPr id="396" name="Google Shape;396;p38: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97" name="Google Shape;397;p38:notes"/>
          <p:cNvSpPr txBox="1">
            <a:spLocks noGrp="1"/>
          </p:cNvSpPr>
          <p:nvPr>
            <p:ph type="body" idx="1"/>
          </p:nvPr>
        </p:nvSpPr>
        <p:spPr>
          <a:xfrm>
            <a:off x="992664" y="323007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405" name="Google Shape;405;p39: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39</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0:notes"/>
          <p:cNvSpPr txBox="1">
            <a:spLocks noGrp="1"/>
          </p:cNvSpPr>
          <p:nvPr>
            <p:ph type="ftr" idx="11"/>
          </p:nvPr>
        </p:nvSpPr>
        <p:spPr>
          <a:xfrm>
            <a:off x="0" y="6456612"/>
            <a:ext cx="4301543" cy="339884"/>
          </a:xfrm>
          <a:prstGeom prst="rect">
            <a:avLst/>
          </a:prstGeom>
          <a:noFill/>
          <a:ln>
            <a:noFill/>
          </a:ln>
        </p:spPr>
        <p:txBody>
          <a:bodyPr spcFirstLastPara="1" wrap="square" lIns="91425" tIns="45700" rIns="91425" bIns="45700" anchor="t" anchorCtr="0">
            <a:noAutofit/>
          </a:bodyPr>
          <a:lstStyle/>
          <a:p>
            <a:pPr marL="0" marR="0" lvl="0"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Kolej Matrikulasi Negeri Sembilan</a:t>
            </a:r>
            <a:endParaRPr sz="1400" b="0" i="0" u="none" strike="noStrike" cap="none">
              <a:solidFill>
                <a:srgbClr val="000000"/>
              </a:solidFill>
              <a:latin typeface="Arial"/>
              <a:ea typeface="Arial"/>
              <a:cs typeface="Arial"/>
              <a:sym typeface="Arial"/>
            </a:endParaRPr>
          </a:p>
        </p:txBody>
      </p:sp>
      <p:sp>
        <p:nvSpPr>
          <p:cNvPr id="416" name="Google Shape;416;p40: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Noto Sans Symbols"/>
              <a:buChar char="●"/>
            </a:pPr>
            <a:fld id="{00000000-1234-1234-1234-123412341234}" type="slidenum">
              <a:rPr lang="en-US">
                <a:solidFill>
                  <a:schemeClr val="dk1"/>
                </a:solidFill>
              </a:rPr>
              <a:t>40</a:t>
            </a:fld>
            <a:endParaRPr>
              <a:solidFill>
                <a:schemeClr val="dk1"/>
              </a:solidFill>
            </a:endParaRPr>
          </a:p>
        </p:txBody>
      </p:sp>
      <p:sp>
        <p:nvSpPr>
          <p:cNvPr id="417" name="Google Shape;417;p40: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18" name="Google Shape;418;p40:notes"/>
          <p:cNvSpPr txBox="1">
            <a:spLocks noGrp="1"/>
          </p:cNvSpPr>
          <p:nvPr>
            <p:ph type="body" idx="1"/>
          </p:nvPr>
        </p:nvSpPr>
        <p:spPr>
          <a:xfrm>
            <a:off x="992664" y="323007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1:notes"/>
          <p:cNvSpPr txBox="1">
            <a:spLocks noGrp="1"/>
          </p:cNvSpPr>
          <p:nvPr>
            <p:ph type="ftr" idx="11"/>
          </p:nvPr>
        </p:nvSpPr>
        <p:spPr>
          <a:xfrm>
            <a:off x="0" y="6456612"/>
            <a:ext cx="4301543" cy="339884"/>
          </a:xfrm>
          <a:prstGeom prst="rect">
            <a:avLst/>
          </a:prstGeom>
          <a:noFill/>
          <a:ln>
            <a:noFill/>
          </a:ln>
        </p:spPr>
        <p:txBody>
          <a:bodyPr spcFirstLastPara="1" wrap="square" lIns="91425" tIns="45700" rIns="91425" bIns="45700" anchor="t" anchorCtr="0">
            <a:noAutofit/>
          </a:bodyPr>
          <a:lstStyle/>
          <a:p>
            <a:pPr marL="0" marR="0" lvl="0"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Kolej Matrikulasi Negeri Sembilan</a:t>
            </a:r>
            <a:endParaRPr sz="1400" b="0" i="0" u="none" strike="noStrike" cap="none">
              <a:solidFill>
                <a:srgbClr val="000000"/>
              </a:solidFill>
              <a:latin typeface="Arial"/>
              <a:ea typeface="Arial"/>
              <a:cs typeface="Arial"/>
              <a:sym typeface="Arial"/>
            </a:endParaRPr>
          </a:p>
        </p:txBody>
      </p:sp>
      <p:sp>
        <p:nvSpPr>
          <p:cNvPr id="424" name="Google Shape;424;p41: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Noto Sans Symbols"/>
              <a:buChar char="●"/>
            </a:pPr>
            <a:fld id="{00000000-1234-1234-1234-123412341234}" type="slidenum">
              <a:rPr lang="en-US">
                <a:solidFill>
                  <a:schemeClr val="dk1"/>
                </a:solidFill>
              </a:rPr>
              <a:t>41</a:t>
            </a:fld>
            <a:endParaRPr>
              <a:solidFill>
                <a:schemeClr val="dk1"/>
              </a:solidFill>
            </a:endParaRPr>
          </a:p>
        </p:txBody>
      </p:sp>
      <p:sp>
        <p:nvSpPr>
          <p:cNvPr id="425" name="Google Shape;425;p41: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26" name="Google Shape;426;p41:notes"/>
          <p:cNvSpPr txBox="1">
            <a:spLocks noGrp="1"/>
          </p:cNvSpPr>
          <p:nvPr>
            <p:ph type="body" idx="1"/>
          </p:nvPr>
        </p:nvSpPr>
        <p:spPr>
          <a:xfrm>
            <a:off x="992664" y="323007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2:notes"/>
          <p:cNvSpPr txBox="1">
            <a:spLocks noGrp="1"/>
          </p:cNvSpPr>
          <p:nvPr>
            <p:ph type="ftr" idx="11"/>
          </p:nvPr>
        </p:nvSpPr>
        <p:spPr>
          <a:xfrm>
            <a:off x="0" y="6456612"/>
            <a:ext cx="4301543" cy="339884"/>
          </a:xfrm>
          <a:prstGeom prst="rect">
            <a:avLst/>
          </a:prstGeom>
          <a:noFill/>
          <a:ln>
            <a:noFill/>
          </a:ln>
        </p:spPr>
        <p:txBody>
          <a:bodyPr spcFirstLastPara="1" wrap="square" lIns="91425" tIns="45700" rIns="91425" bIns="45700" anchor="t" anchorCtr="0">
            <a:noAutofit/>
          </a:bodyPr>
          <a:lstStyle/>
          <a:p>
            <a:pPr marL="0" marR="0" lvl="0"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Kolej Matrikulasi Negeri Sembilan</a:t>
            </a:r>
            <a:endParaRPr sz="1400" b="0" i="0" u="none" strike="noStrike" cap="none">
              <a:solidFill>
                <a:srgbClr val="000000"/>
              </a:solidFill>
              <a:latin typeface="Arial"/>
              <a:ea typeface="Arial"/>
              <a:cs typeface="Arial"/>
              <a:sym typeface="Arial"/>
            </a:endParaRPr>
          </a:p>
        </p:txBody>
      </p:sp>
      <p:sp>
        <p:nvSpPr>
          <p:cNvPr id="432" name="Google Shape;432;p42: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Noto Sans Symbols"/>
              <a:buChar char="●"/>
            </a:pPr>
            <a:fld id="{00000000-1234-1234-1234-123412341234}" type="slidenum">
              <a:rPr lang="en-US">
                <a:solidFill>
                  <a:schemeClr val="dk1"/>
                </a:solidFill>
              </a:rPr>
              <a:t>42</a:t>
            </a:fld>
            <a:endParaRPr>
              <a:solidFill>
                <a:schemeClr val="dk1"/>
              </a:solidFill>
            </a:endParaRPr>
          </a:p>
        </p:txBody>
      </p:sp>
      <p:sp>
        <p:nvSpPr>
          <p:cNvPr id="433" name="Google Shape;433;p42: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34" name="Google Shape;434;p42:notes"/>
          <p:cNvSpPr txBox="1">
            <a:spLocks noGrp="1"/>
          </p:cNvSpPr>
          <p:nvPr>
            <p:ph type="body" idx="1"/>
          </p:nvPr>
        </p:nvSpPr>
        <p:spPr>
          <a:xfrm>
            <a:off x="992664" y="323007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3:notes"/>
          <p:cNvSpPr txBox="1">
            <a:spLocks noGrp="1"/>
          </p:cNvSpPr>
          <p:nvPr>
            <p:ph type="ftr" idx="11"/>
          </p:nvPr>
        </p:nvSpPr>
        <p:spPr>
          <a:xfrm>
            <a:off x="0" y="6456612"/>
            <a:ext cx="4301543" cy="339884"/>
          </a:xfrm>
          <a:prstGeom prst="rect">
            <a:avLst/>
          </a:prstGeom>
          <a:noFill/>
          <a:ln>
            <a:noFill/>
          </a:ln>
        </p:spPr>
        <p:txBody>
          <a:bodyPr spcFirstLastPara="1" wrap="square" lIns="91425" tIns="45700" rIns="91425" bIns="45700" anchor="t" anchorCtr="0">
            <a:noAutofit/>
          </a:bodyPr>
          <a:lstStyle/>
          <a:p>
            <a:pPr marL="0" marR="0" lvl="0"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Kolej Matrikulasi Negeri Sembilan</a:t>
            </a:r>
            <a:endParaRPr sz="1400" b="0" i="0" u="none" strike="noStrike" cap="none">
              <a:solidFill>
                <a:srgbClr val="000000"/>
              </a:solidFill>
              <a:latin typeface="Arial"/>
              <a:ea typeface="Arial"/>
              <a:cs typeface="Arial"/>
              <a:sym typeface="Arial"/>
            </a:endParaRPr>
          </a:p>
        </p:txBody>
      </p:sp>
      <p:sp>
        <p:nvSpPr>
          <p:cNvPr id="458" name="Google Shape;458;p43: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Noto Sans Symbols"/>
              <a:buChar char="●"/>
            </a:pPr>
            <a:fld id="{00000000-1234-1234-1234-123412341234}" type="slidenum">
              <a:rPr lang="en-US">
                <a:solidFill>
                  <a:schemeClr val="dk1"/>
                </a:solidFill>
              </a:rPr>
              <a:t>43</a:t>
            </a:fld>
            <a:endParaRPr>
              <a:solidFill>
                <a:schemeClr val="dk1"/>
              </a:solidFill>
            </a:endParaRPr>
          </a:p>
        </p:txBody>
      </p:sp>
      <p:sp>
        <p:nvSpPr>
          <p:cNvPr id="459" name="Google Shape;459;p43: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60" name="Google Shape;460;p43:notes"/>
          <p:cNvSpPr txBox="1">
            <a:spLocks noGrp="1"/>
          </p:cNvSpPr>
          <p:nvPr>
            <p:ph type="body" idx="1"/>
          </p:nvPr>
        </p:nvSpPr>
        <p:spPr>
          <a:xfrm>
            <a:off x="992664" y="323007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466" name="Google Shape;466;p44: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44</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473" name="Google Shape;473;p45: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45</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6:notes"/>
          <p:cNvSpPr txBox="1">
            <a:spLocks noGrp="1"/>
          </p:cNvSpPr>
          <p:nvPr>
            <p:ph type="ftr" idx="11"/>
          </p:nvPr>
        </p:nvSpPr>
        <p:spPr>
          <a:xfrm>
            <a:off x="0" y="6456612"/>
            <a:ext cx="4301543" cy="339884"/>
          </a:xfrm>
          <a:prstGeom prst="rect">
            <a:avLst/>
          </a:prstGeom>
          <a:noFill/>
          <a:ln>
            <a:noFill/>
          </a:ln>
        </p:spPr>
        <p:txBody>
          <a:bodyPr spcFirstLastPara="1" wrap="square" lIns="91425" tIns="45700" rIns="91425" bIns="45700" anchor="t" anchorCtr="0">
            <a:noAutofit/>
          </a:bodyPr>
          <a:lstStyle/>
          <a:p>
            <a:pPr marL="0" marR="0" lvl="0"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Kolej Matrikulasi Negeri Sembilan</a:t>
            </a:r>
            <a:endParaRPr sz="1400" b="0" i="0" u="none" strike="noStrike" cap="none">
              <a:solidFill>
                <a:srgbClr val="000000"/>
              </a:solidFill>
              <a:latin typeface="Arial"/>
              <a:ea typeface="Arial"/>
              <a:cs typeface="Arial"/>
              <a:sym typeface="Arial"/>
            </a:endParaRPr>
          </a:p>
        </p:txBody>
      </p:sp>
      <p:sp>
        <p:nvSpPr>
          <p:cNvPr id="487" name="Google Shape;487;p46:notes"/>
          <p:cNvSpPr txBox="1">
            <a:spLocks noGrp="1"/>
          </p:cNvSpPr>
          <p:nvPr>
            <p:ph type="sldNum" idx="12"/>
          </p:nvPr>
        </p:nvSpPr>
        <p:spPr>
          <a:xfrm>
            <a:off x="5622799" y="6456613"/>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Noto Sans Symbols"/>
              <a:buChar char="●"/>
            </a:pPr>
            <a:fld id="{00000000-1234-1234-1234-123412341234}" type="slidenum">
              <a:rPr lang="en-US">
                <a:solidFill>
                  <a:schemeClr val="dk1"/>
                </a:solidFill>
              </a:rPr>
              <a:t>46</a:t>
            </a:fld>
            <a:endParaRPr>
              <a:solidFill>
                <a:schemeClr val="dk1"/>
              </a:solidFill>
            </a:endParaRPr>
          </a:p>
        </p:txBody>
      </p:sp>
      <p:sp>
        <p:nvSpPr>
          <p:cNvPr id="488" name="Google Shape;488;p46: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89" name="Google Shape;489;p46:notes"/>
          <p:cNvSpPr txBox="1">
            <a:spLocks noGrp="1"/>
          </p:cNvSpPr>
          <p:nvPr>
            <p:ph type="body" idx="1"/>
          </p:nvPr>
        </p:nvSpPr>
        <p:spPr>
          <a:xfrm>
            <a:off x="992664" y="3230076"/>
            <a:ext cx="7941310" cy="305895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7:notes"/>
          <p:cNvSpPr txBox="1">
            <a:spLocks noGrp="1"/>
          </p:cNvSpPr>
          <p:nvPr>
            <p:ph type="body" idx="1"/>
          </p:nvPr>
        </p:nvSpPr>
        <p:spPr>
          <a:xfrm>
            <a:off x="1436840" y="2354967"/>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495" name="Google Shape;495;p47:notes"/>
          <p:cNvSpPr>
            <a:spLocks noGrp="1" noRot="1" noChangeAspect="1"/>
          </p:cNvSpPr>
          <p:nvPr>
            <p:ph type="sldImg" idx="2"/>
          </p:nvPr>
        </p:nvSpPr>
        <p:spPr>
          <a:xfrm>
            <a:off x="5943600" y="371475"/>
            <a:ext cx="2478088"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47</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48:notes"/>
          <p:cNvSpPr txBox="1">
            <a:spLocks noGrp="1"/>
          </p:cNvSpPr>
          <p:nvPr>
            <p:ph type="body" idx="1"/>
          </p:nvPr>
        </p:nvSpPr>
        <p:spPr>
          <a:xfrm>
            <a:off x="1436840" y="2354967"/>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01" name="Google Shape;501;p48:notes"/>
          <p:cNvSpPr>
            <a:spLocks noGrp="1" noRot="1" noChangeAspect="1"/>
          </p:cNvSpPr>
          <p:nvPr>
            <p:ph type="sldImg" idx="2"/>
          </p:nvPr>
        </p:nvSpPr>
        <p:spPr>
          <a:xfrm>
            <a:off x="5943600" y="371475"/>
            <a:ext cx="2478088"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48</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4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525" name="Google Shape;525;p49: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49</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0: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541" name="Google Shape;541;p50: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50</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1:notes"/>
          <p:cNvSpPr txBox="1">
            <a:spLocks noGrp="1"/>
          </p:cNvSpPr>
          <p:nvPr>
            <p:ph type="body" idx="1"/>
          </p:nvPr>
        </p:nvSpPr>
        <p:spPr>
          <a:xfrm>
            <a:off x="1436840" y="2354967"/>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48" name="Google Shape;548;p51:notes"/>
          <p:cNvSpPr>
            <a:spLocks noGrp="1" noRot="1" noChangeAspect="1"/>
          </p:cNvSpPr>
          <p:nvPr>
            <p:ph type="sldImg" idx="2"/>
          </p:nvPr>
        </p:nvSpPr>
        <p:spPr>
          <a:xfrm>
            <a:off x="5943600" y="371475"/>
            <a:ext cx="2478088"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51</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5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553" name="Google Shape;553;p52: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52</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53:notes"/>
          <p:cNvSpPr txBox="1">
            <a:spLocks noGrp="1"/>
          </p:cNvSpPr>
          <p:nvPr>
            <p:ph type="body" idx="1"/>
          </p:nvPr>
        </p:nvSpPr>
        <p:spPr>
          <a:xfrm>
            <a:off x="1436840" y="2354967"/>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59" name="Google Shape;559;p53:notes"/>
          <p:cNvSpPr>
            <a:spLocks noGrp="1" noRot="1" noChangeAspect="1"/>
          </p:cNvSpPr>
          <p:nvPr>
            <p:ph type="sldImg" idx="2"/>
          </p:nvPr>
        </p:nvSpPr>
        <p:spPr>
          <a:xfrm>
            <a:off x="5943600" y="371475"/>
            <a:ext cx="2478088"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53</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5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564" name="Google Shape;564;p54: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54</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5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570" name="Google Shape;570;p55: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55</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56:notes"/>
          <p:cNvSpPr txBox="1">
            <a:spLocks noGrp="1"/>
          </p:cNvSpPr>
          <p:nvPr>
            <p:ph type="body" idx="1"/>
          </p:nvPr>
        </p:nvSpPr>
        <p:spPr>
          <a:xfrm>
            <a:off x="992665" y="3228896"/>
            <a:ext cx="7939013" cy="3057774"/>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577" name="Google Shape;577;p56: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56</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584" name="Google Shape;584;p57:notes"/>
          <p:cNvSpPr>
            <a:spLocks noGrp="1" noRot="1" noChangeAspect="1"/>
          </p:cNvSpPr>
          <p:nvPr>
            <p:ph type="sldImg" idx="2"/>
          </p:nvPr>
        </p:nvSpPr>
        <p:spPr>
          <a:xfrm>
            <a:off x="3263900" y="509588"/>
            <a:ext cx="3397250"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57</a:t>
            </a:fld>
            <a:endParaRPr lang="en-US" sz="12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 name="Google Shape;19;p2"/>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 name="Google Shape;20;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5"/>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36" name="Google Shape;36;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a:spLocks noGrp="1"/>
          </p:cNvSpPr>
          <p:nvPr>
            <p:ph type="pic" idx="2"/>
          </p:nvPr>
        </p:nvSpPr>
        <p:spPr>
          <a:xfrm>
            <a:off x="3887391" y="987426"/>
            <a:ext cx="4629150" cy="4873625"/>
          </a:xfrm>
          <a:prstGeom prst="rect">
            <a:avLst/>
          </a:prstGeom>
          <a:noFill/>
          <a:ln>
            <a:noFill/>
          </a:ln>
        </p:spPr>
      </p:sp>
      <p:sp>
        <p:nvSpPr>
          <p:cNvPr id="62" name="Google Shape;62;p9"/>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3" name="Google Shape;63;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1.jp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10"/>
        <p:cNvGrpSpPr/>
        <p:nvPr/>
      </p:nvGrpSpPr>
      <p:grpSpPr>
        <a:xfrm>
          <a:off x="0" y="0"/>
          <a:ext cx="0" cy="0"/>
          <a:chOff x="0" y="0"/>
          <a:chExt cx="0" cy="0"/>
        </a:xfrm>
      </p:grpSpPr>
      <p:sp>
        <p:nvSpPr>
          <p:cNvPr id="11" name="Google Shape;11;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1.xml" /><Relationship Id="rId1" Type="http://schemas.openxmlformats.org/officeDocument/2006/relationships/slideLayout" Target="../slideLayouts/slideLayout2.xml" /><Relationship Id="rId6" Type="http://schemas.openxmlformats.org/officeDocument/2006/relationships/image" Target="../media/image7.png" /><Relationship Id="rId5" Type="http://schemas.openxmlformats.org/officeDocument/2006/relationships/image" Target="../media/image6.png" /><Relationship Id="rId4" Type="http://schemas.openxmlformats.org/officeDocument/2006/relationships/image" Target="../media/image5.png"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3.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39.xml"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 /><Relationship Id="rId1" Type="http://schemas.openxmlformats.org/officeDocument/2006/relationships/slideLayout" Target="../slideLayouts/slideLayout3.xml" /></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3.xml" /></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3" Type="http://schemas.openxmlformats.org/officeDocument/2006/relationships/image" Target="../media/image9.jpg" /><Relationship Id="rId2" Type="http://schemas.openxmlformats.org/officeDocument/2006/relationships/notesSlide" Target="../notesSlides/notesSlide51.xml"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3" Type="http://schemas.openxmlformats.org/officeDocument/2006/relationships/image" Target="../media/image10.jpg" /><Relationship Id="rId2" Type="http://schemas.openxmlformats.org/officeDocument/2006/relationships/notesSlide" Target="../notesSlides/notesSlide53.xml"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55.xml"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3" Type="http://schemas.openxmlformats.org/officeDocument/2006/relationships/image" Target="../media/image12.jpg" /><Relationship Id="rId2" Type="http://schemas.openxmlformats.org/officeDocument/2006/relationships/notesSlide" Target="../notesSlides/notesSlide57.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3"/>
        <p:cNvGrpSpPr/>
        <p:nvPr/>
      </p:nvGrpSpPr>
      <p:grpSpPr>
        <a:xfrm>
          <a:off x="0" y="0"/>
          <a:ext cx="0" cy="0"/>
          <a:chOff x="0" y="0"/>
          <a:chExt cx="0" cy="0"/>
        </a:xfrm>
      </p:grpSpPr>
      <p:sp>
        <p:nvSpPr>
          <p:cNvPr id="95" name="Google Shape;95;p14"/>
          <p:cNvSpPr/>
          <p:nvPr/>
        </p:nvSpPr>
        <p:spPr>
          <a:xfrm>
            <a:off x="628650" y="4414366"/>
            <a:ext cx="5109092" cy="1805682"/>
          </a:xfrm>
          <a:prstGeom prst="rect">
            <a:avLst/>
          </a:prstGeom>
          <a:solidFill>
            <a:srgbClr val="B3C6E7"/>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400" b="1" i="0" u="none" strike="noStrike" cap="none">
                <a:solidFill>
                  <a:srgbClr val="990033"/>
                </a:solidFill>
                <a:latin typeface="Arial"/>
                <a:ea typeface="Arial"/>
                <a:cs typeface="Arial"/>
                <a:sym typeface="Arial"/>
              </a:rPr>
              <a:t>BAB 2 </a:t>
            </a:r>
            <a:endParaRPr sz="5400" b="1" i="0" u="none" strike="noStrike" cap="none">
              <a:solidFill>
                <a:srgbClr val="990033"/>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400"/>
              <a:buFont typeface="Arial"/>
              <a:buNone/>
            </a:pPr>
            <a:r>
              <a:rPr lang="en-US" sz="5400" b="1" i="0" u="none" strike="noStrike" cap="none">
                <a:solidFill>
                  <a:srgbClr val="990033"/>
                </a:solidFill>
                <a:latin typeface="Arial"/>
                <a:ea typeface="Arial"/>
                <a:cs typeface="Arial"/>
                <a:sym typeface="Arial"/>
              </a:rPr>
              <a:t>PENGURUSAN</a:t>
            </a:r>
            <a:endParaRPr sz="5400" b="1" i="0" u="none" strike="noStrike" cap="none">
              <a:solidFill>
                <a:srgbClr val="990033"/>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15"/>
          <p:cNvSpPr/>
          <p:nvPr/>
        </p:nvSpPr>
        <p:spPr>
          <a:xfrm>
            <a:off x="372140" y="2287566"/>
            <a:ext cx="8132306" cy="3987209"/>
          </a:xfrm>
          <a:prstGeom prst="round2DiagRect">
            <a:avLst>
              <a:gd name="adj1" fmla="val 16667"/>
              <a:gd name="adj2" fmla="val 0"/>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1" name="Google Shape;101;p15"/>
          <p:cNvSpPr txBox="1"/>
          <p:nvPr/>
        </p:nvSpPr>
        <p:spPr>
          <a:xfrm>
            <a:off x="639554" y="4019936"/>
            <a:ext cx="7864891" cy="1165003"/>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Arial"/>
                <a:ea typeface="Arial"/>
                <a:cs typeface="Arial"/>
                <a:sym typeface="Arial"/>
              </a:rPr>
              <a:t> </a:t>
            </a:r>
            <a:r>
              <a:rPr lang="en-US" sz="5400" i="0" u="none" strike="noStrike" dirty="0">
                <a:ln w="0"/>
                <a:solidFill>
                  <a:schemeClr val="tx1"/>
                </a:solidFill>
                <a:effectLst>
                  <a:outerShdw blurRad="38100" dist="19050" dir="2700000" algn="tl" rotWithShape="0">
                    <a:schemeClr val="dk1">
                      <a:alpha val="40000"/>
                    </a:schemeClr>
                  </a:outerShdw>
                </a:effectLst>
                <a:sym typeface="Arial"/>
              </a:rPr>
              <a:t>2.2 PERANCANGAN</a:t>
            </a:r>
            <a:endParaRPr dirty="0">
              <a:ln w="0"/>
              <a:solidFill>
                <a:schemeClr val="tx1"/>
              </a:solidFill>
              <a:effectLst>
                <a:outerShdw blurRad="38100" dist="19050" dir="2700000" algn="tl" rotWithShape="0">
                  <a:schemeClr val="dk1">
                    <a:alpha val="40000"/>
                  </a:schemeClr>
                </a:outerShdw>
              </a:effectLst>
            </a:endParaRPr>
          </a:p>
          <a:p>
            <a:pPr marL="91440" marR="0" lvl="0" indent="86360" algn="l" rtl="0">
              <a:lnSpc>
                <a:spcPct val="90000"/>
              </a:lnSpc>
              <a:spcBef>
                <a:spcPts val="0"/>
              </a:spcBef>
              <a:spcAft>
                <a:spcPts val="0"/>
              </a:spcAft>
              <a:buClr>
                <a:srgbClr val="000000"/>
              </a:buClr>
              <a:buSzPts val="2800"/>
              <a:buFont typeface="Arial"/>
              <a:buNone/>
            </a:pPr>
            <a:endParaRPr sz="3600" i="0" u="none" strike="noStrike" dirty="0">
              <a:ln w="0"/>
              <a:solidFill>
                <a:schemeClr val="tx1"/>
              </a:solidFill>
              <a:effectLst>
                <a:outerShdw blurRad="38100" dist="19050" dir="2700000" algn="tl" rotWithShape="0">
                  <a:schemeClr val="dk1">
                    <a:alpha val="40000"/>
                  </a:schemeClr>
                </a:outerShdw>
              </a:effectLst>
              <a:sym typeface="Arial"/>
            </a:endParaRPr>
          </a:p>
          <a:p>
            <a:pPr marL="91440" marR="0" lvl="0" indent="-91440" algn="l" rtl="0">
              <a:lnSpc>
                <a:spcPct val="90000"/>
              </a:lnSpc>
              <a:spcBef>
                <a:spcPts val="0"/>
              </a:spcBef>
              <a:spcAft>
                <a:spcPts val="0"/>
              </a:spcAft>
              <a:buClr>
                <a:srgbClr val="000000"/>
              </a:buClr>
              <a:buSzPts val="2800"/>
              <a:buFont typeface="Arial"/>
              <a:buChar char=" "/>
            </a:pPr>
            <a:r>
              <a:rPr lang="en-US" sz="3600" i="0" u="none" strike="noStrike" dirty="0">
                <a:ln w="0"/>
                <a:solidFill>
                  <a:schemeClr val="tx1"/>
                </a:solidFill>
                <a:effectLst>
                  <a:outerShdw blurRad="38100" dist="19050" dir="2700000" algn="tl" rotWithShape="0">
                    <a:schemeClr val="dk1">
                      <a:alpha val="40000"/>
                    </a:schemeClr>
                  </a:outerShdw>
                </a:effectLst>
                <a:sym typeface="Arial"/>
              </a:rPr>
              <a:t>2.2.1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Pengenalan</a:t>
            </a:r>
            <a:r>
              <a:rPr lang="en-US" sz="3600" i="0" u="none" strike="noStrike" dirty="0">
                <a:ln w="0"/>
                <a:solidFill>
                  <a:schemeClr val="tx1"/>
                </a:solidFill>
                <a:effectLst>
                  <a:outerShdw blurRad="38100" dist="19050" dir="2700000" algn="tl" rotWithShape="0">
                    <a:schemeClr val="dk1">
                      <a:alpha val="40000"/>
                    </a:schemeClr>
                  </a:outerShdw>
                </a:effectLst>
                <a:sym typeface="Arial"/>
              </a:rPr>
              <a:t>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Perancangan</a:t>
            </a:r>
            <a:endParaRPr dirty="0">
              <a:ln w="0"/>
              <a:solidFill>
                <a:schemeClr val="tx1"/>
              </a:solidFill>
              <a:effectLst>
                <a:outerShdw blurRad="38100" dist="19050" dir="2700000" algn="tl" rotWithShape="0">
                  <a:schemeClr val="dk1">
                    <a:alpha val="40000"/>
                  </a:schemeClr>
                </a:outerShdw>
              </a:effectLst>
            </a:endParaRPr>
          </a:p>
          <a:p>
            <a:pPr marL="91440" marR="0" lvl="0" indent="-91440" algn="l" rtl="0">
              <a:lnSpc>
                <a:spcPct val="90000"/>
              </a:lnSpc>
              <a:spcBef>
                <a:spcPts val="1400"/>
              </a:spcBef>
              <a:spcAft>
                <a:spcPts val="0"/>
              </a:spcAft>
              <a:buClr>
                <a:srgbClr val="000000"/>
              </a:buClr>
              <a:buSzPts val="2800"/>
              <a:buFont typeface="Arial"/>
              <a:buChar char=" "/>
            </a:pPr>
            <a:r>
              <a:rPr lang="en-US" sz="3600" i="0" u="none" strike="noStrike" dirty="0">
                <a:ln w="0"/>
                <a:solidFill>
                  <a:schemeClr val="tx1"/>
                </a:solidFill>
                <a:effectLst>
                  <a:outerShdw blurRad="38100" dist="19050" dir="2700000" algn="tl" rotWithShape="0">
                    <a:schemeClr val="dk1">
                      <a:alpha val="40000"/>
                    </a:schemeClr>
                  </a:outerShdw>
                </a:effectLst>
                <a:sym typeface="Arial"/>
              </a:rPr>
              <a:t>2.2.2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Alat-Alat</a:t>
            </a:r>
            <a:r>
              <a:rPr lang="en-US" sz="3600" i="0" u="none" strike="noStrike" dirty="0">
                <a:ln w="0"/>
                <a:solidFill>
                  <a:schemeClr val="tx1"/>
                </a:solidFill>
                <a:effectLst>
                  <a:outerShdw blurRad="38100" dist="19050" dir="2700000" algn="tl" rotWithShape="0">
                    <a:schemeClr val="dk1">
                      <a:alpha val="40000"/>
                    </a:schemeClr>
                  </a:outerShdw>
                </a:effectLst>
                <a:sym typeface="Arial"/>
              </a:rPr>
              <a:t>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Perancangan</a:t>
            </a:r>
            <a:endParaRPr dirty="0">
              <a:ln w="0"/>
              <a:solidFill>
                <a:schemeClr val="tx1"/>
              </a:solidFill>
              <a:effectLst>
                <a:outerShdw blurRad="38100" dist="19050" dir="2700000" algn="tl" rotWithShape="0">
                  <a:schemeClr val="dk1">
                    <a:alpha val="40000"/>
                  </a:schemeClr>
                </a:outerShdw>
              </a:effectLst>
            </a:endParaRPr>
          </a:p>
          <a:p>
            <a:pPr marL="1339850" marR="0" lvl="0" indent="-1158875" algn="l" rtl="0">
              <a:lnSpc>
                <a:spcPct val="90000"/>
              </a:lnSpc>
              <a:spcBef>
                <a:spcPts val="1400"/>
              </a:spcBef>
              <a:spcAft>
                <a:spcPts val="0"/>
              </a:spcAft>
              <a:buNone/>
            </a:pPr>
            <a:r>
              <a:rPr lang="en-US" sz="3600" i="0" u="none" strike="noStrike" dirty="0">
                <a:ln w="0"/>
                <a:solidFill>
                  <a:schemeClr val="tx1"/>
                </a:solidFill>
                <a:effectLst>
                  <a:outerShdw blurRad="38100" dist="19050" dir="2700000" algn="tl" rotWithShape="0">
                    <a:schemeClr val="dk1">
                      <a:alpha val="40000"/>
                    </a:schemeClr>
                  </a:outerShdw>
                </a:effectLst>
                <a:sym typeface="Arial"/>
              </a:rPr>
              <a:t>2.2.3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Visi</a:t>
            </a:r>
            <a:r>
              <a:rPr lang="en-US" sz="3600" i="0" u="none" strike="noStrike" dirty="0">
                <a:ln w="0"/>
                <a:solidFill>
                  <a:schemeClr val="tx1"/>
                </a:solidFill>
                <a:effectLst>
                  <a:outerShdw blurRad="38100" dist="19050" dir="2700000" algn="tl" rotWithShape="0">
                    <a:schemeClr val="dk1">
                      <a:alpha val="40000"/>
                    </a:schemeClr>
                  </a:outerShdw>
                </a:effectLst>
                <a:sym typeface="Arial"/>
              </a:rPr>
              <a:t>,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Misi</a:t>
            </a:r>
            <a:r>
              <a:rPr lang="en-US" sz="3600" i="0" u="none" strike="noStrike" dirty="0">
                <a:ln w="0"/>
                <a:solidFill>
                  <a:schemeClr val="tx1"/>
                </a:solidFill>
                <a:effectLst>
                  <a:outerShdw blurRad="38100" dist="19050" dir="2700000" algn="tl" rotWithShape="0">
                    <a:schemeClr val="dk1">
                      <a:alpha val="40000"/>
                    </a:schemeClr>
                  </a:outerShdw>
                </a:effectLst>
                <a:sym typeface="Arial"/>
              </a:rPr>
              <a:t>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dan</a:t>
            </a:r>
            <a:r>
              <a:rPr lang="en-US" sz="3600" i="0" u="none" strike="noStrike" dirty="0">
                <a:ln w="0"/>
                <a:solidFill>
                  <a:schemeClr val="tx1"/>
                </a:solidFill>
                <a:effectLst>
                  <a:outerShdw blurRad="38100" dist="19050" dir="2700000" algn="tl" rotWithShape="0">
                    <a:schemeClr val="dk1">
                      <a:alpha val="40000"/>
                    </a:schemeClr>
                  </a:outerShdw>
                </a:effectLst>
                <a:sym typeface="Arial"/>
              </a:rPr>
              <a:t>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Objektif</a:t>
            </a:r>
            <a:r>
              <a:rPr lang="en-US" sz="3600" i="0" u="none" strike="noStrike" dirty="0">
                <a:ln w="0"/>
                <a:solidFill>
                  <a:schemeClr val="tx1"/>
                </a:solidFill>
                <a:effectLst>
                  <a:outerShdw blurRad="38100" dist="19050" dir="2700000" algn="tl" rotWithShape="0">
                    <a:schemeClr val="dk1">
                      <a:alpha val="40000"/>
                    </a:schemeClr>
                  </a:outerShdw>
                </a:effectLst>
                <a:sym typeface="Arial"/>
              </a:rPr>
              <a:t> </a:t>
            </a:r>
            <a:r>
              <a:rPr lang="en-US" sz="3600" i="0" u="none" strike="noStrike" dirty="0" err="1">
                <a:ln w="0"/>
                <a:solidFill>
                  <a:schemeClr val="tx1"/>
                </a:solidFill>
                <a:effectLst>
                  <a:outerShdw blurRad="38100" dist="19050" dir="2700000" algn="tl" rotWithShape="0">
                    <a:schemeClr val="dk1">
                      <a:alpha val="40000"/>
                    </a:schemeClr>
                  </a:outerShdw>
                </a:effectLst>
                <a:sym typeface="Arial"/>
              </a:rPr>
              <a:t>Organisasi</a:t>
            </a:r>
            <a:endParaRPr dirty="0">
              <a:ln w="0"/>
              <a:solidFill>
                <a:schemeClr val="tx1"/>
              </a:solidFill>
              <a:effectLst>
                <a:outerShdw blurRad="38100" dist="19050" dir="2700000" algn="tl" rotWithShape="0">
                  <a:schemeClr val="dk1">
                    <a:alpha val="40000"/>
                  </a:schemeClr>
                </a:outerShdw>
              </a:effectLst>
            </a:endParaRPr>
          </a:p>
          <a:p>
            <a:pPr marL="0" marR="0" lvl="0" indent="0" algn="ctr" rtl="0">
              <a:lnSpc>
                <a:spcPct val="100000"/>
              </a:lnSpc>
              <a:spcBef>
                <a:spcPts val="0"/>
              </a:spcBef>
              <a:spcAft>
                <a:spcPts val="0"/>
              </a:spcAft>
              <a:buClr>
                <a:srgbClr val="000000"/>
              </a:buClr>
              <a:buSzPts val="5400"/>
              <a:buFont typeface="Arial"/>
              <a:buNone/>
            </a:pPr>
            <a:endParaRPr sz="5400" b="0" i="0" u="none" strike="noStrike" cap="none" dirty="0">
              <a:solidFill>
                <a:srgbClr val="FFFF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6"/>
          <p:cNvSpPr txBox="1"/>
          <p:nvPr/>
        </p:nvSpPr>
        <p:spPr>
          <a:xfrm>
            <a:off x="1411849" y="560070"/>
            <a:ext cx="7732151"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Federo"/>
                <a:ea typeface="Federo"/>
                <a:cs typeface="Federo"/>
                <a:sym typeface="Federo"/>
              </a:rPr>
              <a:t>2.2.1 PENGENALAN PERANCANGAN</a:t>
            </a:r>
            <a:endParaRPr sz="1400" b="0" i="0" u="none" strike="noStrike" cap="none">
              <a:solidFill>
                <a:srgbClr val="000000"/>
              </a:solidFill>
              <a:latin typeface="Arial"/>
              <a:ea typeface="Arial"/>
              <a:cs typeface="Arial"/>
              <a:sym typeface="Arial"/>
            </a:endParaRPr>
          </a:p>
        </p:txBody>
      </p:sp>
      <p:sp>
        <p:nvSpPr>
          <p:cNvPr id="109" name="Google Shape;109;p16"/>
          <p:cNvSpPr txBox="1"/>
          <p:nvPr/>
        </p:nvSpPr>
        <p:spPr>
          <a:xfrm>
            <a:off x="1237785" y="2032794"/>
            <a:ext cx="6963240" cy="654650"/>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a.  Takrif Perancangan</a:t>
            </a:r>
            <a:endParaRPr sz="1400" b="0" i="0" u="none" strike="noStrike" cap="none">
              <a:solidFill>
                <a:srgbClr val="000000"/>
              </a:solidFill>
              <a:latin typeface="Arial"/>
              <a:ea typeface="Arial"/>
              <a:cs typeface="Arial"/>
              <a:sym typeface="Arial"/>
            </a:endParaRPr>
          </a:p>
        </p:txBody>
      </p:sp>
      <p:sp>
        <p:nvSpPr>
          <p:cNvPr id="110" name="Google Shape;110;p16"/>
          <p:cNvSpPr txBox="1"/>
          <p:nvPr/>
        </p:nvSpPr>
        <p:spPr>
          <a:xfrm>
            <a:off x="2152185" y="2960054"/>
            <a:ext cx="6658441" cy="2749370"/>
          </a:xfrm>
          <a:prstGeom prst="rect">
            <a:avLst/>
          </a:prstGeom>
          <a:noFill/>
          <a:ln>
            <a:noFill/>
          </a:ln>
        </p:spPr>
        <p:txBody>
          <a:bodyPr spcFirstLastPara="1" wrap="square" lIns="91425" tIns="91425" rIns="91425" bIns="45700" anchor="t" anchorCtr="0">
            <a:noAutofit/>
          </a:bodyPr>
          <a:lstStyle/>
          <a:p>
            <a:pPr marL="457200" marR="0" lvl="0" indent="-457200" algn="just" rtl="0">
              <a:lnSpc>
                <a:spcPct val="8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Proses di mana pengurus </a:t>
            </a:r>
            <a:r>
              <a:rPr lang="en-US" sz="3200" b="0" i="0" u="none" strike="noStrike" cap="none">
                <a:solidFill>
                  <a:srgbClr val="C00000"/>
                </a:solidFill>
                <a:latin typeface="Federo"/>
                <a:ea typeface="Federo"/>
                <a:cs typeface="Federo"/>
                <a:sym typeface="Federo"/>
              </a:rPr>
              <a:t>menentukan matlamat yang ingin dicapai, membangunkan strategi dan  menentukan tindakan paling bersesuaian serta menyelaraskan semua aktiviti </a:t>
            </a:r>
            <a:r>
              <a:rPr lang="en-US" sz="3200" b="0" i="0" u="none" strike="noStrike" cap="none">
                <a:solidFill>
                  <a:srgbClr val="000000"/>
                </a:solidFill>
                <a:latin typeface="Federo"/>
                <a:ea typeface="Federo"/>
                <a:cs typeface="Federo"/>
                <a:sym typeface="Federo"/>
              </a:rPr>
              <a:t>di setiap peringkat organisasi demi mencapai matlamat organisasi.</a:t>
            </a:r>
            <a:endParaRPr sz="3200" b="0" i="0" u="none" strike="noStrike" cap="none">
              <a:solidFill>
                <a:srgbClr val="000000"/>
              </a:solidFill>
              <a:latin typeface="Federo"/>
              <a:ea typeface="Federo"/>
              <a:cs typeface="Federo"/>
              <a:sym typeface="Federo"/>
            </a:endParaRPr>
          </a:p>
          <a:p>
            <a:pPr marL="457200" marR="0" lvl="0" indent="-350520" algn="just" rtl="0">
              <a:lnSpc>
                <a:spcPct val="80000"/>
              </a:lnSpc>
              <a:spcBef>
                <a:spcPts val="600"/>
              </a:spcBef>
              <a:spcAft>
                <a:spcPts val="0"/>
              </a:spcAft>
              <a:buClr>
                <a:schemeClr val="accent5"/>
              </a:buClr>
              <a:buSzPts val="1680"/>
              <a:buFont typeface="Noto Sans Symbols"/>
              <a:buNone/>
            </a:pPr>
            <a:endParaRPr sz="3200" b="0" i="0" u="none" strike="noStrike" cap="none">
              <a:solidFill>
                <a:schemeClr val="dk1"/>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chemeClr val="dk1"/>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body" idx="1"/>
          </p:nvPr>
        </p:nvSpPr>
        <p:spPr>
          <a:xfrm>
            <a:off x="1773043" y="1675838"/>
            <a:ext cx="7279745" cy="4863075"/>
          </a:xfrm>
          <a:prstGeom prst="rect">
            <a:avLst/>
          </a:prstGeom>
          <a:noFill/>
          <a:ln>
            <a:noFill/>
          </a:ln>
        </p:spPr>
        <p:txBody>
          <a:bodyPr spcFirstLastPara="1" wrap="square" lIns="91425" tIns="45700" rIns="91425" bIns="45700" anchor="t" anchorCtr="0">
            <a:noAutofit/>
          </a:bodyPr>
          <a:lstStyle/>
          <a:p>
            <a:pPr marL="457200" lvl="0" indent="-457200" algn="just" rtl="0">
              <a:lnSpc>
                <a:spcPct val="80000"/>
              </a:lnSpc>
              <a:spcBef>
                <a:spcPts val="0"/>
              </a:spcBef>
              <a:spcAft>
                <a:spcPts val="0"/>
              </a:spcAft>
              <a:buClr>
                <a:srgbClr val="002060"/>
              </a:buClr>
              <a:buSzPts val="3200"/>
              <a:buFont typeface="Noto Sans Symbols"/>
              <a:buChar char="❑"/>
            </a:pPr>
            <a:r>
              <a:rPr lang="en-US" sz="3200" u="none" strike="noStrike" cap="none">
                <a:solidFill>
                  <a:schemeClr val="dk1"/>
                </a:solidFill>
                <a:latin typeface="Federo"/>
                <a:ea typeface="Federo"/>
                <a:cs typeface="Federo"/>
                <a:sym typeface="Federo"/>
              </a:rPr>
              <a:t>Proses di mana pengurus </a:t>
            </a:r>
            <a:r>
              <a:rPr lang="en-US" sz="3200" u="none" strike="noStrike" cap="none">
                <a:solidFill>
                  <a:srgbClr val="C00000"/>
                </a:solidFill>
                <a:latin typeface="Federo"/>
                <a:ea typeface="Federo"/>
                <a:cs typeface="Federo"/>
                <a:sym typeface="Federo"/>
              </a:rPr>
              <a:t>menentukan matlamat yang ingin dicapai</a:t>
            </a:r>
            <a:r>
              <a:rPr lang="en-US" sz="3200" u="none" strike="noStrike" cap="none">
                <a:solidFill>
                  <a:srgbClr val="FF0000"/>
                </a:solidFill>
                <a:latin typeface="Federo"/>
                <a:ea typeface="Federo"/>
                <a:cs typeface="Federo"/>
                <a:sym typeface="Federo"/>
              </a:rPr>
              <a:t> </a:t>
            </a:r>
            <a:r>
              <a:rPr lang="en-US" sz="3200" u="none" strike="noStrike" cap="none">
                <a:solidFill>
                  <a:schemeClr val="dk1"/>
                </a:solidFill>
                <a:latin typeface="Federo"/>
                <a:ea typeface="Federo"/>
                <a:cs typeface="Federo"/>
                <a:sym typeface="Federo"/>
              </a:rPr>
              <a:t>dan menentukan</a:t>
            </a:r>
            <a:r>
              <a:rPr lang="en-US" sz="3200" u="none" strike="noStrike" cap="none">
                <a:solidFill>
                  <a:srgbClr val="FF0000"/>
                </a:solidFill>
                <a:latin typeface="Federo"/>
                <a:ea typeface="Federo"/>
                <a:cs typeface="Federo"/>
                <a:sym typeface="Federo"/>
              </a:rPr>
              <a:t> </a:t>
            </a:r>
            <a:r>
              <a:rPr lang="en-US" sz="3200" u="none" strike="noStrike" cap="none">
                <a:solidFill>
                  <a:srgbClr val="C00000"/>
                </a:solidFill>
                <a:latin typeface="Federo"/>
                <a:ea typeface="Federo"/>
                <a:cs typeface="Federo"/>
                <a:sym typeface="Federo"/>
              </a:rPr>
              <a:t>tindakan yang paling sesuai </a:t>
            </a:r>
            <a:r>
              <a:rPr lang="en-US" sz="3200" u="none" strike="noStrike" cap="none">
                <a:solidFill>
                  <a:schemeClr val="dk1"/>
                </a:solidFill>
                <a:latin typeface="Federo"/>
                <a:ea typeface="Federo"/>
                <a:cs typeface="Federo"/>
                <a:sym typeface="Federo"/>
              </a:rPr>
              <a:t>untuk diambil di semua peringkat organisasi bagi mencapai matlamat organisasi.</a:t>
            </a:r>
            <a:endParaRPr sz="3200" u="none" strike="noStrike" cap="none">
              <a:solidFill>
                <a:schemeClr val="dk1"/>
              </a:solidFill>
              <a:latin typeface="Federo"/>
              <a:ea typeface="Federo"/>
              <a:cs typeface="Federo"/>
              <a:sym typeface="Federo"/>
            </a:endParaRPr>
          </a:p>
          <a:p>
            <a:pPr marL="563880" marR="0" lvl="0" indent="-254000" algn="just" rtl="0">
              <a:lnSpc>
                <a:spcPct val="80000"/>
              </a:lnSpc>
              <a:spcBef>
                <a:spcPts val="0"/>
              </a:spcBef>
              <a:spcAft>
                <a:spcPts val="0"/>
              </a:spcAft>
              <a:buClr>
                <a:srgbClr val="002060"/>
              </a:buClr>
              <a:buSzPts val="3200"/>
              <a:buFont typeface="Noto Sans Symbols"/>
              <a:buNone/>
            </a:pPr>
            <a:endParaRPr sz="3200" i="0" u="sng" strike="noStrike" cap="none">
              <a:solidFill>
                <a:srgbClr val="FF0000"/>
              </a:solidFill>
              <a:latin typeface="Federo"/>
              <a:ea typeface="Federo"/>
              <a:cs typeface="Federo"/>
              <a:sym typeface="Federo"/>
            </a:endParaRPr>
          </a:p>
          <a:p>
            <a:pPr marL="457200" marR="0" lvl="0" indent="-457200" algn="just" rtl="0">
              <a:lnSpc>
                <a:spcPct val="80000"/>
              </a:lnSpc>
              <a:spcBef>
                <a:spcPts val="0"/>
              </a:spcBef>
              <a:spcAft>
                <a:spcPts val="0"/>
              </a:spcAft>
              <a:buClr>
                <a:srgbClr val="002060"/>
              </a:buClr>
              <a:buSzPts val="3200"/>
              <a:buFont typeface="Noto Sans Symbols"/>
              <a:buChar char="❑"/>
            </a:pPr>
            <a:r>
              <a:rPr lang="en-US" sz="3200" i="0" strike="noStrike" cap="none">
                <a:solidFill>
                  <a:srgbClr val="FF0000"/>
                </a:solidFill>
                <a:latin typeface="Federo"/>
                <a:ea typeface="Federo"/>
                <a:cs typeface="Federo"/>
                <a:sym typeface="Federo"/>
              </a:rPr>
              <a:t>Contoh matlamat syarikat untuk ke pasaran antarabangsa: </a:t>
            </a:r>
            <a:endParaRPr sz="3200">
              <a:latin typeface="Federo"/>
              <a:ea typeface="Federo"/>
              <a:cs typeface="Federo"/>
              <a:sym typeface="Federo"/>
            </a:endParaRPr>
          </a:p>
          <a:p>
            <a:pPr marL="446088" marR="0" lvl="0" indent="0" algn="just" rtl="0">
              <a:lnSpc>
                <a:spcPct val="80000"/>
              </a:lnSpc>
              <a:spcBef>
                <a:spcPts val="600"/>
              </a:spcBef>
              <a:spcAft>
                <a:spcPts val="0"/>
              </a:spcAft>
              <a:buClr>
                <a:srgbClr val="002060"/>
              </a:buClr>
              <a:buSzPts val="3200"/>
              <a:buNone/>
            </a:pPr>
            <a:r>
              <a:rPr lang="en-US" sz="3200" i="0" u="none" strike="noStrike" cap="none">
                <a:solidFill>
                  <a:srgbClr val="000000"/>
                </a:solidFill>
                <a:latin typeface="Federo"/>
                <a:ea typeface="Federo"/>
                <a:cs typeface="Federo"/>
                <a:sym typeface="Federo"/>
              </a:rPr>
              <a:t>Presiden Syarikat Suria Bhd. merancang untuk memasuki pasaran  antarabangsa 2 tahun dari sekarang.</a:t>
            </a:r>
            <a:endParaRPr sz="3200">
              <a:latin typeface="Federo"/>
              <a:ea typeface="Federo"/>
              <a:cs typeface="Federo"/>
              <a:sym typeface="Federo"/>
            </a:endParaRPr>
          </a:p>
          <a:p>
            <a:pPr marL="457200" lvl="0" indent="-228600" algn="l" rtl="0">
              <a:lnSpc>
                <a:spcPct val="90000"/>
              </a:lnSpc>
              <a:spcBef>
                <a:spcPts val="750"/>
              </a:spcBef>
              <a:spcAft>
                <a:spcPts val="0"/>
              </a:spcAft>
              <a:buClr>
                <a:schemeClr val="dk1"/>
              </a:buClr>
              <a:buSzPts val="1800"/>
              <a:buNone/>
            </a:pPr>
            <a:endParaRPr>
              <a:latin typeface="Federo"/>
              <a:ea typeface="Federo"/>
              <a:cs typeface="Federo"/>
              <a:sym typeface="Federo"/>
            </a:endParaRPr>
          </a:p>
        </p:txBody>
      </p:sp>
      <p:sp>
        <p:nvSpPr>
          <p:cNvPr id="117" name="Google Shape;117;p17"/>
          <p:cNvSpPr txBox="1"/>
          <p:nvPr/>
        </p:nvSpPr>
        <p:spPr>
          <a:xfrm>
            <a:off x="2609385" y="415867"/>
            <a:ext cx="6963240" cy="654650"/>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a.  Takrif Perancangan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p18"/>
          <p:cNvSpPr txBox="1"/>
          <p:nvPr/>
        </p:nvSpPr>
        <p:spPr>
          <a:xfrm>
            <a:off x="526982" y="141799"/>
            <a:ext cx="7775545" cy="6185210"/>
          </a:xfrm>
          <a:prstGeom prst="rect">
            <a:avLst/>
          </a:prstGeom>
          <a:solidFill>
            <a:srgbClr val="BBD6EE"/>
          </a:solidFill>
          <a:ln>
            <a:noFill/>
          </a:ln>
        </p:spPr>
        <p:txBody>
          <a:bodyPr spcFirstLastPara="1" wrap="square" lIns="91425" tIns="45700" rIns="91425" bIns="45700" anchor="t" anchorCtr="0">
            <a:noAutofit/>
          </a:bodyPr>
          <a:lstStyle/>
          <a:p>
            <a:pPr marL="0" marR="0" lvl="0" indent="0" algn="just" rtl="0">
              <a:lnSpc>
                <a:spcPct val="80000"/>
              </a:lnSpc>
              <a:spcBef>
                <a:spcPts val="600"/>
              </a:spcBef>
              <a:spcAft>
                <a:spcPts val="0"/>
              </a:spcAft>
              <a:buClr>
                <a:srgbClr val="000000"/>
              </a:buClr>
              <a:buSzPts val="2800"/>
              <a:buFont typeface="Arial"/>
              <a:buNone/>
            </a:pPr>
            <a:r>
              <a:rPr lang="en-US" sz="2800" b="0" i="0" u="none" strike="noStrike" cap="none">
                <a:solidFill>
                  <a:schemeClr val="dk1"/>
                </a:solidFill>
                <a:latin typeface="Federo"/>
                <a:ea typeface="Federo"/>
                <a:cs typeface="Federo"/>
                <a:sym typeface="Federo"/>
              </a:rPr>
              <a:t>Tindakan di semua jabatan:</a:t>
            </a:r>
            <a:r>
              <a:rPr lang="en-US" sz="2800" b="0" i="0" u="none" strike="noStrike" cap="none">
                <a:solidFill>
                  <a:srgbClr val="000000"/>
                </a:solidFill>
                <a:latin typeface="Federo"/>
                <a:ea typeface="Federo"/>
                <a:cs typeface="Federo"/>
                <a:sym typeface="Federo"/>
              </a:rPr>
              <a:t> </a:t>
            </a:r>
            <a:endParaRPr sz="28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2772"/>
              <a:buFont typeface="Noto Sans Symbols"/>
              <a:buChar char="▪"/>
            </a:pPr>
            <a:r>
              <a:rPr lang="en-US" sz="2800" b="0" i="0" u="none" strike="noStrike" cap="none">
                <a:solidFill>
                  <a:srgbClr val="0033CC"/>
                </a:solidFill>
                <a:latin typeface="Federo"/>
                <a:ea typeface="Federo"/>
                <a:cs typeface="Federo"/>
                <a:sym typeface="Federo"/>
              </a:rPr>
              <a:t>Pengurus Kewangan </a:t>
            </a:r>
            <a:r>
              <a:rPr lang="en-US" sz="2800" b="0" i="0" u="none" strike="noStrike" cap="none">
                <a:solidFill>
                  <a:srgbClr val="000000"/>
                </a:solidFill>
                <a:latin typeface="Federo"/>
                <a:ea typeface="Federo"/>
                <a:cs typeface="Federo"/>
                <a:sym typeface="Federo"/>
              </a:rPr>
              <a:t>merancang untuk menambahkan sumber dana melalui sumber jangka panjang .</a:t>
            </a:r>
            <a:endParaRPr sz="28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2772"/>
              <a:buFont typeface="Noto Sans Symbols"/>
              <a:buChar char="▪"/>
            </a:pPr>
            <a:r>
              <a:rPr lang="en-US" sz="2800" b="0" i="0" u="none" strike="noStrike" cap="none">
                <a:solidFill>
                  <a:srgbClr val="9900FF"/>
                </a:solidFill>
                <a:latin typeface="Federo"/>
                <a:ea typeface="Federo"/>
                <a:cs typeface="Federo"/>
                <a:sym typeface="Federo"/>
              </a:rPr>
              <a:t>Pengurus Pengeluaran </a:t>
            </a:r>
            <a:r>
              <a:rPr lang="en-US" sz="2800" b="0" i="0" u="none" strike="noStrike" cap="none">
                <a:solidFill>
                  <a:srgbClr val="000000"/>
                </a:solidFill>
                <a:latin typeface="Federo"/>
                <a:ea typeface="Federo"/>
                <a:cs typeface="Federo"/>
                <a:sym typeface="Federo"/>
              </a:rPr>
              <a:t>merancang untuk membeli mesin baru bagi meningkatkan volum pengeluaran.</a:t>
            </a:r>
            <a:endParaRPr sz="28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2772"/>
              <a:buFont typeface="Noto Sans Symbols"/>
              <a:buChar char="▪"/>
            </a:pPr>
            <a:r>
              <a:rPr lang="en-US" sz="2800" b="0" i="0" u="none" strike="noStrike" cap="none">
                <a:solidFill>
                  <a:srgbClr val="FF0000"/>
                </a:solidFill>
                <a:latin typeface="Federo"/>
                <a:ea typeface="Federo"/>
                <a:cs typeface="Federo"/>
                <a:sym typeface="Federo"/>
              </a:rPr>
              <a:t>Pengurus Sumber Manusia </a:t>
            </a:r>
            <a:r>
              <a:rPr lang="en-US" sz="2800" b="0" i="0" u="none" strike="noStrike" cap="none">
                <a:solidFill>
                  <a:srgbClr val="000000"/>
                </a:solidFill>
                <a:latin typeface="Federo"/>
                <a:ea typeface="Federo"/>
                <a:cs typeface="Federo"/>
                <a:sym typeface="Federo"/>
              </a:rPr>
              <a:t>merancang untuk merekrut pekerja dari sumber dalam dan luar organisasi bagi menambahkan ambilan pekerja baru.</a:t>
            </a:r>
            <a:endParaRPr sz="28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2772"/>
              <a:buFont typeface="Noto Sans Symbols"/>
              <a:buChar char="▪"/>
            </a:pPr>
            <a:r>
              <a:rPr lang="en-US" sz="2800" b="0" i="0" u="none" strike="noStrike" cap="none">
                <a:solidFill>
                  <a:srgbClr val="7030A0"/>
                </a:solidFill>
                <a:latin typeface="Federo"/>
                <a:ea typeface="Federo"/>
                <a:cs typeface="Federo"/>
                <a:sym typeface="Federo"/>
              </a:rPr>
              <a:t>Pengurus Pemasaran </a:t>
            </a:r>
            <a:r>
              <a:rPr lang="en-US" sz="2800" b="0" i="0" u="none" strike="noStrike" cap="none">
                <a:solidFill>
                  <a:srgbClr val="000000"/>
                </a:solidFill>
                <a:latin typeface="Federo"/>
                <a:ea typeface="Federo"/>
                <a:cs typeface="Federo"/>
                <a:sym typeface="Federo"/>
              </a:rPr>
              <a:t>akan mempergiatkan iklan di media sosial dan elektronik.</a:t>
            </a:r>
            <a:endParaRPr sz="28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2772"/>
              <a:buFont typeface="Noto Sans Symbols"/>
              <a:buChar char="▪"/>
            </a:pPr>
            <a:r>
              <a:rPr lang="en-US" sz="2800" b="0" i="0" u="none" strike="noStrike" cap="none">
                <a:solidFill>
                  <a:srgbClr val="0033CC"/>
                </a:solidFill>
                <a:latin typeface="Federo"/>
                <a:ea typeface="Federo"/>
                <a:cs typeface="Federo"/>
                <a:sym typeface="Federo"/>
              </a:rPr>
              <a:t>Pengurus RnD </a:t>
            </a:r>
            <a:r>
              <a:rPr lang="en-US" sz="2800" b="0" i="0" u="none" strike="noStrike" cap="none">
                <a:solidFill>
                  <a:srgbClr val="000000"/>
                </a:solidFill>
                <a:latin typeface="Federo"/>
                <a:ea typeface="Federo"/>
                <a:cs typeface="Federo"/>
                <a:sym typeface="Federo"/>
              </a:rPr>
              <a:t>sentiasa menyelidiki dan membangunkan produk yang berinovasi dan menambahkan beberapa fungsi baru.</a:t>
            </a:r>
            <a:endParaRPr sz="28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9" name="Google Shape;129;p19"/>
          <p:cNvSpPr txBox="1"/>
          <p:nvPr/>
        </p:nvSpPr>
        <p:spPr>
          <a:xfrm>
            <a:off x="300038" y="36830"/>
            <a:ext cx="8672512"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2.2.1 PENGENALAN PERANCANGAN</a:t>
            </a:r>
            <a:endParaRPr sz="2800" b="0" i="0" u="none" strike="noStrike" cap="none">
              <a:solidFill>
                <a:srgbClr val="000000"/>
              </a:solidFill>
              <a:latin typeface="Arial"/>
              <a:ea typeface="Arial"/>
              <a:cs typeface="Arial"/>
              <a:sym typeface="Arial"/>
            </a:endParaRPr>
          </a:p>
        </p:txBody>
      </p:sp>
      <p:sp>
        <p:nvSpPr>
          <p:cNvPr id="130" name="Google Shape;130;p19"/>
          <p:cNvSpPr txBox="1"/>
          <p:nvPr/>
        </p:nvSpPr>
        <p:spPr>
          <a:xfrm>
            <a:off x="1750741" y="647002"/>
            <a:ext cx="6383655" cy="614045"/>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b. Kepentingan Perancangan</a:t>
            </a:r>
            <a:endParaRPr sz="1400" b="0" i="0" u="none" strike="noStrike" cap="none">
              <a:solidFill>
                <a:srgbClr val="000000"/>
              </a:solidFill>
              <a:latin typeface="Arial"/>
              <a:ea typeface="Arial"/>
              <a:cs typeface="Arial"/>
              <a:sym typeface="Arial"/>
            </a:endParaRPr>
          </a:p>
        </p:txBody>
      </p:sp>
      <p:sp>
        <p:nvSpPr>
          <p:cNvPr id="131" name="Google Shape;131;p19"/>
          <p:cNvSpPr txBox="1"/>
          <p:nvPr/>
        </p:nvSpPr>
        <p:spPr>
          <a:xfrm>
            <a:off x="1750741" y="1417320"/>
            <a:ext cx="7221809" cy="4782758"/>
          </a:xfrm>
          <a:prstGeom prst="rect">
            <a:avLst/>
          </a:prstGeom>
          <a:noFill/>
          <a:ln>
            <a:noFill/>
          </a:ln>
        </p:spPr>
        <p:txBody>
          <a:bodyPr spcFirstLastPara="1" wrap="square" lIns="91425" tIns="45700" rIns="91425" bIns="45700" anchor="t" anchorCtr="0">
            <a:noAutofit/>
          </a:bodyPr>
          <a:lstStyle/>
          <a:p>
            <a:pPr marL="273050" marR="0" lvl="0" indent="-271780" algn="just" rtl="0">
              <a:lnSpc>
                <a:spcPct val="90000"/>
              </a:lnSpc>
              <a:spcBef>
                <a:spcPts val="0"/>
              </a:spcBef>
              <a:spcAft>
                <a:spcPts val="0"/>
              </a:spcAft>
              <a:buClr>
                <a:srgbClr val="000000"/>
              </a:buClr>
              <a:buSzPts val="1960"/>
              <a:buFont typeface="Century Schoolbook"/>
              <a:buNone/>
            </a:pPr>
            <a:r>
              <a:rPr lang="en-US" sz="2800" b="1" i="0" u="none" strike="noStrike" cap="none">
                <a:solidFill>
                  <a:srgbClr val="FF0000"/>
                </a:solidFill>
                <a:latin typeface="Federo"/>
                <a:ea typeface="Federo"/>
                <a:cs typeface="Federo"/>
                <a:sym typeface="Federo"/>
              </a:rPr>
              <a:t>i. Menyediakan Hala Tuju Organisasi</a:t>
            </a:r>
            <a:endParaRPr sz="2800" b="1" i="0" u="none" strike="noStrike" cap="none">
              <a:solidFill>
                <a:srgbClr val="FF0000"/>
              </a:solidFill>
              <a:latin typeface="Federo"/>
              <a:ea typeface="Federo"/>
              <a:cs typeface="Federo"/>
              <a:sym typeface="Federo"/>
            </a:endParaRPr>
          </a:p>
          <a:p>
            <a:pPr marL="459105" marR="0" lvl="0" indent="-457200" algn="just" rtl="0">
              <a:lnSpc>
                <a:spcPct val="90000"/>
              </a:lnSpc>
              <a:spcBef>
                <a:spcPts val="600"/>
              </a:spcBef>
              <a:spcAft>
                <a:spcPts val="0"/>
              </a:spcAft>
              <a:buClr>
                <a:srgbClr val="002060"/>
              </a:buClr>
              <a:buSzPts val="2800"/>
              <a:buFont typeface="Noto Sans Symbols"/>
              <a:buChar char="❑"/>
            </a:pPr>
            <a:r>
              <a:rPr lang="en-US" sz="2800" b="0" i="0" u="none" strike="noStrike" cap="none">
                <a:solidFill>
                  <a:srgbClr val="0033CC"/>
                </a:solidFill>
                <a:latin typeface="Federo"/>
                <a:ea typeface="Federo"/>
                <a:cs typeface="Federo"/>
                <a:sym typeface="Federo"/>
              </a:rPr>
              <a:t>Membantu pengurus menentukan matlamat, kumpulan kerja dan membangunkan strategi yang menyeluruh bagi mencapai matlamat</a:t>
            </a:r>
            <a:r>
              <a:rPr lang="en-US" sz="2800" b="0" i="0" u="none" strike="noStrike" cap="none">
                <a:solidFill>
                  <a:srgbClr val="000000"/>
                </a:solidFill>
                <a:latin typeface="Federo"/>
                <a:ea typeface="Federo"/>
                <a:cs typeface="Federo"/>
                <a:sym typeface="Federo"/>
              </a:rPr>
              <a:t>.</a:t>
            </a:r>
            <a:endParaRPr sz="2800" b="0" i="0" u="none" strike="noStrike" cap="none">
              <a:solidFill>
                <a:srgbClr val="000000"/>
              </a:solidFill>
              <a:latin typeface="Federo"/>
              <a:ea typeface="Federo"/>
              <a:cs typeface="Federo"/>
              <a:sym typeface="Federo"/>
            </a:endParaRPr>
          </a:p>
          <a:p>
            <a:pPr marL="459105" marR="0" lvl="0" indent="-457200" algn="just" rtl="0">
              <a:lnSpc>
                <a:spcPct val="90000"/>
              </a:lnSpc>
              <a:spcBef>
                <a:spcPts val="600"/>
              </a:spcBef>
              <a:spcAft>
                <a:spcPts val="0"/>
              </a:spcAft>
              <a:buClr>
                <a:srgbClr val="002060"/>
              </a:buClr>
              <a:buSzPts val="2800"/>
              <a:buFont typeface="Noto Sans Symbols"/>
              <a:buChar char="❑"/>
            </a:pPr>
            <a:r>
              <a:rPr lang="en-US" sz="2800" b="0" i="0" u="none" strike="noStrike" cap="none">
                <a:solidFill>
                  <a:srgbClr val="800080"/>
                </a:solidFill>
                <a:latin typeface="Federo"/>
                <a:ea typeface="Federo"/>
                <a:cs typeface="Federo"/>
                <a:sym typeface="Federo"/>
              </a:rPr>
              <a:t>Pengurus juga dapat mengagih dan mengguna sumber dengan lebih efektif dan efisien.</a:t>
            </a:r>
            <a:endParaRPr sz="2800" b="0" i="0" u="none" strike="noStrike" cap="none">
              <a:solidFill>
                <a:srgbClr val="800080"/>
              </a:solidFill>
              <a:latin typeface="Federo"/>
              <a:ea typeface="Federo"/>
              <a:cs typeface="Federo"/>
              <a:sym typeface="Federo"/>
            </a:endParaRPr>
          </a:p>
          <a:p>
            <a:pPr marL="459105" marR="0" lvl="0" indent="-457200" algn="just" rtl="0">
              <a:lnSpc>
                <a:spcPct val="90000"/>
              </a:lnSpc>
              <a:spcBef>
                <a:spcPts val="600"/>
              </a:spcBef>
              <a:spcAft>
                <a:spcPts val="0"/>
              </a:spcAft>
              <a:buClr>
                <a:srgbClr val="002060"/>
              </a:buClr>
              <a:buSzPts val="2800"/>
              <a:buFont typeface="Noto Sans Symbols"/>
              <a:buChar char="❑"/>
            </a:pPr>
            <a:r>
              <a:rPr lang="en-US" sz="2800" b="0" i="0" u="none" strike="noStrike" cap="none">
                <a:solidFill>
                  <a:srgbClr val="990033"/>
                </a:solidFill>
                <a:latin typeface="Federo"/>
                <a:ea typeface="Federo"/>
                <a:cs typeface="Federo"/>
                <a:sym typeface="Federo"/>
              </a:rPr>
              <a:t>Membantu mengenalpasti operasi yang diperlukan serta bagaimana ia mempengaruhi organisasi.</a:t>
            </a:r>
            <a:endParaRPr sz="2800" b="0" i="0" u="none" strike="noStrike" cap="none">
              <a:solidFill>
                <a:srgbClr val="990033"/>
              </a:solidFill>
              <a:latin typeface="Federo"/>
              <a:ea typeface="Federo"/>
              <a:cs typeface="Federo"/>
              <a:sym typeface="Federo"/>
            </a:endParaRPr>
          </a:p>
          <a:p>
            <a:pPr marL="1905" marR="0" lvl="0" indent="0" algn="just" rtl="0">
              <a:lnSpc>
                <a:spcPct val="90000"/>
              </a:lnSpc>
              <a:spcBef>
                <a:spcPts val="600"/>
              </a:spcBef>
              <a:spcAft>
                <a:spcPts val="0"/>
              </a:spcAft>
              <a:buClr>
                <a:srgbClr val="000000"/>
              </a:buClr>
              <a:buSzPts val="2800"/>
              <a:buFont typeface="Arial"/>
              <a:buNone/>
            </a:pPr>
            <a:endParaRPr sz="2800" b="0" i="0" u="none" strike="noStrike" cap="none">
              <a:solidFill>
                <a:srgbClr val="008000"/>
              </a:solidFill>
              <a:latin typeface="Federo"/>
              <a:ea typeface="Federo"/>
              <a:cs typeface="Federo"/>
              <a:sym typeface="Federo"/>
            </a:endParaRPr>
          </a:p>
          <a:p>
            <a:pPr marL="273050" marR="0" lvl="0" indent="-271780" algn="just" rtl="0">
              <a:lnSpc>
                <a:spcPct val="90000"/>
              </a:lnSpc>
              <a:spcBef>
                <a:spcPts val="600"/>
              </a:spcBef>
              <a:spcAft>
                <a:spcPts val="0"/>
              </a:spcAft>
              <a:buClr>
                <a:schemeClr val="dk1"/>
              </a:buClr>
              <a:buSzPts val="1680"/>
              <a:buFont typeface="Calibri"/>
              <a:buNone/>
            </a:pPr>
            <a:endParaRPr sz="28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body" idx="1"/>
          </p:nvPr>
        </p:nvSpPr>
        <p:spPr>
          <a:xfrm>
            <a:off x="2318164" y="629713"/>
            <a:ext cx="6377940" cy="5228273"/>
          </a:xfrm>
          <a:prstGeom prst="rect">
            <a:avLst/>
          </a:prstGeom>
          <a:noFill/>
          <a:ln>
            <a:noFill/>
          </a:ln>
        </p:spPr>
        <p:txBody>
          <a:bodyPr spcFirstLastPara="1" wrap="square" lIns="91425" tIns="45700" rIns="91425" bIns="45700" anchor="t" anchorCtr="0">
            <a:noAutofit/>
          </a:bodyPr>
          <a:lstStyle/>
          <a:p>
            <a:pPr marL="114300" lvl="0" indent="0" algn="l" rtl="0">
              <a:lnSpc>
                <a:spcPct val="90000"/>
              </a:lnSpc>
              <a:spcBef>
                <a:spcPts val="750"/>
              </a:spcBef>
              <a:spcAft>
                <a:spcPts val="0"/>
              </a:spcAft>
              <a:buClr>
                <a:schemeClr val="dk1"/>
              </a:buClr>
              <a:buSzPts val="1800"/>
              <a:buNone/>
            </a:pPr>
            <a:r>
              <a:rPr lang="en-US" sz="3200" b="0" i="0" u="none" strike="noStrike" cap="none">
                <a:solidFill>
                  <a:srgbClr val="000000"/>
                </a:solidFill>
                <a:latin typeface="Federo"/>
                <a:ea typeface="Federo"/>
                <a:cs typeface="Federo"/>
                <a:sym typeface="Federo"/>
              </a:rPr>
              <a:t>Contoh:</a:t>
            </a:r>
            <a:endParaRPr/>
          </a:p>
          <a:p>
            <a:pPr marL="457200" lvl="0" indent="-342900" algn="l" rtl="0">
              <a:lnSpc>
                <a:spcPct val="90000"/>
              </a:lnSpc>
              <a:spcBef>
                <a:spcPts val="75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 </a:t>
            </a:r>
            <a:r>
              <a:rPr lang="en-US" sz="3200" b="0" i="0" u="none" strike="noStrike" cap="none">
                <a:solidFill>
                  <a:srgbClr val="990033"/>
                </a:solidFill>
                <a:latin typeface="Federo"/>
                <a:ea typeface="Federo"/>
                <a:cs typeface="Federo"/>
                <a:sym typeface="Federo"/>
              </a:rPr>
              <a:t>Sehat Herbs Holdings akan menjadi pengeluar produk kesihatan berasaskan herba tropika yang terunggul di Asia menjelang 2023.</a:t>
            </a:r>
            <a:endParaRPr sz="3200">
              <a:latin typeface="Federo"/>
              <a:ea typeface="Federo"/>
              <a:cs typeface="Federo"/>
              <a:sym typeface="Federo"/>
            </a:endParaRPr>
          </a:p>
          <a:p>
            <a:pPr marL="457200" lvl="0" indent="-342900" algn="l" rtl="0">
              <a:lnSpc>
                <a:spcPct val="90000"/>
              </a:lnSpc>
              <a:spcBef>
                <a:spcPts val="750"/>
              </a:spcBef>
              <a:spcAft>
                <a:spcPts val="0"/>
              </a:spcAft>
              <a:buClr>
                <a:srgbClr val="002060"/>
              </a:buClr>
              <a:buSzPts val="3200"/>
              <a:buFont typeface="Noto Sans Symbols"/>
              <a:buChar char="▪"/>
            </a:pPr>
            <a:r>
              <a:rPr lang="en-US" sz="3200">
                <a:solidFill>
                  <a:srgbClr val="000000"/>
                </a:solidFill>
                <a:latin typeface="Federo"/>
                <a:ea typeface="Federo"/>
                <a:cs typeface="Federo"/>
                <a:sym typeface="Federo"/>
              </a:rPr>
              <a:t>Peruntukan bantuan prihatin kerajaan sebanyak RM1juta itu akan diagihkan kepada mereka yang terjejas akibat covid19 pada bulan Jun 2021.</a:t>
            </a:r>
            <a:endParaRPr sz="3200" b="0" i="0" u="none" strike="noStrike" cap="none">
              <a:solidFill>
                <a:srgbClr val="000000"/>
              </a:solidFill>
              <a:latin typeface="Federo"/>
              <a:ea typeface="Federo"/>
              <a:cs typeface="Federo"/>
              <a:sym typeface="Federo"/>
            </a:endParaRPr>
          </a:p>
          <a:p>
            <a:pPr marL="457200" lvl="0" indent="-228600" algn="l" rtl="0">
              <a:lnSpc>
                <a:spcPct val="90000"/>
              </a:lnSpc>
              <a:spcBef>
                <a:spcPts val="750"/>
              </a:spcBef>
              <a:spcAft>
                <a:spcPts val="0"/>
              </a:spcAft>
              <a:buClr>
                <a:schemeClr val="dk1"/>
              </a:buClr>
              <a:buSzPts val="1800"/>
              <a:buNone/>
            </a:pPr>
            <a:endParaRPr sz="3200" b="0" i="0" u="none" strike="noStrike" cap="none">
              <a:solidFill>
                <a:srgbClr val="000000"/>
              </a:solidFill>
              <a:latin typeface="Federo"/>
              <a:ea typeface="Federo"/>
              <a:cs typeface="Federo"/>
              <a:sym typeface="Federo"/>
            </a:endParaRPr>
          </a:p>
          <a:p>
            <a:pPr marL="457200" lvl="0" indent="-228600" algn="l" rtl="0">
              <a:lnSpc>
                <a:spcPct val="90000"/>
              </a:lnSpc>
              <a:spcBef>
                <a:spcPts val="750"/>
              </a:spcBef>
              <a:spcAft>
                <a:spcPts val="0"/>
              </a:spcAft>
              <a:buClr>
                <a:schemeClr val="dk1"/>
              </a:buClr>
              <a:buSzPts val="1800"/>
              <a:buNone/>
            </a:pPr>
            <a:endParaRPr sz="3200">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3" name="Google Shape;143;p21"/>
          <p:cNvSpPr txBox="1"/>
          <p:nvPr/>
        </p:nvSpPr>
        <p:spPr>
          <a:xfrm>
            <a:off x="2352906" y="1260793"/>
            <a:ext cx="6641109" cy="5278120"/>
          </a:xfrm>
          <a:prstGeom prst="rect">
            <a:avLst/>
          </a:prstGeom>
          <a:noFill/>
          <a:ln>
            <a:noFill/>
          </a:ln>
        </p:spPr>
        <p:txBody>
          <a:bodyPr spcFirstLastPara="1" wrap="square" lIns="91425" tIns="45700" rIns="91425" bIns="45700" anchor="t" anchorCtr="0">
            <a:noAutofit/>
          </a:bodyPr>
          <a:lstStyle/>
          <a:p>
            <a:pPr marL="273050" marR="0" lvl="0" indent="-271145" algn="l" rtl="0">
              <a:lnSpc>
                <a:spcPct val="90000"/>
              </a:lnSpc>
              <a:spcBef>
                <a:spcPts val="0"/>
              </a:spcBef>
              <a:spcAft>
                <a:spcPts val="0"/>
              </a:spcAft>
              <a:buClr>
                <a:srgbClr val="000000"/>
              </a:buClr>
              <a:buSzPts val="2400"/>
              <a:buFont typeface="Century Schoolbook"/>
              <a:buNone/>
            </a:pPr>
            <a:r>
              <a:rPr lang="en-US" sz="3200" b="1" i="0" u="none" strike="noStrike" cap="none">
                <a:solidFill>
                  <a:srgbClr val="000000"/>
                </a:solidFill>
                <a:latin typeface="Federo"/>
                <a:ea typeface="Federo"/>
                <a:cs typeface="Federo"/>
                <a:sym typeface="Federo"/>
              </a:rPr>
              <a:t>ii. Tanda aras untuk mencapai objektif</a:t>
            </a:r>
            <a:endParaRPr sz="3200" b="0" i="0" u="none" strike="noStrike" cap="none">
              <a:solidFill>
                <a:srgbClr val="53575C"/>
              </a:solidFill>
              <a:latin typeface="Federo"/>
              <a:ea typeface="Federo"/>
              <a:cs typeface="Federo"/>
              <a:sym typeface="Federo"/>
            </a:endParaRPr>
          </a:p>
          <a:p>
            <a:pPr marL="273050" marR="0" lvl="0" indent="-271145" algn="l" rtl="0">
              <a:lnSpc>
                <a:spcPct val="90000"/>
              </a:lnSpc>
              <a:spcBef>
                <a:spcPts val="600"/>
              </a:spcBef>
              <a:spcAft>
                <a:spcPts val="0"/>
              </a:spcAft>
              <a:buClr>
                <a:schemeClr val="lt1"/>
              </a:buClr>
              <a:buSzPts val="2400"/>
              <a:buFont typeface="Tahoma"/>
              <a:buNone/>
            </a:pPr>
            <a:endParaRPr sz="3200" b="1" i="0" u="none" strike="noStrike" cap="none">
              <a:solidFill>
                <a:srgbClr val="000000"/>
              </a:solidFill>
              <a:latin typeface="Federo"/>
              <a:ea typeface="Federo"/>
              <a:cs typeface="Federo"/>
              <a:sym typeface="Federo"/>
            </a:endParaRPr>
          </a:p>
          <a:p>
            <a:pPr marL="459105" marR="0" lvl="0" indent="-457200" algn="l" rtl="0">
              <a:lnSpc>
                <a:spcPct val="90000"/>
              </a:lnSpc>
              <a:spcBef>
                <a:spcPts val="600"/>
              </a:spcBef>
              <a:spcAft>
                <a:spcPts val="0"/>
              </a:spcAft>
              <a:buClr>
                <a:srgbClr val="002060"/>
              </a:buClr>
              <a:buSzPts val="2400"/>
              <a:buFont typeface="Noto Sans Symbols"/>
              <a:buChar char="❑"/>
            </a:pPr>
            <a:r>
              <a:rPr lang="en-US" sz="3200" b="0" i="0" u="none" strike="noStrike" cap="none">
                <a:solidFill>
                  <a:srgbClr val="000000"/>
                </a:solidFill>
                <a:latin typeface="Federo"/>
                <a:ea typeface="Federo"/>
                <a:cs typeface="Federo"/>
                <a:sym typeface="Federo"/>
              </a:rPr>
              <a:t>Tanda aras adalah </a:t>
            </a:r>
            <a:r>
              <a:rPr lang="en-US" sz="3200" b="0" i="0" u="none" strike="noStrike" cap="none">
                <a:solidFill>
                  <a:srgbClr val="990033"/>
                </a:solidFill>
                <a:latin typeface="Federo"/>
                <a:ea typeface="Federo"/>
                <a:cs typeface="Federo"/>
                <a:sym typeface="Federo"/>
              </a:rPr>
              <a:t>satu proses mencari ciri-ciri produk, perkhidmatan atau proses yang terbaik berbanding pesaing sebagai satu standard atau piawai untuk meningkatkan prestasi organisasi.</a:t>
            </a:r>
            <a:endParaRPr sz="3200" b="0" i="0" u="none" strike="noStrike" cap="none">
              <a:solidFill>
                <a:srgbClr val="990033"/>
              </a:solidFill>
              <a:latin typeface="Federo"/>
              <a:ea typeface="Federo"/>
              <a:cs typeface="Federo"/>
              <a:sym typeface="Federo"/>
            </a:endParaRPr>
          </a:p>
          <a:p>
            <a:pPr marL="459105" marR="0" lvl="0" indent="-457200" algn="l" rtl="0">
              <a:lnSpc>
                <a:spcPct val="90000"/>
              </a:lnSpc>
              <a:spcBef>
                <a:spcPts val="600"/>
              </a:spcBef>
              <a:spcAft>
                <a:spcPts val="0"/>
              </a:spcAft>
              <a:buClr>
                <a:srgbClr val="002060"/>
              </a:buClr>
              <a:buSzPts val="1680"/>
              <a:buFont typeface="Noto Sans Symbols"/>
              <a:buChar char="❑"/>
            </a:pPr>
            <a:r>
              <a:rPr lang="en-US" sz="3200" b="0" i="0" u="none" strike="noStrike" cap="none">
                <a:solidFill>
                  <a:srgbClr val="0033CC"/>
                </a:solidFill>
                <a:latin typeface="Federo"/>
                <a:ea typeface="Federo"/>
                <a:cs typeface="Federo"/>
                <a:sym typeface="Federo"/>
              </a:rPr>
              <a:t>Perancangan membolehkan penetapan tanda aras yang hendak dicapai.</a:t>
            </a:r>
            <a:endParaRPr sz="3200" b="0" i="0" u="none" strike="noStrike" cap="none">
              <a:solidFill>
                <a:srgbClr val="0033CC"/>
              </a:solidFill>
              <a:latin typeface="Federo"/>
              <a:ea typeface="Federo"/>
              <a:cs typeface="Federo"/>
              <a:sym typeface="Federo"/>
            </a:endParaRPr>
          </a:p>
          <a:p>
            <a:pPr marL="273050" marR="0" lvl="0" indent="-271780" algn="just" rtl="0">
              <a:lnSpc>
                <a:spcPct val="90000"/>
              </a:lnSpc>
              <a:spcBef>
                <a:spcPts val="600"/>
              </a:spcBef>
              <a:spcAft>
                <a:spcPts val="0"/>
              </a:spcAft>
              <a:buClr>
                <a:schemeClr val="dk1"/>
              </a:buClr>
              <a:buSzPts val="980"/>
              <a:buFont typeface="Calibri"/>
              <a:buNone/>
            </a:pPr>
            <a:endParaRPr sz="1400" b="0" i="0" u="none" strike="noStrike" cap="none">
              <a:solidFill>
                <a:srgbClr val="000000"/>
              </a:solidFill>
              <a:latin typeface="Federo"/>
              <a:ea typeface="Federo"/>
              <a:cs typeface="Federo"/>
              <a:sym typeface="Federo"/>
            </a:endParaRPr>
          </a:p>
        </p:txBody>
      </p:sp>
      <p:sp>
        <p:nvSpPr>
          <p:cNvPr id="144" name="Google Shape;144;p21"/>
          <p:cNvSpPr txBox="1"/>
          <p:nvPr/>
        </p:nvSpPr>
        <p:spPr>
          <a:xfrm>
            <a:off x="1773044" y="159532"/>
            <a:ext cx="6383655" cy="614045"/>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b. Kepentingan Perancangan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50" name="Google Shape;150;p22"/>
          <p:cNvSpPr txBox="1"/>
          <p:nvPr/>
        </p:nvSpPr>
        <p:spPr>
          <a:xfrm>
            <a:off x="1706137" y="1108074"/>
            <a:ext cx="7129253" cy="4166453"/>
          </a:xfrm>
          <a:prstGeom prst="rect">
            <a:avLst/>
          </a:prstGeom>
          <a:noFill/>
          <a:ln>
            <a:noFill/>
          </a:ln>
        </p:spPr>
        <p:txBody>
          <a:bodyPr spcFirstLastPara="1" wrap="square" lIns="91425" tIns="45700" rIns="91425" bIns="45700" anchor="t" anchorCtr="0">
            <a:spAutoFit/>
          </a:bodyPr>
          <a:lstStyle/>
          <a:p>
            <a:pPr marL="459105" marR="0" lvl="0" indent="-457200" algn="just" rtl="0">
              <a:lnSpc>
                <a:spcPct val="90000"/>
              </a:lnSpc>
              <a:spcBef>
                <a:spcPts val="0"/>
              </a:spcBef>
              <a:spcAft>
                <a:spcPts val="0"/>
              </a:spcAft>
              <a:buClr>
                <a:schemeClr val="accent5"/>
              </a:buClr>
              <a:buSzPts val="1680"/>
              <a:buFont typeface="Noto Sans Symbols"/>
              <a:buChar char="▪"/>
            </a:pPr>
            <a:r>
              <a:rPr lang="en-US" sz="3200" b="0" i="0" u="none" strike="noStrike" cap="none">
                <a:solidFill>
                  <a:srgbClr val="000000"/>
                </a:solidFill>
                <a:latin typeface="Federo"/>
                <a:ea typeface="Federo"/>
                <a:cs typeface="Federo"/>
                <a:sym typeface="Federo"/>
              </a:rPr>
              <a:t>Contoh: Sehat Herbs Holdings (SHH) akan menguasai 30 peratus syer pasaran di Asia bagi produk kesihatan berasaskan herba tropika menjelang 2023. </a:t>
            </a:r>
            <a:endParaRPr sz="3200" b="0" i="0" u="none" strike="noStrike" cap="none">
              <a:solidFill>
                <a:srgbClr val="000000"/>
              </a:solidFill>
              <a:latin typeface="Federo"/>
              <a:ea typeface="Federo"/>
              <a:cs typeface="Federo"/>
              <a:sym typeface="Federo"/>
            </a:endParaRPr>
          </a:p>
          <a:p>
            <a:pPr marL="459105" marR="0" lvl="0" indent="-457200" algn="just" rtl="0">
              <a:lnSpc>
                <a:spcPct val="90000"/>
              </a:lnSpc>
              <a:spcBef>
                <a:spcPts val="600"/>
              </a:spcBef>
              <a:spcAft>
                <a:spcPts val="0"/>
              </a:spcAft>
              <a:buClr>
                <a:schemeClr val="accent5"/>
              </a:buClr>
              <a:buSzPts val="1680"/>
              <a:buFont typeface="Noto Sans Symbols"/>
              <a:buChar char="▪"/>
            </a:pPr>
            <a:r>
              <a:rPr lang="en-US" sz="3200" b="0" i="0" u="none" strike="noStrike" cap="none">
                <a:solidFill>
                  <a:srgbClr val="000000"/>
                </a:solidFill>
                <a:latin typeface="Federo"/>
                <a:ea typeface="Federo"/>
                <a:cs typeface="Federo"/>
                <a:sym typeface="Federo"/>
              </a:rPr>
              <a:t>(</a:t>
            </a:r>
            <a:r>
              <a:rPr lang="en-US" sz="3200" b="0" i="0" u="none" strike="noStrike" cap="none">
                <a:solidFill>
                  <a:srgbClr val="FF0000"/>
                </a:solidFill>
                <a:latin typeface="Federo"/>
                <a:ea typeface="Federo"/>
                <a:cs typeface="Federo"/>
                <a:sym typeface="Federo"/>
              </a:rPr>
              <a:t>30 peratus</a:t>
            </a:r>
            <a:r>
              <a:rPr lang="en-US" sz="3200" b="0" i="0" u="none" strike="noStrike" cap="none">
                <a:solidFill>
                  <a:srgbClr val="000000"/>
                </a:solidFill>
                <a:latin typeface="Federo"/>
                <a:ea typeface="Federo"/>
                <a:cs typeface="Federo"/>
                <a:sym typeface="Federo"/>
              </a:rPr>
              <a:t> dan </a:t>
            </a:r>
            <a:r>
              <a:rPr lang="en-US" sz="3200" b="0" i="0" u="none" strike="noStrike" cap="none">
                <a:solidFill>
                  <a:srgbClr val="FF0000"/>
                </a:solidFill>
                <a:latin typeface="Federo"/>
                <a:ea typeface="Federo"/>
                <a:cs typeface="Federo"/>
                <a:sym typeface="Federo"/>
              </a:rPr>
              <a:t>tahun 2023</a:t>
            </a:r>
            <a:r>
              <a:rPr lang="en-US" sz="3200" b="0" i="0" u="none" strike="noStrike" cap="none">
                <a:solidFill>
                  <a:srgbClr val="000000"/>
                </a:solidFill>
                <a:latin typeface="Federo"/>
                <a:ea typeface="Federo"/>
                <a:cs typeface="Federo"/>
                <a:sym typeface="Federo"/>
              </a:rPr>
              <a:t> adalah menjadi tanda aras yang menjadi panduan dan matlamat yang perlu dicapai oleh pekerja organisasi)</a:t>
            </a:r>
            <a:endParaRPr sz="14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6" name="Google Shape;156;p23"/>
          <p:cNvSpPr txBox="1"/>
          <p:nvPr/>
        </p:nvSpPr>
        <p:spPr>
          <a:xfrm>
            <a:off x="918231" y="764227"/>
            <a:ext cx="7902962" cy="5601475"/>
          </a:xfrm>
          <a:prstGeom prst="rect">
            <a:avLst/>
          </a:prstGeom>
          <a:solidFill>
            <a:srgbClr val="BBD6E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Federo"/>
                <a:ea typeface="Federo"/>
                <a:cs typeface="Federo"/>
                <a:sym typeface="Federo"/>
              </a:rPr>
              <a:t>iii. Bertindak kepada persekitaran yang  dinamik</a:t>
            </a:r>
            <a:endParaRPr sz="28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Pengurus </a:t>
            </a:r>
            <a:r>
              <a:rPr lang="en-US" sz="2800" b="0" i="0" u="none" strike="noStrike" cap="none">
                <a:solidFill>
                  <a:srgbClr val="0033CC"/>
                </a:solidFill>
                <a:latin typeface="Federo"/>
                <a:ea typeface="Federo"/>
                <a:cs typeface="Federo"/>
                <a:sym typeface="Federo"/>
              </a:rPr>
              <a:t>dapat mengenalpasti peluang, masalah dan ancaman yang dihadapi oleh perniagaan </a:t>
            </a:r>
            <a:r>
              <a:rPr lang="en-US" sz="2800" b="0" i="0" u="none" strike="noStrike" cap="none">
                <a:solidFill>
                  <a:srgbClr val="000000"/>
                </a:solidFill>
                <a:latin typeface="Federo"/>
                <a:ea typeface="Federo"/>
                <a:cs typeface="Federo"/>
                <a:sym typeface="Federo"/>
              </a:rPr>
              <a:t>pada masa sekarang dan masa depan</a:t>
            </a: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Pengurus telah </a:t>
            </a:r>
            <a:r>
              <a:rPr lang="en-US" sz="2800" b="0" i="0" u="none" strike="noStrike" cap="none">
                <a:solidFill>
                  <a:srgbClr val="9900FF"/>
                </a:solidFill>
                <a:latin typeface="Federo"/>
                <a:ea typeface="Federo"/>
                <a:cs typeface="Federo"/>
                <a:sym typeface="Federo"/>
              </a:rPr>
              <a:t>bersedia dan boleh membuat pengubahsuaian mengikut situasi </a:t>
            </a:r>
            <a:r>
              <a:rPr lang="en-US" sz="2800" b="0" i="0" u="none" strike="noStrike" cap="none">
                <a:solidFill>
                  <a:srgbClr val="000000"/>
                </a:solidFill>
                <a:latin typeface="Federo"/>
                <a:ea typeface="Federo"/>
                <a:cs typeface="Federo"/>
                <a:sym typeface="Federo"/>
              </a:rPr>
              <a:t>atau masalah yang timbul berdasarkan strategi sediada.</a:t>
            </a: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Memastikan operasi organisasi berjalan lancar </a:t>
            </a:r>
            <a:endParaRPr/>
          </a:p>
          <a:p>
            <a:pPr marL="457200"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FF0000"/>
                </a:solidFill>
                <a:latin typeface="Federo"/>
                <a:ea typeface="Federo"/>
                <a:cs typeface="Federo"/>
                <a:sym typeface="Federo"/>
              </a:rPr>
              <a:t>Persediaan awal dapat menjimatkan kos operasi, mengurangkan pembaziran dan menguruskan risiko dengan baik.</a:t>
            </a:r>
            <a:endParaRPr sz="2800" b="0" i="0" u="none" strike="noStrike" cap="none">
              <a:solidFill>
                <a:srgbClr val="000000"/>
              </a:solidFill>
              <a:latin typeface="Federo"/>
              <a:ea typeface="Federo"/>
              <a:cs typeface="Federo"/>
              <a:sym typeface="Federo"/>
            </a:endParaRPr>
          </a:p>
          <a:p>
            <a:pPr marL="342900" marR="0" lvl="0" indent="-236220" algn="just" rtl="0">
              <a:lnSpc>
                <a:spcPct val="100000"/>
              </a:lnSpc>
              <a:spcBef>
                <a:spcPts val="600"/>
              </a:spcBef>
              <a:spcAft>
                <a:spcPts val="0"/>
              </a:spcAft>
              <a:buClr>
                <a:srgbClr val="FE8637"/>
              </a:buClr>
              <a:buSzPts val="1680"/>
              <a:buFont typeface="Arial"/>
              <a:buNone/>
            </a:pPr>
            <a:endParaRPr sz="2800" b="0" i="0" u="none" strike="noStrike" cap="none">
              <a:solidFill>
                <a:schemeClr val="dk1"/>
              </a:solidFill>
              <a:latin typeface="Federo"/>
              <a:ea typeface="Federo"/>
              <a:cs typeface="Federo"/>
              <a:sym typeface="Federo"/>
            </a:endParaRPr>
          </a:p>
        </p:txBody>
      </p:sp>
      <p:sp>
        <p:nvSpPr>
          <p:cNvPr id="157" name="Google Shape;157;p23"/>
          <p:cNvSpPr txBox="1"/>
          <p:nvPr/>
        </p:nvSpPr>
        <p:spPr>
          <a:xfrm>
            <a:off x="1773044" y="159532"/>
            <a:ext cx="6383655" cy="614045"/>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b. Kepentingan Perancangan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3" name="Google Shape;163;p24"/>
          <p:cNvSpPr txBox="1"/>
          <p:nvPr/>
        </p:nvSpPr>
        <p:spPr>
          <a:xfrm>
            <a:off x="1514475" y="285750"/>
            <a:ext cx="7252335" cy="469709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Federo"/>
                <a:ea typeface="Federo"/>
                <a:cs typeface="Federo"/>
                <a:sym typeface="Federo"/>
              </a:rPr>
              <a:t>Contoh masalah Covid19 yang melanda dunia menyebabkan masyarakat dikenakan perintah berkurung. Banyak organisasi tidak dapat beroperasi maka Pengurus terpaksa mengarahkan pekerja untuk bekerja dari rumah dan mengadakan mesyuarat secara atas talian.</a:t>
            </a:r>
            <a:endParaRPr sz="32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9" name="Google Shape;169;p25"/>
          <p:cNvSpPr txBox="1"/>
          <p:nvPr/>
        </p:nvSpPr>
        <p:spPr>
          <a:xfrm>
            <a:off x="1967023" y="365051"/>
            <a:ext cx="6921795" cy="4579088"/>
          </a:xfrm>
          <a:prstGeom prst="rect">
            <a:avLst/>
          </a:prstGeom>
          <a:noFill/>
          <a:ln>
            <a:noFill/>
          </a:ln>
        </p:spPr>
        <p:txBody>
          <a:bodyPr spcFirstLastPara="1" wrap="square" lIns="91425" tIns="45700" rIns="91425" bIns="45700" anchor="t" anchorCtr="0">
            <a:noAutofit/>
          </a:bodyPr>
          <a:lstStyle/>
          <a:p>
            <a:pPr marL="466725" marR="0" lvl="0" indent="-463550" algn="l" rtl="0">
              <a:lnSpc>
                <a:spcPct val="100000"/>
              </a:lnSpc>
              <a:spcBef>
                <a:spcPts val="0"/>
              </a:spcBef>
              <a:spcAft>
                <a:spcPts val="0"/>
              </a:spcAft>
              <a:buClr>
                <a:srgbClr val="000000"/>
              </a:buClr>
              <a:buSzPts val="2800"/>
              <a:buFont typeface="Century Schoolbook"/>
              <a:buNone/>
            </a:pPr>
            <a:r>
              <a:rPr lang="en-US" sz="3200" b="1" i="0" u="none" strike="noStrike" cap="none">
                <a:solidFill>
                  <a:srgbClr val="990033"/>
                </a:solidFill>
                <a:latin typeface="Federo"/>
                <a:ea typeface="Federo"/>
                <a:cs typeface="Federo"/>
                <a:sym typeface="Federo"/>
              </a:rPr>
              <a:t>iv.	Sebagai Alat Kawalan Pengurus</a:t>
            </a:r>
            <a:endParaRPr sz="3200" b="1" i="0" u="none" strike="noStrike" cap="none">
              <a:solidFill>
                <a:srgbClr val="990033"/>
              </a:solidFill>
              <a:latin typeface="Federo"/>
              <a:ea typeface="Federo"/>
              <a:cs typeface="Federo"/>
              <a:sym typeface="Federo"/>
            </a:endParaRPr>
          </a:p>
          <a:p>
            <a:pPr marL="466725" marR="0" lvl="0" indent="-463550" algn="l" rtl="0">
              <a:lnSpc>
                <a:spcPct val="100000"/>
              </a:lnSpc>
              <a:spcBef>
                <a:spcPts val="0"/>
              </a:spcBef>
              <a:spcAft>
                <a:spcPts val="0"/>
              </a:spcAft>
              <a:buClr>
                <a:srgbClr val="000000"/>
              </a:buClr>
              <a:buSzPts val="2800"/>
              <a:buFont typeface="Century Schoolbook"/>
              <a:buNone/>
            </a:pPr>
            <a:endParaRPr sz="3200" b="1" i="0" u="none" strike="noStrike" cap="none">
              <a:solidFill>
                <a:srgbClr val="000000"/>
              </a:solidFill>
              <a:latin typeface="Federo"/>
              <a:ea typeface="Federo"/>
              <a:cs typeface="Federo"/>
              <a:sym typeface="Federo"/>
            </a:endParaRPr>
          </a:p>
          <a:p>
            <a:pPr marL="459105" marR="0" lvl="0" indent="-457200" algn="just"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Melalui perancangan satu sistem kawalan dapat diwujudkan. </a:t>
            </a:r>
            <a:endParaRPr sz="3200" b="0" i="0" u="none" strike="noStrike" cap="none">
              <a:solidFill>
                <a:srgbClr val="000000"/>
              </a:solidFill>
              <a:latin typeface="Federo"/>
              <a:ea typeface="Federo"/>
              <a:cs typeface="Federo"/>
              <a:sym typeface="Federo"/>
            </a:endParaRPr>
          </a:p>
          <a:p>
            <a:pPr marL="459105" marR="0" lvl="0" indent="-457200" algn="just"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0000FF"/>
                </a:solidFill>
                <a:latin typeface="Federo"/>
                <a:ea typeface="Federo"/>
                <a:cs typeface="Federo"/>
                <a:sym typeface="Federo"/>
              </a:rPr>
              <a:t>Pengurus dapat memastikan pencapaian organisasi selaras dengan perancangan.</a:t>
            </a:r>
            <a:endParaRPr sz="3200" b="0" i="0" u="none" strike="noStrike" cap="none">
              <a:solidFill>
                <a:srgbClr val="0000FF"/>
              </a:solidFill>
              <a:latin typeface="Federo"/>
              <a:ea typeface="Federo"/>
              <a:cs typeface="Federo"/>
              <a:sym typeface="Federo"/>
            </a:endParaRPr>
          </a:p>
          <a:p>
            <a:pPr marL="459105" marR="0" lvl="0" indent="-457200" algn="just"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Tindakan pembetulan dapat dilakukan dari semasa ke semasa. </a:t>
            </a:r>
            <a:endParaRPr sz="32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800"/>
              <a:buFont typeface="Arial"/>
              <a:buNone/>
            </a:pPr>
            <a:endParaRPr sz="2400" b="0" i="1"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p26"/>
          <p:cNvSpPr txBox="1"/>
          <p:nvPr/>
        </p:nvSpPr>
        <p:spPr>
          <a:xfrm>
            <a:off x="1881963" y="-357964"/>
            <a:ext cx="6755248" cy="4600353"/>
          </a:xfrm>
          <a:prstGeom prst="rect">
            <a:avLst/>
          </a:prstGeom>
          <a:noFill/>
          <a:ln>
            <a:noFill/>
          </a:ln>
        </p:spPr>
        <p:txBody>
          <a:bodyPr spcFirstLastPara="1" wrap="square" lIns="91425" tIns="45700" rIns="91425" bIns="45700" anchor="t" anchorCtr="0">
            <a:noAutofit/>
          </a:bodyPr>
          <a:lstStyle/>
          <a:p>
            <a:pPr marL="466725" marR="0" lvl="0" indent="-463550" algn="l" rtl="0">
              <a:lnSpc>
                <a:spcPct val="100000"/>
              </a:lnSpc>
              <a:spcBef>
                <a:spcPts val="0"/>
              </a:spcBef>
              <a:spcAft>
                <a:spcPts val="0"/>
              </a:spcAft>
              <a:buClr>
                <a:srgbClr val="000000"/>
              </a:buClr>
              <a:buSzPts val="2800"/>
              <a:buFont typeface="Century Schoolbook"/>
              <a:buNone/>
            </a:pPr>
            <a:endParaRPr sz="3200" b="1" i="0" u="none" strike="noStrike" cap="none">
              <a:solidFill>
                <a:srgbClr val="000000"/>
              </a:solidFill>
              <a:latin typeface="Federo"/>
              <a:ea typeface="Federo"/>
              <a:cs typeface="Federo"/>
              <a:sym typeface="Federo"/>
            </a:endParaRPr>
          </a:p>
          <a:p>
            <a:pPr marL="273050" marR="0" lvl="0" indent="-271145" algn="just" rtl="0">
              <a:lnSpc>
                <a:spcPct val="100000"/>
              </a:lnSpc>
              <a:spcBef>
                <a:spcPts val="600"/>
              </a:spcBef>
              <a:spcAft>
                <a:spcPts val="0"/>
              </a:spcAft>
              <a:buClr>
                <a:srgbClr val="FE8637"/>
              </a:buClr>
              <a:buSzPts val="1960"/>
              <a:buFont typeface="Noto Sans Symbols"/>
              <a:buChar char="•"/>
            </a:pPr>
            <a:r>
              <a:rPr lang="en-US" sz="3200" b="0" i="0" u="none" strike="noStrike" cap="none">
                <a:solidFill>
                  <a:srgbClr val="000000"/>
                </a:solidFill>
                <a:latin typeface="Federo"/>
                <a:ea typeface="Federo"/>
                <a:cs typeface="Federo"/>
                <a:sym typeface="Federo"/>
              </a:rPr>
              <a:t>Contoh: </a:t>
            </a:r>
            <a:r>
              <a:rPr lang="en-US" sz="3200" b="0" i="0" u="none" strike="noStrike" cap="none">
                <a:solidFill>
                  <a:srgbClr val="009900"/>
                </a:solidFill>
                <a:latin typeface="Federo"/>
                <a:ea typeface="Federo"/>
                <a:cs typeface="Federo"/>
                <a:sym typeface="Federo"/>
              </a:rPr>
              <a:t>Sehat Herbs Holdings (SHH) akan menguasai 30 peratus syer pasaran di Asia bagi produk kesihatan berasaskan herba tropika menjelang 2023. </a:t>
            </a:r>
            <a:endParaRPr sz="3200" b="0" i="0" u="none" strike="noStrike" cap="none">
              <a:solidFill>
                <a:srgbClr val="009900"/>
              </a:solidFill>
              <a:latin typeface="Federo"/>
              <a:ea typeface="Federo"/>
              <a:cs typeface="Federo"/>
              <a:sym typeface="Federo"/>
            </a:endParaRPr>
          </a:p>
          <a:p>
            <a:pPr marL="273050" marR="0" lvl="0" indent="-271145" algn="just" rtl="0">
              <a:lnSpc>
                <a:spcPct val="100000"/>
              </a:lnSpc>
              <a:spcBef>
                <a:spcPts val="600"/>
              </a:spcBef>
              <a:spcAft>
                <a:spcPts val="0"/>
              </a:spcAft>
              <a:buClr>
                <a:srgbClr val="FE8637"/>
              </a:buClr>
              <a:buSzPts val="1960"/>
              <a:buFont typeface="Noto Sans Symbols"/>
              <a:buChar char="•"/>
            </a:pPr>
            <a:r>
              <a:rPr lang="en-US" sz="3200" b="0" i="0" u="none" strike="noStrike" cap="none">
                <a:solidFill>
                  <a:srgbClr val="000000"/>
                </a:solidFill>
                <a:latin typeface="Federo"/>
                <a:ea typeface="Federo"/>
                <a:cs typeface="Federo"/>
                <a:sym typeface="Federo"/>
              </a:rPr>
              <a:t>Sekiranya SHH tidak dapat mencapai syer pasaran pada tahun tersebut maka Pengurus akan mengenalpasti punca dan cuba membangunkan strategi baru.</a:t>
            </a:r>
            <a:endParaRPr sz="32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800"/>
              <a:buFont typeface="Arial"/>
              <a:buNone/>
            </a:pPr>
            <a:endParaRPr sz="3200" b="0" i="1"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27"/>
          <p:cNvSpPr txBox="1"/>
          <p:nvPr/>
        </p:nvSpPr>
        <p:spPr>
          <a:xfrm>
            <a:off x="1042988" y="-11430"/>
            <a:ext cx="8095932"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Federo"/>
                <a:ea typeface="Federo"/>
                <a:cs typeface="Federo"/>
                <a:sym typeface="Federo"/>
              </a:rPr>
              <a:t>2.2.1 PENGENALAN PERANCANGAN</a:t>
            </a:r>
            <a:endParaRPr sz="1400" b="0" i="0" u="none" strike="noStrike" cap="none">
              <a:solidFill>
                <a:srgbClr val="000000"/>
              </a:solidFill>
              <a:latin typeface="Arial"/>
              <a:ea typeface="Arial"/>
              <a:cs typeface="Arial"/>
              <a:sym typeface="Arial"/>
            </a:endParaRPr>
          </a:p>
        </p:txBody>
      </p:sp>
      <p:sp>
        <p:nvSpPr>
          <p:cNvPr id="182" name="Google Shape;182;p27"/>
          <p:cNvSpPr txBox="1"/>
          <p:nvPr/>
        </p:nvSpPr>
        <p:spPr>
          <a:xfrm>
            <a:off x="1384633" y="1218412"/>
            <a:ext cx="7130717" cy="1077218"/>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2.2.1.c. Hubungkait Jenis Perancangan dan Peringkat Pengurusan</a:t>
            </a:r>
            <a:endParaRPr sz="1400" b="0" i="0" u="none" strike="noStrike" cap="none">
              <a:solidFill>
                <a:srgbClr val="000000"/>
              </a:solidFill>
              <a:latin typeface="Arial"/>
              <a:ea typeface="Arial"/>
              <a:cs typeface="Arial"/>
              <a:sym typeface="Arial"/>
            </a:endParaRPr>
          </a:p>
        </p:txBody>
      </p:sp>
      <p:sp>
        <p:nvSpPr>
          <p:cNvPr id="183" name="Google Shape;183;p27"/>
          <p:cNvSpPr txBox="1"/>
          <p:nvPr/>
        </p:nvSpPr>
        <p:spPr>
          <a:xfrm>
            <a:off x="663291" y="2966483"/>
            <a:ext cx="7983046" cy="2785731"/>
          </a:xfrm>
          <a:prstGeom prst="rect">
            <a:avLst/>
          </a:prstGeom>
          <a:solidFill>
            <a:srgbClr val="BBD6EE"/>
          </a:solidFill>
          <a:ln>
            <a:noFill/>
          </a:ln>
        </p:spPr>
        <p:txBody>
          <a:bodyPr spcFirstLastPara="1" wrap="square" lIns="91425" tIns="45700" rIns="91425" bIns="45700" anchor="t" anchorCtr="0">
            <a:noAutofit/>
          </a:bodyPr>
          <a:lstStyle/>
          <a:p>
            <a:pPr marL="466725" marR="0" lvl="0" indent="-306705" algn="just" rtl="0">
              <a:lnSpc>
                <a:spcPct val="100000"/>
              </a:lnSpc>
              <a:spcBef>
                <a:spcPts val="0"/>
              </a:spcBef>
              <a:spcAft>
                <a:spcPts val="0"/>
              </a:spcAft>
              <a:buClr>
                <a:srgbClr val="FE8637"/>
              </a:buClr>
              <a:buSzPts val="2520"/>
              <a:buFont typeface="Times New Roman"/>
              <a:buNone/>
            </a:pPr>
            <a:endParaRPr sz="3200" b="0" i="0" u="none" strike="noStrike" cap="none">
              <a:solidFill>
                <a:schemeClr val="dk1"/>
              </a:solidFill>
              <a:latin typeface="Federo"/>
              <a:ea typeface="Federo"/>
              <a:cs typeface="Federo"/>
              <a:sym typeface="Federo"/>
            </a:endParaRPr>
          </a:p>
          <a:p>
            <a:pPr marL="0" marR="0" lvl="0" indent="0" algn="just" rtl="0">
              <a:lnSpc>
                <a:spcPct val="100000"/>
              </a:lnSpc>
              <a:spcBef>
                <a:spcPts val="0"/>
              </a:spcBef>
              <a:spcAft>
                <a:spcPts val="0"/>
              </a:spcAft>
              <a:buClr>
                <a:srgbClr val="FE8637"/>
              </a:buClr>
              <a:buSzPts val="2520"/>
              <a:buFont typeface="Times New Roman"/>
              <a:buNone/>
            </a:pPr>
            <a:r>
              <a:rPr lang="en-US" sz="3200" b="1" i="0" u="none" strike="noStrike" cap="none">
                <a:solidFill>
                  <a:schemeClr val="dk1"/>
                </a:solidFill>
                <a:latin typeface="Federo"/>
                <a:ea typeface="Federo"/>
                <a:cs typeface="Federo"/>
                <a:sym typeface="Federo"/>
              </a:rPr>
              <a:t>    Jenis-jenis Perancangan</a:t>
            </a:r>
            <a:endParaRPr sz="3200" b="0" i="0" u="none" strike="noStrike" cap="none">
              <a:solidFill>
                <a:srgbClr val="000000"/>
              </a:solidFill>
              <a:latin typeface="Federo"/>
              <a:ea typeface="Federo"/>
              <a:cs typeface="Federo"/>
              <a:sym typeface="Federo"/>
            </a:endParaRPr>
          </a:p>
          <a:p>
            <a:pPr marL="571500" marR="0" lvl="0" indent="-571500" algn="l" rtl="0">
              <a:lnSpc>
                <a:spcPct val="100000"/>
              </a:lnSpc>
              <a:spcBef>
                <a:spcPts val="0"/>
              </a:spcBef>
              <a:spcAft>
                <a:spcPts val="0"/>
              </a:spcAft>
              <a:buClr>
                <a:srgbClr val="002060"/>
              </a:buClr>
              <a:buSzPts val="3200"/>
              <a:buFont typeface="Arial"/>
              <a:buAutoNum type="romanLcPeriod"/>
            </a:pPr>
            <a:r>
              <a:rPr lang="en-US" sz="3200" b="0" i="0" u="none" strike="noStrike" cap="none">
                <a:solidFill>
                  <a:srgbClr val="002060"/>
                </a:solidFill>
                <a:latin typeface="Federo"/>
                <a:ea typeface="Federo"/>
                <a:cs typeface="Federo"/>
                <a:sym typeface="Federo"/>
              </a:rPr>
              <a:t>Perancangan Strategik (Jangka Panjang)</a:t>
            </a:r>
            <a:endParaRPr sz="3200" b="0" i="0" u="none" strike="noStrike" cap="none">
              <a:solidFill>
                <a:srgbClr val="002060"/>
              </a:solidFill>
              <a:latin typeface="Federo"/>
              <a:ea typeface="Federo"/>
              <a:cs typeface="Federo"/>
              <a:sym typeface="Federo"/>
            </a:endParaRPr>
          </a:p>
          <a:p>
            <a:pPr marL="571500" marR="0" lvl="0" indent="-571500" algn="l" rtl="0">
              <a:lnSpc>
                <a:spcPct val="100000"/>
              </a:lnSpc>
              <a:spcBef>
                <a:spcPts val="0"/>
              </a:spcBef>
              <a:spcAft>
                <a:spcPts val="0"/>
              </a:spcAft>
              <a:buClr>
                <a:srgbClr val="002060"/>
              </a:buClr>
              <a:buSzPts val="3200"/>
              <a:buFont typeface="Arial"/>
              <a:buAutoNum type="romanLcPeriod"/>
            </a:pPr>
            <a:r>
              <a:rPr lang="en-US" sz="3200" b="0" i="0" u="none" strike="noStrike" cap="none">
                <a:solidFill>
                  <a:srgbClr val="002060"/>
                </a:solidFill>
                <a:latin typeface="Federo"/>
                <a:ea typeface="Federo"/>
                <a:cs typeface="Federo"/>
                <a:sym typeface="Federo"/>
              </a:rPr>
              <a:t>Perancangan Taktikal  (Jangka Sederhana) </a:t>
            </a:r>
            <a:endParaRPr sz="3200" b="0" i="0" u="none" strike="noStrike" cap="none">
              <a:solidFill>
                <a:srgbClr val="002060"/>
              </a:solidFill>
              <a:latin typeface="Federo"/>
              <a:ea typeface="Federo"/>
              <a:cs typeface="Federo"/>
              <a:sym typeface="Federo"/>
            </a:endParaRPr>
          </a:p>
          <a:p>
            <a:pPr marL="571500" marR="0" lvl="0" indent="-571500" algn="l" rtl="0">
              <a:lnSpc>
                <a:spcPct val="100000"/>
              </a:lnSpc>
              <a:spcBef>
                <a:spcPts val="0"/>
              </a:spcBef>
              <a:spcAft>
                <a:spcPts val="0"/>
              </a:spcAft>
              <a:buClr>
                <a:srgbClr val="002060"/>
              </a:buClr>
              <a:buSzPts val="3200"/>
              <a:buFont typeface="Arial"/>
              <a:buAutoNum type="romanLcPeriod"/>
            </a:pPr>
            <a:r>
              <a:rPr lang="en-US" sz="3200" b="0" i="0" u="none" strike="noStrike" cap="none">
                <a:solidFill>
                  <a:srgbClr val="002060"/>
                </a:solidFill>
                <a:latin typeface="Federo"/>
                <a:ea typeface="Federo"/>
                <a:cs typeface="Federo"/>
                <a:sym typeface="Federo"/>
              </a:rPr>
              <a:t>Perancangan Operasian (Jangka Pendek)    </a:t>
            </a:r>
            <a:endParaRPr sz="3200" b="0" i="0" u="none" strike="noStrike" cap="none">
              <a:solidFill>
                <a:srgbClr val="00206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28"/>
          <p:cNvSpPr txBox="1"/>
          <p:nvPr/>
        </p:nvSpPr>
        <p:spPr>
          <a:xfrm>
            <a:off x="999461" y="517524"/>
            <a:ext cx="7869437" cy="5822951"/>
          </a:xfrm>
          <a:prstGeom prst="rect">
            <a:avLst/>
          </a:prstGeom>
          <a:solidFill>
            <a:srgbClr val="BBD6EE"/>
          </a:solid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i.  Perancangan Strategik  </a:t>
            </a:r>
            <a:endParaRPr sz="3200" b="1" i="0" u="none" strike="noStrike" cap="none">
              <a:solidFill>
                <a:schemeClr val="dk1"/>
              </a:solidFill>
              <a:latin typeface="Federo"/>
              <a:ea typeface="Federo"/>
              <a:cs typeface="Federo"/>
              <a:sym typeface="Federo"/>
            </a:endParaRPr>
          </a:p>
          <a:p>
            <a:pPr marL="0" marR="0" lvl="0" indent="0" algn="just"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    (Jangka Panjang)</a:t>
            </a:r>
            <a:endParaRPr sz="3200" b="0" i="0" u="none" strike="noStrike" cap="none">
              <a:solidFill>
                <a:srgbClr val="000000"/>
              </a:solidFill>
              <a:latin typeface="Federo"/>
              <a:ea typeface="Federo"/>
              <a:cs typeface="Federo"/>
              <a:sym typeface="Federo"/>
            </a:endParaRPr>
          </a:p>
          <a:p>
            <a:pPr marL="271145" marR="0" lvl="0" indent="-164465" algn="just" rtl="0">
              <a:lnSpc>
                <a:spcPct val="90000"/>
              </a:lnSpc>
              <a:spcBef>
                <a:spcPts val="0"/>
              </a:spcBef>
              <a:spcAft>
                <a:spcPts val="0"/>
              </a:spcAft>
              <a:buClr>
                <a:srgbClr val="FE8637"/>
              </a:buClr>
              <a:buSzPts val="1680"/>
              <a:buFont typeface="Noto Sans Symbols"/>
              <a:buNone/>
            </a:pPr>
            <a:endParaRPr sz="3200" b="1" i="0" u="none" strike="noStrike" cap="none">
              <a:solidFill>
                <a:srgbClr val="000000"/>
              </a:solidFill>
              <a:latin typeface="Federo"/>
              <a:ea typeface="Federo"/>
              <a:cs typeface="Federo"/>
              <a:sym typeface="Federo"/>
            </a:endParaRPr>
          </a:p>
          <a:p>
            <a:pPr marL="457200" marR="0" lvl="0" indent="-457200" algn="just" rtl="0">
              <a:lnSpc>
                <a:spcPct val="9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Adalah perancangan </a:t>
            </a:r>
            <a:r>
              <a:rPr lang="en-US" sz="3200" b="1" i="0" u="none" strike="noStrike" cap="none">
                <a:solidFill>
                  <a:srgbClr val="FF0000"/>
                </a:solidFill>
                <a:latin typeface="Federo"/>
                <a:ea typeface="Federo"/>
                <a:cs typeface="Federo"/>
                <a:sym typeface="Federo"/>
              </a:rPr>
              <a:t>menyeluruh</a:t>
            </a:r>
            <a:r>
              <a:rPr lang="en-US" sz="3200" b="0" i="0" u="none" strike="noStrike" cap="none">
                <a:solidFill>
                  <a:srgbClr val="000000"/>
                </a:solidFill>
                <a:latin typeface="Federo"/>
                <a:ea typeface="Federo"/>
                <a:cs typeface="Federo"/>
                <a:sym typeface="Federo"/>
              </a:rPr>
              <a:t> bagi mencapai matlamat organisasi.</a:t>
            </a:r>
            <a:endParaRPr sz="3200" b="0" i="0" u="none" strike="noStrike" cap="none">
              <a:solidFill>
                <a:srgbClr val="000000"/>
              </a:solidFill>
              <a:latin typeface="Federo"/>
              <a:ea typeface="Federo"/>
              <a:cs typeface="Federo"/>
              <a:sym typeface="Federo"/>
            </a:endParaRPr>
          </a:p>
          <a:p>
            <a:pPr marL="457200" marR="0" lvl="0" indent="-457200" algn="just" rtl="0">
              <a:lnSpc>
                <a:spcPct val="9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Melibatkan </a:t>
            </a:r>
            <a:r>
              <a:rPr lang="en-US" sz="3200" b="0" i="0" u="none" strike="noStrike" cap="none">
                <a:solidFill>
                  <a:srgbClr val="FF0000"/>
                </a:solidFill>
                <a:latin typeface="Federo"/>
                <a:ea typeface="Federo"/>
                <a:cs typeface="Federo"/>
                <a:sym typeface="Federo"/>
              </a:rPr>
              <a:t>proses pembuatan keputusan berkenaan matlamat jangka panjang </a:t>
            </a:r>
            <a:r>
              <a:rPr lang="en-US" sz="3200" b="0" i="0" u="none" strike="noStrike" cap="none">
                <a:solidFill>
                  <a:srgbClr val="000000"/>
                </a:solidFill>
                <a:latin typeface="Federo"/>
                <a:ea typeface="Federo"/>
                <a:cs typeface="Federo"/>
                <a:sym typeface="Federo"/>
              </a:rPr>
              <a:t>organisasi.</a:t>
            </a:r>
            <a:endParaRPr sz="3200" b="0" i="0" u="none" strike="noStrike" cap="none">
              <a:solidFill>
                <a:srgbClr val="000000"/>
              </a:solidFill>
              <a:latin typeface="Federo"/>
              <a:ea typeface="Federo"/>
              <a:cs typeface="Federo"/>
              <a:sym typeface="Federo"/>
            </a:endParaRPr>
          </a:p>
          <a:p>
            <a:pPr marL="457200" marR="0" lvl="0" indent="-457200" algn="just" rtl="0">
              <a:lnSpc>
                <a:spcPct val="9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Tempoh masa </a:t>
            </a:r>
            <a:r>
              <a:rPr lang="en-US" sz="3200" b="0" i="0" u="none" strike="noStrike" cap="none">
                <a:solidFill>
                  <a:srgbClr val="FF0000"/>
                </a:solidFill>
                <a:latin typeface="Federo"/>
                <a:ea typeface="Federo"/>
                <a:cs typeface="Federo"/>
                <a:sym typeface="Federo"/>
              </a:rPr>
              <a:t>melebihi tiga tahun</a:t>
            </a:r>
            <a:r>
              <a:rPr lang="en-US" sz="3200" b="1" i="0" u="none" strike="noStrike" cap="none">
                <a:solidFill>
                  <a:srgbClr val="548135"/>
                </a:solidFill>
                <a:latin typeface="Federo"/>
                <a:ea typeface="Federo"/>
                <a:cs typeface="Federo"/>
                <a:sym typeface="Federo"/>
              </a:rPr>
              <a:t>. </a:t>
            </a:r>
            <a:endParaRPr sz="3200" b="1" i="0" u="none" strike="noStrike" cap="none">
              <a:solidFill>
                <a:srgbClr val="548135"/>
              </a:solidFill>
              <a:latin typeface="Federo"/>
              <a:ea typeface="Federo"/>
              <a:cs typeface="Federo"/>
              <a:sym typeface="Federo"/>
            </a:endParaRPr>
          </a:p>
          <a:p>
            <a:pPr marL="457200" marR="0" lvl="0" indent="-457200" algn="just" rtl="0">
              <a:lnSpc>
                <a:spcPct val="9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Dilakukan oleh </a:t>
            </a:r>
            <a:r>
              <a:rPr lang="en-US" sz="3200" b="0" i="0" u="none" strike="noStrike" cap="none">
                <a:solidFill>
                  <a:srgbClr val="FF0000"/>
                </a:solidFill>
                <a:latin typeface="Federo"/>
                <a:ea typeface="Federo"/>
                <a:cs typeface="Federo"/>
                <a:sym typeface="Federo"/>
              </a:rPr>
              <a:t>pengurus peringkat atasan</a:t>
            </a:r>
            <a:r>
              <a:rPr lang="en-US" sz="3200" b="0" i="0" u="none" strike="noStrike" cap="none">
                <a:solidFill>
                  <a:srgbClr val="C00000"/>
                </a:solidFill>
                <a:latin typeface="Federo"/>
                <a:ea typeface="Federo"/>
                <a:cs typeface="Federo"/>
                <a:sym typeface="Federo"/>
              </a:rPr>
              <a:t>.</a:t>
            </a:r>
            <a:endParaRPr sz="3200" b="0" i="0" u="none" strike="noStrike" cap="none">
              <a:solidFill>
                <a:srgbClr val="C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9"/>
          <p:cNvSpPr txBox="1"/>
          <p:nvPr/>
        </p:nvSpPr>
        <p:spPr>
          <a:xfrm>
            <a:off x="999461" y="533400"/>
            <a:ext cx="7815610" cy="5909930"/>
          </a:xfrm>
          <a:prstGeom prst="rect">
            <a:avLst/>
          </a:prstGeom>
          <a:solidFill>
            <a:srgbClr val="BBD6EE"/>
          </a:solidFill>
          <a:ln>
            <a:noFill/>
          </a:ln>
        </p:spPr>
        <p:txBody>
          <a:bodyPr spcFirstLastPara="1" wrap="square" lIns="91425" tIns="45700" rIns="91425" bIns="45700" anchor="t" anchorCtr="0">
            <a:noAutofit/>
          </a:bodyPr>
          <a:lstStyle/>
          <a:p>
            <a:pPr marL="271145" marR="0" lvl="0" indent="-271145" algn="l" rtl="0">
              <a:lnSpc>
                <a:spcPct val="90000"/>
              </a:lnSpc>
              <a:spcBef>
                <a:spcPts val="0"/>
              </a:spcBef>
              <a:spcAft>
                <a:spcPts val="0"/>
              </a:spcAft>
              <a:buClr>
                <a:srgbClr val="FE8637"/>
              </a:buClr>
              <a:buSzPts val="1680"/>
              <a:buFont typeface="Noto Sans Symbols"/>
              <a:buChar char="•"/>
            </a:pPr>
            <a:r>
              <a:rPr lang="en-US" sz="3200" b="1" i="0" u="none" strike="noStrike" cap="none">
                <a:solidFill>
                  <a:schemeClr val="dk1"/>
                </a:solidFill>
                <a:latin typeface="Federo"/>
                <a:ea typeface="Federo"/>
                <a:cs typeface="Federo"/>
                <a:sym typeface="Federo"/>
              </a:rPr>
              <a:t>i.  Perancangan Strategik  (Jangka Panjang)</a:t>
            </a:r>
            <a:endParaRPr sz="3200" b="0" i="0" u="none" strike="noStrike" cap="none">
              <a:solidFill>
                <a:srgbClr val="000000"/>
              </a:solidFill>
              <a:latin typeface="Federo"/>
              <a:ea typeface="Federo"/>
              <a:cs typeface="Federo"/>
              <a:sym typeface="Federo"/>
            </a:endParaRPr>
          </a:p>
          <a:p>
            <a:pPr marL="271145" marR="0" lvl="0" indent="-164465" algn="just" rtl="0">
              <a:lnSpc>
                <a:spcPct val="90000"/>
              </a:lnSpc>
              <a:spcBef>
                <a:spcPts val="0"/>
              </a:spcBef>
              <a:spcAft>
                <a:spcPts val="0"/>
              </a:spcAft>
              <a:buClr>
                <a:srgbClr val="FE8637"/>
              </a:buClr>
              <a:buSzPts val="1680"/>
              <a:buFont typeface="Noto Sans Symbols"/>
              <a:buNone/>
            </a:pPr>
            <a:endParaRPr sz="3200" b="1" i="0" u="none" strike="noStrike" cap="none">
              <a:solidFill>
                <a:srgbClr val="000000"/>
              </a:solidFill>
              <a:latin typeface="Federo"/>
              <a:ea typeface="Federo"/>
              <a:cs typeface="Federo"/>
              <a:sym typeface="Federo"/>
            </a:endParaRPr>
          </a:p>
          <a:p>
            <a:pPr marL="457200" marR="0" lvl="0" indent="-457200" algn="l" rtl="0">
              <a:lnSpc>
                <a:spcPct val="90000"/>
              </a:lnSpc>
              <a:spcBef>
                <a:spcPts val="600"/>
              </a:spcBef>
              <a:spcAft>
                <a:spcPts val="0"/>
              </a:spcAft>
              <a:buClr>
                <a:srgbClr val="002060"/>
              </a:buClr>
              <a:buSzPts val="3200"/>
              <a:buFont typeface="Noto Sans Symbols"/>
              <a:buChar char="❑"/>
            </a:pPr>
            <a:r>
              <a:rPr lang="en-US" sz="3200" b="0" i="0" u="none" strike="noStrike" cap="none">
                <a:solidFill>
                  <a:srgbClr val="C00000"/>
                </a:solidFill>
                <a:latin typeface="Federo"/>
                <a:ea typeface="Federo"/>
                <a:cs typeface="Federo"/>
                <a:sym typeface="Federo"/>
              </a:rPr>
              <a:t>Risiko yang tinggi</a:t>
            </a:r>
            <a:r>
              <a:rPr lang="en-US" sz="3200" b="0" i="0" u="none" strike="noStrike" cap="none">
                <a:solidFill>
                  <a:srgbClr val="000000"/>
                </a:solidFill>
                <a:latin typeface="Federo"/>
                <a:ea typeface="Federo"/>
                <a:cs typeface="Federo"/>
                <a:sym typeface="Federo"/>
              </a:rPr>
              <a:t> kerana melibatkan perancangan keseluruhan.</a:t>
            </a:r>
            <a:endParaRPr/>
          </a:p>
          <a:p>
            <a:pPr marL="0" marR="0" lvl="0" indent="0" algn="l" rtl="0">
              <a:lnSpc>
                <a:spcPct val="90000"/>
              </a:lnSpc>
              <a:spcBef>
                <a:spcPts val="600"/>
              </a:spcBef>
              <a:spcAft>
                <a:spcPts val="0"/>
              </a:spcAft>
              <a:buNone/>
            </a:pPr>
            <a:endParaRPr sz="3200" b="0" i="0" u="none" strike="noStrike" cap="none">
              <a:solidFill>
                <a:srgbClr val="000000"/>
              </a:solidFill>
              <a:latin typeface="Federo"/>
              <a:ea typeface="Federo"/>
              <a:cs typeface="Federo"/>
              <a:sym typeface="Federo"/>
            </a:endParaRPr>
          </a:p>
          <a:p>
            <a:pPr marL="457200" marR="0" lvl="0" indent="-457200" algn="just" rtl="0">
              <a:lnSpc>
                <a:spcPct val="9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Memerlukan </a:t>
            </a:r>
            <a:r>
              <a:rPr lang="en-US" sz="3200" b="0" i="0" u="none" strike="noStrike" cap="none">
                <a:solidFill>
                  <a:srgbClr val="FF0000"/>
                </a:solidFill>
                <a:latin typeface="Federo"/>
                <a:ea typeface="Federo"/>
                <a:cs typeface="Federo"/>
                <a:sym typeface="Federo"/>
              </a:rPr>
              <a:t>kemahiran konseptual yang tinggi.</a:t>
            </a:r>
            <a:endParaRPr/>
          </a:p>
          <a:p>
            <a:pPr marL="0" marR="0" lvl="0" indent="0" algn="just" rtl="0">
              <a:lnSpc>
                <a:spcPct val="90000"/>
              </a:lnSpc>
              <a:spcBef>
                <a:spcPts val="600"/>
              </a:spcBef>
              <a:spcAft>
                <a:spcPts val="0"/>
              </a:spcAft>
              <a:buNone/>
            </a:pPr>
            <a:endParaRPr sz="3200" b="0" i="0" u="none" strike="noStrike" cap="none">
              <a:solidFill>
                <a:srgbClr val="FF0000"/>
              </a:solidFill>
              <a:latin typeface="Federo"/>
              <a:ea typeface="Federo"/>
              <a:cs typeface="Federo"/>
              <a:sym typeface="Federo"/>
            </a:endParaRPr>
          </a:p>
          <a:p>
            <a:pPr marL="271145" marR="0" lvl="0" indent="-271145" algn="just" rtl="0">
              <a:lnSpc>
                <a:spcPct val="90000"/>
              </a:lnSpc>
              <a:spcBef>
                <a:spcPts val="600"/>
              </a:spcBef>
              <a:spcAft>
                <a:spcPts val="0"/>
              </a:spcAft>
              <a:buClr>
                <a:srgbClr val="FE8637"/>
              </a:buClr>
              <a:buSzPts val="1680"/>
              <a:buFont typeface="Noto Sans Symbols"/>
              <a:buChar char="•"/>
            </a:pPr>
            <a:r>
              <a:rPr lang="en-US" sz="3200" b="0" i="0" u="none" strike="noStrike" cap="none">
                <a:solidFill>
                  <a:srgbClr val="FF0000"/>
                </a:solidFill>
                <a:latin typeface="Federo"/>
                <a:ea typeface="Federo"/>
                <a:cs typeface="Federo"/>
                <a:sym typeface="Federo"/>
              </a:rPr>
              <a:t>Contoh:</a:t>
            </a:r>
            <a:r>
              <a:rPr lang="en-US" sz="3200" b="0" i="0" u="none" strike="noStrike" cap="none">
                <a:solidFill>
                  <a:srgbClr val="000000"/>
                </a:solidFill>
                <a:latin typeface="Federo"/>
                <a:ea typeface="Federo"/>
                <a:cs typeface="Federo"/>
                <a:sym typeface="Federo"/>
              </a:rPr>
              <a:t> Syarikat Triple Jati (STJ) ingin meluaskan pasaran perabotnya ke pasaran Eropah 5 tahun akan datang.</a:t>
            </a:r>
            <a:endParaRPr sz="32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30"/>
          <p:cNvSpPr txBox="1"/>
          <p:nvPr/>
        </p:nvSpPr>
        <p:spPr>
          <a:xfrm>
            <a:off x="861236" y="457201"/>
            <a:ext cx="8147469" cy="5635256"/>
          </a:xfrm>
          <a:prstGeom prst="rect">
            <a:avLst/>
          </a:prstGeom>
          <a:solidFill>
            <a:srgbClr val="BBD6EE"/>
          </a:solid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en-US" sz="3200" b="1" i="0" u="none" strike="noStrike" cap="none">
                <a:solidFill>
                  <a:schemeClr val="dk1"/>
                </a:solidFill>
                <a:latin typeface="Federo"/>
                <a:ea typeface="Federo"/>
                <a:cs typeface="Federo"/>
                <a:sym typeface="Federo"/>
              </a:rPr>
              <a:t>ii. Perancangan Taktikal (Jangka Sederhana)</a:t>
            </a:r>
            <a:endParaRPr sz="3200" b="0" i="0" u="none" strike="noStrike" cap="none">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rgbClr val="000000"/>
              </a:buClr>
              <a:buSzPts val="2800"/>
              <a:buFont typeface="Arial"/>
              <a:buNone/>
            </a:pPr>
            <a:endParaRPr sz="3200" b="1" i="0" u="none" strike="noStrike" cap="none">
              <a:solidFill>
                <a:schemeClr val="dk1"/>
              </a:solidFill>
              <a:latin typeface="Federo"/>
              <a:ea typeface="Federo"/>
              <a:cs typeface="Federo"/>
              <a:sym typeface="Federo"/>
            </a:endParaRPr>
          </a:p>
          <a:p>
            <a:pPr marL="457200" marR="0" lvl="0" indent="-457200" algn="l"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Adalah perancangan yang direkabentuk bagi  </a:t>
            </a:r>
            <a:r>
              <a:rPr lang="en-US" sz="3200" b="0" i="0" u="none" strike="noStrike" cap="none">
                <a:solidFill>
                  <a:srgbClr val="FF0000"/>
                </a:solidFill>
                <a:latin typeface="Federo"/>
                <a:ea typeface="Federo"/>
                <a:cs typeface="Federo"/>
                <a:sym typeface="Federo"/>
              </a:rPr>
              <a:t>melaksanakan perancangan strategik.</a:t>
            </a:r>
            <a:endParaRPr sz="3200" b="0" i="0" u="none" strike="noStrike" cap="none">
              <a:solidFill>
                <a:srgbClr val="FF0000"/>
              </a:solidFill>
              <a:latin typeface="Federo"/>
              <a:ea typeface="Federo"/>
              <a:cs typeface="Federo"/>
              <a:sym typeface="Federo"/>
            </a:endParaRPr>
          </a:p>
          <a:p>
            <a:pPr marL="457200" marR="0" lvl="0" indent="-457200" algn="l"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FF0000"/>
                </a:solidFill>
                <a:latin typeface="Federo"/>
                <a:ea typeface="Federo"/>
                <a:cs typeface="Federo"/>
                <a:sym typeface="Federo"/>
              </a:rPr>
              <a:t>Diterjemahkan daripada perancangan jangka panjang </a:t>
            </a:r>
            <a:r>
              <a:rPr lang="en-US" sz="3200" b="0" i="0" u="none" strike="noStrike" cap="none">
                <a:solidFill>
                  <a:srgbClr val="000000"/>
                </a:solidFill>
                <a:latin typeface="Federo"/>
                <a:ea typeface="Federo"/>
                <a:cs typeface="Federo"/>
                <a:sym typeface="Federo"/>
              </a:rPr>
              <a:t>oleh pengurus peringkat pertengahan.</a:t>
            </a:r>
            <a:endParaRPr sz="3200" b="0" i="0" u="none" strike="noStrike" cap="none">
              <a:solidFill>
                <a:srgbClr val="000000"/>
              </a:solidFill>
              <a:latin typeface="Federo"/>
              <a:ea typeface="Federo"/>
              <a:cs typeface="Federo"/>
              <a:sym typeface="Federo"/>
            </a:endParaRPr>
          </a:p>
          <a:p>
            <a:pPr marL="457200" marR="0" lvl="0" indent="-457200" algn="l"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FF5050"/>
                </a:solidFill>
                <a:latin typeface="Federo"/>
                <a:ea typeface="Federo"/>
                <a:cs typeface="Federo"/>
                <a:sym typeface="Federo"/>
              </a:rPr>
              <a:t>Tempoh lebih singkat</a:t>
            </a:r>
            <a:r>
              <a:rPr lang="en-US" sz="3200" b="0" i="0" u="none" strike="noStrike" cap="none">
                <a:solidFill>
                  <a:srgbClr val="000000"/>
                </a:solidFill>
                <a:latin typeface="Federo"/>
                <a:ea typeface="Federo"/>
                <a:cs typeface="Federo"/>
                <a:sym typeface="Federo"/>
              </a:rPr>
              <a:t> berbanding perancangan strategik iaitu antara </a:t>
            </a:r>
            <a:r>
              <a:rPr lang="en-US" sz="3200" b="0" i="0" u="none" strike="noStrike" cap="none">
                <a:solidFill>
                  <a:srgbClr val="FF0000"/>
                </a:solidFill>
                <a:latin typeface="Federo"/>
                <a:ea typeface="Federo"/>
                <a:cs typeface="Federo"/>
                <a:sym typeface="Federo"/>
              </a:rPr>
              <a:t>satu hingga tiga tahun.</a:t>
            </a:r>
            <a:endParaRPr sz="3200" b="0" i="0" u="none" strike="noStrike" cap="none">
              <a:solidFill>
                <a:srgbClr val="FF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7" name="Google Shape;207;p31"/>
          <p:cNvSpPr txBox="1"/>
          <p:nvPr/>
        </p:nvSpPr>
        <p:spPr>
          <a:xfrm>
            <a:off x="372140" y="228601"/>
            <a:ext cx="8636565" cy="5800060"/>
          </a:xfrm>
          <a:prstGeom prst="rect">
            <a:avLst/>
          </a:prstGeom>
          <a:solidFill>
            <a:srgbClr val="BBD6EE"/>
          </a:solid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en-US" sz="3200" b="1" i="0" u="none" strike="noStrike" cap="none">
                <a:solidFill>
                  <a:schemeClr val="dk1"/>
                </a:solidFill>
                <a:latin typeface="Federo"/>
                <a:ea typeface="Federo"/>
                <a:cs typeface="Federo"/>
                <a:sym typeface="Federo"/>
              </a:rPr>
              <a:t>ii. Perancangan Taktikal </a:t>
            </a:r>
            <a:endParaRPr sz="3200" b="1" i="0" u="none" strike="noStrike" cap="none">
              <a:solidFill>
                <a:schemeClr val="dk1"/>
              </a:solidFill>
              <a:latin typeface="Federo"/>
              <a:ea typeface="Federo"/>
              <a:cs typeface="Federo"/>
              <a:sym typeface="Federo"/>
            </a:endParaRPr>
          </a:p>
          <a:p>
            <a:pPr marL="0" marR="0" lvl="0" indent="0" algn="just" rtl="0">
              <a:lnSpc>
                <a:spcPct val="100000"/>
              </a:lnSpc>
              <a:spcBef>
                <a:spcPts val="0"/>
              </a:spcBef>
              <a:spcAft>
                <a:spcPts val="0"/>
              </a:spcAft>
              <a:buClr>
                <a:srgbClr val="000000"/>
              </a:buClr>
              <a:buSzPts val="2800"/>
              <a:buFont typeface="Arial"/>
              <a:buNone/>
            </a:pPr>
            <a:r>
              <a:rPr lang="en-US" sz="3200" b="1" i="0" u="none" strike="noStrike" cap="none">
                <a:solidFill>
                  <a:schemeClr val="dk1"/>
                </a:solidFill>
                <a:latin typeface="Federo"/>
                <a:ea typeface="Federo"/>
                <a:cs typeface="Federo"/>
                <a:sym typeface="Federo"/>
              </a:rPr>
              <a:t>    (Jangka Sederhana)</a:t>
            </a:r>
            <a:endParaRPr sz="3200" b="0" i="0" u="none" strike="noStrike" cap="none">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rgbClr val="000000"/>
              </a:buClr>
              <a:buSzPts val="2800"/>
              <a:buFont typeface="Arial"/>
              <a:buNone/>
            </a:pPr>
            <a:endParaRPr sz="3200" b="1" i="0" u="none" strike="noStrike" cap="none">
              <a:solidFill>
                <a:schemeClr val="dk1"/>
              </a:solidFill>
              <a:latin typeface="Federo"/>
              <a:ea typeface="Federo"/>
              <a:cs typeface="Federo"/>
              <a:sym typeface="Federo"/>
            </a:endParaRPr>
          </a:p>
          <a:p>
            <a:pPr marL="457200" marR="0" lvl="0" indent="-457200" algn="just"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Dikenali sebagai </a:t>
            </a:r>
            <a:r>
              <a:rPr lang="en-US" sz="3200" b="0" i="0" u="none" strike="noStrike" cap="none">
                <a:solidFill>
                  <a:srgbClr val="FF0000"/>
                </a:solidFill>
                <a:latin typeface="Federo"/>
                <a:ea typeface="Federo"/>
                <a:cs typeface="Federo"/>
                <a:sym typeface="Federo"/>
              </a:rPr>
              <a:t>rancangan fungsian </a:t>
            </a:r>
            <a:r>
              <a:rPr lang="en-US" sz="3200" b="0" i="0" u="none" strike="noStrike" cap="none">
                <a:solidFill>
                  <a:srgbClr val="000000"/>
                </a:solidFill>
                <a:latin typeface="Federo"/>
                <a:ea typeface="Federo"/>
                <a:cs typeface="Federo"/>
                <a:sym typeface="Federo"/>
              </a:rPr>
              <a:t>yang meliputi perancangan sesuatu jabatan seperti perancangan pemasaran, perancangan kewangan, perancangan sumber manusia dan perancangan pengeluaran.</a:t>
            </a:r>
            <a:endParaRPr sz="3200" b="0" i="0" u="none" strike="noStrike" cap="none">
              <a:solidFill>
                <a:srgbClr val="000000"/>
              </a:solidFill>
              <a:latin typeface="Federo"/>
              <a:ea typeface="Federo"/>
              <a:cs typeface="Federo"/>
              <a:sym typeface="Federo"/>
            </a:endParaRPr>
          </a:p>
          <a:p>
            <a:pPr marL="271145" marR="0" lvl="0" indent="-271145" algn="just" rtl="0">
              <a:lnSpc>
                <a:spcPct val="100000"/>
              </a:lnSpc>
              <a:spcBef>
                <a:spcPts val="600"/>
              </a:spcBef>
              <a:spcAft>
                <a:spcPts val="0"/>
              </a:spcAft>
              <a:buClr>
                <a:srgbClr val="FE8637"/>
              </a:buClr>
              <a:buSzPts val="1680"/>
              <a:buFont typeface="Noto Sans Symbols"/>
              <a:buChar char="•"/>
            </a:pPr>
            <a:r>
              <a:rPr lang="en-US" sz="3200" b="0" i="0" u="none" strike="noStrike" cap="none">
                <a:solidFill>
                  <a:srgbClr val="FF0000"/>
                </a:solidFill>
                <a:latin typeface="Federo"/>
                <a:ea typeface="Federo"/>
                <a:cs typeface="Federo"/>
                <a:sym typeface="Federo"/>
              </a:rPr>
              <a:t>Contoh:</a:t>
            </a:r>
            <a:r>
              <a:rPr lang="en-US" sz="3200" b="0" i="0" u="none" strike="noStrike" cap="none">
                <a:solidFill>
                  <a:srgbClr val="000000"/>
                </a:solidFill>
                <a:latin typeface="Federo"/>
                <a:ea typeface="Federo"/>
                <a:cs typeface="Federo"/>
                <a:sym typeface="Federo"/>
              </a:rPr>
              <a:t>  </a:t>
            </a:r>
            <a:r>
              <a:rPr lang="en-US" sz="3200" b="1" i="0" u="none" strike="noStrike" cap="none">
                <a:solidFill>
                  <a:srgbClr val="9900FF"/>
                </a:solidFill>
                <a:latin typeface="Federo"/>
                <a:ea typeface="Federo"/>
                <a:cs typeface="Federo"/>
                <a:sym typeface="Federo"/>
              </a:rPr>
              <a:t>Jabatan Pengeluaran Syarikat Triple Jati mensasarkan peningkatan volum pengeluaran sebanyak 20% dalam tempoh 2 tahun.</a:t>
            </a:r>
            <a:endParaRPr sz="3200" b="1" i="0" u="none" strike="noStrike" cap="none">
              <a:solidFill>
                <a:srgbClr val="9900FF"/>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3" name="Google Shape;213;p32"/>
          <p:cNvSpPr txBox="1"/>
          <p:nvPr/>
        </p:nvSpPr>
        <p:spPr>
          <a:xfrm>
            <a:off x="754911" y="609600"/>
            <a:ext cx="8028725" cy="44302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iii.Perancangan Operasian (Jangka Pendek)</a:t>
            </a:r>
            <a:endParaRPr sz="3200" b="0" i="0" u="none" strike="noStrike" cap="none">
              <a:solidFill>
                <a:srgbClr val="000000"/>
              </a:solidFill>
              <a:latin typeface="Federo"/>
              <a:ea typeface="Federo"/>
              <a:cs typeface="Federo"/>
              <a:sym typeface="Federo"/>
            </a:endParaRPr>
          </a:p>
          <a:p>
            <a:pPr marL="271145" marR="0" lvl="0" indent="-164465" algn="l" rtl="0">
              <a:lnSpc>
                <a:spcPct val="100000"/>
              </a:lnSpc>
              <a:spcBef>
                <a:spcPts val="0"/>
              </a:spcBef>
              <a:spcAft>
                <a:spcPts val="0"/>
              </a:spcAft>
              <a:buClr>
                <a:srgbClr val="FE8637"/>
              </a:buClr>
              <a:buSzPts val="1680"/>
              <a:buFont typeface="Noto Sans Symbols"/>
              <a:buNone/>
            </a:pPr>
            <a:endParaRPr sz="3200" b="1" i="0" u="none" strike="noStrike" cap="none">
              <a:solidFill>
                <a:srgbClr val="000000"/>
              </a:solidFill>
              <a:latin typeface="Federo"/>
              <a:ea typeface="Federo"/>
              <a:cs typeface="Federo"/>
              <a:sym typeface="Federo"/>
            </a:endParaRPr>
          </a:p>
          <a:p>
            <a:pPr marL="457200" marR="0" lvl="0" indent="-457200" algn="l"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Adalah </a:t>
            </a:r>
            <a:r>
              <a:rPr lang="en-US" sz="3200" b="0" i="0" u="none" strike="noStrike" cap="none">
                <a:solidFill>
                  <a:srgbClr val="FF0000"/>
                </a:solidFill>
                <a:latin typeface="Federo"/>
                <a:ea typeface="Federo"/>
                <a:cs typeface="Federo"/>
                <a:sym typeface="Federo"/>
              </a:rPr>
              <a:t>perancangan terperinci yang dilakukan oleh pengurus peringkat bawahan.</a:t>
            </a:r>
            <a:endParaRPr sz="3200" b="0" i="0" u="none" strike="noStrike" cap="none">
              <a:solidFill>
                <a:srgbClr val="FF0000"/>
              </a:solidFill>
              <a:latin typeface="Federo"/>
              <a:ea typeface="Federo"/>
              <a:cs typeface="Federo"/>
              <a:sym typeface="Federo"/>
            </a:endParaRPr>
          </a:p>
          <a:p>
            <a:pPr marL="457200" marR="0" lvl="0" indent="-457200" algn="l" rtl="0">
              <a:lnSpc>
                <a:spcPct val="100000"/>
              </a:lnSpc>
              <a:spcBef>
                <a:spcPts val="600"/>
              </a:spcBef>
              <a:spcAft>
                <a:spcPts val="0"/>
              </a:spcAft>
              <a:buClr>
                <a:srgbClr val="002060"/>
              </a:buClr>
              <a:buSzPts val="3200"/>
              <a:buFont typeface="Noto Sans Symbols"/>
              <a:buChar char="❑"/>
            </a:pPr>
            <a:r>
              <a:rPr lang="en-US" sz="3200" b="0" i="0" u="none" strike="noStrike" cap="none">
                <a:solidFill>
                  <a:schemeClr val="dk1"/>
                </a:solidFill>
                <a:latin typeface="Federo"/>
                <a:ea typeface="Federo"/>
                <a:cs typeface="Federo"/>
                <a:sym typeface="Federo"/>
              </a:rPr>
              <a:t>Jangka masa paling pendek</a:t>
            </a:r>
            <a:r>
              <a:rPr lang="en-US" sz="3200" b="0" i="0" u="none" strike="noStrike" cap="none">
                <a:solidFill>
                  <a:srgbClr val="FF0000"/>
                </a:solidFill>
                <a:latin typeface="Federo"/>
                <a:ea typeface="Federo"/>
                <a:cs typeface="Federo"/>
                <a:sym typeface="Federo"/>
              </a:rPr>
              <a:t> kurang daripada satu tahun.</a:t>
            </a:r>
            <a:endParaRPr sz="3200" b="0" i="0" u="none" strike="noStrike" cap="none">
              <a:solidFill>
                <a:srgbClr val="FF0000"/>
              </a:solidFill>
              <a:latin typeface="Federo"/>
              <a:ea typeface="Federo"/>
              <a:cs typeface="Federo"/>
              <a:sym typeface="Federo"/>
            </a:endParaRPr>
          </a:p>
          <a:p>
            <a:pPr marL="457200" marR="0" lvl="0" indent="-457200" algn="l"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Penekanan pada </a:t>
            </a:r>
            <a:r>
              <a:rPr lang="en-US" sz="3200" b="0" i="0" u="none" strike="noStrike" cap="none">
                <a:solidFill>
                  <a:srgbClr val="FF0000"/>
                </a:solidFill>
                <a:latin typeface="Federo"/>
                <a:ea typeface="Federo"/>
                <a:cs typeface="Federo"/>
                <a:sym typeface="Federo"/>
              </a:rPr>
              <a:t>tugas-tugas rutin</a:t>
            </a:r>
            <a:r>
              <a:rPr lang="en-US" sz="3200" b="0" i="0" u="none" strike="noStrike" cap="none">
                <a:solidFill>
                  <a:srgbClr val="000000"/>
                </a:solidFill>
                <a:latin typeface="Federo"/>
                <a:ea typeface="Federo"/>
                <a:cs typeface="Federo"/>
                <a:sym typeface="Federo"/>
              </a:rPr>
              <a:t>.</a:t>
            </a:r>
            <a:endParaRPr sz="3200" b="0" i="0" u="none" strike="noStrike" cap="none">
              <a:solidFill>
                <a:srgbClr val="000000"/>
              </a:solidFill>
              <a:latin typeface="Federo"/>
              <a:ea typeface="Federo"/>
              <a:cs typeface="Federo"/>
              <a:sym typeface="Federo"/>
            </a:endParaRPr>
          </a:p>
          <a:p>
            <a:pPr marL="271145" marR="0" lvl="0" indent="-271145" algn="l" rtl="0">
              <a:lnSpc>
                <a:spcPct val="100000"/>
              </a:lnSpc>
              <a:spcBef>
                <a:spcPts val="600"/>
              </a:spcBef>
              <a:spcAft>
                <a:spcPts val="0"/>
              </a:spcAft>
              <a:buClr>
                <a:schemeClr val="lt1"/>
              </a:buClr>
              <a:buSzPts val="2000"/>
              <a:buFont typeface="Tahoma"/>
              <a:buNone/>
            </a:pPr>
            <a:endParaRPr sz="3200" b="1"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000"/>
              <a:buFont typeface="Arial"/>
              <a:buNone/>
            </a:pPr>
            <a:endParaRPr sz="3200" b="1"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9" name="Google Shape;219;p33"/>
          <p:cNvSpPr txBox="1"/>
          <p:nvPr/>
        </p:nvSpPr>
        <p:spPr>
          <a:xfrm>
            <a:off x="318977" y="271464"/>
            <a:ext cx="8464661" cy="5672136"/>
          </a:xfrm>
          <a:prstGeom prst="rect">
            <a:avLst/>
          </a:prstGeom>
          <a:solidFill>
            <a:srgbClr val="BBD6E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iii.	Perancangan Operasian (Jangka Pendek)</a:t>
            </a:r>
            <a:endParaRPr sz="3200" b="0" i="0" u="none" strike="noStrike" cap="none">
              <a:solidFill>
                <a:srgbClr val="000000"/>
              </a:solidFill>
              <a:latin typeface="Federo"/>
              <a:ea typeface="Federo"/>
              <a:cs typeface="Federo"/>
              <a:sym typeface="Federo"/>
            </a:endParaRPr>
          </a:p>
          <a:p>
            <a:pPr marL="271145" marR="0" lvl="0" indent="-164465" algn="l" rtl="0">
              <a:lnSpc>
                <a:spcPct val="100000"/>
              </a:lnSpc>
              <a:spcBef>
                <a:spcPts val="0"/>
              </a:spcBef>
              <a:spcAft>
                <a:spcPts val="0"/>
              </a:spcAft>
              <a:buClr>
                <a:srgbClr val="FE8637"/>
              </a:buClr>
              <a:buSzPts val="1680"/>
              <a:buFont typeface="Noto Sans Symbols"/>
              <a:buNone/>
            </a:pPr>
            <a:endParaRPr sz="3200" b="1" i="0" u="none" strike="noStrike" cap="none">
              <a:solidFill>
                <a:srgbClr val="000000"/>
              </a:solidFill>
              <a:latin typeface="Federo"/>
              <a:ea typeface="Federo"/>
              <a:cs typeface="Federo"/>
              <a:sym typeface="Federo"/>
            </a:endParaRPr>
          </a:p>
          <a:p>
            <a:pPr marL="457200" marR="0" lvl="0" indent="-457200" algn="l"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FF0000"/>
                </a:solidFill>
                <a:latin typeface="Federo"/>
                <a:ea typeface="Federo"/>
                <a:cs typeface="Federo"/>
                <a:sym typeface="Federo"/>
              </a:rPr>
              <a:t>Dilakukan secara berulang-ulang </a:t>
            </a:r>
            <a:r>
              <a:rPr lang="en-US" sz="3200" b="0" i="0" u="none" strike="noStrike" cap="none">
                <a:solidFill>
                  <a:srgbClr val="000000"/>
                </a:solidFill>
                <a:latin typeface="Federo"/>
                <a:ea typeface="Federo"/>
                <a:cs typeface="Federo"/>
                <a:sym typeface="Federo"/>
              </a:rPr>
              <a:t>contohnya kerja harian, mingguan, bulanan.</a:t>
            </a:r>
            <a:endParaRPr sz="3200" b="0" i="0" u="none" strike="noStrike" cap="none">
              <a:solidFill>
                <a:srgbClr val="000000"/>
              </a:solidFill>
              <a:latin typeface="Federo"/>
              <a:ea typeface="Federo"/>
              <a:cs typeface="Federo"/>
              <a:sym typeface="Federo"/>
            </a:endParaRPr>
          </a:p>
          <a:p>
            <a:pPr marL="457200" marR="0" lvl="0" indent="-457200" algn="l" rtl="0">
              <a:lnSpc>
                <a:spcPct val="100000"/>
              </a:lnSpc>
              <a:spcBef>
                <a:spcPts val="60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Berkaitan </a:t>
            </a:r>
            <a:r>
              <a:rPr lang="en-US" sz="3200" b="0" i="0" u="none" strike="noStrike" cap="none">
                <a:solidFill>
                  <a:srgbClr val="FF0000"/>
                </a:solidFill>
                <a:latin typeface="Federo"/>
                <a:ea typeface="Federo"/>
                <a:cs typeface="Federo"/>
                <a:sym typeface="Federo"/>
              </a:rPr>
              <a:t>aktiviti pengeluaran</a:t>
            </a:r>
            <a:r>
              <a:rPr lang="en-US" sz="3200" b="0" i="0" u="none" strike="noStrike" cap="none">
                <a:solidFill>
                  <a:srgbClr val="C55A11"/>
                </a:solidFill>
                <a:latin typeface="Federo"/>
                <a:ea typeface="Federo"/>
                <a:cs typeface="Federo"/>
                <a:sym typeface="Federo"/>
              </a:rPr>
              <a:t>. </a:t>
            </a:r>
            <a:endParaRPr/>
          </a:p>
          <a:p>
            <a:pPr marL="0" marR="0" lvl="0" indent="0" algn="l" rtl="0">
              <a:lnSpc>
                <a:spcPct val="100000"/>
              </a:lnSpc>
              <a:spcBef>
                <a:spcPts val="600"/>
              </a:spcBef>
              <a:spcAft>
                <a:spcPts val="0"/>
              </a:spcAft>
              <a:buNone/>
            </a:pPr>
            <a:endParaRPr sz="3200" b="0" i="0" u="none" strike="noStrike" cap="none">
              <a:solidFill>
                <a:srgbClr val="C55A11"/>
              </a:solidFill>
              <a:latin typeface="Federo"/>
              <a:ea typeface="Federo"/>
              <a:cs typeface="Federo"/>
              <a:sym typeface="Federo"/>
            </a:endParaRPr>
          </a:p>
          <a:p>
            <a:pPr marL="271145" marR="0" lvl="0" indent="-271145" algn="l" rtl="0">
              <a:lnSpc>
                <a:spcPct val="100000"/>
              </a:lnSpc>
              <a:spcBef>
                <a:spcPts val="600"/>
              </a:spcBef>
              <a:spcAft>
                <a:spcPts val="0"/>
              </a:spcAft>
              <a:buClr>
                <a:srgbClr val="FE8637"/>
              </a:buClr>
              <a:buSzPts val="1680"/>
              <a:buFont typeface="Noto Sans Symbols"/>
              <a:buChar char="•"/>
            </a:pPr>
            <a:r>
              <a:rPr lang="en-US" sz="3200" b="0" i="0" u="none" strike="noStrike" cap="none">
                <a:solidFill>
                  <a:schemeClr val="dk1"/>
                </a:solidFill>
                <a:latin typeface="Federo"/>
                <a:ea typeface="Federo"/>
                <a:cs typeface="Federo"/>
                <a:sym typeface="Federo"/>
              </a:rPr>
              <a:t>Contoh:</a:t>
            </a:r>
            <a:r>
              <a:rPr lang="en-US" sz="3200" b="0" i="0" u="none" strike="noStrike" cap="none">
                <a:solidFill>
                  <a:srgbClr val="FF0000"/>
                </a:solidFill>
                <a:latin typeface="Federo"/>
                <a:ea typeface="Federo"/>
                <a:cs typeface="Federo"/>
                <a:sym typeface="Federo"/>
              </a:rPr>
              <a:t> </a:t>
            </a:r>
            <a:r>
              <a:rPr lang="en-US" sz="3200" b="0" i="0" u="none" strike="noStrike" cap="none">
                <a:solidFill>
                  <a:srgbClr val="000000"/>
                </a:solidFill>
                <a:latin typeface="Federo"/>
                <a:ea typeface="Federo"/>
                <a:cs typeface="Federo"/>
                <a:sym typeface="Federo"/>
              </a:rPr>
              <a:t>Kilang A mensasarkan peningkatan volum pengeluaran set sofa ekskusif sebanyak 10% setiap bulan sebagai persediaan untuk ke pasaran Eropah kelak.</a:t>
            </a:r>
            <a:endParaRPr sz="3200" b="0" i="0" u="none" strike="noStrike" cap="none">
              <a:solidFill>
                <a:srgbClr val="000000"/>
              </a:solidFill>
              <a:latin typeface="Federo"/>
              <a:ea typeface="Federo"/>
              <a:cs typeface="Federo"/>
              <a:sym typeface="Federo"/>
            </a:endParaRPr>
          </a:p>
          <a:p>
            <a:pPr marL="271145" marR="0" lvl="0" indent="-271145" algn="l" rtl="0">
              <a:lnSpc>
                <a:spcPct val="100000"/>
              </a:lnSpc>
              <a:spcBef>
                <a:spcPts val="600"/>
              </a:spcBef>
              <a:spcAft>
                <a:spcPts val="0"/>
              </a:spcAft>
              <a:buClr>
                <a:schemeClr val="lt1"/>
              </a:buClr>
              <a:buSzPts val="2000"/>
              <a:buFont typeface="Tahoma"/>
              <a:buNone/>
            </a:pPr>
            <a:endParaRPr sz="3200" b="1"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000"/>
              <a:buFont typeface="Arial"/>
              <a:buNone/>
            </a:pPr>
            <a:endParaRPr sz="3200" b="1"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p:nvPr/>
        </p:nvSpPr>
        <p:spPr>
          <a:xfrm>
            <a:off x="228600" y="533400"/>
            <a:ext cx="8915400" cy="4850300"/>
          </a:xfrm>
          <a:prstGeom prst="triangle">
            <a:avLst>
              <a:gd name="adj" fmla="val 50000"/>
            </a:avLst>
          </a:prstGeom>
          <a:solidFill>
            <a:schemeClr val="lt1"/>
          </a:solidFill>
          <a:ln w="381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225" name="Google Shape;225;p34"/>
          <p:cNvGrpSpPr/>
          <p:nvPr/>
        </p:nvGrpSpPr>
        <p:grpSpPr>
          <a:xfrm>
            <a:off x="-240231" y="64537"/>
            <a:ext cx="2825373" cy="2841806"/>
            <a:chOff x="-66675" y="354012"/>
            <a:chExt cx="2535237" cy="2663825"/>
          </a:xfrm>
        </p:grpSpPr>
        <p:pic>
          <p:nvPicPr>
            <p:cNvPr id="226" name="Google Shape;226;p34"/>
            <p:cNvPicPr preferRelativeResize="0"/>
            <p:nvPr/>
          </p:nvPicPr>
          <p:blipFill rotWithShape="1">
            <a:blip r:embed="rId3">
              <a:alphaModFix/>
            </a:blip>
            <a:srcRect/>
            <a:stretch/>
          </p:blipFill>
          <p:spPr>
            <a:xfrm>
              <a:off x="-66675" y="354012"/>
              <a:ext cx="2535237" cy="2663825"/>
            </a:xfrm>
            <a:prstGeom prst="rect">
              <a:avLst/>
            </a:prstGeom>
            <a:noFill/>
            <a:ln>
              <a:noFill/>
            </a:ln>
          </p:spPr>
        </p:pic>
        <p:sp>
          <p:nvSpPr>
            <p:cNvPr id="227" name="Google Shape;227;p34"/>
            <p:cNvSpPr txBox="1"/>
            <p:nvPr/>
          </p:nvSpPr>
          <p:spPr>
            <a:xfrm rot="-6240000">
              <a:off x="416718" y="323056"/>
              <a:ext cx="1436687" cy="1981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p:txBody>
        </p:sp>
      </p:grpSp>
      <p:sp>
        <p:nvSpPr>
          <p:cNvPr id="228" name="Google Shape;228;p34"/>
          <p:cNvSpPr txBox="1"/>
          <p:nvPr/>
        </p:nvSpPr>
        <p:spPr>
          <a:xfrm>
            <a:off x="3241675" y="152400"/>
            <a:ext cx="2930525" cy="36957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Federo"/>
                <a:ea typeface="Federo"/>
                <a:cs typeface="Federo"/>
                <a:sym typeface="Federo"/>
              </a:rPr>
              <a:t>Syarikat Triple Jati</a:t>
            </a:r>
            <a:endParaRPr sz="1400" b="1" i="0" u="none" strike="noStrike" cap="none">
              <a:solidFill>
                <a:srgbClr val="000000"/>
              </a:solidFill>
              <a:latin typeface="Federo"/>
              <a:ea typeface="Federo"/>
              <a:cs typeface="Federo"/>
              <a:sym typeface="Federo"/>
            </a:endParaRPr>
          </a:p>
        </p:txBody>
      </p:sp>
      <p:sp>
        <p:nvSpPr>
          <p:cNvPr id="229" name="Google Shape;229;p34"/>
          <p:cNvSpPr txBox="1"/>
          <p:nvPr/>
        </p:nvSpPr>
        <p:spPr>
          <a:xfrm>
            <a:off x="3429000" y="1210163"/>
            <a:ext cx="2209800" cy="533400"/>
          </a:xfrm>
          <a:prstGeom prst="rect">
            <a:avLst/>
          </a:prstGeom>
          <a:gradFill>
            <a:gsLst>
              <a:gs pos="0">
                <a:srgbClr val="E7BC41"/>
              </a:gs>
              <a:gs pos="77999">
                <a:srgbClr val="D2A91B"/>
              </a:gs>
              <a:gs pos="100000">
                <a:srgbClr val="D2A91B"/>
              </a:gs>
            </a:gsLst>
            <a:lin ang="5400000" scaled="0"/>
          </a:gradFill>
          <a:ln w="12700" cap="rnd" cmpd="sng">
            <a:solidFill>
              <a:srgbClr val="E6B91E"/>
            </a:solidFill>
            <a:prstDash val="solid"/>
            <a:miter lim="800000"/>
            <a:headEnd type="none" w="sm" len="sm"/>
            <a:tailEnd type="none" w="sm" len="sm"/>
          </a:ln>
          <a:effectLst>
            <a:outerShdw blurRad="63500" dist="25400" dir="540000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Ketua Pegawai Eksekutif</a:t>
            </a:r>
            <a:endParaRPr sz="1400" b="0" i="0" u="none" strike="noStrike" cap="none">
              <a:solidFill>
                <a:srgbClr val="000000"/>
              </a:solidFill>
              <a:latin typeface="Arial"/>
              <a:ea typeface="Arial"/>
              <a:cs typeface="Arial"/>
              <a:sym typeface="Arial"/>
            </a:endParaRPr>
          </a:p>
        </p:txBody>
      </p:sp>
      <p:sp>
        <p:nvSpPr>
          <p:cNvPr id="230" name="Google Shape;230;p34"/>
          <p:cNvSpPr txBox="1"/>
          <p:nvPr/>
        </p:nvSpPr>
        <p:spPr>
          <a:xfrm>
            <a:off x="1447800" y="2581763"/>
            <a:ext cx="2209800" cy="533400"/>
          </a:xfrm>
          <a:prstGeom prst="rect">
            <a:avLst/>
          </a:prstGeom>
          <a:gradFill>
            <a:gsLst>
              <a:gs pos="0">
                <a:srgbClr val="E7BC41"/>
              </a:gs>
              <a:gs pos="77999">
                <a:srgbClr val="D2A91B"/>
              </a:gs>
              <a:gs pos="100000">
                <a:srgbClr val="D2A91B"/>
              </a:gs>
            </a:gsLst>
            <a:lin ang="5400000" scaled="0"/>
          </a:gradFill>
          <a:ln w="12700" cap="rnd" cmpd="sng">
            <a:solidFill>
              <a:srgbClr val="E6B91E"/>
            </a:solidFill>
            <a:prstDash val="solid"/>
            <a:miter lim="800000"/>
            <a:headEnd type="none" w="sm" len="sm"/>
            <a:tailEnd type="none" w="sm" len="sm"/>
          </a:ln>
          <a:effectLst>
            <a:outerShdw blurRad="63500" dist="25400" dir="540000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Pengurus  Jabatan Pengeluaran</a:t>
            </a:r>
            <a:endParaRPr sz="1400" b="0" i="0" u="none" strike="noStrike" cap="none">
              <a:solidFill>
                <a:srgbClr val="000000"/>
              </a:solidFill>
              <a:latin typeface="Arial"/>
              <a:ea typeface="Arial"/>
              <a:cs typeface="Arial"/>
              <a:sym typeface="Arial"/>
            </a:endParaRPr>
          </a:p>
        </p:txBody>
      </p:sp>
      <p:sp>
        <p:nvSpPr>
          <p:cNvPr id="231" name="Google Shape;231;p34"/>
          <p:cNvSpPr txBox="1"/>
          <p:nvPr/>
        </p:nvSpPr>
        <p:spPr>
          <a:xfrm>
            <a:off x="5867400" y="2581763"/>
            <a:ext cx="2209800" cy="533400"/>
          </a:xfrm>
          <a:prstGeom prst="rect">
            <a:avLst/>
          </a:prstGeom>
          <a:gradFill>
            <a:gsLst>
              <a:gs pos="0">
                <a:srgbClr val="E7BC41"/>
              </a:gs>
              <a:gs pos="77999">
                <a:srgbClr val="D2A91B"/>
              </a:gs>
              <a:gs pos="100000">
                <a:srgbClr val="D2A91B"/>
              </a:gs>
            </a:gsLst>
            <a:lin ang="5400000" scaled="0"/>
          </a:gradFill>
          <a:ln w="12700" cap="rnd" cmpd="sng">
            <a:solidFill>
              <a:srgbClr val="E6B91E"/>
            </a:solidFill>
            <a:prstDash val="solid"/>
            <a:miter lim="800000"/>
            <a:headEnd type="none" w="sm" len="sm"/>
            <a:tailEnd type="none" w="sm" len="sm"/>
          </a:ln>
          <a:effectLst>
            <a:outerShdw blurRad="63500" dist="25400" dir="540000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Pengurus Jabatan Kewangan</a:t>
            </a:r>
            <a:endParaRPr sz="1400" b="0" i="0" u="none" strike="noStrike" cap="none">
              <a:solidFill>
                <a:srgbClr val="000000"/>
              </a:solidFill>
              <a:latin typeface="Arial"/>
              <a:ea typeface="Arial"/>
              <a:cs typeface="Arial"/>
              <a:sym typeface="Arial"/>
            </a:endParaRPr>
          </a:p>
        </p:txBody>
      </p:sp>
      <p:sp>
        <p:nvSpPr>
          <p:cNvPr id="232" name="Google Shape;232;p34"/>
          <p:cNvSpPr txBox="1"/>
          <p:nvPr/>
        </p:nvSpPr>
        <p:spPr>
          <a:xfrm>
            <a:off x="228600" y="4258163"/>
            <a:ext cx="2209800" cy="533400"/>
          </a:xfrm>
          <a:prstGeom prst="rect">
            <a:avLst/>
          </a:prstGeom>
          <a:gradFill>
            <a:gsLst>
              <a:gs pos="0">
                <a:srgbClr val="E7BC41"/>
              </a:gs>
              <a:gs pos="77999">
                <a:srgbClr val="D2A91B"/>
              </a:gs>
              <a:gs pos="100000">
                <a:srgbClr val="D2A91B"/>
              </a:gs>
            </a:gsLst>
            <a:lin ang="5400000" scaled="0"/>
          </a:gradFill>
          <a:ln w="12700" cap="rnd" cmpd="sng">
            <a:solidFill>
              <a:srgbClr val="E6B91E"/>
            </a:solidFill>
            <a:prstDash val="solid"/>
            <a:miter lim="800000"/>
            <a:headEnd type="none" w="sm" len="sm"/>
            <a:tailEnd type="none" w="sm" len="sm"/>
          </a:ln>
          <a:effectLst>
            <a:outerShdw blurRad="63500" dist="25400" dir="540000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Penyelia Kilang A</a:t>
            </a:r>
            <a:endParaRPr sz="1400" b="0" i="0" u="none" strike="noStrike" cap="none">
              <a:solidFill>
                <a:srgbClr val="000000"/>
              </a:solidFill>
              <a:latin typeface="Arial"/>
              <a:ea typeface="Arial"/>
              <a:cs typeface="Arial"/>
              <a:sym typeface="Arial"/>
            </a:endParaRPr>
          </a:p>
        </p:txBody>
      </p:sp>
      <p:sp>
        <p:nvSpPr>
          <p:cNvPr id="233" name="Google Shape;233;p34"/>
          <p:cNvSpPr txBox="1"/>
          <p:nvPr/>
        </p:nvSpPr>
        <p:spPr>
          <a:xfrm>
            <a:off x="3810000" y="4258163"/>
            <a:ext cx="2209800" cy="533400"/>
          </a:xfrm>
          <a:prstGeom prst="rect">
            <a:avLst/>
          </a:prstGeom>
          <a:gradFill>
            <a:gsLst>
              <a:gs pos="0">
                <a:srgbClr val="E7BC41"/>
              </a:gs>
              <a:gs pos="77999">
                <a:srgbClr val="D2A91B"/>
              </a:gs>
              <a:gs pos="100000">
                <a:srgbClr val="D2A91B"/>
              </a:gs>
            </a:gsLst>
            <a:lin ang="5400000" scaled="0"/>
          </a:gradFill>
          <a:ln w="12700" cap="rnd" cmpd="sng">
            <a:solidFill>
              <a:srgbClr val="E6B91E"/>
            </a:solidFill>
            <a:prstDash val="solid"/>
            <a:miter lim="800000"/>
            <a:headEnd type="none" w="sm" len="sm"/>
            <a:tailEnd type="none" w="sm" len="sm"/>
          </a:ln>
          <a:effectLst>
            <a:outerShdw blurRad="63500" dist="25400" dir="540000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Penyelia Kilang B</a:t>
            </a:r>
            <a:endParaRPr sz="1400" b="0" i="0" u="none" strike="noStrike" cap="none">
              <a:solidFill>
                <a:srgbClr val="000000"/>
              </a:solidFill>
              <a:latin typeface="Arial"/>
              <a:ea typeface="Arial"/>
              <a:cs typeface="Arial"/>
              <a:sym typeface="Arial"/>
            </a:endParaRPr>
          </a:p>
        </p:txBody>
      </p:sp>
      <p:cxnSp>
        <p:nvCxnSpPr>
          <p:cNvPr id="234" name="Google Shape;234;p34"/>
          <p:cNvCxnSpPr/>
          <p:nvPr/>
        </p:nvCxnSpPr>
        <p:spPr>
          <a:xfrm>
            <a:off x="2514600" y="2124563"/>
            <a:ext cx="4114800" cy="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35" name="Google Shape;235;p34"/>
          <p:cNvCxnSpPr/>
          <p:nvPr/>
        </p:nvCxnSpPr>
        <p:spPr>
          <a:xfrm>
            <a:off x="1219200" y="3724763"/>
            <a:ext cx="3581400" cy="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36" name="Google Shape;236;p34"/>
          <p:cNvCxnSpPr/>
          <p:nvPr/>
        </p:nvCxnSpPr>
        <p:spPr>
          <a:xfrm>
            <a:off x="4495800" y="1743563"/>
            <a:ext cx="0" cy="38100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37" name="Google Shape;237;p34"/>
          <p:cNvCxnSpPr/>
          <p:nvPr/>
        </p:nvCxnSpPr>
        <p:spPr>
          <a:xfrm>
            <a:off x="2514600" y="2124563"/>
            <a:ext cx="0" cy="38100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38" name="Google Shape;238;p34"/>
          <p:cNvCxnSpPr/>
          <p:nvPr/>
        </p:nvCxnSpPr>
        <p:spPr>
          <a:xfrm>
            <a:off x="6629400" y="2124563"/>
            <a:ext cx="0" cy="38100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39" name="Google Shape;239;p34"/>
          <p:cNvCxnSpPr/>
          <p:nvPr/>
        </p:nvCxnSpPr>
        <p:spPr>
          <a:xfrm>
            <a:off x="1219200" y="3724763"/>
            <a:ext cx="0" cy="53340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40" name="Google Shape;240;p34"/>
          <p:cNvCxnSpPr/>
          <p:nvPr/>
        </p:nvCxnSpPr>
        <p:spPr>
          <a:xfrm>
            <a:off x="4800600" y="3724763"/>
            <a:ext cx="0" cy="53340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cxnSp>
        <p:nvCxnSpPr>
          <p:cNvPr id="241" name="Google Shape;241;p34"/>
          <p:cNvCxnSpPr/>
          <p:nvPr/>
        </p:nvCxnSpPr>
        <p:spPr>
          <a:xfrm>
            <a:off x="2514600" y="3115163"/>
            <a:ext cx="0" cy="609600"/>
          </a:xfrm>
          <a:prstGeom prst="straightConnector1">
            <a:avLst/>
          </a:prstGeom>
          <a:noFill/>
          <a:ln w="25400" cap="rnd" cmpd="sng">
            <a:solidFill>
              <a:srgbClr val="918655"/>
            </a:solidFill>
            <a:prstDash val="solid"/>
            <a:miter lim="800000"/>
            <a:headEnd type="none" w="sm" len="sm"/>
            <a:tailEnd type="none" w="sm" len="sm"/>
          </a:ln>
          <a:effectLst>
            <a:outerShdw blurRad="63500" dist="25400" dir="5400000">
              <a:srgbClr val="000000">
                <a:alpha val="33333"/>
              </a:srgbClr>
            </a:outerShdw>
          </a:effectLst>
        </p:spPr>
      </p:cxnSp>
      <p:grpSp>
        <p:nvGrpSpPr>
          <p:cNvPr id="242" name="Google Shape;242;p34"/>
          <p:cNvGrpSpPr/>
          <p:nvPr/>
        </p:nvGrpSpPr>
        <p:grpSpPr>
          <a:xfrm>
            <a:off x="5651500" y="64770"/>
            <a:ext cx="3559175" cy="1794192"/>
            <a:chOff x="5651500" y="64770"/>
            <a:chExt cx="3559175" cy="1794192"/>
          </a:xfrm>
        </p:grpSpPr>
        <p:pic>
          <p:nvPicPr>
            <p:cNvPr id="243" name="Google Shape;243;p34"/>
            <p:cNvPicPr preferRelativeResize="0"/>
            <p:nvPr/>
          </p:nvPicPr>
          <p:blipFill rotWithShape="1">
            <a:blip r:embed="rId4">
              <a:alphaModFix/>
            </a:blip>
            <a:srcRect/>
            <a:stretch/>
          </p:blipFill>
          <p:spPr>
            <a:xfrm>
              <a:off x="5651500" y="122237"/>
              <a:ext cx="3559175" cy="1736725"/>
            </a:xfrm>
            <a:prstGeom prst="rect">
              <a:avLst/>
            </a:prstGeom>
            <a:noFill/>
            <a:ln>
              <a:noFill/>
            </a:ln>
          </p:spPr>
        </p:pic>
        <p:sp>
          <p:nvSpPr>
            <p:cNvPr id="244" name="Google Shape;244;p34"/>
            <p:cNvSpPr txBox="1"/>
            <p:nvPr/>
          </p:nvSpPr>
          <p:spPr>
            <a:xfrm>
              <a:off x="6981825" y="64770"/>
              <a:ext cx="2228850" cy="1600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Trebuchet MS"/>
                <a:buNone/>
              </a:pPr>
              <a:r>
                <a:rPr lang="en-US" sz="1600" b="0" i="0" u="none" strike="noStrike" cap="none">
                  <a:solidFill>
                    <a:srgbClr val="FFFF00"/>
                  </a:solidFill>
                  <a:latin typeface="Trebuchet MS"/>
                  <a:ea typeface="Trebuchet MS"/>
                  <a:cs typeface="Trebuchet MS"/>
                  <a:sym typeface="Trebuchet MS"/>
                </a:rPr>
                <a:t>Syarikat Triple Jati ingin </a:t>
              </a:r>
              <a:r>
                <a:rPr lang="en-US" sz="1600" b="1" i="0" u="none" strike="noStrike" cap="none">
                  <a:solidFill>
                    <a:srgbClr val="FFFF00"/>
                  </a:solidFill>
                  <a:latin typeface="Trebuchet MS"/>
                  <a:ea typeface="Trebuchet MS"/>
                  <a:cs typeface="Trebuchet MS"/>
                  <a:sym typeface="Trebuchet MS"/>
                </a:rPr>
                <a:t>meluaskan pasaran ke Eropah 5 tahun akan datang.</a:t>
              </a:r>
              <a:endParaRPr sz="1400" b="0" i="0" u="none" strike="noStrike" cap="none">
                <a:solidFill>
                  <a:srgbClr val="000000"/>
                </a:solidFill>
                <a:latin typeface="Arial"/>
                <a:ea typeface="Arial"/>
                <a:cs typeface="Arial"/>
                <a:sym typeface="Arial"/>
              </a:endParaRPr>
            </a:p>
          </p:txBody>
        </p:sp>
      </p:grpSp>
      <p:grpSp>
        <p:nvGrpSpPr>
          <p:cNvPr id="245" name="Google Shape;245;p34"/>
          <p:cNvGrpSpPr/>
          <p:nvPr/>
        </p:nvGrpSpPr>
        <p:grpSpPr>
          <a:xfrm>
            <a:off x="6413500" y="3085000"/>
            <a:ext cx="2492375" cy="2571750"/>
            <a:chOff x="6413500" y="2713037"/>
            <a:chExt cx="2492375" cy="2571750"/>
          </a:xfrm>
        </p:grpSpPr>
        <p:pic>
          <p:nvPicPr>
            <p:cNvPr id="246" name="Google Shape;246;p34"/>
            <p:cNvPicPr preferRelativeResize="0"/>
            <p:nvPr/>
          </p:nvPicPr>
          <p:blipFill rotWithShape="1">
            <a:blip r:embed="rId5">
              <a:alphaModFix/>
            </a:blip>
            <a:srcRect/>
            <a:stretch/>
          </p:blipFill>
          <p:spPr>
            <a:xfrm>
              <a:off x="6413500" y="2713037"/>
              <a:ext cx="2492375" cy="2571750"/>
            </a:xfrm>
            <a:prstGeom prst="rect">
              <a:avLst/>
            </a:prstGeom>
            <a:noFill/>
            <a:ln>
              <a:noFill/>
            </a:ln>
          </p:spPr>
        </p:pic>
        <p:sp>
          <p:nvSpPr>
            <p:cNvPr id="247" name="Google Shape;247;p34"/>
            <p:cNvSpPr txBox="1"/>
            <p:nvPr/>
          </p:nvSpPr>
          <p:spPr>
            <a:xfrm rot="5400000">
              <a:off x="6865937" y="3208337"/>
              <a:ext cx="1584325" cy="236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p:txBody>
        </p:sp>
      </p:grpSp>
      <p:sp>
        <p:nvSpPr>
          <p:cNvPr id="248" name="Google Shape;248;p34"/>
          <p:cNvSpPr txBox="1"/>
          <p:nvPr/>
        </p:nvSpPr>
        <p:spPr>
          <a:xfrm rot="-600000">
            <a:off x="47625" y="208280"/>
            <a:ext cx="2063115" cy="1627505"/>
          </a:xfrm>
          <a:prstGeom prst="rect">
            <a:avLst/>
          </a:prstGeom>
          <a:solidFill>
            <a:srgbClr val="D8E2F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Jabatan Pengeluaran syarikat tersebut mensasarkan peningkatan volum pengeluaran sebanyak 20% dalam tempoh 2 tahun.</a:t>
            </a:r>
            <a:endParaRPr sz="1400" b="0" i="0" u="none" strike="noStrike" cap="none">
              <a:solidFill>
                <a:srgbClr val="000000"/>
              </a:solidFill>
              <a:latin typeface="Arial"/>
              <a:ea typeface="Arial"/>
              <a:cs typeface="Arial"/>
              <a:sym typeface="Arial"/>
            </a:endParaRPr>
          </a:p>
        </p:txBody>
      </p:sp>
      <p:sp>
        <p:nvSpPr>
          <p:cNvPr id="249" name="Google Shape;249;p34"/>
          <p:cNvSpPr txBox="1"/>
          <p:nvPr/>
        </p:nvSpPr>
        <p:spPr>
          <a:xfrm>
            <a:off x="6477000" y="3953510"/>
            <a:ext cx="2428875" cy="17024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chemeClr val="dk1"/>
                </a:solidFill>
                <a:latin typeface="Tahoma"/>
                <a:ea typeface="Tahoma"/>
                <a:cs typeface="Tahoma"/>
                <a:sym typeface="Tahoma"/>
              </a:rPr>
              <a:t>Pengurus Kewangan merancang untuk mendapatkan sumber </a:t>
            </a:r>
            <a:r>
              <a:rPr lang="en-US" sz="1600" b="1" i="0" u="none" strike="noStrike" cap="none">
                <a:solidFill>
                  <a:schemeClr val="dk1"/>
                </a:solidFill>
                <a:latin typeface="Tahoma"/>
                <a:ea typeface="Tahoma"/>
                <a:cs typeface="Tahoma"/>
                <a:sym typeface="Tahoma"/>
              </a:rPr>
              <a:t>dana dari sumber  pinjaman jangka panjang </a:t>
            </a:r>
            <a:endParaRPr sz="1400" b="0" i="0" u="none" strike="noStrike" cap="none">
              <a:solidFill>
                <a:schemeClr val="dk1"/>
              </a:solidFill>
              <a:latin typeface="Arial"/>
              <a:ea typeface="Arial"/>
              <a:cs typeface="Arial"/>
              <a:sym typeface="Arial"/>
            </a:endParaRPr>
          </a:p>
        </p:txBody>
      </p:sp>
      <p:grpSp>
        <p:nvGrpSpPr>
          <p:cNvPr id="250" name="Google Shape;250;p34"/>
          <p:cNvGrpSpPr/>
          <p:nvPr/>
        </p:nvGrpSpPr>
        <p:grpSpPr>
          <a:xfrm>
            <a:off x="165100" y="4789975"/>
            <a:ext cx="3101975" cy="2114550"/>
            <a:chOff x="165100" y="4389437"/>
            <a:chExt cx="3101975" cy="2114550"/>
          </a:xfrm>
        </p:grpSpPr>
        <p:pic>
          <p:nvPicPr>
            <p:cNvPr id="251" name="Google Shape;251;p34"/>
            <p:cNvPicPr preferRelativeResize="0"/>
            <p:nvPr/>
          </p:nvPicPr>
          <p:blipFill rotWithShape="1">
            <a:blip r:embed="rId6">
              <a:alphaModFix/>
            </a:blip>
            <a:srcRect/>
            <a:stretch/>
          </p:blipFill>
          <p:spPr>
            <a:xfrm>
              <a:off x="165100" y="4389437"/>
              <a:ext cx="3101975" cy="2114550"/>
            </a:xfrm>
            <a:prstGeom prst="rect">
              <a:avLst/>
            </a:prstGeom>
            <a:noFill/>
            <a:ln>
              <a:noFill/>
            </a:ln>
          </p:spPr>
        </p:pic>
        <p:sp>
          <p:nvSpPr>
            <p:cNvPr id="252" name="Google Shape;252;p34"/>
            <p:cNvSpPr txBox="1"/>
            <p:nvPr/>
          </p:nvSpPr>
          <p:spPr>
            <a:xfrm rot="5400000">
              <a:off x="1071562" y="4271962"/>
              <a:ext cx="1285875" cy="2971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p:txBody>
        </p:sp>
      </p:grpSp>
      <p:sp>
        <p:nvSpPr>
          <p:cNvPr id="253" name="Google Shape;253;p34"/>
          <p:cNvSpPr txBox="1"/>
          <p:nvPr/>
        </p:nvSpPr>
        <p:spPr>
          <a:xfrm>
            <a:off x="228600" y="5629763"/>
            <a:ext cx="2971800" cy="10779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Penyelia Kilang A </a:t>
            </a:r>
            <a:r>
              <a:rPr lang="en-US" sz="1600" b="0" i="0" u="none" strike="noStrike" cap="none">
                <a:solidFill>
                  <a:schemeClr val="dk1"/>
                </a:solidFill>
                <a:latin typeface="Arial"/>
                <a:ea typeface="Arial"/>
                <a:cs typeface="Arial"/>
                <a:sym typeface="Arial"/>
              </a:rPr>
              <a:t>mensasarkan peningkatan volum pengeluaran </a:t>
            </a:r>
            <a:r>
              <a:rPr lang="en-US" sz="1600" b="1" i="0" u="none" strike="noStrike" cap="none">
                <a:solidFill>
                  <a:schemeClr val="dk1"/>
                </a:solidFill>
                <a:latin typeface="Arial"/>
                <a:ea typeface="Arial"/>
                <a:cs typeface="Arial"/>
                <a:sym typeface="Arial"/>
              </a:rPr>
              <a:t>set sofa sebanyak 10% setiap bulan.</a:t>
            </a:r>
            <a:endParaRPr sz="1400" b="0" i="0" u="none" strike="noStrike" cap="none">
              <a:solidFill>
                <a:srgbClr val="000000"/>
              </a:solidFill>
              <a:latin typeface="Arial"/>
              <a:ea typeface="Arial"/>
              <a:cs typeface="Arial"/>
              <a:sym typeface="Arial"/>
            </a:endParaRPr>
          </a:p>
        </p:txBody>
      </p:sp>
      <p:sp>
        <p:nvSpPr>
          <p:cNvPr id="254" name="Google Shape;254;p34"/>
          <p:cNvSpPr txBox="1"/>
          <p:nvPr/>
        </p:nvSpPr>
        <p:spPr>
          <a:xfrm>
            <a:off x="3429000" y="5656580"/>
            <a:ext cx="4419600" cy="3698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Federo"/>
                <a:ea typeface="Federo"/>
                <a:cs typeface="Federo"/>
                <a:sym typeface="Federo"/>
              </a:rPr>
              <a:t>Rajah Perkaitan Jenis Perancangan dengan Peringkat Pengurusan</a:t>
            </a:r>
            <a:endParaRPr sz="1400" b="1" i="0" u="none" strike="noStrike" cap="none">
              <a:solidFill>
                <a:srgbClr val="000000"/>
              </a:solidFill>
              <a:latin typeface="Federo"/>
              <a:ea typeface="Federo"/>
              <a:cs typeface="Federo"/>
              <a:sym typeface="Federo"/>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1000"/>
                                        <p:tgtEl>
                                          <p:spTgt spid="2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9"/>
                                        </p:tgtEl>
                                        <p:attrNameLst>
                                          <p:attrName>style.visibility</p:attrName>
                                        </p:attrNameLst>
                                      </p:cBhvr>
                                      <p:to>
                                        <p:strVal val="visible"/>
                                      </p:to>
                                    </p:set>
                                    <p:animEffect transition="in" filter="fade">
                                      <p:cBhvr>
                                        <p:cTn id="12" dur="1000"/>
                                        <p:tgtEl>
                                          <p:spTgt spid="2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3"/>
                                        </p:tgtEl>
                                        <p:attrNameLst>
                                          <p:attrName>style.visibility</p:attrName>
                                        </p:attrNameLst>
                                      </p:cBhvr>
                                      <p:to>
                                        <p:strVal val="visible"/>
                                      </p:to>
                                    </p:set>
                                    <p:animEffect transition="in" filter="fade">
                                      <p:cBhvr>
                                        <p:cTn id="17" dur="10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5"/>
          <p:cNvSpPr/>
          <p:nvPr/>
        </p:nvSpPr>
        <p:spPr>
          <a:xfrm>
            <a:off x="-65405" y="2244725"/>
            <a:ext cx="2541905" cy="4084320"/>
          </a:xfrm>
          <a:prstGeom prst="triangle">
            <a:avLst>
              <a:gd name="adj" fmla="val 52835"/>
            </a:avLst>
          </a:prstGeom>
          <a:solidFill>
            <a:srgbClr val="D8E2F3"/>
          </a:solidFill>
          <a:ln w="38100" cap="flat" cmpd="sng">
            <a:solidFill>
              <a:srgbClr val="000000">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262" name="Google Shape;262;p35"/>
          <p:cNvCxnSpPr/>
          <p:nvPr/>
        </p:nvCxnSpPr>
        <p:spPr>
          <a:xfrm flipH="1">
            <a:off x="2476500" y="1219835"/>
            <a:ext cx="23813" cy="5109210"/>
          </a:xfrm>
          <a:prstGeom prst="straightConnector1">
            <a:avLst/>
          </a:prstGeom>
          <a:noFill/>
          <a:ln w="9525" cap="flat" cmpd="sng">
            <a:solidFill>
              <a:srgbClr val="000000"/>
            </a:solidFill>
            <a:prstDash val="solid"/>
            <a:miter lim="8000"/>
            <a:headEnd type="none" w="sm" len="sm"/>
            <a:tailEnd type="none" w="sm" len="sm"/>
          </a:ln>
        </p:spPr>
      </p:cxnSp>
      <p:cxnSp>
        <p:nvCxnSpPr>
          <p:cNvPr id="263" name="Google Shape;263;p35"/>
          <p:cNvCxnSpPr/>
          <p:nvPr/>
        </p:nvCxnSpPr>
        <p:spPr>
          <a:xfrm>
            <a:off x="-64770" y="6348095"/>
            <a:ext cx="8519795" cy="19050"/>
          </a:xfrm>
          <a:prstGeom prst="straightConnector1">
            <a:avLst/>
          </a:prstGeom>
          <a:noFill/>
          <a:ln w="9525" cap="flat" cmpd="sng">
            <a:solidFill>
              <a:srgbClr val="000000"/>
            </a:solidFill>
            <a:prstDash val="solid"/>
            <a:miter lim="8000"/>
            <a:headEnd type="none" w="sm" len="sm"/>
            <a:tailEnd type="none" w="sm" len="sm"/>
          </a:ln>
        </p:spPr>
      </p:cxnSp>
      <p:cxnSp>
        <p:nvCxnSpPr>
          <p:cNvPr id="264" name="Google Shape;264;p35"/>
          <p:cNvCxnSpPr/>
          <p:nvPr/>
        </p:nvCxnSpPr>
        <p:spPr>
          <a:xfrm>
            <a:off x="194945" y="4939665"/>
            <a:ext cx="8263255" cy="25400"/>
          </a:xfrm>
          <a:prstGeom prst="straightConnector1">
            <a:avLst/>
          </a:prstGeom>
          <a:noFill/>
          <a:ln w="9525" cap="flat" cmpd="sng">
            <a:solidFill>
              <a:srgbClr val="000000"/>
            </a:solidFill>
            <a:prstDash val="solid"/>
            <a:miter lim="8000"/>
            <a:headEnd type="none" w="sm" len="sm"/>
            <a:tailEnd type="none" w="sm" len="sm"/>
          </a:ln>
        </p:spPr>
      </p:cxnSp>
      <p:cxnSp>
        <p:nvCxnSpPr>
          <p:cNvPr id="265" name="Google Shape;265;p35"/>
          <p:cNvCxnSpPr/>
          <p:nvPr/>
        </p:nvCxnSpPr>
        <p:spPr>
          <a:xfrm>
            <a:off x="-64135" y="3716655"/>
            <a:ext cx="8568055" cy="99060"/>
          </a:xfrm>
          <a:prstGeom prst="straightConnector1">
            <a:avLst/>
          </a:prstGeom>
          <a:noFill/>
          <a:ln w="9525" cap="flat" cmpd="sng">
            <a:solidFill>
              <a:srgbClr val="000000"/>
            </a:solidFill>
            <a:prstDash val="solid"/>
            <a:miter lim="8000"/>
            <a:headEnd type="none" w="sm" len="sm"/>
            <a:tailEnd type="none" w="sm" len="sm"/>
          </a:ln>
        </p:spPr>
      </p:cxnSp>
      <p:cxnSp>
        <p:nvCxnSpPr>
          <p:cNvPr id="266" name="Google Shape;266;p35"/>
          <p:cNvCxnSpPr/>
          <p:nvPr/>
        </p:nvCxnSpPr>
        <p:spPr>
          <a:xfrm rot="10800000" flipH="1">
            <a:off x="3682842" y="2327911"/>
            <a:ext cx="1460658" cy="4029709"/>
          </a:xfrm>
          <a:prstGeom prst="straightConnector1">
            <a:avLst/>
          </a:prstGeom>
          <a:noFill/>
          <a:ln w="9525" cap="flat" cmpd="sng">
            <a:solidFill>
              <a:srgbClr val="000000"/>
            </a:solidFill>
            <a:prstDash val="solid"/>
            <a:miter lim="8000"/>
            <a:headEnd type="none" w="sm" len="sm"/>
            <a:tailEnd type="none" w="sm" len="sm"/>
          </a:ln>
        </p:spPr>
      </p:cxnSp>
      <p:cxnSp>
        <p:nvCxnSpPr>
          <p:cNvPr id="267" name="Google Shape;267;p35"/>
          <p:cNvCxnSpPr/>
          <p:nvPr/>
        </p:nvCxnSpPr>
        <p:spPr>
          <a:xfrm rot="10800000" flipH="1">
            <a:off x="5777866" y="2328546"/>
            <a:ext cx="1536699" cy="4038599"/>
          </a:xfrm>
          <a:prstGeom prst="straightConnector1">
            <a:avLst/>
          </a:prstGeom>
          <a:noFill/>
          <a:ln w="9525" cap="flat" cmpd="sng">
            <a:solidFill>
              <a:srgbClr val="000000"/>
            </a:solidFill>
            <a:prstDash val="solid"/>
            <a:miter lim="8000"/>
            <a:headEnd type="none" w="sm" len="sm"/>
            <a:tailEnd type="none" w="sm" len="sm"/>
          </a:ln>
        </p:spPr>
      </p:cxnSp>
      <p:cxnSp>
        <p:nvCxnSpPr>
          <p:cNvPr id="268" name="Google Shape;268;p35"/>
          <p:cNvCxnSpPr/>
          <p:nvPr/>
        </p:nvCxnSpPr>
        <p:spPr>
          <a:xfrm flipH="1">
            <a:off x="8457883" y="2328545"/>
            <a:ext cx="46037" cy="4038600"/>
          </a:xfrm>
          <a:prstGeom prst="straightConnector1">
            <a:avLst/>
          </a:prstGeom>
          <a:noFill/>
          <a:ln w="9525" cap="flat" cmpd="sng">
            <a:solidFill>
              <a:srgbClr val="000000"/>
            </a:solidFill>
            <a:prstDash val="solid"/>
            <a:miter lim="8000"/>
            <a:headEnd type="none" w="sm" len="sm"/>
            <a:tailEnd type="none" w="sm" len="sm"/>
          </a:ln>
        </p:spPr>
      </p:cxnSp>
      <p:sp>
        <p:nvSpPr>
          <p:cNvPr id="269" name="Google Shape;269;p35"/>
          <p:cNvSpPr txBox="1"/>
          <p:nvPr/>
        </p:nvSpPr>
        <p:spPr>
          <a:xfrm>
            <a:off x="105410" y="2459673"/>
            <a:ext cx="2308860" cy="106743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Pengurus Atasan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125"/>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Perancangan Strategik</a:t>
            </a:r>
            <a:endParaRPr sz="1400" b="0" i="0" u="none" strike="noStrike" cap="none">
              <a:solidFill>
                <a:srgbClr val="000000"/>
              </a:solidFill>
              <a:latin typeface="Arial"/>
              <a:ea typeface="Arial"/>
              <a:cs typeface="Arial"/>
              <a:sym typeface="Arial"/>
            </a:endParaRPr>
          </a:p>
        </p:txBody>
      </p:sp>
      <p:sp>
        <p:nvSpPr>
          <p:cNvPr id="270" name="Google Shape;270;p35"/>
          <p:cNvSpPr txBox="1"/>
          <p:nvPr/>
        </p:nvSpPr>
        <p:spPr>
          <a:xfrm>
            <a:off x="-122078" y="1174750"/>
            <a:ext cx="2685415" cy="1344930"/>
          </a:xfrm>
          <a:prstGeom prst="rect">
            <a:avLst/>
          </a:prstGeom>
          <a:noFill/>
          <a:ln>
            <a:noFill/>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Tingkat Pengurusan  &amp;  </a:t>
            </a:r>
            <a:endParaRPr sz="2000" b="0" i="0" u="none" strike="noStrike" cap="none">
              <a:solidFill>
                <a:srgbClr val="000000"/>
              </a:solidFill>
              <a:latin typeface="Arial"/>
              <a:ea typeface="Arial"/>
              <a:cs typeface="Arial"/>
              <a:sym typeface="Arial"/>
            </a:endParaRPr>
          </a:p>
          <a:p>
            <a:pPr marL="0" marR="0" lvl="0" indent="0" algn="ctr" rtl="0">
              <a:lnSpc>
                <a:spcPct val="100000"/>
              </a:lnSpc>
              <a:spcBef>
                <a:spcPts val="1125"/>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 Jenis Perancangan</a:t>
            </a:r>
            <a:r>
              <a:rPr lang="en-US" sz="2000" b="0" i="0" u="none" strike="noStrike" cap="none">
                <a:solidFill>
                  <a:srgbClr val="2F5496"/>
                </a:solidFill>
                <a:latin typeface="Arial"/>
                <a:ea typeface="Arial"/>
                <a:cs typeface="Arial"/>
                <a:sym typeface="Arial"/>
              </a:rPr>
              <a:t> </a:t>
            </a:r>
            <a:endParaRPr sz="2000" b="0" i="0" u="none" strike="noStrike" cap="none">
              <a:solidFill>
                <a:srgbClr val="2F5496"/>
              </a:solidFill>
              <a:latin typeface="Arial"/>
              <a:ea typeface="Arial"/>
              <a:cs typeface="Arial"/>
              <a:sym typeface="Arial"/>
            </a:endParaRPr>
          </a:p>
        </p:txBody>
      </p:sp>
      <p:sp>
        <p:nvSpPr>
          <p:cNvPr id="271" name="Google Shape;271;p35"/>
          <p:cNvSpPr txBox="1"/>
          <p:nvPr/>
        </p:nvSpPr>
        <p:spPr>
          <a:xfrm>
            <a:off x="2852578" y="1470184"/>
            <a:ext cx="2246313" cy="833437"/>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Kemahiran Konseptual</a:t>
            </a:r>
            <a:endParaRPr sz="1400" b="0" i="0" u="none" strike="noStrike" cap="none">
              <a:solidFill>
                <a:srgbClr val="000000"/>
              </a:solidFill>
              <a:latin typeface="Arial"/>
              <a:ea typeface="Arial"/>
              <a:cs typeface="Arial"/>
              <a:sym typeface="Arial"/>
            </a:endParaRPr>
          </a:p>
        </p:txBody>
      </p:sp>
      <p:sp>
        <p:nvSpPr>
          <p:cNvPr id="272" name="Google Shape;272;p35"/>
          <p:cNvSpPr txBox="1"/>
          <p:nvPr/>
        </p:nvSpPr>
        <p:spPr>
          <a:xfrm>
            <a:off x="5098891" y="1452563"/>
            <a:ext cx="2078038" cy="833438"/>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Kemahiran Kemanusiaan</a:t>
            </a:r>
            <a:endParaRPr sz="1400" b="0" i="0" u="none" strike="noStrike" cap="none">
              <a:solidFill>
                <a:srgbClr val="000000"/>
              </a:solidFill>
              <a:latin typeface="Arial"/>
              <a:ea typeface="Arial"/>
              <a:cs typeface="Arial"/>
              <a:sym typeface="Arial"/>
            </a:endParaRPr>
          </a:p>
        </p:txBody>
      </p:sp>
      <p:sp>
        <p:nvSpPr>
          <p:cNvPr id="273" name="Google Shape;273;p35"/>
          <p:cNvSpPr txBox="1"/>
          <p:nvPr/>
        </p:nvSpPr>
        <p:spPr>
          <a:xfrm>
            <a:off x="7395845" y="1454786"/>
            <a:ext cx="1710055" cy="83121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Kemahiran Teknikal</a:t>
            </a:r>
            <a:endParaRPr sz="1400" b="0" i="0" u="none" strike="noStrike" cap="none">
              <a:solidFill>
                <a:srgbClr val="000000"/>
              </a:solidFill>
              <a:latin typeface="Arial"/>
              <a:ea typeface="Arial"/>
              <a:cs typeface="Arial"/>
              <a:sym typeface="Arial"/>
            </a:endParaRPr>
          </a:p>
        </p:txBody>
      </p:sp>
      <p:sp>
        <p:nvSpPr>
          <p:cNvPr id="274" name="Google Shape;274;p35"/>
          <p:cNvSpPr/>
          <p:nvPr/>
        </p:nvSpPr>
        <p:spPr>
          <a:xfrm>
            <a:off x="652145" y="14605"/>
            <a:ext cx="7620000" cy="101473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FFFF00"/>
                </a:solidFill>
                <a:latin typeface="Tahoma"/>
                <a:ea typeface="Tahoma"/>
                <a:cs typeface="Tahoma"/>
                <a:sym typeface="Tahoma"/>
              </a:rPr>
              <a:t> </a:t>
            </a:r>
            <a:r>
              <a:rPr lang="en-US" sz="2800" b="1" i="0" u="none" strike="noStrike" cap="none">
                <a:solidFill>
                  <a:schemeClr val="dk1"/>
                </a:solidFill>
                <a:latin typeface="Arial"/>
                <a:ea typeface="Arial"/>
                <a:cs typeface="Arial"/>
                <a:sym typeface="Arial"/>
              </a:rPr>
              <a:t>Rajah Hubungkait Antara Jenis Perancangan Dengan Peringkat Kemahiran Pengurusan</a:t>
            </a:r>
            <a:endParaRPr sz="1400" b="0" i="0" u="none" strike="noStrike" cap="none">
              <a:solidFill>
                <a:srgbClr val="000000"/>
              </a:solidFill>
              <a:latin typeface="Arial"/>
              <a:ea typeface="Arial"/>
              <a:cs typeface="Arial"/>
              <a:sym typeface="Arial"/>
            </a:endParaRPr>
          </a:p>
        </p:txBody>
      </p:sp>
      <p:cxnSp>
        <p:nvCxnSpPr>
          <p:cNvPr id="276" name="Google Shape;276;p35"/>
          <p:cNvCxnSpPr/>
          <p:nvPr/>
        </p:nvCxnSpPr>
        <p:spPr>
          <a:xfrm>
            <a:off x="194945" y="2308860"/>
            <a:ext cx="8339455" cy="0"/>
          </a:xfrm>
          <a:prstGeom prst="straightConnector1">
            <a:avLst/>
          </a:prstGeom>
          <a:noFill/>
          <a:ln w="9525" cap="flat" cmpd="sng">
            <a:solidFill>
              <a:srgbClr val="000000"/>
            </a:solidFill>
            <a:prstDash val="solid"/>
            <a:miter lim="8000"/>
            <a:headEnd type="none" w="sm" len="sm"/>
            <a:tailEnd type="none" w="sm" len="sm"/>
          </a:ln>
        </p:spPr>
      </p:cxnSp>
      <p:sp>
        <p:nvSpPr>
          <p:cNvPr id="277" name="Google Shape;277;p35"/>
          <p:cNvSpPr txBox="1"/>
          <p:nvPr/>
        </p:nvSpPr>
        <p:spPr>
          <a:xfrm>
            <a:off x="167005" y="3716655"/>
            <a:ext cx="2308860" cy="134493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Pengurus Pertengahan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125"/>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Perancangan  Taktikal</a:t>
            </a:r>
            <a:endParaRPr sz="1400" b="0" i="0" u="none" strike="noStrike" cap="none">
              <a:solidFill>
                <a:srgbClr val="000000"/>
              </a:solidFill>
              <a:latin typeface="Arial"/>
              <a:ea typeface="Arial"/>
              <a:cs typeface="Arial"/>
              <a:sym typeface="Arial"/>
            </a:endParaRPr>
          </a:p>
        </p:txBody>
      </p:sp>
      <p:sp>
        <p:nvSpPr>
          <p:cNvPr id="278" name="Google Shape;278;p35"/>
          <p:cNvSpPr txBox="1"/>
          <p:nvPr/>
        </p:nvSpPr>
        <p:spPr>
          <a:xfrm>
            <a:off x="51435" y="5061585"/>
            <a:ext cx="2308860" cy="134493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Pengurus Bawahan</a:t>
            </a: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1125"/>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Perancangan Operasi</a:t>
            </a:r>
            <a:endParaRPr sz="1400" b="0" i="0" u="none" strike="noStrike" cap="none">
              <a:solidFill>
                <a:srgbClr val="000000"/>
              </a:solidFill>
              <a:latin typeface="Arial"/>
              <a:ea typeface="Arial"/>
              <a:cs typeface="Arial"/>
              <a:sym typeface="Arial"/>
            </a:endParaRPr>
          </a:p>
        </p:txBody>
      </p:sp>
      <p:sp>
        <p:nvSpPr>
          <p:cNvPr id="279" name="Google Shape;279;p35"/>
          <p:cNvSpPr txBox="1"/>
          <p:nvPr/>
        </p:nvSpPr>
        <p:spPr>
          <a:xfrm>
            <a:off x="3020695" y="2983230"/>
            <a:ext cx="1019810"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Arial"/>
                <a:ea typeface="Arial"/>
                <a:cs typeface="Arial"/>
                <a:sym typeface="Arial"/>
              </a:rPr>
              <a:t>Tinggi</a:t>
            </a:r>
            <a:endParaRPr sz="2000" b="0" i="0" u="none" strike="noStrike" cap="none">
              <a:solidFill>
                <a:srgbClr val="0000FF"/>
              </a:solidFill>
              <a:latin typeface="Arial"/>
              <a:ea typeface="Arial"/>
              <a:cs typeface="Arial"/>
              <a:sym typeface="Arial"/>
            </a:endParaRPr>
          </a:p>
        </p:txBody>
      </p:sp>
      <p:sp>
        <p:nvSpPr>
          <p:cNvPr id="280" name="Google Shape;280;p35"/>
          <p:cNvSpPr txBox="1"/>
          <p:nvPr/>
        </p:nvSpPr>
        <p:spPr>
          <a:xfrm>
            <a:off x="7301231" y="3027998"/>
            <a:ext cx="1128395"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8000"/>
                </a:solidFill>
                <a:latin typeface="Arial"/>
                <a:ea typeface="Arial"/>
                <a:cs typeface="Arial"/>
                <a:sym typeface="Arial"/>
              </a:rPr>
              <a:t>Rendah</a:t>
            </a:r>
            <a:endParaRPr sz="1600" b="0" i="0" u="none" strike="noStrike" cap="none">
              <a:solidFill>
                <a:srgbClr val="008000"/>
              </a:solidFill>
              <a:latin typeface="Arial"/>
              <a:ea typeface="Arial"/>
              <a:cs typeface="Arial"/>
              <a:sym typeface="Arial"/>
            </a:endParaRPr>
          </a:p>
        </p:txBody>
      </p:sp>
      <p:sp>
        <p:nvSpPr>
          <p:cNvPr id="281" name="Google Shape;281;p35"/>
          <p:cNvSpPr txBox="1"/>
          <p:nvPr/>
        </p:nvSpPr>
        <p:spPr>
          <a:xfrm>
            <a:off x="6931025" y="4297680"/>
            <a:ext cx="1527175"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800080"/>
                </a:solidFill>
                <a:latin typeface="Arial"/>
                <a:ea typeface="Arial"/>
                <a:cs typeface="Arial"/>
                <a:sym typeface="Arial"/>
              </a:rPr>
              <a:t>Sederhana</a:t>
            </a:r>
            <a:endParaRPr sz="1600" b="1" i="0" u="none" strike="noStrike" cap="none">
              <a:solidFill>
                <a:srgbClr val="800080"/>
              </a:solidFill>
              <a:latin typeface="Arial"/>
              <a:ea typeface="Arial"/>
              <a:cs typeface="Arial"/>
              <a:sym typeface="Arial"/>
            </a:endParaRPr>
          </a:p>
        </p:txBody>
      </p:sp>
      <p:sp>
        <p:nvSpPr>
          <p:cNvPr id="282" name="Google Shape;282;p35"/>
          <p:cNvSpPr txBox="1"/>
          <p:nvPr/>
        </p:nvSpPr>
        <p:spPr>
          <a:xfrm>
            <a:off x="6640195" y="5397500"/>
            <a:ext cx="1019810"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Arial"/>
                <a:ea typeface="Arial"/>
                <a:cs typeface="Arial"/>
                <a:sym typeface="Arial"/>
              </a:rPr>
              <a:t>Tinggi</a:t>
            </a:r>
            <a:endParaRPr sz="1600" b="1" i="0" u="none" strike="noStrike" cap="none">
              <a:solidFill>
                <a:srgbClr val="0000FF"/>
              </a:solidFill>
              <a:latin typeface="Arial"/>
              <a:ea typeface="Arial"/>
              <a:cs typeface="Arial"/>
              <a:sym typeface="Arial"/>
            </a:endParaRPr>
          </a:p>
        </p:txBody>
      </p:sp>
      <p:sp>
        <p:nvSpPr>
          <p:cNvPr id="283" name="Google Shape;283;p35"/>
          <p:cNvSpPr txBox="1"/>
          <p:nvPr/>
        </p:nvSpPr>
        <p:spPr>
          <a:xfrm>
            <a:off x="4192905" y="5397500"/>
            <a:ext cx="1019810"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Arial"/>
                <a:ea typeface="Arial"/>
                <a:cs typeface="Arial"/>
                <a:sym typeface="Arial"/>
              </a:rPr>
              <a:t>Tinggi</a:t>
            </a:r>
            <a:endParaRPr sz="1600" b="0" i="0" u="none" strike="noStrike" cap="none">
              <a:solidFill>
                <a:srgbClr val="0000FF"/>
              </a:solidFill>
              <a:latin typeface="Arial"/>
              <a:ea typeface="Arial"/>
              <a:cs typeface="Arial"/>
              <a:sym typeface="Arial"/>
            </a:endParaRPr>
          </a:p>
        </p:txBody>
      </p:sp>
      <p:sp>
        <p:nvSpPr>
          <p:cNvPr id="284" name="Google Shape;284;p35"/>
          <p:cNvSpPr txBox="1"/>
          <p:nvPr/>
        </p:nvSpPr>
        <p:spPr>
          <a:xfrm>
            <a:off x="4827905" y="4204970"/>
            <a:ext cx="1019810"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Arial"/>
                <a:ea typeface="Arial"/>
                <a:cs typeface="Arial"/>
                <a:sym typeface="Arial"/>
              </a:rPr>
              <a:t>Tinggi</a:t>
            </a:r>
            <a:endParaRPr sz="2000" b="0" i="0" u="none" strike="noStrike" cap="none">
              <a:solidFill>
                <a:srgbClr val="0000FF"/>
              </a:solidFill>
              <a:latin typeface="Arial"/>
              <a:ea typeface="Arial"/>
              <a:cs typeface="Arial"/>
              <a:sym typeface="Arial"/>
            </a:endParaRPr>
          </a:p>
        </p:txBody>
      </p:sp>
      <p:sp>
        <p:nvSpPr>
          <p:cNvPr id="285" name="Google Shape;285;p35"/>
          <p:cNvSpPr txBox="1"/>
          <p:nvPr/>
        </p:nvSpPr>
        <p:spPr>
          <a:xfrm>
            <a:off x="5329238" y="2968308"/>
            <a:ext cx="1019810"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Arial"/>
                <a:ea typeface="Arial"/>
                <a:cs typeface="Arial"/>
                <a:sym typeface="Arial"/>
              </a:rPr>
              <a:t>Tinggi</a:t>
            </a:r>
            <a:endParaRPr sz="2000" b="0" i="0" u="none" strike="noStrike" cap="none">
              <a:solidFill>
                <a:srgbClr val="0000FF"/>
              </a:solidFill>
              <a:latin typeface="Arial"/>
              <a:ea typeface="Arial"/>
              <a:cs typeface="Arial"/>
              <a:sym typeface="Arial"/>
            </a:endParaRPr>
          </a:p>
        </p:txBody>
      </p:sp>
      <p:sp>
        <p:nvSpPr>
          <p:cNvPr id="286" name="Google Shape;286;p35"/>
          <p:cNvSpPr txBox="1"/>
          <p:nvPr/>
        </p:nvSpPr>
        <p:spPr>
          <a:xfrm>
            <a:off x="2697481" y="4129405"/>
            <a:ext cx="1527175" cy="36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800080"/>
                </a:solidFill>
                <a:latin typeface="Arial"/>
                <a:ea typeface="Arial"/>
                <a:cs typeface="Arial"/>
                <a:sym typeface="Arial"/>
              </a:rPr>
              <a:t>Sederhana</a:t>
            </a:r>
            <a:endParaRPr sz="1600" b="1" i="0" u="none" strike="noStrike" cap="none">
              <a:solidFill>
                <a:srgbClr val="800080"/>
              </a:solidFill>
              <a:latin typeface="Arial"/>
              <a:ea typeface="Arial"/>
              <a:cs typeface="Arial"/>
              <a:sym typeface="Arial"/>
            </a:endParaRPr>
          </a:p>
        </p:txBody>
      </p:sp>
      <p:sp>
        <p:nvSpPr>
          <p:cNvPr id="287" name="Google Shape;287;p35"/>
          <p:cNvSpPr txBox="1"/>
          <p:nvPr/>
        </p:nvSpPr>
        <p:spPr>
          <a:xfrm>
            <a:off x="2610485" y="5133975"/>
            <a:ext cx="1128395" cy="39497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8000"/>
                </a:solidFill>
                <a:latin typeface="Arial"/>
                <a:ea typeface="Arial"/>
                <a:cs typeface="Arial"/>
                <a:sym typeface="Arial"/>
              </a:rPr>
              <a:t>Rendah</a:t>
            </a:r>
            <a:endParaRPr sz="1600" b="0" i="0" u="none" strike="noStrike" cap="none">
              <a:solidFill>
                <a:srgbClr val="008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graphicFrame>
        <p:nvGraphicFramePr>
          <p:cNvPr id="292" name="Google Shape;292;p36"/>
          <p:cNvGraphicFramePr/>
          <p:nvPr/>
        </p:nvGraphicFramePr>
        <p:xfrm>
          <a:off x="116958" y="2286000"/>
          <a:ext cx="8912750" cy="3406140"/>
        </p:xfrm>
        <a:graphic>
          <a:graphicData uri="http://schemas.openxmlformats.org/drawingml/2006/table">
            <a:tbl>
              <a:tblPr firstRow="1" firstCol="1" bandRow="1">
                <a:noFill/>
                <a:tableStyleId>{C41FCEC7-0E8C-47CC-956D-54237296FFD6}</a:tableStyleId>
              </a:tblPr>
              <a:tblGrid>
                <a:gridCol w="2513000">
                  <a:extLst>
                    <a:ext uri="{9D8B030D-6E8A-4147-A177-3AD203B41FA5}">
                      <a16:colId xmlns:a16="http://schemas.microsoft.com/office/drawing/2014/main" val="20000"/>
                    </a:ext>
                  </a:extLst>
                </a:gridCol>
                <a:gridCol w="6399750">
                  <a:extLst>
                    <a:ext uri="{9D8B030D-6E8A-4147-A177-3AD203B41FA5}">
                      <a16:colId xmlns:a16="http://schemas.microsoft.com/office/drawing/2014/main" val="20001"/>
                    </a:ext>
                  </a:extLst>
                </a:gridCol>
              </a:tblGrid>
              <a:tr h="3253575">
                <a:tc>
                  <a:txBody>
                    <a:bodyPr/>
                    <a:lstStyle/>
                    <a:p>
                      <a:pPr marL="0" marR="0" lvl="0" indent="0" algn="ctr" rtl="0">
                        <a:lnSpc>
                          <a:spcPct val="115000"/>
                        </a:lnSpc>
                        <a:spcBef>
                          <a:spcPts val="0"/>
                        </a:spcBef>
                        <a:spcAft>
                          <a:spcPts val="0"/>
                        </a:spcAft>
                        <a:buClr>
                          <a:srgbClr val="000000"/>
                        </a:buClr>
                        <a:buSzPts val="1800"/>
                        <a:buFont typeface="Arial"/>
                        <a:buNone/>
                      </a:pPr>
                      <a:endParaRPr sz="2800" u="none" strike="noStrike" cap="none">
                        <a:solidFill>
                          <a:schemeClr val="dk1"/>
                        </a:solidFill>
                        <a:latin typeface="Federo"/>
                        <a:ea typeface="Federo"/>
                        <a:cs typeface="Federo"/>
                        <a:sym typeface="Federo"/>
                      </a:endParaRPr>
                    </a:p>
                    <a:p>
                      <a:pPr marL="0" marR="0" lvl="0" indent="0" algn="ctr" rtl="0">
                        <a:lnSpc>
                          <a:spcPct val="115000"/>
                        </a:lnSpc>
                        <a:spcBef>
                          <a:spcPts val="0"/>
                        </a:spcBef>
                        <a:spcAft>
                          <a:spcPts val="0"/>
                        </a:spcAft>
                        <a:buClr>
                          <a:srgbClr val="000000"/>
                        </a:buClr>
                        <a:buSzPts val="2000"/>
                        <a:buFont typeface="Arial"/>
                        <a:buNone/>
                      </a:pPr>
                      <a:r>
                        <a:rPr lang="en-US" sz="2400" u="none" strike="noStrike" cap="none">
                          <a:solidFill>
                            <a:schemeClr val="dk1"/>
                          </a:solidFill>
                          <a:latin typeface="Federo"/>
                          <a:ea typeface="Federo"/>
                          <a:cs typeface="Federo"/>
                          <a:sym typeface="Federo"/>
                        </a:rPr>
                        <a:t>PERANCANGAN</a:t>
                      </a:r>
                      <a:endParaRPr sz="2400" u="none" strike="noStrike" cap="none">
                        <a:latin typeface="Federo"/>
                        <a:ea typeface="Federo"/>
                        <a:cs typeface="Federo"/>
                        <a:sym typeface="Federo"/>
                      </a:endParaRPr>
                    </a:p>
                    <a:p>
                      <a:pPr marL="0" marR="0" lvl="0" indent="0" algn="ctr" rtl="0">
                        <a:lnSpc>
                          <a:spcPct val="115000"/>
                        </a:lnSpc>
                        <a:spcBef>
                          <a:spcPts val="0"/>
                        </a:spcBef>
                        <a:spcAft>
                          <a:spcPts val="0"/>
                        </a:spcAft>
                        <a:buClr>
                          <a:schemeClr val="dk1"/>
                        </a:buClr>
                        <a:buSzPts val="1800"/>
                        <a:buFont typeface="Tahoma"/>
                        <a:buNone/>
                      </a:pPr>
                      <a:r>
                        <a:rPr lang="en-US" sz="2400" u="none" strike="noStrike" cap="none">
                          <a:solidFill>
                            <a:schemeClr val="dk1"/>
                          </a:solidFill>
                          <a:latin typeface="Federo"/>
                          <a:ea typeface="Federo"/>
                          <a:cs typeface="Federo"/>
                          <a:sym typeface="Federo"/>
                        </a:rPr>
                        <a:t>STRATEGIK</a:t>
                      </a:r>
                      <a:endParaRPr sz="2400" u="none" strike="noStrike" cap="none">
                        <a:solidFill>
                          <a:schemeClr val="dk1"/>
                        </a:solidFill>
                        <a:latin typeface="Federo"/>
                        <a:ea typeface="Federo"/>
                        <a:cs typeface="Federo"/>
                        <a:sym typeface="Federo"/>
                      </a:endParaRPr>
                    </a:p>
                    <a:p>
                      <a:pPr marL="0" marR="0" lvl="0" indent="0" algn="ctr" rtl="0">
                        <a:lnSpc>
                          <a:spcPct val="115000"/>
                        </a:lnSpc>
                        <a:spcBef>
                          <a:spcPts val="0"/>
                        </a:spcBef>
                        <a:spcAft>
                          <a:spcPts val="0"/>
                        </a:spcAft>
                        <a:buClr>
                          <a:srgbClr val="000000"/>
                        </a:buClr>
                        <a:buSzPts val="2000"/>
                        <a:buFont typeface="Arial"/>
                        <a:buNone/>
                      </a:pPr>
                      <a:r>
                        <a:rPr lang="en-US" sz="2400" u="none" strike="noStrike" cap="none">
                          <a:solidFill>
                            <a:schemeClr val="dk1"/>
                          </a:solidFill>
                          <a:latin typeface="Federo"/>
                          <a:ea typeface="Federo"/>
                          <a:cs typeface="Federo"/>
                          <a:sym typeface="Federo"/>
                        </a:rPr>
                        <a:t>&amp; PENGURUSAN</a:t>
                      </a:r>
                      <a:endParaRPr sz="2400" u="none" strike="noStrike" cap="none">
                        <a:latin typeface="Federo"/>
                        <a:ea typeface="Federo"/>
                        <a:cs typeface="Federo"/>
                        <a:sym typeface="Federo"/>
                      </a:endParaRPr>
                    </a:p>
                    <a:p>
                      <a:pPr marL="0" marR="0" lvl="0" indent="0" algn="ctr" rtl="0">
                        <a:lnSpc>
                          <a:spcPct val="115000"/>
                        </a:lnSpc>
                        <a:spcBef>
                          <a:spcPts val="0"/>
                        </a:spcBef>
                        <a:spcAft>
                          <a:spcPts val="0"/>
                        </a:spcAft>
                        <a:buClr>
                          <a:srgbClr val="000000"/>
                        </a:buClr>
                        <a:buSzPts val="2000"/>
                        <a:buFont typeface="Arial"/>
                        <a:buNone/>
                      </a:pPr>
                      <a:r>
                        <a:rPr lang="en-US" sz="2400" u="none" strike="noStrike" cap="none">
                          <a:solidFill>
                            <a:schemeClr val="dk1"/>
                          </a:solidFill>
                          <a:latin typeface="Federo"/>
                          <a:ea typeface="Federo"/>
                          <a:cs typeface="Federo"/>
                          <a:sym typeface="Federo"/>
                        </a:rPr>
                        <a:t>ATASAN</a:t>
                      </a:r>
                      <a:endParaRPr sz="2400" u="none" strike="noStrike" cap="none">
                        <a:latin typeface="Federo"/>
                        <a:ea typeface="Federo"/>
                        <a:cs typeface="Federo"/>
                        <a:sym typeface="Federo"/>
                      </a:endParaRPr>
                    </a:p>
                  </a:txBody>
                  <a:tcPr marL="68575" marR="68575" marT="0" marB="0">
                    <a:solidFill>
                      <a:srgbClr val="FBE4D4"/>
                    </a:solidFill>
                  </a:tcPr>
                </a:tc>
                <a:tc>
                  <a:txBody>
                    <a:bodyPr/>
                    <a:lstStyle/>
                    <a:p>
                      <a:pPr marL="0" marR="0" lvl="0" indent="0" algn="l" rtl="0">
                        <a:lnSpc>
                          <a:spcPct val="115000"/>
                        </a:lnSpc>
                        <a:spcBef>
                          <a:spcPts val="0"/>
                        </a:spcBef>
                        <a:spcAft>
                          <a:spcPts val="0"/>
                        </a:spcAft>
                        <a:buClr>
                          <a:schemeClr val="dk1"/>
                        </a:buClr>
                        <a:buSzPts val="1800"/>
                        <a:buFont typeface="Tahoma"/>
                        <a:buNone/>
                      </a:pPr>
                      <a:r>
                        <a:rPr lang="en-US" sz="2800" b="0" u="none" strike="noStrike" cap="none">
                          <a:solidFill>
                            <a:schemeClr val="dk1"/>
                          </a:solidFill>
                          <a:latin typeface="Federo"/>
                          <a:ea typeface="Federo"/>
                          <a:cs typeface="Federo"/>
                          <a:sym typeface="Federo"/>
                        </a:rPr>
                        <a:t>Pengurus perlu mempunyai kemahiran konseptual yang tinggi berbanding pengurus peringkat lain. Pengurus perlu memantau persekitaran dalaman dan luaran seperti ekonomi, teknologi, kebudayaan, pelanggan, pekerja, pesaing dan sebagainya.</a:t>
                      </a:r>
                      <a:endParaRPr sz="2800" b="0" u="none" strike="noStrike" cap="none">
                        <a:solidFill>
                          <a:schemeClr val="dk1"/>
                        </a:solidFill>
                        <a:latin typeface="Federo"/>
                        <a:ea typeface="Federo"/>
                        <a:cs typeface="Federo"/>
                        <a:sym typeface="Federo"/>
                      </a:endParaRPr>
                    </a:p>
                  </a:txBody>
                  <a:tcPr marL="68575" marR="68575" marT="0" marB="0">
                    <a:solidFill>
                      <a:srgbClr val="FBE4D4"/>
                    </a:solidFill>
                  </a:tcPr>
                </a:tc>
                <a:extLst>
                  <a:ext uri="{0D108BD9-81ED-4DB2-BD59-A6C34878D82A}">
                    <a16:rowId xmlns:a16="http://schemas.microsoft.com/office/drawing/2014/main" val="10000"/>
                  </a:ext>
                </a:extLst>
              </a:tr>
            </a:tbl>
          </a:graphicData>
        </a:graphic>
      </p:graphicFrame>
      <p:sp>
        <p:nvSpPr>
          <p:cNvPr id="294" name="Google Shape;294;p36"/>
          <p:cNvSpPr txBox="1"/>
          <p:nvPr/>
        </p:nvSpPr>
        <p:spPr>
          <a:xfrm>
            <a:off x="1428750" y="304800"/>
            <a:ext cx="7276465" cy="1137285"/>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c. Hubungkait Jenis Perancangan dengan Peringkat Pengurusan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299" name="Google Shape;299;p37"/>
          <p:cNvGraphicFramePr/>
          <p:nvPr/>
        </p:nvGraphicFramePr>
        <p:xfrm>
          <a:off x="596270" y="1788600"/>
          <a:ext cx="8199725" cy="4387596"/>
        </p:xfrm>
        <a:graphic>
          <a:graphicData uri="http://schemas.openxmlformats.org/drawingml/2006/table">
            <a:tbl>
              <a:tblPr firstRow="1" firstCol="1" bandRow="1">
                <a:noFill/>
                <a:tableStyleId>{C41FCEC7-0E8C-47CC-956D-54237296FFD6}</a:tableStyleId>
              </a:tblPr>
              <a:tblGrid>
                <a:gridCol w="2867375">
                  <a:extLst>
                    <a:ext uri="{9D8B030D-6E8A-4147-A177-3AD203B41FA5}">
                      <a16:colId xmlns:a16="http://schemas.microsoft.com/office/drawing/2014/main" val="20000"/>
                    </a:ext>
                  </a:extLst>
                </a:gridCol>
                <a:gridCol w="5332350">
                  <a:extLst>
                    <a:ext uri="{9D8B030D-6E8A-4147-A177-3AD203B41FA5}">
                      <a16:colId xmlns:a16="http://schemas.microsoft.com/office/drawing/2014/main" val="20001"/>
                    </a:ext>
                  </a:extLst>
                </a:gridCol>
              </a:tblGrid>
              <a:tr h="3242600">
                <a:tc>
                  <a:txBody>
                    <a:bodyPr/>
                    <a:lstStyle/>
                    <a:p>
                      <a:pPr marL="0" marR="0" lvl="0" indent="0" algn="ctr" rtl="0">
                        <a:lnSpc>
                          <a:spcPct val="115000"/>
                        </a:lnSpc>
                        <a:spcBef>
                          <a:spcPts val="0"/>
                        </a:spcBef>
                        <a:spcAft>
                          <a:spcPts val="0"/>
                        </a:spcAft>
                        <a:buClr>
                          <a:srgbClr val="000000"/>
                        </a:buClr>
                        <a:buSzPts val="2000"/>
                        <a:buFont typeface="Arial"/>
                        <a:buNone/>
                      </a:pPr>
                      <a:r>
                        <a:rPr lang="en-US" sz="2000" u="none" strike="noStrike" cap="none">
                          <a:solidFill>
                            <a:schemeClr val="dk1"/>
                          </a:solidFill>
                          <a:latin typeface="Federo"/>
                          <a:ea typeface="Federo"/>
                          <a:cs typeface="Federo"/>
                          <a:sym typeface="Federo"/>
                        </a:rPr>
                        <a:t>PERANCANGAN</a:t>
                      </a:r>
                      <a:endParaRPr sz="2000" u="none" strike="noStrike" cap="none">
                        <a:solidFill>
                          <a:schemeClr val="dk1"/>
                        </a:solidFill>
                        <a:latin typeface="Federo"/>
                        <a:ea typeface="Federo"/>
                        <a:cs typeface="Federo"/>
                        <a:sym typeface="Federo"/>
                      </a:endParaRPr>
                    </a:p>
                    <a:p>
                      <a:pPr marL="0" marR="0" lvl="0" indent="0" algn="ctr" rtl="0">
                        <a:lnSpc>
                          <a:spcPct val="115000"/>
                        </a:lnSpc>
                        <a:spcBef>
                          <a:spcPts val="0"/>
                        </a:spcBef>
                        <a:spcAft>
                          <a:spcPts val="0"/>
                        </a:spcAft>
                        <a:buClr>
                          <a:schemeClr val="dk1"/>
                        </a:buClr>
                        <a:buSzPts val="1800"/>
                        <a:buFont typeface="Tahoma"/>
                        <a:buNone/>
                      </a:pPr>
                      <a:r>
                        <a:rPr lang="en-US" sz="2000" u="none" strike="noStrike" cap="none">
                          <a:solidFill>
                            <a:schemeClr val="dk1"/>
                          </a:solidFill>
                          <a:latin typeface="Federo"/>
                          <a:ea typeface="Federo"/>
                          <a:cs typeface="Federo"/>
                          <a:sym typeface="Federo"/>
                        </a:rPr>
                        <a:t>TAKTIKAL</a:t>
                      </a:r>
                      <a:endParaRPr sz="2000" u="none" strike="noStrike" cap="none">
                        <a:solidFill>
                          <a:schemeClr val="dk1"/>
                        </a:solidFill>
                        <a:latin typeface="Federo"/>
                        <a:ea typeface="Federo"/>
                        <a:cs typeface="Federo"/>
                        <a:sym typeface="Federo"/>
                      </a:endParaRPr>
                    </a:p>
                    <a:p>
                      <a:pPr marL="0" marR="0" lvl="0" indent="0" algn="ctr" rtl="0">
                        <a:lnSpc>
                          <a:spcPct val="115000"/>
                        </a:lnSpc>
                        <a:spcBef>
                          <a:spcPts val="0"/>
                        </a:spcBef>
                        <a:spcAft>
                          <a:spcPts val="0"/>
                        </a:spcAft>
                        <a:buClr>
                          <a:srgbClr val="000000"/>
                        </a:buClr>
                        <a:buSzPts val="2000"/>
                        <a:buFont typeface="Arial"/>
                        <a:buNone/>
                      </a:pPr>
                      <a:r>
                        <a:rPr lang="en-US" sz="2000" u="none" strike="noStrike" cap="none">
                          <a:solidFill>
                            <a:schemeClr val="dk1"/>
                          </a:solidFill>
                          <a:latin typeface="Federo"/>
                          <a:ea typeface="Federo"/>
                          <a:cs typeface="Federo"/>
                          <a:sym typeface="Federo"/>
                        </a:rPr>
                        <a:t>&amp; PENGURUSAN</a:t>
                      </a:r>
                      <a:endParaRPr sz="2000" u="none" strike="noStrike" cap="none">
                        <a:solidFill>
                          <a:schemeClr val="dk1"/>
                        </a:solidFill>
                        <a:latin typeface="Federo"/>
                        <a:ea typeface="Federo"/>
                        <a:cs typeface="Federo"/>
                        <a:sym typeface="Federo"/>
                      </a:endParaRPr>
                    </a:p>
                    <a:p>
                      <a:pPr marL="0" marR="0" lvl="0" indent="0" algn="ctr" rtl="0">
                        <a:lnSpc>
                          <a:spcPct val="115000"/>
                        </a:lnSpc>
                        <a:spcBef>
                          <a:spcPts val="0"/>
                        </a:spcBef>
                        <a:spcAft>
                          <a:spcPts val="0"/>
                        </a:spcAft>
                        <a:buClr>
                          <a:srgbClr val="000000"/>
                        </a:buClr>
                        <a:buSzPts val="2000"/>
                        <a:buFont typeface="Arial"/>
                        <a:buNone/>
                      </a:pPr>
                      <a:r>
                        <a:rPr lang="en-US" sz="2000" u="none" strike="noStrike" cap="none">
                          <a:solidFill>
                            <a:schemeClr val="dk1"/>
                          </a:solidFill>
                          <a:latin typeface="Federo"/>
                          <a:ea typeface="Federo"/>
                          <a:cs typeface="Federo"/>
                          <a:sym typeface="Federo"/>
                        </a:rPr>
                        <a:t>PERTENGAHAN</a:t>
                      </a:r>
                      <a:endParaRPr sz="2000" u="none" strike="noStrike" cap="none">
                        <a:solidFill>
                          <a:schemeClr val="dk1"/>
                        </a:solidFill>
                        <a:latin typeface="Federo"/>
                        <a:ea typeface="Federo"/>
                        <a:cs typeface="Federo"/>
                        <a:sym typeface="Federo"/>
                      </a:endParaRPr>
                    </a:p>
                  </a:txBody>
                  <a:tcPr marL="68575" marR="68575" marT="0" marB="0">
                    <a:solidFill>
                      <a:srgbClr val="FFF2CC"/>
                    </a:solidFill>
                  </a:tcPr>
                </a:tc>
                <a:tc>
                  <a:txBody>
                    <a:bodyPr/>
                    <a:lstStyle/>
                    <a:p>
                      <a:pPr marL="0" marR="0" lvl="0" indent="0" algn="l" rtl="0">
                        <a:lnSpc>
                          <a:spcPct val="115000"/>
                        </a:lnSpc>
                        <a:spcBef>
                          <a:spcPts val="0"/>
                        </a:spcBef>
                        <a:spcAft>
                          <a:spcPts val="0"/>
                        </a:spcAft>
                        <a:buClr>
                          <a:schemeClr val="dk1"/>
                        </a:buClr>
                        <a:buSzPts val="1800"/>
                        <a:buFont typeface="Tahoma"/>
                        <a:buNone/>
                      </a:pPr>
                      <a:r>
                        <a:rPr lang="en-US" sz="2800" b="0" u="none" strike="noStrike" cap="none">
                          <a:solidFill>
                            <a:schemeClr val="dk1"/>
                          </a:solidFill>
                          <a:latin typeface="Federo"/>
                          <a:ea typeface="Federo"/>
                          <a:cs typeface="Federo"/>
                          <a:sym typeface="Federo"/>
                        </a:rPr>
                        <a:t>Pengurus akan menentukan bagaimana syarikat akan menggunakan sumber-sumber yang ada bagi mencapai matlamat yang ditetapkan.  Pengurus amat memerlukan kemahiran kemanusiaan bagi memimpin dan memotivasikan pekerja untuk mencapai matlamat organisasi.</a:t>
                      </a:r>
                      <a:endParaRPr sz="2800" b="0" u="none" strike="noStrike" cap="none">
                        <a:solidFill>
                          <a:schemeClr val="dk1"/>
                        </a:solidFill>
                        <a:latin typeface="Federo"/>
                        <a:ea typeface="Federo"/>
                        <a:cs typeface="Federo"/>
                        <a:sym typeface="Federo"/>
                      </a:endParaRPr>
                    </a:p>
                  </a:txBody>
                  <a:tcPr marL="68575" marR="68575" marT="0" marB="0">
                    <a:solidFill>
                      <a:srgbClr val="FFF2CC"/>
                    </a:solidFill>
                  </a:tcPr>
                </a:tc>
                <a:extLst>
                  <a:ext uri="{0D108BD9-81ED-4DB2-BD59-A6C34878D82A}">
                    <a16:rowId xmlns:a16="http://schemas.microsoft.com/office/drawing/2014/main" val="10000"/>
                  </a:ext>
                </a:extLst>
              </a:tr>
            </a:tbl>
          </a:graphicData>
        </a:graphic>
      </p:graphicFrame>
      <p:sp>
        <p:nvSpPr>
          <p:cNvPr id="301" name="Google Shape;301;p37"/>
          <p:cNvSpPr txBox="1"/>
          <p:nvPr/>
        </p:nvSpPr>
        <p:spPr>
          <a:xfrm>
            <a:off x="687070" y="304800"/>
            <a:ext cx="8018145" cy="1137285"/>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c. Hubungkait Jenis Perancangan dengan Peringkat Pengurusan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graphicFrame>
        <p:nvGraphicFramePr>
          <p:cNvPr id="306" name="Google Shape;306;p38"/>
          <p:cNvGraphicFramePr/>
          <p:nvPr/>
        </p:nvGraphicFramePr>
        <p:xfrm>
          <a:off x="393406" y="2430463"/>
          <a:ext cx="8636325" cy="2424684"/>
        </p:xfrm>
        <a:graphic>
          <a:graphicData uri="http://schemas.openxmlformats.org/drawingml/2006/table">
            <a:tbl>
              <a:tblPr firstRow="1" firstCol="1" bandRow="1">
                <a:noFill/>
                <a:tableStyleId>{C41FCEC7-0E8C-47CC-956D-54237296FFD6}</a:tableStyleId>
              </a:tblPr>
              <a:tblGrid>
                <a:gridCol w="3798100">
                  <a:extLst>
                    <a:ext uri="{9D8B030D-6E8A-4147-A177-3AD203B41FA5}">
                      <a16:colId xmlns:a16="http://schemas.microsoft.com/office/drawing/2014/main" val="20000"/>
                    </a:ext>
                  </a:extLst>
                </a:gridCol>
                <a:gridCol w="4838225">
                  <a:extLst>
                    <a:ext uri="{9D8B030D-6E8A-4147-A177-3AD203B41FA5}">
                      <a16:colId xmlns:a16="http://schemas.microsoft.com/office/drawing/2014/main" val="20001"/>
                    </a:ext>
                  </a:extLst>
                </a:gridCol>
              </a:tblGrid>
              <a:tr h="1656300">
                <a:tc>
                  <a:txBody>
                    <a:bodyPr/>
                    <a:lstStyle/>
                    <a:p>
                      <a:pPr marL="0" marR="0" lvl="0" indent="0" algn="ctr" rtl="0">
                        <a:lnSpc>
                          <a:spcPct val="115000"/>
                        </a:lnSpc>
                        <a:spcBef>
                          <a:spcPts val="0"/>
                        </a:spcBef>
                        <a:spcAft>
                          <a:spcPts val="0"/>
                        </a:spcAft>
                        <a:buClr>
                          <a:srgbClr val="000000"/>
                        </a:buClr>
                        <a:buSzPts val="2800"/>
                        <a:buFont typeface="Arial"/>
                        <a:buNone/>
                      </a:pPr>
                      <a:r>
                        <a:rPr lang="en-US" sz="2800" u="none" strike="noStrike" cap="none">
                          <a:solidFill>
                            <a:schemeClr val="dk1"/>
                          </a:solidFill>
                          <a:latin typeface="Federo"/>
                          <a:ea typeface="Federo"/>
                          <a:cs typeface="Federo"/>
                          <a:sym typeface="Federo"/>
                        </a:rPr>
                        <a:t>PERANCANGAN</a:t>
                      </a:r>
                      <a:endParaRPr sz="2800" u="none" strike="noStrike" cap="none">
                        <a:latin typeface="Federo"/>
                        <a:ea typeface="Federo"/>
                        <a:cs typeface="Federo"/>
                        <a:sym typeface="Federo"/>
                      </a:endParaRPr>
                    </a:p>
                    <a:p>
                      <a:pPr marL="0" marR="0" lvl="0" indent="0" algn="ctr" rtl="0">
                        <a:lnSpc>
                          <a:spcPct val="115000"/>
                        </a:lnSpc>
                        <a:spcBef>
                          <a:spcPts val="0"/>
                        </a:spcBef>
                        <a:spcAft>
                          <a:spcPts val="0"/>
                        </a:spcAft>
                        <a:buClr>
                          <a:schemeClr val="dk1"/>
                        </a:buClr>
                        <a:buSzPts val="1800"/>
                        <a:buFont typeface="Tahoma"/>
                        <a:buNone/>
                      </a:pPr>
                      <a:r>
                        <a:rPr lang="en-US" sz="2800" u="none" strike="noStrike" cap="none">
                          <a:solidFill>
                            <a:schemeClr val="dk1"/>
                          </a:solidFill>
                          <a:latin typeface="Federo"/>
                          <a:ea typeface="Federo"/>
                          <a:cs typeface="Federo"/>
                          <a:sym typeface="Federo"/>
                        </a:rPr>
                        <a:t>OPERASIAN</a:t>
                      </a:r>
                      <a:endParaRPr sz="2800" u="none" strike="noStrike" cap="none">
                        <a:solidFill>
                          <a:schemeClr val="dk1"/>
                        </a:solidFill>
                        <a:latin typeface="Federo"/>
                        <a:ea typeface="Federo"/>
                        <a:cs typeface="Federo"/>
                        <a:sym typeface="Federo"/>
                      </a:endParaRPr>
                    </a:p>
                    <a:p>
                      <a:pPr marL="0" marR="0" lvl="0" indent="0" algn="ctr" rtl="0">
                        <a:lnSpc>
                          <a:spcPct val="115000"/>
                        </a:lnSpc>
                        <a:spcBef>
                          <a:spcPts val="0"/>
                        </a:spcBef>
                        <a:spcAft>
                          <a:spcPts val="0"/>
                        </a:spcAft>
                        <a:buClr>
                          <a:srgbClr val="000000"/>
                        </a:buClr>
                        <a:buSzPts val="2800"/>
                        <a:buFont typeface="Arial"/>
                        <a:buNone/>
                      </a:pPr>
                      <a:r>
                        <a:rPr lang="en-US" sz="2800" u="none" strike="noStrike" cap="none">
                          <a:solidFill>
                            <a:schemeClr val="dk1"/>
                          </a:solidFill>
                          <a:latin typeface="Federo"/>
                          <a:ea typeface="Federo"/>
                          <a:cs typeface="Federo"/>
                          <a:sym typeface="Federo"/>
                        </a:rPr>
                        <a:t>&amp; PENGURUSAN</a:t>
                      </a:r>
                      <a:endParaRPr sz="2800" u="none" strike="noStrike" cap="none">
                        <a:latin typeface="Federo"/>
                        <a:ea typeface="Federo"/>
                        <a:cs typeface="Federo"/>
                        <a:sym typeface="Federo"/>
                      </a:endParaRPr>
                    </a:p>
                    <a:p>
                      <a:pPr marL="0" marR="0" lvl="0" indent="0" algn="ctr" rtl="0">
                        <a:lnSpc>
                          <a:spcPct val="115000"/>
                        </a:lnSpc>
                        <a:spcBef>
                          <a:spcPts val="0"/>
                        </a:spcBef>
                        <a:spcAft>
                          <a:spcPts val="0"/>
                        </a:spcAft>
                        <a:buClr>
                          <a:srgbClr val="000000"/>
                        </a:buClr>
                        <a:buSzPts val="2800"/>
                        <a:buFont typeface="Arial"/>
                        <a:buNone/>
                      </a:pPr>
                      <a:r>
                        <a:rPr lang="en-US" sz="2800" u="none" strike="noStrike" cap="none">
                          <a:solidFill>
                            <a:schemeClr val="dk1"/>
                          </a:solidFill>
                          <a:latin typeface="Federo"/>
                          <a:ea typeface="Federo"/>
                          <a:cs typeface="Federo"/>
                          <a:sym typeface="Federo"/>
                        </a:rPr>
                        <a:t>BAWAHAN</a:t>
                      </a:r>
                      <a:endParaRPr sz="2800" u="none" strike="noStrike" cap="none">
                        <a:latin typeface="Federo"/>
                        <a:ea typeface="Federo"/>
                        <a:cs typeface="Federo"/>
                        <a:sym typeface="Federo"/>
                      </a:endParaRPr>
                    </a:p>
                  </a:txBody>
                  <a:tcPr marL="68575" marR="68575" marT="0" marB="0">
                    <a:solidFill>
                      <a:srgbClr val="FFF2CC"/>
                    </a:solidFill>
                  </a:tcPr>
                </a:tc>
                <a:tc>
                  <a:txBody>
                    <a:bodyPr/>
                    <a:lstStyle/>
                    <a:p>
                      <a:pPr marL="0" marR="0" lvl="0" indent="0" algn="l" rtl="0">
                        <a:lnSpc>
                          <a:spcPct val="115000"/>
                        </a:lnSpc>
                        <a:spcBef>
                          <a:spcPts val="0"/>
                        </a:spcBef>
                        <a:spcAft>
                          <a:spcPts val="0"/>
                        </a:spcAft>
                        <a:buClr>
                          <a:schemeClr val="dk1"/>
                        </a:buClr>
                        <a:buSzPts val="1800"/>
                        <a:buFont typeface="Tahoma"/>
                        <a:buNone/>
                      </a:pPr>
                      <a:r>
                        <a:rPr lang="en-US" sz="2800" b="1" u="none" strike="noStrike" cap="none">
                          <a:solidFill>
                            <a:schemeClr val="dk1"/>
                          </a:solidFill>
                          <a:latin typeface="Federo"/>
                          <a:ea typeface="Federo"/>
                          <a:cs typeface="Federo"/>
                          <a:sym typeface="Federo"/>
                        </a:rPr>
                        <a:t>Pengurus juga amat memerlukan kemahiran teknikal kerana bertanggungjawab mengawal operasi harian.</a:t>
                      </a:r>
                      <a:endParaRPr sz="2800" u="none" strike="noStrike" cap="none">
                        <a:solidFill>
                          <a:schemeClr val="dk1"/>
                        </a:solidFill>
                        <a:latin typeface="Federo"/>
                        <a:ea typeface="Federo"/>
                        <a:cs typeface="Federo"/>
                        <a:sym typeface="Federo"/>
                      </a:endParaRPr>
                    </a:p>
                    <a:p>
                      <a:pPr marL="0" marR="0" lvl="0" indent="0" algn="just" rtl="0">
                        <a:lnSpc>
                          <a:spcPct val="115000"/>
                        </a:lnSpc>
                        <a:spcBef>
                          <a:spcPts val="0"/>
                        </a:spcBef>
                        <a:spcAft>
                          <a:spcPts val="0"/>
                        </a:spcAft>
                        <a:buClr>
                          <a:srgbClr val="000000"/>
                        </a:buClr>
                        <a:buSzPts val="2800"/>
                        <a:buFont typeface="Arial"/>
                        <a:buNone/>
                      </a:pPr>
                      <a:endParaRPr sz="2800" b="1" u="none" strike="noStrike" cap="none">
                        <a:latin typeface="Federo"/>
                        <a:ea typeface="Federo"/>
                        <a:cs typeface="Federo"/>
                        <a:sym typeface="Federo"/>
                      </a:endParaRPr>
                    </a:p>
                  </a:txBody>
                  <a:tcPr marL="68575" marR="68575" marT="0" marB="0">
                    <a:solidFill>
                      <a:srgbClr val="FFF2CC"/>
                    </a:solidFill>
                  </a:tcPr>
                </a:tc>
                <a:extLst>
                  <a:ext uri="{0D108BD9-81ED-4DB2-BD59-A6C34878D82A}">
                    <a16:rowId xmlns:a16="http://schemas.microsoft.com/office/drawing/2014/main" val="10000"/>
                  </a:ext>
                </a:extLst>
              </a:tr>
            </a:tbl>
          </a:graphicData>
        </a:graphic>
      </p:graphicFrame>
      <p:sp>
        <p:nvSpPr>
          <p:cNvPr id="308" name="Google Shape;308;p38"/>
          <p:cNvSpPr txBox="1"/>
          <p:nvPr/>
        </p:nvSpPr>
        <p:spPr>
          <a:xfrm>
            <a:off x="1457325" y="304800"/>
            <a:ext cx="7247890" cy="1137285"/>
          </a:xfrm>
          <a:prstGeom prst="rect">
            <a:avLst/>
          </a:prstGeom>
          <a:noFill/>
          <a:ln>
            <a:noFill/>
          </a:ln>
        </p:spPr>
        <p:txBody>
          <a:bodyPr spcFirstLastPara="1" wrap="square" lIns="91425" tIns="45700" rIns="91425" bIns="45700" anchor="t" anchorCtr="0">
            <a:noAutofit/>
          </a:bodyPr>
          <a:lstStyle/>
          <a:p>
            <a:pPr marL="174625"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Federo"/>
                <a:ea typeface="Federo"/>
                <a:cs typeface="Federo"/>
                <a:sym typeface="Federo"/>
              </a:rPr>
              <a:t>2.2.1 c. Hubungkait Jenis Perancangan dengan Peringkat Pengurusan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4" name="Google Shape;314;p39"/>
          <p:cNvSpPr txBox="1"/>
          <p:nvPr/>
        </p:nvSpPr>
        <p:spPr>
          <a:xfrm>
            <a:off x="574159" y="136524"/>
            <a:ext cx="8569842" cy="1181913"/>
          </a:xfrm>
          <a:prstGeom prst="rect">
            <a:avLst/>
          </a:prstGeom>
          <a:noFill/>
          <a:ln>
            <a:noFill/>
          </a:ln>
        </p:spPr>
        <p:txBody>
          <a:bodyPr spcFirstLastPara="1" wrap="square" lIns="91425" tIns="45700" rIns="91425" bIns="45700" anchor="t" anchorCtr="0">
            <a:noAutofit/>
          </a:bodyPr>
          <a:lstStyle/>
          <a:p>
            <a:pPr marL="1701800" marR="0" lvl="0" indent="-1527175" algn="l" rtl="0">
              <a:lnSpc>
                <a:spcPct val="100000"/>
              </a:lnSpc>
              <a:spcBef>
                <a:spcPts val="0"/>
              </a:spcBef>
              <a:spcAft>
                <a:spcPts val="0"/>
              </a:spcAft>
              <a:buClr>
                <a:srgbClr val="000000"/>
              </a:buClr>
              <a:buSzPts val="3400"/>
              <a:buFont typeface="Arial"/>
              <a:buNone/>
            </a:pPr>
            <a:r>
              <a:rPr lang="en-US" sz="3400" b="1" i="0" u="none" strike="noStrike" cap="none">
                <a:solidFill>
                  <a:srgbClr val="C00000"/>
                </a:solidFill>
                <a:latin typeface="Federo"/>
                <a:ea typeface="Federo"/>
                <a:cs typeface="Federo"/>
                <a:sym typeface="Federo"/>
              </a:rPr>
              <a:t>2.2.1 c. Hubungkait Jenis Perancangan dengan Peringkat Pengurusan</a:t>
            </a:r>
            <a:endParaRPr sz="1400" b="0" i="0" u="none" strike="noStrike" cap="none">
              <a:solidFill>
                <a:srgbClr val="C00000"/>
              </a:solidFill>
              <a:latin typeface="Federo"/>
              <a:ea typeface="Federo"/>
              <a:cs typeface="Federo"/>
              <a:sym typeface="Federo"/>
            </a:endParaRPr>
          </a:p>
        </p:txBody>
      </p:sp>
      <p:sp>
        <p:nvSpPr>
          <p:cNvPr id="315" name="Google Shape;315;p39"/>
          <p:cNvSpPr txBox="1"/>
          <p:nvPr/>
        </p:nvSpPr>
        <p:spPr>
          <a:xfrm>
            <a:off x="850605" y="1752083"/>
            <a:ext cx="7880217" cy="410881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Trebuchet MS"/>
              <a:buNone/>
            </a:pPr>
            <a:r>
              <a:rPr lang="en-US" sz="3200" b="1" i="0" u="none" strike="noStrike" cap="none">
                <a:solidFill>
                  <a:srgbClr val="008000"/>
                </a:solidFill>
                <a:latin typeface="Federo"/>
                <a:ea typeface="Federo"/>
                <a:cs typeface="Federo"/>
                <a:sym typeface="Federo"/>
              </a:rPr>
              <a:t>i.	Pengurusan Atasan – Perancangan Strategik</a:t>
            </a:r>
            <a:endParaRPr sz="3200" b="1" i="1" u="none" strike="noStrike" cap="none">
              <a:solidFill>
                <a:srgbClr val="008000"/>
              </a:solidFill>
              <a:latin typeface="Federo"/>
              <a:ea typeface="Federo"/>
              <a:cs typeface="Federo"/>
              <a:sym typeface="Federo"/>
            </a:endParaRPr>
          </a:p>
          <a:p>
            <a:pPr marL="0" marR="0" lvl="0" indent="0" algn="l" rtl="0">
              <a:lnSpc>
                <a:spcPct val="100000"/>
              </a:lnSpc>
              <a:spcBef>
                <a:spcPts val="0"/>
              </a:spcBef>
              <a:spcAft>
                <a:spcPts val="0"/>
              </a:spcAft>
              <a:buClr>
                <a:schemeClr val="lt1"/>
              </a:buClr>
              <a:buSzPts val="2000"/>
              <a:buFont typeface="Tahoma"/>
              <a:buNone/>
            </a:pPr>
            <a:endParaRPr sz="32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Pengurusan atasan (antaranya seperti CEO, Presiden, Pengarah Urusan) melakukan perancangan strategik (jangka panjang). Merujuk kepada rancangan untuk keseluruhan organisasi.</a:t>
            </a:r>
            <a:endParaRPr sz="3200" b="0" i="0" u="none" strike="noStrike" cap="none">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chemeClr val="lt1"/>
              </a:buClr>
              <a:buSzPts val="2000"/>
              <a:buFont typeface="Tahoma"/>
              <a:buNone/>
            </a:pPr>
            <a:endParaRPr sz="32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1" name="Google Shape;321;p40"/>
          <p:cNvSpPr txBox="1"/>
          <p:nvPr/>
        </p:nvSpPr>
        <p:spPr>
          <a:xfrm>
            <a:off x="1350335" y="111716"/>
            <a:ext cx="7518710" cy="1137284"/>
          </a:xfrm>
          <a:prstGeom prst="rect">
            <a:avLst/>
          </a:prstGeom>
          <a:noFill/>
          <a:ln>
            <a:noFill/>
          </a:ln>
        </p:spPr>
        <p:txBody>
          <a:bodyPr spcFirstLastPara="1" wrap="square" lIns="91425" tIns="45700" rIns="91425" bIns="45700" anchor="t" anchorCtr="0">
            <a:noAutofit/>
          </a:bodyPr>
          <a:lstStyle/>
          <a:p>
            <a:pPr marL="1701800" marR="0" lvl="0" indent="-1527175" algn="l" rtl="0">
              <a:lnSpc>
                <a:spcPct val="100000"/>
              </a:lnSpc>
              <a:spcBef>
                <a:spcPts val="0"/>
              </a:spcBef>
              <a:spcAft>
                <a:spcPts val="0"/>
              </a:spcAft>
              <a:buClr>
                <a:srgbClr val="000000"/>
              </a:buClr>
              <a:buSzPts val="3400"/>
              <a:buFont typeface="Arial"/>
              <a:buNone/>
            </a:pPr>
            <a:r>
              <a:rPr lang="en-US" sz="3200" b="1" i="0" u="none" strike="noStrike" cap="none">
                <a:solidFill>
                  <a:srgbClr val="C00000"/>
                </a:solidFill>
                <a:latin typeface="Federo"/>
                <a:ea typeface="Federo"/>
                <a:cs typeface="Federo"/>
                <a:sym typeface="Federo"/>
              </a:rPr>
              <a:t>2.2.1 c. Hubungkait Jenis Perancangan dengan Peringkat Pengurusan</a:t>
            </a:r>
            <a:endParaRPr sz="3200" b="0" i="0" u="none" strike="noStrike" cap="none">
              <a:solidFill>
                <a:srgbClr val="C00000"/>
              </a:solidFill>
              <a:latin typeface="Federo"/>
              <a:ea typeface="Federo"/>
              <a:cs typeface="Federo"/>
              <a:sym typeface="Federo"/>
            </a:endParaRPr>
          </a:p>
        </p:txBody>
      </p:sp>
      <p:sp>
        <p:nvSpPr>
          <p:cNvPr id="322" name="Google Shape;322;p40"/>
          <p:cNvSpPr txBox="1"/>
          <p:nvPr/>
        </p:nvSpPr>
        <p:spPr>
          <a:xfrm>
            <a:off x="301658" y="2203107"/>
            <a:ext cx="8567387" cy="4084571"/>
          </a:xfrm>
          <a:prstGeom prst="rect">
            <a:avLst/>
          </a:prstGeom>
          <a:solidFill>
            <a:srgbClr val="DDEAF6"/>
          </a:solid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lt1"/>
              </a:buClr>
              <a:buSzPts val="2000"/>
              <a:buFont typeface="Tahoma"/>
              <a:buNone/>
            </a:pP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800"/>
              <a:buFont typeface="Noto Sans Symbols"/>
              <a:buChar char="❑"/>
            </a:pPr>
            <a:r>
              <a:rPr lang="en-US" sz="2800" b="0" i="0" u="none" strike="noStrike" cap="none" dirty="0" err="1">
                <a:solidFill>
                  <a:srgbClr val="000000"/>
                </a:solidFill>
                <a:latin typeface="Federo"/>
                <a:ea typeface="Federo"/>
                <a:cs typeface="Federo"/>
                <a:sym typeface="Federo"/>
              </a:rPr>
              <a:t>Pengurus</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perlu</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mempunyai</a:t>
            </a:r>
            <a:r>
              <a:rPr lang="en-US" sz="2800" b="0" i="0" u="none" strike="noStrike" cap="none" dirty="0">
                <a:solidFill>
                  <a:srgbClr val="000000"/>
                </a:solidFill>
                <a:latin typeface="Federo"/>
                <a:ea typeface="Federo"/>
                <a:cs typeface="Federo"/>
                <a:sym typeface="Federo"/>
              </a:rPr>
              <a:t> </a:t>
            </a:r>
            <a:r>
              <a:rPr lang="en-US" sz="2800" b="1" i="0" u="none" strike="noStrike" cap="none" dirty="0" err="1">
                <a:solidFill>
                  <a:srgbClr val="990033"/>
                </a:solidFill>
                <a:latin typeface="Federo"/>
                <a:ea typeface="Federo"/>
                <a:cs typeface="Federo"/>
                <a:sym typeface="Federo"/>
              </a:rPr>
              <a:t>kemahiran</a:t>
            </a:r>
            <a:r>
              <a:rPr lang="en-US" sz="2800" b="1" i="0" u="none" strike="noStrike" cap="none" dirty="0">
                <a:solidFill>
                  <a:srgbClr val="990033"/>
                </a:solidFill>
                <a:latin typeface="Federo"/>
                <a:ea typeface="Federo"/>
                <a:cs typeface="Federo"/>
                <a:sym typeface="Federo"/>
              </a:rPr>
              <a:t> </a:t>
            </a:r>
            <a:r>
              <a:rPr lang="en-US" sz="2800" b="1" i="0" u="none" strike="noStrike" cap="none" dirty="0" err="1">
                <a:solidFill>
                  <a:srgbClr val="990033"/>
                </a:solidFill>
                <a:latin typeface="Federo"/>
                <a:ea typeface="Federo"/>
                <a:cs typeface="Federo"/>
                <a:sym typeface="Federo"/>
              </a:rPr>
              <a:t>konseptual</a:t>
            </a:r>
            <a:r>
              <a:rPr lang="en-US" sz="2800" b="1" i="0" u="none" strike="noStrike" cap="none" dirty="0">
                <a:solidFill>
                  <a:srgbClr val="990033"/>
                </a:solidFill>
                <a:latin typeface="Federo"/>
                <a:ea typeface="Federo"/>
                <a:cs typeface="Federo"/>
                <a:sym typeface="Federo"/>
              </a:rPr>
              <a:t> yang </a:t>
            </a:r>
            <a:r>
              <a:rPr lang="en-US" sz="2800" b="1" i="0" u="none" strike="noStrike" cap="none" dirty="0" err="1">
                <a:solidFill>
                  <a:srgbClr val="990033"/>
                </a:solidFill>
                <a:latin typeface="Federo"/>
                <a:ea typeface="Federo"/>
                <a:cs typeface="Federo"/>
                <a:sym typeface="Federo"/>
              </a:rPr>
              <a:t>tinggi</a:t>
            </a:r>
            <a:r>
              <a:rPr lang="en-US" sz="2800" b="1" i="0" u="none" strike="noStrike" cap="none" dirty="0">
                <a:solidFill>
                  <a:srgbClr val="990033"/>
                </a:solidFill>
                <a:latin typeface="Federo"/>
                <a:ea typeface="Federo"/>
                <a:cs typeface="Federo"/>
                <a:sym typeface="Federo"/>
              </a:rPr>
              <a:t> </a:t>
            </a:r>
            <a:r>
              <a:rPr lang="en-US" sz="2800" b="1" i="0" u="none" strike="noStrike" cap="none" dirty="0" err="1">
                <a:solidFill>
                  <a:srgbClr val="990033"/>
                </a:solidFill>
                <a:latin typeface="Federo"/>
                <a:ea typeface="Federo"/>
                <a:cs typeface="Federo"/>
                <a:sym typeface="Federo"/>
              </a:rPr>
              <a:t>berbanding</a:t>
            </a:r>
            <a:r>
              <a:rPr lang="en-US" sz="2800" b="1" i="0" u="none" strike="noStrike" cap="none" dirty="0">
                <a:solidFill>
                  <a:srgbClr val="990033"/>
                </a:solidFill>
                <a:latin typeface="Federo"/>
                <a:ea typeface="Federo"/>
                <a:cs typeface="Federo"/>
                <a:sym typeface="Federo"/>
              </a:rPr>
              <a:t> </a:t>
            </a:r>
            <a:r>
              <a:rPr lang="en-US" sz="2800" b="1" i="0" u="none" strike="noStrike" cap="none" dirty="0" err="1">
                <a:solidFill>
                  <a:srgbClr val="990033"/>
                </a:solidFill>
                <a:latin typeface="Federo"/>
                <a:ea typeface="Federo"/>
                <a:cs typeface="Federo"/>
                <a:sym typeface="Federo"/>
              </a:rPr>
              <a:t>pengurus</a:t>
            </a:r>
            <a:r>
              <a:rPr lang="en-US" sz="2800" b="1" i="0" u="none" strike="noStrike" cap="none" dirty="0">
                <a:solidFill>
                  <a:srgbClr val="990033"/>
                </a:solidFill>
                <a:latin typeface="Federo"/>
                <a:ea typeface="Federo"/>
                <a:cs typeface="Federo"/>
                <a:sym typeface="Federo"/>
              </a:rPr>
              <a:t> </a:t>
            </a:r>
            <a:r>
              <a:rPr lang="en-US" sz="2800" b="1" i="0" u="none" strike="noStrike" cap="none" dirty="0" err="1">
                <a:solidFill>
                  <a:srgbClr val="990033"/>
                </a:solidFill>
                <a:latin typeface="Federo"/>
                <a:ea typeface="Federo"/>
                <a:cs typeface="Federo"/>
                <a:sym typeface="Federo"/>
              </a:rPr>
              <a:t>peringkat</a:t>
            </a:r>
            <a:r>
              <a:rPr lang="en-US" sz="2800" b="1" i="0" u="none" strike="noStrike" cap="none" dirty="0">
                <a:solidFill>
                  <a:srgbClr val="990033"/>
                </a:solidFill>
                <a:latin typeface="Federo"/>
                <a:ea typeface="Federo"/>
                <a:cs typeface="Federo"/>
                <a:sym typeface="Federo"/>
              </a:rPr>
              <a:t> lain.</a:t>
            </a:r>
            <a:endParaRPr dirty="0"/>
          </a:p>
          <a:p>
            <a:pPr marL="457200" marR="0" lvl="0" indent="-279400" algn="just" rtl="0">
              <a:lnSpc>
                <a:spcPct val="100000"/>
              </a:lnSpc>
              <a:spcBef>
                <a:spcPts val="0"/>
              </a:spcBef>
              <a:spcAft>
                <a:spcPts val="0"/>
              </a:spcAft>
              <a:buClr>
                <a:srgbClr val="002060"/>
              </a:buClr>
              <a:buSzPts val="2800"/>
              <a:buFont typeface="Noto Sans Symbols"/>
              <a:buNone/>
            </a:pPr>
            <a:endParaRPr sz="2800" b="1" i="0" u="none" strike="noStrike" cap="none" dirty="0">
              <a:solidFill>
                <a:srgbClr val="990033"/>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800"/>
              <a:buFont typeface="Noto Sans Symbols"/>
              <a:buChar char="❑"/>
            </a:pPr>
            <a:r>
              <a:rPr lang="en-US" sz="2800" b="0" i="0" u="none" strike="noStrike" cap="none" dirty="0">
                <a:solidFill>
                  <a:srgbClr val="990033"/>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Pengurus</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perlu</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memantau</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persekitaran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dalaman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dan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luaran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seperti</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ekonomi</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teknologi</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kebudayaan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pelanggan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pekerja</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pesaing</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dan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sebagainya</a:t>
            </a:r>
            <a:r>
              <a:rPr lang="en-US" sz="2800" b="0" i="0" u="none" strike="noStrike" cap="none" dirty="0">
                <a:solidFill>
                  <a:srgbClr val="000000"/>
                </a:solidFill>
                <a:latin typeface="Federo"/>
                <a:ea typeface="Federo"/>
                <a:cs typeface="Federo"/>
                <a:sym typeface="Federo"/>
              </a:rPr>
              <a:t> agar </a:t>
            </a:r>
            <a:r>
              <a:rPr lang="en-US" sz="2800" b="0" i="0" u="none" strike="noStrike" cap="none" dirty="0" err="1">
                <a:solidFill>
                  <a:srgbClr val="000000"/>
                </a:solidFill>
                <a:latin typeface="Federo"/>
                <a:ea typeface="Federo"/>
                <a:cs typeface="Federo"/>
                <a:sym typeface="Federo"/>
              </a:rPr>
              <a:t>peka</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kepada</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perubahan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persekitaran</a:t>
            </a:r>
            <a:r>
              <a:rPr lang="en-US" sz="2800" b="0" i="0" u="none" strike="noStrike" cap="none" dirty="0">
                <a:solidFill>
                  <a:srgbClr val="000000"/>
                </a:solidFill>
                <a:latin typeface="Federo"/>
                <a:ea typeface="Federo"/>
                <a:cs typeface="Federo"/>
                <a:sym typeface="Federo"/>
              </a:rPr>
              <a:t> yang </a:t>
            </a:r>
            <a:r>
              <a:rPr lang="en-US" sz="2800" b="0" i="0" u="none" strike="noStrike" cap="none" dirty="0" err="1">
                <a:solidFill>
                  <a:srgbClr val="000000"/>
                </a:solidFill>
                <a:latin typeface="Federo"/>
                <a:ea typeface="Federo"/>
                <a:cs typeface="Federo"/>
                <a:sym typeface="Federo"/>
              </a:rPr>
              <a:t>dinamik</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bagi</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mengelak</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ancaman</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kepada</a:t>
            </a:r>
            <a:r>
              <a:rPr lang="en-US" sz="2800" b="0" i="0" u="none" strike="noStrike" cap="none" dirty="0">
                <a:solidFill>
                  <a:srgbClr val="000000"/>
                </a:solidFill>
                <a:latin typeface="Federo"/>
                <a:ea typeface="Federo"/>
                <a:cs typeface="Federo"/>
                <a:sym typeface="Federo"/>
              </a:rPr>
              <a:t> </a:t>
            </a:r>
            <a:r>
              <a:rPr lang="en-US" sz="2800" b="0" i="0" u="none" strike="noStrike" cap="none" dirty="0" err="1">
                <a:solidFill>
                  <a:srgbClr val="000000"/>
                </a:solidFill>
                <a:latin typeface="Federo"/>
                <a:ea typeface="Federo"/>
                <a:cs typeface="Federo"/>
                <a:sym typeface="Federo"/>
              </a:rPr>
              <a:t>organisasi</a:t>
            </a:r>
            <a:r>
              <a:rPr lang="en-US" sz="2800" b="0" i="0" u="none" strike="noStrike" cap="none" dirty="0">
                <a:solidFill>
                  <a:srgbClr val="000000"/>
                </a:solidFill>
                <a:latin typeface="Federo"/>
                <a:ea typeface="Federo"/>
                <a:cs typeface="Federo"/>
                <a:sym typeface="Federo"/>
              </a:rPr>
              <a:t>.</a:t>
            </a:r>
            <a:endParaRPr sz="2800" b="0" i="0" u="none" strike="noStrike" cap="none" dirty="0">
              <a:solidFill>
                <a:srgbClr val="000000"/>
              </a:solidFill>
              <a:latin typeface="Federo"/>
              <a:ea typeface="Federo"/>
              <a:cs typeface="Federo"/>
              <a:sym typeface="Federo"/>
            </a:endParaRPr>
          </a:p>
        </p:txBody>
      </p:sp>
      <p:sp>
        <p:nvSpPr>
          <p:cNvPr id="323" name="Google Shape;323;p40"/>
          <p:cNvSpPr/>
          <p:nvPr/>
        </p:nvSpPr>
        <p:spPr>
          <a:xfrm>
            <a:off x="1105786" y="1249000"/>
            <a:ext cx="7409564" cy="96257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Federo"/>
                <a:ea typeface="Federo"/>
                <a:cs typeface="Federo"/>
                <a:sym typeface="Federo"/>
              </a:rPr>
              <a:t>i.Pengurusan Atasan – Perancangan Strategik</a:t>
            </a:r>
            <a:endParaRPr sz="3200" b="1" i="1"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9" name="Google Shape;329;p41"/>
          <p:cNvSpPr txBox="1"/>
          <p:nvPr/>
        </p:nvSpPr>
        <p:spPr>
          <a:xfrm>
            <a:off x="797443" y="403374"/>
            <a:ext cx="8166380" cy="5576570"/>
          </a:xfrm>
          <a:prstGeom prst="rect">
            <a:avLst/>
          </a:prstGeom>
          <a:solidFill>
            <a:srgbClr val="DDEAF6"/>
          </a:solid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Pengurus atasan juga </a:t>
            </a:r>
            <a:r>
              <a:rPr lang="en-US" sz="2800" b="1" i="0" u="none" strike="noStrike" cap="none">
                <a:solidFill>
                  <a:srgbClr val="990033"/>
                </a:solidFill>
                <a:latin typeface="Federo"/>
                <a:ea typeface="Federo"/>
                <a:cs typeface="Federo"/>
                <a:sym typeface="Federo"/>
              </a:rPr>
              <a:t>penting</a:t>
            </a:r>
            <a:r>
              <a:rPr lang="en-US" sz="2800" b="1" i="0" u="none" strike="noStrike" cap="none">
                <a:solidFill>
                  <a:schemeClr val="dk1"/>
                </a:solidFill>
                <a:latin typeface="Federo"/>
                <a:ea typeface="Federo"/>
                <a:cs typeface="Federo"/>
                <a:sym typeface="Federo"/>
              </a:rPr>
              <a:t> </a:t>
            </a:r>
            <a:r>
              <a:rPr lang="en-US" sz="2800" b="0" i="0" u="none" strike="noStrike" cap="none">
                <a:solidFill>
                  <a:srgbClr val="000000"/>
                </a:solidFill>
                <a:latin typeface="Federo"/>
                <a:ea typeface="Federo"/>
                <a:cs typeface="Federo"/>
                <a:sym typeface="Federo"/>
              </a:rPr>
              <a:t>untuk mempunyai </a:t>
            </a:r>
            <a:r>
              <a:rPr lang="en-US" sz="2800" b="1" i="0" u="none" strike="noStrike" cap="none">
                <a:solidFill>
                  <a:srgbClr val="00B050"/>
                </a:solidFill>
                <a:latin typeface="Federo"/>
                <a:ea typeface="Federo"/>
                <a:cs typeface="Federo"/>
                <a:sym typeface="Federo"/>
              </a:rPr>
              <a:t>kemahiran kemanusiaan</a:t>
            </a:r>
            <a:r>
              <a:rPr lang="en-US" sz="2800" b="0" i="0" u="none" strike="noStrike" cap="none">
                <a:solidFill>
                  <a:srgbClr val="00B050"/>
                </a:solidFill>
                <a:latin typeface="Federo"/>
                <a:ea typeface="Federo"/>
                <a:cs typeface="Federo"/>
                <a:sym typeface="Federo"/>
              </a:rPr>
              <a:t> </a:t>
            </a:r>
            <a:r>
              <a:rPr lang="en-US" sz="2800" b="0" i="0" u="none" strike="noStrike" cap="none">
                <a:solidFill>
                  <a:srgbClr val="000000"/>
                </a:solidFill>
                <a:latin typeface="Federo"/>
                <a:ea typeface="Federo"/>
                <a:cs typeface="Federo"/>
                <a:sym typeface="Federo"/>
              </a:rPr>
              <a:t>kerana beliau perlu berkomunikasi dengan pelbagai pihak luar dan dalam organisasi iaitu semua pengurus jabatan dan pengurus bawahan ketika mesyuarat pengurusan. </a:t>
            </a:r>
            <a:endParaRPr/>
          </a:p>
          <a:p>
            <a:pPr marL="457200" marR="0" lvl="0" indent="-279400" algn="l" rtl="0">
              <a:lnSpc>
                <a:spcPct val="100000"/>
              </a:lnSpc>
              <a:spcBef>
                <a:spcPts val="0"/>
              </a:spcBef>
              <a:spcAft>
                <a:spcPts val="0"/>
              </a:spcAft>
              <a:buClr>
                <a:srgbClr val="002060"/>
              </a:buClr>
              <a:buSzPts val="2800"/>
              <a:buFont typeface="Noto Sans Symbols"/>
              <a:buNone/>
            </a:pPr>
            <a:endParaRPr sz="2800" b="0" i="0" u="none" strike="noStrike" cap="none">
              <a:solidFill>
                <a:srgbClr val="000000"/>
              </a:solidFill>
              <a:latin typeface="Federo"/>
              <a:ea typeface="Federo"/>
              <a:cs typeface="Federo"/>
              <a:sym typeface="Federo"/>
            </a:endParaRPr>
          </a:p>
          <a:p>
            <a:pPr marL="457200" marR="0" lvl="0" indent="-457200" algn="l"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33CC"/>
                </a:solidFill>
                <a:latin typeface="Federo"/>
                <a:ea typeface="Federo"/>
                <a:cs typeface="Federo"/>
                <a:sym typeface="Federo"/>
              </a:rPr>
              <a:t>Pengurus atasan  adalah ketua dalam organisasi maka mereka perlu menyampaikan visi dan misi syarikat kepada pengurus peringkat lain.  </a:t>
            </a:r>
            <a:endParaRPr/>
          </a:p>
          <a:p>
            <a:pPr marL="457200" marR="0" lvl="0" indent="-279400" algn="l" rtl="0">
              <a:lnSpc>
                <a:spcPct val="100000"/>
              </a:lnSpc>
              <a:spcBef>
                <a:spcPts val="0"/>
              </a:spcBef>
              <a:spcAft>
                <a:spcPts val="0"/>
              </a:spcAft>
              <a:buClr>
                <a:srgbClr val="002060"/>
              </a:buClr>
              <a:buSzPts val="2800"/>
              <a:buFont typeface="Noto Sans Symbols"/>
              <a:buNone/>
            </a:pPr>
            <a:endParaRPr sz="2800" b="0" i="0" u="none" strike="noStrike" cap="none">
              <a:solidFill>
                <a:srgbClr val="0033CC"/>
              </a:solidFill>
              <a:latin typeface="Federo"/>
              <a:ea typeface="Federo"/>
              <a:cs typeface="Federo"/>
              <a:sym typeface="Federo"/>
            </a:endParaRPr>
          </a:p>
          <a:p>
            <a:pPr marL="457200" marR="0" lvl="0" indent="-457200" algn="l"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9900FF"/>
                </a:solidFill>
                <a:latin typeface="Federo"/>
                <a:ea typeface="Federo"/>
                <a:cs typeface="Federo"/>
                <a:sym typeface="Federo"/>
              </a:rPr>
              <a:t>Mereka juga perlu turun untuk melihat dan memotivasikan pekerja bawahan dalam organisasinya.</a:t>
            </a:r>
            <a:endParaRPr sz="2800" b="0" i="0" u="none" strike="noStrike" cap="none">
              <a:solidFill>
                <a:srgbClr val="9900FF"/>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9900FF"/>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5" name="Google Shape;335;p42"/>
          <p:cNvSpPr txBox="1"/>
          <p:nvPr/>
        </p:nvSpPr>
        <p:spPr>
          <a:xfrm>
            <a:off x="1932136" y="685800"/>
            <a:ext cx="7074217" cy="52622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a:p>
            <a:pPr marL="457200" marR="0" lvl="0" indent="-457200" algn="l" rtl="0">
              <a:lnSpc>
                <a:spcPct val="100000"/>
              </a:lnSpc>
              <a:spcBef>
                <a:spcPts val="0"/>
              </a:spcBef>
              <a:spcAft>
                <a:spcPts val="0"/>
              </a:spcAft>
              <a:buClr>
                <a:srgbClr val="002060"/>
              </a:buClr>
              <a:buSzPts val="3200"/>
              <a:buFont typeface="Noto Sans Symbols"/>
              <a:buChar char="❑"/>
            </a:pPr>
            <a:r>
              <a:rPr lang="en-US" sz="3200" b="0" i="0" u="none" strike="noStrike" cap="none">
                <a:solidFill>
                  <a:schemeClr val="dk1"/>
                </a:solidFill>
                <a:latin typeface="Federo"/>
                <a:ea typeface="Federo"/>
                <a:cs typeface="Federo"/>
                <a:sym typeface="Federo"/>
              </a:rPr>
              <a:t>Pengurus atasan hanya perlukan </a:t>
            </a:r>
            <a:r>
              <a:rPr lang="en-US" sz="3200" b="1" i="0" u="none" strike="noStrike" cap="none">
                <a:solidFill>
                  <a:srgbClr val="9900FF"/>
                </a:solidFill>
                <a:latin typeface="Federo"/>
                <a:ea typeface="Federo"/>
                <a:cs typeface="Federo"/>
                <a:sym typeface="Federo"/>
              </a:rPr>
              <a:t>sedikit</a:t>
            </a:r>
            <a:r>
              <a:rPr lang="en-US" sz="3200" b="0" i="0" u="none" strike="noStrike" cap="none">
                <a:solidFill>
                  <a:schemeClr val="dk1"/>
                </a:solidFill>
                <a:latin typeface="Federo"/>
                <a:ea typeface="Federo"/>
                <a:cs typeface="Federo"/>
                <a:sym typeface="Federo"/>
              </a:rPr>
              <a:t> sahaja </a:t>
            </a:r>
            <a:r>
              <a:rPr lang="en-US" sz="3200" b="1" i="0" u="none" strike="noStrike" cap="none">
                <a:solidFill>
                  <a:srgbClr val="990033"/>
                </a:solidFill>
                <a:latin typeface="Federo"/>
                <a:ea typeface="Federo"/>
                <a:cs typeface="Federo"/>
                <a:sym typeface="Federo"/>
              </a:rPr>
              <a:t>kemahiran teknikal </a:t>
            </a:r>
            <a:r>
              <a:rPr lang="en-US" sz="3200" b="0" i="0" u="none" strike="noStrike" cap="none">
                <a:solidFill>
                  <a:schemeClr val="dk1"/>
                </a:solidFill>
                <a:latin typeface="Federo"/>
                <a:ea typeface="Federo"/>
                <a:cs typeface="Federo"/>
                <a:sym typeface="Federo"/>
              </a:rPr>
              <a:t>kerana beliau tidak terlibat secara langsung dalam operasi dan kerja rutin organisasi</a:t>
            </a:r>
            <a:r>
              <a:rPr lang="en-US" sz="3600" b="0" i="0" u="none" strike="noStrike" cap="none">
                <a:solidFill>
                  <a:schemeClr val="dk1"/>
                </a:solidFill>
                <a:latin typeface="Arial"/>
                <a:ea typeface="Arial"/>
                <a:cs typeface="Arial"/>
                <a:sym typeface="Arial"/>
              </a:rPr>
              <a:t>.</a:t>
            </a:r>
            <a:endParaRPr sz="36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p43"/>
          <p:cNvSpPr txBox="1"/>
          <p:nvPr/>
        </p:nvSpPr>
        <p:spPr>
          <a:xfrm>
            <a:off x="1137684" y="457199"/>
            <a:ext cx="7841475" cy="5954234"/>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Trebuchet MS"/>
              <a:buNone/>
            </a:pPr>
            <a:r>
              <a:rPr lang="en-US" sz="3000" b="1" i="0" u="none" strike="noStrike" cap="none">
                <a:solidFill>
                  <a:srgbClr val="2F5496"/>
                </a:solidFill>
                <a:latin typeface="Federo"/>
                <a:ea typeface="Federo"/>
                <a:cs typeface="Federo"/>
                <a:sym typeface="Federo"/>
              </a:rPr>
              <a:t>ii. Pengurusan Pertengahan – Perancangan Taktikal</a:t>
            </a:r>
            <a:endParaRPr sz="3000" b="0" i="0" u="none" strike="noStrike" cap="none">
              <a:solidFill>
                <a:srgbClr val="2F5496"/>
              </a:solidFill>
              <a:latin typeface="Federo"/>
              <a:ea typeface="Federo"/>
              <a:cs typeface="Federo"/>
              <a:sym typeface="Federo"/>
            </a:endParaRPr>
          </a:p>
          <a:p>
            <a:pPr marL="0" marR="0" lvl="0" indent="0" algn="l" rtl="0">
              <a:lnSpc>
                <a:spcPct val="100000"/>
              </a:lnSpc>
              <a:spcBef>
                <a:spcPts val="0"/>
              </a:spcBef>
              <a:spcAft>
                <a:spcPts val="0"/>
              </a:spcAft>
              <a:buClr>
                <a:schemeClr val="lt1"/>
              </a:buClr>
              <a:buSzPts val="2200"/>
              <a:buFont typeface="Tahoma"/>
              <a:buNone/>
            </a:pPr>
            <a:endParaRPr sz="30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000"/>
              <a:buFont typeface="Noto Sans Symbols"/>
              <a:buChar char="❑"/>
            </a:pPr>
            <a:r>
              <a:rPr lang="en-US" sz="3000" b="0" i="0" u="none" strike="noStrike" cap="none">
                <a:solidFill>
                  <a:schemeClr val="dk1"/>
                </a:solidFill>
                <a:latin typeface="Federo"/>
                <a:ea typeface="Federo"/>
                <a:cs typeface="Federo"/>
                <a:sym typeface="Federo"/>
              </a:rPr>
              <a:t>Pengurus pertengahan (terdiri daripada pengurus-pengurus jabatan) menyediakan perancangan taktikal (jangka sederhana). Menyokong perancangan jangka panjang yang dibuat oleh pengurus atasan.  </a:t>
            </a:r>
            <a:endParaRPr sz="3000" b="0" i="0" u="none" strike="noStrike" cap="none">
              <a:solidFill>
                <a:schemeClr val="dk1"/>
              </a:solidFill>
              <a:latin typeface="Federo"/>
              <a:ea typeface="Federo"/>
              <a:cs typeface="Federo"/>
              <a:sym typeface="Federo"/>
            </a:endParaRPr>
          </a:p>
          <a:p>
            <a:pPr marL="457200" marR="0" lvl="0" indent="-266700" algn="just" rtl="0">
              <a:lnSpc>
                <a:spcPct val="100000"/>
              </a:lnSpc>
              <a:spcBef>
                <a:spcPts val="0"/>
              </a:spcBef>
              <a:spcAft>
                <a:spcPts val="0"/>
              </a:spcAft>
              <a:buClr>
                <a:srgbClr val="002060"/>
              </a:buClr>
              <a:buSzPts val="3000"/>
              <a:buFont typeface="Noto Sans Symbols"/>
              <a:buNone/>
            </a:pPr>
            <a:endParaRPr sz="3000" b="0" i="0" u="none" strike="noStrike" cap="none">
              <a:solidFill>
                <a:schemeClr val="dk1"/>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000"/>
              <a:buFont typeface="Noto Sans Symbols"/>
              <a:buChar char="❑"/>
            </a:pPr>
            <a:r>
              <a:rPr lang="en-US" sz="3000" b="0" i="0" u="none" strike="noStrike" cap="none">
                <a:solidFill>
                  <a:srgbClr val="000000"/>
                </a:solidFill>
                <a:latin typeface="Federo"/>
                <a:ea typeface="Federo"/>
                <a:cs typeface="Federo"/>
                <a:sym typeface="Federo"/>
              </a:rPr>
              <a:t>Pengurus akan menentukan bagaimana syarikat akan menggunakan sumber-sumber yang ada bagi mencapai matlamat yang ditetapkan.</a:t>
            </a:r>
            <a:endParaRPr sz="3000" b="0" i="0" u="none" strike="noStrike" cap="none">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chemeClr val="lt1"/>
              </a:buClr>
              <a:buSzPts val="2200"/>
              <a:buFont typeface="Tahoma"/>
              <a:buNone/>
            </a:pPr>
            <a:endParaRPr sz="30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200"/>
              <a:buFont typeface="Arial"/>
              <a:buNone/>
            </a:pPr>
            <a:endParaRPr sz="30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7" name="Google Shape;347;p44"/>
          <p:cNvSpPr txBox="1"/>
          <p:nvPr/>
        </p:nvSpPr>
        <p:spPr>
          <a:xfrm>
            <a:off x="382772" y="223284"/>
            <a:ext cx="8420988" cy="6133067"/>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Trebuchet MS"/>
              <a:buNone/>
            </a:pPr>
            <a:r>
              <a:rPr lang="en-US" sz="3000" b="1" i="0" u="none" strike="noStrike" cap="none" dirty="0">
                <a:solidFill>
                  <a:srgbClr val="000000"/>
                </a:solidFill>
                <a:latin typeface="Federo"/>
                <a:ea typeface="Federo"/>
                <a:cs typeface="Federo"/>
                <a:sym typeface="Federo"/>
              </a:rPr>
              <a:t>ii. </a:t>
            </a:r>
            <a:r>
              <a:rPr lang="en-US" sz="3000" b="1" i="0" u="none" strike="noStrike" cap="none" dirty="0" err="1">
                <a:solidFill>
                  <a:srgbClr val="000000"/>
                </a:solidFill>
                <a:latin typeface="Federo"/>
                <a:ea typeface="Federo"/>
                <a:cs typeface="Federo"/>
                <a:sym typeface="Federo"/>
              </a:rPr>
              <a:t>Pengurusan</a:t>
            </a:r>
            <a:r>
              <a:rPr lang="en-US" sz="3000" b="1" i="0" u="none" strike="noStrike" cap="none" dirty="0">
                <a:solidFill>
                  <a:srgbClr val="000000"/>
                </a:solidFill>
                <a:latin typeface="Federo"/>
                <a:ea typeface="Federo"/>
                <a:cs typeface="Federo"/>
                <a:sym typeface="Federo"/>
              </a:rPr>
              <a:t> </a:t>
            </a:r>
            <a:r>
              <a:rPr lang="en-US" sz="3000" b="1" i="0" u="none" strike="noStrike" cap="none" dirty="0" err="1">
                <a:solidFill>
                  <a:srgbClr val="000000"/>
                </a:solidFill>
                <a:latin typeface="Federo"/>
                <a:ea typeface="Federo"/>
                <a:cs typeface="Federo"/>
                <a:sym typeface="Federo"/>
              </a:rPr>
              <a:t>Pertengahan</a:t>
            </a:r>
            <a:r>
              <a:rPr lang="en-US" sz="3000" b="1" i="0" u="none" strike="noStrike" cap="none" dirty="0">
                <a:solidFill>
                  <a:srgbClr val="000000"/>
                </a:solidFill>
                <a:latin typeface="Federo"/>
                <a:ea typeface="Federo"/>
                <a:cs typeface="Federo"/>
                <a:sym typeface="Federo"/>
              </a:rPr>
              <a:t> – </a:t>
            </a:r>
            <a:r>
              <a:rPr lang="en-US" sz="3000" b="1" i="0" u="none" strike="noStrike" cap="none" dirty="0" err="1">
                <a:solidFill>
                  <a:srgbClr val="000000"/>
                </a:solidFill>
                <a:latin typeface="Federo"/>
                <a:ea typeface="Federo"/>
                <a:cs typeface="Federo"/>
                <a:sym typeface="Federo"/>
              </a:rPr>
              <a:t>Perancangan</a:t>
            </a:r>
            <a:r>
              <a:rPr lang="en-US" sz="3000" b="1" i="0" u="none" strike="noStrike" cap="none" dirty="0">
                <a:solidFill>
                  <a:srgbClr val="000000"/>
                </a:solidFill>
                <a:latin typeface="Federo"/>
                <a:ea typeface="Federo"/>
                <a:cs typeface="Federo"/>
                <a:sym typeface="Federo"/>
              </a:rPr>
              <a:t> </a:t>
            </a:r>
            <a:r>
              <a:rPr lang="en-US" sz="3000" b="1" i="0" u="none" strike="noStrike" cap="none" dirty="0" err="1">
                <a:solidFill>
                  <a:srgbClr val="000000"/>
                </a:solidFill>
                <a:latin typeface="Federo"/>
                <a:ea typeface="Federo"/>
                <a:cs typeface="Federo"/>
                <a:sym typeface="Federo"/>
              </a:rPr>
              <a:t>Taktikal</a:t>
            </a:r>
            <a:endParaRPr sz="3000" b="0" i="0" u="none" strike="noStrike" cap="none" dirty="0">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chemeClr val="lt1"/>
              </a:buClr>
              <a:buSzPts val="2200"/>
              <a:buFont typeface="Tahoma"/>
              <a:buNone/>
            </a:pPr>
            <a:endParaRPr sz="3000" b="0" i="0" u="none" strike="noStrike" cap="none" dirty="0">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200"/>
              <a:buFont typeface="Noto Sans Symbols"/>
              <a:buChar char="❑"/>
            </a:pPr>
            <a:r>
              <a:rPr lang="en-US" sz="3000" b="0" i="0" u="none" strike="noStrike" cap="none" dirty="0" err="1">
                <a:solidFill>
                  <a:srgbClr val="000000"/>
                </a:solidFill>
                <a:latin typeface="Federo"/>
                <a:ea typeface="Federo"/>
                <a:cs typeface="Federo"/>
                <a:sym typeface="Federo"/>
              </a:rPr>
              <a:t>Pengurus</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memerlukan</a:t>
            </a:r>
            <a:r>
              <a:rPr lang="en-US" sz="3000" b="0" i="0" u="none" strike="noStrike" cap="none" dirty="0">
                <a:solidFill>
                  <a:srgbClr val="000000"/>
                </a:solidFill>
                <a:latin typeface="Federo"/>
                <a:ea typeface="Federo"/>
                <a:cs typeface="Federo"/>
                <a:sym typeface="Federo"/>
              </a:rPr>
              <a:t> </a:t>
            </a:r>
            <a:r>
              <a:rPr lang="en-US" sz="3000" b="1" i="0" u="none" strike="noStrike" cap="none" dirty="0" err="1">
                <a:solidFill>
                  <a:srgbClr val="9900FF"/>
                </a:solidFill>
                <a:latin typeface="Federo"/>
                <a:ea typeface="Federo"/>
                <a:cs typeface="Federo"/>
                <a:sym typeface="Federo"/>
              </a:rPr>
              <a:t>kemahiran</a:t>
            </a:r>
            <a:r>
              <a:rPr lang="en-US" sz="3000" b="1" i="0" u="none" strike="noStrike" cap="none" dirty="0">
                <a:solidFill>
                  <a:srgbClr val="9900FF"/>
                </a:solidFill>
                <a:latin typeface="Federo"/>
                <a:ea typeface="Federo"/>
                <a:cs typeface="Federo"/>
                <a:sym typeface="Federo"/>
              </a:rPr>
              <a:t> </a:t>
            </a:r>
            <a:r>
              <a:rPr lang="en-US" sz="3000" b="1" i="0" u="none" strike="noStrike" cap="none" dirty="0" err="1">
                <a:solidFill>
                  <a:srgbClr val="9900FF"/>
                </a:solidFill>
                <a:latin typeface="Federo"/>
                <a:ea typeface="Federo"/>
                <a:cs typeface="Federo"/>
                <a:sym typeface="Federo"/>
              </a:rPr>
              <a:t>kemanusiaan</a:t>
            </a:r>
            <a:r>
              <a:rPr lang="en-US" sz="3000" b="0" i="0" u="none" strike="noStrike" cap="none" dirty="0">
                <a:solidFill>
                  <a:srgbClr val="9900FF"/>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kerana</a:t>
            </a:r>
            <a:r>
              <a:rPr lang="en-US" sz="3000" b="0" i="0" u="none" strike="noStrike" cap="none" dirty="0">
                <a:solidFill>
                  <a:srgbClr val="000000"/>
                </a:solidFill>
                <a:latin typeface="Federo"/>
                <a:ea typeface="Federo"/>
                <a:cs typeface="Federo"/>
                <a:sym typeface="Federo"/>
              </a:rPr>
              <a:t> </a:t>
            </a:r>
            <a:r>
              <a:rPr lang="en-US" sz="3000" b="1" i="0" u="none" strike="noStrike" cap="none" dirty="0" err="1">
                <a:solidFill>
                  <a:srgbClr val="9900FF"/>
                </a:solidFill>
                <a:latin typeface="Federo"/>
                <a:ea typeface="Federo"/>
                <a:cs typeface="Federo"/>
                <a:sym typeface="Federo"/>
              </a:rPr>
              <a:t>penting</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baginya</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untuk</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memimpin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dan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memotivasikan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pekerja</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untuk</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mencapai</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matlamat</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organisasi</a:t>
            </a:r>
            <a:r>
              <a:rPr lang="en-US" sz="3000" b="0" i="0" u="none" strike="noStrike" cap="none" dirty="0">
                <a:solidFill>
                  <a:srgbClr val="000000"/>
                </a:solidFill>
                <a:latin typeface="Federo"/>
                <a:ea typeface="Federo"/>
                <a:cs typeface="Federo"/>
                <a:sym typeface="Federo"/>
              </a:rPr>
              <a:t>.</a:t>
            </a:r>
            <a:endParaRPr sz="3000" b="0" i="0" u="none" strike="noStrike" cap="none" dirty="0">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000"/>
              <a:buFont typeface="Noto Sans Symbols"/>
              <a:buChar char="❑"/>
            </a:pPr>
            <a:r>
              <a:rPr lang="en-US" sz="3000" b="0" i="0" u="none" strike="noStrike" cap="none" dirty="0" err="1">
                <a:solidFill>
                  <a:srgbClr val="000000"/>
                </a:solidFill>
                <a:latin typeface="Federo"/>
                <a:ea typeface="Federo"/>
                <a:cs typeface="Federo"/>
                <a:sym typeface="Federo"/>
              </a:rPr>
              <a:t>Pengurus</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pertengahan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juga</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adalah</a:t>
            </a:r>
            <a:r>
              <a:rPr lang="en-US" sz="3000" b="0" i="0" u="none" strike="noStrike" cap="none" dirty="0">
                <a:solidFill>
                  <a:srgbClr val="000000"/>
                </a:solidFill>
                <a:latin typeface="Federo"/>
                <a:ea typeface="Federo"/>
                <a:cs typeface="Federo"/>
                <a:sym typeface="Federo"/>
              </a:rPr>
              <a:t> </a:t>
            </a:r>
            <a:r>
              <a:rPr lang="en-US" sz="3000" b="1" i="0" u="none" strike="noStrike" cap="none" dirty="0" err="1">
                <a:solidFill>
                  <a:srgbClr val="C55A11"/>
                </a:solidFill>
                <a:latin typeface="Federo"/>
                <a:ea typeface="Federo"/>
                <a:cs typeface="Federo"/>
                <a:sym typeface="Federo"/>
              </a:rPr>
              <a:t>penghubung</a:t>
            </a:r>
            <a:r>
              <a:rPr lang="en-US" sz="3000" b="1" i="0" u="none" strike="noStrike" cap="none" dirty="0">
                <a:solidFill>
                  <a:srgbClr val="C55A11"/>
                </a:solidFill>
                <a:latin typeface="Federo"/>
                <a:ea typeface="Federo"/>
                <a:cs typeface="Federo"/>
                <a:sym typeface="Federo"/>
              </a:rPr>
              <a:t> </a:t>
            </a:r>
            <a:r>
              <a:rPr lang="en-US" sz="3000" b="1" i="0" u="none" strike="noStrike" cap="none" dirty="0" err="1">
                <a:solidFill>
                  <a:srgbClr val="C55A11"/>
                </a:solidFill>
                <a:latin typeface="Federo"/>
                <a:ea typeface="Federo"/>
                <a:cs typeface="Federo"/>
                <a:sym typeface="Federo"/>
              </a:rPr>
              <a:t>kepada</a:t>
            </a:r>
            <a:r>
              <a:rPr lang="en-US" sz="3000" b="1" i="0" u="none" strike="noStrike" cap="none" dirty="0">
                <a:solidFill>
                  <a:srgbClr val="C55A11"/>
                </a:solidFill>
                <a:latin typeface="Federo"/>
                <a:ea typeface="Federo"/>
                <a:cs typeface="Federo"/>
                <a:sym typeface="Federo"/>
              </a:rPr>
              <a:t> </a:t>
            </a:r>
            <a:r>
              <a:rPr lang="en-US" sz="3000" b="1" i="0" u="none" strike="noStrike" cap="none" dirty="0" err="1">
                <a:solidFill>
                  <a:srgbClr val="C55A11"/>
                </a:solidFill>
                <a:latin typeface="Federo"/>
                <a:ea typeface="Federo"/>
                <a:cs typeface="Federo"/>
                <a:sym typeface="Federo"/>
              </a:rPr>
              <a:t>jabatan-jabatan</a:t>
            </a:r>
            <a:r>
              <a:rPr lang="en-US" sz="3000" b="1" i="0" u="none" strike="noStrike" cap="none" dirty="0">
                <a:solidFill>
                  <a:srgbClr val="C55A11"/>
                </a:solidFill>
                <a:latin typeface="Federo"/>
                <a:ea typeface="Federo"/>
                <a:cs typeface="Federo"/>
                <a:sym typeface="Federo"/>
              </a:rPr>
              <a:t> lain </a:t>
            </a:r>
            <a:r>
              <a:rPr lang="en-US" sz="3000" b="0" i="0" u="none" strike="noStrike" cap="none" dirty="0" err="1">
                <a:solidFill>
                  <a:srgbClr val="000000"/>
                </a:solidFill>
                <a:latin typeface="Federo"/>
                <a:ea typeface="Federo"/>
                <a:cs typeface="Federo"/>
                <a:sym typeface="Federo"/>
              </a:rPr>
              <a:t>dalam</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organisasi</a:t>
            </a:r>
            <a:r>
              <a:rPr lang="en-US" sz="3000" b="0" i="0" u="none" strike="noStrike" cap="none" dirty="0">
                <a:solidFill>
                  <a:srgbClr val="000000"/>
                </a:solidFill>
                <a:latin typeface="Federo"/>
                <a:ea typeface="Federo"/>
                <a:cs typeface="Federo"/>
                <a:sym typeface="Federo"/>
              </a:rPr>
              <a:t>.</a:t>
            </a:r>
            <a:endParaRPr dirty="0"/>
          </a:p>
          <a:p>
            <a:pPr marL="457200" marR="0" lvl="0" indent="-266700" algn="just" rtl="0">
              <a:lnSpc>
                <a:spcPct val="100000"/>
              </a:lnSpc>
              <a:spcBef>
                <a:spcPts val="0"/>
              </a:spcBef>
              <a:spcAft>
                <a:spcPts val="0"/>
              </a:spcAft>
              <a:buClr>
                <a:srgbClr val="002060"/>
              </a:buClr>
              <a:buSzPts val="3000"/>
              <a:buFont typeface="Noto Sans Symbols"/>
              <a:buNone/>
            </a:pPr>
            <a:endParaRPr sz="3000" b="0" i="0" u="none" strike="noStrike" cap="none" dirty="0">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dirty="0" err="1">
                <a:solidFill>
                  <a:srgbClr val="000000"/>
                </a:solidFill>
                <a:latin typeface="Federo"/>
                <a:ea typeface="Federo"/>
                <a:cs typeface="Federo"/>
                <a:sym typeface="Federo"/>
              </a:rPr>
              <a:t>Contohnya</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mesyuarat</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antara</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jabatan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akan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melibatkan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pengurus</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pertengahan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dan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pengurus</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atasan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untuk</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membincangkan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masalah</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dan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objektif</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jabatan</a:t>
            </a:r>
            <a:r>
              <a:rPr lang="en-US" sz="3000" b="0" i="0" u="none" strike="noStrike" cap="none" dirty="0">
                <a:solidFill>
                  <a:srgbClr val="000000"/>
                </a:solidFill>
                <a:latin typeface="Federo"/>
                <a:ea typeface="Federo"/>
                <a:cs typeface="Federo"/>
                <a:sym typeface="Federo"/>
              </a:rPr>
              <a:t> </a:t>
            </a:r>
            <a:r>
              <a:rPr lang="en-US" sz="3000" b="0" i="0" u="none" strike="noStrike" cap="none" dirty="0" err="1">
                <a:solidFill>
                  <a:srgbClr val="000000"/>
                </a:solidFill>
                <a:latin typeface="Federo"/>
                <a:ea typeface="Federo"/>
                <a:cs typeface="Federo"/>
                <a:sym typeface="Federo"/>
              </a:rPr>
              <a:t>masing-masing</a:t>
            </a:r>
            <a:r>
              <a:rPr lang="en-US" sz="3000" b="0" i="0" u="none" strike="noStrike" cap="none" dirty="0">
                <a:solidFill>
                  <a:srgbClr val="000000"/>
                </a:solidFill>
                <a:latin typeface="Federo"/>
                <a:ea typeface="Federo"/>
                <a:cs typeface="Federo"/>
                <a:sym typeface="Federo"/>
              </a:rPr>
              <a:t>.</a:t>
            </a:r>
            <a:endParaRPr sz="3000" b="0" i="0" u="none" strike="noStrike" cap="none" dirty="0">
              <a:solidFill>
                <a:srgbClr val="000000"/>
              </a:solidFill>
              <a:latin typeface="Federo"/>
              <a:ea typeface="Federo"/>
              <a:cs typeface="Federo"/>
              <a:sym typeface="Federo"/>
            </a:endParaRPr>
          </a:p>
          <a:p>
            <a:pPr marL="0" marR="0" lvl="0" indent="0" algn="just" rtl="0">
              <a:lnSpc>
                <a:spcPct val="100000"/>
              </a:lnSpc>
              <a:spcBef>
                <a:spcPts val="0"/>
              </a:spcBef>
              <a:spcAft>
                <a:spcPts val="0"/>
              </a:spcAft>
              <a:buClr>
                <a:srgbClr val="000000"/>
              </a:buClr>
              <a:buSzPts val="2200"/>
              <a:buFont typeface="Trebuchet MS"/>
              <a:buNone/>
            </a:pPr>
            <a:endParaRPr sz="3000" b="0" i="0" u="none" strike="noStrike" cap="none" dirty="0">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200"/>
              <a:buFont typeface="Arial"/>
              <a:buNone/>
            </a:pPr>
            <a:endParaRPr sz="3000" b="0" i="0" u="none" strike="noStrike" cap="none" dirty="0">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3" name="Google Shape;353;p45"/>
          <p:cNvSpPr txBox="1"/>
          <p:nvPr/>
        </p:nvSpPr>
        <p:spPr>
          <a:xfrm>
            <a:off x="435935" y="581025"/>
            <a:ext cx="8286425" cy="5628640"/>
          </a:xfrm>
          <a:prstGeom prst="rect">
            <a:avLst/>
          </a:prstGeom>
          <a:solidFill>
            <a:srgbClr val="DDEAF6"/>
          </a:solid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200"/>
              <a:buFont typeface="Trebuchet MS"/>
              <a:buNone/>
            </a:pPr>
            <a:endParaRPr sz="2400" b="0" i="0" u="none" strike="noStrike" cap="none">
              <a:solidFill>
                <a:srgbClr val="000000"/>
              </a:solidFill>
              <a:latin typeface="Tahoma"/>
              <a:ea typeface="Tahoma"/>
              <a:cs typeface="Tahoma"/>
              <a:sym typeface="Tahoma"/>
            </a:endParaRPr>
          </a:p>
          <a:p>
            <a:pPr marL="457200" marR="0" lvl="0" indent="-457200" algn="just" rtl="0">
              <a:lnSpc>
                <a:spcPct val="100000"/>
              </a:lnSpc>
              <a:spcBef>
                <a:spcPts val="0"/>
              </a:spcBef>
              <a:spcAft>
                <a:spcPts val="0"/>
              </a:spcAft>
              <a:buClr>
                <a:srgbClr val="002060"/>
              </a:buClr>
              <a:buSzPts val="3200"/>
              <a:buFont typeface="Noto Sans Symbols"/>
              <a:buChar char="❑"/>
            </a:pPr>
            <a:r>
              <a:rPr lang="en-US" sz="3200" b="1" i="0" u="none" strike="noStrike" cap="none">
                <a:solidFill>
                  <a:srgbClr val="00B050"/>
                </a:solidFill>
                <a:latin typeface="Federo"/>
                <a:ea typeface="Federo"/>
                <a:cs typeface="Federo"/>
                <a:sym typeface="Federo"/>
              </a:rPr>
              <a:t>Kemahiran konseptual yang sederhana</a:t>
            </a:r>
            <a:r>
              <a:rPr lang="en-US" sz="3200" b="0" i="0" u="none" strike="noStrike" cap="none">
                <a:solidFill>
                  <a:srgbClr val="00B050"/>
                </a:solidFill>
                <a:latin typeface="Federo"/>
                <a:ea typeface="Federo"/>
                <a:cs typeface="Federo"/>
                <a:sym typeface="Federo"/>
              </a:rPr>
              <a:t> </a:t>
            </a:r>
            <a:r>
              <a:rPr lang="en-US" sz="3200" b="0" i="0" u="none" strike="noStrike" cap="none">
                <a:solidFill>
                  <a:srgbClr val="000000"/>
                </a:solidFill>
                <a:latin typeface="Federo"/>
                <a:ea typeface="Federo"/>
                <a:cs typeface="Federo"/>
                <a:sym typeface="Federo"/>
              </a:rPr>
              <a:t>diperlukan oleh pengurus pertengahan untuk membentuk objektif jabatan dan membangunkan strategi jabatan masing-masing.  </a:t>
            </a:r>
            <a:endParaRPr sz="3200" b="0" i="0" u="none" strike="noStrike" cap="none">
              <a:solidFill>
                <a:srgbClr val="000000"/>
              </a:solidFill>
              <a:latin typeface="Federo"/>
              <a:ea typeface="Federo"/>
              <a:cs typeface="Federo"/>
              <a:sym typeface="Federo"/>
            </a:endParaRPr>
          </a:p>
          <a:p>
            <a:pPr marL="457200" marR="0" lvl="0" indent="-254000" algn="just" rtl="0">
              <a:lnSpc>
                <a:spcPct val="100000"/>
              </a:lnSpc>
              <a:spcBef>
                <a:spcPts val="0"/>
              </a:spcBef>
              <a:spcAft>
                <a:spcPts val="0"/>
              </a:spcAft>
              <a:buClr>
                <a:srgbClr val="002060"/>
              </a:buClr>
              <a:buSzPts val="3200"/>
              <a:buFont typeface="Noto Sans Symbols"/>
              <a:buNone/>
            </a:pPr>
            <a:endParaRPr sz="32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Begitu juga mereka memerlukan</a:t>
            </a:r>
            <a:r>
              <a:rPr lang="en-US" sz="3200" b="1" i="0" u="none" strike="noStrike" cap="none">
                <a:solidFill>
                  <a:srgbClr val="000000"/>
                </a:solidFill>
                <a:latin typeface="Federo"/>
                <a:ea typeface="Federo"/>
                <a:cs typeface="Federo"/>
                <a:sym typeface="Federo"/>
              </a:rPr>
              <a:t> </a:t>
            </a:r>
            <a:r>
              <a:rPr lang="en-US" sz="3200" b="1" i="0" u="none" strike="noStrike" cap="none">
                <a:solidFill>
                  <a:srgbClr val="FF0000"/>
                </a:solidFill>
                <a:latin typeface="Federo"/>
                <a:ea typeface="Federo"/>
                <a:cs typeface="Federo"/>
                <a:sym typeface="Federo"/>
              </a:rPr>
              <a:t>kemahiran teknikal  secara sederhana</a:t>
            </a:r>
            <a:r>
              <a:rPr lang="en-US" sz="3200" b="0" i="0" u="none" strike="noStrike" cap="none">
                <a:solidFill>
                  <a:srgbClr val="FF0000"/>
                </a:solidFill>
                <a:latin typeface="Federo"/>
                <a:ea typeface="Federo"/>
                <a:cs typeface="Federo"/>
                <a:sym typeface="Federo"/>
              </a:rPr>
              <a:t> </a:t>
            </a:r>
            <a:r>
              <a:rPr lang="en-US" sz="3200" b="0" i="0" u="none" strike="noStrike" cap="none">
                <a:solidFill>
                  <a:srgbClr val="000000"/>
                </a:solidFill>
                <a:latin typeface="Federo"/>
                <a:ea typeface="Federo"/>
                <a:cs typeface="Federo"/>
                <a:sym typeface="Federo"/>
              </a:rPr>
              <a:t>untuk membantu pengurus bawahan menyelesaikan dan membincang prosedur kerja harian operasi organisasi.</a:t>
            </a:r>
            <a:endParaRPr sz="32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9" name="Google Shape;359;p46"/>
          <p:cNvSpPr txBox="1"/>
          <p:nvPr/>
        </p:nvSpPr>
        <p:spPr>
          <a:xfrm>
            <a:off x="1073888" y="609600"/>
            <a:ext cx="7552270" cy="5195777"/>
          </a:xfrm>
          <a:prstGeom prst="rect">
            <a:avLst/>
          </a:prstGeom>
          <a:solidFill>
            <a:srgbClr val="DDEAF6"/>
          </a:solid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000000"/>
              </a:buClr>
              <a:buSzPts val="2400"/>
              <a:buFont typeface="Trebuchet MS"/>
              <a:buAutoNum type="romanLcPeriod" startAt="3"/>
            </a:pPr>
            <a:r>
              <a:rPr lang="en-US" sz="3000" b="1" i="0" u="none" strike="noStrike" cap="none">
                <a:solidFill>
                  <a:srgbClr val="000000"/>
                </a:solidFill>
                <a:latin typeface="Federo"/>
                <a:ea typeface="Federo"/>
                <a:cs typeface="Federo"/>
                <a:sym typeface="Federo"/>
              </a:rPr>
              <a:t>Pengurusan Bawahan – Perancangan Operasian</a:t>
            </a:r>
            <a:endParaRPr sz="3000" b="1"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3000"/>
              <a:buFont typeface="Arial"/>
              <a:buNone/>
            </a:pPr>
            <a:endParaRPr sz="30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000"/>
              <a:buFont typeface="Noto Sans Symbols"/>
              <a:buChar char="❑"/>
            </a:pPr>
            <a:r>
              <a:rPr lang="en-US" sz="3000" b="0" i="0" u="none" strike="noStrike" cap="none">
                <a:solidFill>
                  <a:srgbClr val="000000"/>
                </a:solidFill>
                <a:latin typeface="Federo"/>
                <a:ea typeface="Federo"/>
                <a:cs typeface="Federo"/>
                <a:sym typeface="Federo"/>
              </a:rPr>
              <a:t>Pengurus bawahan (antaranya seperti Penyelia Jualan, Penyelia Tapak, Ketua Unit) akan menyediakan perancangan operasian (jangka pendek). </a:t>
            </a:r>
            <a:endParaRPr sz="30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000"/>
              <a:buFont typeface="Noto Sans Symbols"/>
              <a:buChar char="❑"/>
            </a:pPr>
            <a:r>
              <a:rPr lang="en-US" sz="3000" b="0" i="0" u="none" strike="noStrike" cap="none">
                <a:solidFill>
                  <a:srgbClr val="000000"/>
                </a:solidFill>
                <a:latin typeface="Federo"/>
                <a:ea typeface="Federo"/>
                <a:cs typeface="Federo"/>
                <a:sym typeface="Federo"/>
              </a:rPr>
              <a:t>Perancangan yang dibuat perlu selaras dengan perancangan yang dibuat oleh pengurus peringkat atasan dan pertengahan.  </a:t>
            </a:r>
            <a:endParaRPr sz="3000" b="0" i="0" u="none" strike="noStrike" cap="none">
              <a:solidFill>
                <a:srgbClr val="000000"/>
              </a:solidFill>
              <a:latin typeface="Federo"/>
              <a:ea typeface="Federo"/>
              <a:cs typeface="Federo"/>
              <a:sym typeface="Federo"/>
            </a:endParaRPr>
          </a:p>
          <a:p>
            <a:pPr marL="457200" marR="0" lvl="0" indent="-266700" algn="l" rtl="0">
              <a:lnSpc>
                <a:spcPct val="100000"/>
              </a:lnSpc>
              <a:spcBef>
                <a:spcPts val="0"/>
              </a:spcBef>
              <a:spcAft>
                <a:spcPts val="0"/>
              </a:spcAft>
              <a:buClr>
                <a:srgbClr val="002060"/>
              </a:buClr>
              <a:buSzPts val="3000"/>
              <a:buFont typeface="Noto Sans Symbols"/>
              <a:buNone/>
            </a:pPr>
            <a:endParaRPr sz="30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400"/>
              <a:buFont typeface="Arial"/>
              <a:buNone/>
            </a:pPr>
            <a:endParaRPr sz="30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5" name="Google Shape;365;p47"/>
          <p:cNvSpPr txBox="1"/>
          <p:nvPr/>
        </p:nvSpPr>
        <p:spPr>
          <a:xfrm>
            <a:off x="584792" y="609599"/>
            <a:ext cx="8230596" cy="5746751"/>
          </a:xfrm>
          <a:prstGeom prst="rect">
            <a:avLst/>
          </a:prstGeom>
          <a:solidFill>
            <a:srgbClr val="DDEAF6"/>
          </a:solid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000000"/>
              </a:buClr>
              <a:buSzPts val="2400"/>
              <a:buFont typeface="Trebuchet MS"/>
              <a:buAutoNum type="romanLcPeriod" startAt="3"/>
            </a:pPr>
            <a:r>
              <a:rPr lang="en-US" sz="3200" b="1" i="0" u="none" strike="noStrike" cap="none">
                <a:solidFill>
                  <a:srgbClr val="000000"/>
                </a:solidFill>
                <a:latin typeface="Federo"/>
                <a:ea typeface="Federo"/>
                <a:cs typeface="Federo"/>
                <a:sym typeface="Federo"/>
              </a:rPr>
              <a:t>Pengurusan Bawahan – Perancangan Operasian</a:t>
            </a:r>
            <a:endParaRPr sz="32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chemeClr val="lt1"/>
              </a:buClr>
              <a:buSzPts val="2400"/>
              <a:buFont typeface="Tahoma"/>
              <a:buNone/>
            </a:pPr>
            <a:endParaRPr sz="32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Pengurus bawahan  memerlukan </a:t>
            </a:r>
            <a:r>
              <a:rPr lang="en-US" sz="3200" b="1" i="0" u="none" strike="noStrike" cap="none">
                <a:solidFill>
                  <a:srgbClr val="C00000"/>
                </a:solidFill>
                <a:latin typeface="Federo"/>
                <a:ea typeface="Federo"/>
                <a:cs typeface="Federo"/>
                <a:sym typeface="Federo"/>
              </a:rPr>
              <a:t>kemahiran teknikal </a:t>
            </a:r>
            <a:r>
              <a:rPr lang="en-US" sz="3200" b="0" i="0" u="none" strike="noStrike" cap="none">
                <a:solidFill>
                  <a:srgbClr val="000000"/>
                </a:solidFill>
                <a:latin typeface="Federo"/>
                <a:ea typeface="Federo"/>
                <a:cs typeface="Federo"/>
                <a:sym typeface="Federo"/>
              </a:rPr>
              <a:t>kerana </a:t>
            </a:r>
            <a:r>
              <a:rPr lang="en-US" sz="3200" b="1" i="0" u="none" strike="noStrike" cap="none">
                <a:solidFill>
                  <a:srgbClr val="C00000"/>
                </a:solidFill>
                <a:latin typeface="Federo"/>
                <a:ea typeface="Federo"/>
                <a:cs typeface="Federo"/>
                <a:sym typeface="Federo"/>
              </a:rPr>
              <a:t>penting</a:t>
            </a:r>
            <a:r>
              <a:rPr lang="en-US" sz="3200" b="0" i="0" u="none" strike="noStrike" cap="none">
                <a:solidFill>
                  <a:srgbClr val="000000"/>
                </a:solidFill>
                <a:latin typeface="Federo"/>
                <a:ea typeface="Federo"/>
                <a:cs typeface="Federo"/>
                <a:sym typeface="Federo"/>
              </a:rPr>
              <a:t> baginya untuk </a:t>
            </a:r>
            <a:r>
              <a:rPr lang="en-US" sz="3200" b="1" i="0" u="none" strike="noStrike" cap="none">
                <a:solidFill>
                  <a:srgbClr val="C00000"/>
                </a:solidFill>
                <a:latin typeface="Federo"/>
                <a:ea typeface="Federo"/>
                <a:cs typeface="Federo"/>
                <a:sym typeface="Federo"/>
              </a:rPr>
              <a:t>bertanggungjawab mengawal operasi harian organisasi.</a:t>
            </a:r>
            <a:endParaRPr/>
          </a:p>
          <a:p>
            <a:pPr marL="457200" marR="0" lvl="0" indent="-457200" algn="just"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Mereka </a:t>
            </a:r>
            <a:r>
              <a:rPr lang="en-US" sz="3200" b="1" i="0" u="none" strike="noStrike" cap="none">
                <a:solidFill>
                  <a:srgbClr val="0033CC"/>
                </a:solidFill>
                <a:latin typeface="Federo"/>
                <a:ea typeface="Federo"/>
                <a:cs typeface="Federo"/>
                <a:sym typeface="Federo"/>
              </a:rPr>
              <a:t>perlu memberi tunjuk ajar </a:t>
            </a:r>
            <a:r>
              <a:rPr lang="en-US" sz="3200" b="0" i="0" u="none" strike="noStrike" cap="none">
                <a:solidFill>
                  <a:srgbClr val="000000"/>
                </a:solidFill>
                <a:latin typeface="Federo"/>
                <a:ea typeface="Federo"/>
                <a:cs typeface="Federo"/>
                <a:sym typeface="Federo"/>
              </a:rPr>
              <a:t>dan </a:t>
            </a:r>
            <a:r>
              <a:rPr lang="en-US" sz="3200" b="1" i="0" u="none" strike="noStrike" cap="none">
                <a:solidFill>
                  <a:srgbClr val="0033CC"/>
                </a:solidFill>
                <a:latin typeface="Federo"/>
                <a:ea typeface="Federo"/>
                <a:cs typeface="Federo"/>
                <a:sym typeface="Federo"/>
              </a:rPr>
              <a:t>mengawal selia prosedur kerja pekerja bawahan </a:t>
            </a:r>
            <a:r>
              <a:rPr lang="en-US" sz="3200" b="0" i="0" u="none" strike="noStrike" cap="none">
                <a:solidFill>
                  <a:srgbClr val="000000"/>
                </a:solidFill>
                <a:latin typeface="Federo"/>
                <a:ea typeface="Federo"/>
                <a:cs typeface="Federo"/>
                <a:sym typeface="Federo"/>
              </a:rPr>
              <a:t>dan cekap dalam tunjuk ajar cara mengendalikan mesin dan jentera.</a:t>
            </a:r>
            <a:endParaRPr sz="3200" b="0" i="0" u="none" strike="noStrike" cap="none">
              <a:solidFill>
                <a:srgbClr val="000000"/>
              </a:solidFill>
              <a:latin typeface="Federo"/>
              <a:ea typeface="Federo"/>
              <a:cs typeface="Federo"/>
              <a:sym typeface="Federo"/>
            </a:endParaRPr>
          </a:p>
          <a:p>
            <a:pPr marL="0" marR="0" lvl="0" indent="0" algn="l" rtl="0">
              <a:lnSpc>
                <a:spcPct val="100000"/>
              </a:lnSpc>
              <a:spcBef>
                <a:spcPts val="0"/>
              </a:spcBef>
              <a:spcAft>
                <a:spcPts val="0"/>
              </a:spcAft>
              <a:buClr>
                <a:srgbClr val="000000"/>
              </a:buClr>
              <a:buSzPts val="2400"/>
              <a:buFont typeface="Arial"/>
              <a:buNone/>
            </a:pPr>
            <a:endParaRPr sz="32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1" name="Google Shape;371;p48"/>
          <p:cNvSpPr txBox="1"/>
          <p:nvPr/>
        </p:nvSpPr>
        <p:spPr>
          <a:xfrm>
            <a:off x="1095152" y="95694"/>
            <a:ext cx="7857461" cy="6368902"/>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2400"/>
              <a:buFont typeface="Tahoma"/>
              <a:buNone/>
            </a:pP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Pengurus juga </a:t>
            </a:r>
            <a:r>
              <a:rPr lang="en-US" sz="2800" b="1" i="0" u="none" strike="noStrike" cap="none">
                <a:solidFill>
                  <a:srgbClr val="0033CC"/>
                </a:solidFill>
                <a:latin typeface="Federo"/>
                <a:ea typeface="Federo"/>
                <a:cs typeface="Federo"/>
                <a:sym typeface="Federo"/>
              </a:rPr>
              <a:t>penting</a:t>
            </a:r>
            <a:r>
              <a:rPr lang="en-US" sz="2800" b="0" i="0" u="none" strike="noStrike" cap="none">
                <a:solidFill>
                  <a:srgbClr val="000000"/>
                </a:solidFill>
                <a:latin typeface="Federo"/>
                <a:ea typeface="Federo"/>
                <a:cs typeface="Federo"/>
                <a:sym typeface="Federo"/>
              </a:rPr>
              <a:t> memerlukan </a:t>
            </a:r>
            <a:r>
              <a:rPr lang="en-US" sz="2800" b="1" i="0" u="none" strike="noStrike" cap="none">
                <a:solidFill>
                  <a:srgbClr val="C00000"/>
                </a:solidFill>
                <a:latin typeface="Federo"/>
                <a:ea typeface="Federo"/>
                <a:cs typeface="Federo"/>
                <a:sym typeface="Federo"/>
              </a:rPr>
              <a:t>kemahiran kemanusiaan</a:t>
            </a:r>
            <a:r>
              <a:rPr lang="en-US" sz="2800" b="0" i="0" u="none" strike="noStrike" cap="none">
                <a:solidFill>
                  <a:srgbClr val="C00000"/>
                </a:solidFill>
                <a:latin typeface="Federo"/>
                <a:ea typeface="Federo"/>
                <a:cs typeface="Federo"/>
                <a:sym typeface="Federo"/>
              </a:rPr>
              <a:t> </a:t>
            </a:r>
            <a:r>
              <a:rPr lang="en-US" sz="2800" b="0" i="0" u="none" strike="noStrike" cap="none">
                <a:solidFill>
                  <a:srgbClr val="000000"/>
                </a:solidFill>
                <a:latin typeface="Federo"/>
                <a:ea typeface="Federo"/>
                <a:cs typeface="Federo"/>
                <a:sym typeface="Federo"/>
              </a:rPr>
              <a:t>kerana perlu berkomunikasi  dengan pekerja bawahan untuk memberi penerangan, tunjuk ajar tentang prosedur kerja bagi operasi harian organisasi. </a:t>
            </a: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Beliau perlu membentuk </a:t>
            </a:r>
            <a:r>
              <a:rPr lang="en-US" sz="2800" b="1" i="0" u="none" strike="noStrike" cap="none">
                <a:solidFill>
                  <a:srgbClr val="008000"/>
                </a:solidFill>
                <a:latin typeface="Federo"/>
                <a:ea typeface="Federo"/>
                <a:cs typeface="Federo"/>
                <a:sym typeface="Federo"/>
              </a:rPr>
              <a:t>kerjasama</a:t>
            </a:r>
            <a:r>
              <a:rPr lang="en-US" sz="2800" b="0" i="0" u="none" strike="noStrike" cap="none">
                <a:solidFill>
                  <a:srgbClr val="000000"/>
                </a:solidFill>
                <a:latin typeface="Federo"/>
                <a:ea typeface="Federo"/>
                <a:cs typeface="Federo"/>
                <a:sym typeface="Federo"/>
              </a:rPr>
              <a:t> iaitu melakukan tugas secara berpasukan bagi kumpulan yang dipimpin. </a:t>
            </a: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Beliau perlu adalah </a:t>
            </a:r>
            <a:r>
              <a:rPr lang="en-US" sz="2800" b="1" i="0" u="none" strike="noStrike" cap="none">
                <a:solidFill>
                  <a:srgbClr val="9900FF"/>
                </a:solidFill>
                <a:latin typeface="Federo"/>
                <a:ea typeface="Federo"/>
                <a:cs typeface="Federo"/>
                <a:sym typeface="Federo"/>
              </a:rPr>
              <a:t>kemahiran untuk memotivasikan pekerja </a:t>
            </a:r>
            <a:r>
              <a:rPr lang="en-US" sz="2800" b="0" i="0" u="none" strike="noStrike" cap="none">
                <a:solidFill>
                  <a:srgbClr val="000000"/>
                </a:solidFill>
                <a:latin typeface="Federo"/>
                <a:ea typeface="Federo"/>
                <a:cs typeface="Federo"/>
                <a:sym typeface="Federo"/>
              </a:rPr>
              <a:t>secara unggul bagi mendorong pekerja bergelagat dan mempengaruhi pekerja bagi mencapai matlamat organisasi.</a:t>
            </a:r>
            <a:endParaRPr sz="28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7" name="Google Shape;377;p49"/>
          <p:cNvSpPr txBox="1"/>
          <p:nvPr/>
        </p:nvSpPr>
        <p:spPr>
          <a:xfrm>
            <a:off x="1881963" y="304799"/>
            <a:ext cx="6900529" cy="47775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2400"/>
              <a:buFont typeface="Tahoma"/>
              <a:buNone/>
            </a:pPr>
            <a:endParaRPr sz="3200" b="0" i="0" u="none" strike="noStrike" cap="none">
              <a:solidFill>
                <a:srgbClr val="000000"/>
              </a:solidFill>
              <a:latin typeface="Federo"/>
              <a:ea typeface="Federo"/>
              <a:cs typeface="Federo"/>
              <a:sym typeface="Federo"/>
            </a:endParaRPr>
          </a:p>
          <a:p>
            <a:pPr marL="457200" marR="0" lvl="0" indent="-457200" algn="l" rtl="0">
              <a:lnSpc>
                <a:spcPct val="100000"/>
              </a:lnSpc>
              <a:spcBef>
                <a:spcPts val="0"/>
              </a:spcBef>
              <a:spcAft>
                <a:spcPts val="0"/>
              </a:spcAft>
              <a:buClr>
                <a:srgbClr val="002060"/>
              </a:buClr>
              <a:buSzPts val="3200"/>
              <a:buFont typeface="Noto Sans Symbols"/>
              <a:buChar char="❑"/>
            </a:pPr>
            <a:r>
              <a:rPr lang="en-US" sz="3200" b="0" i="0" u="none" strike="noStrike" cap="none">
                <a:solidFill>
                  <a:srgbClr val="000000"/>
                </a:solidFill>
                <a:latin typeface="Federo"/>
                <a:ea typeface="Federo"/>
                <a:cs typeface="Federo"/>
                <a:sym typeface="Federo"/>
              </a:rPr>
              <a:t>Keperluan terhadap </a:t>
            </a:r>
            <a:r>
              <a:rPr lang="en-US" sz="3200" b="1" i="0" u="none" strike="noStrike" cap="none">
                <a:solidFill>
                  <a:srgbClr val="9900FF"/>
                </a:solidFill>
                <a:latin typeface="Federo"/>
                <a:ea typeface="Federo"/>
                <a:cs typeface="Federo"/>
                <a:sym typeface="Federo"/>
              </a:rPr>
              <a:t>kemahiran konseptual yang rendah </a:t>
            </a:r>
            <a:r>
              <a:rPr lang="en-US" sz="3200" b="0" i="0" u="none" strike="noStrike" cap="none">
                <a:solidFill>
                  <a:srgbClr val="000000"/>
                </a:solidFill>
                <a:latin typeface="Federo"/>
                <a:ea typeface="Federo"/>
                <a:cs typeface="Federo"/>
                <a:sym typeface="Federo"/>
              </a:rPr>
              <a:t>kerana mereka tidak terlibat secara langsung dan tidak bertanggungjawab  untuk membentuk visi dan misi bagi menentukan hala tuju organisasi .</a:t>
            </a:r>
            <a:endParaRPr sz="32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3" name="Google Shape;383;p50"/>
          <p:cNvSpPr txBox="1"/>
          <p:nvPr/>
        </p:nvSpPr>
        <p:spPr>
          <a:xfrm>
            <a:off x="1432560" y="257175"/>
            <a:ext cx="7315200"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Arial"/>
                <a:ea typeface="Arial"/>
                <a:cs typeface="Arial"/>
                <a:sym typeface="Arial"/>
              </a:rPr>
              <a:t>2.2.2 Alat-alat Perancangan</a:t>
            </a:r>
            <a:endParaRPr sz="3200" b="0" i="0" u="none" strike="noStrike" cap="none">
              <a:solidFill>
                <a:srgbClr val="000000"/>
              </a:solidFill>
              <a:latin typeface="Arial"/>
              <a:ea typeface="Arial"/>
              <a:cs typeface="Arial"/>
              <a:sym typeface="Arial"/>
            </a:endParaRPr>
          </a:p>
        </p:txBody>
      </p:sp>
      <p:grpSp>
        <p:nvGrpSpPr>
          <p:cNvPr id="384" name="Google Shape;384;p50"/>
          <p:cNvGrpSpPr/>
          <p:nvPr/>
        </p:nvGrpSpPr>
        <p:grpSpPr>
          <a:xfrm rot="5400000">
            <a:off x="3522345" y="1620523"/>
            <a:ext cx="4973955" cy="4497703"/>
            <a:chOff x="1960" y="-1"/>
            <a:chExt cx="8124080" cy="3837305"/>
          </a:xfrm>
        </p:grpSpPr>
        <p:sp>
          <p:nvSpPr>
            <p:cNvPr id="385" name="Google Shape;385;p50"/>
            <p:cNvSpPr/>
            <p:nvPr/>
          </p:nvSpPr>
          <p:spPr>
            <a:xfrm rot="-5400000">
              <a:off x="-955263" y="957222"/>
              <a:ext cx="3837305" cy="1922859"/>
            </a:xfrm>
            <a:prstGeom prst="flowChartManualOperation">
              <a:avLst/>
            </a:prstGeom>
            <a:gradFill>
              <a:gsLst>
                <a:gs pos="0">
                  <a:srgbClr val="EEB747"/>
                </a:gs>
                <a:gs pos="50000">
                  <a:srgbClr val="F1B200"/>
                </a:gs>
                <a:gs pos="100000">
                  <a:srgbClr val="DEA200"/>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50"/>
            <p:cNvSpPr txBox="1"/>
            <p:nvPr/>
          </p:nvSpPr>
          <p:spPr>
            <a:xfrm rot="-5400000">
              <a:off x="-187802" y="957222"/>
              <a:ext cx="2302383" cy="1922859"/>
            </a:xfrm>
            <a:prstGeom prst="rect">
              <a:avLst/>
            </a:prstGeom>
            <a:noFill/>
            <a:ln>
              <a:noFill/>
            </a:ln>
          </p:spPr>
          <p:txBody>
            <a:bodyPr spcFirstLastPara="1" wrap="square" lIns="165100" tIns="0" rIns="162700" bIns="0" anchor="ctr" anchorCtr="0">
              <a:normAutofit/>
            </a:bodyPr>
            <a:lstStyle/>
            <a:p>
              <a:pPr marL="0" marR="0" lvl="0" indent="0" algn="ctr" rtl="0">
                <a:lnSpc>
                  <a:spcPct val="100000"/>
                </a:lnSpc>
                <a:spcBef>
                  <a:spcPts val="0"/>
                </a:spcBef>
                <a:spcAft>
                  <a:spcPts val="0"/>
                </a:spcAft>
                <a:buClr>
                  <a:schemeClr val="lt1"/>
                </a:buClr>
                <a:buSzPts val="2600"/>
                <a:buFont typeface="Calibri"/>
                <a:buNone/>
              </a:pPr>
              <a:r>
                <a:rPr lang="en-US" sz="2800" b="1" i="0" u="none" strike="noStrike" cap="none">
                  <a:solidFill>
                    <a:schemeClr val="dk1"/>
                  </a:solidFill>
                  <a:latin typeface="Arial"/>
                  <a:ea typeface="Arial"/>
                  <a:cs typeface="Arial"/>
                  <a:sym typeface="Arial"/>
                </a:rPr>
                <a:t>Belanjawan</a:t>
              </a:r>
              <a:endParaRPr sz="2800" b="1" i="0" u="none" strike="noStrike" cap="none">
                <a:solidFill>
                  <a:schemeClr val="dk1"/>
                </a:solidFill>
                <a:latin typeface="Arial"/>
                <a:ea typeface="Arial"/>
                <a:cs typeface="Arial"/>
                <a:sym typeface="Arial"/>
              </a:endParaRPr>
            </a:p>
          </p:txBody>
        </p:sp>
        <p:sp>
          <p:nvSpPr>
            <p:cNvPr id="387" name="Google Shape;387;p50"/>
            <p:cNvSpPr/>
            <p:nvPr/>
          </p:nvSpPr>
          <p:spPr>
            <a:xfrm rot="-5400000">
              <a:off x="1111810" y="957222"/>
              <a:ext cx="3837305" cy="1922859"/>
            </a:xfrm>
            <a:prstGeom prst="flowChartManualOperation">
              <a:avLst/>
            </a:prstGeom>
            <a:gradFill>
              <a:gsLst>
                <a:gs pos="0">
                  <a:srgbClr val="FFC44C"/>
                </a:gs>
                <a:gs pos="50000">
                  <a:srgbClr val="FFC113"/>
                </a:gs>
                <a:gs pos="100000">
                  <a:srgbClr val="E3AF05"/>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50"/>
            <p:cNvSpPr txBox="1"/>
            <p:nvPr/>
          </p:nvSpPr>
          <p:spPr>
            <a:xfrm rot="-5400000">
              <a:off x="1879271" y="957222"/>
              <a:ext cx="2302383" cy="1922859"/>
            </a:xfrm>
            <a:prstGeom prst="rect">
              <a:avLst/>
            </a:prstGeom>
            <a:noFill/>
            <a:ln>
              <a:noFill/>
            </a:ln>
          </p:spPr>
          <p:txBody>
            <a:bodyPr spcFirstLastPara="1" wrap="square" lIns="165100" tIns="0" rIns="162700" bIns="0" anchor="ctr" anchorCtr="0">
              <a:normAutofit/>
            </a:bodyPr>
            <a:lstStyle/>
            <a:p>
              <a:pPr marL="0" marR="0" lvl="0" indent="0" algn="ctr" rtl="0">
                <a:lnSpc>
                  <a:spcPct val="100000"/>
                </a:lnSpc>
                <a:spcBef>
                  <a:spcPts val="0"/>
                </a:spcBef>
                <a:spcAft>
                  <a:spcPts val="0"/>
                </a:spcAft>
                <a:buClr>
                  <a:schemeClr val="lt1"/>
                </a:buClr>
                <a:buSzPts val="2600"/>
                <a:buFont typeface="Calibri"/>
                <a:buNone/>
              </a:pPr>
              <a:r>
                <a:rPr lang="en-US" sz="2800" b="1" i="0" u="none" strike="noStrike" cap="none">
                  <a:solidFill>
                    <a:schemeClr val="dk1"/>
                  </a:solidFill>
                  <a:latin typeface="Arial"/>
                  <a:ea typeface="Arial"/>
                  <a:cs typeface="Arial"/>
                  <a:sym typeface="Arial"/>
                </a:rPr>
                <a:t>Carta PERT</a:t>
              </a:r>
              <a:endParaRPr sz="2800" b="1" i="0" u="none" strike="noStrike" cap="none">
                <a:solidFill>
                  <a:schemeClr val="dk1"/>
                </a:solidFill>
                <a:latin typeface="Arial"/>
                <a:ea typeface="Arial"/>
                <a:cs typeface="Arial"/>
                <a:sym typeface="Arial"/>
              </a:endParaRPr>
            </a:p>
          </p:txBody>
        </p:sp>
        <p:sp>
          <p:nvSpPr>
            <p:cNvPr id="389" name="Google Shape;389;p50"/>
            <p:cNvSpPr/>
            <p:nvPr/>
          </p:nvSpPr>
          <p:spPr>
            <a:xfrm rot="-5400000">
              <a:off x="3178884" y="957222"/>
              <a:ext cx="3837305" cy="1922859"/>
            </a:xfrm>
            <a:prstGeom prst="flowChartManualOperation">
              <a:avLst/>
            </a:prstGeom>
            <a:gradFill>
              <a:gsLst>
                <a:gs pos="0">
                  <a:srgbClr val="FFCC70"/>
                </a:gs>
                <a:gs pos="50000">
                  <a:srgbClr val="FEC851"/>
                </a:gs>
                <a:gs pos="100000">
                  <a:srgbClr val="E3B33D"/>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50"/>
            <p:cNvSpPr txBox="1"/>
            <p:nvPr/>
          </p:nvSpPr>
          <p:spPr>
            <a:xfrm rot="-5400000">
              <a:off x="3946345" y="957222"/>
              <a:ext cx="2302383" cy="1922859"/>
            </a:xfrm>
            <a:prstGeom prst="rect">
              <a:avLst/>
            </a:prstGeom>
            <a:noFill/>
            <a:ln>
              <a:noFill/>
            </a:ln>
          </p:spPr>
          <p:txBody>
            <a:bodyPr spcFirstLastPara="1" wrap="square" lIns="165100" tIns="0" rIns="162700" bIns="0" anchor="ctr" anchorCtr="0">
              <a:normAutofit/>
            </a:bodyPr>
            <a:lstStyle/>
            <a:p>
              <a:pPr marL="0" marR="0" lvl="0" indent="0" algn="ctr" rtl="0">
                <a:lnSpc>
                  <a:spcPct val="100000"/>
                </a:lnSpc>
                <a:spcBef>
                  <a:spcPts val="0"/>
                </a:spcBef>
                <a:spcAft>
                  <a:spcPts val="0"/>
                </a:spcAft>
                <a:buClr>
                  <a:schemeClr val="lt1"/>
                </a:buClr>
                <a:buSzPts val="2600"/>
                <a:buFont typeface="Calibri"/>
                <a:buNone/>
              </a:pPr>
              <a:r>
                <a:rPr lang="en-US" sz="2800" b="1" i="0" u="none" strike="noStrike" cap="none">
                  <a:solidFill>
                    <a:schemeClr val="dk1"/>
                  </a:solidFill>
                  <a:latin typeface="Arial"/>
                  <a:ea typeface="Arial"/>
                  <a:cs typeface="Arial"/>
                  <a:sym typeface="Arial"/>
                </a:rPr>
                <a:t>Carta Gantt</a:t>
              </a:r>
              <a:endParaRPr sz="2800" b="1" i="0" u="none" strike="noStrike" cap="none">
                <a:solidFill>
                  <a:schemeClr val="dk1"/>
                </a:solidFill>
                <a:latin typeface="Arial"/>
                <a:ea typeface="Arial"/>
                <a:cs typeface="Arial"/>
                <a:sym typeface="Arial"/>
              </a:endParaRPr>
            </a:p>
          </p:txBody>
        </p:sp>
        <p:sp>
          <p:nvSpPr>
            <p:cNvPr id="391" name="Google Shape;391;p50"/>
            <p:cNvSpPr/>
            <p:nvPr/>
          </p:nvSpPr>
          <p:spPr>
            <a:xfrm rot="-5400000">
              <a:off x="5245958" y="957222"/>
              <a:ext cx="3837305" cy="1922859"/>
            </a:xfrm>
            <a:prstGeom prst="flowChartManualOperation">
              <a:avLst/>
            </a:prstGeom>
            <a:gradFill>
              <a:gsLst>
                <a:gs pos="0">
                  <a:srgbClr val="FEDBA1"/>
                </a:gs>
                <a:gs pos="50000">
                  <a:srgbClr val="FFD68D"/>
                </a:gs>
                <a:gs pos="100000">
                  <a:srgbClr val="E3BE74"/>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50"/>
            <p:cNvSpPr txBox="1"/>
            <p:nvPr/>
          </p:nvSpPr>
          <p:spPr>
            <a:xfrm rot="-5400000">
              <a:off x="6013419" y="957222"/>
              <a:ext cx="2302383" cy="1922859"/>
            </a:xfrm>
            <a:prstGeom prst="rect">
              <a:avLst/>
            </a:prstGeom>
            <a:noFill/>
            <a:ln>
              <a:noFill/>
            </a:ln>
          </p:spPr>
          <p:txBody>
            <a:bodyPr spcFirstLastPara="1" wrap="square" lIns="165100" tIns="0" rIns="162700" bIns="0" anchor="ctr" anchorCtr="0">
              <a:noAutofit/>
            </a:bodyPr>
            <a:lstStyle/>
            <a:p>
              <a:pPr marL="0" marR="0" lvl="0" indent="0" algn="ctr" rtl="0">
                <a:lnSpc>
                  <a:spcPct val="100000"/>
                </a:lnSpc>
                <a:spcBef>
                  <a:spcPts val="0"/>
                </a:spcBef>
                <a:spcAft>
                  <a:spcPts val="0"/>
                </a:spcAft>
                <a:buClr>
                  <a:schemeClr val="lt1"/>
                </a:buClr>
                <a:buSzPts val="2600"/>
                <a:buFont typeface="Calibri"/>
                <a:buNone/>
              </a:pPr>
              <a:r>
                <a:rPr lang="en-US" sz="2800" b="1" i="0" u="none" strike="noStrike" cap="none">
                  <a:solidFill>
                    <a:schemeClr val="dk1"/>
                  </a:solidFill>
                  <a:latin typeface="Arial"/>
                  <a:ea typeface="Arial"/>
                  <a:cs typeface="Arial"/>
                  <a:sym typeface="Arial"/>
                </a:rPr>
                <a:t>Titik Pulang Modal</a:t>
              </a:r>
              <a:endParaRPr sz="2800" b="1" i="0" u="none" strike="noStrike" cap="none">
                <a:solidFill>
                  <a:schemeClr val="dk1"/>
                </a:solidFill>
                <a:latin typeface="Arial"/>
                <a:ea typeface="Arial"/>
                <a:cs typeface="Arial"/>
                <a:sym typeface="Arial"/>
              </a:endParaRPr>
            </a:p>
          </p:txBody>
        </p:sp>
      </p:gr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51"/>
          <p:cNvSpPr txBox="1"/>
          <p:nvPr/>
        </p:nvSpPr>
        <p:spPr>
          <a:xfrm>
            <a:off x="776177" y="1414464"/>
            <a:ext cx="7910623" cy="5305314"/>
          </a:xfrm>
          <a:prstGeom prst="rect">
            <a:avLst/>
          </a:prstGeom>
          <a:solidFill>
            <a:srgbClr val="DDEAF6"/>
          </a:solidFill>
          <a:ln>
            <a:noFill/>
          </a:ln>
        </p:spPr>
        <p:txBody>
          <a:bodyPr spcFirstLastPara="1" wrap="square" lIns="91425" tIns="45700" rIns="91425" bIns="45700" anchor="t" anchorCtr="0">
            <a:noAutofit/>
          </a:bodyPr>
          <a:lstStyle/>
          <a:p>
            <a:pPr marL="273050" marR="0" lvl="0" indent="-271780" algn="l" rtl="0">
              <a:lnSpc>
                <a:spcPct val="100000"/>
              </a:lnSpc>
              <a:spcBef>
                <a:spcPts val="0"/>
              </a:spcBef>
              <a:spcAft>
                <a:spcPts val="0"/>
              </a:spcAft>
              <a:buClr>
                <a:srgbClr val="000000"/>
              </a:buClr>
              <a:buSzPts val="1540"/>
              <a:buFont typeface="Tahoma"/>
              <a:buNone/>
            </a:pPr>
            <a:r>
              <a:rPr lang="en-US" sz="2800" b="1" i="0" u="none" strike="noStrike" cap="none">
                <a:solidFill>
                  <a:srgbClr val="000000"/>
                </a:solidFill>
                <a:latin typeface="Federo"/>
                <a:ea typeface="Federo"/>
                <a:cs typeface="Federo"/>
                <a:sym typeface="Federo"/>
              </a:rPr>
              <a:t>i. Belanjawan</a:t>
            </a:r>
            <a:endParaRPr sz="2800" b="1" i="0" u="none" strike="noStrike" cap="none">
              <a:solidFill>
                <a:srgbClr val="000000"/>
              </a:solidFill>
              <a:latin typeface="Federo"/>
              <a:ea typeface="Federo"/>
              <a:cs typeface="Federo"/>
              <a:sym typeface="Federo"/>
            </a:endParaRPr>
          </a:p>
          <a:p>
            <a:pPr marL="458469"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Satu bentuk </a:t>
            </a:r>
            <a:r>
              <a:rPr lang="en-US" sz="2800" b="0" i="0" u="none" strike="noStrike" cap="none">
                <a:solidFill>
                  <a:schemeClr val="dk1"/>
                </a:solidFill>
                <a:latin typeface="Federo"/>
                <a:ea typeface="Federo"/>
                <a:cs typeface="Federo"/>
                <a:sym typeface="Federo"/>
              </a:rPr>
              <a:t>perancangan yang </a:t>
            </a:r>
            <a:r>
              <a:rPr lang="en-US" sz="2800" b="0" i="0" u="none" strike="noStrike" cap="none">
                <a:solidFill>
                  <a:srgbClr val="FF0000"/>
                </a:solidFill>
                <a:latin typeface="Federo"/>
                <a:ea typeface="Federo"/>
                <a:cs typeface="Federo"/>
                <a:sym typeface="Federo"/>
              </a:rPr>
              <a:t>memperuntukkan sumber kewangan</a:t>
            </a:r>
            <a:r>
              <a:rPr lang="en-US" sz="2800" b="0" i="0" u="none" strike="noStrike" cap="none">
                <a:solidFill>
                  <a:srgbClr val="000000"/>
                </a:solidFill>
                <a:latin typeface="Federo"/>
                <a:ea typeface="Federo"/>
                <a:cs typeface="Federo"/>
                <a:sym typeface="Federo"/>
              </a:rPr>
              <a:t> untuk pelaksanaan sesuatu aktiviti, projek atau program </a:t>
            </a:r>
            <a:r>
              <a:rPr lang="en-US" sz="2800" b="0" i="0" u="none" strike="noStrike" cap="none">
                <a:solidFill>
                  <a:srgbClr val="FF0000"/>
                </a:solidFill>
                <a:latin typeface="Federo"/>
                <a:ea typeface="Federo"/>
                <a:cs typeface="Federo"/>
                <a:sym typeface="Federo"/>
              </a:rPr>
              <a:t>bagi sesuatu tempoh tertentu.</a:t>
            </a:r>
            <a:endParaRPr sz="2800" b="0" i="0" u="none" strike="noStrike" cap="none">
              <a:solidFill>
                <a:srgbClr val="FF0000"/>
              </a:solidFill>
              <a:latin typeface="Federo"/>
              <a:ea typeface="Federo"/>
              <a:cs typeface="Federo"/>
              <a:sym typeface="Federo"/>
            </a:endParaRPr>
          </a:p>
          <a:p>
            <a:pPr marL="273050" marR="0" lvl="0" indent="-271780" algn="just" rtl="0">
              <a:lnSpc>
                <a:spcPct val="100000"/>
              </a:lnSpc>
              <a:spcBef>
                <a:spcPts val="600"/>
              </a:spcBef>
              <a:spcAft>
                <a:spcPts val="0"/>
              </a:spcAft>
              <a:buClr>
                <a:srgbClr val="FE8637"/>
              </a:buClr>
              <a:buSzPts val="1680"/>
              <a:buFont typeface="Tahoma"/>
              <a:buNone/>
            </a:pPr>
            <a:r>
              <a:rPr lang="en-US" sz="2800" b="1" i="0" u="none" strike="noStrike" cap="none">
                <a:solidFill>
                  <a:srgbClr val="00B050"/>
                </a:solidFill>
                <a:latin typeface="Federo"/>
                <a:ea typeface="Federo"/>
                <a:cs typeface="Federo"/>
                <a:sym typeface="Federo"/>
              </a:rPr>
              <a:t>   </a:t>
            </a:r>
            <a:r>
              <a:rPr lang="en-US" sz="2800" b="1" i="0" u="none" strike="noStrike" cap="none">
                <a:solidFill>
                  <a:schemeClr val="dk1"/>
                </a:solidFill>
                <a:latin typeface="Federo"/>
                <a:ea typeface="Federo"/>
                <a:cs typeface="Federo"/>
                <a:sym typeface="Federo"/>
              </a:rPr>
              <a:t>Kegunaan:</a:t>
            </a:r>
            <a:endParaRPr sz="2800" b="1" i="0" u="none" strike="noStrike" cap="none">
              <a:solidFill>
                <a:schemeClr val="dk1"/>
              </a:solidFill>
              <a:latin typeface="Federo"/>
              <a:ea typeface="Federo"/>
              <a:cs typeface="Federo"/>
              <a:sym typeface="Federo"/>
            </a:endParaRPr>
          </a:p>
          <a:p>
            <a:pPr marL="458469"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Merupakan alat pengurusan yang penting bagi </a:t>
            </a:r>
            <a:r>
              <a:rPr lang="en-US" sz="2800" b="0" i="0" u="none" strike="noStrike" cap="none">
                <a:solidFill>
                  <a:schemeClr val="dk1"/>
                </a:solidFill>
                <a:latin typeface="Federo"/>
                <a:ea typeface="Federo"/>
                <a:cs typeface="Federo"/>
                <a:sym typeface="Federo"/>
              </a:rPr>
              <a:t>tujuan</a:t>
            </a:r>
            <a:r>
              <a:rPr lang="en-US" sz="2800" b="0" i="0" u="none" strike="noStrike" cap="none">
                <a:solidFill>
                  <a:srgbClr val="FF0000"/>
                </a:solidFill>
                <a:latin typeface="Federo"/>
                <a:ea typeface="Federo"/>
                <a:cs typeface="Federo"/>
                <a:sym typeface="Federo"/>
              </a:rPr>
              <a:t> </a:t>
            </a:r>
            <a:r>
              <a:rPr lang="en-US" sz="2800" b="1" i="0" u="none" strike="noStrike" cap="none">
                <a:solidFill>
                  <a:srgbClr val="FF0000"/>
                </a:solidFill>
                <a:latin typeface="Federo"/>
                <a:ea typeface="Federo"/>
                <a:cs typeface="Federo"/>
                <a:sym typeface="Federo"/>
              </a:rPr>
              <a:t>pengagihan sumber kewangan yang terhad</a:t>
            </a:r>
            <a:r>
              <a:rPr lang="en-US" sz="2800" b="0" i="0" u="none" strike="noStrike" cap="none">
                <a:solidFill>
                  <a:srgbClr val="000000"/>
                </a:solidFill>
                <a:latin typeface="Federo"/>
                <a:ea typeface="Federo"/>
                <a:cs typeface="Federo"/>
                <a:sym typeface="Federo"/>
              </a:rPr>
              <a:t> untuk pelbagai kegunaan.</a:t>
            </a:r>
            <a:endParaRPr sz="2800" b="0" i="0" u="none" strike="noStrike" cap="none">
              <a:solidFill>
                <a:srgbClr val="000000"/>
              </a:solidFill>
              <a:latin typeface="Federo"/>
              <a:ea typeface="Federo"/>
              <a:cs typeface="Federo"/>
              <a:sym typeface="Federo"/>
            </a:endParaRPr>
          </a:p>
          <a:p>
            <a:pPr marL="458469" marR="0" lvl="0" indent="-457200" algn="just" rtl="0">
              <a:lnSpc>
                <a:spcPct val="100000"/>
              </a:lnSpc>
              <a:spcBef>
                <a:spcPts val="600"/>
              </a:spcBef>
              <a:spcAft>
                <a:spcPts val="0"/>
              </a:spcAft>
              <a:buClr>
                <a:srgbClr val="002060"/>
              </a:buClr>
              <a:buSzPts val="2800"/>
              <a:buFont typeface="Noto Sans Symbols"/>
              <a:buChar char="❑"/>
            </a:pPr>
            <a:r>
              <a:rPr lang="en-US" sz="2800" b="1" i="0" u="none" strike="noStrike" cap="none">
                <a:solidFill>
                  <a:srgbClr val="FF0000"/>
                </a:solidFill>
                <a:latin typeface="Federo"/>
                <a:ea typeface="Federo"/>
                <a:cs typeface="Federo"/>
                <a:sym typeface="Federo"/>
              </a:rPr>
              <a:t>Merancang perbelanjaan </a:t>
            </a:r>
            <a:r>
              <a:rPr lang="en-US" sz="2800" b="0" i="0" u="none" strike="noStrike" cap="none">
                <a:solidFill>
                  <a:srgbClr val="000000"/>
                </a:solidFill>
                <a:latin typeface="Federo"/>
                <a:ea typeface="Federo"/>
                <a:cs typeface="Federo"/>
                <a:sym typeface="Federo"/>
              </a:rPr>
              <a:t>organisasi bagi suatu tempoh tertentu.</a:t>
            </a:r>
            <a:endParaRPr sz="2800" b="0" i="0" u="none" strike="noStrike" cap="none">
              <a:solidFill>
                <a:srgbClr val="000000"/>
              </a:solidFill>
              <a:latin typeface="Federo"/>
              <a:ea typeface="Federo"/>
              <a:cs typeface="Federo"/>
              <a:sym typeface="Federo"/>
            </a:endParaRPr>
          </a:p>
          <a:p>
            <a:pPr marL="273050" marR="0" lvl="0" indent="-271780" algn="just" rtl="0">
              <a:lnSpc>
                <a:spcPct val="100000"/>
              </a:lnSpc>
              <a:spcBef>
                <a:spcPts val="600"/>
              </a:spcBef>
              <a:spcAft>
                <a:spcPts val="0"/>
              </a:spcAft>
              <a:buClr>
                <a:srgbClr val="FE8637"/>
              </a:buClr>
              <a:buSzPts val="1540"/>
              <a:buFont typeface="Noto Sans Symbols"/>
              <a:buNone/>
            </a:pPr>
            <a:endParaRPr sz="2800" b="0" i="0" u="none" strike="noStrike" cap="none">
              <a:solidFill>
                <a:srgbClr val="000000"/>
              </a:solidFill>
              <a:latin typeface="Federo"/>
              <a:ea typeface="Federo"/>
              <a:cs typeface="Federo"/>
              <a:sym typeface="Federo"/>
            </a:endParaRPr>
          </a:p>
          <a:p>
            <a:pPr marL="273050" marR="0" lvl="0" indent="-271780" algn="just" rtl="0">
              <a:lnSpc>
                <a:spcPct val="100000"/>
              </a:lnSpc>
              <a:spcBef>
                <a:spcPts val="600"/>
              </a:spcBef>
              <a:spcAft>
                <a:spcPts val="0"/>
              </a:spcAft>
              <a:buClr>
                <a:srgbClr val="FE8637"/>
              </a:buClr>
              <a:buSzPts val="1540"/>
              <a:buFont typeface="Noto Sans Symbols"/>
              <a:buNone/>
            </a:pPr>
            <a:endParaRPr sz="2800" b="0" i="0" u="none" strike="noStrike" cap="none">
              <a:solidFill>
                <a:srgbClr val="000000"/>
              </a:solidFill>
              <a:latin typeface="Federo"/>
              <a:ea typeface="Federo"/>
              <a:cs typeface="Federo"/>
              <a:sym typeface="Federo"/>
            </a:endParaRPr>
          </a:p>
        </p:txBody>
      </p:sp>
      <p:sp>
        <p:nvSpPr>
          <p:cNvPr id="401" name="Google Shape;401;p51"/>
          <p:cNvSpPr txBox="1"/>
          <p:nvPr/>
        </p:nvSpPr>
        <p:spPr>
          <a:xfrm>
            <a:off x="1436370" y="55563"/>
            <a:ext cx="7315200"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FF0000"/>
                </a:solidFill>
                <a:latin typeface="Arial"/>
                <a:ea typeface="Arial"/>
                <a:cs typeface="Arial"/>
                <a:sym typeface="Arial"/>
              </a:rPr>
              <a:t>2.2.2 Alat-alat Perancangan</a:t>
            </a:r>
            <a:endParaRPr sz="3200" b="0" i="0" u="none" strike="noStrike" cap="none">
              <a:solidFill>
                <a:srgbClr val="FF0000"/>
              </a:solidFill>
              <a:latin typeface="Arial"/>
              <a:ea typeface="Arial"/>
              <a:cs typeface="Arial"/>
              <a:sym typeface="Arial"/>
            </a:endParaRPr>
          </a:p>
        </p:txBody>
      </p:sp>
      <p:sp>
        <p:nvSpPr>
          <p:cNvPr id="402" name="Google Shape;402;p51"/>
          <p:cNvSpPr txBox="1"/>
          <p:nvPr/>
        </p:nvSpPr>
        <p:spPr>
          <a:xfrm>
            <a:off x="1466215" y="648811"/>
            <a:ext cx="7677785"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B050"/>
                </a:solidFill>
                <a:latin typeface="Arial"/>
                <a:ea typeface="Arial"/>
                <a:cs typeface="Arial"/>
                <a:sym typeface="Arial"/>
              </a:rPr>
              <a:t>a.  Jenis Alat-alat Perancangan</a:t>
            </a:r>
            <a:endParaRPr sz="3200" b="0" i="0" u="none" strike="noStrike" cap="none">
              <a:solidFill>
                <a:srgbClr val="00B05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408" name="Google Shape;408;p52"/>
          <p:cNvPicPr preferRelativeResize="0"/>
          <p:nvPr/>
        </p:nvPicPr>
        <p:blipFill rotWithShape="1">
          <a:blip r:embed="rId3">
            <a:alphaModFix/>
          </a:blip>
          <a:srcRect/>
          <a:stretch/>
        </p:blipFill>
        <p:spPr>
          <a:xfrm>
            <a:off x="2321242" y="1144270"/>
            <a:ext cx="5305425" cy="4970780"/>
          </a:xfrm>
          <a:prstGeom prst="rect">
            <a:avLst/>
          </a:prstGeom>
          <a:noFill/>
          <a:ln w="9525" cap="flat" cmpd="sng">
            <a:solidFill>
              <a:srgbClr val="1F3864"/>
            </a:solidFill>
            <a:prstDash val="solid"/>
            <a:round/>
            <a:headEnd type="none" w="sm" len="sm"/>
            <a:tailEnd type="none" w="sm" len="sm"/>
          </a:ln>
        </p:spPr>
      </p:pic>
      <p:sp>
        <p:nvSpPr>
          <p:cNvPr id="409" name="Google Shape;409;p52"/>
          <p:cNvSpPr txBox="1"/>
          <p:nvPr/>
        </p:nvSpPr>
        <p:spPr>
          <a:xfrm>
            <a:off x="5360511" y="3041650"/>
            <a:ext cx="1256030" cy="9220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Jentera dan Mesin 55%</a:t>
            </a:r>
            <a:endParaRPr sz="1400" b="0" i="0" u="none" strike="noStrike" cap="none">
              <a:solidFill>
                <a:srgbClr val="000000"/>
              </a:solidFill>
              <a:latin typeface="Arial"/>
              <a:ea typeface="Arial"/>
              <a:cs typeface="Arial"/>
              <a:sym typeface="Arial"/>
            </a:endParaRPr>
          </a:p>
        </p:txBody>
      </p:sp>
      <p:sp>
        <p:nvSpPr>
          <p:cNvPr id="410" name="Google Shape;410;p52"/>
          <p:cNvSpPr txBox="1"/>
          <p:nvPr/>
        </p:nvSpPr>
        <p:spPr>
          <a:xfrm>
            <a:off x="4345940" y="1770380"/>
            <a:ext cx="1256030"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RnD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411" name="Google Shape;411;p52"/>
          <p:cNvSpPr txBox="1"/>
          <p:nvPr/>
        </p:nvSpPr>
        <p:spPr>
          <a:xfrm>
            <a:off x="3004978" y="2197417"/>
            <a:ext cx="1434783" cy="9220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Utiliti &amp; 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15%</a:t>
            </a:r>
            <a:endParaRPr sz="1400" b="0" i="0" u="none" strike="noStrike" cap="none">
              <a:solidFill>
                <a:srgbClr val="000000"/>
              </a:solidFill>
              <a:latin typeface="Arial"/>
              <a:ea typeface="Arial"/>
              <a:cs typeface="Arial"/>
              <a:sym typeface="Arial"/>
            </a:endParaRPr>
          </a:p>
        </p:txBody>
      </p:sp>
      <p:sp>
        <p:nvSpPr>
          <p:cNvPr id="412" name="Google Shape;412;p52"/>
          <p:cNvSpPr txBox="1"/>
          <p:nvPr/>
        </p:nvSpPr>
        <p:spPr>
          <a:xfrm>
            <a:off x="3094355" y="3508375"/>
            <a:ext cx="1256030" cy="11988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Gaji Upah &amp; Komisyen 25%</a:t>
            </a:r>
            <a:endParaRPr sz="1400" b="0" i="0" u="none" strike="noStrike" cap="none">
              <a:solidFill>
                <a:srgbClr val="000000"/>
              </a:solidFill>
              <a:latin typeface="Arial"/>
              <a:ea typeface="Arial"/>
              <a:cs typeface="Arial"/>
              <a:sym typeface="Arial"/>
            </a:endParaRPr>
          </a:p>
        </p:txBody>
      </p:sp>
      <p:sp>
        <p:nvSpPr>
          <p:cNvPr id="413" name="Google Shape;413;p52"/>
          <p:cNvSpPr txBox="1"/>
          <p:nvPr/>
        </p:nvSpPr>
        <p:spPr>
          <a:xfrm>
            <a:off x="961390" y="286385"/>
            <a:ext cx="8182610" cy="6451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Rajah Carta Pai - Belanjawan Pengagihan Peruntukkan Kewangan sebanyak RM20j mengikut keperluan perbelanjaan</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3"/>
          <p:cNvSpPr txBox="1"/>
          <p:nvPr/>
        </p:nvSpPr>
        <p:spPr>
          <a:xfrm>
            <a:off x="988829" y="214312"/>
            <a:ext cx="7682732" cy="6507164"/>
          </a:xfrm>
          <a:prstGeom prst="rect">
            <a:avLst/>
          </a:prstGeom>
          <a:solidFill>
            <a:srgbClr val="DDEAF6"/>
          </a:solidFill>
          <a:ln>
            <a:noFill/>
          </a:ln>
        </p:spPr>
        <p:txBody>
          <a:bodyPr spcFirstLastPara="1" wrap="square" lIns="91425" tIns="45700" rIns="91425" bIns="45700" anchor="t" anchorCtr="0">
            <a:noAutofit/>
          </a:bodyPr>
          <a:lstStyle/>
          <a:p>
            <a:pPr marL="273050" marR="0" lvl="0" indent="-271780" algn="l" rtl="0">
              <a:lnSpc>
                <a:spcPct val="70000"/>
              </a:lnSpc>
              <a:spcBef>
                <a:spcPts val="0"/>
              </a:spcBef>
              <a:spcAft>
                <a:spcPts val="0"/>
              </a:spcAft>
              <a:buClr>
                <a:schemeClr val="dk1"/>
              </a:buClr>
              <a:buSzPts val="1680"/>
              <a:buFont typeface="Calibri"/>
              <a:buNone/>
            </a:pPr>
            <a:endParaRPr sz="2800" b="1" i="0" u="none" strike="noStrike" cap="none">
              <a:solidFill>
                <a:srgbClr val="000000"/>
              </a:solidFill>
              <a:latin typeface="Federo"/>
              <a:ea typeface="Federo"/>
              <a:cs typeface="Federo"/>
              <a:sym typeface="Federo"/>
            </a:endParaRPr>
          </a:p>
          <a:p>
            <a:pPr marL="273050" marR="0" lvl="0" indent="-271780" algn="l" rtl="0">
              <a:lnSpc>
                <a:spcPct val="70000"/>
              </a:lnSpc>
              <a:spcBef>
                <a:spcPts val="600"/>
              </a:spcBef>
              <a:spcAft>
                <a:spcPts val="0"/>
              </a:spcAft>
              <a:buClr>
                <a:srgbClr val="000000"/>
              </a:buClr>
              <a:buSzPts val="1680"/>
              <a:buFont typeface="Century Schoolbook"/>
              <a:buNone/>
            </a:pPr>
            <a:r>
              <a:rPr lang="en-US" sz="2800" b="1" i="0" u="none" strike="noStrike" cap="none">
                <a:solidFill>
                  <a:srgbClr val="000000"/>
                </a:solidFill>
                <a:latin typeface="Federo"/>
                <a:ea typeface="Federo"/>
                <a:cs typeface="Federo"/>
                <a:sym typeface="Federo"/>
              </a:rPr>
              <a:t>ii. Titik Pulang Modal (TPM)</a:t>
            </a:r>
            <a:endParaRPr sz="2800" b="0" i="0" u="none" strike="noStrike" cap="none">
              <a:solidFill>
                <a:srgbClr val="000000"/>
              </a:solidFill>
              <a:latin typeface="Federo"/>
              <a:ea typeface="Federo"/>
              <a:cs typeface="Federo"/>
              <a:sym typeface="Federo"/>
            </a:endParaRPr>
          </a:p>
          <a:p>
            <a:pPr marL="273050" marR="0" lvl="0" indent="-271780" algn="just" rtl="0">
              <a:lnSpc>
                <a:spcPct val="70000"/>
              </a:lnSpc>
              <a:spcBef>
                <a:spcPts val="600"/>
              </a:spcBef>
              <a:spcAft>
                <a:spcPts val="0"/>
              </a:spcAft>
              <a:buClr>
                <a:srgbClr val="FE8637"/>
              </a:buClr>
              <a:buSzPts val="1680"/>
              <a:buFont typeface="Noto Sans Symbols"/>
              <a:buNone/>
            </a:pPr>
            <a:endParaRPr sz="2800" b="0" i="0" u="none" strike="noStrike" cap="none">
              <a:solidFill>
                <a:srgbClr val="000000"/>
              </a:solidFill>
              <a:latin typeface="Federo"/>
              <a:ea typeface="Federo"/>
              <a:cs typeface="Federo"/>
              <a:sym typeface="Federo"/>
            </a:endParaRPr>
          </a:p>
          <a:p>
            <a:pPr marL="458469" marR="0" lvl="0" indent="-457200" algn="l"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Analisis yang digunakan untuk mengkaji hubungan antara jualan (hasil) dengan kos untuk menentukan titik di mana jumlah jualan akan menyamai jumlah kos iaitu titik pulang modal.</a:t>
            </a:r>
            <a:endParaRPr sz="2800" b="0" i="0" u="none" strike="noStrike" cap="none">
              <a:solidFill>
                <a:srgbClr val="000000"/>
              </a:solidFill>
              <a:latin typeface="Federo"/>
              <a:ea typeface="Federo"/>
              <a:cs typeface="Federo"/>
              <a:sym typeface="Federo"/>
            </a:endParaRPr>
          </a:p>
          <a:p>
            <a:pPr marL="1270" marR="0" lvl="0" indent="0" algn="l" rtl="0">
              <a:lnSpc>
                <a:spcPct val="100000"/>
              </a:lnSpc>
              <a:spcBef>
                <a:spcPts val="0"/>
              </a:spcBef>
              <a:spcAft>
                <a:spcPts val="0"/>
              </a:spcAft>
              <a:buNone/>
            </a:pPr>
            <a:endParaRPr sz="2800" b="0" i="0" u="none" strike="noStrike" cap="none">
              <a:solidFill>
                <a:srgbClr val="000000"/>
              </a:solidFill>
              <a:latin typeface="Federo"/>
              <a:ea typeface="Federo"/>
              <a:cs typeface="Federo"/>
              <a:sym typeface="Federo"/>
            </a:endParaRPr>
          </a:p>
          <a:p>
            <a:pPr marL="458469" marR="0" lvl="0" indent="-457200" algn="l"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 Ia tercapai bila </a:t>
            </a:r>
            <a:r>
              <a:rPr lang="en-US" sz="2800" b="1" i="0" u="none" strike="noStrike" cap="none">
                <a:solidFill>
                  <a:srgbClr val="000000"/>
                </a:solidFill>
                <a:latin typeface="Federo"/>
                <a:ea typeface="Federo"/>
                <a:cs typeface="Federo"/>
                <a:sym typeface="Federo"/>
              </a:rPr>
              <a:t>Jumlah Hasil= Jumlah Kos</a:t>
            </a:r>
            <a:r>
              <a:rPr lang="en-US" sz="2800" b="0" i="0" u="none" strike="noStrike" cap="none">
                <a:solidFill>
                  <a:schemeClr val="dk1"/>
                </a:solidFill>
                <a:latin typeface="Federo"/>
                <a:ea typeface="Federo"/>
                <a:cs typeface="Federo"/>
                <a:sym typeface="Federo"/>
              </a:rPr>
              <a:t> </a:t>
            </a:r>
            <a:endParaRPr sz="2800" b="0" i="0" u="none" strike="noStrike" cap="none">
              <a:solidFill>
                <a:srgbClr val="000000"/>
              </a:solidFill>
              <a:latin typeface="Federo"/>
              <a:ea typeface="Federo"/>
              <a:cs typeface="Federo"/>
              <a:sym typeface="Federo"/>
            </a:endParaRPr>
          </a:p>
          <a:p>
            <a:pPr marL="610871" marR="0" lvl="0" indent="-279400" algn="l" rtl="0">
              <a:lnSpc>
                <a:spcPct val="100000"/>
              </a:lnSpc>
              <a:spcBef>
                <a:spcPts val="0"/>
              </a:spcBef>
              <a:spcAft>
                <a:spcPts val="0"/>
              </a:spcAft>
              <a:buClr>
                <a:srgbClr val="002060"/>
              </a:buClr>
              <a:buSzPts val="2800"/>
              <a:buFont typeface="Noto Sans Symbols"/>
              <a:buNone/>
            </a:pPr>
            <a:endParaRPr sz="2800" b="0" i="0" u="none" strike="noStrike" cap="none">
              <a:solidFill>
                <a:srgbClr val="000000"/>
              </a:solidFill>
              <a:latin typeface="Federo"/>
              <a:ea typeface="Federo"/>
              <a:cs typeface="Federo"/>
              <a:sym typeface="Federo"/>
            </a:endParaRPr>
          </a:p>
          <a:p>
            <a:pPr marL="273050" marR="0" lvl="0" indent="-271780" algn="l" rtl="0">
              <a:lnSpc>
                <a:spcPct val="100000"/>
              </a:lnSpc>
              <a:spcBef>
                <a:spcPts val="0"/>
              </a:spcBef>
              <a:spcAft>
                <a:spcPts val="0"/>
              </a:spcAft>
              <a:buClr>
                <a:srgbClr val="000000"/>
              </a:buClr>
              <a:buSzPts val="2400"/>
              <a:buFont typeface="Tahoma"/>
              <a:buNone/>
            </a:pPr>
            <a:r>
              <a:rPr lang="en-US" sz="2800" b="0" i="0" u="none" strike="noStrike" cap="none">
                <a:solidFill>
                  <a:srgbClr val="000000"/>
                </a:solidFill>
                <a:latin typeface="Federo"/>
                <a:ea typeface="Federo"/>
                <a:cs typeface="Federo"/>
                <a:sym typeface="Federo"/>
              </a:rPr>
              <a:t>Kegunaan:</a:t>
            </a:r>
            <a:endParaRPr sz="2800" b="0" i="0" u="none" strike="noStrike" cap="none">
              <a:solidFill>
                <a:srgbClr val="000000"/>
              </a:solidFill>
              <a:latin typeface="Federo"/>
              <a:ea typeface="Federo"/>
              <a:cs typeface="Federo"/>
              <a:sym typeface="Federo"/>
            </a:endParaRPr>
          </a:p>
          <a:p>
            <a:pPr marL="458469" marR="0" lvl="0" indent="-457200" algn="l"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TPM digunakan untuk menentukan unit minima yang patut dikeluarkan atau dijual untuk mendapat pulangan modal.</a:t>
            </a:r>
            <a:endParaRPr sz="2800" b="0" i="0" u="none" strike="noStrike" cap="none">
              <a:solidFill>
                <a:srgbClr val="000000"/>
              </a:solidFill>
              <a:latin typeface="Federo"/>
              <a:ea typeface="Federo"/>
              <a:cs typeface="Federo"/>
              <a:sym typeface="Federo"/>
            </a:endParaRPr>
          </a:p>
          <a:p>
            <a:pPr marL="273050" marR="0" lvl="0" indent="-271780" algn="just" rtl="0">
              <a:lnSpc>
                <a:spcPct val="90000"/>
              </a:lnSpc>
              <a:spcBef>
                <a:spcPts val="0"/>
              </a:spcBef>
              <a:spcAft>
                <a:spcPts val="0"/>
              </a:spcAft>
              <a:buClr>
                <a:schemeClr val="dk1"/>
              </a:buClr>
              <a:buSzPts val="2400"/>
              <a:buFont typeface="Calibri"/>
              <a:buNone/>
            </a:pPr>
            <a:endParaRPr sz="2800" b="0" i="0" u="none" strike="noStrike" cap="none">
              <a:solidFill>
                <a:schemeClr val="dk1"/>
              </a:solidFill>
              <a:latin typeface="Federo"/>
              <a:ea typeface="Federo"/>
              <a:cs typeface="Federo"/>
              <a:sym typeface="Federo"/>
            </a:endParaRPr>
          </a:p>
          <a:p>
            <a:pPr marL="273050" marR="0" lvl="0" indent="-271780" algn="just" rtl="0">
              <a:lnSpc>
                <a:spcPct val="70000"/>
              </a:lnSpc>
              <a:spcBef>
                <a:spcPts val="600"/>
              </a:spcBef>
              <a:spcAft>
                <a:spcPts val="0"/>
              </a:spcAft>
              <a:buClr>
                <a:srgbClr val="FE8637"/>
              </a:buClr>
              <a:buSzPts val="1680"/>
              <a:buFont typeface="Calibri"/>
              <a:buNone/>
            </a:pPr>
            <a:endParaRPr sz="2800" b="0" i="0" u="none" strike="noStrike" cap="none">
              <a:solidFill>
                <a:schemeClr val="dk1"/>
              </a:solidFill>
              <a:latin typeface="Federo"/>
              <a:ea typeface="Federo"/>
              <a:cs typeface="Federo"/>
              <a:sym typeface="Federo"/>
            </a:endParaRPr>
          </a:p>
          <a:p>
            <a:pPr marL="273050" marR="0" lvl="0" indent="-271780" algn="l" rtl="0">
              <a:lnSpc>
                <a:spcPct val="70000"/>
              </a:lnSpc>
              <a:spcBef>
                <a:spcPts val="600"/>
              </a:spcBef>
              <a:spcAft>
                <a:spcPts val="0"/>
              </a:spcAft>
              <a:buClr>
                <a:srgbClr val="FE8637"/>
              </a:buClr>
              <a:buSzPts val="1680"/>
              <a:buFont typeface="Noto Sans Symbols"/>
              <a:buNone/>
            </a:pPr>
            <a:endParaRPr sz="2800" b="0" i="0" u="none" strike="noStrike" cap="none">
              <a:solidFill>
                <a:schemeClr val="dk1"/>
              </a:solidFill>
              <a:latin typeface="Federo"/>
              <a:ea typeface="Federo"/>
              <a:cs typeface="Federo"/>
              <a:sym typeface="Federo"/>
            </a:endParaRPr>
          </a:p>
          <a:p>
            <a:pPr marL="273050" marR="0" lvl="0" indent="-271780" algn="l" rtl="0">
              <a:lnSpc>
                <a:spcPct val="70000"/>
              </a:lnSpc>
              <a:spcBef>
                <a:spcPts val="600"/>
              </a:spcBef>
              <a:spcAft>
                <a:spcPts val="0"/>
              </a:spcAft>
              <a:buClr>
                <a:schemeClr val="dk1"/>
              </a:buClr>
              <a:buSzPts val="1680"/>
              <a:buFont typeface="Calibri"/>
              <a:buNone/>
            </a:pPr>
            <a:endParaRPr sz="2800" b="0" i="0" u="none" strike="noStrike" cap="none">
              <a:solidFill>
                <a:schemeClr val="dk1"/>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9" name="Google Shape;429;p54"/>
          <p:cNvSpPr txBox="1"/>
          <p:nvPr/>
        </p:nvSpPr>
        <p:spPr>
          <a:xfrm>
            <a:off x="1669312" y="457199"/>
            <a:ext cx="7146076" cy="6124353"/>
          </a:xfrm>
          <a:prstGeom prst="rect">
            <a:avLst/>
          </a:prstGeom>
          <a:solidFill>
            <a:srgbClr val="DDEAF6"/>
          </a:solidFill>
          <a:ln>
            <a:noFill/>
          </a:ln>
        </p:spPr>
        <p:txBody>
          <a:bodyPr spcFirstLastPara="1" wrap="square" lIns="91425" tIns="45700" rIns="91425" bIns="45700" anchor="t" anchorCtr="0">
            <a:noAutofit/>
          </a:bodyPr>
          <a:lstStyle/>
          <a:p>
            <a:pPr marL="457200" marR="0" lvl="0" indent="-457200" algn="just" rtl="0">
              <a:lnSpc>
                <a:spcPct val="100000"/>
              </a:lnSpc>
              <a:spcBef>
                <a:spcPts val="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TPM boleh ditunjukkan dalam nilai wang (ringgit) atau volum jualan mengikut formula berikut:</a:t>
            </a:r>
            <a:endParaRPr sz="2800" b="0" i="0" u="none" strike="noStrike" cap="none">
              <a:solidFill>
                <a:srgbClr val="000000"/>
              </a:solidFill>
              <a:latin typeface="Federo"/>
              <a:ea typeface="Federo"/>
              <a:cs typeface="Federo"/>
              <a:sym typeface="Federo"/>
            </a:endParaRPr>
          </a:p>
          <a:p>
            <a:pPr marL="271780" marR="0" lvl="0" indent="-271780" algn="just" rtl="0">
              <a:lnSpc>
                <a:spcPct val="100000"/>
              </a:lnSpc>
              <a:spcBef>
                <a:spcPts val="600"/>
              </a:spcBef>
              <a:spcAft>
                <a:spcPts val="0"/>
              </a:spcAft>
              <a:buClr>
                <a:schemeClr val="dk1"/>
              </a:buClr>
              <a:buSzPts val="1680"/>
              <a:buFont typeface="Calibri"/>
              <a:buNone/>
            </a:pPr>
            <a:endParaRPr sz="2800" b="0" i="0" u="none" strike="noStrike" cap="none">
              <a:solidFill>
                <a:srgbClr val="000000"/>
              </a:solidFill>
              <a:latin typeface="Federo"/>
              <a:ea typeface="Federo"/>
              <a:cs typeface="Federo"/>
              <a:sym typeface="Federo"/>
            </a:endParaRPr>
          </a:p>
          <a:p>
            <a:pPr marL="640080" marR="0" lvl="1" indent="-271780" algn="just" rtl="0">
              <a:lnSpc>
                <a:spcPct val="100000"/>
              </a:lnSpc>
              <a:spcBef>
                <a:spcPts val="600"/>
              </a:spcBef>
              <a:spcAft>
                <a:spcPts val="0"/>
              </a:spcAft>
              <a:buClr>
                <a:srgbClr val="000000"/>
              </a:buClr>
              <a:buSzPts val="1920"/>
              <a:buFont typeface="Tahoma"/>
              <a:buNone/>
            </a:pPr>
            <a:r>
              <a:rPr lang="en-US" sz="2800" b="0" i="0" u="none" strike="noStrike" cap="none">
                <a:solidFill>
                  <a:srgbClr val="000000"/>
                </a:solidFill>
                <a:latin typeface="Federo"/>
                <a:ea typeface="Federo"/>
                <a:cs typeface="Federo"/>
                <a:sym typeface="Federo"/>
              </a:rPr>
              <a:t>    TPM (unit)    =    </a:t>
            </a:r>
            <a:r>
              <a:rPr lang="en-US" sz="2800" b="0" i="0" u="sng" strike="noStrike" cap="none">
                <a:solidFill>
                  <a:srgbClr val="000000"/>
                </a:solidFill>
                <a:latin typeface="Federo"/>
                <a:ea typeface="Federo"/>
                <a:cs typeface="Federo"/>
                <a:sym typeface="Federo"/>
              </a:rPr>
              <a:t>  KT  </a:t>
            </a:r>
            <a:endParaRPr sz="2800" b="0" i="0" u="none" strike="noStrike" cap="none">
              <a:solidFill>
                <a:srgbClr val="000000"/>
              </a:solidFill>
              <a:latin typeface="Federo"/>
              <a:ea typeface="Federo"/>
              <a:cs typeface="Federo"/>
              <a:sym typeface="Federo"/>
            </a:endParaRPr>
          </a:p>
          <a:p>
            <a:pPr marL="640080" marR="0" lvl="1" indent="-271780" algn="just" rtl="0">
              <a:lnSpc>
                <a:spcPct val="100000"/>
              </a:lnSpc>
              <a:spcBef>
                <a:spcPts val="600"/>
              </a:spcBef>
              <a:spcAft>
                <a:spcPts val="0"/>
              </a:spcAft>
              <a:buClr>
                <a:srgbClr val="000000"/>
              </a:buClr>
              <a:buSzPts val="1920"/>
              <a:buFont typeface="Tahoma"/>
              <a:buNone/>
            </a:pPr>
            <a:r>
              <a:rPr lang="en-US" sz="2800" b="0" i="0" u="none" strike="noStrike" cap="none">
                <a:solidFill>
                  <a:srgbClr val="000000"/>
                </a:solidFill>
                <a:latin typeface="Federo"/>
                <a:ea typeface="Federo"/>
                <a:cs typeface="Federo"/>
                <a:sym typeface="Federo"/>
              </a:rPr>
              <a:t>				    H - KB</a:t>
            </a:r>
            <a:endParaRPr sz="2800" b="0" i="0" u="none" strike="noStrike" cap="none">
              <a:solidFill>
                <a:srgbClr val="000000"/>
              </a:solidFill>
              <a:latin typeface="Federo"/>
              <a:ea typeface="Federo"/>
              <a:cs typeface="Federo"/>
              <a:sym typeface="Federo"/>
            </a:endParaRPr>
          </a:p>
          <a:p>
            <a:pPr marL="640080" marR="0" lvl="1" indent="-271780" algn="just" rtl="0">
              <a:lnSpc>
                <a:spcPct val="100000"/>
              </a:lnSpc>
              <a:spcBef>
                <a:spcPts val="600"/>
              </a:spcBef>
              <a:spcAft>
                <a:spcPts val="0"/>
              </a:spcAft>
              <a:buClr>
                <a:schemeClr val="dk1"/>
              </a:buClr>
              <a:buSzPts val="1920"/>
              <a:buFont typeface="Calibri"/>
              <a:buNone/>
            </a:pPr>
            <a:endParaRPr sz="2800" b="0" i="0" u="none" strike="noStrike" cap="none">
              <a:solidFill>
                <a:srgbClr val="000000"/>
              </a:solidFill>
              <a:latin typeface="Federo"/>
              <a:ea typeface="Federo"/>
              <a:cs typeface="Federo"/>
              <a:sym typeface="Federo"/>
            </a:endParaRPr>
          </a:p>
          <a:p>
            <a:pPr marL="640080" marR="0" lvl="1" indent="-271780" algn="just" rtl="0">
              <a:lnSpc>
                <a:spcPct val="100000"/>
              </a:lnSpc>
              <a:spcBef>
                <a:spcPts val="600"/>
              </a:spcBef>
              <a:spcAft>
                <a:spcPts val="0"/>
              </a:spcAft>
              <a:buClr>
                <a:srgbClr val="000000"/>
              </a:buClr>
              <a:buSzPts val="1920"/>
              <a:buFont typeface="Tahoma"/>
              <a:buNone/>
            </a:pPr>
            <a:r>
              <a:rPr lang="en-US" sz="2800" b="0" i="0" u="none" strike="noStrike" cap="none">
                <a:solidFill>
                  <a:srgbClr val="000000"/>
                </a:solidFill>
                <a:latin typeface="Federo"/>
                <a:ea typeface="Federo"/>
                <a:cs typeface="Federo"/>
                <a:sym typeface="Federo"/>
              </a:rPr>
              <a:t>    TPM (ringgit) = TPM (unit)  x  H</a:t>
            </a:r>
            <a:endParaRPr sz="2800" b="0" i="0" u="none" strike="noStrike" cap="none">
              <a:solidFill>
                <a:srgbClr val="000000"/>
              </a:solidFill>
              <a:latin typeface="Federo"/>
              <a:ea typeface="Federo"/>
              <a:cs typeface="Federo"/>
              <a:sym typeface="Federo"/>
            </a:endParaRPr>
          </a:p>
          <a:p>
            <a:pPr marL="640080" marR="0" lvl="1" indent="-271780" algn="just" rtl="0">
              <a:lnSpc>
                <a:spcPct val="100000"/>
              </a:lnSpc>
              <a:spcBef>
                <a:spcPts val="600"/>
              </a:spcBef>
              <a:spcAft>
                <a:spcPts val="0"/>
              </a:spcAft>
              <a:buClr>
                <a:schemeClr val="dk1"/>
              </a:buClr>
              <a:buSzPts val="1920"/>
              <a:buFont typeface="Calibri"/>
              <a:buNone/>
            </a:pPr>
            <a:endParaRPr sz="2800" b="0" i="0" u="none" strike="noStrike" cap="none">
              <a:solidFill>
                <a:srgbClr val="000000"/>
              </a:solidFill>
              <a:latin typeface="Federo"/>
              <a:ea typeface="Federo"/>
              <a:cs typeface="Federo"/>
              <a:sym typeface="Federo"/>
            </a:endParaRPr>
          </a:p>
          <a:p>
            <a:pPr marL="457200" marR="0" lvl="0" indent="-457200" algn="just"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Analisis TPM boleh juga ditunjukkan dengan grafik (lakaran graf) - merupakan </a:t>
            </a:r>
            <a:r>
              <a:rPr lang="en-US" sz="2800" b="0" i="0" u="none" strike="noStrike" cap="none">
                <a:solidFill>
                  <a:srgbClr val="FF0000"/>
                </a:solidFill>
                <a:latin typeface="Federo"/>
                <a:ea typeface="Federo"/>
                <a:cs typeface="Federo"/>
                <a:sym typeface="Federo"/>
              </a:rPr>
              <a:t>titik persilangan </a:t>
            </a:r>
            <a:r>
              <a:rPr lang="en-US" sz="2800" b="0" i="0" u="none" strike="noStrike" cap="none">
                <a:solidFill>
                  <a:srgbClr val="000000"/>
                </a:solidFill>
                <a:latin typeface="Federo"/>
                <a:ea typeface="Federo"/>
                <a:cs typeface="Federo"/>
                <a:sym typeface="Federo"/>
              </a:rPr>
              <a:t>di antara garis jumlah hasil (JH) dengan garis jumlah kos (JK).</a:t>
            </a:r>
            <a:endParaRPr sz="2800" b="0" i="0" u="none" strike="noStrike" cap="none">
              <a:solidFill>
                <a:srgbClr val="000000"/>
              </a:solidFill>
              <a:latin typeface="Federo"/>
              <a:ea typeface="Federo"/>
              <a:cs typeface="Federo"/>
              <a:sym typeface="Federo"/>
            </a:endParaRPr>
          </a:p>
          <a:p>
            <a:pPr marL="342900" marR="0" lvl="0" indent="-165100" algn="just" rtl="0">
              <a:lnSpc>
                <a:spcPct val="100000"/>
              </a:lnSpc>
              <a:spcBef>
                <a:spcPts val="600"/>
              </a:spcBef>
              <a:spcAft>
                <a:spcPts val="0"/>
              </a:spcAft>
              <a:buClr>
                <a:srgbClr val="002060"/>
              </a:buClr>
              <a:buSzPts val="2800"/>
              <a:buFont typeface="Noto Sans Symbols"/>
              <a:buNone/>
            </a:pPr>
            <a:endParaRPr sz="2800" b="0" i="0" u="none" strike="noStrike" cap="none">
              <a:solidFill>
                <a:srgbClr val="000000"/>
              </a:solidFill>
              <a:latin typeface="Federo"/>
              <a:ea typeface="Federo"/>
              <a:cs typeface="Federo"/>
              <a:sym typeface="Federo"/>
            </a:endParaRPr>
          </a:p>
          <a:p>
            <a:pPr marL="640080" marR="0" lvl="1" indent="-271780" algn="l" rtl="0">
              <a:lnSpc>
                <a:spcPct val="100000"/>
              </a:lnSpc>
              <a:spcBef>
                <a:spcPts val="600"/>
              </a:spcBef>
              <a:spcAft>
                <a:spcPts val="0"/>
              </a:spcAft>
              <a:buClr>
                <a:schemeClr val="dk1"/>
              </a:buClr>
              <a:buSzPts val="1920"/>
              <a:buFont typeface="Calibri"/>
              <a:buNone/>
            </a:pPr>
            <a:endParaRPr sz="2800" b="0" i="0" u="none" strike="noStrike" cap="none">
              <a:solidFill>
                <a:srgbClr val="000000"/>
              </a:solidFill>
              <a:latin typeface="Federo"/>
              <a:ea typeface="Federo"/>
              <a:cs typeface="Federo"/>
              <a:sym typeface="Federo"/>
            </a:endParaRPr>
          </a:p>
          <a:p>
            <a:pPr marL="640080" marR="0" lvl="1" indent="-271780" algn="l" rtl="0">
              <a:lnSpc>
                <a:spcPct val="100000"/>
              </a:lnSpc>
              <a:spcBef>
                <a:spcPts val="600"/>
              </a:spcBef>
              <a:spcAft>
                <a:spcPts val="0"/>
              </a:spcAft>
              <a:buClr>
                <a:schemeClr val="dk1"/>
              </a:buClr>
              <a:buSzPts val="1600"/>
              <a:buFont typeface="Calibri"/>
              <a:buNone/>
            </a:pPr>
            <a:endParaRPr sz="2800" b="0" i="0" u="none" strike="noStrike" cap="none">
              <a:solidFill>
                <a:srgbClr val="000000"/>
              </a:solidFill>
              <a:latin typeface="Federo"/>
              <a:ea typeface="Federo"/>
              <a:cs typeface="Federo"/>
              <a:sym typeface="Federo"/>
            </a:endParaRPr>
          </a:p>
          <a:p>
            <a:pPr marL="640080" marR="0" lvl="1" indent="-271780" algn="l" rtl="0">
              <a:lnSpc>
                <a:spcPct val="100000"/>
              </a:lnSpc>
              <a:spcBef>
                <a:spcPts val="600"/>
              </a:spcBef>
              <a:spcAft>
                <a:spcPts val="0"/>
              </a:spcAft>
              <a:buClr>
                <a:schemeClr val="dk1"/>
              </a:buClr>
              <a:buSzPts val="1600"/>
              <a:buFont typeface="Calibri"/>
              <a:buNone/>
            </a:pPr>
            <a:endParaRPr sz="28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cxnSp>
        <p:nvCxnSpPr>
          <p:cNvPr id="436" name="Google Shape;436;p55"/>
          <p:cNvCxnSpPr/>
          <p:nvPr/>
        </p:nvCxnSpPr>
        <p:spPr>
          <a:xfrm rot="10800000" flipH="1">
            <a:off x="2457458" y="1603374"/>
            <a:ext cx="1587" cy="3432175"/>
          </a:xfrm>
          <a:prstGeom prst="straightConnector1">
            <a:avLst/>
          </a:prstGeom>
          <a:noFill/>
          <a:ln w="38150" cap="flat" cmpd="sng">
            <a:solidFill>
              <a:srgbClr val="000000"/>
            </a:solidFill>
            <a:prstDash val="solid"/>
            <a:miter lim="8000"/>
            <a:headEnd type="none" w="sm" len="sm"/>
            <a:tailEnd type="triangle" w="med" len="med"/>
          </a:ln>
        </p:spPr>
      </p:cxnSp>
      <p:cxnSp>
        <p:nvCxnSpPr>
          <p:cNvPr id="437" name="Google Shape;437;p55"/>
          <p:cNvCxnSpPr/>
          <p:nvPr/>
        </p:nvCxnSpPr>
        <p:spPr>
          <a:xfrm>
            <a:off x="2457458" y="5033961"/>
            <a:ext cx="4343400" cy="1588"/>
          </a:xfrm>
          <a:prstGeom prst="straightConnector1">
            <a:avLst/>
          </a:prstGeom>
          <a:noFill/>
          <a:ln w="38150" cap="flat" cmpd="sng">
            <a:solidFill>
              <a:srgbClr val="000000"/>
            </a:solidFill>
            <a:prstDash val="solid"/>
            <a:miter lim="8000"/>
            <a:headEnd type="none" w="sm" len="sm"/>
            <a:tailEnd type="triangle" w="med" len="med"/>
          </a:ln>
        </p:spPr>
      </p:cxnSp>
      <p:cxnSp>
        <p:nvCxnSpPr>
          <p:cNvPr id="438" name="Google Shape;438;p55"/>
          <p:cNvCxnSpPr/>
          <p:nvPr/>
        </p:nvCxnSpPr>
        <p:spPr>
          <a:xfrm rot="10800000" flipH="1">
            <a:off x="2457458" y="1831974"/>
            <a:ext cx="3352800" cy="3203575"/>
          </a:xfrm>
          <a:prstGeom prst="straightConnector1">
            <a:avLst/>
          </a:prstGeom>
          <a:noFill/>
          <a:ln w="28425" cap="flat" cmpd="sng">
            <a:solidFill>
              <a:srgbClr val="000000"/>
            </a:solidFill>
            <a:prstDash val="solid"/>
            <a:miter lim="8000"/>
            <a:headEnd type="none" w="sm" len="sm"/>
            <a:tailEnd type="none" w="sm" len="sm"/>
          </a:ln>
        </p:spPr>
      </p:cxnSp>
      <p:cxnSp>
        <p:nvCxnSpPr>
          <p:cNvPr id="439" name="Google Shape;439;p55"/>
          <p:cNvCxnSpPr/>
          <p:nvPr/>
        </p:nvCxnSpPr>
        <p:spPr>
          <a:xfrm rot="10800000" flipH="1">
            <a:off x="2457458" y="2670174"/>
            <a:ext cx="3886200" cy="1222375"/>
          </a:xfrm>
          <a:prstGeom prst="straightConnector1">
            <a:avLst/>
          </a:prstGeom>
          <a:noFill/>
          <a:ln w="28425" cap="flat" cmpd="sng">
            <a:solidFill>
              <a:srgbClr val="000000"/>
            </a:solidFill>
            <a:prstDash val="solid"/>
            <a:miter lim="8000"/>
            <a:headEnd type="none" w="sm" len="sm"/>
            <a:tailEnd type="none" w="sm" len="sm"/>
          </a:ln>
        </p:spPr>
      </p:cxnSp>
      <p:cxnSp>
        <p:nvCxnSpPr>
          <p:cNvPr id="440" name="Google Shape;440;p55"/>
          <p:cNvCxnSpPr/>
          <p:nvPr/>
        </p:nvCxnSpPr>
        <p:spPr>
          <a:xfrm>
            <a:off x="2457458" y="3890961"/>
            <a:ext cx="4191000" cy="1588"/>
          </a:xfrm>
          <a:prstGeom prst="straightConnector1">
            <a:avLst/>
          </a:prstGeom>
          <a:noFill/>
          <a:ln w="28425" cap="flat" cmpd="sng">
            <a:solidFill>
              <a:srgbClr val="000000"/>
            </a:solidFill>
            <a:prstDash val="solid"/>
            <a:miter lim="8000"/>
            <a:headEnd type="none" w="sm" len="sm"/>
            <a:tailEnd type="none" w="sm" len="sm"/>
          </a:ln>
        </p:spPr>
      </p:cxnSp>
      <p:sp>
        <p:nvSpPr>
          <p:cNvPr id="441" name="Google Shape;441;p55"/>
          <p:cNvSpPr txBox="1"/>
          <p:nvPr/>
        </p:nvSpPr>
        <p:spPr>
          <a:xfrm>
            <a:off x="2916245" y="3736974"/>
            <a:ext cx="388938" cy="46037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A</a:t>
            </a:r>
            <a:endParaRPr sz="1800" b="0" i="0" u="none" strike="noStrike" cap="none">
              <a:solidFill>
                <a:srgbClr val="000000"/>
              </a:solidFill>
              <a:latin typeface="Arial"/>
              <a:ea typeface="Arial"/>
              <a:cs typeface="Arial"/>
              <a:sym typeface="Arial"/>
            </a:endParaRPr>
          </a:p>
        </p:txBody>
      </p:sp>
      <p:sp>
        <p:nvSpPr>
          <p:cNvPr id="442" name="Google Shape;442;p55"/>
          <p:cNvSpPr txBox="1"/>
          <p:nvPr/>
        </p:nvSpPr>
        <p:spPr>
          <a:xfrm>
            <a:off x="5126045" y="2592386"/>
            <a:ext cx="338138" cy="3683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B</a:t>
            </a:r>
            <a:endParaRPr sz="1800" b="0" i="0" u="none" strike="noStrike" cap="none">
              <a:solidFill>
                <a:srgbClr val="000000"/>
              </a:solidFill>
              <a:latin typeface="Arial"/>
              <a:ea typeface="Arial"/>
              <a:cs typeface="Arial"/>
              <a:sym typeface="Arial"/>
            </a:endParaRPr>
          </a:p>
        </p:txBody>
      </p:sp>
      <p:sp>
        <p:nvSpPr>
          <p:cNvPr id="443" name="Google Shape;443;p55"/>
          <p:cNvSpPr txBox="1"/>
          <p:nvPr/>
        </p:nvSpPr>
        <p:spPr>
          <a:xfrm>
            <a:off x="3518860" y="2592386"/>
            <a:ext cx="974090" cy="40005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TPM</a:t>
            </a:r>
            <a:endParaRPr sz="1800" b="0" i="0" u="none" strike="noStrike" cap="none">
              <a:solidFill>
                <a:srgbClr val="000000"/>
              </a:solidFill>
              <a:latin typeface="Arial"/>
              <a:ea typeface="Arial"/>
              <a:cs typeface="Arial"/>
              <a:sym typeface="Arial"/>
            </a:endParaRPr>
          </a:p>
        </p:txBody>
      </p:sp>
      <p:cxnSp>
        <p:nvCxnSpPr>
          <p:cNvPr id="444" name="Google Shape;444;p55"/>
          <p:cNvCxnSpPr/>
          <p:nvPr/>
        </p:nvCxnSpPr>
        <p:spPr>
          <a:xfrm>
            <a:off x="2533658" y="3281361"/>
            <a:ext cx="1600200" cy="1588"/>
          </a:xfrm>
          <a:prstGeom prst="straightConnector1">
            <a:avLst/>
          </a:prstGeom>
          <a:noFill/>
          <a:ln w="28425" cap="flat" cmpd="sng">
            <a:solidFill>
              <a:srgbClr val="000000"/>
            </a:solidFill>
            <a:prstDash val="dash"/>
            <a:miter lim="8000"/>
            <a:headEnd type="none" w="sm" len="sm"/>
            <a:tailEnd type="none" w="sm" len="sm"/>
          </a:ln>
        </p:spPr>
      </p:cxnSp>
      <p:cxnSp>
        <p:nvCxnSpPr>
          <p:cNvPr id="445" name="Google Shape;445;p55"/>
          <p:cNvCxnSpPr/>
          <p:nvPr/>
        </p:nvCxnSpPr>
        <p:spPr>
          <a:xfrm>
            <a:off x="4210058" y="3357561"/>
            <a:ext cx="1587" cy="1676400"/>
          </a:xfrm>
          <a:prstGeom prst="straightConnector1">
            <a:avLst/>
          </a:prstGeom>
          <a:noFill/>
          <a:ln w="28425" cap="flat" cmpd="sng">
            <a:solidFill>
              <a:srgbClr val="000000"/>
            </a:solidFill>
            <a:prstDash val="dash"/>
            <a:miter lim="8000"/>
            <a:headEnd type="none" w="sm" len="sm"/>
            <a:tailEnd type="none" w="sm" len="sm"/>
          </a:ln>
        </p:spPr>
      </p:cxnSp>
      <p:sp>
        <p:nvSpPr>
          <p:cNvPr id="446" name="Google Shape;446;p55"/>
          <p:cNvSpPr txBox="1"/>
          <p:nvPr/>
        </p:nvSpPr>
        <p:spPr>
          <a:xfrm>
            <a:off x="5734058" y="1452561"/>
            <a:ext cx="1644650" cy="3683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Jumlah Hasil</a:t>
            </a:r>
            <a:endParaRPr sz="1800" b="1" i="0" u="none" strike="noStrike" cap="none">
              <a:solidFill>
                <a:srgbClr val="000000"/>
              </a:solidFill>
              <a:latin typeface="Arial"/>
              <a:ea typeface="Arial"/>
              <a:cs typeface="Arial"/>
              <a:sym typeface="Arial"/>
            </a:endParaRPr>
          </a:p>
        </p:txBody>
      </p:sp>
      <p:sp>
        <p:nvSpPr>
          <p:cNvPr id="447" name="Google Shape;447;p55"/>
          <p:cNvSpPr txBox="1"/>
          <p:nvPr/>
        </p:nvSpPr>
        <p:spPr>
          <a:xfrm>
            <a:off x="6267458" y="2290761"/>
            <a:ext cx="1495425" cy="3683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Jumlah Kos</a:t>
            </a:r>
            <a:endParaRPr sz="1800" b="0" i="0" u="none" strike="noStrike" cap="none">
              <a:solidFill>
                <a:srgbClr val="000000"/>
              </a:solidFill>
              <a:latin typeface="Arial"/>
              <a:ea typeface="Arial"/>
              <a:cs typeface="Arial"/>
              <a:sym typeface="Arial"/>
            </a:endParaRPr>
          </a:p>
        </p:txBody>
      </p:sp>
      <p:sp>
        <p:nvSpPr>
          <p:cNvPr id="448" name="Google Shape;448;p55"/>
          <p:cNvSpPr txBox="1"/>
          <p:nvPr/>
        </p:nvSpPr>
        <p:spPr>
          <a:xfrm>
            <a:off x="1700220" y="1122361"/>
            <a:ext cx="1430338" cy="39846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Hasil, Kos</a:t>
            </a:r>
            <a:endParaRPr sz="1800" b="0" i="0" u="none" strike="noStrike" cap="none">
              <a:solidFill>
                <a:srgbClr val="000000"/>
              </a:solidFill>
              <a:latin typeface="Arial"/>
              <a:ea typeface="Arial"/>
              <a:cs typeface="Arial"/>
              <a:sym typeface="Arial"/>
            </a:endParaRPr>
          </a:p>
        </p:txBody>
      </p:sp>
      <p:sp>
        <p:nvSpPr>
          <p:cNvPr id="449" name="Google Shape;449;p55"/>
          <p:cNvSpPr txBox="1"/>
          <p:nvPr/>
        </p:nvSpPr>
        <p:spPr>
          <a:xfrm>
            <a:off x="6861183" y="4811711"/>
            <a:ext cx="1866900" cy="39846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Volum jualan</a:t>
            </a:r>
            <a:endParaRPr sz="1800" b="0" i="0" u="none" strike="noStrike" cap="none">
              <a:solidFill>
                <a:srgbClr val="000000"/>
              </a:solidFill>
              <a:latin typeface="Arial"/>
              <a:ea typeface="Arial"/>
              <a:cs typeface="Arial"/>
              <a:sym typeface="Arial"/>
            </a:endParaRPr>
          </a:p>
        </p:txBody>
      </p:sp>
      <p:sp>
        <p:nvSpPr>
          <p:cNvPr id="450" name="Google Shape;450;p55"/>
          <p:cNvSpPr txBox="1"/>
          <p:nvPr/>
        </p:nvSpPr>
        <p:spPr>
          <a:xfrm>
            <a:off x="6710370" y="3694111"/>
            <a:ext cx="1316038" cy="3683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Kos Tetap</a:t>
            </a:r>
            <a:endParaRPr sz="1800" b="0" i="0" u="none" strike="noStrike" cap="none">
              <a:solidFill>
                <a:srgbClr val="000000"/>
              </a:solidFill>
              <a:latin typeface="Arial"/>
              <a:ea typeface="Arial"/>
              <a:cs typeface="Arial"/>
              <a:sym typeface="Arial"/>
            </a:endParaRPr>
          </a:p>
        </p:txBody>
      </p:sp>
      <p:sp>
        <p:nvSpPr>
          <p:cNvPr id="451" name="Google Shape;451;p55"/>
          <p:cNvSpPr txBox="1"/>
          <p:nvPr/>
        </p:nvSpPr>
        <p:spPr>
          <a:xfrm>
            <a:off x="1990733" y="3059111"/>
            <a:ext cx="341313" cy="39846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a:t>
            </a:r>
            <a:endParaRPr sz="1800" b="0" i="0" u="none" strike="noStrike" cap="none">
              <a:solidFill>
                <a:srgbClr val="000000"/>
              </a:solidFill>
              <a:latin typeface="Arial"/>
              <a:ea typeface="Arial"/>
              <a:cs typeface="Arial"/>
              <a:sym typeface="Arial"/>
            </a:endParaRPr>
          </a:p>
        </p:txBody>
      </p:sp>
      <p:sp>
        <p:nvSpPr>
          <p:cNvPr id="452" name="Google Shape;452;p55"/>
          <p:cNvSpPr txBox="1"/>
          <p:nvPr/>
        </p:nvSpPr>
        <p:spPr>
          <a:xfrm>
            <a:off x="4119570" y="5067299"/>
            <a:ext cx="373063" cy="46037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q</a:t>
            </a:r>
            <a:endParaRPr sz="1800" b="0" i="0" u="none" strike="noStrike" cap="none">
              <a:solidFill>
                <a:srgbClr val="000000"/>
              </a:solidFill>
              <a:latin typeface="Arial"/>
              <a:ea typeface="Arial"/>
              <a:cs typeface="Arial"/>
              <a:sym typeface="Arial"/>
            </a:endParaRPr>
          </a:p>
        </p:txBody>
      </p:sp>
      <p:sp>
        <p:nvSpPr>
          <p:cNvPr id="453" name="Google Shape;453;p55"/>
          <p:cNvSpPr txBox="1"/>
          <p:nvPr/>
        </p:nvSpPr>
        <p:spPr>
          <a:xfrm>
            <a:off x="4765683" y="5393371"/>
            <a:ext cx="3962400" cy="461645"/>
          </a:xfrm>
          <a:prstGeom prst="rect">
            <a:avLst/>
          </a:prstGeom>
          <a:noFill/>
          <a:ln>
            <a:noFill/>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Arial"/>
                <a:ea typeface="Arial"/>
                <a:cs typeface="Arial"/>
                <a:sym typeface="Arial"/>
              </a:rPr>
              <a:t>Rajah Titik Pulang Modal</a:t>
            </a:r>
            <a:endParaRPr sz="1800" b="0" i="0" u="none" strike="noStrike" cap="none">
              <a:solidFill>
                <a:srgbClr val="000000"/>
              </a:solidFill>
              <a:latin typeface="Arial"/>
              <a:ea typeface="Arial"/>
              <a:cs typeface="Arial"/>
              <a:sym typeface="Arial"/>
            </a:endParaRPr>
          </a:p>
        </p:txBody>
      </p:sp>
      <p:sp>
        <p:nvSpPr>
          <p:cNvPr id="455" name="Google Shape;455;p55"/>
          <p:cNvSpPr/>
          <p:nvPr/>
        </p:nvSpPr>
        <p:spPr>
          <a:xfrm rot="3360000">
            <a:off x="3855410" y="2927666"/>
            <a:ext cx="506730" cy="43688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3" name="Google Shape;463;p56"/>
          <p:cNvSpPr txBox="1"/>
          <p:nvPr/>
        </p:nvSpPr>
        <p:spPr>
          <a:xfrm>
            <a:off x="1552354" y="414337"/>
            <a:ext cx="7134446" cy="5942013"/>
          </a:xfrm>
          <a:prstGeom prst="rect">
            <a:avLst/>
          </a:prstGeom>
          <a:solidFill>
            <a:srgbClr val="DDEAF6"/>
          </a:solidFill>
          <a:ln>
            <a:noFill/>
          </a:ln>
        </p:spPr>
        <p:txBody>
          <a:bodyPr spcFirstLastPara="1" wrap="square" lIns="91425" tIns="45700" rIns="91425" bIns="45700" anchor="t" anchorCtr="0">
            <a:noAutofit/>
          </a:bodyPr>
          <a:lstStyle/>
          <a:p>
            <a:pPr marL="0" marR="0" lvl="0" indent="0" algn="just" rtl="0">
              <a:lnSpc>
                <a:spcPct val="80000"/>
              </a:lnSpc>
              <a:spcBef>
                <a:spcPts val="0"/>
              </a:spcBef>
              <a:spcAft>
                <a:spcPts val="0"/>
              </a:spcAft>
              <a:buClr>
                <a:srgbClr val="000000"/>
              </a:buClr>
              <a:buSzPts val="2800"/>
              <a:buFont typeface="Arial"/>
              <a:buNone/>
            </a:pPr>
            <a:r>
              <a:rPr lang="en-US" sz="3000" b="1" i="0" u="none" strike="noStrike" cap="none">
                <a:solidFill>
                  <a:schemeClr val="dk1"/>
                </a:solidFill>
                <a:latin typeface="Federo"/>
                <a:ea typeface="Federo"/>
                <a:cs typeface="Federo"/>
                <a:sym typeface="Federo"/>
              </a:rPr>
              <a:t>iii. Carta Gantt</a:t>
            </a:r>
            <a:endParaRPr sz="3000" b="1" i="0" u="none" strike="noStrike" cap="none">
              <a:solidFill>
                <a:schemeClr val="dk1"/>
              </a:solidFill>
              <a:latin typeface="Federo"/>
              <a:ea typeface="Federo"/>
              <a:cs typeface="Federo"/>
              <a:sym typeface="Federo"/>
            </a:endParaRPr>
          </a:p>
          <a:p>
            <a:pPr marL="0" marR="0" lvl="0" indent="0" algn="just" rtl="0">
              <a:lnSpc>
                <a:spcPct val="80000"/>
              </a:lnSpc>
              <a:spcBef>
                <a:spcPts val="600"/>
              </a:spcBef>
              <a:spcAft>
                <a:spcPts val="0"/>
              </a:spcAft>
              <a:buClr>
                <a:srgbClr val="000000"/>
              </a:buClr>
              <a:buSzPts val="2800"/>
              <a:buFont typeface="Arial"/>
              <a:buNone/>
            </a:pPr>
            <a:endParaRPr sz="3000" b="0" i="0" u="none" strike="noStrike" cap="none">
              <a:solidFill>
                <a:schemeClr val="dk1"/>
              </a:solidFill>
              <a:latin typeface="Federo"/>
              <a:ea typeface="Federo"/>
              <a:cs typeface="Federo"/>
              <a:sym typeface="Federo"/>
            </a:endParaRPr>
          </a:p>
          <a:p>
            <a:pPr marL="0" marR="0" lvl="0" indent="0" algn="just" rtl="0">
              <a:lnSpc>
                <a:spcPct val="80000"/>
              </a:lnSpc>
              <a:spcBef>
                <a:spcPts val="600"/>
              </a:spcBef>
              <a:spcAft>
                <a:spcPts val="0"/>
              </a:spcAft>
              <a:buClr>
                <a:srgbClr val="000000"/>
              </a:buClr>
              <a:buSzPts val="2800"/>
              <a:buFont typeface="Arial"/>
              <a:buNone/>
            </a:pPr>
            <a:r>
              <a:rPr lang="en-US" sz="3000" b="0" i="0" u="none" strike="noStrike" cap="none">
                <a:solidFill>
                  <a:schemeClr val="dk1"/>
                </a:solidFill>
                <a:latin typeface="Federo"/>
                <a:ea typeface="Federo"/>
                <a:cs typeface="Federo"/>
                <a:sym typeface="Federo"/>
              </a:rPr>
              <a:t>Carta berbentuk bar yang menunjukkan susunan langkah-langkah/aktiviti di dalam suatu projek dan masa yang diperuntukkan bagi menyelesaikan setiap langkah/aktiviti tersebut</a:t>
            </a:r>
            <a:endParaRPr sz="3000" b="0" i="0" u="none" strike="noStrike" cap="none">
              <a:solidFill>
                <a:schemeClr val="dk1"/>
              </a:solidFill>
              <a:latin typeface="Federo"/>
              <a:ea typeface="Federo"/>
              <a:cs typeface="Federo"/>
              <a:sym typeface="Federo"/>
            </a:endParaRPr>
          </a:p>
          <a:p>
            <a:pPr marL="271780" marR="0" lvl="0" indent="-271780" algn="just" rtl="0">
              <a:lnSpc>
                <a:spcPct val="80000"/>
              </a:lnSpc>
              <a:spcBef>
                <a:spcPts val="600"/>
              </a:spcBef>
              <a:spcAft>
                <a:spcPts val="0"/>
              </a:spcAft>
              <a:buClr>
                <a:srgbClr val="FE8637"/>
              </a:buClr>
              <a:buSzPts val="1680"/>
              <a:buFont typeface="Calibri"/>
              <a:buNone/>
            </a:pPr>
            <a:endParaRPr sz="3000" b="0" i="0" u="none" strike="noStrike" cap="none">
              <a:solidFill>
                <a:schemeClr val="dk1"/>
              </a:solidFill>
              <a:latin typeface="Federo"/>
              <a:ea typeface="Federo"/>
              <a:cs typeface="Federo"/>
              <a:sym typeface="Federo"/>
            </a:endParaRPr>
          </a:p>
          <a:p>
            <a:pPr marL="271780" marR="0" lvl="0" indent="-271780" algn="just" rtl="0">
              <a:lnSpc>
                <a:spcPct val="80000"/>
              </a:lnSpc>
              <a:spcBef>
                <a:spcPts val="600"/>
              </a:spcBef>
              <a:spcAft>
                <a:spcPts val="0"/>
              </a:spcAft>
              <a:buClr>
                <a:srgbClr val="FE8637"/>
              </a:buClr>
              <a:buSzPts val="1680"/>
              <a:buFont typeface="Tahoma"/>
              <a:buNone/>
            </a:pPr>
            <a:r>
              <a:rPr lang="en-US" sz="3000" b="0" i="0" u="none" strike="noStrike" cap="none">
                <a:solidFill>
                  <a:schemeClr val="dk1"/>
                </a:solidFill>
                <a:latin typeface="Federo"/>
                <a:ea typeface="Federo"/>
                <a:cs typeface="Federo"/>
                <a:sym typeface="Federo"/>
              </a:rPr>
              <a:t>KEGUNAAN:</a:t>
            </a:r>
            <a:endParaRPr sz="30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3000"/>
              <a:buFont typeface="Noto Sans Symbols"/>
              <a:buChar char="❑"/>
            </a:pPr>
            <a:r>
              <a:rPr lang="en-US" sz="3000" b="0" i="0" u="none" strike="noStrike" cap="none">
                <a:solidFill>
                  <a:schemeClr val="dk1"/>
                </a:solidFill>
                <a:latin typeface="Federo"/>
                <a:ea typeface="Federo"/>
                <a:cs typeface="Federo"/>
                <a:sym typeface="Federo"/>
              </a:rPr>
              <a:t>Sebagai panduan dalam melaksanakan projek mengikut masa yang ditetapkan.</a:t>
            </a:r>
            <a:endParaRPr sz="30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3000"/>
              <a:buFont typeface="Noto Sans Symbols"/>
              <a:buChar char="❑"/>
            </a:pPr>
            <a:r>
              <a:rPr lang="en-US" sz="3000" b="0" i="0" u="none" strike="noStrike" cap="none">
                <a:solidFill>
                  <a:schemeClr val="dk1"/>
                </a:solidFill>
                <a:latin typeface="Federo"/>
                <a:ea typeface="Federo"/>
                <a:cs typeface="Federo"/>
                <a:sym typeface="Federo"/>
              </a:rPr>
              <a:t>Merancang kemajuan projek.</a:t>
            </a:r>
            <a:endParaRPr sz="3000" b="0" i="0" u="none" strike="noStrike" cap="none">
              <a:solidFill>
                <a:srgbClr val="000000"/>
              </a:solidFill>
              <a:latin typeface="Federo"/>
              <a:ea typeface="Federo"/>
              <a:cs typeface="Federo"/>
              <a:sym typeface="Federo"/>
            </a:endParaRPr>
          </a:p>
          <a:p>
            <a:pPr marL="457200" marR="0" lvl="0" indent="-457200" algn="just" rtl="0">
              <a:lnSpc>
                <a:spcPct val="80000"/>
              </a:lnSpc>
              <a:spcBef>
                <a:spcPts val="600"/>
              </a:spcBef>
              <a:spcAft>
                <a:spcPts val="0"/>
              </a:spcAft>
              <a:buClr>
                <a:srgbClr val="002060"/>
              </a:buClr>
              <a:buSzPts val="3000"/>
              <a:buFont typeface="Noto Sans Symbols"/>
              <a:buChar char="❑"/>
            </a:pPr>
            <a:r>
              <a:rPr lang="en-US" sz="3000" b="0" i="0" u="none" strike="noStrike" cap="none">
                <a:solidFill>
                  <a:schemeClr val="dk1"/>
                </a:solidFill>
                <a:latin typeface="Federo"/>
                <a:ea typeface="Federo"/>
                <a:cs typeface="Federo"/>
                <a:sym typeface="Federo"/>
              </a:rPr>
              <a:t>Merancang kos pelaksanakan projek.</a:t>
            </a:r>
            <a:endParaRPr sz="30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7"/>
          <p:cNvSpPr txBox="1">
            <a:spLocks noGrp="1"/>
          </p:cNvSpPr>
          <p:nvPr>
            <p:ph type="title"/>
          </p:nvPr>
        </p:nvSpPr>
        <p:spPr>
          <a:xfrm>
            <a:off x="1985962" y="906779"/>
            <a:ext cx="6929437" cy="5143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Tahoma"/>
              <a:buNone/>
            </a:pPr>
            <a:r>
              <a:rPr lang="en-US" sz="2800">
                <a:latin typeface="Arial"/>
                <a:ea typeface="Arial"/>
                <a:cs typeface="Arial"/>
                <a:sym typeface="Arial"/>
              </a:rPr>
              <a:t>Contoh: Proses membuat baju Kurung Butik ZZA yang dirancangkan bagi bulan Februari</a:t>
            </a:r>
            <a:endParaRPr sz="2800">
              <a:latin typeface="Arial"/>
              <a:ea typeface="Arial"/>
              <a:cs typeface="Arial"/>
              <a:sym typeface="Arial"/>
            </a:endParaRPr>
          </a:p>
        </p:txBody>
      </p:sp>
      <p:graphicFrame>
        <p:nvGraphicFramePr>
          <p:cNvPr id="469" name="Google Shape;469;p57"/>
          <p:cNvGraphicFramePr/>
          <p:nvPr/>
        </p:nvGraphicFramePr>
        <p:xfrm>
          <a:off x="2114550" y="2745715"/>
          <a:ext cx="6586525" cy="2590850"/>
        </p:xfrm>
        <a:graphic>
          <a:graphicData uri="http://schemas.openxmlformats.org/drawingml/2006/table">
            <a:tbl>
              <a:tblPr firstRow="1" bandRow="1">
                <a:noFill/>
                <a:tableStyleId>{BD7EC29C-94BD-41CB-ACF4-98CE6906C2BB}</a:tableStyleId>
              </a:tblPr>
              <a:tblGrid>
                <a:gridCol w="2409700">
                  <a:extLst>
                    <a:ext uri="{9D8B030D-6E8A-4147-A177-3AD203B41FA5}">
                      <a16:colId xmlns:a16="http://schemas.microsoft.com/office/drawing/2014/main" val="20000"/>
                    </a:ext>
                  </a:extLst>
                </a:gridCol>
                <a:gridCol w="41768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Kerja</a:t>
                      </a:r>
                      <a:endParaRPr sz="2800" u="none" strike="noStrike" cap="none">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Masa</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800" u="none" strike="noStrike" cap="none">
                          <a:latin typeface="Arial"/>
                          <a:ea typeface="Arial"/>
                          <a:cs typeface="Arial"/>
                          <a:sym typeface="Arial"/>
                        </a:rPr>
                        <a:t>Melakar</a:t>
                      </a:r>
                      <a:endParaRPr sz="2800" b="1"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1/2 – 7/2</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800" u="none" strike="noStrike" cap="none">
                          <a:latin typeface="Arial"/>
                          <a:ea typeface="Arial"/>
                          <a:cs typeface="Arial"/>
                          <a:sym typeface="Arial"/>
                        </a:rPr>
                        <a:t>Menggunting</a:t>
                      </a:r>
                      <a:endParaRPr sz="2800" b="1"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7/2 -14/2</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800" u="none" strike="noStrike" cap="none">
                          <a:latin typeface="Arial"/>
                          <a:ea typeface="Arial"/>
                          <a:cs typeface="Arial"/>
                          <a:sym typeface="Arial"/>
                        </a:rPr>
                        <a:t>Menjahit</a:t>
                      </a:r>
                      <a:endParaRPr sz="2800" b="1"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8/2–21/2</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800" u="none" strike="noStrike" cap="none">
                          <a:latin typeface="Arial"/>
                          <a:ea typeface="Arial"/>
                          <a:cs typeface="Arial"/>
                          <a:sym typeface="Arial"/>
                        </a:rPr>
                        <a:t>Membungkus</a:t>
                      </a:r>
                      <a:endParaRPr sz="2800" b="1"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latin typeface="Arial"/>
                          <a:ea typeface="Arial"/>
                          <a:cs typeface="Arial"/>
                          <a:sym typeface="Arial"/>
                        </a:rPr>
                        <a:t>15/2 – 28/2</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bl>
          </a:graphicData>
        </a:graphic>
      </p:graphicFrame>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8"/>
          <p:cNvSpPr txBox="1">
            <a:spLocks noGrp="1"/>
          </p:cNvSpPr>
          <p:nvPr>
            <p:ph type="title"/>
          </p:nvPr>
        </p:nvSpPr>
        <p:spPr>
          <a:xfrm>
            <a:off x="1043760" y="533400"/>
            <a:ext cx="7952919" cy="759311"/>
          </a:xfrm>
          <a:prstGeom prst="rect">
            <a:avLst/>
          </a:prstGeom>
          <a:noFill/>
          <a:ln>
            <a:noFill/>
          </a:ln>
        </p:spPr>
        <p:txBody>
          <a:bodyPr spcFirstLastPara="1" wrap="square" lIns="90000" tIns="46800" rIns="90000" bIns="46800" anchor="ctr" anchorCtr="0">
            <a:noAutofit/>
          </a:bodyPr>
          <a:lstStyle/>
          <a:p>
            <a:pPr marL="0" lvl="0" indent="0" algn="l" rtl="0">
              <a:lnSpc>
                <a:spcPct val="90000"/>
              </a:lnSpc>
              <a:spcBef>
                <a:spcPts val="0"/>
              </a:spcBef>
              <a:spcAft>
                <a:spcPts val="0"/>
              </a:spcAft>
              <a:buClr>
                <a:srgbClr val="000000"/>
              </a:buClr>
              <a:buSzPts val="2400"/>
              <a:buFont typeface="Tahoma"/>
              <a:buNone/>
            </a:pPr>
            <a:r>
              <a:rPr lang="en-US" sz="2400">
                <a:solidFill>
                  <a:srgbClr val="000000"/>
                </a:solidFill>
                <a:latin typeface="Arial"/>
                <a:ea typeface="Arial"/>
                <a:cs typeface="Arial"/>
                <a:sym typeface="Arial"/>
              </a:rPr>
              <a:t>Carta Gantt : Aktiviti Menyiapkan 500 helai baju Kurung yang  dijangkakan dalam bulan Februari</a:t>
            </a:r>
            <a:endParaRPr>
              <a:latin typeface="Arial"/>
              <a:ea typeface="Arial"/>
              <a:cs typeface="Arial"/>
              <a:sym typeface="Arial"/>
            </a:endParaRPr>
          </a:p>
        </p:txBody>
      </p:sp>
      <p:graphicFrame>
        <p:nvGraphicFramePr>
          <p:cNvPr id="477" name="Google Shape;477;p58"/>
          <p:cNvGraphicFramePr/>
          <p:nvPr/>
        </p:nvGraphicFramePr>
        <p:xfrm>
          <a:off x="1043761" y="1575993"/>
          <a:ext cx="7772400" cy="4389125"/>
        </p:xfrm>
        <a:graphic>
          <a:graphicData uri="http://schemas.openxmlformats.org/drawingml/2006/table">
            <a:tbl>
              <a:tblPr firstRow="1" bandRow="1">
                <a:noFill/>
                <a:tableStyleId>{C41FCEC7-0E8C-47CC-956D-54237296FFD6}</a:tableStyleId>
              </a:tblPr>
              <a:tblGrid>
                <a:gridCol w="2201500">
                  <a:extLst>
                    <a:ext uri="{9D8B030D-6E8A-4147-A177-3AD203B41FA5}">
                      <a16:colId xmlns:a16="http://schemas.microsoft.com/office/drawing/2014/main" val="20000"/>
                    </a:ext>
                  </a:extLst>
                </a:gridCol>
                <a:gridCol w="1272850">
                  <a:extLst>
                    <a:ext uri="{9D8B030D-6E8A-4147-A177-3AD203B41FA5}">
                      <a16:colId xmlns:a16="http://schemas.microsoft.com/office/drawing/2014/main" val="20001"/>
                    </a:ext>
                  </a:extLst>
                </a:gridCol>
                <a:gridCol w="1255425">
                  <a:extLst>
                    <a:ext uri="{9D8B030D-6E8A-4147-A177-3AD203B41FA5}">
                      <a16:colId xmlns:a16="http://schemas.microsoft.com/office/drawing/2014/main" val="20002"/>
                    </a:ext>
                  </a:extLst>
                </a:gridCol>
                <a:gridCol w="1002575">
                  <a:extLst>
                    <a:ext uri="{9D8B030D-6E8A-4147-A177-3AD203B41FA5}">
                      <a16:colId xmlns:a16="http://schemas.microsoft.com/office/drawing/2014/main" val="20003"/>
                    </a:ext>
                  </a:extLst>
                </a:gridCol>
                <a:gridCol w="1020025">
                  <a:extLst>
                    <a:ext uri="{9D8B030D-6E8A-4147-A177-3AD203B41FA5}">
                      <a16:colId xmlns:a16="http://schemas.microsoft.com/office/drawing/2014/main" val="20004"/>
                    </a:ext>
                  </a:extLst>
                </a:gridCol>
                <a:gridCol w="1020025">
                  <a:extLst>
                    <a:ext uri="{9D8B030D-6E8A-4147-A177-3AD203B41FA5}">
                      <a16:colId xmlns:a16="http://schemas.microsoft.com/office/drawing/2014/main" val="20005"/>
                    </a:ext>
                  </a:extLst>
                </a:gridCol>
              </a:tblGrid>
              <a:tr h="778925">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Arial"/>
                          <a:ea typeface="Arial"/>
                          <a:cs typeface="Arial"/>
                          <a:sym typeface="Arial"/>
                        </a:rPr>
                        <a:t>Tarikh</a:t>
                      </a:r>
                      <a:endParaRPr sz="20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Arial"/>
                          <a:ea typeface="Arial"/>
                          <a:cs typeface="Arial"/>
                          <a:sym typeface="Arial"/>
                        </a:rPr>
                        <a:t> /Aktiviti</a:t>
                      </a: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451275">
                <a:tc rowSpan="2">
                  <a:txBody>
                    <a:bodyPr/>
                    <a:lstStyle/>
                    <a:p>
                      <a:pPr marL="0" marR="0" lvl="0" indent="0" algn="l" rtl="0">
                        <a:lnSpc>
                          <a:spcPct val="100000"/>
                        </a:lnSpc>
                        <a:spcBef>
                          <a:spcPts val="0"/>
                        </a:spcBef>
                        <a:spcAft>
                          <a:spcPts val="0"/>
                        </a:spcAft>
                        <a:buClr>
                          <a:schemeClr val="dk1"/>
                        </a:buClr>
                        <a:buSzPts val="2400"/>
                        <a:buFont typeface="Arial"/>
                        <a:buNone/>
                      </a:pPr>
                      <a:r>
                        <a:rPr lang="en-US" sz="2000" u="none" strike="noStrike" cap="none">
                          <a:latin typeface="Arial"/>
                          <a:ea typeface="Arial"/>
                          <a:cs typeface="Arial"/>
                          <a:sym typeface="Arial"/>
                        </a:rPr>
                        <a:t>Melakar</a:t>
                      </a:r>
                      <a:endParaRPr sz="2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solidFill>
                      <a:srgbClr val="FF0000"/>
                    </a:solidFill>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4512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451275">
                <a:tc rowSpan="2">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Arial"/>
                          <a:ea typeface="Arial"/>
                          <a:cs typeface="Arial"/>
                          <a:sym typeface="Arial"/>
                        </a:rPr>
                        <a:t>Menggunting</a:t>
                      </a: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solidFill>
                      <a:srgbClr val="FF0000"/>
                    </a:solidFill>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4512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r h="451275">
                <a:tc rowSpan="2">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Arial"/>
                          <a:ea typeface="Arial"/>
                          <a:cs typeface="Arial"/>
                          <a:sym typeface="Arial"/>
                        </a:rPr>
                        <a:t>Menjahit</a:t>
                      </a: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solidFill>
                      <a:srgbClr val="FF0000"/>
                    </a:solidFill>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5"/>
                  </a:ext>
                </a:extLst>
              </a:tr>
              <a:tr h="4512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6"/>
                  </a:ext>
                </a:extLst>
              </a:tr>
              <a:tr h="451275">
                <a:tc rowSpan="2">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Arial"/>
                          <a:ea typeface="Arial"/>
                          <a:cs typeface="Arial"/>
                          <a:sym typeface="Arial"/>
                        </a:rPr>
                        <a:t>Membungkus</a:t>
                      </a: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solidFill>
                      <a:srgbClr val="FF0000"/>
                    </a:solidFill>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7"/>
                  </a:ext>
                </a:extLst>
              </a:tr>
              <a:tr h="4512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8"/>
                  </a:ext>
                </a:extLst>
              </a:tr>
            </a:tbl>
          </a:graphicData>
        </a:graphic>
      </p:graphicFrame>
      <p:sp>
        <p:nvSpPr>
          <p:cNvPr id="478" name="Google Shape;478;p58"/>
          <p:cNvSpPr txBox="1"/>
          <p:nvPr/>
        </p:nvSpPr>
        <p:spPr>
          <a:xfrm>
            <a:off x="3445502" y="6248400"/>
            <a:ext cx="2362200"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 </a:t>
            </a:r>
            <a:r>
              <a:rPr lang="en-US" sz="2400" b="0" i="0" u="none" strike="noStrike" cap="none">
                <a:solidFill>
                  <a:schemeClr val="dk1"/>
                </a:solidFill>
                <a:latin typeface="Arial"/>
                <a:ea typeface="Arial"/>
                <a:cs typeface="Arial"/>
                <a:sym typeface="Arial"/>
              </a:rPr>
              <a:t>Perancangan</a:t>
            </a:r>
            <a:endParaRPr sz="2400" b="0" i="0" u="none" strike="noStrike" cap="none">
              <a:solidFill>
                <a:schemeClr val="dk1"/>
              </a:solidFill>
              <a:latin typeface="Arial"/>
              <a:ea typeface="Arial"/>
              <a:cs typeface="Arial"/>
              <a:sym typeface="Arial"/>
            </a:endParaRPr>
          </a:p>
        </p:txBody>
      </p:sp>
      <p:sp>
        <p:nvSpPr>
          <p:cNvPr id="479" name="Google Shape;479;p58"/>
          <p:cNvSpPr/>
          <p:nvPr/>
        </p:nvSpPr>
        <p:spPr>
          <a:xfrm>
            <a:off x="2833046" y="6430447"/>
            <a:ext cx="426719" cy="216932"/>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0" name="Google Shape;480;p58"/>
          <p:cNvSpPr txBox="1"/>
          <p:nvPr/>
        </p:nvSpPr>
        <p:spPr>
          <a:xfrm>
            <a:off x="2963847" y="1963339"/>
            <a:ext cx="769089"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1/2</a:t>
            </a:r>
            <a:endParaRPr sz="1400" b="0" i="0" u="none" strike="noStrike" cap="none">
              <a:solidFill>
                <a:srgbClr val="000000"/>
              </a:solidFill>
              <a:latin typeface="Arial"/>
              <a:ea typeface="Arial"/>
              <a:cs typeface="Arial"/>
              <a:sym typeface="Arial"/>
            </a:endParaRPr>
          </a:p>
        </p:txBody>
      </p:sp>
      <p:sp>
        <p:nvSpPr>
          <p:cNvPr id="481" name="Google Shape;481;p58"/>
          <p:cNvSpPr txBox="1"/>
          <p:nvPr/>
        </p:nvSpPr>
        <p:spPr>
          <a:xfrm>
            <a:off x="4242057" y="1963339"/>
            <a:ext cx="769089"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7/2</a:t>
            </a:r>
            <a:endParaRPr sz="1400" b="0" i="0" u="none" strike="noStrike" cap="none">
              <a:solidFill>
                <a:srgbClr val="000000"/>
              </a:solidFill>
              <a:latin typeface="Arial"/>
              <a:ea typeface="Arial"/>
              <a:cs typeface="Arial"/>
              <a:sym typeface="Arial"/>
            </a:endParaRPr>
          </a:p>
        </p:txBody>
      </p:sp>
      <p:sp>
        <p:nvSpPr>
          <p:cNvPr id="482" name="Google Shape;482;p58"/>
          <p:cNvSpPr txBox="1"/>
          <p:nvPr/>
        </p:nvSpPr>
        <p:spPr>
          <a:xfrm>
            <a:off x="5373203" y="1974651"/>
            <a:ext cx="769089"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14/2</a:t>
            </a:r>
            <a:endParaRPr sz="1400" b="0" i="0" u="none" strike="noStrike" cap="none">
              <a:solidFill>
                <a:srgbClr val="000000"/>
              </a:solidFill>
              <a:latin typeface="Arial"/>
              <a:ea typeface="Arial"/>
              <a:cs typeface="Arial"/>
              <a:sym typeface="Arial"/>
            </a:endParaRPr>
          </a:p>
        </p:txBody>
      </p:sp>
      <p:sp>
        <p:nvSpPr>
          <p:cNvPr id="483" name="Google Shape;483;p58"/>
          <p:cNvSpPr txBox="1"/>
          <p:nvPr/>
        </p:nvSpPr>
        <p:spPr>
          <a:xfrm>
            <a:off x="6442996" y="1974651"/>
            <a:ext cx="769089"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21/2</a:t>
            </a:r>
            <a:endParaRPr sz="1400" b="0" i="0" u="none" strike="noStrike" cap="none">
              <a:solidFill>
                <a:srgbClr val="000000"/>
              </a:solidFill>
              <a:latin typeface="Arial"/>
              <a:ea typeface="Arial"/>
              <a:cs typeface="Arial"/>
              <a:sym typeface="Arial"/>
            </a:endParaRPr>
          </a:p>
        </p:txBody>
      </p:sp>
      <p:sp>
        <p:nvSpPr>
          <p:cNvPr id="484" name="Google Shape;484;p58"/>
          <p:cNvSpPr txBox="1"/>
          <p:nvPr/>
        </p:nvSpPr>
        <p:spPr>
          <a:xfrm>
            <a:off x="7454640" y="1974651"/>
            <a:ext cx="769089"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28/2</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2" name="Google Shape;492;p59"/>
          <p:cNvSpPr txBox="1"/>
          <p:nvPr/>
        </p:nvSpPr>
        <p:spPr>
          <a:xfrm>
            <a:off x="377073" y="189796"/>
            <a:ext cx="8625526" cy="6013041"/>
          </a:xfrm>
          <a:prstGeom prst="rect">
            <a:avLst/>
          </a:prstGeom>
          <a:solidFill>
            <a:srgbClr val="DDEAF6"/>
          </a:solid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600" b="1" i="0" u="none" strike="noStrike" cap="none" dirty="0">
                <a:solidFill>
                  <a:srgbClr val="262626"/>
                </a:solidFill>
                <a:latin typeface="Federo"/>
                <a:ea typeface="Federo"/>
                <a:cs typeface="Federo"/>
                <a:sym typeface="Federo"/>
              </a:rPr>
              <a:t>iv.   Carta PERT</a:t>
            </a:r>
            <a:endParaRPr sz="2600" b="0" i="0" u="none" strike="noStrike" cap="none" dirty="0">
              <a:solidFill>
                <a:srgbClr val="262626"/>
              </a:solidFill>
              <a:latin typeface="Federo"/>
              <a:ea typeface="Federo"/>
              <a:cs typeface="Federo"/>
              <a:sym typeface="Federo"/>
            </a:endParaRPr>
          </a:p>
          <a:p>
            <a:pPr marL="342900" marR="0" lvl="0" indent="-342900" algn="just" rtl="0">
              <a:lnSpc>
                <a:spcPct val="100000"/>
              </a:lnSpc>
              <a:spcBef>
                <a:spcPts val="0"/>
              </a:spcBef>
              <a:spcAft>
                <a:spcPts val="0"/>
              </a:spcAft>
              <a:buClr>
                <a:srgbClr val="FE8637"/>
              </a:buClr>
              <a:buSzPts val="1680"/>
              <a:buFont typeface="Arial"/>
              <a:buChar char="•"/>
            </a:pPr>
            <a:r>
              <a:rPr lang="en-US" sz="2600" b="0" i="0" u="none" strike="noStrike" cap="none" dirty="0" err="1">
                <a:solidFill>
                  <a:srgbClr val="262626"/>
                </a:solidFill>
                <a:latin typeface="Federo"/>
                <a:ea typeface="Federo"/>
                <a:cs typeface="Federo"/>
                <a:sym typeface="Federo"/>
              </a:rPr>
              <a:t>Ialah</a:t>
            </a:r>
            <a:r>
              <a:rPr lang="en-US" sz="2600" b="0" i="0" u="none" strike="noStrike" cap="none" dirty="0">
                <a:solidFill>
                  <a:srgbClr val="262626"/>
                </a:solidFill>
                <a:latin typeface="Federo"/>
                <a:ea typeface="Federo"/>
                <a:cs typeface="Federo"/>
                <a:sym typeface="Federo"/>
              </a:rPr>
              <a:t> </a:t>
            </a:r>
            <a:r>
              <a:rPr lang="en-US" sz="2600" b="0" i="0" u="none" strike="noStrike" cap="none" dirty="0">
                <a:solidFill>
                  <a:srgbClr val="7030A0"/>
                </a:solidFill>
                <a:latin typeface="Federo"/>
                <a:ea typeface="Federo"/>
                <a:cs typeface="Federo"/>
                <a:sym typeface="Federo"/>
              </a:rPr>
              <a:t>rajah yang </a:t>
            </a:r>
            <a:r>
              <a:rPr lang="en-US" sz="2600" b="0" i="0" u="none" strike="noStrike" cap="none" dirty="0" err="1">
                <a:solidFill>
                  <a:srgbClr val="7030A0"/>
                </a:solidFill>
                <a:latin typeface="Federo"/>
                <a:ea typeface="Federo"/>
                <a:cs typeface="Federo"/>
                <a:sym typeface="Federo"/>
              </a:rPr>
              <a:t>menggunakan</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garisan</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bagi</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mewakili</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turutan</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aktiviti-aktiviti</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dan</a:t>
            </a:r>
            <a:r>
              <a:rPr lang="en-US" sz="2600" b="0" i="0" u="none" strike="noStrike" cap="none" dirty="0">
                <a:solidFill>
                  <a:srgbClr val="7030A0"/>
                </a:solidFill>
                <a:latin typeface="Federo"/>
                <a:ea typeface="Federo"/>
                <a:cs typeface="Federo"/>
                <a:sym typeface="Federo"/>
              </a:rPr>
              <a:t> masa yang </a:t>
            </a:r>
            <a:r>
              <a:rPr lang="en-US" sz="2600" b="0" i="0" u="none" strike="noStrike" cap="none" dirty="0" err="1">
                <a:solidFill>
                  <a:srgbClr val="7030A0"/>
                </a:solidFill>
                <a:latin typeface="Federo"/>
                <a:ea typeface="Federo"/>
                <a:cs typeface="Federo"/>
                <a:sym typeface="Federo"/>
              </a:rPr>
              <a:t>diperuntukkan</a:t>
            </a:r>
            <a:r>
              <a:rPr lang="en-US" sz="2600" b="0" i="0" u="none" strike="noStrike" cap="none" dirty="0">
                <a:solidFill>
                  <a:srgbClr val="7030A0"/>
                </a:solidFill>
                <a:latin typeface="Federo"/>
                <a:ea typeface="Federo"/>
                <a:cs typeface="Federo"/>
                <a:sym typeface="Federo"/>
              </a:rPr>
              <a:t> di </a:t>
            </a:r>
            <a:r>
              <a:rPr lang="en-US" sz="2600" b="0" i="0" u="none" strike="noStrike" cap="none" dirty="0" err="1">
                <a:solidFill>
                  <a:srgbClr val="7030A0"/>
                </a:solidFill>
                <a:latin typeface="Federo"/>
                <a:ea typeface="Federo"/>
                <a:cs typeface="Federo"/>
                <a:sym typeface="Federo"/>
              </a:rPr>
              <a:t>dalam</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menyiapkan</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sesuatu</a:t>
            </a:r>
            <a:r>
              <a:rPr lang="en-US" sz="2600" b="0" i="0" u="none" strike="noStrike" cap="none" dirty="0">
                <a:solidFill>
                  <a:srgbClr val="7030A0"/>
                </a:solidFill>
                <a:latin typeface="Federo"/>
                <a:ea typeface="Federo"/>
                <a:cs typeface="Federo"/>
                <a:sym typeface="Federo"/>
              </a:rPr>
              <a:t> </a:t>
            </a:r>
            <a:r>
              <a:rPr lang="en-US" sz="2600" b="0" i="0" u="none" strike="noStrike" cap="none" dirty="0" err="1">
                <a:solidFill>
                  <a:srgbClr val="7030A0"/>
                </a:solidFill>
                <a:latin typeface="Federo"/>
                <a:ea typeface="Federo"/>
                <a:cs typeface="Federo"/>
                <a:sym typeface="Federo"/>
              </a:rPr>
              <a:t>projek</a:t>
            </a:r>
            <a:r>
              <a:rPr lang="en-US" sz="2600" b="0" i="0" u="none" strike="noStrike" cap="none" dirty="0">
                <a:solidFill>
                  <a:srgbClr val="7030A0"/>
                </a:solidFill>
                <a:latin typeface="Federo"/>
                <a:ea typeface="Federo"/>
                <a:cs typeface="Federo"/>
                <a:sym typeface="Federo"/>
              </a:rPr>
              <a:t> </a:t>
            </a:r>
            <a:r>
              <a:rPr lang="en-US" sz="2600" b="0" i="0" u="none" strike="noStrike" cap="none" dirty="0">
                <a:solidFill>
                  <a:srgbClr val="262626"/>
                </a:solidFill>
                <a:latin typeface="Federo"/>
                <a:ea typeface="Federo"/>
                <a:cs typeface="Federo"/>
                <a:sym typeface="Federo"/>
              </a:rPr>
              <a:t>di mana </a:t>
            </a:r>
            <a:r>
              <a:rPr lang="en-US" sz="2600" b="0" i="0" u="none" strike="noStrike" cap="none" dirty="0" err="1">
                <a:solidFill>
                  <a:srgbClr val="262626"/>
                </a:solidFill>
                <a:latin typeface="Federo"/>
                <a:ea typeface="Federo"/>
                <a:cs typeface="Federo"/>
                <a:sym typeface="Federo"/>
              </a:rPr>
              <a:t>melaluinya</a:t>
            </a:r>
            <a:r>
              <a:rPr lang="en-US" sz="2600" b="0" i="0" u="none" strike="noStrike" cap="none" dirty="0">
                <a:solidFill>
                  <a:srgbClr val="262626"/>
                </a:solidFill>
                <a:latin typeface="Federo"/>
                <a:ea typeface="Federo"/>
                <a:cs typeface="Federo"/>
                <a:sym typeface="Federo"/>
              </a:rPr>
              <a:t> masa </a:t>
            </a:r>
            <a:r>
              <a:rPr lang="en-US" sz="2600" b="0" i="0" u="none" strike="noStrike" cap="none" dirty="0" err="1">
                <a:solidFill>
                  <a:srgbClr val="262626"/>
                </a:solidFill>
                <a:latin typeface="Federo"/>
                <a:ea typeface="Federo"/>
                <a:cs typeface="Federo"/>
                <a:sym typeface="Federo"/>
              </a:rPr>
              <a:t>terpanjang</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laluan</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genting</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projek</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dapat</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disiapkan</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boleh</a:t>
            </a:r>
            <a:r>
              <a:rPr lang="en-US" sz="2600" b="0" i="0" u="none" strike="noStrike" cap="none" dirty="0">
                <a:solidFill>
                  <a:srgbClr val="262626"/>
                </a:solidFill>
                <a:latin typeface="Federo"/>
                <a:ea typeface="Federo"/>
                <a:cs typeface="Federo"/>
                <a:sym typeface="Federo"/>
              </a:rPr>
              <a:t> </a:t>
            </a:r>
            <a:r>
              <a:rPr lang="en-US" sz="2600" b="0" i="0" u="none" strike="noStrike" cap="none" dirty="0" err="1">
                <a:solidFill>
                  <a:srgbClr val="262626"/>
                </a:solidFill>
                <a:latin typeface="Federo"/>
                <a:ea typeface="Federo"/>
                <a:cs typeface="Federo"/>
                <a:sym typeface="Federo"/>
              </a:rPr>
              <a:t>diketahui</a:t>
            </a:r>
            <a:r>
              <a:rPr lang="en-US" sz="2600" b="0" i="0" u="none" strike="noStrike" cap="none" dirty="0">
                <a:solidFill>
                  <a:srgbClr val="262626"/>
                </a:solidFill>
                <a:latin typeface="Federo"/>
                <a:ea typeface="Federo"/>
                <a:cs typeface="Federo"/>
                <a:sym typeface="Federo"/>
              </a:rPr>
              <a:t>.</a:t>
            </a:r>
            <a:endParaRPr sz="2600" b="0" i="0" u="none" strike="noStrike" cap="none" dirty="0">
              <a:solidFill>
                <a:srgbClr val="000000"/>
              </a:solidFill>
              <a:latin typeface="Federo"/>
              <a:ea typeface="Federo"/>
              <a:cs typeface="Federo"/>
              <a:sym typeface="Federo"/>
            </a:endParaRPr>
          </a:p>
          <a:p>
            <a:pPr marL="342900" marR="0" lvl="0" indent="-342900" algn="just" rtl="0">
              <a:lnSpc>
                <a:spcPct val="100000"/>
              </a:lnSpc>
              <a:spcBef>
                <a:spcPts val="0"/>
              </a:spcBef>
              <a:spcAft>
                <a:spcPts val="0"/>
              </a:spcAft>
              <a:buClr>
                <a:srgbClr val="000000"/>
              </a:buClr>
              <a:buSzPts val="2400"/>
              <a:buFont typeface="Arial"/>
              <a:buNone/>
            </a:pPr>
            <a:r>
              <a:rPr lang="en-US" sz="2600" b="1" i="0" u="none" strike="noStrike" cap="none" dirty="0" err="1">
                <a:solidFill>
                  <a:srgbClr val="00B050"/>
                </a:solidFill>
                <a:latin typeface="Federo"/>
                <a:ea typeface="Federo"/>
                <a:cs typeface="Federo"/>
                <a:sym typeface="Federo"/>
              </a:rPr>
              <a:t>Kegunaan</a:t>
            </a:r>
            <a:r>
              <a:rPr lang="en-US" sz="2600" b="1" i="0" u="none" strike="noStrike" cap="none" dirty="0">
                <a:solidFill>
                  <a:srgbClr val="00B050"/>
                </a:solidFill>
                <a:latin typeface="Federo"/>
                <a:ea typeface="Federo"/>
                <a:cs typeface="Federo"/>
                <a:sym typeface="Federo"/>
              </a:rPr>
              <a:t>:</a:t>
            </a:r>
            <a:endParaRPr sz="2600" b="1" i="0" u="none" strike="noStrike" cap="none" dirty="0">
              <a:solidFill>
                <a:srgbClr val="00B050"/>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600"/>
              <a:buFont typeface="Noto Sans Symbols"/>
              <a:buChar char="❑"/>
            </a:pPr>
            <a:r>
              <a:rPr lang="en-US" sz="2600" b="0" i="0" u="none" strike="noStrike" cap="none" dirty="0" err="1">
                <a:solidFill>
                  <a:schemeClr val="dk1"/>
                </a:solidFill>
                <a:latin typeface="Federo"/>
                <a:ea typeface="Federo"/>
                <a:cs typeface="Federo"/>
                <a:sym typeface="Federo"/>
              </a:rPr>
              <a:t>Merancang</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kemajuan</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projek</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dari</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segi</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tempoh</a:t>
            </a:r>
            <a:r>
              <a:rPr lang="en-US" sz="2600" b="0" i="0" u="none" strike="noStrike" cap="none" dirty="0">
                <a:solidFill>
                  <a:schemeClr val="dk1"/>
                </a:solidFill>
                <a:latin typeface="Federo"/>
                <a:ea typeface="Federo"/>
                <a:cs typeface="Federo"/>
                <a:sym typeface="Federo"/>
              </a:rPr>
              <a:t> masa yang </a:t>
            </a:r>
            <a:r>
              <a:rPr lang="en-US" sz="2600" b="0" i="0" u="none" strike="noStrike" cap="none" dirty="0" err="1">
                <a:solidFill>
                  <a:schemeClr val="dk1"/>
                </a:solidFill>
                <a:latin typeface="Federo"/>
                <a:ea typeface="Federo"/>
                <a:cs typeface="Federo"/>
                <a:sym typeface="Federo"/>
              </a:rPr>
              <a:t>diperlukan</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untuk</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menyiapkan</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sesuatu</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aktiviti</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dalam</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projek</a:t>
            </a:r>
            <a:r>
              <a:rPr lang="en-US" sz="2600" b="0" i="0" u="none" strike="noStrike" cap="none" dirty="0">
                <a:solidFill>
                  <a:schemeClr val="dk1"/>
                </a:solidFill>
                <a:latin typeface="Federo"/>
                <a:ea typeface="Federo"/>
                <a:cs typeface="Federo"/>
                <a:sym typeface="Federo"/>
              </a:rPr>
              <a:t>.</a:t>
            </a:r>
            <a:endParaRPr sz="2600" b="0" i="0" u="none" strike="noStrike" cap="none" dirty="0">
              <a:solidFill>
                <a:schemeClr val="dk1"/>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600"/>
              <a:buFont typeface="Noto Sans Symbols"/>
              <a:buChar char="❑"/>
            </a:pPr>
            <a:r>
              <a:rPr lang="en-US" sz="2600" b="0" i="0" u="none" strike="noStrike" cap="none" dirty="0" err="1">
                <a:solidFill>
                  <a:schemeClr val="dk1"/>
                </a:solidFill>
                <a:latin typeface="Federo"/>
                <a:ea typeface="Federo"/>
                <a:cs typeface="Federo"/>
                <a:sym typeface="Federo"/>
              </a:rPr>
              <a:t>Merancang</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kos</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pelaksanaan</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projek</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berdasarkan</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tempoh</a:t>
            </a:r>
            <a:r>
              <a:rPr lang="en-US" sz="2600" b="0" i="0" u="none" strike="noStrike" cap="none" dirty="0">
                <a:solidFill>
                  <a:schemeClr val="dk1"/>
                </a:solidFill>
                <a:latin typeface="Federo"/>
                <a:ea typeface="Federo"/>
                <a:cs typeface="Federo"/>
                <a:sym typeface="Federo"/>
              </a:rPr>
              <a:t> masa </a:t>
            </a:r>
            <a:r>
              <a:rPr lang="en-US" sz="2600" b="0" i="0" u="none" strike="noStrike" cap="none" dirty="0" err="1">
                <a:solidFill>
                  <a:schemeClr val="dk1"/>
                </a:solidFill>
                <a:latin typeface="Federo"/>
                <a:ea typeface="Federo"/>
                <a:cs typeface="Federo"/>
                <a:sym typeface="Federo"/>
              </a:rPr>
              <a:t>penyiapan</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projek</a:t>
            </a:r>
            <a:r>
              <a:rPr lang="en-US" sz="2600" b="0" i="0" u="none" strike="noStrike" cap="none" dirty="0">
                <a:solidFill>
                  <a:schemeClr val="dk1"/>
                </a:solidFill>
                <a:latin typeface="Federo"/>
                <a:ea typeface="Federo"/>
                <a:cs typeface="Federo"/>
                <a:sym typeface="Federo"/>
              </a:rPr>
              <a:t>.</a:t>
            </a:r>
            <a:endParaRPr sz="2600" b="0" i="0" u="none" strike="noStrike" cap="none" dirty="0">
              <a:solidFill>
                <a:schemeClr val="dk1"/>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600"/>
              <a:buFont typeface="Noto Sans Symbols"/>
              <a:buChar char="❑"/>
            </a:pPr>
            <a:r>
              <a:rPr lang="en-US" sz="2600" b="0" i="0" u="none" strike="noStrike" cap="none" dirty="0" err="1">
                <a:solidFill>
                  <a:schemeClr val="dk1"/>
                </a:solidFill>
                <a:latin typeface="Federo"/>
                <a:ea typeface="Federo"/>
                <a:cs typeface="Federo"/>
                <a:sym typeface="Federo"/>
              </a:rPr>
              <a:t>Sebagai</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panduan</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dalam</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melaksanakan</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projek</a:t>
            </a:r>
            <a:r>
              <a:rPr lang="en-US" sz="2600" b="0" i="0" u="none" strike="noStrike" cap="none" dirty="0">
                <a:solidFill>
                  <a:srgbClr val="C00000"/>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mengikut</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rancangan</a:t>
            </a:r>
            <a:r>
              <a:rPr lang="en-US" sz="2600" b="0" i="0" u="none" strike="noStrike" cap="none" dirty="0">
                <a:solidFill>
                  <a:schemeClr val="dk1"/>
                </a:solidFill>
                <a:latin typeface="Federo"/>
                <a:ea typeface="Federo"/>
                <a:cs typeface="Federo"/>
                <a:sym typeface="Federo"/>
              </a:rPr>
              <a:t> masa yang </a:t>
            </a:r>
            <a:r>
              <a:rPr lang="en-US" sz="2600" b="0" i="0" u="none" strike="noStrike" cap="none" dirty="0" err="1">
                <a:solidFill>
                  <a:schemeClr val="dk1"/>
                </a:solidFill>
                <a:latin typeface="Federo"/>
                <a:ea typeface="Federo"/>
                <a:cs typeface="Federo"/>
                <a:sym typeface="Federo"/>
              </a:rPr>
              <a:t>ditetapkan</a:t>
            </a:r>
            <a:r>
              <a:rPr lang="en-US" sz="2600" b="0" i="0" u="none" strike="noStrike" cap="none" dirty="0">
                <a:solidFill>
                  <a:schemeClr val="dk1"/>
                </a:solidFill>
                <a:latin typeface="Federo"/>
                <a:ea typeface="Federo"/>
                <a:cs typeface="Federo"/>
                <a:sym typeface="Federo"/>
              </a:rPr>
              <a:t>.</a:t>
            </a:r>
            <a:endParaRPr sz="2600" b="0" i="0" u="none" strike="noStrike" cap="none" dirty="0">
              <a:solidFill>
                <a:schemeClr val="dk1"/>
              </a:solidFill>
              <a:latin typeface="Federo"/>
              <a:ea typeface="Federo"/>
              <a:cs typeface="Federo"/>
              <a:sym typeface="Federo"/>
            </a:endParaRPr>
          </a:p>
          <a:p>
            <a:pPr marL="457200" marR="0" lvl="0" indent="-457200" algn="just" rtl="0">
              <a:lnSpc>
                <a:spcPct val="100000"/>
              </a:lnSpc>
              <a:spcBef>
                <a:spcPts val="0"/>
              </a:spcBef>
              <a:spcAft>
                <a:spcPts val="0"/>
              </a:spcAft>
              <a:buClr>
                <a:srgbClr val="002060"/>
              </a:buClr>
              <a:buSzPts val="2600"/>
              <a:buFont typeface="Noto Sans Symbols"/>
              <a:buChar char="❑"/>
            </a:pPr>
            <a:r>
              <a:rPr lang="en-US" sz="2600" b="0" i="0" u="none" strike="noStrike" cap="none" dirty="0" err="1">
                <a:solidFill>
                  <a:schemeClr val="dk1"/>
                </a:solidFill>
                <a:latin typeface="Federo"/>
                <a:ea typeface="Federo"/>
                <a:cs typeface="Federo"/>
                <a:sym typeface="Federo"/>
              </a:rPr>
              <a:t>Merancang</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rgbClr val="C00000"/>
                </a:solidFill>
                <a:latin typeface="Federo"/>
                <a:ea typeface="Federo"/>
                <a:cs typeface="Federo"/>
                <a:sym typeface="Federo"/>
              </a:rPr>
              <a:t>kegiatan</a:t>
            </a:r>
            <a:r>
              <a:rPr lang="en-US" sz="2600" b="0" i="0" u="none" strike="noStrike" cap="none" dirty="0">
                <a:solidFill>
                  <a:srgbClr val="C00000"/>
                </a:solidFill>
                <a:latin typeface="Federo"/>
                <a:ea typeface="Federo"/>
                <a:cs typeface="Federo"/>
                <a:sym typeface="Federo"/>
              </a:rPr>
              <a:t> yang </a:t>
            </a:r>
            <a:r>
              <a:rPr lang="en-US" sz="2600" b="0" i="0" u="none" strike="noStrike" cap="none" dirty="0" err="1">
                <a:solidFill>
                  <a:srgbClr val="C00000"/>
                </a:solidFill>
                <a:latin typeface="Federo"/>
                <a:ea typeface="Federo"/>
                <a:cs typeface="Federo"/>
                <a:sym typeface="Federo"/>
              </a:rPr>
              <a:t>penting</a:t>
            </a:r>
            <a:r>
              <a:rPr lang="en-US" sz="2600" b="0" i="0" u="none" strike="noStrike" cap="none" dirty="0">
                <a:solidFill>
                  <a:srgbClr val="C00000"/>
                </a:solidFill>
                <a:latin typeface="Federo"/>
                <a:ea typeface="Federo"/>
                <a:cs typeface="Federo"/>
                <a:sym typeface="Federo"/>
              </a:rPr>
              <a:t> </a:t>
            </a:r>
            <a:r>
              <a:rPr lang="en-US" sz="2600" b="0" i="0" u="none" strike="noStrike" cap="none" dirty="0">
                <a:solidFill>
                  <a:schemeClr val="dk1"/>
                </a:solidFill>
                <a:latin typeface="Federo"/>
                <a:ea typeface="Federo"/>
                <a:cs typeface="Federo"/>
                <a:sym typeface="Federo"/>
              </a:rPr>
              <a:t>yang </a:t>
            </a:r>
            <a:r>
              <a:rPr lang="en-US" sz="2600" b="0" i="0" u="none" strike="noStrike" cap="none" dirty="0" err="1">
                <a:solidFill>
                  <a:schemeClr val="dk1"/>
                </a:solidFill>
                <a:latin typeface="Federo"/>
                <a:ea typeface="Federo"/>
                <a:cs typeface="Federo"/>
                <a:sym typeface="Federo"/>
              </a:rPr>
              <a:t>perlu</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dilaksanakan</a:t>
            </a:r>
            <a:r>
              <a:rPr lang="en-US" sz="2600" b="0" i="0" u="none" strike="noStrike" cap="none" dirty="0">
                <a:solidFill>
                  <a:schemeClr val="dk1"/>
                </a:solidFill>
                <a:latin typeface="Federo"/>
                <a:ea typeface="Federo"/>
                <a:cs typeface="Federo"/>
                <a:sym typeface="Federo"/>
              </a:rPr>
              <a:t> </a:t>
            </a:r>
            <a:r>
              <a:rPr lang="en-US" sz="2600" b="0" i="0" u="none" strike="noStrike" cap="none" dirty="0" err="1">
                <a:solidFill>
                  <a:schemeClr val="dk1"/>
                </a:solidFill>
                <a:latin typeface="Federo"/>
                <a:ea typeface="Federo"/>
                <a:cs typeface="Federo"/>
                <a:sym typeface="Federo"/>
              </a:rPr>
              <a:t>dahulu</a:t>
            </a:r>
            <a:r>
              <a:rPr lang="en-US" sz="2600" b="0" i="0" u="none" strike="noStrike" cap="none" dirty="0">
                <a:solidFill>
                  <a:schemeClr val="dk1"/>
                </a:solidFill>
                <a:latin typeface="Federo"/>
                <a:ea typeface="Federo"/>
                <a:cs typeface="Federo"/>
                <a:sym typeface="Federo"/>
              </a:rPr>
              <a:t>. </a:t>
            </a:r>
            <a:endParaRPr sz="2600" b="0" i="0" u="none" strike="noStrike" cap="none" dirty="0">
              <a:solidFill>
                <a:schemeClr val="dk1"/>
              </a:solidFill>
              <a:latin typeface="Federo"/>
              <a:ea typeface="Federo"/>
              <a:cs typeface="Federo"/>
              <a:sym typeface="Federo"/>
            </a:endParaRPr>
          </a:p>
          <a:p>
            <a:pPr marL="0" marR="0" lvl="0" indent="0" algn="just" rtl="0">
              <a:lnSpc>
                <a:spcPct val="100000"/>
              </a:lnSpc>
              <a:spcBef>
                <a:spcPts val="0"/>
              </a:spcBef>
              <a:spcAft>
                <a:spcPts val="0"/>
              </a:spcAft>
              <a:buClr>
                <a:srgbClr val="FE8637"/>
              </a:buClr>
              <a:buSzPts val="1680"/>
              <a:buFont typeface="Courier New"/>
              <a:buNone/>
            </a:pPr>
            <a:endParaRPr sz="2600" b="0" i="0" u="none" strike="noStrike" cap="none" dirty="0">
              <a:solidFill>
                <a:srgbClr val="262626"/>
              </a:solidFill>
              <a:latin typeface="Federo"/>
              <a:ea typeface="Federo"/>
              <a:cs typeface="Federo"/>
              <a:sym typeface="Federo"/>
            </a:endParaRPr>
          </a:p>
          <a:p>
            <a:pPr marL="0" marR="0" lvl="0" indent="0" algn="just" rtl="0">
              <a:lnSpc>
                <a:spcPct val="100000"/>
              </a:lnSpc>
              <a:spcBef>
                <a:spcPts val="600"/>
              </a:spcBef>
              <a:spcAft>
                <a:spcPts val="0"/>
              </a:spcAft>
              <a:buClr>
                <a:srgbClr val="FE8637"/>
              </a:buClr>
              <a:buSzPts val="1400"/>
              <a:buFont typeface="Noto Sans Symbols"/>
              <a:buNone/>
            </a:pPr>
            <a:endParaRPr sz="2600" b="0" i="0" u="none" strike="noStrike" cap="none" dirty="0">
              <a:solidFill>
                <a:srgbClr val="262626"/>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0"/>
          <p:cNvSpPr txBox="1"/>
          <p:nvPr/>
        </p:nvSpPr>
        <p:spPr>
          <a:xfrm>
            <a:off x="1614805" y="629285"/>
            <a:ext cx="6771958" cy="59690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575F6D"/>
              </a:buClr>
              <a:buSzPts val="2400"/>
              <a:buFont typeface="Century Schoolbook"/>
              <a:buNone/>
            </a:pPr>
            <a:r>
              <a:rPr lang="en-US" sz="2800" b="0" i="0" u="none" strike="noStrike" cap="none">
                <a:solidFill>
                  <a:schemeClr val="dk1"/>
                </a:solidFill>
                <a:latin typeface="Arial"/>
                <a:ea typeface="Arial"/>
                <a:cs typeface="Arial"/>
                <a:sym typeface="Arial"/>
              </a:rPr>
              <a:t>Jadual aktiviti  Pembinaan Taman Mini</a:t>
            </a: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575F6D"/>
              </a:buClr>
              <a:buSzPts val="2400"/>
              <a:buFont typeface="Century Schoolbook"/>
              <a:buNone/>
            </a:pPr>
            <a:r>
              <a:rPr lang="en-US" sz="2800" b="0" i="0" u="none" strike="noStrike" cap="none">
                <a:solidFill>
                  <a:schemeClr val="dk1"/>
                </a:solidFill>
                <a:latin typeface="Arial"/>
                <a:ea typeface="Arial"/>
                <a:cs typeface="Arial"/>
                <a:sym typeface="Arial"/>
              </a:rPr>
              <a:t>Carta PERT/CPM</a:t>
            </a:r>
            <a:endParaRPr sz="2800" b="0" i="0" u="none" strike="noStrike" cap="none">
              <a:solidFill>
                <a:schemeClr val="dk1"/>
              </a:solidFill>
              <a:latin typeface="Arial"/>
              <a:ea typeface="Arial"/>
              <a:cs typeface="Arial"/>
              <a:sym typeface="Arial"/>
            </a:endParaRPr>
          </a:p>
        </p:txBody>
      </p:sp>
      <p:graphicFrame>
        <p:nvGraphicFramePr>
          <p:cNvPr id="498" name="Google Shape;498;p60"/>
          <p:cNvGraphicFramePr/>
          <p:nvPr>
            <p:extLst>
              <p:ext uri="{D42A27DB-BD31-4B8C-83A1-F6EECF244321}">
                <p14:modId xmlns:p14="http://schemas.microsoft.com/office/powerpoint/2010/main" val="753986860"/>
              </p:ext>
            </p:extLst>
          </p:nvPr>
        </p:nvGraphicFramePr>
        <p:xfrm>
          <a:off x="1726579" y="1416269"/>
          <a:ext cx="5843600" cy="4570489"/>
        </p:xfrm>
        <a:graphic>
          <a:graphicData uri="http://schemas.openxmlformats.org/drawingml/2006/table">
            <a:tbl>
              <a:tblPr>
                <a:noFill/>
                <a:tableStyleId>{240A8681-3E34-4FA3-B69B-F9567E24FCE5}</a:tableStyleId>
              </a:tblPr>
              <a:tblGrid>
                <a:gridCol w="1620150">
                  <a:extLst>
                    <a:ext uri="{9D8B030D-6E8A-4147-A177-3AD203B41FA5}">
                      <a16:colId xmlns:a16="http://schemas.microsoft.com/office/drawing/2014/main" val="20000"/>
                    </a:ext>
                  </a:extLst>
                </a:gridCol>
                <a:gridCol w="2506375">
                  <a:extLst>
                    <a:ext uri="{9D8B030D-6E8A-4147-A177-3AD203B41FA5}">
                      <a16:colId xmlns:a16="http://schemas.microsoft.com/office/drawing/2014/main" val="20001"/>
                    </a:ext>
                  </a:extLst>
                </a:gridCol>
                <a:gridCol w="1717075">
                  <a:extLst>
                    <a:ext uri="{9D8B030D-6E8A-4147-A177-3AD203B41FA5}">
                      <a16:colId xmlns:a16="http://schemas.microsoft.com/office/drawing/2014/main" val="20002"/>
                    </a:ext>
                  </a:extLst>
                </a:gridCol>
              </a:tblGrid>
              <a:tr h="754050">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Aktiviti</a:t>
                      </a:r>
                      <a:endParaRPr sz="1400" u="none" strike="noStrike" cap="none">
                        <a:latin typeface="Arial"/>
                        <a:ea typeface="Arial"/>
                        <a:cs typeface="Arial"/>
                        <a:sym typeface="Arial"/>
                      </a:endParaRPr>
                    </a:p>
                  </a:txBody>
                  <a:tcPr marL="90000" marR="90000" marT="71500" marB="46800">
                    <a:lnL w="12700" cap="flat" cmpd="sng">
                      <a:solidFill>
                        <a:srgbClr val="918655"/>
                      </a:solidFill>
                      <a:prstDash val="solid"/>
                      <a:round/>
                      <a:headEnd type="none" w="sm" len="sm"/>
                      <a:tailEnd type="none" w="sm" len="sm"/>
                    </a:lnL>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Aktiviti Terdahulu</a:t>
                      </a:r>
                      <a:endParaRPr sz="1400" u="none" strike="noStrike" cap="none">
                        <a:latin typeface="Arial"/>
                        <a:ea typeface="Arial"/>
                        <a:cs typeface="Arial"/>
                        <a:sym typeface="Arial"/>
                      </a:endParaRPr>
                    </a:p>
                  </a:txBody>
                  <a:tcPr marL="90000" marR="90000" marT="71500" marB="46800">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Masa (hari)</a:t>
                      </a:r>
                      <a:endParaRPr sz="1400" u="none" strike="noStrike" cap="none">
                        <a:latin typeface="Arial"/>
                        <a:ea typeface="Arial"/>
                        <a:cs typeface="Arial"/>
                        <a:sym typeface="Arial"/>
                      </a:endParaRPr>
                    </a:p>
                  </a:txBody>
                  <a:tcPr marL="90000" marR="90000" marT="71500" marB="46800">
                    <a:lnR w="12700" cap="flat" cmpd="sng">
                      <a:solidFill>
                        <a:srgbClr val="918655"/>
                      </a:solidFill>
                      <a:prstDash val="solid"/>
                      <a:round/>
                      <a:headEnd type="none" w="sm" len="sm"/>
                      <a:tailEnd type="none" w="sm" len="sm"/>
                    </a:lnR>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54050">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A</a:t>
                      </a:r>
                      <a:endParaRPr sz="1400" u="none" strike="noStrike" cap="none">
                        <a:latin typeface="Arial"/>
                        <a:ea typeface="Arial"/>
                        <a:cs typeface="Arial"/>
                        <a:sym typeface="Arial"/>
                      </a:endParaRPr>
                    </a:p>
                  </a:txBody>
                  <a:tcPr marL="90000" marR="90000" marT="71500" marB="46800">
                    <a:lnL w="12700" cap="flat" cmpd="sng">
                      <a:solidFill>
                        <a:srgbClr val="918655"/>
                      </a:solidFill>
                      <a:prstDash val="solid"/>
                      <a:round/>
                      <a:headEnd type="none" w="sm" len="sm"/>
                      <a:tailEnd type="none" w="sm" len="sm"/>
                    </a:lnL>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Tiada</a:t>
                      </a:r>
                      <a:endParaRPr sz="1400" u="none" strike="noStrike" cap="none">
                        <a:latin typeface="Arial"/>
                        <a:ea typeface="Arial"/>
                        <a:cs typeface="Arial"/>
                        <a:sym typeface="Arial"/>
                      </a:endParaRPr>
                    </a:p>
                  </a:txBody>
                  <a:tcPr marL="90000" marR="90000" marT="71500" marB="46800">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4</a:t>
                      </a:r>
                      <a:endParaRPr sz="1400" u="none" strike="noStrike" cap="none">
                        <a:latin typeface="Arial"/>
                        <a:ea typeface="Arial"/>
                        <a:cs typeface="Arial"/>
                        <a:sym typeface="Arial"/>
                      </a:endParaRPr>
                    </a:p>
                  </a:txBody>
                  <a:tcPr marL="90000" marR="90000" marT="71500" marB="46800">
                    <a:lnR w="12700" cap="flat" cmpd="sng">
                      <a:solidFill>
                        <a:srgbClr val="918655"/>
                      </a:solidFill>
                      <a:prstDash val="solid"/>
                      <a:round/>
                      <a:headEnd type="none" w="sm" len="sm"/>
                      <a:tailEnd type="none" w="sm" len="sm"/>
                    </a:lnR>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755650">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B</a:t>
                      </a:r>
                      <a:endParaRPr sz="1400" u="none" strike="noStrike" cap="none">
                        <a:latin typeface="Arial"/>
                        <a:ea typeface="Arial"/>
                        <a:cs typeface="Arial"/>
                        <a:sym typeface="Arial"/>
                      </a:endParaRPr>
                    </a:p>
                  </a:txBody>
                  <a:tcPr marL="90000" marR="90000" marT="71500" marB="46800">
                    <a:lnL w="12700" cap="flat" cmpd="sng">
                      <a:solidFill>
                        <a:srgbClr val="918655"/>
                      </a:solidFill>
                      <a:prstDash val="solid"/>
                      <a:round/>
                      <a:headEnd type="none" w="sm" len="sm"/>
                      <a:tailEnd type="none" w="sm" len="sm"/>
                    </a:lnL>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Tiada</a:t>
                      </a:r>
                      <a:endParaRPr sz="1400" u="none" strike="noStrike" cap="none">
                        <a:latin typeface="Arial"/>
                        <a:ea typeface="Arial"/>
                        <a:cs typeface="Arial"/>
                        <a:sym typeface="Arial"/>
                      </a:endParaRPr>
                    </a:p>
                  </a:txBody>
                  <a:tcPr marL="90000" marR="90000" marT="71500" marB="46800">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8</a:t>
                      </a:r>
                      <a:endParaRPr sz="1400" u="none" strike="noStrike" cap="none">
                        <a:latin typeface="Arial"/>
                        <a:ea typeface="Arial"/>
                        <a:cs typeface="Arial"/>
                        <a:sym typeface="Arial"/>
                      </a:endParaRPr>
                    </a:p>
                  </a:txBody>
                  <a:tcPr marL="90000" marR="90000" marT="71500" marB="46800">
                    <a:lnR w="12700" cap="flat" cmpd="sng">
                      <a:solidFill>
                        <a:srgbClr val="918655"/>
                      </a:solidFill>
                      <a:prstDash val="solid"/>
                      <a:round/>
                      <a:headEnd type="none" w="sm" len="sm"/>
                      <a:tailEnd type="none" w="sm" len="sm"/>
                    </a:lnR>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54050">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C</a:t>
                      </a:r>
                      <a:endParaRPr sz="1400" u="none" strike="noStrike" cap="none">
                        <a:latin typeface="Arial"/>
                        <a:ea typeface="Arial"/>
                        <a:cs typeface="Arial"/>
                        <a:sym typeface="Arial"/>
                      </a:endParaRPr>
                    </a:p>
                  </a:txBody>
                  <a:tcPr marL="90000" marR="90000" marT="71500" marB="46800">
                    <a:lnL w="12700" cap="flat" cmpd="sng">
                      <a:solidFill>
                        <a:srgbClr val="918655"/>
                      </a:solidFill>
                      <a:prstDash val="solid"/>
                      <a:round/>
                      <a:headEnd type="none" w="sm" len="sm"/>
                      <a:tailEnd type="none" w="sm" len="sm"/>
                    </a:lnL>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A</a:t>
                      </a:r>
                      <a:endParaRPr sz="1400" u="none" strike="noStrike" cap="none">
                        <a:latin typeface="Arial"/>
                        <a:ea typeface="Arial"/>
                        <a:cs typeface="Arial"/>
                        <a:sym typeface="Arial"/>
                      </a:endParaRPr>
                    </a:p>
                  </a:txBody>
                  <a:tcPr marL="90000" marR="90000" marT="71500" marB="46800">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6</a:t>
                      </a:r>
                      <a:endParaRPr sz="1400" u="none" strike="noStrike" cap="none">
                        <a:latin typeface="Arial"/>
                        <a:ea typeface="Arial"/>
                        <a:cs typeface="Arial"/>
                        <a:sym typeface="Arial"/>
                      </a:endParaRPr>
                    </a:p>
                  </a:txBody>
                  <a:tcPr marL="90000" marR="90000" marT="71500" marB="46800">
                    <a:lnR w="12700" cap="flat" cmpd="sng">
                      <a:solidFill>
                        <a:srgbClr val="918655"/>
                      </a:solidFill>
                      <a:prstDash val="solid"/>
                      <a:round/>
                      <a:headEnd type="none" w="sm" len="sm"/>
                      <a:tailEnd type="none" w="sm" len="sm"/>
                    </a:lnR>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754050">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D</a:t>
                      </a:r>
                      <a:endParaRPr sz="1400" u="none" strike="noStrike" cap="none">
                        <a:latin typeface="Arial"/>
                        <a:ea typeface="Arial"/>
                        <a:cs typeface="Arial"/>
                        <a:sym typeface="Arial"/>
                      </a:endParaRPr>
                    </a:p>
                  </a:txBody>
                  <a:tcPr marL="90000" marR="90000" marT="71500" marB="46800">
                    <a:lnL w="12700" cap="flat" cmpd="sng">
                      <a:solidFill>
                        <a:srgbClr val="918655"/>
                      </a:solidFill>
                      <a:prstDash val="solid"/>
                      <a:round/>
                      <a:headEnd type="none" w="sm" len="sm"/>
                      <a:tailEnd type="none" w="sm" len="sm"/>
                    </a:lnL>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B,C</a:t>
                      </a:r>
                      <a:endParaRPr sz="1400" u="none" strike="noStrike" cap="none">
                        <a:latin typeface="Arial"/>
                        <a:ea typeface="Arial"/>
                        <a:cs typeface="Arial"/>
                        <a:sym typeface="Arial"/>
                      </a:endParaRPr>
                    </a:p>
                  </a:txBody>
                  <a:tcPr marL="90000" marR="90000" marT="71500" marB="46800">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3</a:t>
                      </a:r>
                      <a:endParaRPr sz="1400" u="none" strike="noStrike" cap="none">
                        <a:latin typeface="Arial"/>
                        <a:ea typeface="Arial"/>
                        <a:cs typeface="Arial"/>
                        <a:sym typeface="Arial"/>
                      </a:endParaRPr>
                    </a:p>
                  </a:txBody>
                  <a:tcPr marL="90000" marR="90000" marT="71500" marB="46800">
                    <a:lnR w="12700" cap="flat" cmpd="sng">
                      <a:solidFill>
                        <a:srgbClr val="918655"/>
                      </a:solidFill>
                      <a:prstDash val="solid"/>
                      <a:round/>
                      <a:headEnd type="none" w="sm" len="sm"/>
                      <a:tailEnd type="none" w="sm" len="sm"/>
                    </a:lnR>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754050">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E</a:t>
                      </a:r>
                      <a:endParaRPr sz="1400" u="none" strike="noStrike" cap="none">
                        <a:latin typeface="Arial"/>
                        <a:ea typeface="Arial"/>
                        <a:cs typeface="Arial"/>
                        <a:sym typeface="Arial"/>
                      </a:endParaRPr>
                    </a:p>
                  </a:txBody>
                  <a:tcPr marL="90000" marR="90000" marT="71500" marB="46800">
                    <a:lnL w="12700" cap="flat" cmpd="sng">
                      <a:solidFill>
                        <a:srgbClr val="918655"/>
                      </a:solidFill>
                      <a:prstDash val="solid"/>
                      <a:round/>
                      <a:headEnd type="none" w="sm" len="sm"/>
                      <a:tailEnd type="none" w="sm" len="sm"/>
                    </a:lnL>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a:solidFill>
                            <a:srgbClr val="000000"/>
                          </a:solidFill>
                          <a:latin typeface="Arial"/>
                          <a:ea typeface="Arial"/>
                          <a:cs typeface="Arial"/>
                          <a:sym typeface="Arial"/>
                        </a:rPr>
                        <a:t>D</a:t>
                      </a:r>
                      <a:endParaRPr sz="1400" u="none" strike="noStrike" cap="none">
                        <a:latin typeface="Arial"/>
                        <a:ea typeface="Arial"/>
                        <a:cs typeface="Arial"/>
                        <a:sym typeface="Arial"/>
                      </a:endParaRPr>
                    </a:p>
                  </a:txBody>
                  <a:tcPr marL="90000" marR="90000" marT="71500" marB="46800">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tc>
                  <a:txBody>
                    <a:bodyPr/>
                    <a:lstStyle/>
                    <a:p>
                      <a:pPr marL="0" marR="0" lvl="0" indent="0" algn="ctr" rtl="0">
                        <a:lnSpc>
                          <a:spcPct val="93000"/>
                        </a:lnSpc>
                        <a:spcBef>
                          <a:spcPts val="0"/>
                        </a:spcBef>
                        <a:spcAft>
                          <a:spcPts val="0"/>
                        </a:spcAft>
                        <a:buClr>
                          <a:srgbClr val="000000"/>
                        </a:buClr>
                        <a:buSzPts val="2400"/>
                        <a:buFont typeface="Trebuchet MS"/>
                        <a:buNone/>
                      </a:pPr>
                      <a:r>
                        <a:rPr lang="en-US" sz="2400" b="0" i="0" u="none" strike="noStrike" cap="none" dirty="0">
                          <a:solidFill>
                            <a:srgbClr val="000000"/>
                          </a:solidFill>
                          <a:latin typeface="Arial"/>
                          <a:ea typeface="Arial"/>
                          <a:cs typeface="Arial"/>
                          <a:sym typeface="Arial"/>
                        </a:rPr>
                        <a:t>4</a:t>
                      </a:r>
                      <a:endParaRPr sz="1400" u="none" strike="noStrike" cap="none" dirty="0">
                        <a:latin typeface="Arial"/>
                        <a:ea typeface="Arial"/>
                        <a:cs typeface="Arial"/>
                        <a:sym typeface="Arial"/>
                      </a:endParaRPr>
                    </a:p>
                  </a:txBody>
                  <a:tcPr marL="90000" marR="90000" marT="71500" marB="46800">
                    <a:lnR w="12700" cap="flat" cmpd="sng">
                      <a:solidFill>
                        <a:srgbClr val="918655"/>
                      </a:solidFill>
                      <a:prstDash val="solid"/>
                      <a:round/>
                      <a:headEnd type="none" w="sm" len="sm"/>
                      <a:tailEnd type="none" w="sm" len="sm"/>
                    </a:lnR>
                    <a:lnT w="12700" cap="flat" cmpd="sng">
                      <a:solidFill>
                        <a:srgbClr val="918655"/>
                      </a:solidFill>
                      <a:prstDash val="solid"/>
                      <a:round/>
                      <a:headEnd type="none" w="sm" len="sm"/>
                      <a:tailEnd type="none" w="sm" len="sm"/>
                    </a:lnT>
                    <a:lnB w="12700" cap="flat" cmpd="sng">
                      <a:solidFill>
                        <a:srgbClr val="918655"/>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animEffect transition="in" filter="fade">
                                      <p:cBhvr>
                                        <p:cTn id="7" dur="500"/>
                                        <p:tgtEl>
                                          <p:spTgt spid="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1"/>
          <p:cNvSpPr txBox="1"/>
          <p:nvPr/>
        </p:nvSpPr>
        <p:spPr>
          <a:xfrm>
            <a:off x="2400299" y="472441"/>
            <a:ext cx="5452427" cy="826135"/>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575F6D"/>
              </a:buClr>
              <a:buSzPts val="2400"/>
              <a:buFont typeface="Century Schoolbook"/>
              <a:buNone/>
            </a:pPr>
            <a:r>
              <a:rPr lang="en-US" sz="2800" b="0" i="0" u="none" strike="noStrike" cap="none">
                <a:solidFill>
                  <a:schemeClr val="dk1"/>
                </a:solidFill>
                <a:latin typeface="Arial"/>
                <a:ea typeface="Arial"/>
                <a:cs typeface="Arial"/>
                <a:sym typeface="Arial"/>
              </a:rPr>
              <a:t>Pembinaan Taman Mini</a:t>
            </a: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575F6D"/>
              </a:buClr>
              <a:buSzPts val="2400"/>
              <a:buFont typeface="Century Schoolbook"/>
              <a:buNone/>
            </a:pPr>
            <a:r>
              <a:rPr lang="en-US" sz="2800" b="0" i="0" u="none" strike="noStrike" cap="none">
                <a:solidFill>
                  <a:schemeClr val="dk1"/>
                </a:solidFill>
                <a:latin typeface="Arial"/>
                <a:ea typeface="Arial"/>
                <a:cs typeface="Arial"/>
                <a:sym typeface="Arial"/>
              </a:rPr>
              <a:t>Carta PERT/CPM</a:t>
            </a:r>
            <a:endParaRPr sz="2800" b="0" i="0" u="none" strike="noStrike" cap="none">
              <a:solidFill>
                <a:schemeClr val="dk1"/>
              </a:solidFill>
              <a:latin typeface="Arial"/>
              <a:ea typeface="Arial"/>
              <a:cs typeface="Arial"/>
              <a:sym typeface="Arial"/>
            </a:endParaRPr>
          </a:p>
        </p:txBody>
      </p:sp>
      <p:sp>
        <p:nvSpPr>
          <p:cNvPr id="504" name="Google Shape;504;p61"/>
          <p:cNvSpPr/>
          <p:nvPr/>
        </p:nvSpPr>
        <p:spPr>
          <a:xfrm>
            <a:off x="1293495" y="3415030"/>
            <a:ext cx="990600" cy="457200"/>
          </a:xfrm>
          <a:prstGeom prst="rect">
            <a:avLst/>
          </a:prstGeom>
          <a:solidFill>
            <a:srgbClr val="FFFFFF"/>
          </a:solidFill>
          <a:ln w="9525" cap="flat" cmpd="sng">
            <a:solidFill>
              <a:srgbClr val="000000"/>
            </a:solidFill>
            <a:prstDash val="solid"/>
            <a:miter lim="8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Mula</a:t>
            </a:r>
            <a:endParaRPr sz="1400" b="0" i="0" u="none" strike="noStrike" cap="none">
              <a:solidFill>
                <a:srgbClr val="000000"/>
              </a:solidFill>
              <a:latin typeface="Arial"/>
              <a:ea typeface="Arial"/>
              <a:cs typeface="Arial"/>
              <a:sym typeface="Arial"/>
            </a:endParaRPr>
          </a:p>
        </p:txBody>
      </p:sp>
      <p:sp>
        <p:nvSpPr>
          <p:cNvPr id="505" name="Google Shape;505;p61"/>
          <p:cNvSpPr/>
          <p:nvPr/>
        </p:nvSpPr>
        <p:spPr>
          <a:xfrm>
            <a:off x="6660193" y="3327400"/>
            <a:ext cx="685800" cy="631825"/>
          </a:xfrm>
          <a:prstGeom prst="ellipse">
            <a:avLst/>
          </a:prstGeom>
          <a:solidFill>
            <a:srgbClr val="7F7F7F"/>
          </a:solidFill>
          <a:ln w="9525" cap="flat"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a:t>
            </a:r>
            <a:endParaRPr sz="1400" b="0" i="0" u="none" strike="noStrike" cap="none">
              <a:solidFill>
                <a:srgbClr val="000000"/>
              </a:solidFill>
              <a:latin typeface="Arial"/>
              <a:ea typeface="Arial"/>
              <a:cs typeface="Arial"/>
              <a:sym typeface="Arial"/>
            </a:endParaRPr>
          </a:p>
        </p:txBody>
      </p:sp>
      <p:sp>
        <p:nvSpPr>
          <p:cNvPr id="506" name="Google Shape;506;p61"/>
          <p:cNvSpPr/>
          <p:nvPr/>
        </p:nvSpPr>
        <p:spPr>
          <a:xfrm>
            <a:off x="5430833" y="3415030"/>
            <a:ext cx="685800" cy="616585"/>
          </a:xfrm>
          <a:prstGeom prst="ellipse">
            <a:avLst/>
          </a:prstGeom>
          <a:solidFill>
            <a:srgbClr val="7F7F7F"/>
          </a:solidFill>
          <a:ln w="9525" cap="flat"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D</a:t>
            </a:r>
            <a:endParaRPr sz="1800" b="0" i="0" u="none" strike="noStrike" cap="none">
              <a:solidFill>
                <a:srgbClr val="000000"/>
              </a:solidFill>
              <a:latin typeface="Arial"/>
              <a:ea typeface="Arial"/>
              <a:cs typeface="Arial"/>
              <a:sym typeface="Arial"/>
            </a:endParaRPr>
          </a:p>
        </p:txBody>
      </p:sp>
      <p:sp>
        <p:nvSpPr>
          <p:cNvPr id="507" name="Google Shape;507;p61"/>
          <p:cNvSpPr/>
          <p:nvPr/>
        </p:nvSpPr>
        <p:spPr>
          <a:xfrm>
            <a:off x="5074598" y="2289175"/>
            <a:ext cx="685800" cy="631825"/>
          </a:xfrm>
          <a:prstGeom prst="ellipse">
            <a:avLst/>
          </a:prstGeom>
          <a:solidFill>
            <a:srgbClr val="7F7F7F"/>
          </a:solidFill>
          <a:ln w="9525" cap="flat"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C</a:t>
            </a:r>
            <a:endParaRPr sz="1800" b="0" i="0" u="none" strike="noStrike" cap="none">
              <a:solidFill>
                <a:srgbClr val="000000"/>
              </a:solidFill>
              <a:latin typeface="Arial"/>
              <a:ea typeface="Arial"/>
              <a:cs typeface="Arial"/>
              <a:sym typeface="Arial"/>
            </a:endParaRPr>
          </a:p>
        </p:txBody>
      </p:sp>
      <p:sp>
        <p:nvSpPr>
          <p:cNvPr id="508" name="Google Shape;508;p61"/>
          <p:cNvSpPr/>
          <p:nvPr/>
        </p:nvSpPr>
        <p:spPr>
          <a:xfrm>
            <a:off x="3041963" y="2289175"/>
            <a:ext cx="685800" cy="631825"/>
          </a:xfrm>
          <a:prstGeom prst="ellipse">
            <a:avLst/>
          </a:prstGeom>
          <a:solidFill>
            <a:srgbClr val="7F7F7F"/>
          </a:solidFill>
          <a:ln w="9525" cap="flat"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a:t>
            </a:r>
            <a:endParaRPr sz="1400" b="0" i="0" u="none" strike="noStrike" cap="none">
              <a:solidFill>
                <a:srgbClr val="000000"/>
              </a:solidFill>
              <a:latin typeface="Arial"/>
              <a:ea typeface="Arial"/>
              <a:cs typeface="Arial"/>
              <a:sym typeface="Arial"/>
            </a:endParaRPr>
          </a:p>
        </p:txBody>
      </p:sp>
      <p:sp>
        <p:nvSpPr>
          <p:cNvPr id="509" name="Google Shape;509;p61"/>
          <p:cNvSpPr/>
          <p:nvPr/>
        </p:nvSpPr>
        <p:spPr>
          <a:xfrm>
            <a:off x="4210363" y="4146550"/>
            <a:ext cx="685800" cy="631825"/>
          </a:xfrm>
          <a:prstGeom prst="ellipse">
            <a:avLst/>
          </a:prstGeom>
          <a:solidFill>
            <a:srgbClr val="7F7F7F"/>
          </a:solidFill>
          <a:ln w="9525" cap="flat"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B</a:t>
            </a:r>
            <a:endParaRPr sz="1800" b="0" i="0" u="none" strike="noStrike" cap="none">
              <a:solidFill>
                <a:srgbClr val="000000"/>
              </a:solidFill>
              <a:latin typeface="Arial"/>
              <a:ea typeface="Arial"/>
              <a:cs typeface="Arial"/>
              <a:sym typeface="Arial"/>
            </a:endParaRPr>
          </a:p>
        </p:txBody>
      </p:sp>
      <p:cxnSp>
        <p:nvCxnSpPr>
          <p:cNvPr id="510" name="Google Shape;510;p61"/>
          <p:cNvCxnSpPr/>
          <p:nvPr/>
        </p:nvCxnSpPr>
        <p:spPr>
          <a:xfrm rot="10800000" flipH="1">
            <a:off x="2323233" y="2864802"/>
            <a:ext cx="822793" cy="751205"/>
          </a:xfrm>
          <a:prstGeom prst="straightConnector1">
            <a:avLst/>
          </a:prstGeom>
          <a:noFill/>
          <a:ln w="28575" cap="flat" cmpd="sng">
            <a:solidFill>
              <a:schemeClr val="dk1"/>
            </a:solidFill>
            <a:prstDash val="solid"/>
            <a:miter lim="800000"/>
            <a:headEnd type="none" w="sm" len="sm"/>
            <a:tailEnd type="triangle" w="med" len="med"/>
          </a:ln>
        </p:spPr>
      </p:cxnSp>
      <p:cxnSp>
        <p:nvCxnSpPr>
          <p:cNvPr id="511" name="Google Shape;511;p61"/>
          <p:cNvCxnSpPr/>
          <p:nvPr/>
        </p:nvCxnSpPr>
        <p:spPr>
          <a:xfrm rot="10800000" flipH="1">
            <a:off x="3727763" y="2663825"/>
            <a:ext cx="1346835" cy="635"/>
          </a:xfrm>
          <a:prstGeom prst="straightConnector1">
            <a:avLst/>
          </a:prstGeom>
          <a:noFill/>
          <a:ln w="28575" cap="flat" cmpd="sng">
            <a:solidFill>
              <a:schemeClr val="dk1"/>
            </a:solidFill>
            <a:prstDash val="solid"/>
            <a:miter lim="800000"/>
            <a:headEnd type="none" w="sm" len="sm"/>
            <a:tailEnd type="triangle" w="med" len="med"/>
          </a:ln>
        </p:spPr>
      </p:cxnSp>
      <p:cxnSp>
        <p:nvCxnSpPr>
          <p:cNvPr id="512" name="Google Shape;512;p61"/>
          <p:cNvCxnSpPr/>
          <p:nvPr/>
        </p:nvCxnSpPr>
        <p:spPr>
          <a:xfrm>
            <a:off x="2319500" y="3872230"/>
            <a:ext cx="1890863" cy="521970"/>
          </a:xfrm>
          <a:prstGeom prst="straightConnector1">
            <a:avLst/>
          </a:prstGeom>
          <a:noFill/>
          <a:ln w="28575" cap="flat" cmpd="sng">
            <a:solidFill>
              <a:schemeClr val="dk1"/>
            </a:solidFill>
            <a:prstDash val="solid"/>
            <a:miter lim="800000"/>
            <a:headEnd type="none" w="sm" len="sm"/>
            <a:tailEnd type="triangle" w="med" len="med"/>
          </a:ln>
        </p:spPr>
      </p:cxnSp>
      <p:cxnSp>
        <p:nvCxnSpPr>
          <p:cNvPr id="513" name="Google Shape;513;p61"/>
          <p:cNvCxnSpPr/>
          <p:nvPr/>
        </p:nvCxnSpPr>
        <p:spPr>
          <a:xfrm>
            <a:off x="5516558" y="2921000"/>
            <a:ext cx="243840" cy="494030"/>
          </a:xfrm>
          <a:prstGeom prst="straightConnector1">
            <a:avLst/>
          </a:prstGeom>
          <a:noFill/>
          <a:ln w="28575" cap="flat" cmpd="sng">
            <a:solidFill>
              <a:schemeClr val="dk1"/>
            </a:solidFill>
            <a:prstDash val="solid"/>
            <a:miter lim="800000"/>
            <a:headEnd type="none" w="sm" len="sm"/>
            <a:tailEnd type="triangle" w="med" len="med"/>
          </a:ln>
        </p:spPr>
      </p:cxnSp>
      <p:cxnSp>
        <p:nvCxnSpPr>
          <p:cNvPr id="514" name="Google Shape;514;p61"/>
          <p:cNvCxnSpPr/>
          <p:nvPr/>
        </p:nvCxnSpPr>
        <p:spPr>
          <a:xfrm rot="10800000" flipH="1">
            <a:off x="4896163" y="3958590"/>
            <a:ext cx="619760" cy="434975"/>
          </a:xfrm>
          <a:prstGeom prst="straightConnector1">
            <a:avLst/>
          </a:prstGeom>
          <a:noFill/>
          <a:ln w="28575" cap="flat" cmpd="sng">
            <a:solidFill>
              <a:schemeClr val="dk1"/>
            </a:solidFill>
            <a:prstDash val="solid"/>
            <a:miter lim="800000"/>
            <a:headEnd type="none" w="sm" len="sm"/>
            <a:tailEnd type="triangle" w="med" len="med"/>
          </a:ln>
        </p:spPr>
      </p:cxnSp>
      <p:cxnSp>
        <p:nvCxnSpPr>
          <p:cNvPr id="515" name="Google Shape;515;p61"/>
          <p:cNvCxnSpPr/>
          <p:nvPr/>
        </p:nvCxnSpPr>
        <p:spPr>
          <a:xfrm rot="-9300000" flipH="1">
            <a:off x="6170608" y="3592830"/>
            <a:ext cx="468630" cy="191770"/>
          </a:xfrm>
          <a:prstGeom prst="straightConnector1">
            <a:avLst/>
          </a:prstGeom>
          <a:noFill/>
          <a:ln w="28575" cap="flat" cmpd="sng">
            <a:solidFill>
              <a:schemeClr val="dk1"/>
            </a:solidFill>
            <a:prstDash val="solid"/>
            <a:miter lim="800000"/>
            <a:headEnd type="none" w="sm" len="sm"/>
            <a:tailEnd type="triangle" w="med" len="med"/>
          </a:ln>
        </p:spPr>
      </p:cxnSp>
      <p:cxnSp>
        <p:nvCxnSpPr>
          <p:cNvPr id="516" name="Google Shape;516;p61"/>
          <p:cNvCxnSpPr/>
          <p:nvPr/>
        </p:nvCxnSpPr>
        <p:spPr>
          <a:xfrm>
            <a:off x="7345993" y="3679191"/>
            <a:ext cx="543560" cy="9524"/>
          </a:xfrm>
          <a:prstGeom prst="straightConnector1">
            <a:avLst/>
          </a:prstGeom>
          <a:noFill/>
          <a:ln w="28575" cap="flat" cmpd="sng">
            <a:solidFill>
              <a:schemeClr val="dk1"/>
            </a:solidFill>
            <a:prstDash val="solid"/>
            <a:miter lim="800000"/>
            <a:headEnd type="none" w="sm" len="sm"/>
            <a:tailEnd type="triangle" w="med" len="med"/>
          </a:ln>
        </p:spPr>
      </p:cxnSp>
      <p:sp>
        <p:nvSpPr>
          <p:cNvPr id="517" name="Google Shape;517;p61"/>
          <p:cNvSpPr/>
          <p:nvPr/>
        </p:nvSpPr>
        <p:spPr>
          <a:xfrm>
            <a:off x="7889553" y="3460115"/>
            <a:ext cx="990600" cy="457200"/>
          </a:xfrm>
          <a:prstGeom prst="rect">
            <a:avLst/>
          </a:prstGeom>
          <a:solidFill>
            <a:srgbClr val="FFFFFF"/>
          </a:solidFill>
          <a:ln w="9525" cap="flat" cmpd="sng">
            <a:solidFill>
              <a:srgbClr val="000000"/>
            </a:solidFill>
            <a:prstDash val="solid"/>
            <a:miter lim="8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Tamat</a:t>
            </a:r>
            <a:endParaRPr sz="1400" b="0" i="0" u="none" strike="noStrike" cap="none">
              <a:solidFill>
                <a:srgbClr val="000000"/>
              </a:solidFill>
              <a:latin typeface="Arial"/>
              <a:ea typeface="Arial"/>
              <a:cs typeface="Arial"/>
              <a:sym typeface="Arial"/>
            </a:endParaRPr>
          </a:p>
        </p:txBody>
      </p:sp>
      <p:sp>
        <p:nvSpPr>
          <p:cNvPr id="518" name="Google Shape;518;p61"/>
          <p:cNvSpPr txBox="1"/>
          <p:nvPr/>
        </p:nvSpPr>
        <p:spPr>
          <a:xfrm>
            <a:off x="2813363" y="1917700"/>
            <a:ext cx="914400" cy="37147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hari</a:t>
            </a:r>
            <a:endParaRPr sz="1400" b="0" i="0" u="none" strike="noStrike" cap="none">
              <a:solidFill>
                <a:srgbClr val="000000"/>
              </a:solidFill>
              <a:latin typeface="Arial"/>
              <a:ea typeface="Arial"/>
              <a:cs typeface="Arial"/>
              <a:sym typeface="Arial"/>
            </a:endParaRPr>
          </a:p>
        </p:txBody>
      </p:sp>
      <p:sp>
        <p:nvSpPr>
          <p:cNvPr id="519" name="Google Shape;519;p61"/>
          <p:cNvSpPr txBox="1"/>
          <p:nvPr/>
        </p:nvSpPr>
        <p:spPr>
          <a:xfrm>
            <a:off x="4769798" y="1917700"/>
            <a:ext cx="990600" cy="37147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hari</a:t>
            </a:r>
            <a:endParaRPr sz="1400" b="0" i="0" u="none" strike="noStrike" cap="none">
              <a:solidFill>
                <a:srgbClr val="000000"/>
              </a:solidFill>
              <a:latin typeface="Arial"/>
              <a:ea typeface="Arial"/>
              <a:cs typeface="Arial"/>
              <a:sym typeface="Arial"/>
            </a:endParaRPr>
          </a:p>
        </p:txBody>
      </p:sp>
      <p:sp>
        <p:nvSpPr>
          <p:cNvPr id="520" name="Google Shape;520;p61"/>
          <p:cNvSpPr txBox="1"/>
          <p:nvPr/>
        </p:nvSpPr>
        <p:spPr>
          <a:xfrm>
            <a:off x="3905563" y="3776980"/>
            <a:ext cx="990600" cy="36957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8 hari</a:t>
            </a:r>
            <a:endParaRPr sz="1400" b="0" i="0" u="none" strike="noStrike" cap="none">
              <a:solidFill>
                <a:srgbClr val="000000"/>
              </a:solidFill>
              <a:latin typeface="Arial"/>
              <a:ea typeface="Arial"/>
              <a:cs typeface="Arial"/>
              <a:sym typeface="Arial"/>
            </a:endParaRPr>
          </a:p>
        </p:txBody>
      </p:sp>
      <p:sp>
        <p:nvSpPr>
          <p:cNvPr id="521" name="Google Shape;521;p61"/>
          <p:cNvSpPr txBox="1"/>
          <p:nvPr/>
        </p:nvSpPr>
        <p:spPr>
          <a:xfrm>
            <a:off x="6507793" y="2955925"/>
            <a:ext cx="990600" cy="36957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hari</a:t>
            </a:r>
            <a:endParaRPr sz="1400" b="0" i="0" u="none" strike="noStrike" cap="none">
              <a:solidFill>
                <a:srgbClr val="000000"/>
              </a:solidFill>
              <a:latin typeface="Arial"/>
              <a:ea typeface="Arial"/>
              <a:cs typeface="Arial"/>
              <a:sym typeface="Arial"/>
            </a:endParaRPr>
          </a:p>
        </p:txBody>
      </p:sp>
      <p:sp>
        <p:nvSpPr>
          <p:cNvPr id="522" name="Google Shape;522;p61"/>
          <p:cNvSpPr txBox="1"/>
          <p:nvPr/>
        </p:nvSpPr>
        <p:spPr>
          <a:xfrm>
            <a:off x="4769798" y="3295015"/>
            <a:ext cx="990600" cy="36957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hari</a:t>
            </a:r>
            <a:endParaRPr sz="1400" b="0" i="0" u="none" strike="noStrike" cap="none">
              <a:solidFill>
                <a:srgbClr val="000000"/>
              </a:solidFill>
              <a:latin typeface="Arial"/>
              <a:ea typeface="Arial"/>
              <a:cs typeface="Arial"/>
              <a:sym typeface="Aria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3"/>
                                        </p:tgtEl>
                                        <p:attrNameLst>
                                          <p:attrName>style.visibility</p:attrName>
                                        </p:attrNameLst>
                                      </p:cBhvr>
                                      <p:to>
                                        <p:strVal val="visible"/>
                                      </p:to>
                                    </p:set>
                                    <p:animEffect transition="in" filter="fade">
                                      <p:cBhvr>
                                        <p:cTn id="7" dur="500"/>
                                        <p:tgtEl>
                                          <p:spTgt spid="50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05"/>
                                        </p:tgtEl>
                                        <p:attrNameLst>
                                          <p:attrName>style.visibility</p:attrName>
                                        </p:attrNameLst>
                                      </p:cBhvr>
                                      <p:to>
                                        <p:strVal val="visible"/>
                                      </p:to>
                                    </p:set>
                                    <p:anim calcmode="lin" valueType="num">
                                      <p:cBhvr additive="base">
                                        <p:cTn id="12" dur="500"/>
                                        <p:tgtEl>
                                          <p:spTgt spid="505"/>
                                        </p:tgtEl>
                                        <p:attrNameLst>
                                          <p:attrName>ppt_w</p:attrName>
                                        </p:attrNameLst>
                                      </p:cBhvr>
                                      <p:tavLst>
                                        <p:tav tm="0">
                                          <p:val>
                                            <p:strVal val="0"/>
                                          </p:val>
                                        </p:tav>
                                        <p:tav tm="100000">
                                          <p:val>
                                            <p:strVal val="#ppt_w"/>
                                          </p:val>
                                        </p:tav>
                                      </p:tavLst>
                                    </p:anim>
                                    <p:anim calcmode="lin" valueType="num">
                                      <p:cBhvr additive="base">
                                        <p:cTn id="13" dur="500"/>
                                        <p:tgtEl>
                                          <p:spTgt spid="505"/>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06"/>
                                        </p:tgtEl>
                                        <p:attrNameLst>
                                          <p:attrName>style.visibility</p:attrName>
                                        </p:attrNameLst>
                                      </p:cBhvr>
                                      <p:to>
                                        <p:strVal val="visible"/>
                                      </p:to>
                                    </p:set>
                                    <p:anim calcmode="lin" valueType="num">
                                      <p:cBhvr additive="base">
                                        <p:cTn id="18" dur="500"/>
                                        <p:tgtEl>
                                          <p:spTgt spid="506"/>
                                        </p:tgtEl>
                                        <p:attrNameLst>
                                          <p:attrName>ppt_w</p:attrName>
                                        </p:attrNameLst>
                                      </p:cBhvr>
                                      <p:tavLst>
                                        <p:tav tm="0">
                                          <p:val>
                                            <p:strVal val="0"/>
                                          </p:val>
                                        </p:tav>
                                        <p:tav tm="100000">
                                          <p:val>
                                            <p:strVal val="#ppt_w"/>
                                          </p:val>
                                        </p:tav>
                                      </p:tavLst>
                                    </p:anim>
                                    <p:anim calcmode="lin" valueType="num">
                                      <p:cBhvr additive="base">
                                        <p:cTn id="19" dur="500"/>
                                        <p:tgtEl>
                                          <p:spTgt spid="506"/>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507"/>
                                        </p:tgtEl>
                                        <p:attrNameLst>
                                          <p:attrName>style.visibility</p:attrName>
                                        </p:attrNameLst>
                                      </p:cBhvr>
                                      <p:to>
                                        <p:strVal val="visible"/>
                                      </p:to>
                                    </p:set>
                                    <p:anim calcmode="lin" valueType="num">
                                      <p:cBhvr additive="base">
                                        <p:cTn id="24" dur="500"/>
                                        <p:tgtEl>
                                          <p:spTgt spid="507"/>
                                        </p:tgtEl>
                                        <p:attrNameLst>
                                          <p:attrName>ppt_w</p:attrName>
                                        </p:attrNameLst>
                                      </p:cBhvr>
                                      <p:tavLst>
                                        <p:tav tm="0">
                                          <p:val>
                                            <p:strVal val="0"/>
                                          </p:val>
                                        </p:tav>
                                        <p:tav tm="100000">
                                          <p:val>
                                            <p:strVal val="#ppt_w"/>
                                          </p:val>
                                        </p:tav>
                                      </p:tavLst>
                                    </p:anim>
                                    <p:anim calcmode="lin" valueType="num">
                                      <p:cBhvr additive="base">
                                        <p:cTn id="25" dur="500"/>
                                        <p:tgtEl>
                                          <p:spTgt spid="507"/>
                                        </p:tgtEl>
                                        <p:attrNameLst>
                                          <p:attrName>ppt_h</p:attrName>
                                        </p:attrNameLst>
                                      </p:cBhvr>
                                      <p:tavLst>
                                        <p:tav tm="0">
                                          <p:val>
                                            <p:str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508"/>
                                        </p:tgtEl>
                                        <p:attrNameLst>
                                          <p:attrName>style.visibility</p:attrName>
                                        </p:attrNameLst>
                                      </p:cBhvr>
                                      <p:to>
                                        <p:strVal val="visible"/>
                                      </p:to>
                                    </p:set>
                                    <p:anim calcmode="lin" valueType="num">
                                      <p:cBhvr additive="base">
                                        <p:cTn id="30" dur="500"/>
                                        <p:tgtEl>
                                          <p:spTgt spid="508"/>
                                        </p:tgtEl>
                                        <p:attrNameLst>
                                          <p:attrName>ppt_w</p:attrName>
                                        </p:attrNameLst>
                                      </p:cBhvr>
                                      <p:tavLst>
                                        <p:tav tm="0">
                                          <p:val>
                                            <p:strVal val="0"/>
                                          </p:val>
                                        </p:tav>
                                        <p:tav tm="100000">
                                          <p:val>
                                            <p:strVal val="#ppt_w"/>
                                          </p:val>
                                        </p:tav>
                                      </p:tavLst>
                                    </p:anim>
                                    <p:anim calcmode="lin" valueType="num">
                                      <p:cBhvr additive="base">
                                        <p:cTn id="31" dur="500"/>
                                        <p:tgtEl>
                                          <p:spTgt spid="508"/>
                                        </p:tgtEl>
                                        <p:attrNameLst>
                                          <p:attrName>ppt_h</p:attrName>
                                        </p:attrNameLst>
                                      </p:cBhvr>
                                      <p:tavLst>
                                        <p:tav tm="0">
                                          <p:val>
                                            <p:str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509"/>
                                        </p:tgtEl>
                                        <p:attrNameLst>
                                          <p:attrName>style.visibility</p:attrName>
                                        </p:attrNameLst>
                                      </p:cBhvr>
                                      <p:to>
                                        <p:strVal val="visible"/>
                                      </p:to>
                                    </p:set>
                                    <p:anim calcmode="lin" valueType="num">
                                      <p:cBhvr additive="base">
                                        <p:cTn id="36" dur="500"/>
                                        <p:tgtEl>
                                          <p:spTgt spid="509"/>
                                        </p:tgtEl>
                                        <p:attrNameLst>
                                          <p:attrName>ppt_w</p:attrName>
                                        </p:attrNameLst>
                                      </p:cBhvr>
                                      <p:tavLst>
                                        <p:tav tm="0">
                                          <p:val>
                                            <p:strVal val="0"/>
                                          </p:val>
                                        </p:tav>
                                        <p:tav tm="100000">
                                          <p:val>
                                            <p:strVal val="#ppt_w"/>
                                          </p:val>
                                        </p:tav>
                                      </p:tavLst>
                                    </p:anim>
                                    <p:anim calcmode="lin" valueType="num">
                                      <p:cBhvr additive="base">
                                        <p:cTn id="37" dur="500"/>
                                        <p:tgtEl>
                                          <p:spTgt spid="509"/>
                                        </p:tgtEl>
                                        <p:attrNameLst>
                                          <p:attrName>ppt_h</p:attrName>
                                        </p:attrNameLst>
                                      </p:cBhvr>
                                      <p:tavLst>
                                        <p:tav tm="0">
                                          <p:val>
                                            <p:str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10"/>
                                        </p:tgtEl>
                                        <p:attrNameLst>
                                          <p:attrName>style.visibility</p:attrName>
                                        </p:attrNameLst>
                                      </p:cBhvr>
                                      <p:to>
                                        <p:strVal val="visible"/>
                                      </p:to>
                                    </p:set>
                                    <p:animEffect transition="in" filter="fade">
                                      <p:cBhvr>
                                        <p:cTn id="42" dur="1000"/>
                                        <p:tgtEl>
                                          <p:spTgt spid="5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11"/>
                                        </p:tgtEl>
                                        <p:attrNameLst>
                                          <p:attrName>style.visibility</p:attrName>
                                        </p:attrNameLst>
                                      </p:cBhvr>
                                      <p:to>
                                        <p:strVal val="visible"/>
                                      </p:to>
                                    </p:set>
                                    <p:animEffect transition="in" filter="fade">
                                      <p:cBhvr>
                                        <p:cTn id="47" dur="1000"/>
                                        <p:tgtEl>
                                          <p:spTgt spid="5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2"/>
                                        </p:tgtEl>
                                        <p:attrNameLst>
                                          <p:attrName>style.visibility</p:attrName>
                                        </p:attrNameLst>
                                      </p:cBhvr>
                                      <p:to>
                                        <p:strVal val="visible"/>
                                      </p:to>
                                    </p:set>
                                    <p:animEffect transition="in" filter="fade">
                                      <p:cBhvr>
                                        <p:cTn id="52" dur="1000"/>
                                        <p:tgtEl>
                                          <p:spTgt spid="5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13"/>
                                        </p:tgtEl>
                                        <p:attrNameLst>
                                          <p:attrName>style.visibility</p:attrName>
                                        </p:attrNameLst>
                                      </p:cBhvr>
                                      <p:to>
                                        <p:strVal val="visible"/>
                                      </p:to>
                                    </p:set>
                                    <p:animEffect transition="in" filter="fade">
                                      <p:cBhvr>
                                        <p:cTn id="57" dur="1000"/>
                                        <p:tgtEl>
                                          <p:spTgt spid="5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14"/>
                                        </p:tgtEl>
                                        <p:attrNameLst>
                                          <p:attrName>style.visibility</p:attrName>
                                        </p:attrNameLst>
                                      </p:cBhvr>
                                      <p:to>
                                        <p:strVal val="visible"/>
                                      </p:to>
                                    </p:set>
                                    <p:animEffect transition="in" filter="fade">
                                      <p:cBhvr>
                                        <p:cTn id="62" dur="1000"/>
                                        <p:tgtEl>
                                          <p:spTgt spid="5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15"/>
                                        </p:tgtEl>
                                        <p:attrNameLst>
                                          <p:attrName>style.visibility</p:attrName>
                                        </p:attrNameLst>
                                      </p:cBhvr>
                                      <p:to>
                                        <p:strVal val="visible"/>
                                      </p:to>
                                    </p:set>
                                    <p:animEffect transition="in" filter="fade">
                                      <p:cBhvr>
                                        <p:cTn id="67" dur="1000"/>
                                        <p:tgtEl>
                                          <p:spTgt spid="51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16"/>
                                        </p:tgtEl>
                                        <p:attrNameLst>
                                          <p:attrName>style.visibility</p:attrName>
                                        </p:attrNameLst>
                                      </p:cBhvr>
                                      <p:to>
                                        <p:strVal val="visible"/>
                                      </p:to>
                                    </p:set>
                                    <p:animEffect transition="in" filter="fade">
                                      <p:cBhvr>
                                        <p:cTn id="72" dur="10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grpSp>
        <p:nvGrpSpPr>
          <p:cNvPr id="528" name="Google Shape;528;p62"/>
          <p:cNvGrpSpPr/>
          <p:nvPr/>
        </p:nvGrpSpPr>
        <p:grpSpPr>
          <a:xfrm>
            <a:off x="1828800" y="2190159"/>
            <a:ext cx="6807200" cy="3920401"/>
            <a:chOff x="0" y="27349"/>
            <a:chExt cx="8128000" cy="3920401"/>
          </a:xfrm>
        </p:grpSpPr>
        <p:sp>
          <p:nvSpPr>
            <p:cNvPr id="529" name="Google Shape;529;p62"/>
            <p:cNvSpPr/>
            <p:nvPr/>
          </p:nvSpPr>
          <p:spPr>
            <a:xfrm>
              <a:off x="0" y="470149"/>
              <a:ext cx="8128000" cy="756000"/>
            </a:xfrm>
            <a:prstGeom prst="rect">
              <a:avLst/>
            </a:prstGeom>
            <a:solidFill>
              <a:schemeClr val="lt1">
                <a:alpha val="89019"/>
              </a:schemeClr>
            </a:solidFill>
            <a:ln w="9525" cap="flat" cmpd="sng">
              <a:solidFill>
                <a:schemeClr val="accent4">
                  <a:alpha val="89019"/>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62"/>
            <p:cNvSpPr/>
            <p:nvPr/>
          </p:nvSpPr>
          <p:spPr>
            <a:xfrm>
              <a:off x="406400" y="27349"/>
              <a:ext cx="5689600" cy="885600"/>
            </a:xfrm>
            <a:prstGeom prst="roundRect">
              <a:avLst>
                <a:gd name="adj" fmla="val 16667"/>
              </a:avLst>
            </a:prstGeom>
            <a:gradFill>
              <a:gsLst>
                <a:gs pos="0">
                  <a:srgbClr val="FFC647">
                    <a:alpha val="89019"/>
                  </a:srgbClr>
                </a:gs>
                <a:gs pos="50000">
                  <a:srgbClr val="FFC600">
                    <a:alpha val="89019"/>
                  </a:srgbClr>
                </a:gs>
                <a:gs pos="100000">
                  <a:srgbClr val="E3B400">
                    <a:alpha val="89019"/>
                  </a:srgbClr>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62"/>
            <p:cNvSpPr txBox="1"/>
            <p:nvPr/>
          </p:nvSpPr>
          <p:spPr>
            <a:xfrm>
              <a:off x="449631" y="70580"/>
              <a:ext cx="5603138" cy="799138"/>
            </a:xfrm>
            <a:prstGeom prst="rect">
              <a:avLst/>
            </a:prstGeom>
            <a:noFill/>
            <a:ln>
              <a:noFill/>
            </a:ln>
          </p:spPr>
          <p:txBody>
            <a:bodyPr spcFirstLastPara="1" wrap="square" lIns="215050" tIns="0" rIns="215050" bIns="0" anchor="ctr" anchorCtr="0">
              <a:noAutofit/>
            </a:bodyPr>
            <a:lstStyle/>
            <a:p>
              <a:pPr marL="0" marR="0" lvl="0" indent="0" algn="l" rtl="0">
                <a:lnSpc>
                  <a:spcPct val="100000"/>
                </a:lnSpc>
                <a:spcBef>
                  <a:spcPts val="0"/>
                </a:spcBef>
                <a:spcAft>
                  <a:spcPts val="0"/>
                </a:spcAft>
                <a:buClr>
                  <a:schemeClr val="lt1"/>
                </a:buClr>
                <a:buSzPts val="3000"/>
                <a:buFont typeface="Calibri"/>
                <a:buNone/>
              </a:pPr>
              <a:r>
                <a:rPr lang="en-US" sz="3000" b="0" i="0" u="none" strike="noStrike" cap="none">
                  <a:solidFill>
                    <a:schemeClr val="lt1"/>
                  </a:solidFill>
                  <a:latin typeface="Calibri"/>
                  <a:ea typeface="Calibri"/>
                  <a:cs typeface="Calibri"/>
                  <a:sym typeface="Calibri"/>
                </a:rPr>
                <a:t>                      </a:t>
              </a:r>
              <a:r>
                <a:rPr lang="en-US" sz="3000" b="1" i="0" u="none" strike="noStrike" cap="none">
                  <a:solidFill>
                    <a:srgbClr val="7030A0"/>
                  </a:solidFill>
                  <a:latin typeface="Arial"/>
                  <a:ea typeface="Arial"/>
                  <a:cs typeface="Arial"/>
                  <a:sym typeface="Arial"/>
                </a:rPr>
                <a:t>Visi</a:t>
              </a:r>
              <a:endParaRPr sz="1400" b="0" i="0" u="none" strike="noStrike" cap="none">
                <a:solidFill>
                  <a:srgbClr val="7030A0"/>
                </a:solidFill>
                <a:latin typeface="Arial"/>
                <a:ea typeface="Arial"/>
                <a:cs typeface="Arial"/>
                <a:sym typeface="Arial"/>
              </a:endParaRPr>
            </a:p>
          </p:txBody>
        </p:sp>
        <p:sp>
          <p:nvSpPr>
            <p:cNvPr id="532" name="Google Shape;532;p62"/>
            <p:cNvSpPr/>
            <p:nvPr/>
          </p:nvSpPr>
          <p:spPr>
            <a:xfrm>
              <a:off x="0" y="1830950"/>
              <a:ext cx="8128000" cy="756000"/>
            </a:xfrm>
            <a:prstGeom prst="rect">
              <a:avLst/>
            </a:prstGeom>
            <a:solidFill>
              <a:schemeClr val="lt1">
                <a:alpha val="89019"/>
              </a:schemeClr>
            </a:solidFill>
            <a:ln w="9525" cap="flat" cmpd="sng">
              <a:solidFill>
                <a:schemeClr val="accent4">
                  <a:alpha val="69019"/>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62"/>
            <p:cNvSpPr/>
            <p:nvPr/>
          </p:nvSpPr>
          <p:spPr>
            <a:xfrm>
              <a:off x="406400" y="1388150"/>
              <a:ext cx="5689600" cy="885600"/>
            </a:xfrm>
            <a:prstGeom prst="roundRect">
              <a:avLst>
                <a:gd name="adj" fmla="val 16667"/>
              </a:avLst>
            </a:prstGeom>
            <a:gradFill>
              <a:gsLst>
                <a:gs pos="0">
                  <a:srgbClr val="FFC647">
                    <a:alpha val="69019"/>
                  </a:srgbClr>
                </a:gs>
                <a:gs pos="50000">
                  <a:srgbClr val="FFC600">
                    <a:alpha val="69019"/>
                  </a:srgbClr>
                </a:gs>
                <a:gs pos="100000">
                  <a:srgbClr val="E3B400">
                    <a:alpha val="69019"/>
                  </a:srgbClr>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62"/>
            <p:cNvSpPr txBox="1"/>
            <p:nvPr/>
          </p:nvSpPr>
          <p:spPr>
            <a:xfrm>
              <a:off x="449631" y="1431381"/>
              <a:ext cx="5603138" cy="799138"/>
            </a:xfrm>
            <a:prstGeom prst="rect">
              <a:avLst/>
            </a:prstGeom>
            <a:noFill/>
            <a:ln>
              <a:noFill/>
            </a:ln>
          </p:spPr>
          <p:txBody>
            <a:bodyPr spcFirstLastPara="1" wrap="square" lIns="215050" tIns="0" rIns="215050" bIns="0" anchor="ctr" anchorCtr="0">
              <a:noAutofit/>
            </a:bodyPr>
            <a:lstStyle/>
            <a:p>
              <a:pPr marL="0" marR="0" lvl="0" indent="0" algn="ctr" rtl="0">
                <a:lnSpc>
                  <a:spcPct val="100000"/>
                </a:lnSpc>
                <a:spcBef>
                  <a:spcPts val="0"/>
                </a:spcBef>
                <a:spcAft>
                  <a:spcPts val="0"/>
                </a:spcAft>
                <a:buClr>
                  <a:schemeClr val="lt1"/>
                </a:buClr>
                <a:buSzPts val="3000"/>
                <a:buFont typeface="Calibri"/>
                <a:buNone/>
              </a:pPr>
              <a:r>
                <a:rPr lang="en-US" sz="3000" b="1" i="0" u="none" strike="noStrike" cap="none">
                  <a:solidFill>
                    <a:srgbClr val="7030A0"/>
                  </a:solidFill>
                  <a:latin typeface="Arial"/>
                  <a:ea typeface="Arial"/>
                  <a:cs typeface="Arial"/>
                  <a:sym typeface="Arial"/>
                </a:rPr>
                <a:t>   Misi</a:t>
              </a:r>
              <a:endParaRPr sz="1400" b="1" i="0" u="none" strike="noStrike" cap="none">
                <a:solidFill>
                  <a:srgbClr val="7030A0"/>
                </a:solidFill>
                <a:latin typeface="Arial"/>
                <a:ea typeface="Arial"/>
                <a:cs typeface="Arial"/>
                <a:sym typeface="Arial"/>
              </a:endParaRPr>
            </a:p>
          </p:txBody>
        </p:sp>
        <p:sp>
          <p:nvSpPr>
            <p:cNvPr id="535" name="Google Shape;535;p62"/>
            <p:cNvSpPr/>
            <p:nvPr/>
          </p:nvSpPr>
          <p:spPr>
            <a:xfrm>
              <a:off x="0" y="3191750"/>
              <a:ext cx="8128000" cy="756000"/>
            </a:xfrm>
            <a:prstGeom prst="rect">
              <a:avLst/>
            </a:prstGeom>
            <a:solidFill>
              <a:schemeClr val="lt1">
                <a:alpha val="89019"/>
              </a:schemeClr>
            </a:solidFill>
            <a:ln w="9525" cap="flat" cmpd="sng">
              <a:solidFill>
                <a:schemeClr val="accent4">
                  <a:alpha val="49019"/>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62"/>
            <p:cNvSpPr/>
            <p:nvPr/>
          </p:nvSpPr>
          <p:spPr>
            <a:xfrm>
              <a:off x="406400" y="2748950"/>
              <a:ext cx="5689600" cy="885600"/>
            </a:xfrm>
            <a:prstGeom prst="roundRect">
              <a:avLst>
                <a:gd name="adj" fmla="val 16667"/>
              </a:avLst>
            </a:prstGeom>
            <a:gradFill>
              <a:gsLst>
                <a:gs pos="0">
                  <a:srgbClr val="FFC647">
                    <a:alpha val="49019"/>
                  </a:srgbClr>
                </a:gs>
                <a:gs pos="50000">
                  <a:srgbClr val="FFC600">
                    <a:alpha val="49019"/>
                  </a:srgbClr>
                </a:gs>
                <a:gs pos="100000">
                  <a:srgbClr val="E3B400">
                    <a:alpha val="49019"/>
                  </a:srgbClr>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62"/>
            <p:cNvSpPr txBox="1"/>
            <p:nvPr/>
          </p:nvSpPr>
          <p:spPr>
            <a:xfrm>
              <a:off x="449631" y="2792181"/>
              <a:ext cx="5603138" cy="799138"/>
            </a:xfrm>
            <a:prstGeom prst="rect">
              <a:avLst/>
            </a:prstGeom>
            <a:noFill/>
            <a:ln>
              <a:noFill/>
            </a:ln>
          </p:spPr>
          <p:txBody>
            <a:bodyPr spcFirstLastPara="1" wrap="square" lIns="215050" tIns="0" rIns="215050" bIns="0" anchor="ctr" anchorCtr="0">
              <a:noAutofit/>
            </a:bodyPr>
            <a:lstStyle/>
            <a:p>
              <a:pPr marL="0" marR="0" lvl="0" indent="0" algn="l" rtl="0">
                <a:lnSpc>
                  <a:spcPct val="100000"/>
                </a:lnSpc>
                <a:spcBef>
                  <a:spcPts val="0"/>
                </a:spcBef>
                <a:spcAft>
                  <a:spcPts val="0"/>
                </a:spcAft>
                <a:buClr>
                  <a:schemeClr val="lt1"/>
                </a:buClr>
                <a:buSzPts val="3000"/>
                <a:buFont typeface="Calibri"/>
                <a:buNone/>
              </a:pPr>
              <a:r>
                <a:rPr lang="en-US" sz="3000" b="0" i="0" u="none" strike="noStrike" cap="none">
                  <a:solidFill>
                    <a:schemeClr val="lt1"/>
                  </a:solidFill>
                  <a:latin typeface="Calibri"/>
                  <a:ea typeface="Calibri"/>
                  <a:cs typeface="Calibri"/>
                  <a:sym typeface="Calibri"/>
                </a:rPr>
                <a:t>                    </a:t>
              </a:r>
              <a:r>
                <a:rPr lang="en-US" sz="3000" b="1" i="0" u="none" strike="noStrike" cap="none">
                  <a:solidFill>
                    <a:srgbClr val="7030A0"/>
                  </a:solidFill>
                  <a:latin typeface="Arial"/>
                  <a:ea typeface="Arial"/>
                  <a:cs typeface="Arial"/>
                  <a:sym typeface="Arial"/>
                </a:rPr>
                <a:t>Objektif</a:t>
              </a:r>
              <a:endParaRPr sz="1400" b="0" i="0" u="none" strike="noStrike" cap="none">
                <a:solidFill>
                  <a:srgbClr val="7030A0"/>
                </a:solidFill>
                <a:latin typeface="Arial"/>
                <a:ea typeface="Arial"/>
                <a:cs typeface="Arial"/>
                <a:sym typeface="Arial"/>
              </a:endParaRPr>
            </a:p>
          </p:txBody>
        </p:sp>
      </p:grpSp>
      <p:sp>
        <p:nvSpPr>
          <p:cNvPr id="538" name="Google Shape;538;p62"/>
          <p:cNvSpPr txBox="1"/>
          <p:nvPr/>
        </p:nvSpPr>
        <p:spPr>
          <a:xfrm>
            <a:off x="1828800" y="205290"/>
            <a:ext cx="7315473" cy="97706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3600"/>
              <a:buFont typeface="Tahoma"/>
              <a:buNone/>
            </a:pPr>
            <a:r>
              <a:rPr lang="en-US" sz="3200" b="1" i="0" u="none" strike="noStrike" cap="none">
                <a:solidFill>
                  <a:schemeClr val="dk1"/>
                </a:solidFill>
                <a:latin typeface="Federo"/>
                <a:ea typeface="Federo"/>
                <a:cs typeface="Federo"/>
                <a:sym typeface="Federo"/>
              </a:rPr>
              <a:t>2.2.3 Visi, Misi dan Objektif Organisasi</a:t>
            </a:r>
            <a:endParaRPr sz="3200" b="1"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4" name="Google Shape;544;p63"/>
          <p:cNvSpPr txBox="1"/>
          <p:nvPr/>
        </p:nvSpPr>
        <p:spPr>
          <a:xfrm>
            <a:off x="1171575" y="182562"/>
            <a:ext cx="7901940" cy="692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3600"/>
              <a:buFont typeface="Tahoma"/>
              <a:buNone/>
            </a:pPr>
            <a:r>
              <a:rPr lang="en-US" sz="2800" b="1" i="0" u="none" strike="noStrike" cap="none">
                <a:solidFill>
                  <a:schemeClr val="dk1"/>
                </a:solidFill>
                <a:latin typeface="Arial"/>
                <a:ea typeface="Arial"/>
                <a:cs typeface="Arial"/>
                <a:sym typeface="Arial"/>
              </a:rPr>
              <a:t>a. Takrif Visi, Misi dan Objektif Organisasi</a:t>
            </a:r>
            <a:endParaRPr sz="2800" b="1" i="0" u="none" strike="noStrike" cap="none">
              <a:solidFill>
                <a:srgbClr val="000000"/>
              </a:solidFill>
              <a:latin typeface="Arial"/>
              <a:ea typeface="Arial"/>
              <a:cs typeface="Arial"/>
              <a:sym typeface="Arial"/>
            </a:endParaRPr>
          </a:p>
        </p:txBody>
      </p:sp>
      <p:sp>
        <p:nvSpPr>
          <p:cNvPr id="545" name="Google Shape;545;p63"/>
          <p:cNvSpPr txBox="1"/>
          <p:nvPr/>
        </p:nvSpPr>
        <p:spPr>
          <a:xfrm>
            <a:off x="917575" y="874712"/>
            <a:ext cx="7901939" cy="5302803"/>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960"/>
              <a:buFont typeface="Tahoma"/>
              <a:buNone/>
            </a:pPr>
            <a:r>
              <a:rPr lang="en-US" sz="2800" b="1" i="0" u="none" strike="noStrike" cap="none">
                <a:solidFill>
                  <a:schemeClr val="dk1"/>
                </a:solidFill>
                <a:latin typeface="Federo"/>
                <a:ea typeface="Federo"/>
                <a:cs typeface="Federo"/>
                <a:sym typeface="Federo"/>
              </a:rPr>
              <a:t>i. Visi </a:t>
            </a:r>
            <a:endParaRPr sz="2800" b="0" i="0" u="none" strike="noStrike" cap="none">
              <a:solidFill>
                <a:srgbClr val="000000"/>
              </a:solidFill>
              <a:latin typeface="Federo"/>
              <a:ea typeface="Federo"/>
              <a:cs typeface="Federo"/>
              <a:sym typeface="Federo"/>
            </a:endParaRPr>
          </a:p>
          <a:p>
            <a:pPr marL="466725" marR="0" lvl="0" indent="-466725" algn="just" rtl="0">
              <a:lnSpc>
                <a:spcPct val="90000"/>
              </a:lnSpc>
              <a:spcBef>
                <a:spcPts val="600"/>
              </a:spcBef>
              <a:spcAft>
                <a:spcPts val="0"/>
              </a:spcAft>
              <a:buClr>
                <a:srgbClr val="002060"/>
              </a:buClr>
              <a:buSzPts val="2800"/>
              <a:buFont typeface="Noto Sans Symbols"/>
              <a:buChar char="❑"/>
            </a:pPr>
            <a:r>
              <a:rPr lang="en-US" sz="2800" b="1" i="0" u="none" strike="noStrike" cap="none">
                <a:solidFill>
                  <a:srgbClr val="7030A0"/>
                </a:solidFill>
                <a:latin typeface="Federo"/>
                <a:ea typeface="Federo"/>
                <a:cs typeface="Federo"/>
                <a:sym typeface="Federo"/>
              </a:rPr>
              <a:t>Satu pernyataan yang menyeluruh </a:t>
            </a:r>
            <a:r>
              <a:rPr lang="en-US" sz="2800" b="0" i="0" u="none" strike="noStrike" cap="none">
                <a:solidFill>
                  <a:srgbClr val="000000"/>
                </a:solidFill>
                <a:latin typeface="Federo"/>
                <a:ea typeface="Federo"/>
                <a:cs typeface="Federo"/>
                <a:sym typeface="Federo"/>
              </a:rPr>
              <a:t>tentang penubuhan sesebuah organisasi.</a:t>
            </a:r>
            <a:endParaRPr sz="2800" b="0" i="0" u="none" strike="noStrike" cap="none">
              <a:solidFill>
                <a:srgbClr val="000000"/>
              </a:solidFill>
              <a:latin typeface="Federo"/>
              <a:ea typeface="Federo"/>
              <a:cs typeface="Federo"/>
              <a:sym typeface="Federo"/>
            </a:endParaRPr>
          </a:p>
          <a:p>
            <a:pPr marL="466725" marR="0" lvl="0" indent="-466725" algn="just" rtl="0">
              <a:lnSpc>
                <a:spcPct val="9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Merupakan sesuatu yang ideal dan unik untuk dicapai.</a:t>
            </a:r>
            <a:endParaRPr sz="2800" b="0" i="0" u="none" strike="noStrike" cap="none">
              <a:solidFill>
                <a:srgbClr val="000000"/>
              </a:solidFill>
              <a:latin typeface="Federo"/>
              <a:ea typeface="Federo"/>
              <a:cs typeface="Federo"/>
              <a:sym typeface="Federo"/>
            </a:endParaRPr>
          </a:p>
          <a:p>
            <a:pPr marL="466725" marR="0" lvl="0" indent="-466725" algn="just" rtl="0">
              <a:lnSpc>
                <a:spcPct val="9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Merupakan </a:t>
            </a:r>
            <a:r>
              <a:rPr lang="en-US" sz="2800" b="1" i="0" u="none" strike="noStrike" cap="none">
                <a:solidFill>
                  <a:srgbClr val="C00000"/>
                </a:solidFill>
                <a:latin typeface="Federo"/>
                <a:ea typeface="Federo"/>
                <a:cs typeface="Federo"/>
                <a:sym typeface="Federo"/>
              </a:rPr>
              <a:t>matlamat jangka panjang </a:t>
            </a:r>
            <a:r>
              <a:rPr lang="en-US" sz="2800" b="0" i="0" u="none" strike="noStrike" cap="none">
                <a:solidFill>
                  <a:srgbClr val="000000"/>
                </a:solidFill>
                <a:latin typeface="Federo"/>
                <a:ea typeface="Federo"/>
                <a:cs typeface="Federo"/>
                <a:sym typeface="Federo"/>
              </a:rPr>
              <a:t>sesebuah organisasi.</a:t>
            </a:r>
            <a:endParaRPr sz="2800" b="0" i="0" u="none" strike="noStrike" cap="none">
              <a:solidFill>
                <a:srgbClr val="000000"/>
              </a:solidFill>
              <a:latin typeface="Federo"/>
              <a:ea typeface="Federo"/>
              <a:cs typeface="Federo"/>
              <a:sym typeface="Federo"/>
            </a:endParaRPr>
          </a:p>
          <a:p>
            <a:pPr marL="0" marR="0" lvl="0" indent="0" algn="just" rtl="0">
              <a:lnSpc>
                <a:spcPct val="90000"/>
              </a:lnSpc>
              <a:spcBef>
                <a:spcPts val="600"/>
              </a:spcBef>
              <a:spcAft>
                <a:spcPts val="0"/>
              </a:spcAft>
              <a:buNone/>
            </a:pPr>
            <a:r>
              <a:rPr lang="en-US" sz="2800" b="0" i="0" u="none" strike="noStrike" cap="none">
                <a:solidFill>
                  <a:srgbClr val="000000"/>
                </a:solidFill>
                <a:latin typeface="Federo"/>
                <a:ea typeface="Federo"/>
                <a:cs typeface="Federo"/>
                <a:sym typeface="Federo"/>
              </a:rPr>
              <a:t>Ciri-Ciri Visi:</a:t>
            </a:r>
            <a:endParaRPr sz="2800" b="0" i="0" u="none" strike="noStrike" cap="none">
              <a:solidFill>
                <a:srgbClr val="000000"/>
              </a:solidFill>
              <a:latin typeface="Federo"/>
              <a:ea typeface="Federo"/>
              <a:cs typeface="Federo"/>
              <a:sym typeface="Federo"/>
            </a:endParaRPr>
          </a:p>
          <a:p>
            <a:pPr marL="0" marR="0" lvl="0" indent="0" algn="just" rtl="0">
              <a:lnSpc>
                <a:spcPct val="90000"/>
              </a:lnSpc>
              <a:spcBef>
                <a:spcPts val="600"/>
              </a:spcBef>
              <a:spcAft>
                <a:spcPts val="0"/>
              </a:spcAft>
              <a:buClr>
                <a:srgbClr val="000000"/>
              </a:buClr>
              <a:buSzPts val="2400"/>
              <a:buFont typeface="Century Schoolbook"/>
              <a:buNone/>
            </a:pPr>
            <a:r>
              <a:rPr lang="en-US" sz="2800" b="0" i="0" u="none" strike="noStrike" cap="none">
                <a:solidFill>
                  <a:srgbClr val="000000"/>
                </a:solidFill>
                <a:latin typeface="Federo"/>
                <a:ea typeface="Federo"/>
                <a:cs typeface="Federo"/>
                <a:sym typeface="Federo"/>
              </a:rPr>
              <a:t>Ringkas, padat dan jelas (tidak melebihi 25 patah perkataan)</a:t>
            </a:r>
            <a:endParaRPr sz="2800" b="0" i="0" u="none" strike="noStrike" cap="none">
              <a:solidFill>
                <a:schemeClr val="dk1"/>
              </a:solidFill>
              <a:latin typeface="Federo"/>
              <a:ea typeface="Federo"/>
              <a:cs typeface="Federo"/>
              <a:sym typeface="Federo"/>
            </a:endParaRPr>
          </a:p>
          <a:p>
            <a:pPr marL="0" marR="0" lvl="0" indent="0" algn="just" rtl="0">
              <a:lnSpc>
                <a:spcPct val="90000"/>
              </a:lnSpc>
              <a:spcBef>
                <a:spcPts val="600"/>
              </a:spcBef>
              <a:spcAft>
                <a:spcPts val="0"/>
              </a:spcAft>
              <a:buClr>
                <a:srgbClr val="000000"/>
              </a:buClr>
              <a:buSzPts val="2400"/>
              <a:buFont typeface="Century Schoolbook"/>
              <a:buNone/>
            </a:pPr>
            <a:r>
              <a:rPr lang="en-US" sz="2800" b="0" i="0" u="none" strike="noStrike" cap="none">
                <a:solidFill>
                  <a:srgbClr val="000000"/>
                </a:solidFill>
                <a:latin typeface="Federo"/>
                <a:ea typeface="Federo"/>
                <a:cs typeface="Federo"/>
                <a:sym typeface="Federo"/>
              </a:rPr>
              <a:t>Realistik dan menimbulkan semangat</a:t>
            </a:r>
            <a:endParaRPr sz="2800" b="0" i="0" u="none" strike="noStrike" cap="none">
              <a:solidFill>
                <a:schemeClr val="dk1"/>
              </a:solidFill>
              <a:latin typeface="Federo"/>
              <a:ea typeface="Federo"/>
              <a:cs typeface="Federo"/>
              <a:sym typeface="Federo"/>
            </a:endParaRPr>
          </a:p>
          <a:p>
            <a:pPr marL="0" marR="0" lvl="0" indent="0" algn="just" rtl="0">
              <a:lnSpc>
                <a:spcPct val="90000"/>
              </a:lnSpc>
              <a:spcBef>
                <a:spcPts val="600"/>
              </a:spcBef>
              <a:spcAft>
                <a:spcPts val="0"/>
              </a:spcAft>
              <a:buClr>
                <a:srgbClr val="000000"/>
              </a:buClr>
              <a:buSzPts val="2400"/>
              <a:buFont typeface="Century Schoolbook"/>
              <a:buNone/>
            </a:pPr>
            <a:r>
              <a:rPr lang="en-US" sz="2800" b="0" i="0" u="none" strike="noStrike" cap="none">
                <a:solidFill>
                  <a:srgbClr val="000000"/>
                </a:solidFill>
                <a:latin typeface="Federo"/>
                <a:ea typeface="Federo"/>
                <a:cs typeface="Federo"/>
                <a:sym typeface="Federo"/>
              </a:rPr>
              <a:t>Menjawab persoalan apa, untuk siapa dan bila</a:t>
            </a:r>
            <a:endParaRPr sz="2800" b="0" i="0" u="none" strike="noStrike" cap="none">
              <a:solidFill>
                <a:srgbClr val="000000"/>
              </a:solidFill>
              <a:latin typeface="Federo"/>
              <a:ea typeface="Federo"/>
              <a:cs typeface="Federo"/>
              <a:sym typeface="Federo"/>
            </a:endParaRPr>
          </a:p>
          <a:p>
            <a:pPr marL="0" marR="0" lvl="0" indent="0" algn="just" rtl="0">
              <a:lnSpc>
                <a:spcPct val="90000"/>
              </a:lnSpc>
              <a:spcBef>
                <a:spcPts val="600"/>
              </a:spcBef>
              <a:spcAft>
                <a:spcPts val="0"/>
              </a:spcAft>
              <a:buClr>
                <a:schemeClr val="dk1"/>
              </a:buClr>
              <a:buSzPts val="1680"/>
              <a:buFont typeface="Times New Roman"/>
              <a:buNone/>
            </a:pPr>
            <a:endParaRPr sz="2800" b="1" i="0" u="none" strike="noStrike" cap="none">
              <a:solidFill>
                <a:schemeClr val="dk1"/>
              </a:solidFill>
              <a:latin typeface="Federo"/>
              <a:ea typeface="Federo"/>
              <a:cs typeface="Federo"/>
              <a:sym typeface="Federo"/>
            </a:endParaRPr>
          </a:p>
          <a:p>
            <a:pPr marL="0" marR="0" lvl="0" indent="0" algn="just" rtl="0">
              <a:lnSpc>
                <a:spcPct val="90000"/>
              </a:lnSpc>
              <a:spcBef>
                <a:spcPts val="600"/>
              </a:spcBef>
              <a:spcAft>
                <a:spcPts val="0"/>
              </a:spcAft>
              <a:buClr>
                <a:schemeClr val="dk1"/>
              </a:buClr>
              <a:buSzPts val="1680"/>
              <a:buFont typeface="Calibri"/>
              <a:buNone/>
            </a:pPr>
            <a:endParaRPr sz="2800" b="1" i="0" u="none" strike="noStrike" cap="none">
              <a:solidFill>
                <a:srgbClr val="575F6D"/>
              </a:solidFill>
              <a:latin typeface="Federo"/>
              <a:ea typeface="Federo"/>
              <a:cs typeface="Federo"/>
              <a:sym typeface="Federo"/>
            </a:endParaRPr>
          </a:p>
          <a:p>
            <a:pPr marL="0" marR="0" lvl="0" indent="0" algn="just" rtl="0">
              <a:lnSpc>
                <a:spcPct val="90000"/>
              </a:lnSpc>
              <a:spcBef>
                <a:spcPts val="600"/>
              </a:spcBef>
              <a:spcAft>
                <a:spcPts val="0"/>
              </a:spcAft>
              <a:buClr>
                <a:schemeClr val="dk1"/>
              </a:buClr>
              <a:buSzPts val="1680"/>
              <a:buFont typeface="Calibri"/>
              <a:buNone/>
            </a:pPr>
            <a:endParaRPr sz="2800" b="1" i="0" u="none" strike="noStrike" cap="none">
              <a:solidFill>
                <a:srgbClr val="575F6D"/>
              </a:solidFill>
              <a:latin typeface="Federo"/>
              <a:ea typeface="Federo"/>
              <a:cs typeface="Federo"/>
              <a:sym typeface="Federo"/>
            </a:endParaRPr>
          </a:p>
          <a:p>
            <a:pPr marL="0" marR="0" lvl="0" indent="0" algn="l" rtl="0">
              <a:lnSpc>
                <a:spcPct val="90000"/>
              </a:lnSpc>
              <a:spcBef>
                <a:spcPts val="600"/>
              </a:spcBef>
              <a:spcAft>
                <a:spcPts val="0"/>
              </a:spcAft>
              <a:buClr>
                <a:schemeClr val="dk1"/>
              </a:buClr>
              <a:buSzPts val="1680"/>
              <a:buFont typeface="Calibri"/>
              <a:buNone/>
            </a:pPr>
            <a:endParaRPr sz="2800" b="1" i="0" u="none" strike="noStrike" cap="none">
              <a:solidFill>
                <a:srgbClr val="575F6D"/>
              </a:solidFill>
              <a:latin typeface="Federo"/>
              <a:ea typeface="Federo"/>
              <a:cs typeface="Federo"/>
              <a:sym typeface="Federo"/>
            </a:endParaRPr>
          </a:p>
          <a:p>
            <a:pPr marL="0" marR="0" lvl="0" indent="0" algn="l" rtl="0">
              <a:lnSpc>
                <a:spcPct val="90000"/>
              </a:lnSpc>
              <a:spcBef>
                <a:spcPts val="600"/>
              </a:spcBef>
              <a:spcAft>
                <a:spcPts val="0"/>
              </a:spcAft>
              <a:buClr>
                <a:schemeClr val="dk1"/>
              </a:buClr>
              <a:buSzPts val="1680"/>
              <a:buFont typeface="Calibri"/>
              <a:buNone/>
            </a:pPr>
            <a:endParaRPr sz="2800" b="1" i="0" u="none" strike="noStrike" cap="none">
              <a:solidFill>
                <a:srgbClr val="575F6D"/>
              </a:solidFill>
              <a:latin typeface="Federo"/>
              <a:ea typeface="Federo"/>
              <a:cs typeface="Federo"/>
              <a:sym typeface="Federo"/>
            </a:endParaRPr>
          </a:p>
          <a:p>
            <a:pPr marL="0" marR="0" lvl="0" indent="0" algn="l" rtl="0">
              <a:lnSpc>
                <a:spcPct val="90000"/>
              </a:lnSpc>
              <a:spcBef>
                <a:spcPts val="600"/>
              </a:spcBef>
              <a:spcAft>
                <a:spcPts val="0"/>
              </a:spcAft>
              <a:buClr>
                <a:schemeClr val="dk1"/>
              </a:buClr>
              <a:buSzPts val="1680"/>
              <a:buFont typeface="Calibri"/>
              <a:buNone/>
            </a:pPr>
            <a:endParaRPr sz="2800" b="1" i="0" u="none" strike="noStrike" cap="none">
              <a:solidFill>
                <a:srgbClr val="575F6D"/>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pic>
        <p:nvPicPr>
          <p:cNvPr id="550" name="Google Shape;550;p64"/>
          <p:cNvPicPr preferRelativeResize="0"/>
          <p:nvPr/>
        </p:nvPicPr>
        <p:blipFill rotWithShape="1">
          <a:blip r:embed="rId3">
            <a:alphaModFix/>
          </a:blip>
          <a:srcRect/>
          <a:stretch/>
        </p:blipFill>
        <p:spPr>
          <a:xfrm>
            <a:off x="1895475" y="1022349"/>
            <a:ext cx="6924675" cy="4249739"/>
          </a:xfrm>
          <a:prstGeom prst="roundRect">
            <a:avLst>
              <a:gd name="adj" fmla="val 8594"/>
            </a:avLst>
          </a:prstGeom>
          <a:gradFill>
            <a:gsLst>
              <a:gs pos="0">
                <a:srgbClr val="978D63"/>
              </a:gs>
              <a:gs pos="78000">
                <a:srgbClr val="837A4D"/>
              </a:gs>
              <a:gs pos="100000">
                <a:srgbClr val="837A4D"/>
              </a:gs>
            </a:gsLst>
            <a:lin ang="5400000" scaled="0"/>
          </a:gradFill>
          <a:ln>
            <a:noFill/>
          </a:ln>
          <a:effectLst>
            <a:outerShdw blurRad="50800" dist="38100" dir="5400000" rotWithShape="0">
              <a:srgbClr val="000000">
                <a:alpha val="33333"/>
              </a:srgbClr>
            </a:outerShdw>
          </a:effectLst>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6" name="Google Shape;556;p65"/>
          <p:cNvSpPr txBox="1"/>
          <p:nvPr/>
        </p:nvSpPr>
        <p:spPr>
          <a:xfrm>
            <a:off x="1244009" y="214313"/>
            <a:ext cx="7642816" cy="6090793"/>
          </a:xfrm>
          <a:prstGeom prst="rect">
            <a:avLst/>
          </a:prstGeom>
          <a:solidFill>
            <a:srgbClr val="DDEAF6"/>
          </a:solidFill>
          <a:ln>
            <a:noFill/>
          </a:ln>
        </p:spPr>
        <p:txBody>
          <a:bodyPr spcFirstLastPara="1" wrap="square" lIns="91425" tIns="45700" rIns="91425" bIns="45700" anchor="t" anchorCtr="0">
            <a:noAutofit/>
          </a:bodyPr>
          <a:lstStyle/>
          <a:p>
            <a:pPr marL="273050" marR="0" lvl="0" indent="-271145" algn="l" rtl="0">
              <a:lnSpc>
                <a:spcPct val="80000"/>
              </a:lnSpc>
              <a:spcBef>
                <a:spcPts val="1200"/>
              </a:spcBef>
              <a:spcAft>
                <a:spcPts val="0"/>
              </a:spcAft>
              <a:buClr>
                <a:srgbClr val="000000"/>
              </a:buClr>
              <a:buSzPts val="2800"/>
              <a:buFont typeface="Tahoma"/>
              <a:buNone/>
            </a:pPr>
            <a:r>
              <a:rPr lang="en-US" sz="2800" b="1" i="0" u="none" strike="noStrike" cap="none">
                <a:solidFill>
                  <a:srgbClr val="000000"/>
                </a:solidFill>
                <a:latin typeface="Federo"/>
                <a:ea typeface="Federo"/>
                <a:cs typeface="Federo"/>
                <a:sym typeface="Federo"/>
              </a:rPr>
              <a:t>ii. Misi</a:t>
            </a:r>
            <a:endParaRPr sz="2800" b="1" i="0" u="none" strike="noStrike" cap="none">
              <a:solidFill>
                <a:srgbClr val="000000"/>
              </a:solidFill>
              <a:latin typeface="Federo"/>
              <a:ea typeface="Federo"/>
              <a:cs typeface="Federo"/>
              <a:sym typeface="Federo"/>
            </a:endParaRPr>
          </a:p>
          <a:p>
            <a:pPr marL="273050" marR="0" lvl="0" indent="-271145" algn="l" rtl="0">
              <a:lnSpc>
                <a:spcPct val="80000"/>
              </a:lnSpc>
              <a:spcBef>
                <a:spcPts val="1200"/>
              </a:spcBef>
              <a:spcAft>
                <a:spcPts val="0"/>
              </a:spcAft>
              <a:buClr>
                <a:srgbClr val="000000"/>
              </a:buClr>
              <a:buSzPts val="2800"/>
              <a:buFont typeface="Tahoma"/>
              <a:buNone/>
            </a:pPr>
            <a:endParaRPr sz="2800" b="0" i="0" u="none" strike="noStrike" cap="none">
              <a:solidFill>
                <a:srgbClr val="000000"/>
              </a:solidFill>
              <a:latin typeface="Federo"/>
              <a:ea typeface="Federo"/>
              <a:cs typeface="Federo"/>
              <a:sym typeface="Federo"/>
            </a:endParaRPr>
          </a:p>
          <a:p>
            <a:pPr marL="459105" marR="0" lvl="0" indent="-457200" algn="l" rtl="0">
              <a:lnSpc>
                <a:spcPct val="80000"/>
              </a:lnSpc>
              <a:spcBef>
                <a:spcPts val="1200"/>
              </a:spcBef>
              <a:spcAft>
                <a:spcPts val="0"/>
              </a:spcAft>
              <a:buClr>
                <a:srgbClr val="002060"/>
              </a:buClr>
              <a:buSzPts val="2800"/>
              <a:buFont typeface="Noto Sans Symbols"/>
              <a:buChar char="❑"/>
            </a:pPr>
            <a:r>
              <a:rPr lang="en-US" sz="2800" b="0" i="0" u="none" strike="noStrike" cap="none">
                <a:solidFill>
                  <a:srgbClr val="C00000"/>
                </a:solidFill>
                <a:latin typeface="Federo"/>
                <a:ea typeface="Federo"/>
                <a:cs typeface="Federo"/>
                <a:sym typeface="Federo"/>
              </a:rPr>
              <a:t>Tujuan utama </a:t>
            </a:r>
            <a:r>
              <a:rPr lang="en-US" sz="2800" b="0" i="0" u="none" strike="noStrike" cap="none">
                <a:solidFill>
                  <a:srgbClr val="000000"/>
                </a:solidFill>
                <a:latin typeface="Federo"/>
                <a:ea typeface="Federo"/>
                <a:cs typeface="Federo"/>
                <a:sym typeface="Federo"/>
              </a:rPr>
              <a:t>sesebuah organisasi ditubuhkan.</a:t>
            </a:r>
            <a:endParaRPr sz="2800" b="0" i="0" u="none" strike="noStrike" cap="none">
              <a:solidFill>
                <a:srgbClr val="000000"/>
              </a:solidFill>
              <a:latin typeface="Federo"/>
              <a:ea typeface="Federo"/>
              <a:cs typeface="Federo"/>
              <a:sym typeface="Federo"/>
            </a:endParaRPr>
          </a:p>
          <a:p>
            <a:pPr marL="459105" marR="0" lvl="0" indent="-457200" algn="l" rtl="0">
              <a:lnSpc>
                <a:spcPct val="80000"/>
              </a:lnSpc>
              <a:spcBef>
                <a:spcPts val="12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Biasanya misi dinyatakan dalam bentuk yang umum, luas dan memperlihatkan nilai-nilai kepercayaan,</a:t>
            </a:r>
            <a:r>
              <a:rPr lang="en-US" sz="2800" b="0" i="0" u="none" strike="noStrike" cap="none">
                <a:solidFill>
                  <a:srgbClr val="FF0000"/>
                </a:solidFill>
                <a:latin typeface="Federo"/>
                <a:ea typeface="Federo"/>
                <a:cs typeface="Federo"/>
                <a:sym typeface="Federo"/>
              </a:rPr>
              <a:t> keluaran utama, pasaran utama, sifat orang yang memegang kepentingan dalam firma dan masyarakat</a:t>
            </a:r>
            <a:r>
              <a:rPr lang="en-US" sz="2800" b="0" i="0" u="none" strike="noStrike" cap="none">
                <a:solidFill>
                  <a:srgbClr val="000000"/>
                </a:solidFill>
                <a:latin typeface="Federo"/>
                <a:ea typeface="Federo"/>
                <a:cs typeface="Federo"/>
                <a:sym typeface="Federo"/>
              </a:rPr>
              <a:t> dan falsafah pengurusan.</a:t>
            </a:r>
            <a:endParaRPr sz="2800" b="0" i="0" u="none" strike="noStrike" cap="none">
              <a:solidFill>
                <a:srgbClr val="000000"/>
              </a:solidFill>
              <a:latin typeface="Federo"/>
              <a:ea typeface="Federo"/>
              <a:cs typeface="Federo"/>
              <a:sym typeface="Federo"/>
            </a:endParaRPr>
          </a:p>
          <a:p>
            <a:pPr marL="459105" marR="0" lvl="0" indent="-457200" algn="l" rtl="0">
              <a:lnSpc>
                <a:spcPct val="80000"/>
              </a:lnSpc>
              <a:spcBef>
                <a:spcPts val="12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Membentuk identiti dan imej organisasi.</a:t>
            </a:r>
            <a:endParaRPr sz="2800" b="0" i="0" u="none" strike="noStrike" cap="none">
              <a:solidFill>
                <a:srgbClr val="000000"/>
              </a:solidFill>
              <a:latin typeface="Federo"/>
              <a:ea typeface="Federo"/>
              <a:cs typeface="Federo"/>
              <a:sym typeface="Federo"/>
            </a:endParaRPr>
          </a:p>
          <a:p>
            <a:pPr marL="459105" marR="0" lvl="0" indent="-457200" algn="l" rtl="0">
              <a:lnSpc>
                <a:spcPct val="80000"/>
              </a:lnSpc>
              <a:spcBef>
                <a:spcPts val="12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Misi penting sebagai panduan dan motivasi ahli organisasi – hala tuju yang dikongsi bersama – dapat memfokus usaha.</a:t>
            </a:r>
            <a:endParaRPr sz="2800" b="0" i="0" u="none" strike="noStrike" cap="none">
              <a:solidFill>
                <a:srgbClr val="000000"/>
              </a:solidFill>
              <a:latin typeface="Federo"/>
              <a:ea typeface="Federo"/>
              <a:cs typeface="Federo"/>
              <a:sym typeface="Federo"/>
            </a:endParaRPr>
          </a:p>
          <a:p>
            <a:pPr marL="273050" marR="0" lvl="0" indent="-271145" algn="just" rtl="0">
              <a:lnSpc>
                <a:spcPct val="80000"/>
              </a:lnSpc>
              <a:spcBef>
                <a:spcPts val="1200"/>
              </a:spcBef>
              <a:spcAft>
                <a:spcPts val="0"/>
              </a:spcAft>
              <a:buClr>
                <a:schemeClr val="lt1"/>
              </a:buClr>
              <a:buSzPts val="2800"/>
              <a:buFont typeface="Tahoma"/>
              <a:buNone/>
            </a:pPr>
            <a:endParaRPr sz="2800" b="0" i="0" u="none" strike="noStrike" cap="none">
              <a:solidFill>
                <a:srgbClr val="000000"/>
              </a:solidFill>
              <a:latin typeface="Federo"/>
              <a:ea typeface="Federo"/>
              <a:cs typeface="Federo"/>
              <a:sym typeface="Federo"/>
            </a:endParaRPr>
          </a:p>
          <a:p>
            <a:pPr marL="0" marR="0" lvl="0" indent="0" algn="l" rtl="0">
              <a:lnSpc>
                <a:spcPct val="100000"/>
              </a:lnSpc>
              <a:spcBef>
                <a:spcPts val="1200"/>
              </a:spcBef>
              <a:spcAft>
                <a:spcPts val="0"/>
              </a:spcAft>
              <a:buClr>
                <a:srgbClr val="000000"/>
              </a:buClr>
              <a:buSzPts val="2800"/>
              <a:buFont typeface="Arial"/>
              <a:buNone/>
            </a:pPr>
            <a:endParaRPr sz="28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pic>
        <p:nvPicPr>
          <p:cNvPr id="561" name="Google Shape;561;p66"/>
          <p:cNvPicPr preferRelativeResize="0"/>
          <p:nvPr/>
        </p:nvPicPr>
        <p:blipFill rotWithShape="1">
          <a:blip r:embed="rId3">
            <a:alphaModFix/>
          </a:blip>
          <a:srcRect/>
          <a:stretch/>
        </p:blipFill>
        <p:spPr>
          <a:xfrm>
            <a:off x="2112962" y="1089025"/>
            <a:ext cx="6511925" cy="4608512"/>
          </a:xfrm>
          <a:prstGeom prst="roundRect">
            <a:avLst>
              <a:gd name="adj" fmla="val 8594"/>
            </a:avLst>
          </a:prstGeom>
          <a:solidFill>
            <a:schemeClr val="lt1"/>
          </a:solidFill>
          <a:ln w="19050" cap="rnd" cmpd="sng">
            <a:solidFill>
              <a:schemeClr val="accent2"/>
            </a:solidFill>
            <a:prstDash val="solid"/>
            <a:round/>
            <a:headEnd type="none" w="sm" len="sm"/>
            <a:tailEnd type="none" w="sm" len="sm"/>
          </a:ln>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7" name="Google Shape;567;p67"/>
          <p:cNvSpPr txBox="1"/>
          <p:nvPr/>
        </p:nvSpPr>
        <p:spPr>
          <a:xfrm>
            <a:off x="1967024" y="225162"/>
            <a:ext cx="6930092" cy="4623286"/>
          </a:xfrm>
          <a:prstGeom prst="rect">
            <a:avLst/>
          </a:prstGeom>
          <a:noFill/>
          <a:ln>
            <a:noFill/>
          </a:ln>
        </p:spPr>
        <p:txBody>
          <a:bodyPr spcFirstLastPara="1" wrap="square" lIns="91425" tIns="45700" rIns="91425" bIns="45700" anchor="t" anchorCtr="0">
            <a:noAutofit/>
          </a:bodyPr>
          <a:lstStyle/>
          <a:p>
            <a:pPr marL="273050" marR="0" lvl="0" indent="-271145" algn="l" rtl="0">
              <a:lnSpc>
                <a:spcPct val="100000"/>
              </a:lnSpc>
              <a:spcBef>
                <a:spcPts val="0"/>
              </a:spcBef>
              <a:spcAft>
                <a:spcPts val="0"/>
              </a:spcAft>
              <a:buClr>
                <a:srgbClr val="000000"/>
              </a:buClr>
              <a:buSzPts val="2400"/>
              <a:buFont typeface="Century Schoolbook"/>
              <a:buNone/>
            </a:pPr>
            <a:r>
              <a:rPr lang="en-US" sz="2800" b="1" i="0" u="none" strike="noStrike" cap="none">
                <a:solidFill>
                  <a:srgbClr val="000000"/>
                </a:solidFill>
                <a:latin typeface="Federo"/>
                <a:ea typeface="Federo"/>
                <a:cs typeface="Federo"/>
                <a:sym typeface="Federo"/>
              </a:rPr>
              <a:t>iii. Objektif  </a:t>
            </a:r>
            <a:endParaRPr sz="2800" b="0" i="0" u="none" strike="noStrike" cap="none">
              <a:solidFill>
                <a:srgbClr val="000000"/>
              </a:solidFill>
              <a:latin typeface="Federo"/>
              <a:ea typeface="Federo"/>
              <a:cs typeface="Federo"/>
              <a:sym typeface="Federo"/>
            </a:endParaRPr>
          </a:p>
          <a:p>
            <a:pPr marL="273050" marR="0" lvl="0" indent="-271145" algn="l" rtl="0">
              <a:lnSpc>
                <a:spcPct val="100000"/>
              </a:lnSpc>
              <a:spcBef>
                <a:spcPts val="0"/>
              </a:spcBef>
              <a:spcAft>
                <a:spcPts val="0"/>
              </a:spcAft>
              <a:buClr>
                <a:srgbClr val="000000"/>
              </a:buClr>
              <a:buSzPts val="2400"/>
              <a:buFont typeface="Century Schoolbook"/>
              <a:buNone/>
            </a:pPr>
            <a:endParaRPr sz="2800" b="0" i="0" u="none" strike="noStrike" cap="none">
              <a:solidFill>
                <a:srgbClr val="000000"/>
              </a:solidFill>
              <a:latin typeface="Federo"/>
              <a:ea typeface="Federo"/>
              <a:cs typeface="Federo"/>
              <a:sym typeface="Federo"/>
            </a:endParaRPr>
          </a:p>
          <a:p>
            <a:pPr marL="459105" marR="0" lvl="0" indent="-457200" algn="l"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Merupakan sasaran atau hasil akhir yang</a:t>
            </a:r>
            <a:r>
              <a:rPr lang="en-US" sz="2800" b="0" i="0" u="none" strike="noStrike" cap="none">
                <a:solidFill>
                  <a:srgbClr val="FF0000"/>
                </a:solidFill>
                <a:latin typeface="Federo"/>
                <a:ea typeface="Federo"/>
                <a:cs typeface="Federo"/>
                <a:sym typeface="Federo"/>
              </a:rPr>
              <a:t> cuba/dijangka dapat</a:t>
            </a:r>
            <a:r>
              <a:rPr lang="en-US" sz="2800" b="0" i="0" u="none" strike="noStrike" cap="none">
                <a:solidFill>
                  <a:srgbClr val="000000"/>
                </a:solidFill>
                <a:latin typeface="Federo"/>
                <a:ea typeface="Federo"/>
                <a:cs typeface="Federo"/>
                <a:sym typeface="Federo"/>
              </a:rPr>
              <a:t> dicapai oleh sesebuah organisasi – terbentuk daripada misi.</a:t>
            </a:r>
            <a:endParaRPr sz="2800" b="0" i="0" u="none" strike="noStrike" cap="none">
              <a:solidFill>
                <a:srgbClr val="000000"/>
              </a:solidFill>
              <a:latin typeface="Federo"/>
              <a:ea typeface="Federo"/>
              <a:cs typeface="Federo"/>
              <a:sym typeface="Federo"/>
            </a:endParaRPr>
          </a:p>
          <a:p>
            <a:pPr marL="459105" marR="0" lvl="0" indent="-457200" algn="l"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Biasanya dinyatakan dalam bentuk yang lebih khusus  berbanding misi organisasi – dimensi masa lebih jelas.</a:t>
            </a:r>
            <a:endParaRPr sz="2800" b="0" i="0" u="none" strike="noStrike" cap="none">
              <a:solidFill>
                <a:srgbClr val="000000"/>
              </a:solidFill>
              <a:latin typeface="Federo"/>
              <a:ea typeface="Federo"/>
              <a:cs typeface="Federo"/>
              <a:sym typeface="Federo"/>
            </a:endParaRPr>
          </a:p>
          <a:p>
            <a:pPr marL="459105" marR="0" lvl="0" indent="-457200" algn="l" rtl="0">
              <a:lnSpc>
                <a:spcPct val="100000"/>
              </a:lnSpc>
              <a:spcBef>
                <a:spcPts val="600"/>
              </a:spcBef>
              <a:spcAft>
                <a:spcPts val="0"/>
              </a:spcAft>
              <a:buClr>
                <a:srgbClr val="002060"/>
              </a:buClr>
              <a:buSzPts val="2800"/>
              <a:buFont typeface="Noto Sans Symbols"/>
              <a:buChar char="❑"/>
            </a:pPr>
            <a:r>
              <a:rPr lang="en-US" sz="2800" b="0" i="0" u="none" strike="noStrike" cap="none">
                <a:solidFill>
                  <a:srgbClr val="000000"/>
                </a:solidFill>
                <a:latin typeface="Federo"/>
                <a:ea typeface="Federo"/>
                <a:cs typeface="Federo"/>
                <a:sym typeface="Federo"/>
              </a:rPr>
              <a:t>Setiap bahagian atau unit akan menetapkan objektif masing-masing selari dengan misi organisasi.</a:t>
            </a:r>
            <a:endParaRPr sz="2800" b="0" i="0" u="none" strike="noStrike" cap="none">
              <a:solidFill>
                <a:srgbClr val="000000"/>
              </a:solidFill>
              <a:latin typeface="Federo"/>
              <a:ea typeface="Federo"/>
              <a:cs typeface="Federo"/>
              <a:sym typeface="Federo"/>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3" name="Google Shape;573;p68"/>
          <p:cNvSpPr/>
          <p:nvPr/>
        </p:nvSpPr>
        <p:spPr>
          <a:xfrm>
            <a:off x="1392866" y="430768"/>
            <a:ext cx="6836734" cy="2014720"/>
          </a:xfrm>
          <a:prstGeom prst="rect">
            <a:avLst/>
          </a:prstGeom>
          <a:noFill/>
          <a:ln>
            <a:noFill/>
          </a:ln>
        </p:spPr>
        <p:txBody>
          <a:bodyPr spcFirstLastPara="1" wrap="square" lIns="91425" tIns="45700" rIns="91425" bIns="45700" anchor="t" anchorCtr="0">
            <a:noAutofit/>
          </a:bodyPr>
          <a:lstStyle/>
          <a:p>
            <a:pPr marL="1905" marR="0" lvl="0" indent="0" algn="l" rtl="0">
              <a:lnSpc>
                <a:spcPct val="100000"/>
              </a:lnSpc>
              <a:spcBef>
                <a:spcPts val="0"/>
              </a:spcBef>
              <a:spcAft>
                <a:spcPts val="0"/>
              </a:spcAft>
              <a:buNone/>
            </a:pPr>
            <a:r>
              <a:rPr lang="en-US" sz="2800" b="0" i="0" u="none" strike="noStrike" cap="none">
                <a:solidFill>
                  <a:srgbClr val="000000"/>
                </a:solidFill>
                <a:latin typeface="Federo"/>
                <a:ea typeface="Federo"/>
                <a:cs typeface="Federo"/>
                <a:sym typeface="Federo"/>
              </a:rPr>
              <a:t>Ciri objektif – </a:t>
            </a:r>
            <a:r>
              <a:rPr lang="en-US" sz="2800" b="0" i="0" u="none" strike="noStrike" cap="none">
                <a:solidFill>
                  <a:schemeClr val="dk1"/>
                </a:solidFill>
                <a:latin typeface="Federo"/>
                <a:ea typeface="Federo"/>
                <a:cs typeface="Federo"/>
                <a:sym typeface="Federo"/>
              </a:rPr>
              <a:t>Spesifik, Boleh diukur, Boleh dicapai, Dikaitkan dengan Ganjaran, Mempunyai tempoh masa. </a:t>
            </a:r>
            <a:endParaRPr sz="2800" b="0" i="0" u="none" strike="noStrike" cap="none">
              <a:solidFill>
                <a:schemeClr val="dk1"/>
              </a:solidFill>
              <a:latin typeface="Federo"/>
              <a:ea typeface="Federo"/>
              <a:cs typeface="Federo"/>
              <a:sym typeface="Federo"/>
            </a:endParaRPr>
          </a:p>
          <a:p>
            <a:pPr marL="344805" marR="0" lvl="0" indent="-342900" algn="l" rtl="0">
              <a:lnSpc>
                <a:spcPct val="100000"/>
              </a:lnSpc>
              <a:spcBef>
                <a:spcPts val="600"/>
              </a:spcBef>
              <a:spcAft>
                <a:spcPts val="0"/>
              </a:spcAft>
              <a:buClr>
                <a:srgbClr val="FE8637"/>
              </a:buClr>
              <a:buSzPts val="2496"/>
              <a:buFont typeface="Noto Sans Symbols"/>
              <a:buChar char="▪"/>
            </a:pPr>
            <a:r>
              <a:rPr lang="en-US" sz="2800" b="0" i="0" u="none" strike="noStrike" cap="none">
                <a:solidFill>
                  <a:srgbClr val="FF0000"/>
                </a:solidFill>
                <a:latin typeface="Federo"/>
                <a:ea typeface="Federo"/>
                <a:cs typeface="Federo"/>
                <a:sym typeface="Federo"/>
              </a:rPr>
              <a:t>’SMART'</a:t>
            </a:r>
            <a:endParaRPr sz="2800" b="0" i="0" u="none" strike="noStrike" cap="none">
              <a:solidFill>
                <a:srgbClr val="000000"/>
              </a:solidFill>
              <a:latin typeface="Federo"/>
              <a:ea typeface="Federo"/>
              <a:cs typeface="Federo"/>
              <a:sym typeface="Federo"/>
            </a:endParaRPr>
          </a:p>
        </p:txBody>
      </p:sp>
      <p:pic>
        <p:nvPicPr>
          <p:cNvPr id="574" name="Google Shape;574;p68"/>
          <p:cNvPicPr preferRelativeResize="0"/>
          <p:nvPr/>
        </p:nvPicPr>
        <p:blipFill rotWithShape="1">
          <a:blip r:embed="rId3">
            <a:alphaModFix/>
          </a:blip>
          <a:srcRect/>
          <a:stretch/>
        </p:blipFill>
        <p:spPr>
          <a:xfrm>
            <a:off x="1733107" y="2541181"/>
            <a:ext cx="7016159" cy="2488020"/>
          </a:xfrm>
          <a:prstGeom prst="rect">
            <a:avLst/>
          </a:prstGeom>
          <a:noFill/>
          <a:ln>
            <a:noFill/>
          </a:ln>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graphicFrame>
        <p:nvGraphicFramePr>
          <p:cNvPr id="580" name="Google Shape;580;p69"/>
          <p:cNvGraphicFramePr/>
          <p:nvPr>
            <p:extLst>
              <p:ext uri="{D42A27DB-BD31-4B8C-83A1-F6EECF244321}">
                <p14:modId xmlns:p14="http://schemas.microsoft.com/office/powerpoint/2010/main" val="3475004843"/>
              </p:ext>
            </p:extLst>
          </p:nvPr>
        </p:nvGraphicFramePr>
        <p:xfrm>
          <a:off x="31898" y="1052134"/>
          <a:ext cx="9112100" cy="5097947"/>
        </p:xfrm>
        <a:graphic>
          <a:graphicData uri="http://schemas.openxmlformats.org/drawingml/2006/table">
            <a:tbl>
              <a:tblPr>
                <a:noFill/>
                <a:tableStyleId>{59B25488-A5DE-4F59-A538-0FB574A2CB1F}</a:tableStyleId>
              </a:tblPr>
              <a:tblGrid>
                <a:gridCol w="2299225">
                  <a:extLst>
                    <a:ext uri="{9D8B030D-6E8A-4147-A177-3AD203B41FA5}">
                      <a16:colId xmlns:a16="http://schemas.microsoft.com/office/drawing/2014/main" val="20000"/>
                    </a:ext>
                  </a:extLst>
                </a:gridCol>
                <a:gridCol w="6812875">
                  <a:extLst>
                    <a:ext uri="{9D8B030D-6E8A-4147-A177-3AD203B41FA5}">
                      <a16:colId xmlns:a16="http://schemas.microsoft.com/office/drawing/2014/main" val="20001"/>
                    </a:ext>
                  </a:extLst>
                </a:gridCol>
              </a:tblGrid>
              <a:tr h="47007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Federo"/>
                          <a:ea typeface="Federo"/>
                          <a:cs typeface="Federo"/>
                          <a:sym typeface="Federo"/>
                        </a:rPr>
                        <a:t>CIRI</a:t>
                      </a:r>
                      <a:endParaRPr sz="2400" u="none" strike="noStrike" cap="none">
                        <a:latin typeface="Federo"/>
                        <a:ea typeface="Federo"/>
                        <a:cs typeface="Federo"/>
                        <a:sym typeface="Federo"/>
                      </a:endParaRPr>
                    </a:p>
                  </a:txBody>
                  <a:tcPr marL="91450" marR="91450" marT="45725" marB="45725">
                    <a:solidFill>
                      <a:srgbClr val="B3C6E7"/>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Federo"/>
                          <a:ea typeface="Federo"/>
                          <a:cs typeface="Federo"/>
                          <a:sym typeface="Federo"/>
                        </a:rPr>
                        <a:t>HURAIAN</a:t>
                      </a:r>
                      <a:endParaRPr sz="2400" u="none" strike="noStrike" cap="none">
                        <a:latin typeface="Federo"/>
                        <a:ea typeface="Federo"/>
                        <a:cs typeface="Federo"/>
                        <a:sym typeface="Federo"/>
                      </a:endParaRPr>
                    </a:p>
                  </a:txBody>
                  <a:tcPr marL="91450" marR="91450" marT="45725" marB="45725">
                    <a:solidFill>
                      <a:srgbClr val="B3C6E7"/>
                    </a:solidFill>
                  </a:tcPr>
                </a:tc>
                <a:extLst>
                  <a:ext uri="{0D108BD9-81ED-4DB2-BD59-A6C34878D82A}">
                    <a16:rowId xmlns:a16="http://schemas.microsoft.com/office/drawing/2014/main" val="10000"/>
                  </a:ext>
                </a:extLst>
              </a:tr>
              <a:tr h="846125">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b="0" u="none" strike="noStrike" cap="none">
                          <a:solidFill>
                            <a:schemeClr val="dk1"/>
                          </a:solidFill>
                          <a:latin typeface="Federo"/>
                          <a:ea typeface="Federo"/>
                          <a:cs typeface="Federo"/>
                          <a:sym typeface="Federo"/>
                        </a:rPr>
                        <a:t>i. Spesifik</a:t>
                      </a:r>
                      <a:endParaRPr sz="2400" b="0" u="none" strike="noStrike" cap="none">
                        <a:solidFill>
                          <a:schemeClr val="dk1"/>
                        </a:solidFill>
                        <a:latin typeface="Federo"/>
                        <a:ea typeface="Federo"/>
                        <a:cs typeface="Federo"/>
                        <a:sym typeface="Federo"/>
                      </a:endParaRPr>
                    </a:p>
                  </a:txBody>
                  <a:tcPr marL="91450" marR="91450" marT="45725" marB="45725">
                    <a:solidFill>
                      <a:srgbClr val="DDEAF6"/>
                    </a:solidFill>
                  </a:tcPr>
                </a:tc>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u="none" strike="noStrike" cap="none">
                          <a:solidFill>
                            <a:schemeClr val="dk1"/>
                          </a:solidFill>
                          <a:latin typeface="Federo"/>
                          <a:ea typeface="Federo"/>
                          <a:cs typeface="Federo"/>
                          <a:sym typeface="Federo"/>
                        </a:rPr>
                        <a:t>Objektif yang ditetapkan mestilah khusus (mendalam) dan jelas.</a:t>
                      </a:r>
                      <a:endParaRPr sz="2400" u="none" strike="noStrike" cap="none">
                        <a:latin typeface="Federo"/>
                        <a:ea typeface="Federo"/>
                        <a:cs typeface="Federo"/>
                        <a:sym typeface="Federo"/>
                      </a:endParaRPr>
                    </a:p>
                  </a:txBody>
                  <a:tcPr marL="91450" marR="91450" marT="45725" marB="45725">
                    <a:solidFill>
                      <a:srgbClr val="DDEAF6"/>
                    </a:solidFill>
                  </a:tcPr>
                </a:tc>
                <a:extLst>
                  <a:ext uri="{0D108BD9-81ED-4DB2-BD59-A6C34878D82A}">
                    <a16:rowId xmlns:a16="http://schemas.microsoft.com/office/drawing/2014/main" val="10001"/>
                  </a:ext>
                </a:extLst>
              </a:tr>
              <a:tr h="799072">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b="0" u="none" strike="noStrike" cap="none">
                          <a:solidFill>
                            <a:schemeClr val="dk1"/>
                          </a:solidFill>
                          <a:latin typeface="Federo"/>
                          <a:ea typeface="Federo"/>
                          <a:cs typeface="Federo"/>
                          <a:sym typeface="Federo"/>
                        </a:rPr>
                        <a:t>ii. Boleh Diukur</a:t>
                      </a:r>
                      <a:endParaRPr sz="2400" b="0" u="none" strike="noStrike" cap="none">
                        <a:solidFill>
                          <a:schemeClr val="dk1"/>
                        </a:solidFill>
                        <a:latin typeface="Federo"/>
                        <a:ea typeface="Federo"/>
                        <a:cs typeface="Federo"/>
                        <a:sym typeface="Federo"/>
                      </a:endParaRPr>
                    </a:p>
                    <a:p>
                      <a:pPr marL="0" marR="0" lvl="0" indent="0" algn="l" rtl="0">
                        <a:lnSpc>
                          <a:spcPct val="100000"/>
                        </a:lnSpc>
                        <a:spcBef>
                          <a:spcPts val="0"/>
                        </a:spcBef>
                        <a:spcAft>
                          <a:spcPts val="0"/>
                        </a:spcAft>
                        <a:buClr>
                          <a:schemeClr val="dk1"/>
                        </a:buClr>
                        <a:buSzPts val="2400"/>
                        <a:buFont typeface="Twentieth Century"/>
                        <a:buNone/>
                      </a:pPr>
                      <a:endParaRPr sz="2400" b="0" u="none" strike="noStrike" cap="none">
                        <a:solidFill>
                          <a:schemeClr val="dk1"/>
                        </a:solidFill>
                        <a:latin typeface="Federo"/>
                        <a:ea typeface="Federo"/>
                        <a:cs typeface="Federo"/>
                        <a:sym typeface="Federo"/>
                      </a:endParaRPr>
                    </a:p>
                  </a:txBody>
                  <a:tcPr marL="91450" marR="91450" marT="45725" marB="45725">
                    <a:solidFill>
                      <a:srgbClr val="DDEAF6"/>
                    </a:solidFill>
                  </a:tcPr>
                </a:tc>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u="none" strike="noStrike" cap="none">
                          <a:solidFill>
                            <a:schemeClr val="dk1"/>
                          </a:solidFill>
                          <a:latin typeface="Federo"/>
                          <a:ea typeface="Federo"/>
                          <a:cs typeface="Federo"/>
                          <a:sym typeface="Federo"/>
                        </a:rPr>
                        <a:t>Objektif perlu dinyatakan dalam bentuk kuantitatif .</a:t>
                      </a:r>
                      <a:endParaRPr sz="2400" u="none" strike="noStrike" cap="none">
                        <a:latin typeface="Federo"/>
                        <a:ea typeface="Federo"/>
                        <a:cs typeface="Federo"/>
                        <a:sym typeface="Federo"/>
                      </a:endParaRPr>
                    </a:p>
                    <a:p>
                      <a:pPr marL="0" marR="0" lvl="0" indent="0" algn="l" rtl="0">
                        <a:lnSpc>
                          <a:spcPct val="100000"/>
                        </a:lnSpc>
                        <a:spcBef>
                          <a:spcPts val="0"/>
                        </a:spcBef>
                        <a:spcAft>
                          <a:spcPts val="0"/>
                        </a:spcAft>
                        <a:buClr>
                          <a:schemeClr val="dk1"/>
                        </a:buClr>
                        <a:buSzPts val="2400"/>
                        <a:buFont typeface="Twentieth Century"/>
                        <a:buNone/>
                      </a:pPr>
                      <a:endParaRPr sz="2400" u="none" strike="noStrike" cap="none">
                        <a:solidFill>
                          <a:schemeClr val="dk1"/>
                        </a:solidFill>
                        <a:latin typeface="Federo"/>
                        <a:ea typeface="Federo"/>
                        <a:cs typeface="Federo"/>
                        <a:sym typeface="Federo"/>
                      </a:endParaRPr>
                    </a:p>
                  </a:txBody>
                  <a:tcPr marL="91450" marR="91450" marT="45725" marB="45725">
                    <a:solidFill>
                      <a:srgbClr val="DDEAF6"/>
                    </a:solidFill>
                  </a:tcPr>
                </a:tc>
                <a:extLst>
                  <a:ext uri="{0D108BD9-81ED-4DB2-BD59-A6C34878D82A}">
                    <a16:rowId xmlns:a16="http://schemas.microsoft.com/office/drawing/2014/main" val="10002"/>
                  </a:ext>
                </a:extLst>
              </a:tr>
              <a:tr h="890502">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b="0" u="none" strike="noStrike" cap="none">
                          <a:solidFill>
                            <a:schemeClr val="dk1"/>
                          </a:solidFill>
                          <a:latin typeface="Federo"/>
                          <a:ea typeface="Federo"/>
                          <a:cs typeface="Federo"/>
                          <a:sym typeface="Federo"/>
                        </a:rPr>
                        <a:t>iii. Boleh dicapai</a:t>
                      </a:r>
                      <a:endParaRPr sz="2400" b="0" u="none" strike="noStrike" cap="none">
                        <a:solidFill>
                          <a:schemeClr val="dk1"/>
                        </a:solidFill>
                        <a:latin typeface="Federo"/>
                        <a:ea typeface="Federo"/>
                        <a:cs typeface="Federo"/>
                        <a:sym typeface="Federo"/>
                      </a:endParaRPr>
                    </a:p>
                    <a:p>
                      <a:pPr marL="0" marR="0" lvl="0" indent="0" algn="l" rtl="0">
                        <a:lnSpc>
                          <a:spcPct val="100000"/>
                        </a:lnSpc>
                        <a:spcBef>
                          <a:spcPts val="0"/>
                        </a:spcBef>
                        <a:spcAft>
                          <a:spcPts val="0"/>
                        </a:spcAft>
                        <a:buClr>
                          <a:schemeClr val="dk1"/>
                        </a:buClr>
                        <a:buSzPts val="2400"/>
                        <a:buFont typeface="Twentieth Century"/>
                        <a:buNone/>
                      </a:pPr>
                      <a:endParaRPr sz="2400" b="0" u="none" strike="noStrike" cap="none">
                        <a:solidFill>
                          <a:schemeClr val="dk1"/>
                        </a:solidFill>
                        <a:latin typeface="Federo"/>
                        <a:ea typeface="Federo"/>
                        <a:cs typeface="Federo"/>
                        <a:sym typeface="Federo"/>
                      </a:endParaRPr>
                    </a:p>
                  </a:txBody>
                  <a:tcPr marL="91450" marR="91450" marT="45725" marB="45725">
                    <a:solidFill>
                      <a:srgbClr val="DDEAF6"/>
                    </a:solidFill>
                  </a:tcPr>
                </a:tc>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u="none" strike="noStrike" cap="none">
                          <a:solidFill>
                            <a:schemeClr val="dk1"/>
                          </a:solidFill>
                          <a:latin typeface="Federo"/>
                          <a:ea typeface="Federo"/>
                          <a:cs typeface="Federo"/>
                          <a:sym typeface="Federo"/>
                        </a:rPr>
                        <a:t>Matlamat mestilah mencabar tetapi boleh dicapai (Realistik).</a:t>
                      </a:r>
                      <a:endParaRPr sz="2400" u="none" strike="noStrike" cap="none">
                        <a:latin typeface="Federo"/>
                        <a:ea typeface="Federo"/>
                        <a:cs typeface="Federo"/>
                        <a:sym typeface="Federo"/>
                      </a:endParaRPr>
                    </a:p>
                  </a:txBody>
                  <a:tcPr marL="91450" marR="91450" marT="45725" marB="45725">
                    <a:solidFill>
                      <a:srgbClr val="DDEAF6"/>
                    </a:solidFill>
                  </a:tcPr>
                </a:tc>
                <a:extLst>
                  <a:ext uri="{0D108BD9-81ED-4DB2-BD59-A6C34878D82A}">
                    <a16:rowId xmlns:a16="http://schemas.microsoft.com/office/drawing/2014/main" val="10003"/>
                  </a:ext>
                </a:extLst>
              </a:tr>
              <a:tr h="1222150">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b="0" u="none" strike="noStrike" cap="none">
                          <a:solidFill>
                            <a:schemeClr val="dk1"/>
                          </a:solidFill>
                          <a:latin typeface="Federo"/>
                          <a:ea typeface="Federo"/>
                          <a:cs typeface="Federo"/>
                          <a:sym typeface="Federo"/>
                        </a:rPr>
                        <a:t>iv. Dikaitkan Dengan Ganjaran</a:t>
                      </a:r>
                      <a:endParaRPr sz="2400" b="0" u="none" strike="noStrike" cap="none">
                        <a:solidFill>
                          <a:schemeClr val="dk1"/>
                        </a:solidFill>
                        <a:latin typeface="Federo"/>
                        <a:ea typeface="Federo"/>
                        <a:cs typeface="Federo"/>
                        <a:sym typeface="Federo"/>
                      </a:endParaRPr>
                    </a:p>
                  </a:txBody>
                  <a:tcPr marL="91450" marR="91450" marT="45725" marB="45725">
                    <a:solidFill>
                      <a:srgbClr val="DDEAF6"/>
                    </a:solidFill>
                  </a:tcPr>
                </a:tc>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u="none" strike="noStrike" cap="none">
                          <a:solidFill>
                            <a:schemeClr val="dk1"/>
                          </a:solidFill>
                          <a:latin typeface="Federo"/>
                          <a:ea typeface="Federo"/>
                          <a:cs typeface="Federo"/>
                          <a:sym typeface="Federo"/>
                        </a:rPr>
                        <a:t>Matlamat atau objektif perlu dikaitkan dengan ganjaran</a:t>
                      </a:r>
                      <a:endParaRPr sz="2400" u="none" strike="noStrike" cap="none">
                        <a:solidFill>
                          <a:schemeClr val="dk1"/>
                        </a:solidFill>
                        <a:latin typeface="Federo"/>
                        <a:ea typeface="Federo"/>
                        <a:cs typeface="Federo"/>
                        <a:sym typeface="Federo"/>
                      </a:endParaRPr>
                    </a:p>
                    <a:p>
                      <a:pPr marL="0" marR="0" lvl="0" indent="0" algn="l" rtl="0">
                        <a:lnSpc>
                          <a:spcPct val="100000"/>
                        </a:lnSpc>
                        <a:spcBef>
                          <a:spcPts val="0"/>
                        </a:spcBef>
                        <a:spcAft>
                          <a:spcPts val="0"/>
                        </a:spcAft>
                        <a:buClr>
                          <a:schemeClr val="dk1"/>
                        </a:buClr>
                        <a:buSzPts val="2400"/>
                        <a:buFont typeface="Twentieth Century"/>
                        <a:buNone/>
                      </a:pPr>
                      <a:endParaRPr sz="2400" u="none" strike="noStrike" cap="none">
                        <a:solidFill>
                          <a:schemeClr val="dk1"/>
                        </a:solidFill>
                        <a:latin typeface="Federo"/>
                        <a:ea typeface="Federo"/>
                        <a:cs typeface="Federo"/>
                        <a:sym typeface="Federo"/>
                      </a:endParaRPr>
                    </a:p>
                  </a:txBody>
                  <a:tcPr marL="91450" marR="91450" marT="45725" marB="45725">
                    <a:solidFill>
                      <a:srgbClr val="DDEAF6"/>
                    </a:solidFill>
                  </a:tcPr>
                </a:tc>
                <a:extLst>
                  <a:ext uri="{0D108BD9-81ED-4DB2-BD59-A6C34878D82A}">
                    <a16:rowId xmlns:a16="http://schemas.microsoft.com/office/drawing/2014/main" val="10004"/>
                  </a:ext>
                </a:extLst>
              </a:tr>
              <a:tr h="846125">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b="0" u="none" strike="noStrike" cap="none">
                          <a:solidFill>
                            <a:schemeClr val="dk1"/>
                          </a:solidFill>
                          <a:latin typeface="Federo"/>
                          <a:ea typeface="Federo"/>
                          <a:cs typeface="Federo"/>
                          <a:sym typeface="Federo"/>
                        </a:rPr>
                        <a:t>v. Mempunyai Tempoh Masa</a:t>
                      </a:r>
                      <a:endParaRPr sz="2400" u="none" strike="noStrike" cap="none">
                        <a:latin typeface="Federo"/>
                        <a:ea typeface="Federo"/>
                        <a:cs typeface="Federo"/>
                        <a:sym typeface="Federo"/>
                      </a:endParaRPr>
                    </a:p>
                  </a:txBody>
                  <a:tcPr marL="91450" marR="91450" marT="45725" marB="45725">
                    <a:solidFill>
                      <a:srgbClr val="DDEAF6"/>
                    </a:solidFill>
                  </a:tcPr>
                </a:tc>
                <a:tc>
                  <a:txBody>
                    <a:bodyPr/>
                    <a:lstStyle/>
                    <a:p>
                      <a:pPr marL="0" marR="0" lvl="0" indent="0" algn="l" rtl="0">
                        <a:lnSpc>
                          <a:spcPct val="100000"/>
                        </a:lnSpc>
                        <a:spcBef>
                          <a:spcPts val="0"/>
                        </a:spcBef>
                        <a:spcAft>
                          <a:spcPts val="0"/>
                        </a:spcAft>
                        <a:buClr>
                          <a:schemeClr val="dk1"/>
                        </a:buClr>
                        <a:buSzPts val="2400"/>
                        <a:buFont typeface="Twentieth Century"/>
                        <a:buNone/>
                      </a:pPr>
                      <a:r>
                        <a:rPr lang="en-US" sz="2400" u="none" strike="noStrike" cap="none" dirty="0" err="1">
                          <a:solidFill>
                            <a:schemeClr val="dk1"/>
                          </a:solidFill>
                          <a:latin typeface="Federo"/>
                          <a:ea typeface="Federo"/>
                          <a:cs typeface="Federo"/>
                          <a:sym typeface="Federo"/>
                        </a:rPr>
                        <a:t>Objektif</a:t>
                      </a:r>
                      <a:r>
                        <a:rPr lang="en-US" sz="2400" u="none" strike="noStrike" cap="none" dirty="0">
                          <a:solidFill>
                            <a:schemeClr val="dk1"/>
                          </a:solidFill>
                          <a:latin typeface="Federo"/>
                          <a:ea typeface="Federo"/>
                          <a:cs typeface="Federo"/>
                          <a:sym typeface="Federo"/>
                        </a:rPr>
                        <a:t> yang </a:t>
                      </a:r>
                      <a:r>
                        <a:rPr lang="en-US" sz="2400" u="none" strike="noStrike" cap="none" dirty="0" err="1">
                          <a:solidFill>
                            <a:schemeClr val="dk1"/>
                          </a:solidFill>
                          <a:latin typeface="Federo"/>
                          <a:ea typeface="Federo"/>
                          <a:cs typeface="Federo"/>
                          <a:sym typeface="Federo"/>
                        </a:rPr>
                        <a:t>ditetapkan</a:t>
                      </a:r>
                      <a:r>
                        <a:rPr lang="en-US" sz="2400" u="none" strike="noStrike" cap="none" dirty="0">
                          <a:solidFill>
                            <a:schemeClr val="dk1"/>
                          </a:solidFill>
                          <a:latin typeface="Federo"/>
                          <a:ea typeface="Federo"/>
                          <a:cs typeface="Federo"/>
                          <a:sym typeface="Federo"/>
                        </a:rPr>
                        <a:t> </a:t>
                      </a:r>
                      <a:r>
                        <a:rPr lang="en-US" sz="2400" u="none" strike="noStrike" cap="none" dirty="0" err="1">
                          <a:solidFill>
                            <a:schemeClr val="dk1"/>
                          </a:solidFill>
                          <a:latin typeface="Federo"/>
                          <a:ea typeface="Federo"/>
                          <a:cs typeface="Federo"/>
                          <a:sym typeface="Federo"/>
                        </a:rPr>
                        <a:t>mesti</a:t>
                      </a:r>
                      <a:r>
                        <a:rPr lang="en-US" sz="2400" u="none" strike="noStrike" cap="none" dirty="0">
                          <a:solidFill>
                            <a:schemeClr val="dk1"/>
                          </a:solidFill>
                          <a:latin typeface="Federo"/>
                          <a:ea typeface="Federo"/>
                          <a:cs typeface="Federo"/>
                          <a:sym typeface="Federo"/>
                        </a:rPr>
                        <a:t> </a:t>
                      </a:r>
                      <a:r>
                        <a:rPr lang="en-US" sz="2400" u="none" strike="noStrike" cap="none" dirty="0" err="1">
                          <a:solidFill>
                            <a:schemeClr val="dk1"/>
                          </a:solidFill>
                          <a:latin typeface="Federo"/>
                          <a:ea typeface="Federo"/>
                          <a:cs typeface="Federo"/>
                          <a:sym typeface="Federo"/>
                        </a:rPr>
                        <a:t>mempunyai</a:t>
                      </a:r>
                      <a:r>
                        <a:rPr lang="en-US" sz="2400" u="none" strike="noStrike" cap="none" dirty="0">
                          <a:solidFill>
                            <a:schemeClr val="dk1"/>
                          </a:solidFill>
                          <a:latin typeface="Federo"/>
                          <a:ea typeface="Federo"/>
                          <a:cs typeface="Federo"/>
                          <a:sym typeface="Federo"/>
                        </a:rPr>
                        <a:t> had masa </a:t>
                      </a:r>
                      <a:r>
                        <a:rPr lang="en-US" sz="2400" u="none" strike="noStrike" cap="none" dirty="0" err="1">
                          <a:solidFill>
                            <a:schemeClr val="dk1"/>
                          </a:solidFill>
                          <a:latin typeface="Federo"/>
                          <a:ea typeface="Federo"/>
                          <a:cs typeface="Federo"/>
                          <a:sym typeface="Federo"/>
                        </a:rPr>
                        <a:t>bila</a:t>
                      </a:r>
                      <a:r>
                        <a:rPr lang="en-US" sz="2400" u="none" strike="noStrike" cap="none" dirty="0">
                          <a:solidFill>
                            <a:schemeClr val="dk1"/>
                          </a:solidFill>
                          <a:latin typeface="Federo"/>
                          <a:ea typeface="Federo"/>
                          <a:cs typeface="Federo"/>
                          <a:sym typeface="Federo"/>
                        </a:rPr>
                        <a:t> </a:t>
                      </a:r>
                      <a:r>
                        <a:rPr lang="en-US" sz="2400" u="none" strike="noStrike" cap="none" dirty="0" err="1">
                          <a:solidFill>
                            <a:schemeClr val="dk1"/>
                          </a:solidFill>
                          <a:latin typeface="Federo"/>
                          <a:ea typeface="Federo"/>
                          <a:cs typeface="Federo"/>
                          <a:sym typeface="Federo"/>
                        </a:rPr>
                        <a:t>ia</a:t>
                      </a:r>
                      <a:r>
                        <a:rPr lang="en-US" sz="2400" u="none" strike="noStrike" cap="none" dirty="0">
                          <a:solidFill>
                            <a:schemeClr val="dk1"/>
                          </a:solidFill>
                          <a:latin typeface="Federo"/>
                          <a:ea typeface="Federo"/>
                          <a:cs typeface="Federo"/>
                          <a:sym typeface="Federo"/>
                        </a:rPr>
                        <a:t> </a:t>
                      </a:r>
                      <a:r>
                        <a:rPr lang="en-US" sz="2400" u="none" strike="noStrike" cap="none" dirty="0" err="1">
                          <a:solidFill>
                            <a:schemeClr val="dk1"/>
                          </a:solidFill>
                          <a:latin typeface="Federo"/>
                          <a:ea typeface="Federo"/>
                          <a:cs typeface="Federo"/>
                          <a:sym typeface="Federo"/>
                        </a:rPr>
                        <a:t>perlu</a:t>
                      </a:r>
                      <a:r>
                        <a:rPr lang="en-US" sz="2400" u="none" strike="noStrike" cap="none" dirty="0">
                          <a:solidFill>
                            <a:schemeClr val="dk1"/>
                          </a:solidFill>
                          <a:latin typeface="Federo"/>
                          <a:ea typeface="Federo"/>
                          <a:cs typeface="Federo"/>
                          <a:sym typeface="Federo"/>
                        </a:rPr>
                        <a:t> </a:t>
                      </a:r>
                      <a:r>
                        <a:rPr lang="en-US" sz="2400" u="none" strike="noStrike" cap="none" dirty="0" err="1">
                          <a:solidFill>
                            <a:schemeClr val="dk1"/>
                          </a:solidFill>
                          <a:latin typeface="Federo"/>
                          <a:ea typeface="Federo"/>
                          <a:cs typeface="Federo"/>
                          <a:sym typeface="Federo"/>
                        </a:rPr>
                        <a:t>dicapai</a:t>
                      </a:r>
                      <a:endParaRPr sz="2400" u="none" strike="noStrike" cap="none" dirty="0">
                        <a:solidFill>
                          <a:schemeClr val="dk1"/>
                        </a:solidFill>
                        <a:latin typeface="Federo"/>
                        <a:ea typeface="Federo"/>
                        <a:cs typeface="Federo"/>
                        <a:sym typeface="Federo"/>
                      </a:endParaRPr>
                    </a:p>
                  </a:txBody>
                  <a:tcPr marL="91450" marR="91450" marT="45725" marB="45725">
                    <a:solidFill>
                      <a:srgbClr val="DDEAF6"/>
                    </a:solidFill>
                  </a:tcPr>
                </a:tc>
                <a:extLst>
                  <a:ext uri="{0D108BD9-81ED-4DB2-BD59-A6C34878D82A}">
                    <a16:rowId xmlns:a16="http://schemas.microsoft.com/office/drawing/2014/main" val="10005"/>
                  </a:ext>
                </a:extLst>
              </a:tr>
            </a:tbl>
          </a:graphicData>
        </a:graphic>
      </p:graphicFrame>
      <p:sp>
        <p:nvSpPr>
          <p:cNvPr id="581" name="Google Shape;581;p69"/>
          <p:cNvSpPr txBox="1"/>
          <p:nvPr/>
        </p:nvSpPr>
        <p:spPr>
          <a:xfrm>
            <a:off x="1520456" y="307406"/>
            <a:ext cx="7915975" cy="74472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wentieth Century"/>
                <a:ea typeface="Twentieth Century"/>
                <a:cs typeface="Twentieth Century"/>
                <a:sym typeface="Twentieth Century"/>
              </a:rPr>
              <a:t>CIRI-CIRI OBJEKTIF (SMART)</a:t>
            </a:r>
            <a:endParaRPr sz="3600" b="1" i="0" u="none" strike="noStrike" cap="none">
              <a:solidFill>
                <a:srgbClr val="000000"/>
              </a:solidFill>
              <a:latin typeface="Twentieth Century"/>
              <a:ea typeface="Twentieth Century"/>
              <a:cs typeface="Twentieth Century"/>
              <a:sym typeface="Twentieth Century"/>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5"/>
        <p:cNvGrpSpPr/>
        <p:nvPr/>
      </p:nvGrpSpPr>
      <p:grpSpPr>
        <a:xfrm>
          <a:off x="0" y="0"/>
          <a:ext cx="0" cy="0"/>
          <a:chOff x="0" y="0"/>
          <a:chExt cx="0" cy="0"/>
        </a:xfrm>
      </p:grpSpPr>
      <p:sp>
        <p:nvSpPr>
          <p:cNvPr id="587" name="Google Shape;587;p70"/>
          <p:cNvSpPr txBox="1"/>
          <p:nvPr/>
        </p:nvSpPr>
        <p:spPr>
          <a:xfrm>
            <a:off x="657225" y="4557712"/>
            <a:ext cx="4355680"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600"/>
              <a:buFont typeface="Arial"/>
              <a:buNone/>
            </a:pPr>
            <a:r>
              <a:rPr lang="en-US" sz="9600" b="0" i="0" u="none" strike="noStrike" cap="none">
                <a:solidFill>
                  <a:srgbClr val="FFFF00"/>
                </a:solidFill>
                <a:latin typeface="Arial"/>
                <a:ea typeface="Arial"/>
                <a:cs typeface="Arial"/>
                <a:sym typeface="Arial"/>
              </a:rPr>
              <a:t>TAMAT</a:t>
            </a:r>
            <a:endParaRPr sz="1400" b="0" i="0" u="none" strike="noStrike" cap="none">
              <a:solidFill>
                <a:srgbClr val="000000"/>
              </a:solidFill>
              <a:latin typeface="Arial"/>
              <a:ea typeface="Arial"/>
              <a:cs typeface="Arial"/>
              <a:sym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2345</Words>
  <Application>Microsoft Office PowerPoint</Application>
  <PresentationFormat>全屏显示(4:3)</PresentationFormat>
  <Paragraphs>482</Paragraphs>
  <Slides>57</Slides>
  <Notes>57</Notes>
  <HiddenSlides>0</HiddenSlides>
  <MMClips>0</MMClips>
  <ScaleCrop>false</ScaleCrop>
  <HeadingPairs>
    <vt:vector size="4" baseType="variant">
      <vt:variant>
        <vt:lpstr>主题</vt:lpstr>
      </vt:variant>
      <vt:variant>
        <vt:i4>1</vt:i4>
      </vt:variant>
      <vt:variant>
        <vt:lpstr>幻灯片标题</vt:lpstr>
      </vt:variant>
      <vt:variant>
        <vt:i4>57</vt:i4>
      </vt:variant>
    </vt:vector>
  </HeadingPairs>
  <TitlesOfParts>
    <vt:vector size="58" baseType="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Contoh: Proses membuat baju Kurung Butik ZZA yang dirancangkan bagi bulan Februari</vt:lpstr>
      <vt:lpstr>Carta Gantt : Aktiviti Menyiapkan 500 helai baju Kurung yang  dijangkakan dalam bulan Februari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Suhaida Binti. Abu Bakar</dc:creator>
  <cp:lastModifiedBy>SEE ZHI KAI</cp:lastModifiedBy>
  <cp:revision>6</cp:revision>
  <cp:lastPrinted>2022-08-04T06:21:00Z</cp:lastPrinted>
  <dcterms:modified xsi:type="dcterms:W3CDTF">2022-11-21T22:12:51Z</dcterms:modified>
</cp:coreProperties>
</file>