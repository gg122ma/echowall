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3" r:id="rId1"/>
    <p:sldMasterId id="2147483664" r:id="rId2"/>
  </p:sldMasterIdLst>
  <p:notesMasterIdLst>
    <p:notesMasterId r:id="rId79"/>
  </p:notesMasterIdLst>
  <p:sldIdLst>
    <p:sldId id="256" r:id="rId3"/>
    <p:sldId id="257" r:id="rId4"/>
    <p:sldId id="258" r:id="rId5"/>
    <p:sldId id="259" r:id="rId6"/>
    <p:sldId id="260" r:id="rId7"/>
    <p:sldId id="261" r:id="rId8"/>
    <p:sldId id="262" r:id="rId9"/>
    <p:sldId id="263" r:id="rId10"/>
    <p:sldId id="335"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331" r:id="rId38"/>
    <p:sldId id="291" r:id="rId39"/>
    <p:sldId id="292" r:id="rId40"/>
    <p:sldId id="293" r:id="rId41"/>
    <p:sldId id="294" r:id="rId42"/>
    <p:sldId id="295" r:id="rId43"/>
    <p:sldId id="296" r:id="rId44"/>
    <p:sldId id="297" r:id="rId45"/>
    <p:sldId id="298" r:id="rId46"/>
    <p:sldId id="332" r:id="rId47"/>
    <p:sldId id="299" r:id="rId48"/>
    <p:sldId id="300" r:id="rId49"/>
    <p:sldId id="301" r:id="rId50"/>
    <p:sldId id="302" r:id="rId51"/>
    <p:sldId id="303" r:id="rId52"/>
    <p:sldId id="304" r:id="rId53"/>
    <p:sldId id="305" r:id="rId54"/>
    <p:sldId id="306" r:id="rId55"/>
    <p:sldId id="307" r:id="rId56"/>
    <p:sldId id="333" r:id="rId57"/>
    <p:sldId id="308" r:id="rId58"/>
    <p:sldId id="309" r:id="rId59"/>
    <p:sldId id="310" r:id="rId60"/>
    <p:sldId id="311" r:id="rId61"/>
    <p:sldId id="312" r:id="rId62"/>
    <p:sldId id="313" r:id="rId63"/>
    <p:sldId id="314" r:id="rId64"/>
    <p:sldId id="316" r:id="rId65"/>
    <p:sldId id="317" r:id="rId66"/>
    <p:sldId id="318" r:id="rId67"/>
    <p:sldId id="334" r:id="rId68"/>
    <p:sldId id="319" r:id="rId69"/>
    <p:sldId id="320" r:id="rId70"/>
    <p:sldId id="321" r:id="rId71"/>
    <p:sldId id="322" r:id="rId72"/>
    <p:sldId id="323" r:id="rId73"/>
    <p:sldId id="324" r:id="rId74"/>
    <p:sldId id="325" r:id="rId75"/>
    <p:sldId id="326" r:id="rId76"/>
    <p:sldId id="327" r:id="rId77"/>
    <p:sldId id="328" r:id="rId7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67E9722-4C11-4960-AF74-AE0269A20F23}">
  <a:tblStyle styleId="{767E9722-4C11-4960-AF74-AE0269A20F2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300" y="12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 /><Relationship Id="rId18" Type="http://schemas.openxmlformats.org/officeDocument/2006/relationships/slide" Target="slides/slide16.xml" /><Relationship Id="rId26" Type="http://schemas.openxmlformats.org/officeDocument/2006/relationships/slide" Target="slides/slide24.xml" /><Relationship Id="rId39" Type="http://schemas.openxmlformats.org/officeDocument/2006/relationships/slide" Target="slides/slide37.xml" /><Relationship Id="rId21" Type="http://schemas.openxmlformats.org/officeDocument/2006/relationships/slide" Target="slides/slide19.xml" /><Relationship Id="rId34" Type="http://schemas.openxmlformats.org/officeDocument/2006/relationships/slide" Target="slides/slide32.xml" /><Relationship Id="rId42" Type="http://schemas.openxmlformats.org/officeDocument/2006/relationships/slide" Target="slides/slide40.xml" /><Relationship Id="rId47" Type="http://schemas.openxmlformats.org/officeDocument/2006/relationships/slide" Target="slides/slide45.xml" /><Relationship Id="rId50" Type="http://schemas.openxmlformats.org/officeDocument/2006/relationships/slide" Target="slides/slide48.xml" /><Relationship Id="rId55" Type="http://schemas.openxmlformats.org/officeDocument/2006/relationships/slide" Target="slides/slide53.xml" /><Relationship Id="rId63" Type="http://schemas.openxmlformats.org/officeDocument/2006/relationships/slide" Target="slides/slide61.xml" /><Relationship Id="rId68" Type="http://schemas.openxmlformats.org/officeDocument/2006/relationships/slide" Target="slides/slide66.xml" /><Relationship Id="rId76" Type="http://schemas.openxmlformats.org/officeDocument/2006/relationships/slide" Target="slides/slide74.xml" /><Relationship Id="rId7" Type="http://schemas.openxmlformats.org/officeDocument/2006/relationships/slide" Target="slides/slide5.xml" /><Relationship Id="rId71" Type="http://schemas.openxmlformats.org/officeDocument/2006/relationships/slide" Target="slides/slide69.xml" /><Relationship Id="rId2" Type="http://schemas.openxmlformats.org/officeDocument/2006/relationships/slideMaster" Target="slideMasters/slideMaster2.xml" /><Relationship Id="rId16" Type="http://schemas.openxmlformats.org/officeDocument/2006/relationships/slide" Target="slides/slide14.xml" /><Relationship Id="rId29" Type="http://schemas.openxmlformats.org/officeDocument/2006/relationships/slide" Target="slides/slide27.xml" /><Relationship Id="rId11" Type="http://schemas.openxmlformats.org/officeDocument/2006/relationships/slide" Target="slides/slide9.xml" /><Relationship Id="rId24" Type="http://schemas.openxmlformats.org/officeDocument/2006/relationships/slide" Target="slides/slide22.xml" /><Relationship Id="rId32" Type="http://schemas.openxmlformats.org/officeDocument/2006/relationships/slide" Target="slides/slide30.xml" /><Relationship Id="rId37" Type="http://schemas.openxmlformats.org/officeDocument/2006/relationships/slide" Target="slides/slide35.xml" /><Relationship Id="rId40" Type="http://schemas.openxmlformats.org/officeDocument/2006/relationships/slide" Target="slides/slide38.xml" /><Relationship Id="rId45" Type="http://schemas.openxmlformats.org/officeDocument/2006/relationships/slide" Target="slides/slide43.xml" /><Relationship Id="rId53" Type="http://schemas.openxmlformats.org/officeDocument/2006/relationships/slide" Target="slides/slide51.xml" /><Relationship Id="rId58" Type="http://schemas.openxmlformats.org/officeDocument/2006/relationships/slide" Target="slides/slide56.xml" /><Relationship Id="rId66" Type="http://schemas.openxmlformats.org/officeDocument/2006/relationships/slide" Target="slides/slide64.xml" /><Relationship Id="rId74" Type="http://schemas.openxmlformats.org/officeDocument/2006/relationships/slide" Target="slides/slide72.xml" /><Relationship Id="rId79" Type="http://schemas.openxmlformats.org/officeDocument/2006/relationships/notesMaster" Target="notesMasters/notesMaster1.xml" /><Relationship Id="rId5" Type="http://schemas.openxmlformats.org/officeDocument/2006/relationships/slide" Target="slides/slide3.xml" /><Relationship Id="rId61" Type="http://schemas.openxmlformats.org/officeDocument/2006/relationships/slide" Target="slides/slide59.xml" /><Relationship Id="rId82" Type="http://schemas.openxmlformats.org/officeDocument/2006/relationships/theme" Target="theme/theme1.xml" /><Relationship Id="rId10" Type="http://schemas.openxmlformats.org/officeDocument/2006/relationships/slide" Target="slides/slide8.xml" /><Relationship Id="rId19" Type="http://schemas.openxmlformats.org/officeDocument/2006/relationships/slide" Target="slides/slide17.xml" /><Relationship Id="rId31" Type="http://schemas.openxmlformats.org/officeDocument/2006/relationships/slide" Target="slides/slide29.xml" /><Relationship Id="rId44" Type="http://schemas.openxmlformats.org/officeDocument/2006/relationships/slide" Target="slides/slide42.xml" /><Relationship Id="rId52" Type="http://schemas.openxmlformats.org/officeDocument/2006/relationships/slide" Target="slides/slide50.xml" /><Relationship Id="rId60" Type="http://schemas.openxmlformats.org/officeDocument/2006/relationships/slide" Target="slides/slide58.xml" /><Relationship Id="rId65" Type="http://schemas.openxmlformats.org/officeDocument/2006/relationships/slide" Target="slides/slide63.xml" /><Relationship Id="rId73" Type="http://schemas.openxmlformats.org/officeDocument/2006/relationships/slide" Target="slides/slide71.xml" /><Relationship Id="rId78" Type="http://schemas.openxmlformats.org/officeDocument/2006/relationships/slide" Target="slides/slide76.xml" /><Relationship Id="rId81" Type="http://schemas.openxmlformats.org/officeDocument/2006/relationships/viewProps" Target="viewProps.xml" /><Relationship Id="rId4" Type="http://schemas.openxmlformats.org/officeDocument/2006/relationships/slide" Target="slides/slide2.xml" /><Relationship Id="rId9" Type="http://schemas.openxmlformats.org/officeDocument/2006/relationships/slide" Target="slides/slide7.xml" /><Relationship Id="rId14" Type="http://schemas.openxmlformats.org/officeDocument/2006/relationships/slide" Target="slides/slide12.xml" /><Relationship Id="rId22" Type="http://schemas.openxmlformats.org/officeDocument/2006/relationships/slide" Target="slides/slide20.xml" /><Relationship Id="rId27" Type="http://schemas.openxmlformats.org/officeDocument/2006/relationships/slide" Target="slides/slide25.xml" /><Relationship Id="rId30" Type="http://schemas.openxmlformats.org/officeDocument/2006/relationships/slide" Target="slides/slide28.xml" /><Relationship Id="rId35" Type="http://schemas.openxmlformats.org/officeDocument/2006/relationships/slide" Target="slides/slide33.xml" /><Relationship Id="rId43" Type="http://schemas.openxmlformats.org/officeDocument/2006/relationships/slide" Target="slides/slide41.xml" /><Relationship Id="rId48" Type="http://schemas.openxmlformats.org/officeDocument/2006/relationships/slide" Target="slides/slide46.xml" /><Relationship Id="rId56" Type="http://schemas.openxmlformats.org/officeDocument/2006/relationships/slide" Target="slides/slide54.xml" /><Relationship Id="rId64" Type="http://schemas.openxmlformats.org/officeDocument/2006/relationships/slide" Target="slides/slide62.xml" /><Relationship Id="rId69" Type="http://schemas.openxmlformats.org/officeDocument/2006/relationships/slide" Target="slides/slide67.xml" /><Relationship Id="rId77" Type="http://schemas.openxmlformats.org/officeDocument/2006/relationships/slide" Target="slides/slide75.xml" /><Relationship Id="rId8" Type="http://schemas.openxmlformats.org/officeDocument/2006/relationships/slide" Target="slides/slide6.xml" /><Relationship Id="rId51" Type="http://schemas.openxmlformats.org/officeDocument/2006/relationships/slide" Target="slides/slide49.xml" /><Relationship Id="rId72" Type="http://schemas.openxmlformats.org/officeDocument/2006/relationships/slide" Target="slides/slide70.xml" /><Relationship Id="rId80" Type="http://schemas.openxmlformats.org/officeDocument/2006/relationships/presProps" Target="presProps.xml" /><Relationship Id="rId3" Type="http://schemas.openxmlformats.org/officeDocument/2006/relationships/slide" Target="slides/slide1.xml" /><Relationship Id="rId12" Type="http://schemas.openxmlformats.org/officeDocument/2006/relationships/slide" Target="slides/slide10.xml" /><Relationship Id="rId17" Type="http://schemas.openxmlformats.org/officeDocument/2006/relationships/slide" Target="slides/slide15.xml" /><Relationship Id="rId25" Type="http://schemas.openxmlformats.org/officeDocument/2006/relationships/slide" Target="slides/slide23.xml" /><Relationship Id="rId33" Type="http://schemas.openxmlformats.org/officeDocument/2006/relationships/slide" Target="slides/slide31.xml" /><Relationship Id="rId38" Type="http://schemas.openxmlformats.org/officeDocument/2006/relationships/slide" Target="slides/slide36.xml" /><Relationship Id="rId46" Type="http://schemas.openxmlformats.org/officeDocument/2006/relationships/slide" Target="slides/slide44.xml" /><Relationship Id="rId59" Type="http://schemas.openxmlformats.org/officeDocument/2006/relationships/slide" Target="slides/slide57.xml" /><Relationship Id="rId67" Type="http://schemas.openxmlformats.org/officeDocument/2006/relationships/slide" Target="slides/slide65.xml" /><Relationship Id="rId20" Type="http://schemas.openxmlformats.org/officeDocument/2006/relationships/slide" Target="slides/slide18.xml" /><Relationship Id="rId41" Type="http://schemas.openxmlformats.org/officeDocument/2006/relationships/slide" Target="slides/slide39.xml" /><Relationship Id="rId54" Type="http://schemas.openxmlformats.org/officeDocument/2006/relationships/slide" Target="slides/slide52.xml" /><Relationship Id="rId62" Type="http://schemas.openxmlformats.org/officeDocument/2006/relationships/slide" Target="slides/slide60.xml" /><Relationship Id="rId70" Type="http://schemas.openxmlformats.org/officeDocument/2006/relationships/slide" Target="slides/slide68.xml" /><Relationship Id="rId75" Type="http://schemas.openxmlformats.org/officeDocument/2006/relationships/slide" Target="slides/slide73.xml" /><Relationship Id="rId83"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4.xml" /><Relationship Id="rId15" Type="http://schemas.openxmlformats.org/officeDocument/2006/relationships/slide" Target="slides/slide13.xml" /><Relationship Id="rId23" Type="http://schemas.openxmlformats.org/officeDocument/2006/relationships/slide" Target="slides/slide21.xml" /><Relationship Id="rId28" Type="http://schemas.openxmlformats.org/officeDocument/2006/relationships/slide" Target="slides/slide26.xml" /><Relationship Id="rId36" Type="http://schemas.openxmlformats.org/officeDocument/2006/relationships/slide" Target="slides/slide34.xml" /><Relationship Id="rId49" Type="http://schemas.openxmlformats.org/officeDocument/2006/relationships/slide" Target="slides/slide47.xml" /><Relationship Id="rId57" Type="http://schemas.openxmlformats.org/officeDocument/2006/relationships/slide" Target="slides/slide55.xml"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646695-1119-4BEC-BDE0-7BE8A90B5549}"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AD5025FE-1727-4166-802A-3C691F02C18B}">
      <dgm:prSet phldrT="[Text]"/>
      <dgm:spPr/>
      <dgm:t>
        <a:bodyPr/>
        <a:lstStyle/>
        <a:p>
          <a:r>
            <a:rPr lang="en-US" dirty="0" err="1"/>
            <a:t>Pasaran</a:t>
          </a:r>
          <a:r>
            <a:rPr lang="en-US" dirty="0"/>
            <a:t> Modal</a:t>
          </a:r>
        </a:p>
      </dgm:t>
    </dgm:pt>
    <dgm:pt modelId="{038FFA03-77AF-4528-B273-F426905E405E}" type="parTrans" cxnId="{AC505D5C-D53B-469F-8440-FAAC939E49DA}">
      <dgm:prSet/>
      <dgm:spPr/>
      <dgm:t>
        <a:bodyPr/>
        <a:lstStyle/>
        <a:p>
          <a:endParaRPr lang="en-US"/>
        </a:p>
      </dgm:t>
    </dgm:pt>
    <dgm:pt modelId="{8F81E2C2-4AB8-4162-86B6-8FB0C722A521}" type="sibTrans" cxnId="{AC505D5C-D53B-469F-8440-FAAC939E49DA}">
      <dgm:prSet/>
      <dgm:spPr/>
      <dgm:t>
        <a:bodyPr/>
        <a:lstStyle/>
        <a:p>
          <a:endParaRPr lang="en-US"/>
        </a:p>
      </dgm:t>
    </dgm:pt>
    <dgm:pt modelId="{DCE8D984-21F3-423F-964B-CED20887DD4E}">
      <dgm:prSet phldrT="[Text]"/>
      <dgm:spPr/>
      <dgm:t>
        <a:bodyPr/>
        <a:lstStyle/>
        <a:p>
          <a:r>
            <a:rPr lang="en-US" dirty="0" err="1"/>
            <a:t>Pasaran</a:t>
          </a:r>
          <a:r>
            <a:rPr lang="en-US" dirty="0"/>
            <a:t> Wang</a:t>
          </a:r>
        </a:p>
      </dgm:t>
    </dgm:pt>
    <dgm:pt modelId="{88DAC3D8-5969-4EDA-B600-8F621D0A8708}" type="parTrans" cxnId="{E1BFFF03-D6F8-4658-900B-5540C09BF93C}">
      <dgm:prSet/>
      <dgm:spPr/>
      <dgm:t>
        <a:bodyPr/>
        <a:lstStyle/>
        <a:p>
          <a:endParaRPr lang="en-US"/>
        </a:p>
      </dgm:t>
    </dgm:pt>
    <dgm:pt modelId="{97A28E9C-65CB-4F36-9D36-309E872F1A0B}" type="sibTrans" cxnId="{E1BFFF03-D6F8-4658-900B-5540C09BF93C}">
      <dgm:prSet/>
      <dgm:spPr/>
      <dgm:t>
        <a:bodyPr/>
        <a:lstStyle/>
        <a:p>
          <a:endParaRPr lang="en-US"/>
        </a:p>
      </dgm:t>
    </dgm:pt>
    <dgm:pt modelId="{4366C44E-E338-4A08-ACA7-A61D87B5BE75}">
      <dgm:prSet phldrT="[Text]"/>
      <dgm:spPr/>
      <dgm:t>
        <a:bodyPr/>
        <a:lstStyle/>
        <a:p>
          <a:r>
            <a:rPr lang="en-US" dirty="0" err="1"/>
            <a:t>Pasaran</a:t>
          </a:r>
          <a:r>
            <a:rPr lang="en-US" dirty="0"/>
            <a:t> </a:t>
          </a:r>
          <a:r>
            <a:rPr lang="en-US" dirty="0" err="1"/>
            <a:t>Pertukaran</a:t>
          </a:r>
          <a:r>
            <a:rPr lang="en-US" dirty="0"/>
            <a:t> </a:t>
          </a:r>
          <a:r>
            <a:rPr lang="en-US"/>
            <a:t>Matawang </a:t>
          </a:r>
          <a:r>
            <a:rPr lang="en-US" dirty="0" err="1"/>
            <a:t>Asing</a:t>
          </a:r>
          <a:endParaRPr lang="en-US" dirty="0"/>
        </a:p>
      </dgm:t>
    </dgm:pt>
    <dgm:pt modelId="{A39B10B2-3A10-4860-8FEE-D33CCB464948}" type="parTrans" cxnId="{8CF3887A-A0E1-4AB8-AC88-DA60422B1BCC}">
      <dgm:prSet/>
      <dgm:spPr/>
      <dgm:t>
        <a:bodyPr/>
        <a:lstStyle/>
        <a:p>
          <a:endParaRPr lang="en-US"/>
        </a:p>
      </dgm:t>
    </dgm:pt>
    <dgm:pt modelId="{9261C7E4-CA61-4D51-9DE1-9B49C1B3DC14}" type="sibTrans" cxnId="{8CF3887A-A0E1-4AB8-AC88-DA60422B1BCC}">
      <dgm:prSet/>
      <dgm:spPr/>
      <dgm:t>
        <a:bodyPr/>
        <a:lstStyle/>
        <a:p>
          <a:endParaRPr lang="en-US"/>
        </a:p>
      </dgm:t>
    </dgm:pt>
    <dgm:pt modelId="{3E8EB195-DF18-4C05-928F-9B2EAC993895}">
      <dgm:prSet phldrT="[Text]"/>
      <dgm:spPr/>
      <dgm:t>
        <a:bodyPr/>
        <a:lstStyle/>
        <a:p>
          <a:r>
            <a:rPr lang="en-US" dirty="0" err="1"/>
            <a:t>Pasaran</a:t>
          </a:r>
          <a:r>
            <a:rPr lang="en-US" dirty="0"/>
            <a:t> </a:t>
          </a:r>
          <a:r>
            <a:rPr lang="en-US" dirty="0" err="1"/>
            <a:t>Derivatif</a:t>
          </a:r>
          <a:endParaRPr lang="en-US" dirty="0"/>
        </a:p>
      </dgm:t>
    </dgm:pt>
    <dgm:pt modelId="{46970C09-4472-4DD7-B97E-DFDB534620DD}" type="parTrans" cxnId="{7C856F4E-138D-478A-B0BF-B7517529F210}">
      <dgm:prSet/>
      <dgm:spPr/>
      <dgm:t>
        <a:bodyPr/>
        <a:lstStyle/>
        <a:p>
          <a:endParaRPr lang="en-US"/>
        </a:p>
      </dgm:t>
    </dgm:pt>
    <dgm:pt modelId="{FFE75090-371D-45E5-854F-35C6A7181077}" type="sibTrans" cxnId="{7C856F4E-138D-478A-B0BF-B7517529F210}">
      <dgm:prSet/>
      <dgm:spPr/>
      <dgm:t>
        <a:bodyPr/>
        <a:lstStyle/>
        <a:p>
          <a:endParaRPr lang="en-US"/>
        </a:p>
      </dgm:t>
    </dgm:pt>
    <dgm:pt modelId="{8387A7F0-A86C-4B13-9352-53571B72EE15}" type="pres">
      <dgm:prSet presAssocID="{66646695-1119-4BEC-BDE0-7BE8A90B5549}" presName="linear" presStyleCnt="0">
        <dgm:presLayoutVars>
          <dgm:dir/>
          <dgm:animLvl val="lvl"/>
          <dgm:resizeHandles val="exact"/>
        </dgm:presLayoutVars>
      </dgm:prSet>
      <dgm:spPr/>
    </dgm:pt>
    <dgm:pt modelId="{8BBF1B5A-AD83-4172-804A-87563FB9A934}" type="pres">
      <dgm:prSet presAssocID="{AD5025FE-1727-4166-802A-3C691F02C18B}" presName="parentLin" presStyleCnt="0"/>
      <dgm:spPr/>
    </dgm:pt>
    <dgm:pt modelId="{BE4C1439-F2F6-49DA-9463-EF0C42565C34}" type="pres">
      <dgm:prSet presAssocID="{AD5025FE-1727-4166-802A-3C691F02C18B}" presName="parentLeftMargin" presStyleLbl="node1" presStyleIdx="0" presStyleCnt="4"/>
      <dgm:spPr/>
    </dgm:pt>
    <dgm:pt modelId="{4076B114-9931-44A6-B69C-606D95FE462E}" type="pres">
      <dgm:prSet presAssocID="{AD5025FE-1727-4166-802A-3C691F02C18B}" presName="parentText" presStyleLbl="node1" presStyleIdx="0" presStyleCnt="4">
        <dgm:presLayoutVars>
          <dgm:chMax val="0"/>
          <dgm:bulletEnabled val="1"/>
        </dgm:presLayoutVars>
      </dgm:prSet>
      <dgm:spPr/>
    </dgm:pt>
    <dgm:pt modelId="{D0243553-3D1D-4111-A9DD-B828621F60C3}" type="pres">
      <dgm:prSet presAssocID="{AD5025FE-1727-4166-802A-3C691F02C18B}" presName="negativeSpace" presStyleCnt="0"/>
      <dgm:spPr/>
    </dgm:pt>
    <dgm:pt modelId="{F6501ECE-A556-4C7C-B6ED-3E89022EF712}" type="pres">
      <dgm:prSet presAssocID="{AD5025FE-1727-4166-802A-3C691F02C18B}" presName="childText" presStyleLbl="conFgAcc1" presStyleIdx="0" presStyleCnt="4">
        <dgm:presLayoutVars>
          <dgm:bulletEnabled val="1"/>
        </dgm:presLayoutVars>
      </dgm:prSet>
      <dgm:spPr/>
    </dgm:pt>
    <dgm:pt modelId="{5253E38D-83F1-468D-B033-7F652904D5AF}" type="pres">
      <dgm:prSet presAssocID="{8F81E2C2-4AB8-4162-86B6-8FB0C722A521}" presName="spaceBetweenRectangles" presStyleCnt="0"/>
      <dgm:spPr/>
    </dgm:pt>
    <dgm:pt modelId="{0B2D4BDC-3B2C-4540-8791-B3725317A7C8}" type="pres">
      <dgm:prSet presAssocID="{DCE8D984-21F3-423F-964B-CED20887DD4E}" presName="parentLin" presStyleCnt="0"/>
      <dgm:spPr/>
    </dgm:pt>
    <dgm:pt modelId="{B6BFD2EE-A1DA-49C6-9829-6A7C83A4AA9F}" type="pres">
      <dgm:prSet presAssocID="{DCE8D984-21F3-423F-964B-CED20887DD4E}" presName="parentLeftMargin" presStyleLbl="node1" presStyleIdx="0" presStyleCnt="4"/>
      <dgm:spPr/>
    </dgm:pt>
    <dgm:pt modelId="{B72F983B-F67F-4B40-A455-7AC7ECA0D403}" type="pres">
      <dgm:prSet presAssocID="{DCE8D984-21F3-423F-964B-CED20887DD4E}" presName="parentText" presStyleLbl="node1" presStyleIdx="1" presStyleCnt="4">
        <dgm:presLayoutVars>
          <dgm:chMax val="0"/>
          <dgm:bulletEnabled val="1"/>
        </dgm:presLayoutVars>
      </dgm:prSet>
      <dgm:spPr/>
    </dgm:pt>
    <dgm:pt modelId="{588DE721-B5E6-49A6-8549-871907F1E792}" type="pres">
      <dgm:prSet presAssocID="{DCE8D984-21F3-423F-964B-CED20887DD4E}" presName="negativeSpace" presStyleCnt="0"/>
      <dgm:spPr/>
    </dgm:pt>
    <dgm:pt modelId="{9C900B67-2C38-48C3-85CF-9B0F92BA5445}" type="pres">
      <dgm:prSet presAssocID="{DCE8D984-21F3-423F-964B-CED20887DD4E}" presName="childText" presStyleLbl="conFgAcc1" presStyleIdx="1" presStyleCnt="4">
        <dgm:presLayoutVars>
          <dgm:bulletEnabled val="1"/>
        </dgm:presLayoutVars>
      </dgm:prSet>
      <dgm:spPr/>
    </dgm:pt>
    <dgm:pt modelId="{94F959DD-A44E-437D-9EA7-27CCC26D0DB1}" type="pres">
      <dgm:prSet presAssocID="{97A28E9C-65CB-4F36-9D36-309E872F1A0B}" presName="spaceBetweenRectangles" presStyleCnt="0"/>
      <dgm:spPr/>
    </dgm:pt>
    <dgm:pt modelId="{CE1D5876-FBE6-4608-8F90-263140B37CFA}" type="pres">
      <dgm:prSet presAssocID="{4366C44E-E338-4A08-ACA7-A61D87B5BE75}" presName="parentLin" presStyleCnt="0"/>
      <dgm:spPr/>
    </dgm:pt>
    <dgm:pt modelId="{F994D5B8-53D2-4376-9B9C-BC19895BD6DB}" type="pres">
      <dgm:prSet presAssocID="{4366C44E-E338-4A08-ACA7-A61D87B5BE75}" presName="parentLeftMargin" presStyleLbl="node1" presStyleIdx="1" presStyleCnt="4"/>
      <dgm:spPr/>
    </dgm:pt>
    <dgm:pt modelId="{CAD15321-9416-4BB4-8306-71419B727EC5}" type="pres">
      <dgm:prSet presAssocID="{4366C44E-E338-4A08-ACA7-A61D87B5BE75}" presName="parentText" presStyleLbl="node1" presStyleIdx="2" presStyleCnt="4">
        <dgm:presLayoutVars>
          <dgm:chMax val="0"/>
          <dgm:bulletEnabled val="1"/>
        </dgm:presLayoutVars>
      </dgm:prSet>
      <dgm:spPr/>
    </dgm:pt>
    <dgm:pt modelId="{6474743A-7C2F-4306-A72A-D83703E8B8C0}" type="pres">
      <dgm:prSet presAssocID="{4366C44E-E338-4A08-ACA7-A61D87B5BE75}" presName="negativeSpace" presStyleCnt="0"/>
      <dgm:spPr/>
    </dgm:pt>
    <dgm:pt modelId="{4D142DD2-584E-4622-9FD5-8A4451FC42B3}" type="pres">
      <dgm:prSet presAssocID="{4366C44E-E338-4A08-ACA7-A61D87B5BE75}" presName="childText" presStyleLbl="conFgAcc1" presStyleIdx="2" presStyleCnt="4">
        <dgm:presLayoutVars>
          <dgm:bulletEnabled val="1"/>
        </dgm:presLayoutVars>
      </dgm:prSet>
      <dgm:spPr/>
    </dgm:pt>
    <dgm:pt modelId="{B9CCFBC1-FFDF-4091-A06A-C603E601F0D5}" type="pres">
      <dgm:prSet presAssocID="{9261C7E4-CA61-4D51-9DE1-9B49C1B3DC14}" presName="spaceBetweenRectangles" presStyleCnt="0"/>
      <dgm:spPr/>
    </dgm:pt>
    <dgm:pt modelId="{855067DD-B9AA-47EF-B00E-A0E05652C53C}" type="pres">
      <dgm:prSet presAssocID="{3E8EB195-DF18-4C05-928F-9B2EAC993895}" presName="parentLin" presStyleCnt="0"/>
      <dgm:spPr/>
    </dgm:pt>
    <dgm:pt modelId="{C6CAE1EA-4CB0-4455-9932-C61128C00E85}" type="pres">
      <dgm:prSet presAssocID="{3E8EB195-DF18-4C05-928F-9B2EAC993895}" presName="parentLeftMargin" presStyleLbl="node1" presStyleIdx="2" presStyleCnt="4"/>
      <dgm:spPr/>
    </dgm:pt>
    <dgm:pt modelId="{4D6B6E1E-A67D-4893-850E-3AD026BEB9B0}" type="pres">
      <dgm:prSet presAssocID="{3E8EB195-DF18-4C05-928F-9B2EAC993895}" presName="parentText" presStyleLbl="node1" presStyleIdx="3" presStyleCnt="4">
        <dgm:presLayoutVars>
          <dgm:chMax val="0"/>
          <dgm:bulletEnabled val="1"/>
        </dgm:presLayoutVars>
      </dgm:prSet>
      <dgm:spPr/>
    </dgm:pt>
    <dgm:pt modelId="{4644B36E-BACA-47FE-9D63-6F4E4C7E4753}" type="pres">
      <dgm:prSet presAssocID="{3E8EB195-DF18-4C05-928F-9B2EAC993895}" presName="negativeSpace" presStyleCnt="0"/>
      <dgm:spPr/>
    </dgm:pt>
    <dgm:pt modelId="{ADECDB40-FD0E-4522-877C-2E8B35D8F2BB}" type="pres">
      <dgm:prSet presAssocID="{3E8EB195-DF18-4C05-928F-9B2EAC993895}" presName="childText" presStyleLbl="conFgAcc1" presStyleIdx="3" presStyleCnt="4">
        <dgm:presLayoutVars>
          <dgm:bulletEnabled val="1"/>
        </dgm:presLayoutVars>
      </dgm:prSet>
      <dgm:spPr/>
    </dgm:pt>
  </dgm:ptLst>
  <dgm:cxnLst>
    <dgm:cxn modelId="{E1BFFF03-D6F8-4658-900B-5540C09BF93C}" srcId="{66646695-1119-4BEC-BDE0-7BE8A90B5549}" destId="{DCE8D984-21F3-423F-964B-CED20887DD4E}" srcOrd="1" destOrd="0" parTransId="{88DAC3D8-5969-4EDA-B600-8F621D0A8708}" sibTransId="{97A28E9C-65CB-4F36-9D36-309E872F1A0B}"/>
    <dgm:cxn modelId="{6C42570B-088D-4706-A0E3-6CBC3DC00301}" type="presOf" srcId="{DCE8D984-21F3-423F-964B-CED20887DD4E}" destId="{B6BFD2EE-A1DA-49C6-9829-6A7C83A4AA9F}" srcOrd="0" destOrd="0" presId="urn:microsoft.com/office/officeart/2005/8/layout/list1"/>
    <dgm:cxn modelId="{DD640C15-8513-4A2F-9495-9E165CC670FF}" type="presOf" srcId="{DCE8D984-21F3-423F-964B-CED20887DD4E}" destId="{B72F983B-F67F-4B40-A455-7AC7ECA0D403}" srcOrd="1" destOrd="0" presId="urn:microsoft.com/office/officeart/2005/8/layout/list1"/>
    <dgm:cxn modelId="{C94A9A28-F726-4F34-9380-82BEFCD8578F}" type="presOf" srcId="{3E8EB195-DF18-4C05-928F-9B2EAC993895}" destId="{C6CAE1EA-4CB0-4455-9932-C61128C00E85}" srcOrd="0" destOrd="0" presId="urn:microsoft.com/office/officeart/2005/8/layout/list1"/>
    <dgm:cxn modelId="{40BB3330-7A6F-40D0-9E91-F816C981760C}" type="presOf" srcId="{3E8EB195-DF18-4C05-928F-9B2EAC993895}" destId="{4D6B6E1E-A67D-4893-850E-3AD026BEB9B0}" srcOrd="1" destOrd="0" presId="urn:microsoft.com/office/officeart/2005/8/layout/list1"/>
    <dgm:cxn modelId="{B979BD3E-0616-4ACB-9FA9-7F561C799CA3}" type="presOf" srcId="{4366C44E-E338-4A08-ACA7-A61D87B5BE75}" destId="{CAD15321-9416-4BB4-8306-71419B727EC5}" srcOrd="1" destOrd="0" presId="urn:microsoft.com/office/officeart/2005/8/layout/list1"/>
    <dgm:cxn modelId="{AC505D5C-D53B-469F-8440-FAAC939E49DA}" srcId="{66646695-1119-4BEC-BDE0-7BE8A90B5549}" destId="{AD5025FE-1727-4166-802A-3C691F02C18B}" srcOrd="0" destOrd="0" parTransId="{038FFA03-77AF-4528-B273-F426905E405E}" sibTransId="{8F81E2C2-4AB8-4162-86B6-8FB0C722A521}"/>
    <dgm:cxn modelId="{0A4B7D43-33CA-485B-9FAF-402A4A295851}" type="presOf" srcId="{66646695-1119-4BEC-BDE0-7BE8A90B5549}" destId="{8387A7F0-A86C-4B13-9352-53571B72EE15}" srcOrd="0" destOrd="0" presId="urn:microsoft.com/office/officeart/2005/8/layout/list1"/>
    <dgm:cxn modelId="{7C856F4E-138D-478A-B0BF-B7517529F210}" srcId="{66646695-1119-4BEC-BDE0-7BE8A90B5549}" destId="{3E8EB195-DF18-4C05-928F-9B2EAC993895}" srcOrd="3" destOrd="0" parTransId="{46970C09-4472-4DD7-B97E-DFDB534620DD}" sibTransId="{FFE75090-371D-45E5-854F-35C6A7181077}"/>
    <dgm:cxn modelId="{8CF3887A-A0E1-4AB8-AC88-DA60422B1BCC}" srcId="{66646695-1119-4BEC-BDE0-7BE8A90B5549}" destId="{4366C44E-E338-4A08-ACA7-A61D87B5BE75}" srcOrd="2" destOrd="0" parTransId="{A39B10B2-3A10-4860-8FEE-D33CCB464948}" sibTransId="{9261C7E4-CA61-4D51-9DE1-9B49C1B3DC14}"/>
    <dgm:cxn modelId="{C0A84B7D-EB25-421C-A5F1-213CF18199C2}" type="presOf" srcId="{AD5025FE-1727-4166-802A-3C691F02C18B}" destId="{4076B114-9931-44A6-B69C-606D95FE462E}" srcOrd="1" destOrd="0" presId="urn:microsoft.com/office/officeart/2005/8/layout/list1"/>
    <dgm:cxn modelId="{29EC7EA2-0DBC-4A90-9ECB-1174CB1F5B4F}" type="presOf" srcId="{AD5025FE-1727-4166-802A-3C691F02C18B}" destId="{BE4C1439-F2F6-49DA-9463-EF0C42565C34}" srcOrd="0" destOrd="0" presId="urn:microsoft.com/office/officeart/2005/8/layout/list1"/>
    <dgm:cxn modelId="{042286C9-9498-4510-9B8E-0C98EF77B25C}" type="presOf" srcId="{4366C44E-E338-4A08-ACA7-A61D87B5BE75}" destId="{F994D5B8-53D2-4376-9B9C-BC19895BD6DB}" srcOrd="0" destOrd="0" presId="urn:microsoft.com/office/officeart/2005/8/layout/list1"/>
    <dgm:cxn modelId="{14C15C33-ADBF-4249-9D19-FAF1BB70E5CF}" type="presParOf" srcId="{8387A7F0-A86C-4B13-9352-53571B72EE15}" destId="{8BBF1B5A-AD83-4172-804A-87563FB9A934}" srcOrd="0" destOrd="0" presId="urn:microsoft.com/office/officeart/2005/8/layout/list1"/>
    <dgm:cxn modelId="{03BCD664-46BF-4F77-AB31-457075B54192}" type="presParOf" srcId="{8BBF1B5A-AD83-4172-804A-87563FB9A934}" destId="{BE4C1439-F2F6-49DA-9463-EF0C42565C34}" srcOrd="0" destOrd="0" presId="urn:microsoft.com/office/officeart/2005/8/layout/list1"/>
    <dgm:cxn modelId="{1EF334E6-25DC-407E-A410-11ED63D45A32}" type="presParOf" srcId="{8BBF1B5A-AD83-4172-804A-87563FB9A934}" destId="{4076B114-9931-44A6-B69C-606D95FE462E}" srcOrd="1" destOrd="0" presId="urn:microsoft.com/office/officeart/2005/8/layout/list1"/>
    <dgm:cxn modelId="{9F2ED0B5-ECB4-43FF-BBA9-DB6B2D84B3E1}" type="presParOf" srcId="{8387A7F0-A86C-4B13-9352-53571B72EE15}" destId="{D0243553-3D1D-4111-A9DD-B828621F60C3}" srcOrd="1" destOrd="0" presId="urn:microsoft.com/office/officeart/2005/8/layout/list1"/>
    <dgm:cxn modelId="{6C727FEE-9595-4839-B6AC-CED130573CCE}" type="presParOf" srcId="{8387A7F0-A86C-4B13-9352-53571B72EE15}" destId="{F6501ECE-A556-4C7C-B6ED-3E89022EF712}" srcOrd="2" destOrd="0" presId="urn:microsoft.com/office/officeart/2005/8/layout/list1"/>
    <dgm:cxn modelId="{457DED6A-A5B1-4ED5-9A1D-A6BDB884E198}" type="presParOf" srcId="{8387A7F0-A86C-4B13-9352-53571B72EE15}" destId="{5253E38D-83F1-468D-B033-7F652904D5AF}" srcOrd="3" destOrd="0" presId="urn:microsoft.com/office/officeart/2005/8/layout/list1"/>
    <dgm:cxn modelId="{E5775F8A-7A1D-437A-A2D9-4CB9A674B8BE}" type="presParOf" srcId="{8387A7F0-A86C-4B13-9352-53571B72EE15}" destId="{0B2D4BDC-3B2C-4540-8791-B3725317A7C8}" srcOrd="4" destOrd="0" presId="urn:microsoft.com/office/officeart/2005/8/layout/list1"/>
    <dgm:cxn modelId="{D654AAE2-D54C-49EB-88AF-334182725C2B}" type="presParOf" srcId="{0B2D4BDC-3B2C-4540-8791-B3725317A7C8}" destId="{B6BFD2EE-A1DA-49C6-9829-6A7C83A4AA9F}" srcOrd="0" destOrd="0" presId="urn:microsoft.com/office/officeart/2005/8/layout/list1"/>
    <dgm:cxn modelId="{E8FA29F0-BEA3-4681-8518-2D1787F05D66}" type="presParOf" srcId="{0B2D4BDC-3B2C-4540-8791-B3725317A7C8}" destId="{B72F983B-F67F-4B40-A455-7AC7ECA0D403}" srcOrd="1" destOrd="0" presId="urn:microsoft.com/office/officeart/2005/8/layout/list1"/>
    <dgm:cxn modelId="{1A84646F-8C38-4AA4-829F-4C6C3AFAB1A3}" type="presParOf" srcId="{8387A7F0-A86C-4B13-9352-53571B72EE15}" destId="{588DE721-B5E6-49A6-8549-871907F1E792}" srcOrd="5" destOrd="0" presId="urn:microsoft.com/office/officeart/2005/8/layout/list1"/>
    <dgm:cxn modelId="{7533ADFE-74CB-48DC-9543-6C4ACC048B78}" type="presParOf" srcId="{8387A7F0-A86C-4B13-9352-53571B72EE15}" destId="{9C900B67-2C38-48C3-85CF-9B0F92BA5445}" srcOrd="6" destOrd="0" presId="urn:microsoft.com/office/officeart/2005/8/layout/list1"/>
    <dgm:cxn modelId="{05C63DC5-1C51-4860-96C0-7BBD840CFFD3}" type="presParOf" srcId="{8387A7F0-A86C-4B13-9352-53571B72EE15}" destId="{94F959DD-A44E-437D-9EA7-27CCC26D0DB1}" srcOrd="7" destOrd="0" presId="urn:microsoft.com/office/officeart/2005/8/layout/list1"/>
    <dgm:cxn modelId="{F081DB2A-1248-4FF4-840E-BFB3D58C84E1}" type="presParOf" srcId="{8387A7F0-A86C-4B13-9352-53571B72EE15}" destId="{CE1D5876-FBE6-4608-8F90-263140B37CFA}" srcOrd="8" destOrd="0" presId="urn:microsoft.com/office/officeart/2005/8/layout/list1"/>
    <dgm:cxn modelId="{9F69C499-BCA2-4652-942C-A9FD4E1248DD}" type="presParOf" srcId="{CE1D5876-FBE6-4608-8F90-263140B37CFA}" destId="{F994D5B8-53D2-4376-9B9C-BC19895BD6DB}" srcOrd="0" destOrd="0" presId="urn:microsoft.com/office/officeart/2005/8/layout/list1"/>
    <dgm:cxn modelId="{2A1F0DB7-CD2B-4A0D-B556-9200A1214466}" type="presParOf" srcId="{CE1D5876-FBE6-4608-8F90-263140B37CFA}" destId="{CAD15321-9416-4BB4-8306-71419B727EC5}" srcOrd="1" destOrd="0" presId="urn:microsoft.com/office/officeart/2005/8/layout/list1"/>
    <dgm:cxn modelId="{451FE24A-5777-4197-B8E2-9EDA0A8A8B5B}" type="presParOf" srcId="{8387A7F0-A86C-4B13-9352-53571B72EE15}" destId="{6474743A-7C2F-4306-A72A-D83703E8B8C0}" srcOrd="9" destOrd="0" presId="urn:microsoft.com/office/officeart/2005/8/layout/list1"/>
    <dgm:cxn modelId="{3D327311-DE51-4E33-A6A6-564B730118C2}" type="presParOf" srcId="{8387A7F0-A86C-4B13-9352-53571B72EE15}" destId="{4D142DD2-584E-4622-9FD5-8A4451FC42B3}" srcOrd="10" destOrd="0" presId="urn:microsoft.com/office/officeart/2005/8/layout/list1"/>
    <dgm:cxn modelId="{CAAD538D-A85D-474B-8817-4EA588FDC607}" type="presParOf" srcId="{8387A7F0-A86C-4B13-9352-53571B72EE15}" destId="{B9CCFBC1-FFDF-4091-A06A-C603E601F0D5}" srcOrd="11" destOrd="0" presId="urn:microsoft.com/office/officeart/2005/8/layout/list1"/>
    <dgm:cxn modelId="{CD4BB1A1-338D-4F62-939E-6DE3C6B23E54}" type="presParOf" srcId="{8387A7F0-A86C-4B13-9352-53571B72EE15}" destId="{855067DD-B9AA-47EF-B00E-A0E05652C53C}" srcOrd="12" destOrd="0" presId="urn:microsoft.com/office/officeart/2005/8/layout/list1"/>
    <dgm:cxn modelId="{015B389C-1D7B-41C0-A942-4CF42EC3F0C9}" type="presParOf" srcId="{855067DD-B9AA-47EF-B00E-A0E05652C53C}" destId="{C6CAE1EA-4CB0-4455-9932-C61128C00E85}" srcOrd="0" destOrd="0" presId="urn:microsoft.com/office/officeart/2005/8/layout/list1"/>
    <dgm:cxn modelId="{181DF819-0395-427A-97C8-FE9283D5D3A7}" type="presParOf" srcId="{855067DD-B9AA-47EF-B00E-A0E05652C53C}" destId="{4D6B6E1E-A67D-4893-850E-3AD026BEB9B0}" srcOrd="1" destOrd="0" presId="urn:microsoft.com/office/officeart/2005/8/layout/list1"/>
    <dgm:cxn modelId="{B0FF1AB1-64E7-4258-A13A-05E049BE9767}" type="presParOf" srcId="{8387A7F0-A86C-4B13-9352-53571B72EE15}" destId="{4644B36E-BACA-47FE-9D63-6F4E4C7E4753}" srcOrd="13" destOrd="0" presId="urn:microsoft.com/office/officeart/2005/8/layout/list1"/>
    <dgm:cxn modelId="{F88FE1C9-4112-4CF3-9A8B-33532A195947}" type="presParOf" srcId="{8387A7F0-A86C-4B13-9352-53571B72EE15}" destId="{ADECDB40-FD0E-4522-877C-2E8B35D8F2BB}"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7B12055-5C99-4D71-9331-F72473505373}" type="doc">
      <dgm:prSet loTypeId="urn:microsoft.com/office/officeart/2005/8/layout/vList2" loCatId="list" qsTypeId="urn:microsoft.com/office/officeart/2005/8/quickstyle/simple3" qsCatId="simple" csTypeId="urn:microsoft.com/office/officeart/2005/8/colors/accent0_3" csCatId="mainScheme" phldr="1"/>
      <dgm:spPr/>
      <dgm:t>
        <a:bodyPr/>
        <a:lstStyle/>
        <a:p>
          <a:endParaRPr lang="ms-MY"/>
        </a:p>
      </dgm:t>
    </dgm:pt>
    <dgm:pt modelId="{66A0538D-6175-42C8-AE84-A315A5059880}">
      <dgm:prSet phldrT="[Text]" custT="1"/>
      <dgm:spPr>
        <a:ln>
          <a:solidFill>
            <a:schemeClr val="tx1"/>
          </a:solidFill>
        </a:ln>
      </dgm:spPr>
      <dgm:t>
        <a:bodyPr/>
        <a:lstStyle/>
        <a:p>
          <a:pPr algn="ctr"/>
          <a:r>
            <a:rPr lang="en-US" sz="4000" dirty="0"/>
            <a:t>Bank Negara Malaysia</a:t>
          </a:r>
        </a:p>
      </dgm:t>
    </dgm:pt>
    <dgm:pt modelId="{D3B3D0D3-B8A6-43D7-B0A3-FFEE8D90597C}" type="parTrans" cxnId="{A1EFE59E-7A74-4CF1-A2DB-A31435EB42F8}">
      <dgm:prSet/>
      <dgm:spPr/>
      <dgm:t>
        <a:bodyPr/>
        <a:lstStyle/>
        <a:p>
          <a:endParaRPr lang="ms-MY"/>
        </a:p>
      </dgm:t>
    </dgm:pt>
    <dgm:pt modelId="{3F2DF61F-C06B-4D34-954E-2B33DA096D92}" type="sibTrans" cxnId="{A1EFE59E-7A74-4CF1-A2DB-A31435EB42F8}">
      <dgm:prSet/>
      <dgm:spPr/>
      <dgm:t>
        <a:bodyPr/>
        <a:lstStyle/>
        <a:p>
          <a:endParaRPr lang="ms-MY"/>
        </a:p>
      </dgm:t>
    </dgm:pt>
    <dgm:pt modelId="{3CA526CA-AFE5-4A9B-9133-B5087EAD0921}">
      <dgm:prSet phldrT="[Text]" custT="1"/>
      <dgm:spPr>
        <a:ln>
          <a:solidFill>
            <a:schemeClr val="tx1"/>
          </a:solidFill>
        </a:ln>
      </dgm:spPr>
      <dgm:t>
        <a:bodyPr/>
        <a:lstStyle/>
        <a:p>
          <a:pPr algn="ctr"/>
          <a:r>
            <a:rPr lang="ms-MY" sz="4000" dirty="0"/>
            <a:t>Bursa Malaysia</a:t>
          </a:r>
        </a:p>
      </dgm:t>
    </dgm:pt>
    <dgm:pt modelId="{E6611E9E-4E8E-4BA7-B3C9-2FAA40C1807F}" type="parTrans" cxnId="{C14841B8-3C4C-4FD9-8B1D-596DA084FABA}">
      <dgm:prSet/>
      <dgm:spPr/>
      <dgm:t>
        <a:bodyPr/>
        <a:lstStyle/>
        <a:p>
          <a:endParaRPr lang="ms-MY"/>
        </a:p>
      </dgm:t>
    </dgm:pt>
    <dgm:pt modelId="{6BB18249-700C-4971-9F1A-438F9686B93C}" type="sibTrans" cxnId="{C14841B8-3C4C-4FD9-8B1D-596DA084FABA}">
      <dgm:prSet/>
      <dgm:spPr/>
      <dgm:t>
        <a:bodyPr/>
        <a:lstStyle/>
        <a:p>
          <a:endParaRPr lang="ms-MY"/>
        </a:p>
      </dgm:t>
    </dgm:pt>
    <dgm:pt modelId="{8848FE8E-2615-4A30-BB8E-FD754504B619}">
      <dgm:prSet phldrT="[Text]" custT="1"/>
      <dgm:spPr>
        <a:ln>
          <a:solidFill>
            <a:schemeClr val="tx1"/>
          </a:solidFill>
        </a:ln>
      </dgm:spPr>
      <dgm:t>
        <a:bodyPr/>
        <a:lstStyle/>
        <a:p>
          <a:pPr algn="ctr"/>
          <a:r>
            <a:rPr lang="ms-MY" sz="4000" dirty="0"/>
            <a:t>Suruhanjaya Sekuriti</a:t>
          </a:r>
        </a:p>
      </dgm:t>
    </dgm:pt>
    <dgm:pt modelId="{BB45C673-3155-4797-BC50-BDDBBE2F4CF2}" type="parTrans" cxnId="{19801595-A1B1-43AF-B797-5D5DBDE5CB5C}">
      <dgm:prSet/>
      <dgm:spPr/>
      <dgm:t>
        <a:bodyPr/>
        <a:lstStyle/>
        <a:p>
          <a:endParaRPr lang="ms-MY"/>
        </a:p>
      </dgm:t>
    </dgm:pt>
    <dgm:pt modelId="{E1200F07-F5D9-4E05-AE79-760AC5618231}" type="sibTrans" cxnId="{19801595-A1B1-43AF-B797-5D5DBDE5CB5C}">
      <dgm:prSet/>
      <dgm:spPr/>
      <dgm:t>
        <a:bodyPr/>
        <a:lstStyle/>
        <a:p>
          <a:endParaRPr lang="ms-MY"/>
        </a:p>
      </dgm:t>
    </dgm:pt>
    <dgm:pt modelId="{DF0D6950-3980-4EB2-815F-E4C34B4D3ED0}" type="pres">
      <dgm:prSet presAssocID="{F7B12055-5C99-4D71-9331-F72473505373}" presName="linear" presStyleCnt="0">
        <dgm:presLayoutVars>
          <dgm:animLvl val="lvl"/>
          <dgm:resizeHandles val="exact"/>
        </dgm:presLayoutVars>
      </dgm:prSet>
      <dgm:spPr/>
    </dgm:pt>
    <dgm:pt modelId="{2A2D96E7-D6EF-468E-A97A-8483B199D95E}" type="pres">
      <dgm:prSet presAssocID="{66A0538D-6175-42C8-AE84-A315A5059880}" presName="parentText" presStyleLbl="node1" presStyleIdx="0" presStyleCnt="3" custLinFactY="-6902" custLinFactNeighborX="1913" custLinFactNeighborY="-100000">
        <dgm:presLayoutVars>
          <dgm:chMax val="0"/>
          <dgm:bulletEnabled val="1"/>
        </dgm:presLayoutVars>
      </dgm:prSet>
      <dgm:spPr/>
    </dgm:pt>
    <dgm:pt modelId="{A2502C6D-D80C-49D8-BD5C-F6471C2991D4}" type="pres">
      <dgm:prSet presAssocID="{3F2DF61F-C06B-4D34-954E-2B33DA096D92}" presName="spacer" presStyleCnt="0"/>
      <dgm:spPr/>
    </dgm:pt>
    <dgm:pt modelId="{C6E0D5EF-5E16-46E2-9897-8DD715C044B2}" type="pres">
      <dgm:prSet presAssocID="{3CA526CA-AFE5-4A9B-9133-B5087EAD0921}" presName="parentText" presStyleLbl="node1" presStyleIdx="1" presStyleCnt="3" custLinFactNeighborX="-957" custLinFactNeighborY="-18868">
        <dgm:presLayoutVars>
          <dgm:chMax val="0"/>
          <dgm:bulletEnabled val="1"/>
        </dgm:presLayoutVars>
      </dgm:prSet>
      <dgm:spPr/>
    </dgm:pt>
    <dgm:pt modelId="{C80E9FD7-5A51-47EF-B92B-477F2ED21442}" type="pres">
      <dgm:prSet presAssocID="{6BB18249-700C-4971-9F1A-438F9686B93C}" presName="spacer" presStyleCnt="0"/>
      <dgm:spPr/>
    </dgm:pt>
    <dgm:pt modelId="{516367BA-4513-4D7E-99EA-0D133065A913}" type="pres">
      <dgm:prSet presAssocID="{8848FE8E-2615-4A30-BB8E-FD754504B619}" presName="parentText" presStyleLbl="node1" presStyleIdx="2" presStyleCnt="3">
        <dgm:presLayoutVars>
          <dgm:chMax val="0"/>
          <dgm:bulletEnabled val="1"/>
        </dgm:presLayoutVars>
      </dgm:prSet>
      <dgm:spPr/>
    </dgm:pt>
  </dgm:ptLst>
  <dgm:cxnLst>
    <dgm:cxn modelId="{61A4E82F-B8D2-4CE3-9A9A-AD08729CF838}" type="presOf" srcId="{66A0538D-6175-42C8-AE84-A315A5059880}" destId="{2A2D96E7-D6EF-468E-A97A-8483B199D95E}" srcOrd="0" destOrd="0" presId="urn:microsoft.com/office/officeart/2005/8/layout/vList2"/>
    <dgm:cxn modelId="{041D5D41-14E2-4849-BE21-45391BA0B165}" type="presOf" srcId="{8848FE8E-2615-4A30-BB8E-FD754504B619}" destId="{516367BA-4513-4D7E-99EA-0D133065A913}" srcOrd="0" destOrd="0" presId="urn:microsoft.com/office/officeart/2005/8/layout/vList2"/>
    <dgm:cxn modelId="{19801595-A1B1-43AF-B797-5D5DBDE5CB5C}" srcId="{F7B12055-5C99-4D71-9331-F72473505373}" destId="{8848FE8E-2615-4A30-BB8E-FD754504B619}" srcOrd="2" destOrd="0" parTransId="{BB45C673-3155-4797-BC50-BDDBBE2F4CF2}" sibTransId="{E1200F07-F5D9-4E05-AE79-760AC5618231}"/>
    <dgm:cxn modelId="{A1EFE59E-7A74-4CF1-A2DB-A31435EB42F8}" srcId="{F7B12055-5C99-4D71-9331-F72473505373}" destId="{66A0538D-6175-42C8-AE84-A315A5059880}" srcOrd="0" destOrd="0" parTransId="{D3B3D0D3-B8A6-43D7-B0A3-FFEE8D90597C}" sibTransId="{3F2DF61F-C06B-4D34-954E-2B33DA096D92}"/>
    <dgm:cxn modelId="{C14841B8-3C4C-4FD9-8B1D-596DA084FABA}" srcId="{F7B12055-5C99-4D71-9331-F72473505373}" destId="{3CA526CA-AFE5-4A9B-9133-B5087EAD0921}" srcOrd="1" destOrd="0" parTransId="{E6611E9E-4E8E-4BA7-B3C9-2FAA40C1807F}" sibTransId="{6BB18249-700C-4971-9F1A-438F9686B93C}"/>
    <dgm:cxn modelId="{457F99C2-DE86-44C4-B98E-0DC9FA830714}" type="presOf" srcId="{3CA526CA-AFE5-4A9B-9133-B5087EAD0921}" destId="{C6E0D5EF-5E16-46E2-9897-8DD715C044B2}" srcOrd="0" destOrd="0" presId="urn:microsoft.com/office/officeart/2005/8/layout/vList2"/>
    <dgm:cxn modelId="{02C061DD-171B-4D9E-A1C0-E42D9D220E0C}" type="presOf" srcId="{F7B12055-5C99-4D71-9331-F72473505373}" destId="{DF0D6950-3980-4EB2-815F-E4C34B4D3ED0}" srcOrd="0" destOrd="0" presId="urn:microsoft.com/office/officeart/2005/8/layout/vList2"/>
    <dgm:cxn modelId="{CD56F429-F4A1-4BC7-9892-1063332B72E0}" type="presParOf" srcId="{DF0D6950-3980-4EB2-815F-E4C34B4D3ED0}" destId="{2A2D96E7-D6EF-468E-A97A-8483B199D95E}" srcOrd="0" destOrd="0" presId="urn:microsoft.com/office/officeart/2005/8/layout/vList2"/>
    <dgm:cxn modelId="{F817DB16-FD42-4A9D-B95B-B7EEC73C6FB0}" type="presParOf" srcId="{DF0D6950-3980-4EB2-815F-E4C34B4D3ED0}" destId="{A2502C6D-D80C-49D8-BD5C-F6471C2991D4}" srcOrd="1" destOrd="0" presId="urn:microsoft.com/office/officeart/2005/8/layout/vList2"/>
    <dgm:cxn modelId="{1CCF24F7-3145-4E40-A862-63D3291A508E}" type="presParOf" srcId="{DF0D6950-3980-4EB2-815F-E4C34B4D3ED0}" destId="{C6E0D5EF-5E16-46E2-9897-8DD715C044B2}" srcOrd="2" destOrd="0" presId="urn:microsoft.com/office/officeart/2005/8/layout/vList2"/>
    <dgm:cxn modelId="{21355136-5D6C-489C-B88C-6B6FB2387979}" type="presParOf" srcId="{DF0D6950-3980-4EB2-815F-E4C34B4D3ED0}" destId="{C80E9FD7-5A51-47EF-B92B-477F2ED21442}" srcOrd="3" destOrd="0" presId="urn:microsoft.com/office/officeart/2005/8/layout/vList2"/>
    <dgm:cxn modelId="{A08271DF-C23B-44DD-9DB4-473459787D20}" type="presParOf" srcId="{DF0D6950-3980-4EB2-815F-E4C34B4D3ED0}" destId="{516367BA-4513-4D7E-99EA-0D133065A913}"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CF2D382-8F4F-4730-B000-6B7C767D691E}" type="doc">
      <dgm:prSet loTypeId="urn:microsoft.com/office/officeart/2005/8/layout/radial3" loCatId="relationship" qsTypeId="urn:microsoft.com/office/officeart/2005/8/quickstyle/simple5" qsCatId="simple" csTypeId="urn:microsoft.com/office/officeart/2005/8/colors/colorful2" csCatId="colorful" phldr="1"/>
      <dgm:spPr/>
      <dgm:t>
        <a:bodyPr/>
        <a:lstStyle/>
        <a:p>
          <a:endParaRPr lang="en-MY"/>
        </a:p>
      </dgm:t>
    </dgm:pt>
    <dgm:pt modelId="{AE864183-A8E8-4752-BCEB-B39C49B7D723}">
      <dgm:prSet phldrT="[Text]" custT="1"/>
      <dgm:spPr>
        <a:ln>
          <a:solidFill>
            <a:schemeClr val="tx1"/>
          </a:solidFill>
        </a:ln>
      </dgm:spPr>
      <dgm:t>
        <a:bodyPr/>
        <a:lstStyle/>
        <a:p>
          <a:r>
            <a:rPr lang="en-US" sz="3600" dirty="0" err="1"/>
            <a:t>Sumber</a:t>
          </a:r>
          <a:r>
            <a:rPr lang="en-US" sz="3600" dirty="0"/>
            <a:t> </a:t>
          </a:r>
          <a:r>
            <a:rPr lang="en-US" sz="3600" dirty="0" err="1"/>
            <a:t>Kewangan</a:t>
          </a:r>
          <a:r>
            <a:rPr lang="en-US" sz="3600" dirty="0"/>
            <a:t> </a:t>
          </a:r>
          <a:r>
            <a:rPr lang="en-US" sz="3600" dirty="0" err="1"/>
            <a:t>Jangka</a:t>
          </a:r>
          <a:r>
            <a:rPr lang="en-US" sz="3600" dirty="0"/>
            <a:t> </a:t>
          </a:r>
          <a:r>
            <a:rPr lang="en-US" sz="3600" dirty="0" err="1"/>
            <a:t>Panjang</a:t>
          </a:r>
          <a:endParaRPr lang="en-MY" sz="3600" dirty="0"/>
        </a:p>
      </dgm:t>
    </dgm:pt>
    <dgm:pt modelId="{F7A48399-8EF1-4C81-93D9-850001CA9533}" type="parTrans" cxnId="{9418C58B-DB35-42A1-B36A-7C3E98453B77}">
      <dgm:prSet/>
      <dgm:spPr/>
      <dgm:t>
        <a:bodyPr/>
        <a:lstStyle/>
        <a:p>
          <a:endParaRPr lang="en-MY"/>
        </a:p>
      </dgm:t>
    </dgm:pt>
    <dgm:pt modelId="{5475ECD0-B315-48D7-94D0-5936CDCCD06D}" type="sibTrans" cxnId="{9418C58B-DB35-42A1-B36A-7C3E98453B77}">
      <dgm:prSet/>
      <dgm:spPr/>
      <dgm:t>
        <a:bodyPr/>
        <a:lstStyle/>
        <a:p>
          <a:endParaRPr lang="en-MY"/>
        </a:p>
      </dgm:t>
    </dgm:pt>
    <dgm:pt modelId="{D2B5171C-89E0-4532-BA22-FCB685FB1646}">
      <dgm:prSet phldrT="[Text]" custT="1"/>
      <dgm:spPr>
        <a:ln>
          <a:solidFill>
            <a:schemeClr val="tx1"/>
          </a:solidFill>
        </a:ln>
      </dgm:spPr>
      <dgm:t>
        <a:bodyPr/>
        <a:lstStyle/>
        <a:p>
          <a:r>
            <a:rPr lang="en-US" sz="2400" dirty="0" err="1"/>
            <a:t>Saham</a:t>
          </a:r>
          <a:r>
            <a:rPr lang="en-US" sz="2400" dirty="0"/>
            <a:t> </a:t>
          </a:r>
          <a:r>
            <a:rPr lang="en-US" sz="2400" dirty="0" err="1"/>
            <a:t>Biasa</a:t>
          </a:r>
          <a:endParaRPr lang="en-MY" sz="2400" dirty="0"/>
        </a:p>
      </dgm:t>
    </dgm:pt>
    <dgm:pt modelId="{BB526C38-3A07-4E4E-A619-0048AEF3C8C3}" type="parTrans" cxnId="{CADC2EF3-F3FE-4E8D-AF39-E6EC8D8B145B}">
      <dgm:prSet/>
      <dgm:spPr/>
      <dgm:t>
        <a:bodyPr/>
        <a:lstStyle/>
        <a:p>
          <a:endParaRPr lang="en-MY"/>
        </a:p>
      </dgm:t>
    </dgm:pt>
    <dgm:pt modelId="{C1B87847-F58A-49D6-83FD-B01968BECBE4}" type="sibTrans" cxnId="{CADC2EF3-F3FE-4E8D-AF39-E6EC8D8B145B}">
      <dgm:prSet/>
      <dgm:spPr/>
      <dgm:t>
        <a:bodyPr/>
        <a:lstStyle/>
        <a:p>
          <a:endParaRPr lang="en-MY"/>
        </a:p>
      </dgm:t>
    </dgm:pt>
    <dgm:pt modelId="{48339885-3D93-444A-92E8-7FB43F0E18D6}">
      <dgm:prSet phldrT="[Text]" custT="1"/>
      <dgm:spPr>
        <a:ln>
          <a:solidFill>
            <a:schemeClr val="tx1"/>
          </a:solidFill>
        </a:ln>
      </dgm:spPr>
      <dgm:t>
        <a:bodyPr/>
        <a:lstStyle/>
        <a:p>
          <a:r>
            <a:rPr lang="en-US" sz="2400" b="0" dirty="0" err="1"/>
            <a:t>Saham</a:t>
          </a:r>
          <a:endParaRPr lang="en-US" sz="2400" b="0" dirty="0"/>
        </a:p>
        <a:p>
          <a:r>
            <a:rPr lang="en-US" sz="2400" b="0" dirty="0" err="1"/>
            <a:t>Keutamaan</a:t>
          </a:r>
          <a:endParaRPr lang="en-MY" sz="2400" b="0" dirty="0"/>
        </a:p>
      </dgm:t>
    </dgm:pt>
    <dgm:pt modelId="{B4FD6C53-3ECF-44DF-B070-8860300AD5DA}" type="parTrans" cxnId="{D05D9274-9C86-4491-8843-D976E455935D}">
      <dgm:prSet/>
      <dgm:spPr/>
      <dgm:t>
        <a:bodyPr/>
        <a:lstStyle/>
        <a:p>
          <a:endParaRPr lang="en-MY"/>
        </a:p>
      </dgm:t>
    </dgm:pt>
    <dgm:pt modelId="{29230FA4-B01C-475A-874C-50A0FD69EBC5}" type="sibTrans" cxnId="{D05D9274-9C86-4491-8843-D976E455935D}">
      <dgm:prSet/>
      <dgm:spPr/>
      <dgm:t>
        <a:bodyPr/>
        <a:lstStyle/>
        <a:p>
          <a:endParaRPr lang="en-MY"/>
        </a:p>
      </dgm:t>
    </dgm:pt>
    <dgm:pt modelId="{9F33D00C-80D4-4D47-B407-58C30DB9AE34}">
      <dgm:prSet phldrT="[Text]" custT="1"/>
      <dgm:spPr>
        <a:ln>
          <a:solidFill>
            <a:schemeClr val="tx1"/>
          </a:solidFill>
        </a:ln>
      </dgm:spPr>
      <dgm:t>
        <a:bodyPr/>
        <a:lstStyle/>
        <a:p>
          <a:r>
            <a:rPr lang="en-US" sz="3200" dirty="0"/>
            <a:t>Bon</a:t>
          </a:r>
          <a:endParaRPr lang="en-MY" sz="3200" dirty="0"/>
        </a:p>
      </dgm:t>
    </dgm:pt>
    <dgm:pt modelId="{D5F9CC73-8E8C-4FD0-AE07-5AD767CDF149}" type="parTrans" cxnId="{4B461A3C-051F-43A4-B00F-9B2561E48F75}">
      <dgm:prSet/>
      <dgm:spPr/>
      <dgm:t>
        <a:bodyPr/>
        <a:lstStyle/>
        <a:p>
          <a:endParaRPr lang="en-MY"/>
        </a:p>
      </dgm:t>
    </dgm:pt>
    <dgm:pt modelId="{17703EB8-8F3D-4B01-BF62-99949D05F18B}" type="sibTrans" cxnId="{4B461A3C-051F-43A4-B00F-9B2561E48F75}">
      <dgm:prSet/>
      <dgm:spPr/>
      <dgm:t>
        <a:bodyPr/>
        <a:lstStyle/>
        <a:p>
          <a:endParaRPr lang="en-MY"/>
        </a:p>
      </dgm:t>
    </dgm:pt>
    <dgm:pt modelId="{BCFF40A7-B98D-427F-9208-FB2D60EFA34C}">
      <dgm:prSet phldrT="[Text]"/>
      <dgm:spPr>
        <a:ln>
          <a:solidFill>
            <a:schemeClr val="tx1"/>
          </a:solidFill>
        </a:ln>
      </dgm:spPr>
      <dgm:t>
        <a:bodyPr/>
        <a:lstStyle/>
        <a:p>
          <a:r>
            <a:rPr lang="en-MY" b="0" dirty="0" err="1"/>
            <a:t>Pinjaman</a:t>
          </a:r>
          <a:r>
            <a:rPr lang="en-MY" b="0" dirty="0"/>
            <a:t> </a:t>
          </a:r>
          <a:r>
            <a:rPr lang="en-MY" b="0" dirty="0" err="1"/>
            <a:t>Jangka</a:t>
          </a:r>
          <a:r>
            <a:rPr lang="en-MY" b="0" dirty="0"/>
            <a:t> </a:t>
          </a:r>
          <a:r>
            <a:rPr lang="en-MY" b="0" dirty="0" err="1"/>
            <a:t>Panjang</a:t>
          </a:r>
          <a:endParaRPr lang="en-MY" b="0" dirty="0"/>
        </a:p>
      </dgm:t>
    </dgm:pt>
    <dgm:pt modelId="{166A41E5-3C83-42CE-A145-59FFE8B88E7F}" type="parTrans" cxnId="{081BAC7A-BFD1-40C7-9454-16DD05B35B04}">
      <dgm:prSet/>
      <dgm:spPr/>
      <dgm:t>
        <a:bodyPr/>
        <a:lstStyle/>
        <a:p>
          <a:endParaRPr lang="en-US"/>
        </a:p>
      </dgm:t>
    </dgm:pt>
    <dgm:pt modelId="{640DD272-4840-4642-B946-BFC441BAA71F}" type="sibTrans" cxnId="{081BAC7A-BFD1-40C7-9454-16DD05B35B04}">
      <dgm:prSet/>
      <dgm:spPr/>
      <dgm:t>
        <a:bodyPr/>
        <a:lstStyle/>
        <a:p>
          <a:endParaRPr lang="en-US"/>
        </a:p>
      </dgm:t>
    </dgm:pt>
    <dgm:pt modelId="{63D0DD3F-18F6-44A7-A26A-B4C0A4BB171F}" type="pres">
      <dgm:prSet presAssocID="{BCF2D382-8F4F-4730-B000-6B7C767D691E}" presName="composite" presStyleCnt="0">
        <dgm:presLayoutVars>
          <dgm:chMax val="1"/>
          <dgm:dir/>
          <dgm:resizeHandles val="exact"/>
        </dgm:presLayoutVars>
      </dgm:prSet>
      <dgm:spPr/>
    </dgm:pt>
    <dgm:pt modelId="{AF24EF0C-E48F-4FAE-9955-1CEC94802824}" type="pres">
      <dgm:prSet presAssocID="{BCF2D382-8F4F-4730-B000-6B7C767D691E}" presName="radial" presStyleCnt="0">
        <dgm:presLayoutVars>
          <dgm:animLvl val="ctr"/>
        </dgm:presLayoutVars>
      </dgm:prSet>
      <dgm:spPr/>
    </dgm:pt>
    <dgm:pt modelId="{73493B30-A428-441A-867E-39552B081BD3}" type="pres">
      <dgm:prSet presAssocID="{AE864183-A8E8-4752-BCEB-B39C49B7D723}" presName="centerShape" presStyleLbl="vennNode1" presStyleIdx="0" presStyleCnt="5" custScaleX="105798" custScaleY="91191" custLinFactNeighborX="-2849" custLinFactNeighborY="-1581"/>
      <dgm:spPr/>
    </dgm:pt>
    <dgm:pt modelId="{8422932F-7FB9-4460-B9C5-53EC7266021D}" type="pres">
      <dgm:prSet presAssocID="{D2B5171C-89E0-4532-BA22-FCB685FB1646}" presName="node" presStyleLbl="vennNode1" presStyleIdx="1" presStyleCnt="5" custScaleX="115884" custScaleY="91289" custRadScaleRad="97940" custRadScaleInc="-3195">
        <dgm:presLayoutVars>
          <dgm:bulletEnabled val="1"/>
        </dgm:presLayoutVars>
      </dgm:prSet>
      <dgm:spPr/>
    </dgm:pt>
    <dgm:pt modelId="{AB8DD406-78B8-45A6-80E3-E7146FF542FB}" type="pres">
      <dgm:prSet presAssocID="{48339885-3D93-444A-92E8-7FB43F0E18D6}" presName="node" presStyleLbl="vennNode1" presStyleIdx="2" presStyleCnt="5" custScaleX="121903" custScaleY="110842" custRadScaleRad="94893" custRadScaleInc="-10159">
        <dgm:presLayoutVars>
          <dgm:bulletEnabled val="1"/>
        </dgm:presLayoutVars>
      </dgm:prSet>
      <dgm:spPr/>
    </dgm:pt>
    <dgm:pt modelId="{DB99A7A2-0337-4441-B496-2DE725C34DC1}" type="pres">
      <dgm:prSet presAssocID="{BCFF40A7-B98D-427F-9208-FB2D60EFA34C}" presName="node" presStyleLbl="vennNode1" presStyleIdx="3" presStyleCnt="5" custScaleX="121903" custScaleY="110842" custRadScaleRad="94561" custRadScaleInc="-8663">
        <dgm:presLayoutVars>
          <dgm:bulletEnabled val="1"/>
        </dgm:presLayoutVars>
      </dgm:prSet>
      <dgm:spPr/>
    </dgm:pt>
    <dgm:pt modelId="{91CE039E-392C-4567-9CAD-B26FD9B3283B}" type="pres">
      <dgm:prSet presAssocID="{9F33D00C-80D4-4D47-B407-58C30DB9AE34}" presName="node" presStyleLbl="vennNode1" presStyleIdx="4" presStyleCnt="5" custScaleX="127103" custRadScaleRad="109795" custRadScaleInc="8481">
        <dgm:presLayoutVars>
          <dgm:bulletEnabled val="1"/>
        </dgm:presLayoutVars>
      </dgm:prSet>
      <dgm:spPr/>
    </dgm:pt>
  </dgm:ptLst>
  <dgm:cxnLst>
    <dgm:cxn modelId="{DC448E01-B082-4064-BB77-B29F065034CA}" type="presOf" srcId="{D2B5171C-89E0-4532-BA22-FCB685FB1646}" destId="{8422932F-7FB9-4460-B9C5-53EC7266021D}" srcOrd="0" destOrd="0" presId="urn:microsoft.com/office/officeart/2005/8/layout/radial3"/>
    <dgm:cxn modelId="{1260261D-0CD2-4734-B17C-8AB470D925D1}" type="presOf" srcId="{9F33D00C-80D4-4D47-B407-58C30DB9AE34}" destId="{91CE039E-392C-4567-9CAD-B26FD9B3283B}" srcOrd="0" destOrd="0" presId="urn:microsoft.com/office/officeart/2005/8/layout/radial3"/>
    <dgm:cxn modelId="{4B461A3C-051F-43A4-B00F-9B2561E48F75}" srcId="{AE864183-A8E8-4752-BCEB-B39C49B7D723}" destId="{9F33D00C-80D4-4D47-B407-58C30DB9AE34}" srcOrd="3" destOrd="0" parTransId="{D5F9CC73-8E8C-4FD0-AE07-5AD767CDF149}" sibTransId="{17703EB8-8F3D-4B01-BF62-99949D05F18B}"/>
    <dgm:cxn modelId="{1EC0B560-E28A-48D8-AB89-9B534BC1EFEA}" type="presOf" srcId="{BCF2D382-8F4F-4730-B000-6B7C767D691E}" destId="{63D0DD3F-18F6-44A7-A26A-B4C0A4BB171F}" srcOrd="0" destOrd="0" presId="urn:microsoft.com/office/officeart/2005/8/layout/radial3"/>
    <dgm:cxn modelId="{D05D9274-9C86-4491-8843-D976E455935D}" srcId="{AE864183-A8E8-4752-BCEB-B39C49B7D723}" destId="{48339885-3D93-444A-92E8-7FB43F0E18D6}" srcOrd="1" destOrd="0" parTransId="{B4FD6C53-3ECF-44DF-B070-8860300AD5DA}" sibTransId="{29230FA4-B01C-475A-874C-50A0FD69EBC5}"/>
    <dgm:cxn modelId="{081BAC7A-BFD1-40C7-9454-16DD05B35B04}" srcId="{AE864183-A8E8-4752-BCEB-B39C49B7D723}" destId="{BCFF40A7-B98D-427F-9208-FB2D60EFA34C}" srcOrd="2" destOrd="0" parTransId="{166A41E5-3C83-42CE-A145-59FFE8B88E7F}" sibTransId="{640DD272-4840-4642-B946-BFC441BAA71F}"/>
    <dgm:cxn modelId="{9418C58B-DB35-42A1-B36A-7C3E98453B77}" srcId="{BCF2D382-8F4F-4730-B000-6B7C767D691E}" destId="{AE864183-A8E8-4752-BCEB-B39C49B7D723}" srcOrd="0" destOrd="0" parTransId="{F7A48399-8EF1-4C81-93D9-850001CA9533}" sibTransId="{5475ECD0-B315-48D7-94D0-5936CDCCD06D}"/>
    <dgm:cxn modelId="{9B02EAE4-75ED-4CB4-9471-2F76BA8C8A40}" type="presOf" srcId="{BCFF40A7-B98D-427F-9208-FB2D60EFA34C}" destId="{DB99A7A2-0337-4441-B496-2DE725C34DC1}" srcOrd="0" destOrd="0" presId="urn:microsoft.com/office/officeart/2005/8/layout/radial3"/>
    <dgm:cxn modelId="{FDA974E9-7DCC-4ED0-8175-83B3CDCB9E56}" type="presOf" srcId="{48339885-3D93-444A-92E8-7FB43F0E18D6}" destId="{AB8DD406-78B8-45A6-80E3-E7146FF542FB}" srcOrd="0" destOrd="0" presId="urn:microsoft.com/office/officeart/2005/8/layout/radial3"/>
    <dgm:cxn modelId="{28D6BAF1-9778-4413-9C49-3A6B8080E29C}" type="presOf" srcId="{AE864183-A8E8-4752-BCEB-B39C49B7D723}" destId="{73493B30-A428-441A-867E-39552B081BD3}" srcOrd="0" destOrd="0" presId="urn:microsoft.com/office/officeart/2005/8/layout/radial3"/>
    <dgm:cxn modelId="{CADC2EF3-F3FE-4E8D-AF39-E6EC8D8B145B}" srcId="{AE864183-A8E8-4752-BCEB-B39C49B7D723}" destId="{D2B5171C-89E0-4532-BA22-FCB685FB1646}" srcOrd="0" destOrd="0" parTransId="{BB526C38-3A07-4E4E-A619-0048AEF3C8C3}" sibTransId="{C1B87847-F58A-49D6-83FD-B01968BECBE4}"/>
    <dgm:cxn modelId="{F525B4A4-56E9-4184-97A8-87A2A4BE6C21}" type="presParOf" srcId="{63D0DD3F-18F6-44A7-A26A-B4C0A4BB171F}" destId="{AF24EF0C-E48F-4FAE-9955-1CEC94802824}" srcOrd="0" destOrd="0" presId="urn:microsoft.com/office/officeart/2005/8/layout/radial3"/>
    <dgm:cxn modelId="{546059A0-3215-40EB-8E7E-2D8016507A1F}" type="presParOf" srcId="{AF24EF0C-E48F-4FAE-9955-1CEC94802824}" destId="{73493B30-A428-441A-867E-39552B081BD3}" srcOrd="0" destOrd="0" presId="urn:microsoft.com/office/officeart/2005/8/layout/radial3"/>
    <dgm:cxn modelId="{060D4C9A-49A8-4299-83D3-74E9F5B1E98D}" type="presParOf" srcId="{AF24EF0C-E48F-4FAE-9955-1CEC94802824}" destId="{8422932F-7FB9-4460-B9C5-53EC7266021D}" srcOrd="1" destOrd="0" presId="urn:microsoft.com/office/officeart/2005/8/layout/radial3"/>
    <dgm:cxn modelId="{40E95E40-8EBC-4F4D-BAB8-9D1D2B8FDB74}" type="presParOf" srcId="{AF24EF0C-E48F-4FAE-9955-1CEC94802824}" destId="{AB8DD406-78B8-45A6-80E3-E7146FF542FB}" srcOrd="2" destOrd="0" presId="urn:microsoft.com/office/officeart/2005/8/layout/radial3"/>
    <dgm:cxn modelId="{E7578F12-B1DA-454A-BDAC-E70D780B3818}" type="presParOf" srcId="{AF24EF0C-E48F-4FAE-9955-1CEC94802824}" destId="{DB99A7A2-0337-4441-B496-2DE725C34DC1}" srcOrd="3" destOrd="0" presId="urn:microsoft.com/office/officeart/2005/8/layout/radial3"/>
    <dgm:cxn modelId="{84166E62-4CE2-4A77-B92A-C1D22183FA2A}" type="presParOf" srcId="{AF24EF0C-E48F-4FAE-9955-1CEC94802824}" destId="{91CE039E-392C-4567-9CAD-B26FD9B3283B}" srcOrd="4"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CF2D382-8F4F-4730-B000-6B7C767D691E}" type="doc">
      <dgm:prSet loTypeId="urn:microsoft.com/office/officeart/2005/8/layout/radial3" loCatId="relationship" qsTypeId="urn:microsoft.com/office/officeart/2005/8/quickstyle/simple5" qsCatId="simple" csTypeId="urn:microsoft.com/office/officeart/2005/8/colors/colorful3" csCatId="colorful" phldr="1"/>
      <dgm:spPr/>
      <dgm:t>
        <a:bodyPr/>
        <a:lstStyle/>
        <a:p>
          <a:endParaRPr lang="en-MY"/>
        </a:p>
      </dgm:t>
    </dgm:pt>
    <dgm:pt modelId="{AE864183-A8E8-4752-BCEB-B39C49B7D723}">
      <dgm:prSet phldrT="[Text]" custT="1"/>
      <dgm:spPr/>
      <dgm:t>
        <a:bodyPr/>
        <a:lstStyle/>
        <a:p>
          <a:r>
            <a:rPr lang="en-US" sz="3600" dirty="0" err="1"/>
            <a:t>Sumber</a:t>
          </a:r>
          <a:r>
            <a:rPr lang="en-US" sz="3600" dirty="0"/>
            <a:t> </a:t>
          </a:r>
          <a:r>
            <a:rPr lang="en-US" sz="3600" dirty="0" err="1"/>
            <a:t>Kewangan</a:t>
          </a:r>
          <a:r>
            <a:rPr lang="en-US" sz="3600" dirty="0"/>
            <a:t> </a:t>
          </a:r>
          <a:r>
            <a:rPr lang="en-US" sz="3600" dirty="0" err="1"/>
            <a:t>Jangka</a:t>
          </a:r>
          <a:r>
            <a:rPr lang="en-US" sz="3600" dirty="0"/>
            <a:t> </a:t>
          </a:r>
          <a:r>
            <a:rPr lang="en-US" sz="3600" dirty="0" err="1"/>
            <a:t>Pendek</a:t>
          </a:r>
          <a:endParaRPr lang="en-MY" sz="3600" dirty="0"/>
        </a:p>
      </dgm:t>
    </dgm:pt>
    <dgm:pt modelId="{F7A48399-8EF1-4C81-93D9-850001CA9533}" type="parTrans" cxnId="{9418C58B-DB35-42A1-B36A-7C3E98453B77}">
      <dgm:prSet/>
      <dgm:spPr/>
      <dgm:t>
        <a:bodyPr/>
        <a:lstStyle/>
        <a:p>
          <a:endParaRPr lang="en-MY"/>
        </a:p>
      </dgm:t>
    </dgm:pt>
    <dgm:pt modelId="{5475ECD0-B315-48D7-94D0-5936CDCCD06D}" type="sibTrans" cxnId="{9418C58B-DB35-42A1-B36A-7C3E98453B77}">
      <dgm:prSet/>
      <dgm:spPr/>
      <dgm:t>
        <a:bodyPr/>
        <a:lstStyle/>
        <a:p>
          <a:endParaRPr lang="en-MY"/>
        </a:p>
      </dgm:t>
    </dgm:pt>
    <dgm:pt modelId="{D2B5171C-89E0-4532-BA22-FCB685FB1646}">
      <dgm:prSet phldrT="[Text]" custT="1"/>
      <dgm:spPr/>
      <dgm:t>
        <a:bodyPr/>
        <a:lstStyle/>
        <a:p>
          <a:r>
            <a:rPr lang="en-MY" sz="2800" dirty="0" err="1"/>
            <a:t>Kredit</a:t>
          </a:r>
          <a:r>
            <a:rPr lang="en-MY" sz="2800" dirty="0"/>
            <a:t> </a:t>
          </a:r>
          <a:r>
            <a:rPr lang="en-MY" sz="2800" dirty="0" err="1"/>
            <a:t>Perdagangan</a:t>
          </a:r>
          <a:endParaRPr lang="en-MY" sz="2800" dirty="0"/>
        </a:p>
      </dgm:t>
    </dgm:pt>
    <dgm:pt modelId="{BB526C38-3A07-4E4E-A619-0048AEF3C8C3}" type="parTrans" cxnId="{CADC2EF3-F3FE-4E8D-AF39-E6EC8D8B145B}">
      <dgm:prSet/>
      <dgm:spPr/>
      <dgm:t>
        <a:bodyPr/>
        <a:lstStyle/>
        <a:p>
          <a:endParaRPr lang="en-MY"/>
        </a:p>
      </dgm:t>
    </dgm:pt>
    <dgm:pt modelId="{C1B87847-F58A-49D6-83FD-B01968BECBE4}" type="sibTrans" cxnId="{CADC2EF3-F3FE-4E8D-AF39-E6EC8D8B145B}">
      <dgm:prSet/>
      <dgm:spPr/>
      <dgm:t>
        <a:bodyPr/>
        <a:lstStyle/>
        <a:p>
          <a:endParaRPr lang="en-MY"/>
        </a:p>
      </dgm:t>
    </dgm:pt>
    <dgm:pt modelId="{48339885-3D93-444A-92E8-7FB43F0E18D6}">
      <dgm:prSet phldrT="[Text]" custT="1"/>
      <dgm:spPr/>
      <dgm:t>
        <a:bodyPr/>
        <a:lstStyle/>
        <a:p>
          <a:r>
            <a:rPr lang="en-US" sz="2800" b="0" dirty="0" err="1"/>
            <a:t>Kertas</a:t>
          </a:r>
          <a:r>
            <a:rPr lang="en-US" sz="2800" b="0" dirty="0"/>
            <a:t> </a:t>
          </a:r>
          <a:r>
            <a:rPr lang="en-US" sz="2800" b="0" dirty="0" err="1"/>
            <a:t>Kormesial</a:t>
          </a:r>
          <a:endParaRPr lang="en-US" sz="2800" b="0" dirty="0"/>
        </a:p>
      </dgm:t>
    </dgm:pt>
    <dgm:pt modelId="{B4FD6C53-3ECF-44DF-B070-8860300AD5DA}" type="parTrans" cxnId="{D05D9274-9C86-4491-8843-D976E455935D}">
      <dgm:prSet/>
      <dgm:spPr/>
      <dgm:t>
        <a:bodyPr/>
        <a:lstStyle/>
        <a:p>
          <a:endParaRPr lang="en-MY"/>
        </a:p>
      </dgm:t>
    </dgm:pt>
    <dgm:pt modelId="{29230FA4-B01C-475A-874C-50A0FD69EBC5}" type="sibTrans" cxnId="{D05D9274-9C86-4491-8843-D976E455935D}">
      <dgm:prSet/>
      <dgm:spPr/>
      <dgm:t>
        <a:bodyPr/>
        <a:lstStyle/>
        <a:p>
          <a:endParaRPr lang="en-MY"/>
        </a:p>
      </dgm:t>
    </dgm:pt>
    <dgm:pt modelId="{9F33D00C-80D4-4D47-B407-58C30DB9AE34}">
      <dgm:prSet phldrT="[Text]" custT="1"/>
      <dgm:spPr/>
      <dgm:t>
        <a:bodyPr/>
        <a:lstStyle/>
        <a:p>
          <a:r>
            <a:rPr lang="en-MY" sz="2800" dirty="0" err="1"/>
            <a:t>Pinjaman</a:t>
          </a:r>
          <a:r>
            <a:rPr lang="en-MY" sz="2800" dirty="0"/>
            <a:t> </a:t>
          </a:r>
          <a:r>
            <a:rPr lang="en-MY" sz="2800" dirty="0" err="1"/>
            <a:t>Jangka</a:t>
          </a:r>
          <a:r>
            <a:rPr lang="en-MY" sz="2800" dirty="0"/>
            <a:t> </a:t>
          </a:r>
          <a:r>
            <a:rPr lang="en-MY" sz="2800" dirty="0" err="1"/>
            <a:t>Pendek</a:t>
          </a:r>
          <a:endParaRPr lang="en-MY" sz="2800" dirty="0"/>
        </a:p>
      </dgm:t>
    </dgm:pt>
    <dgm:pt modelId="{D5F9CC73-8E8C-4FD0-AE07-5AD767CDF149}" type="parTrans" cxnId="{4B461A3C-051F-43A4-B00F-9B2561E48F75}">
      <dgm:prSet/>
      <dgm:spPr/>
      <dgm:t>
        <a:bodyPr/>
        <a:lstStyle/>
        <a:p>
          <a:endParaRPr lang="en-MY"/>
        </a:p>
      </dgm:t>
    </dgm:pt>
    <dgm:pt modelId="{17703EB8-8F3D-4B01-BF62-99949D05F18B}" type="sibTrans" cxnId="{4B461A3C-051F-43A4-B00F-9B2561E48F75}">
      <dgm:prSet/>
      <dgm:spPr/>
      <dgm:t>
        <a:bodyPr/>
        <a:lstStyle/>
        <a:p>
          <a:endParaRPr lang="en-MY"/>
        </a:p>
      </dgm:t>
    </dgm:pt>
    <dgm:pt modelId="{0889EF78-FD97-4BC7-B391-BE585F9985F9}">
      <dgm:prSet phldrT="[Text]"/>
      <dgm:spPr/>
      <dgm:t>
        <a:bodyPr/>
        <a:lstStyle/>
        <a:p>
          <a:r>
            <a:rPr lang="en-US" b="0" dirty="0" err="1"/>
            <a:t>Overdraf</a:t>
          </a:r>
          <a:endParaRPr lang="en-US" b="0" dirty="0"/>
        </a:p>
      </dgm:t>
    </dgm:pt>
    <dgm:pt modelId="{16CC0008-2BBE-4CFD-9E9E-C081EDC9F6B4}" type="parTrans" cxnId="{6F2D067C-8958-45A5-BD01-7400F960B2A1}">
      <dgm:prSet/>
      <dgm:spPr/>
      <dgm:t>
        <a:bodyPr/>
        <a:lstStyle/>
        <a:p>
          <a:endParaRPr lang="en-US"/>
        </a:p>
      </dgm:t>
    </dgm:pt>
    <dgm:pt modelId="{740F4036-52F5-49E7-8B95-EFC7E09A7275}" type="sibTrans" cxnId="{6F2D067C-8958-45A5-BD01-7400F960B2A1}">
      <dgm:prSet/>
      <dgm:spPr/>
      <dgm:t>
        <a:bodyPr/>
        <a:lstStyle/>
        <a:p>
          <a:endParaRPr lang="en-US"/>
        </a:p>
      </dgm:t>
    </dgm:pt>
    <dgm:pt modelId="{63D0DD3F-18F6-44A7-A26A-B4C0A4BB171F}" type="pres">
      <dgm:prSet presAssocID="{BCF2D382-8F4F-4730-B000-6B7C767D691E}" presName="composite" presStyleCnt="0">
        <dgm:presLayoutVars>
          <dgm:chMax val="1"/>
          <dgm:dir/>
          <dgm:resizeHandles val="exact"/>
        </dgm:presLayoutVars>
      </dgm:prSet>
      <dgm:spPr/>
    </dgm:pt>
    <dgm:pt modelId="{AF24EF0C-E48F-4FAE-9955-1CEC94802824}" type="pres">
      <dgm:prSet presAssocID="{BCF2D382-8F4F-4730-B000-6B7C767D691E}" presName="radial" presStyleCnt="0">
        <dgm:presLayoutVars>
          <dgm:animLvl val="ctr"/>
        </dgm:presLayoutVars>
      </dgm:prSet>
      <dgm:spPr/>
    </dgm:pt>
    <dgm:pt modelId="{73493B30-A428-441A-867E-39552B081BD3}" type="pres">
      <dgm:prSet presAssocID="{AE864183-A8E8-4752-BCEB-B39C49B7D723}" presName="centerShape" presStyleLbl="vennNode1" presStyleIdx="0" presStyleCnt="5" custScaleX="100037" custScaleY="65406" custLinFactNeighborX="-2849" custLinFactNeighborY="-1581"/>
      <dgm:spPr/>
    </dgm:pt>
    <dgm:pt modelId="{8422932F-7FB9-4460-B9C5-53EC7266021D}" type="pres">
      <dgm:prSet presAssocID="{D2B5171C-89E0-4532-BA22-FCB685FB1646}" presName="node" presStyleLbl="vennNode1" presStyleIdx="1" presStyleCnt="5" custScaleX="181373" custScaleY="111692" custRadScaleRad="94331" custRadScaleInc="-3926">
        <dgm:presLayoutVars>
          <dgm:bulletEnabled val="1"/>
        </dgm:presLayoutVars>
      </dgm:prSet>
      <dgm:spPr/>
    </dgm:pt>
    <dgm:pt modelId="{AB8DD406-78B8-45A6-80E3-E7146FF542FB}" type="pres">
      <dgm:prSet presAssocID="{48339885-3D93-444A-92E8-7FB43F0E18D6}" presName="node" presStyleLbl="vennNode1" presStyleIdx="2" presStyleCnt="5" custScaleX="127957" custScaleY="110842" custRadScaleRad="116060" custRadScaleInc="-7204">
        <dgm:presLayoutVars>
          <dgm:bulletEnabled val="1"/>
        </dgm:presLayoutVars>
      </dgm:prSet>
      <dgm:spPr/>
    </dgm:pt>
    <dgm:pt modelId="{BB33CA64-17B6-4BC1-AB07-DF3C7FF61966}" type="pres">
      <dgm:prSet presAssocID="{0889EF78-FD97-4BC7-B391-BE585F9985F9}" presName="node" presStyleLbl="vennNode1" presStyleIdx="3" presStyleCnt="5" custScaleX="121903" custScaleY="91053" custRadScaleRad="78115" custRadScaleInc="2140">
        <dgm:presLayoutVars>
          <dgm:bulletEnabled val="1"/>
        </dgm:presLayoutVars>
      </dgm:prSet>
      <dgm:spPr/>
    </dgm:pt>
    <dgm:pt modelId="{91CE039E-392C-4567-9CAD-B26FD9B3283B}" type="pres">
      <dgm:prSet presAssocID="{9F33D00C-80D4-4D47-B407-58C30DB9AE34}" presName="node" presStyleLbl="vennNode1" presStyleIdx="4" presStyleCnt="5" custScaleX="130824" custRadScaleRad="127136" custRadScaleInc="1668">
        <dgm:presLayoutVars>
          <dgm:bulletEnabled val="1"/>
        </dgm:presLayoutVars>
      </dgm:prSet>
      <dgm:spPr/>
    </dgm:pt>
  </dgm:ptLst>
  <dgm:cxnLst>
    <dgm:cxn modelId="{DC448E01-B082-4064-BB77-B29F065034CA}" type="presOf" srcId="{D2B5171C-89E0-4532-BA22-FCB685FB1646}" destId="{8422932F-7FB9-4460-B9C5-53EC7266021D}" srcOrd="0" destOrd="0" presId="urn:microsoft.com/office/officeart/2005/8/layout/radial3"/>
    <dgm:cxn modelId="{1260261D-0CD2-4734-B17C-8AB470D925D1}" type="presOf" srcId="{9F33D00C-80D4-4D47-B407-58C30DB9AE34}" destId="{91CE039E-392C-4567-9CAD-B26FD9B3283B}" srcOrd="0" destOrd="0" presId="urn:microsoft.com/office/officeart/2005/8/layout/radial3"/>
    <dgm:cxn modelId="{4B461A3C-051F-43A4-B00F-9B2561E48F75}" srcId="{AE864183-A8E8-4752-BCEB-B39C49B7D723}" destId="{9F33D00C-80D4-4D47-B407-58C30DB9AE34}" srcOrd="3" destOrd="0" parTransId="{D5F9CC73-8E8C-4FD0-AE07-5AD767CDF149}" sibTransId="{17703EB8-8F3D-4B01-BF62-99949D05F18B}"/>
    <dgm:cxn modelId="{1EC0B560-E28A-48D8-AB89-9B534BC1EFEA}" type="presOf" srcId="{BCF2D382-8F4F-4730-B000-6B7C767D691E}" destId="{63D0DD3F-18F6-44A7-A26A-B4C0A4BB171F}" srcOrd="0" destOrd="0" presId="urn:microsoft.com/office/officeart/2005/8/layout/radial3"/>
    <dgm:cxn modelId="{42CD9F6F-9E63-4BE6-88FE-804AA0A6AA55}" type="presOf" srcId="{0889EF78-FD97-4BC7-B391-BE585F9985F9}" destId="{BB33CA64-17B6-4BC1-AB07-DF3C7FF61966}" srcOrd="0" destOrd="0" presId="urn:microsoft.com/office/officeart/2005/8/layout/radial3"/>
    <dgm:cxn modelId="{D05D9274-9C86-4491-8843-D976E455935D}" srcId="{AE864183-A8E8-4752-BCEB-B39C49B7D723}" destId="{48339885-3D93-444A-92E8-7FB43F0E18D6}" srcOrd="1" destOrd="0" parTransId="{B4FD6C53-3ECF-44DF-B070-8860300AD5DA}" sibTransId="{29230FA4-B01C-475A-874C-50A0FD69EBC5}"/>
    <dgm:cxn modelId="{6F2D067C-8958-45A5-BD01-7400F960B2A1}" srcId="{AE864183-A8E8-4752-BCEB-B39C49B7D723}" destId="{0889EF78-FD97-4BC7-B391-BE585F9985F9}" srcOrd="2" destOrd="0" parTransId="{16CC0008-2BBE-4CFD-9E9E-C081EDC9F6B4}" sibTransId="{740F4036-52F5-49E7-8B95-EFC7E09A7275}"/>
    <dgm:cxn modelId="{9418C58B-DB35-42A1-B36A-7C3E98453B77}" srcId="{BCF2D382-8F4F-4730-B000-6B7C767D691E}" destId="{AE864183-A8E8-4752-BCEB-B39C49B7D723}" srcOrd="0" destOrd="0" parTransId="{F7A48399-8EF1-4C81-93D9-850001CA9533}" sibTransId="{5475ECD0-B315-48D7-94D0-5936CDCCD06D}"/>
    <dgm:cxn modelId="{FDA974E9-7DCC-4ED0-8175-83B3CDCB9E56}" type="presOf" srcId="{48339885-3D93-444A-92E8-7FB43F0E18D6}" destId="{AB8DD406-78B8-45A6-80E3-E7146FF542FB}" srcOrd="0" destOrd="0" presId="urn:microsoft.com/office/officeart/2005/8/layout/radial3"/>
    <dgm:cxn modelId="{28D6BAF1-9778-4413-9C49-3A6B8080E29C}" type="presOf" srcId="{AE864183-A8E8-4752-BCEB-B39C49B7D723}" destId="{73493B30-A428-441A-867E-39552B081BD3}" srcOrd="0" destOrd="0" presId="urn:microsoft.com/office/officeart/2005/8/layout/radial3"/>
    <dgm:cxn modelId="{CADC2EF3-F3FE-4E8D-AF39-E6EC8D8B145B}" srcId="{AE864183-A8E8-4752-BCEB-B39C49B7D723}" destId="{D2B5171C-89E0-4532-BA22-FCB685FB1646}" srcOrd="0" destOrd="0" parTransId="{BB526C38-3A07-4E4E-A619-0048AEF3C8C3}" sibTransId="{C1B87847-F58A-49D6-83FD-B01968BECBE4}"/>
    <dgm:cxn modelId="{F525B4A4-56E9-4184-97A8-87A2A4BE6C21}" type="presParOf" srcId="{63D0DD3F-18F6-44A7-A26A-B4C0A4BB171F}" destId="{AF24EF0C-E48F-4FAE-9955-1CEC94802824}" srcOrd="0" destOrd="0" presId="urn:microsoft.com/office/officeart/2005/8/layout/radial3"/>
    <dgm:cxn modelId="{546059A0-3215-40EB-8E7E-2D8016507A1F}" type="presParOf" srcId="{AF24EF0C-E48F-4FAE-9955-1CEC94802824}" destId="{73493B30-A428-441A-867E-39552B081BD3}" srcOrd="0" destOrd="0" presId="urn:microsoft.com/office/officeart/2005/8/layout/radial3"/>
    <dgm:cxn modelId="{060D4C9A-49A8-4299-83D3-74E9F5B1E98D}" type="presParOf" srcId="{AF24EF0C-E48F-4FAE-9955-1CEC94802824}" destId="{8422932F-7FB9-4460-B9C5-53EC7266021D}" srcOrd="1" destOrd="0" presId="urn:microsoft.com/office/officeart/2005/8/layout/radial3"/>
    <dgm:cxn modelId="{40E95E40-8EBC-4F4D-BAB8-9D1D2B8FDB74}" type="presParOf" srcId="{AF24EF0C-E48F-4FAE-9955-1CEC94802824}" destId="{AB8DD406-78B8-45A6-80E3-E7146FF542FB}" srcOrd="2" destOrd="0" presId="urn:microsoft.com/office/officeart/2005/8/layout/radial3"/>
    <dgm:cxn modelId="{BB3684CD-86A2-4FB8-8F89-A7CCBEF5EED5}" type="presParOf" srcId="{AF24EF0C-E48F-4FAE-9955-1CEC94802824}" destId="{BB33CA64-17B6-4BC1-AB07-DF3C7FF61966}" srcOrd="3" destOrd="0" presId="urn:microsoft.com/office/officeart/2005/8/layout/radial3"/>
    <dgm:cxn modelId="{84166E62-4CE2-4A77-B92A-C1D22183FA2A}" type="presParOf" srcId="{AF24EF0C-E48F-4FAE-9955-1CEC94802824}" destId="{91CE039E-392C-4567-9CAD-B26FD9B3283B}" srcOrd="4"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501ECE-A556-4C7C-B6ED-3E89022EF712}">
      <dsp:nvSpPr>
        <dsp:cNvPr id="0" name=""/>
        <dsp:cNvSpPr/>
      </dsp:nvSpPr>
      <dsp:spPr>
        <a:xfrm>
          <a:off x="0" y="406123"/>
          <a:ext cx="8030117" cy="655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076B114-9931-44A6-B69C-606D95FE462E}">
      <dsp:nvSpPr>
        <dsp:cNvPr id="0" name=""/>
        <dsp:cNvSpPr/>
      </dsp:nvSpPr>
      <dsp:spPr>
        <a:xfrm>
          <a:off x="401505" y="22363"/>
          <a:ext cx="5621081" cy="7675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2464" tIns="0" rIns="212464" bIns="0" numCol="1" spcCol="1270" anchor="ctr" anchorCtr="0">
          <a:noAutofit/>
        </a:bodyPr>
        <a:lstStyle/>
        <a:p>
          <a:pPr marL="0" lvl="0" indent="0" algn="l" defTabSz="1155700">
            <a:lnSpc>
              <a:spcPct val="90000"/>
            </a:lnSpc>
            <a:spcBef>
              <a:spcPct val="0"/>
            </a:spcBef>
            <a:spcAft>
              <a:spcPct val="35000"/>
            </a:spcAft>
            <a:buNone/>
          </a:pPr>
          <a:r>
            <a:rPr lang="en-US" sz="2600" kern="1200" dirty="0" err="1"/>
            <a:t>Pasaran</a:t>
          </a:r>
          <a:r>
            <a:rPr lang="en-US" sz="2600" kern="1200" dirty="0"/>
            <a:t> Modal</a:t>
          </a:r>
        </a:p>
      </dsp:txBody>
      <dsp:txXfrm>
        <a:off x="438972" y="59830"/>
        <a:ext cx="5546147" cy="692586"/>
      </dsp:txXfrm>
    </dsp:sp>
    <dsp:sp modelId="{9C900B67-2C38-48C3-85CF-9B0F92BA5445}">
      <dsp:nvSpPr>
        <dsp:cNvPr id="0" name=""/>
        <dsp:cNvSpPr/>
      </dsp:nvSpPr>
      <dsp:spPr>
        <a:xfrm>
          <a:off x="0" y="1585483"/>
          <a:ext cx="8030117" cy="655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72F983B-F67F-4B40-A455-7AC7ECA0D403}">
      <dsp:nvSpPr>
        <dsp:cNvPr id="0" name=""/>
        <dsp:cNvSpPr/>
      </dsp:nvSpPr>
      <dsp:spPr>
        <a:xfrm>
          <a:off x="401505" y="1201723"/>
          <a:ext cx="5621081" cy="7675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2464" tIns="0" rIns="212464" bIns="0" numCol="1" spcCol="1270" anchor="ctr" anchorCtr="0">
          <a:noAutofit/>
        </a:bodyPr>
        <a:lstStyle/>
        <a:p>
          <a:pPr marL="0" lvl="0" indent="0" algn="l" defTabSz="1155700">
            <a:lnSpc>
              <a:spcPct val="90000"/>
            </a:lnSpc>
            <a:spcBef>
              <a:spcPct val="0"/>
            </a:spcBef>
            <a:spcAft>
              <a:spcPct val="35000"/>
            </a:spcAft>
            <a:buNone/>
          </a:pPr>
          <a:r>
            <a:rPr lang="en-US" sz="2600" kern="1200" dirty="0" err="1"/>
            <a:t>Pasaran</a:t>
          </a:r>
          <a:r>
            <a:rPr lang="en-US" sz="2600" kern="1200" dirty="0"/>
            <a:t> Wang</a:t>
          </a:r>
        </a:p>
      </dsp:txBody>
      <dsp:txXfrm>
        <a:off x="438972" y="1239190"/>
        <a:ext cx="5546147" cy="692586"/>
      </dsp:txXfrm>
    </dsp:sp>
    <dsp:sp modelId="{4D142DD2-584E-4622-9FD5-8A4451FC42B3}">
      <dsp:nvSpPr>
        <dsp:cNvPr id="0" name=""/>
        <dsp:cNvSpPr/>
      </dsp:nvSpPr>
      <dsp:spPr>
        <a:xfrm>
          <a:off x="0" y="2764843"/>
          <a:ext cx="8030117" cy="655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AD15321-9416-4BB4-8306-71419B727EC5}">
      <dsp:nvSpPr>
        <dsp:cNvPr id="0" name=""/>
        <dsp:cNvSpPr/>
      </dsp:nvSpPr>
      <dsp:spPr>
        <a:xfrm>
          <a:off x="401505" y="2381083"/>
          <a:ext cx="5621081" cy="7675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2464" tIns="0" rIns="212464" bIns="0" numCol="1" spcCol="1270" anchor="ctr" anchorCtr="0">
          <a:noAutofit/>
        </a:bodyPr>
        <a:lstStyle/>
        <a:p>
          <a:pPr marL="0" lvl="0" indent="0" algn="l" defTabSz="1155700">
            <a:lnSpc>
              <a:spcPct val="90000"/>
            </a:lnSpc>
            <a:spcBef>
              <a:spcPct val="0"/>
            </a:spcBef>
            <a:spcAft>
              <a:spcPct val="35000"/>
            </a:spcAft>
            <a:buNone/>
          </a:pPr>
          <a:r>
            <a:rPr lang="en-US" sz="2600" kern="1200" dirty="0" err="1"/>
            <a:t>Pasaran</a:t>
          </a:r>
          <a:r>
            <a:rPr lang="en-US" sz="2600" kern="1200" dirty="0"/>
            <a:t> </a:t>
          </a:r>
          <a:r>
            <a:rPr lang="en-US" sz="2600" kern="1200" dirty="0" err="1"/>
            <a:t>Pertukaran</a:t>
          </a:r>
          <a:r>
            <a:rPr lang="en-US" sz="2600" kern="1200" dirty="0"/>
            <a:t> </a:t>
          </a:r>
          <a:r>
            <a:rPr lang="en-US" sz="2600" kern="1200"/>
            <a:t>Matawang </a:t>
          </a:r>
          <a:r>
            <a:rPr lang="en-US" sz="2600" kern="1200" dirty="0" err="1"/>
            <a:t>Asing</a:t>
          </a:r>
          <a:endParaRPr lang="en-US" sz="2600" kern="1200" dirty="0"/>
        </a:p>
      </dsp:txBody>
      <dsp:txXfrm>
        <a:off x="438972" y="2418550"/>
        <a:ext cx="5546147" cy="692586"/>
      </dsp:txXfrm>
    </dsp:sp>
    <dsp:sp modelId="{ADECDB40-FD0E-4522-877C-2E8B35D8F2BB}">
      <dsp:nvSpPr>
        <dsp:cNvPr id="0" name=""/>
        <dsp:cNvSpPr/>
      </dsp:nvSpPr>
      <dsp:spPr>
        <a:xfrm>
          <a:off x="0" y="3944203"/>
          <a:ext cx="8030117" cy="655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D6B6E1E-A67D-4893-850E-3AD026BEB9B0}">
      <dsp:nvSpPr>
        <dsp:cNvPr id="0" name=""/>
        <dsp:cNvSpPr/>
      </dsp:nvSpPr>
      <dsp:spPr>
        <a:xfrm>
          <a:off x="401505" y="3560443"/>
          <a:ext cx="5621081" cy="7675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2464" tIns="0" rIns="212464" bIns="0" numCol="1" spcCol="1270" anchor="ctr" anchorCtr="0">
          <a:noAutofit/>
        </a:bodyPr>
        <a:lstStyle/>
        <a:p>
          <a:pPr marL="0" lvl="0" indent="0" algn="l" defTabSz="1155700">
            <a:lnSpc>
              <a:spcPct val="90000"/>
            </a:lnSpc>
            <a:spcBef>
              <a:spcPct val="0"/>
            </a:spcBef>
            <a:spcAft>
              <a:spcPct val="35000"/>
            </a:spcAft>
            <a:buNone/>
          </a:pPr>
          <a:r>
            <a:rPr lang="en-US" sz="2600" kern="1200" dirty="0" err="1"/>
            <a:t>Pasaran</a:t>
          </a:r>
          <a:r>
            <a:rPr lang="en-US" sz="2600" kern="1200" dirty="0"/>
            <a:t> </a:t>
          </a:r>
          <a:r>
            <a:rPr lang="en-US" sz="2600" kern="1200" dirty="0" err="1"/>
            <a:t>Derivatif</a:t>
          </a:r>
          <a:endParaRPr lang="en-US" sz="2600" kern="1200" dirty="0"/>
        </a:p>
      </dsp:txBody>
      <dsp:txXfrm>
        <a:off x="438972" y="3597910"/>
        <a:ext cx="5546147" cy="6925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2D96E7-D6EF-468E-A97A-8483B199D95E}">
      <dsp:nvSpPr>
        <dsp:cNvPr id="0" name=""/>
        <dsp:cNvSpPr/>
      </dsp:nvSpPr>
      <dsp:spPr>
        <a:xfrm>
          <a:off x="0" y="0"/>
          <a:ext cx="7467600" cy="1216800"/>
        </a:xfrm>
        <a:prstGeom prst="roundRect">
          <a:avLst/>
        </a:prstGeom>
        <a:gradFill rotWithShape="0">
          <a:gsLst>
            <a:gs pos="0">
              <a:schemeClr val="dk2">
                <a:hueOff val="0"/>
                <a:satOff val="0"/>
                <a:lumOff val="0"/>
                <a:alphaOff val="0"/>
                <a:tint val="50000"/>
                <a:satMod val="300000"/>
              </a:schemeClr>
            </a:gs>
            <a:gs pos="35000">
              <a:schemeClr val="dk2">
                <a:hueOff val="0"/>
                <a:satOff val="0"/>
                <a:lumOff val="0"/>
                <a:alphaOff val="0"/>
                <a:tint val="37000"/>
                <a:satMod val="300000"/>
              </a:schemeClr>
            </a:gs>
            <a:gs pos="100000">
              <a:schemeClr val="dk2">
                <a:hueOff val="0"/>
                <a:satOff val="0"/>
                <a:lumOff val="0"/>
                <a:alphaOff val="0"/>
                <a:tint val="15000"/>
                <a:satMod val="350000"/>
              </a:schemeClr>
            </a:gs>
          </a:gsLst>
          <a:lin ang="16200000" scaled="1"/>
        </a:gradFill>
        <a:ln>
          <a:solidFill>
            <a:schemeClr val="tx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Bank Negara Malaysia</a:t>
          </a:r>
        </a:p>
      </dsp:txBody>
      <dsp:txXfrm>
        <a:off x="59399" y="59399"/>
        <a:ext cx="7348802" cy="1098002"/>
      </dsp:txXfrm>
    </dsp:sp>
    <dsp:sp modelId="{C6E0D5EF-5E16-46E2-9897-8DD715C044B2}">
      <dsp:nvSpPr>
        <dsp:cNvPr id="0" name=""/>
        <dsp:cNvSpPr/>
      </dsp:nvSpPr>
      <dsp:spPr>
        <a:xfrm>
          <a:off x="0" y="1571636"/>
          <a:ext cx="7467600" cy="1216800"/>
        </a:xfrm>
        <a:prstGeom prst="roundRect">
          <a:avLst/>
        </a:prstGeom>
        <a:gradFill rotWithShape="0">
          <a:gsLst>
            <a:gs pos="0">
              <a:schemeClr val="dk2">
                <a:hueOff val="0"/>
                <a:satOff val="0"/>
                <a:lumOff val="0"/>
                <a:alphaOff val="0"/>
                <a:tint val="50000"/>
                <a:satMod val="300000"/>
              </a:schemeClr>
            </a:gs>
            <a:gs pos="35000">
              <a:schemeClr val="dk2">
                <a:hueOff val="0"/>
                <a:satOff val="0"/>
                <a:lumOff val="0"/>
                <a:alphaOff val="0"/>
                <a:tint val="37000"/>
                <a:satMod val="300000"/>
              </a:schemeClr>
            </a:gs>
            <a:gs pos="100000">
              <a:schemeClr val="dk2">
                <a:hueOff val="0"/>
                <a:satOff val="0"/>
                <a:lumOff val="0"/>
                <a:alphaOff val="0"/>
                <a:tint val="15000"/>
                <a:satMod val="350000"/>
              </a:schemeClr>
            </a:gs>
          </a:gsLst>
          <a:lin ang="16200000" scaled="1"/>
        </a:gradFill>
        <a:ln>
          <a:solidFill>
            <a:schemeClr val="tx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ms-MY" sz="4000" kern="1200" dirty="0"/>
            <a:t>Bursa Malaysia</a:t>
          </a:r>
        </a:p>
      </dsp:txBody>
      <dsp:txXfrm>
        <a:off x="59399" y="1631035"/>
        <a:ext cx="7348802" cy="1098002"/>
      </dsp:txXfrm>
    </dsp:sp>
    <dsp:sp modelId="{516367BA-4513-4D7E-99EA-0D133065A913}">
      <dsp:nvSpPr>
        <dsp:cNvPr id="0" name=""/>
        <dsp:cNvSpPr/>
      </dsp:nvSpPr>
      <dsp:spPr>
        <a:xfrm>
          <a:off x="0" y="3010957"/>
          <a:ext cx="7467600" cy="1216800"/>
        </a:xfrm>
        <a:prstGeom prst="roundRect">
          <a:avLst/>
        </a:prstGeom>
        <a:gradFill rotWithShape="0">
          <a:gsLst>
            <a:gs pos="0">
              <a:schemeClr val="dk2">
                <a:hueOff val="0"/>
                <a:satOff val="0"/>
                <a:lumOff val="0"/>
                <a:alphaOff val="0"/>
                <a:tint val="50000"/>
                <a:satMod val="300000"/>
              </a:schemeClr>
            </a:gs>
            <a:gs pos="35000">
              <a:schemeClr val="dk2">
                <a:hueOff val="0"/>
                <a:satOff val="0"/>
                <a:lumOff val="0"/>
                <a:alphaOff val="0"/>
                <a:tint val="37000"/>
                <a:satMod val="300000"/>
              </a:schemeClr>
            </a:gs>
            <a:gs pos="100000">
              <a:schemeClr val="dk2">
                <a:hueOff val="0"/>
                <a:satOff val="0"/>
                <a:lumOff val="0"/>
                <a:alphaOff val="0"/>
                <a:tint val="15000"/>
                <a:satMod val="350000"/>
              </a:schemeClr>
            </a:gs>
          </a:gsLst>
          <a:lin ang="16200000" scaled="1"/>
        </a:gradFill>
        <a:ln>
          <a:solidFill>
            <a:schemeClr val="tx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ms-MY" sz="4000" kern="1200" dirty="0"/>
            <a:t>Suruhanjaya Sekuriti</a:t>
          </a:r>
        </a:p>
      </dsp:txBody>
      <dsp:txXfrm>
        <a:off x="59399" y="3070356"/>
        <a:ext cx="7348802" cy="10980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493B30-A428-441A-867E-39552B081BD3}">
      <dsp:nvSpPr>
        <dsp:cNvPr id="0" name=""/>
        <dsp:cNvSpPr/>
      </dsp:nvSpPr>
      <dsp:spPr>
        <a:xfrm>
          <a:off x="2443266" y="1523217"/>
          <a:ext cx="4024605" cy="3468948"/>
        </a:xfrm>
        <a:prstGeom prst="ellipse">
          <a:avLst/>
        </a:prstGeom>
        <a:gradFill rotWithShape="0">
          <a:gsLst>
            <a:gs pos="0">
              <a:schemeClr val="accent2">
                <a:alpha val="50000"/>
                <a:hueOff val="0"/>
                <a:satOff val="0"/>
                <a:lumOff val="0"/>
                <a:alphaOff val="0"/>
                <a:tint val="100000"/>
                <a:shade val="100000"/>
                <a:satMod val="130000"/>
              </a:schemeClr>
            </a:gs>
            <a:gs pos="100000">
              <a:schemeClr val="accent2">
                <a:alpha val="50000"/>
                <a:hueOff val="0"/>
                <a:satOff val="0"/>
                <a:lumOff val="0"/>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tx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sz="3600" kern="1200" dirty="0" err="1"/>
            <a:t>Sumber</a:t>
          </a:r>
          <a:r>
            <a:rPr lang="en-US" sz="3600" kern="1200" dirty="0"/>
            <a:t> </a:t>
          </a:r>
          <a:r>
            <a:rPr lang="en-US" sz="3600" kern="1200" dirty="0" err="1"/>
            <a:t>Kewangan</a:t>
          </a:r>
          <a:r>
            <a:rPr lang="en-US" sz="3600" kern="1200" dirty="0"/>
            <a:t> </a:t>
          </a:r>
          <a:r>
            <a:rPr lang="en-US" sz="3600" kern="1200" dirty="0" err="1"/>
            <a:t>Jangka</a:t>
          </a:r>
          <a:r>
            <a:rPr lang="en-US" sz="3600" kern="1200" dirty="0"/>
            <a:t> </a:t>
          </a:r>
          <a:r>
            <a:rPr lang="en-US" sz="3600" kern="1200" dirty="0" err="1"/>
            <a:t>Panjang</a:t>
          </a:r>
          <a:endParaRPr lang="en-MY" sz="3600" kern="1200" dirty="0"/>
        </a:p>
      </dsp:txBody>
      <dsp:txXfrm>
        <a:off x="3032656" y="2031233"/>
        <a:ext cx="2845825" cy="2452916"/>
      </dsp:txXfrm>
    </dsp:sp>
    <dsp:sp modelId="{8422932F-7FB9-4460-B9C5-53EC7266021D}">
      <dsp:nvSpPr>
        <dsp:cNvPr id="0" name=""/>
        <dsp:cNvSpPr/>
      </dsp:nvSpPr>
      <dsp:spPr>
        <a:xfrm>
          <a:off x="3372939" y="44633"/>
          <a:ext cx="2204140" cy="1736338"/>
        </a:xfrm>
        <a:prstGeom prst="ellipse">
          <a:avLst/>
        </a:prstGeom>
        <a:gradFill rotWithShape="0">
          <a:gsLst>
            <a:gs pos="0">
              <a:schemeClr val="accent2">
                <a:alpha val="50000"/>
                <a:hueOff val="91941"/>
                <a:satOff val="-4046"/>
                <a:lumOff val="8431"/>
                <a:alphaOff val="0"/>
                <a:tint val="100000"/>
                <a:shade val="100000"/>
                <a:satMod val="130000"/>
              </a:schemeClr>
            </a:gs>
            <a:gs pos="100000">
              <a:schemeClr val="accent2">
                <a:alpha val="50000"/>
                <a:hueOff val="91941"/>
                <a:satOff val="-4046"/>
                <a:lumOff val="8431"/>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tx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err="1"/>
            <a:t>Saham</a:t>
          </a:r>
          <a:r>
            <a:rPr lang="en-US" sz="2400" kern="1200" dirty="0"/>
            <a:t> </a:t>
          </a:r>
          <a:r>
            <a:rPr lang="en-US" sz="2400" kern="1200" dirty="0" err="1"/>
            <a:t>Biasa</a:t>
          </a:r>
          <a:endParaRPr lang="en-MY" sz="2400" kern="1200" dirty="0"/>
        </a:p>
      </dsp:txBody>
      <dsp:txXfrm>
        <a:off x="3695728" y="298914"/>
        <a:ext cx="1558562" cy="1227776"/>
      </dsp:txXfrm>
    </dsp:sp>
    <dsp:sp modelId="{AB8DD406-78B8-45A6-80E3-E7146FF542FB}">
      <dsp:nvSpPr>
        <dsp:cNvPr id="0" name=""/>
        <dsp:cNvSpPr/>
      </dsp:nvSpPr>
      <dsp:spPr>
        <a:xfrm>
          <a:off x="5758339" y="1908361"/>
          <a:ext cx="2318623" cy="2108240"/>
        </a:xfrm>
        <a:prstGeom prst="ellipse">
          <a:avLst/>
        </a:prstGeom>
        <a:gradFill rotWithShape="0">
          <a:gsLst>
            <a:gs pos="0">
              <a:schemeClr val="accent2">
                <a:alpha val="50000"/>
                <a:hueOff val="183882"/>
                <a:satOff val="-8092"/>
                <a:lumOff val="16863"/>
                <a:alphaOff val="0"/>
                <a:tint val="100000"/>
                <a:shade val="100000"/>
                <a:satMod val="130000"/>
              </a:schemeClr>
            </a:gs>
            <a:gs pos="100000">
              <a:schemeClr val="accent2">
                <a:alpha val="50000"/>
                <a:hueOff val="183882"/>
                <a:satOff val="-8092"/>
                <a:lumOff val="16863"/>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tx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b="0" kern="1200" dirty="0" err="1"/>
            <a:t>Saham</a:t>
          </a:r>
          <a:endParaRPr lang="en-US" sz="2400" b="0" kern="1200" dirty="0"/>
        </a:p>
        <a:p>
          <a:pPr marL="0" lvl="0" indent="0" algn="ctr" defTabSz="1066800">
            <a:lnSpc>
              <a:spcPct val="90000"/>
            </a:lnSpc>
            <a:spcBef>
              <a:spcPct val="0"/>
            </a:spcBef>
            <a:spcAft>
              <a:spcPct val="35000"/>
            </a:spcAft>
            <a:buNone/>
          </a:pPr>
          <a:r>
            <a:rPr lang="en-US" sz="2400" b="0" kern="1200" dirty="0" err="1"/>
            <a:t>Keutamaan</a:t>
          </a:r>
          <a:endParaRPr lang="en-MY" sz="2400" b="0" kern="1200" dirty="0"/>
        </a:p>
      </dsp:txBody>
      <dsp:txXfrm>
        <a:off x="6097893" y="2217106"/>
        <a:ext cx="1639515" cy="1490750"/>
      </dsp:txXfrm>
    </dsp:sp>
    <dsp:sp modelId="{DB99A7A2-0337-4441-B496-2DE725C34DC1}">
      <dsp:nvSpPr>
        <dsp:cNvPr id="0" name=""/>
        <dsp:cNvSpPr/>
      </dsp:nvSpPr>
      <dsp:spPr>
        <a:xfrm>
          <a:off x="3755203" y="4602816"/>
          <a:ext cx="2318623" cy="2108240"/>
        </a:xfrm>
        <a:prstGeom prst="ellipse">
          <a:avLst/>
        </a:prstGeom>
        <a:gradFill rotWithShape="0">
          <a:gsLst>
            <a:gs pos="0">
              <a:schemeClr val="accent2">
                <a:alpha val="50000"/>
                <a:hueOff val="275822"/>
                <a:satOff val="-12139"/>
                <a:lumOff val="25294"/>
                <a:alphaOff val="0"/>
                <a:tint val="100000"/>
                <a:shade val="100000"/>
                <a:satMod val="130000"/>
              </a:schemeClr>
            </a:gs>
            <a:gs pos="100000">
              <a:schemeClr val="accent2">
                <a:alpha val="50000"/>
                <a:hueOff val="275822"/>
                <a:satOff val="-12139"/>
                <a:lumOff val="25294"/>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tx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MY" sz="2900" b="0" kern="1200" dirty="0" err="1"/>
            <a:t>Pinjaman</a:t>
          </a:r>
          <a:r>
            <a:rPr lang="en-MY" sz="2900" b="0" kern="1200" dirty="0"/>
            <a:t> </a:t>
          </a:r>
          <a:r>
            <a:rPr lang="en-MY" sz="2900" b="0" kern="1200" dirty="0" err="1"/>
            <a:t>Jangka</a:t>
          </a:r>
          <a:r>
            <a:rPr lang="en-MY" sz="2900" b="0" kern="1200" dirty="0"/>
            <a:t> </a:t>
          </a:r>
          <a:r>
            <a:rPr lang="en-MY" sz="2900" b="0" kern="1200" dirty="0" err="1"/>
            <a:t>Panjang</a:t>
          </a:r>
          <a:endParaRPr lang="en-MY" sz="2900" b="0" kern="1200" dirty="0"/>
        </a:p>
      </dsp:txBody>
      <dsp:txXfrm>
        <a:off x="4094757" y="4911561"/>
        <a:ext cx="1639515" cy="1490750"/>
      </dsp:txXfrm>
    </dsp:sp>
    <dsp:sp modelId="{91CE039E-392C-4567-9CAD-B26FD9B3283B}">
      <dsp:nvSpPr>
        <dsp:cNvPr id="0" name=""/>
        <dsp:cNvSpPr/>
      </dsp:nvSpPr>
      <dsp:spPr>
        <a:xfrm>
          <a:off x="692100" y="2023732"/>
          <a:ext cx="2417528" cy="1902023"/>
        </a:xfrm>
        <a:prstGeom prst="ellipse">
          <a:avLst/>
        </a:prstGeom>
        <a:gradFill rotWithShape="0">
          <a:gsLst>
            <a:gs pos="0">
              <a:schemeClr val="accent2">
                <a:alpha val="50000"/>
                <a:hueOff val="367763"/>
                <a:satOff val="-16185"/>
                <a:lumOff val="33725"/>
                <a:alphaOff val="0"/>
                <a:tint val="100000"/>
                <a:shade val="100000"/>
                <a:satMod val="130000"/>
              </a:schemeClr>
            </a:gs>
            <a:gs pos="100000">
              <a:schemeClr val="accent2">
                <a:alpha val="50000"/>
                <a:hueOff val="367763"/>
                <a:satOff val="-16185"/>
                <a:lumOff val="33725"/>
                <a:alphaOff val="0"/>
                <a:tint val="50000"/>
                <a:shade val="100000"/>
                <a:satMod val="350000"/>
              </a:schemeClr>
            </a:gs>
          </a:gsLst>
          <a:lin ang="16200000" scaled="0"/>
        </a:gradFill>
        <a:ln>
          <a:solidFill>
            <a:schemeClr val="tx1"/>
          </a:solid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tx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Bon</a:t>
          </a:r>
          <a:endParaRPr lang="en-MY" sz="3200" kern="1200" dirty="0"/>
        </a:p>
      </dsp:txBody>
      <dsp:txXfrm>
        <a:off x="1046139" y="2302277"/>
        <a:ext cx="1709450" cy="134493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493B30-A428-441A-867E-39552B081BD3}">
      <dsp:nvSpPr>
        <dsp:cNvPr id="0" name=""/>
        <dsp:cNvSpPr/>
      </dsp:nvSpPr>
      <dsp:spPr>
        <a:xfrm>
          <a:off x="2528537" y="2219115"/>
          <a:ext cx="3830215" cy="2504264"/>
        </a:xfrm>
        <a:prstGeom prst="ellipse">
          <a:avLst/>
        </a:prstGeom>
        <a:gradFill rotWithShape="0">
          <a:gsLst>
            <a:gs pos="0">
              <a:schemeClr val="accent3">
                <a:alpha val="50000"/>
                <a:hueOff val="0"/>
                <a:satOff val="0"/>
                <a:lumOff val="0"/>
                <a:alphaOff val="0"/>
                <a:tint val="100000"/>
                <a:shade val="100000"/>
                <a:satMod val="130000"/>
              </a:schemeClr>
            </a:gs>
            <a:gs pos="100000">
              <a:schemeClr val="accent3">
                <a:alpha val="5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tx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r>
            <a:rPr lang="en-US" sz="3600" kern="1200" dirty="0" err="1"/>
            <a:t>Sumber</a:t>
          </a:r>
          <a:r>
            <a:rPr lang="en-US" sz="3600" kern="1200" dirty="0"/>
            <a:t> </a:t>
          </a:r>
          <a:r>
            <a:rPr lang="en-US" sz="3600" kern="1200" dirty="0" err="1"/>
            <a:t>Kewangan</a:t>
          </a:r>
          <a:r>
            <a:rPr lang="en-US" sz="3600" kern="1200" dirty="0"/>
            <a:t> </a:t>
          </a:r>
          <a:r>
            <a:rPr lang="en-US" sz="3600" kern="1200" dirty="0" err="1"/>
            <a:t>Jangka</a:t>
          </a:r>
          <a:r>
            <a:rPr lang="en-US" sz="3600" kern="1200" dirty="0"/>
            <a:t> </a:t>
          </a:r>
          <a:r>
            <a:rPr lang="en-US" sz="3600" kern="1200" dirty="0" err="1"/>
            <a:t>Pendek</a:t>
          </a:r>
          <a:endParaRPr lang="en-MY" sz="3600" kern="1200" dirty="0"/>
        </a:p>
      </dsp:txBody>
      <dsp:txXfrm>
        <a:off x="3089459" y="2585856"/>
        <a:ext cx="2708371" cy="1770782"/>
      </dsp:txXfrm>
    </dsp:sp>
    <dsp:sp modelId="{8422932F-7FB9-4460-B9C5-53EC7266021D}">
      <dsp:nvSpPr>
        <dsp:cNvPr id="0" name=""/>
        <dsp:cNvSpPr/>
      </dsp:nvSpPr>
      <dsp:spPr>
        <a:xfrm>
          <a:off x="2704660" y="133369"/>
          <a:ext cx="3472204" cy="2138231"/>
        </a:xfrm>
        <a:prstGeom prst="ellipse">
          <a:avLst/>
        </a:prstGeom>
        <a:gradFill rotWithShape="0">
          <a:gsLst>
            <a:gs pos="0">
              <a:schemeClr val="accent3">
                <a:alpha val="50000"/>
                <a:hueOff val="-173801"/>
                <a:satOff val="4046"/>
                <a:lumOff val="-10637"/>
                <a:alphaOff val="0"/>
                <a:tint val="100000"/>
                <a:shade val="100000"/>
                <a:satMod val="130000"/>
              </a:schemeClr>
            </a:gs>
            <a:gs pos="100000">
              <a:schemeClr val="accent3">
                <a:alpha val="50000"/>
                <a:hueOff val="-173801"/>
                <a:satOff val="4046"/>
                <a:lumOff val="-10637"/>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tx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MY" sz="2800" kern="1200" dirty="0" err="1"/>
            <a:t>Kredit</a:t>
          </a:r>
          <a:r>
            <a:rPr lang="en-MY" sz="2800" kern="1200" dirty="0"/>
            <a:t> </a:t>
          </a:r>
          <a:r>
            <a:rPr lang="en-MY" sz="2800" kern="1200" dirty="0" err="1"/>
            <a:t>Perdagangan</a:t>
          </a:r>
          <a:endParaRPr lang="en-MY" sz="2800" kern="1200" dirty="0"/>
        </a:p>
      </dsp:txBody>
      <dsp:txXfrm>
        <a:off x="3213153" y="446506"/>
        <a:ext cx="2455218" cy="1511957"/>
      </dsp:txXfrm>
    </dsp:sp>
    <dsp:sp modelId="{AB8DD406-78B8-45A6-80E3-E7146FF542FB}">
      <dsp:nvSpPr>
        <dsp:cNvPr id="0" name=""/>
        <dsp:cNvSpPr/>
      </dsp:nvSpPr>
      <dsp:spPr>
        <a:xfrm>
          <a:off x="6236282" y="2162338"/>
          <a:ext cx="2449608" cy="2121958"/>
        </a:xfrm>
        <a:prstGeom prst="ellipse">
          <a:avLst/>
        </a:prstGeom>
        <a:gradFill rotWithShape="0">
          <a:gsLst>
            <a:gs pos="0">
              <a:schemeClr val="accent3">
                <a:alpha val="50000"/>
                <a:hueOff val="-347603"/>
                <a:satOff val="8092"/>
                <a:lumOff val="-21275"/>
                <a:alphaOff val="0"/>
                <a:tint val="100000"/>
                <a:shade val="100000"/>
                <a:satMod val="130000"/>
              </a:schemeClr>
            </a:gs>
            <a:gs pos="100000">
              <a:schemeClr val="accent3">
                <a:alpha val="50000"/>
                <a:hueOff val="-347603"/>
                <a:satOff val="8092"/>
                <a:lumOff val="-21275"/>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tx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b="0" kern="1200" dirty="0" err="1"/>
            <a:t>Kertas</a:t>
          </a:r>
          <a:r>
            <a:rPr lang="en-US" sz="2800" b="0" kern="1200" dirty="0"/>
            <a:t> </a:t>
          </a:r>
          <a:r>
            <a:rPr lang="en-US" sz="2800" b="0" kern="1200" dirty="0" err="1"/>
            <a:t>Kormesial</a:t>
          </a:r>
          <a:endParaRPr lang="en-US" sz="2800" b="0" kern="1200" dirty="0"/>
        </a:p>
      </dsp:txBody>
      <dsp:txXfrm>
        <a:off x="6595019" y="2473092"/>
        <a:ext cx="1732134" cy="1500450"/>
      </dsp:txXfrm>
    </dsp:sp>
    <dsp:sp modelId="{BB33CA64-17B6-4BC1-AB07-DF3C7FF61966}">
      <dsp:nvSpPr>
        <dsp:cNvPr id="0" name=""/>
        <dsp:cNvSpPr/>
      </dsp:nvSpPr>
      <dsp:spPr>
        <a:xfrm>
          <a:off x="3353405" y="4625172"/>
          <a:ext cx="2333710" cy="1743118"/>
        </a:xfrm>
        <a:prstGeom prst="ellipse">
          <a:avLst/>
        </a:prstGeom>
        <a:gradFill rotWithShape="0">
          <a:gsLst>
            <a:gs pos="0">
              <a:schemeClr val="accent3">
                <a:alpha val="50000"/>
                <a:hueOff val="-521404"/>
                <a:satOff val="12139"/>
                <a:lumOff val="-31912"/>
                <a:alphaOff val="0"/>
                <a:tint val="100000"/>
                <a:shade val="100000"/>
                <a:satMod val="130000"/>
              </a:schemeClr>
            </a:gs>
            <a:gs pos="100000">
              <a:schemeClr val="accent3">
                <a:alpha val="50000"/>
                <a:hueOff val="-521404"/>
                <a:satOff val="12139"/>
                <a:lumOff val="-31912"/>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tx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en-US" sz="3100" b="0" kern="1200" dirty="0" err="1"/>
            <a:t>Overdraf</a:t>
          </a:r>
          <a:endParaRPr lang="en-US" sz="3100" b="0" kern="1200" dirty="0"/>
        </a:p>
      </dsp:txBody>
      <dsp:txXfrm>
        <a:off x="3695169" y="4880446"/>
        <a:ext cx="1650182" cy="1232570"/>
      </dsp:txXfrm>
    </dsp:sp>
    <dsp:sp modelId="{91CE039E-392C-4567-9CAD-B26FD9B3283B}">
      <dsp:nvSpPr>
        <dsp:cNvPr id="0" name=""/>
        <dsp:cNvSpPr/>
      </dsp:nvSpPr>
      <dsp:spPr>
        <a:xfrm>
          <a:off x="164516" y="2509841"/>
          <a:ext cx="2504494" cy="1914399"/>
        </a:xfrm>
        <a:prstGeom prst="ellipse">
          <a:avLst/>
        </a:prstGeom>
        <a:gradFill rotWithShape="0">
          <a:gsLst>
            <a:gs pos="0">
              <a:schemeClr val="accent3">
                <a:alpha val="50000"/>
                <a:hueOff val="-695205"/>
                <a:satOff val="16185"/>
                <a:lumOff val="-42549"/>
                <a:alphaOff val="0"/>
                <a:tint val="100000"/>
                <a:shade val="100000"/>
                <a:satMod val="130000"/>
              </a:schemeClr>
            </a:gs>
            <a:gs pos="100000">
              <a:schemeClr val="accent3">
                <a:alpha val="50000"/>
                <a:hueOff val="-695205"/>
                <a:satOff val="16185"/>
                <a:lumOff val="-42549"/>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tx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MY" sz="2800" kern="1200" dirty="0" err="1"/>
            <a:t>Pinjaman</a:t>
          </a:r>
          <a:r>
            <a:rPr lang="en-MY" sz="2800" kern="1200" dirty="0"/>
            <a:t> </a:t>
          </a:r>
          <a:r>
            <a:rPr lang="en-MY" sz="2800" kern="1200" dirty="0" err="1"/>
            <a:t>Jangka</a:t>
          </a:r>
          <a:r>
            <a:rPr lang="en-MY" sz="2800" kern="1200" dirty="0"/>
            <a:t> </a:t>
          </a:r>
          <a:r>
            <a:rPr lang="en-MY" sz="2800" kern="1200" dirty="0" err="1"/>
            <a:t>Pendek</a:t>
          </a:r>
          <a:endParaRPr lang="en-MY" sz="2800" kern="1200" dirty="0"/>
        </a:p>
      </dsp:txBody>
      <dsp:txXfrm>
        <a:off x="531291" y="2790198"/>
        <a:ext cx="1770944" cy="1353685"/>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radial3">
  <dgm:title val=""/>
  <dgm:desc val=""/>
  <dgm:catLst>
    <dgm:cat type="relationship" pri="111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radial3">
  <dgm:title val=""/>
  <dgm:desc val=""/>
  <dgm:catLst>
    <dgm:cat type="relationship" pri="111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MY"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 /><Relationship Id="rId1" Type="http://schemas.openxmlformats.org/officeDocument/2006/relationships/notesMaster" Target="../notesMasters/notesMaster1.xml" /></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 /><Relationship Id="rId1" Type="http://schemas.openxmlformats.org/officeDocument/2006/relationships/notesMaster" Target="../notesMasters/notesMaster1.xml" /></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 /><Relationship Id="rId1" Type="http://schemas.openxmlformats.org/officeDocument/2006/relationships/notesMaster" Target="../notesMasters/notesMaster1.xml" /></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 /><Relationship Id="rId1" Type="http://schemas.openxmlformats.org/officeDocument/2006/relationships/notesMaster" Target="../notesMasters/notesMaster1.xml" /></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 /><Relationship Id="rId1" Type="http://schemas.openxmlformats.org/officeDocument/2006/relationships/notesMaster" Target="../notesMasters/notesMaster1.xml" /></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4" name="Google Shape;11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9" name="Google Shape;269;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0" name="Google Shape;300;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8" name="Google Shape;318;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4" name="Google Shape;32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6" name="Google Shape;366;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2" name="Google Shape;37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8" name="Google Shape;378;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4" name="Google Shape;384;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ms-MY" dirty="0"/>
          </a:p>
        </p:txBody>
      </p:sp>
      <p:sp>
        <p:nvSpPr>
          <p:cNvPr id="4" name="Slide Number Placeholder 3"/>
          <p:cNvSpPr>
            <a:spLocks noGrp="1"/>
          </p:cNvSpPr>
          <p:nvPr>
            <p:ph type="sldNum" sz="quarter" idx="10"/>
          </p:nvPr>
        </p:nvSpPr>
        <p:spPr/>
        <p:txBody>
          <a:bodyPr/>
          <a:lstStyle/>
          <a:p>
            <a:fld id="{623F0EBE-8A8D-4252-8C2D-653387E21D91}" type="slidenum">
              <a:rPr lang="ms-MY" smtClean="0"/>
              <a:pPr/>
              <a:t>36</a:t>
            </a:fld>
            <a:endParaRPr lang="ms-MY"/>
          </a:p>
        </p:txBody>
      </p:sp>
    </p:spTree>
    <p:extLst>
      <p:ext uri="{BB962C8B-B14F-4D97-AF65-F5344CB8AC3E}">
        <p14:creationId xmlns:p14="http://schemas.microsoft.com/office/powerpoint/2010/main" val="25048254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0" name="Google Shape;390;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2" name="Google Shape;402;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8" name="Google Shape;408;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4" name="Google Shape;414;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0" name="Google Shape;420;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6" name="Google Shape;426;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6" name="Google Shape;446;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ms-MY"/>
          </a:p>
        </p:txBody>
      </p:sp>
      <p:sp>
        <p:nvSpPr>
          <p:cNvPr id="4" name="Slide Number Placeholder 3"/>
          <p:cNvSpPr>
            <a:spLocks noGrp="1"/>
          </p:cNvSpPr>
          <p:nvPr>
            <p:ph type="sldNum" sz="quarter" idx="10"/>
          </p:nvPr>
        </p:nvSpPr>
        <p:spPr/>
        <p:txBody>
          <a:bodyPr/>
          <a:lstStyle/>
          <a:p>
            <a:fld id="{623F0EBE-8A8D-4252-8C2D-653387E21D91}" type="slidenum">
              <a:rPr lang="ms-MY" smtClean="0"/>
              <a:pPr/>
              <a:t>45</a:t>
            </a:fld>
            <a:endParaRPr lang="ms-MY"/>
          </a:p>
        </p:txBody>
      </p:sp>
    </p:spTree>
    <p:extLst>
      <p:ext uri="{BB962C8B-B14F-4D97-AF65-F5344CB8AC3E}">
        <p14:creationId xmlns:p14="http://schemas.microsoft.com/office/powerpoint/2010/main" val="10520676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6" name="Google Shape;456;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2" name="Google Shape;462;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4" name="Google Shape;474;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0" name="Google Shape;480;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6" name="Google Shape;486;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2" name="Google Shape;492;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8" name="Google Shape;498;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ms-MY" dirty="0"/>
          </a:p>
        </p:txBody>
      </p:sp>
      <p:sp>
        <p:nvSpPr>
          <p:cNvPr id="4" name="Slide Number Placeholder 3"/>
          <p:cNvSpPr>
            <a:spLocks noGrp="1"/>
          </p:cNvSpPr>
          <p:nvPr>
            <p:ph type="sldNum" sz="quarter" idx="10"/>
          </p:nvPr>
        </p:nvSpPr>
        <p:spPr/>
        <p:txBody>
          <a:bodyPr/>
          <a:lstStyle/>
          <a:p>
            <a:fld id="{623F0EBE-8A8D-4252-8C2D-653387E21D91}" type="slidenum">
              <a:rPr lang="ms-MY" smtClean="0"/>
              <a:pPr/>
              <a:t>55</a:t>
            </a:fld>
            <a:endParaRPr lang="ms-MY"/>
          </a:p>
        </p:txBody>
      </p:sp>
    </p:spTree>
    <p:extLst>
      <p:ext uri="{BB962C8B-B14F-4D97-AF65-F5344CB8AC3E}">
        <p14:creationId xmlns:p14="http://schemas.microsoft.com/office/powerpoint/2010/main" val="66766604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0" name="Google Shape;510;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6" name="Google Shape;516;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8" name="Google Shape;528;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4" name="Google Shape;534;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0" name="Google Shape;540;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6" name="Google Shape;546;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8" name="Google Shape;558;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4" name="Google Shape;564;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0" name="Google Shape;570;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6" name="Google Shape;576;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6" name="Google Shape;596;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p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2" name="Google Shape;602;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6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8" name="Google Shape;608;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6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5" name="Google Shape;615;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p6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1" name="Google Shape;621;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p7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7" name="Google Shape;627;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p7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3" name="Google Shape;633;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p7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9" name="Google Shape;639;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p7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5" name="Google Shape;645;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www.1ppt.com/moban/" TargetMode="External"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Microsoft Yahe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MY"/>
              <a:t>‹#›</a:t>
            </a:fld>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21"/>
        <p:cNvGrpSpPr/>
        <p:nvPr/>
      </p:nvGrpSpPr>
      <p:grpSpPr>
        <a:xfrm>
          <a:off x="0" y="0"/>
          <a:ext cx="0" cy="0"/>
          <a:chOff x="0" y="0"/>
          <a:chExt cx="0" cy="0"/>
        </a:xfrm>
      </p:grpSpPr>
      <p:sp>
        <p:nvSpPr>
          <p:cNvPr id="22" name="Google Shape;22;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MY"/>
              <a:t>‹#›</a:t>
            </a:fld>
            <a:endParaRPr/>
          </a:p>
        </p:txBody>
      </p:sp>
      <p:sp>
        <p:nvSpPr>
          <p:cNvPr id="25" name="Google Shape;25;p3"/>
          <p:cNvSpPr/>
          <p:nvPr/>
        </p:nvSpPr>
        <p:spPr>
          <a:xfrm>
            <a:off x="5063548" y="-1150190"/>
            <a:ext cx="1807995" cy="1735932"/>
          </a:xfrm>
          <a:prstGeom prst="donut">
            <a:avLst>
              <a:gd name="adj" fmla="val 10803"/>
            </a:avLst>
          </a:prstGeom>
          <a:solidFill>
            <a:schemeClr val="accent1">
              <a:alpha val="8078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26" name="Google Shape;26;p3"/>
          <p:cNvSpPr txBox="1"/>
          <p:nvPr/>
        </p:nvSpPr>
        <p:spPr>
          <a:xfrm>
            <a:off x="8021255" y="-358816"/>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 name="Google Shape;27;p3"/>
          <p:cNvSpPr/>
          <p:nvPr/>
        </p:nvSpPr>
        <p:spPr>
          <a:xfrm>
            <a:off x="366907" y="229122"/>
            <a:ext cx="4696641" cy="83394"/>
          </a:xfrm>
          <a:prstGeom prst="rect">
            <a:avLst/>
          </a:prstGeom>
          <a:solidFill>
            <a:schemeClr val="accent5">
              <a:alpha val="5176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28" name="Google Shape;28;p3"/>
          <p:cNvSpPr/>
          <p:nvPr/>
        </p:nvSpPr>
        <p:spPr>
          <a:xfrm>
            <a:off x="6993038" y="229122"/>
            <a:ext cx="4832055" cy="83394"/>
          </a:xfrm>
          <a:prstGeom prst="rect">
            <a:avLst/>
          </a:prstGeom>
          <a:solidFill>
            <a:schemeClr val="accent5">
              <a:alpha val="5176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35"/>
        <p:cNvGrpSpPr/>
        <p:nvPr/>
      </p:nvGrpSpPr>
      <p:grpSpPr>
        <a:xfrm>
          <a:off x="0" y="0"/>
          <a:ext cx="0" cy="0"/>
          <a:chOff x="0" y="0"/>
          <a:chExt cx="0" cy="0"/>
        </a:xfrm>
      </p:grpSpPr>
      <p:sp>
        <p:nvSpPr>
          <p:cNvPr id="36" name="Google Shape;36;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Microsoft Yahe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8" name="Google Shape;38;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MY"/>
              <a:t>‹#›</a:t>
            </a:fld>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MY"/>
              <a:t>‹#›</a:t>
            </a:fld>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48"/>
        <p:cNvGrpSpPr/>
        <p:nvPr/>
      </p:nvGrpSpPr>
      <p:grpSpPr>
        <a:xfrm>
          <a:off x="0" y="0"/>
          <a:ext cx="0" cy="0"/>
          <a:chOff x="0" y="0"/>
          <a:chExt cx="0" cy="0"/>
        </a:xfrm>
      </p:grpSpPr>
      <p:sp>
        <p:nvSpPr>
          <p:cNvPr id="49" name="Google Shape;49;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MY"/>
              <a:t>‹#›</a:t>
            </a:fld>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比较">
  <p:cSld name="1_比较">
    <p:spTree>
      <p:nvGrpSpPr>
        <p:cNvPr id="1" name="Shape 57"/>
        <p:cNvGrpSpPr/>
        <p:nvPr/>
      </p:nvGrpSpPr>
      <p:grpSpPr>
        <a:xfrm>
          <a:off x="0" y="0"/>
          <a:ext cx="0" cy="0"/>
          <a:chOff x="0" y="0"/>
          <a:chExt cx="0" cy="0"/>
        </a:xfrm>
      </p:grpSpPr>
      <p:sp>
        <p:nvSpPr>
          <p:cNvPr id="58" name="Google Shape;58;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2" name="Google Shape;62;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MY"/>
              <a:t>‹#›</a:t>
            </a:fld>
            <a:endParaRPr/>
          </a:p>
        </p:txBody>
      </p:sp>
      <p:sp>
        <p:nvSpPr>
          <p:cNvPr id="66" name="Google Shape;66;p8"/>
          <p:cNvSpPr txBox="1"/>
          <p:nvPr/>
        </p:nvSpPr>
        <p:spPr>
          <a:xfrm>
            <a:off x="1399705" y="6734175"/>
            <a:ext cx="1800200" cy="118430"/>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Clr>
                <a:srgbClr val="000000"/>
              </a:buClr>
              <a:buSzPts val="100"/>
              <a:buFont typeface="Microsoft Yahei"/>
              <a:buNone/>
            </a:pPr>
            <a:r>
              <a:rPr lang="en-MY" sz="100" b="0" i="0" u="sng" strike="noStrike" cap="none">
                <a:solidFill>
                  <a:schemeClr val="hlink"/>
                </a:solidFill>
                <a:latin typeface="Microsoft Yahei"/>
                <a:ea typeface="Microsoft Yahei"/>
                <a:cs typeface="Microsoft Yahei"/>
                <a:sym typeface="Microsoft Yahei"/>
                <a:hlinkClick r:id="rId2"/>
              </a:rPr>
              <a:t>PPT模板</a:t>
            </a:r>
            <a:r>
              <a:rPr lang="en-MY" sz="100" b="0" i="0" u="none" strike="noStrike" cap="none">
                <a:solidFill>
                  <a:srgbClr val="000000"/>
                </a:solidFill>
                <a:latin typeface="Microsoft Yahei"/>
                <a:ea typeface="Microsoft Yahei"/>
                <a:cs typeface="Microsoft Yahei"/>
                <a:sym typeface="Microsoft Yahei"/>
              </a:rPr>
              <a:t> http://www.1ppt.com/moban/ </a:t>
            </a:r>
            <a:endParaRPr sz="100" b="0" i="0" u="none" strike="noStrike" cap="none">
              <a:solidFill>
                <a:srgbClr val="000000"/>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67"/>
        <p:cNvGrpSpPr/>
        <p:nvPr/>
      </p:nvGrpSpPr>
      <p:grpSpPr>
        <a:xfrm>
          <a:off x="0" y="0"/>
          <a:ext cx="0" cy="0"/>
          <a:chOff x="0" y="0"/>
          <a:chExt cx="0" cy="0"/>
        </a:xfrm>
      </p:grpSpPr>
      <p:sp>
        <p:nvSpPr>
          <p:cNvPr id="68" name="Google Shape;68;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MY"/>
              <a:t>‹#›</a:t>
            </a:fld>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72"/>
        <p:cNvGrpSpPr/>
        <p:nvPr/>
      </p:nvGrpSpPr>
      <p:grpSpPr>
        <a:xfrm>
          <a:off x="0" y="0"/>
          <a:ext cx="0" cy="0"/>
          <a:chOff x="0" y="0"/>
          <a:chExt cx="0" cy="0"/>
        </a:xfrm>
      </p:grpSpPr>
      <p:sp>
        <p:nvSpPr>
          <p:cNvPr id="73" name="Google Shape;73;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Microsoft Yahe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5" name="Google Shape;75;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6" name="Google Shape;7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MY"/>
              <a:t>‹#›</a:t>
            </a:fld>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79"/>
        <p:cNvGrpSpPr/>
        <p:nvPr/>
      </p:nvGrpSpPr>
      <p:grpSpPr>
        <a:xfrm>
          <a:off x="0" y="0"/>
          <a:ext cx="0" cy="0"/>
          <a:chOff x="0" y="0"/>
          <a:chExt cx="0" cy="0"/>
        </a:xfrm>
      </p:grpSpPr>
      <p:sp>
        <p:nvSpPr>
          <p:cNvPr id="80" name="Google Shape;80;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Microsoft Yahe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1"/>
          <p:cNvSpPr>
            <a:spLocks noGrp="1"/>
          </p:cNvSpPr>
          <p:nvPr>
            <p:ph type="pic" idx="2"/>
          </p:nvPr>
        </p:nvSpPr>
        <p:spPr>
          <a:xfrm>
            <a:off x="5183188" y="987425"/>
            <a:ext cx="6172200" cy="4873625"/>
          </a:xfrm>
          <a:prstGeom prst="rect">
            <a:avLst/>
          </a:prstGeom>
          <a:noFill/>
          <a:ln>
            <a:noFill/>
          </a:ln>
        </p:spPr>
      </p:sp>
      <p:sp>
        <p:nvSpPr>
          <p:cNvPr id="82" name="Google Shape;82;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3" name="Google Shape;8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MY"/>
              <a:t>‹#›</a:t>
            </a:fld>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86"/>
        <p:cNvGrpSpPr/>
        <p:nvPr/>
      </p:nvGrpSpPr>
      <p:grpSpPr>
        <a:xfrm>
          <a:off x="0" y="0"/>
          <a:ext cx="0" cy="0"/>
          <a:chOff x="0" y="0"/>
          <a:chExt cx="0" cy="0"/>
        </a:xfrm>
      </p:grpSpPr>
      <p:sp>
        <p:nvSpPr>
          <p:cNvPr id="87" name="Google Shape;87;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1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9" name="Google Shape;89;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MY"/>
              <a:t>‹#›</a:t>
            </a:fld>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92"/>
        <p:cNvGrpSpPr/>
        <p:nvPr/>
      </p:nvGrpSpPr>
      <p:grpSpPr>
        <a:xfrm>
          <a:off x="0" y="0"/>
          <a:ext cx="0" cy="0"/>
          <a:chOff x="0" y="0"/>
          <a:chExt cx="0" cy="0"/>
        </a:xfrm>
      </p:grpSpPr>
      <p:sp>
        <p:nvSpPr>
          <p:cNvPr id="93" name="Google Shape;93;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5" name="Google Shape;95;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MY"/>
              <a:t>‹#›</a:t>
            </a:fld>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99"/>
        <p:cNvGrpSpPr/>
        <p:nvPr/>
      </p:nvGrpSpPr>
      <p:grpSpPr>
        <a:xfrm>
          <a:off x="0" y="0"/>
          <a:ext cx="0" cy="0"/>
          <a:chOff x="0" y="0"/>
          <a:chExt cx="0" cy="0"/>
        </a:xfrm>
      </p:grpSpPr>
      <p:sp>
        <p:nvSpPr>
          <p:cNvPr id="100" name="Google Shape;100;p1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1" name="Google Shape;101;p15"/>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2" name="Google Shape;102;p1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3" name="Google Shape;103;p1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4" name="Google Shape;104;p1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rgbClr val="000000"/>
                </a:solidFill>
                <a:latin typeface="Calibri"/>
                <a:ea typeface="Calibri"/>
                <a:cs typeface="Calibri"/>
                <a:sym typeface="Calibri"/>
              </a:defRPr>
            </a:lvl1pPr>
            <a:lvl2pPr marL="0" marR="0" lvl="1" indent="0" algn="l" rtl="0">
              <a:spcBef>
                <a:spcPts val="0"/>
              </a:spcBef>
              <a:buNone/>
              <a:defRPr sz="1800">
                <a:solidFill>
                  <a:srgbClr val="000000"/>
                </a:solidFill>
                <a:latin typeface="Calibri"/>
                <a:ea typeface="Calibri"/>
                <a:cs typeface="Calibri"/>
                <a:sym typeface="Calibri"/>
              </a:defRPr>
            </a:lvl2pPr>
            <a:lvl3pPr marL="0" marR="0" lvl="2" indent="0" algn="l" rtl="0">
              <a:spcBef>
                <a:spcPts val="0"/>
              </a:spcBef>
              <a:buNone/>
              <a:defRPr sz="1800">
                <a:solidFill>
                  <a:srgbClr val="000000"/>
                </a:solidFill>
                <a:latin typeface="Calibri"/>
                <a:ea typeface="Calibri"/>
                <a:cs typeface="Calibri"/>
                <a:sym typeface="Calibri"/>
              </a:defRPr>
            </a:lvl3pPr>
            <a:lvl4pPr marL="0" marR="0" lvl="3" indent="0" algn="l" rtl="0">
              <a:spcBef>
                <a:spcPts val="0"/>
              </a:spcBef>
              <a:buNone/>
              <a:defRPr sz="1800">
                <a:solidFill>
                  <a:srgbClr val="000000"/>
                </a:solidFill>
                <a:latin typeface="Calibri"/>
                <a:ea typeface="Calibri"/>
                <a:cs typeface="Calibri"/>
                <a:sym typeface="Calibri"/>
              </a:defRPr>
            </a:lvl4pPr>
            <a:lvl5pPr marL="0" marR="0" lvl="4" indent="0" algn="l" rtl="0">
              <a:spcBef>
                <a:spcPts val="0"/>
              </a:spcBef>
              <a:buNone/>
              <a:defRPr sz="1800">
                <a:solidFill>
                  <a:srgbClr val="000000"/>
                </a:solidFill>
                <a:latin typeface="Calibri"/>
                <a:ea typeface="Calibri"/>
                <a:cs typeface="Calibri"/>
                <a:sym typeface="Calibri"/>
              </a:defRPr>
            </a:lvl5pPr>
            <a:lvl6pPr marL="0" marR="0" lvl="5" indent="0" algn="l" rtl="0">
              <a:spcBef>
                <a:spcPts val="0"/>
              </a:spcBef>
              <a:buNone/>
              <a:defRPr sz="1800">
                <a:solidFill>
                  <a:srgbClr val="000000"/>
                </a:solidFill>
                <a:latin typeface="Calibri"/>
                <a:ea typeface="Calibri"/>
                <a:cs typeface="Calibri"/>
                <a:sym typeface="Calibri"/>
              </a:defRPr>
            </a:lvl6pPr>
            <a:lvl7pPr marL="0" marR="0" lvl="6" indent="0" algn="l" rtl="0">
              <a:spcBef>
                <a:spcPts val="0"/>
              </a:spcBef>
              <a:buNone/>
              <a:defRPr sz="1800">
                <a:solidFill>
                  <a:srgbClr val="000000"/>
                </a:solidFill>
                <a:latin typeface="Calibri"/>
                <a:ea typeface="Calibri"/>
                <a:cs typeface="Calibri"/>
                <a:sym typeface="Calibri"/>
              </a:defRPr>
            </a:lvl7pPr>
            <a:lvl8pPr marL="0" marR="0" lvl="7" indent="0" algn="l" rtl="0">
              <a:spcBef>
                <a:spcPts val="0"/>
              </a:spcBef>
              <a:buNone/>
              <a:defRPr sz="1800">
                <a:solidFill>
                  <a:srgbClr val="000000"/>
                </a:solidFill>
                <a:latin typeface="Calibri"/>
                <a:ea typeface="Calibri"/>
                <a:cs typeface="Calibri"/>
                <a:sym typeface="Calibri"/>
              </a:defRPr>
            </a:lvl8pPr>
            <a:lvl9pPr marL="0" marR="0" lvl="8" indent="0" algn="l" rtl="0">
              <a:spcBef>
                <a:spcPts val="0"/>
              </a:spcBef>
              <a:buNone/>
              <a:defRPr sz="1800">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垂直排列标题与文本" type="vertTitleAndTx">
  <p:cSld name="VERTICAL_TITLE_AND_VERTICAL_TEXT">
    <p:spTree>
      <p:nvGrpSpPr>
        <p:cNvPr id="1" name="Shape 105"/>
        <p:cNvGrpSpPr/>
        <p:nvPr/>
      </p:nvGrpSpPr>
      <p:grpSpPr>
        <a:xfrm>
          <a:off x="0" y="0"/>
          <a:ext cx="0" cy="0"/>
          <a:chOff x="0" y="0"/>
          <a:chExt cx="0" cy="0"/>
        </a:xfrm>
      </p:grpSpPr>
      <p:sp>
        <p:nvSpPr>
          <p:cNvPr id="106" name="Google Shape;106;p16"/>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7" name="Google Shape;107;p16"/>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8" name="Google Shape;108;p1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9" name="Google Shape;109;p1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0" name="Google Shape;110;p1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rgbClr val="000000"/>
                </a:solidFill>
                <a:latin typeface="Calibri"/>
                <a:ea typeface="Calibri"/>
                <a:cs typeface="Calibri"/>
                <a:sym typeface="Calibri"/>
              </a:defRPr>
            </a:lvl1pPr>
            <a:lvl2pPr marL="0" marR="0" lvl="1" indent="0" algn="l" rtl="0">
              <a:spcBef>
                <a:spcPts val="0"/>
              </a:spcBef>
              <a:buNone/>
              <a:defRPr sz="1800">
                <a:solidFill>
                  <a:srgbClr val="000000"/>
                </a:solidFill>
                <a:latin typeface="Calibri"/>
                <a:ea typeface="Calibri"/>
                <a:cs typeface="Calibri"/>
                <a:sym typeface="Calibri"/>
              </a:defRPr>
            </a:lvl2pPr>
            <a:lvl3pPr marL="0" marR="0" lvl="2" indent="0" algn="l" rtl="0">
              <a:spcBef>
                <a:spcPts val="0"/>
              </a:spcBef>
              <a:buNone/>
              <a:defRPr sz="1800">
                <a:solidFill>
                  <a:srgbClr val="000000"/>
                </a:solidFill>
                <a:latin typeface="Calibri"/>
                <a:ea typeface="Calibri"/>
                <a:cs typeface="Calibri"/>
                <a:sym typeface="Calibri"/>
              </a:defRPr>
            </a:lvl3pPr>
            <a:lvl4pPr marL="0" marR="0" lvl="3" indent="0" algn="l" rtl="0">
              <a:spcBef>
                <a:spcPts val="0"/>
              </a:spcBef>
              <a:buNone/>
              <a:defRPr sz="1800">
                <a:solidFill>
                  <a:srgbClr val="000000"/>
                </a:solidFill>
                <a:latin typeface="Calibri"/>
                <a:ea typeface="Calibri"/>
                <a:cs typeface="Calibri"/>
                <a:sym typeface="Calibri"/>
              </a:defRPr>
            </a:lvl4pPr>
            <a:lvl5pPr marL="0" marR="0" lvl="4" indent="0" algn="l" rtl="0">
              <a:spcBef>
                <a:spcPts val="0"/>
              </a:spcBef>
              <a:buNone/>
              <a:defRPr sz="1800">
                <a:solidFill>
                  <a:srgbClr val="000000"/>
                </a:solidFill>
                <a:latin typeface="Calibri"/>
                <a:ea typeface="Calibri"/>
                <a:cs typeface="Calibri"/>
                <a:sym typeface="Calibri"/>
              </a:defRPr>
            </a:lvl5pPr>
            <a:lvl6pPr marL="0" marR="0" lvl="5" indent="0" algn="l" rtl="0">
              <a:spcBef>
                <a:spcPts val="0"/>
              </a:spcBef>
              <a:buNone/>
              <a:defRPr sz="1800">
                <a:solidFill>
                  <a:srgbClr val="000000"/>
                </a:solidFill>
                <a:latin typeface="Calibri"/>
                <a:ea typeface="Calibri"/>
                <a:cs typeface="Calibri"/>
                <a:sym typeface="Calibri"/>
              </a:defRPr>
            </a:lvl6pPr>
            <a:lvl7pPr marL="0" marR="0" lvl="6" indent="0" algn="l" rtl="0">
              <a:spcBef>
                <a:spcPts val="0"/>
              </a:spcBef>
              <a:buNone/>
              <a:defRPr sz="1800">
                <a:solidFill>
                  <a:srgbClr val="000000"/>
                </a:solidFill>
                <a:latin typeface="Calibri"/>
                <a:ea typeface="Calibri"/>
                <a:cs typeface="Calibri"/>
                <a:sym typeface="Calibri"/>
              </a:defRPr>
            </a:lvl7pPr>
            <a:lvl8pPr marL="0" marR="0" lvl="7" indent="0" algn="l" rtl="0">
              <a:spcBef>
                <a:spcPts val="0"/>
              </a:spcBef>
              <a:buNone/>
              <a:defRPr sz="1800">
                <a:solidFill>
                  <a:srgbClr val="000000"/>
                </a:solidFill>
                <a:latin typeface="Calibri"/>
                <a:ea typeface="Calibri"/>
                <a:cs typeface="Calibri"/>
                <a:sym typeface="Calibri"/>
              </a:defRPr>
            </a:lvl8pPr>
            <a:lvl9pPr marL="0" marR="0" lvl="8" indent="0" algn="l" rtl="0">
              <a:spcBef>
                <a:spcPts val="0"/>
              </a:spcBef>
              <a:buNone/>
              <a:defRPr sz="1800">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自定义版式">
  <p:cSld name="自定义版式">
    <p:spTree>
      <p:nvGrpSpPr>
        <p:cNvPr id="1" name="Shape 1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 /><Relationship Id="rId2" Type="http://schemas.openxmlformats.org/officeDocument/2006/relationships/slideLayout" Target="../slideLayouts/slideLayout13.xml" /><Relationship Id="rId1" Type="http://schemas.openxmlformats.org/officeDocument/2006/relationships/slideLayout" Target="../slideLayouts/slideLayout12.xml" /><Relationship Id="rId4" Type="http://schemas.openxmlformats.org/officeDocument/2006/relationships/theme" Target="../theme/theme2.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7030A0">
            <a:alpha val="36000"/>
          </a:srgbClr>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Microsoft Yahei"/>
              <a:buNone/>
              <a:defRPr sz="4400" b="0" i="0" u="none" strike="noStrike" cap="none">
                <a:solidFill>
                  <a:schemeClr val="dk1"/>
                </a:solidFill>
                <a:latin typeface="Microsoft Yahei"/>
                <a:ea typeface="Microsoft Yahei"/>
                <a:cs typeface="Microsoft Yahei"/>
                <a:sym typeface="Microsoft Yahe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Microsoft Yahei"/>
                <a:ea typeface="Microsoft Yahei"/>
                <a:cs typeface="Microsoft Yahei"/>
                <a:sym typeface="Microsoft Yahe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Microsoft Yahei"/>
                <a:ea typeface="Microsoft Yahei"/>
                <a:cs typeface="Microsoft Yahei"/>
                <a:sym typeface="Microsoft Yahe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icrosoft Yahei"/>
                <a:ea typeface="Microsoft Yahei"/>
                <a:cs typeface="Microsoft Yahei"/>
                <a:sym typeface="Microsoft Yahe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Microsoft Yahei"/>
                <a:ea typeface="Microsoft Yahei"/>
                <a:cs typeface="Microsoft Yahei"/>
                <a:sym typeface="Microsoft Yahei"/>
              </a:defRPr>
            </a:lvl1pPr>
            <a:lvl2pPr marR="0" lvl="1" algn="l" rtl="0">
              <a:spcBef>
                <a:spcPts val="0"/>
              </a:spcBef>
              <a:spcAft>
                <a:spcPts val="0"/>
              </a:spcAft>
              <a:buSzPts val="1400"/>
              <a:buNone/>
              <a:defRPr sz="1800" b="0" i="0" u="none" strike="noStrike" cap="none">
                <a:solidFill>
                  <a:schemeClr val="dk1"/>
                </a:solidFill>
                <a:latin typeface="Microsoft Yahei"/>
                <a:ea typeface="Microsoft Yahei"/>
                <a:cs typeface="Microsoft Yahei"/>
                <a:sym typeface="Microsoft Yahei"/>
              </a:defRPr>
            </a:lvl2pPr>
            <a:lvl3pPr marR="0" lvl="2" algn="l" rtl="0">
              <a:spcBef>
                <a:spcPts val="0"/>
              </a:spcBef>
              <a:spcAft>
                <a:spcPts val="0"/>
              </a:spcAft>
              <a:buSzPts val="1400"/>
              <a:buNone/>
              <a:defRPr sz="1800" b="0" i="0" u="none" strike="noStrike" cap="none">
                <a:solidFill>
                  <a:schemeClr val="dk1"/>
                </a:solidFill>
                <a:latin typeface="Microsoft Yahei"/>
                <a:ea typeface="Microsoft Yahei"/>
                <a:cs typeface="Microsoft Yahei"/>
                <a:sym typeface="Microsoft Yahei"/>
              </a:defRPr>
            </a:lvl3pPr>
            <a:lvl4pPr marR="0" lvl="3" algn="l" rtl="0">
              <a:spcBef>
                <a:spcPts val="0"/>
              </a:spcBef>
              <a:spcAft>
                <a:spcPts val="0"/>
              </a:spcAft>
              <a:buSzPts val="1400"/>
              <a:buNone/>
              <a:defRPr sz="1800" b="0" i="0" u="none" strike="noStrike" cap="none">
                <a:solidFill>
                  <a:schemeClr val="dk1"/>
                </a:solidFill>
                <a:latin typeface="Microsoft Yahei"/>
                <a:ea typeface="Microsoft Yahei"/>
                <a:cs typeface="Microsoft Yahei"/>
                <a:sym typeface="Microsoft Yahei"/>
              </a:defRPr>
            </a:lvl4pPr>
            <a:lvl5pPr marR="0" lvl="4" algn="l" rtl="0">
              <a:spcBef>
                <a:spcPts val="0"/>
              </a:spcBef>
              <a:spcAft>
                <a:spcPts val="0"/>
              </a:spcAft>
              <a:buSzPts val="1400"/>
              <a:buNone/>
              <a:defRPr sz="1800" b="0" i="0" u="none" strike="noStrike" cap="none">
                <a:solidFill>
                  <a:schemeClr val="dk1"/>
                </a:solidFill>
                <a:latin typeface="Microsoft Yahei"/>
                <a:ea typeface="Microsoft Yahei"/>
                <a:cs typeface="Microsoft Yahei"/>
                <a:sym typeface="Microsoft Yahei"/>
              </a:defRPr>
            </a:lvl5pPr>
            <a:lvl6pPr marR="0" lvl="5" algn="l" rtl="0">
              <a:spcBef>
                <a:spcPts val="0"/>
              </a:spcBef>
              <a:spcAft>
                <a:spcPts val="0"/>
              </a:spcAft>
              <a:buSzPts val="1400"/>
              <a:buNone/>
              <a:defRPr sz="1800" b="0" i="0" u="none" strike="noStrike" cap="none">
                <a:solidFill>
                  <a:schemeClr val="dk1"/>
                </a:solidFill>
                <a:latin typeface="Microsoft Yahei"/>
                <a:ea typeface="Microsoft Yahei"/>
                <a:cs typeface="Microsoft Yahei"/>
                <a:sym typeface="Microsoft Yahei"/>
              </a:defRPr>
            </a:lvl6pPr>
            <a:lvl7pPr marR="0" lvl="6" algn="l" rtl="0">
              <a:spcBef>
                <a:spcPts val="0"/>
              </a:spcBef>
              <a:spcAft>
                <a:spcPts val="0"/>
              </a:spcAft>
              <a:buSzPts val="1400"/>
              <a:buNone/>
              <a:defRPr sz="1800" b="0" i="0" u="none" strike="noStrike" cap="none">
                <a:solidFill>
                  <a:schemeClr val="dk1"/>
                </a:solidFill>
                <a:latin typeface="Microsoft Yahei"/>
                <a:ea typeface="Microsoft Yahei"/>
                <a:cs typeface="Microsoft Yahei"/>
                <a:sym typeface="Microsoft Yahei"/>
              </a:defRPr>
            </a:lvl7pPr>
            <a:lvl8pPr marR="0" lvl="7" algn="l" rtl="0">
              <a:spcBef>
                <a:spcPts val="0"/>
              </a:spcBef>
              <a:spcAft>
                <a:spcPts val="0"/>
              </a:spcAft>
              <a:buSzPts val="1400"/>
              <a:buNone/>
              <a:defRPr sz="1800" b="0" i="0" u="none" strike="noStrike" cap="none">
                <a:solidFill>
                  <a:schemeClr val="dk1"/>
                </a:solidFill>
                <a:latin typeface="Microsoft Yahei"/>
                <a:ea typeface="Microsoft Yahei"/>
                <a:cs typeface="Microsoft Yahei"/>
                <a:sym typeface="Microsoft Yahei"/>
              </a:defRPr>
            </a:lvl8pPr>
            <a:lvl9pPr marR="0" lvl="8" algn="l" rtl="0">
              <a:spcBef>
                <a:spcPts val="0"/>
              </a:spcBef>
              <a:spcAft>
                <a:spcPts val="0"/>
              </a:spcAft>
              <a:buSzPts val="1400"/>
              <a:buNone/>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Microsoft Yahei"/>
                <a:ea typeface="Microsoft Yahei"/>
                <a:cs typeface="Microsoft Yahei"/>
                <a:sym typeface="Microsoft Yahei"/>
              </a:defRPr>
            </a:lvl1pPr>
            <a:lvl2pPr marR="0" lvl="1" algn="l" rtl="0">
              <a:spcBef>
                <a:spcPts val="0"/>
              </a:spcBef>
              <a:spcAft>
                <a:spcPts val="0"/>
              </a:spcAft>
              <a:buSzPts val="1400"/>
              <a:buNone/>
              <a:defRPr sz="1800" b="0" i="0" u="none" strike="noStrike" cap="none">
                <a:solidFill>
                  <a:schemeClr val="dk1"/>
                </a:solidFill>
                <a:latin typeface="Microsoft Yahei"/>
                <a:ea typeface="Microsoft Yahei"/>
                <a:cs typeface="Microsoft Yahei"/>
                <a:sym typeface="Microsoft Yahei"/>
              </a:defRPr>
            </a:lvl2pPr>
            <a:lvl3pPr marR="0" lvl="2" algn="l" rtl="0">
              <a:spcBef>
                <a:spcPts val="0"/>
              </a:spcBef>
              <a:spcAft>
                <a:spcPts val="0"/>
              </a:spcAft>
              <a:buSzPts val="1400"/>
              <a:buNone/>
              <a:defRPr sz="1800" b="0" i="0" u="none" strike="noStrike" cap="none">
                <a:solidFill>
                  <a:schemeClr val="dk1"/>
                </a:solidFill>
                <a:latin typeface="Microsoft Yahei"/>
                <a:ea typeface="Microsoft Yahei"/>
                <a:cs typeface="Microsoft Yahei"/>
                <a:sym typeface="Microsoft Yahei"/>
              </a:defRPr>
            </a:lvl3pPr>
            <a:lvl4pPr marR="0" lvl="3" algn="l" rtl="0">
              <a:spcBef>
                <a:spcPts val="0"/>
              </a:spcBef>
              <a:spcAft>
                <a:spcPts val="0"/>
              </a:spcAft>
              <a:buSzPts val="1400"/>
              <a:buNone/>
              <a:defRPr sz="1800" b="0" i="0" u="none" strike="noStrike" cap="none">
                <a:solidFill>
                  <a:schemeClr val="dk1"/>
                </a:solidFill>
                <a:latin typeface="Microsoft Yahei"/>
                <a:ea typeface="Microsoft Yahei"/>
                <a:cs typeface="Microsoft Yahei"/>
                <a:sym typeface="Microsoft Yahei"/>
              </a:defRPr>
            </a:lvl4pPr>
            <a:lvl5pPr marR="0" lvl="4" algn="l" rtl="0">
              <a:spcBef>
                <a:spcPts val="0"/>
              </a:spcBef>
              <a:spcAft>
                <a:spcPts val="0"/>
              </a:spcAft>
              <a:buSzPts val="1400"/>
              <a:buNone/>
              <a:defRPr sz="1800" b="0" i="0" u="none" strike="noStrike" cap="none">
                <a:solidFill>
                  <a:schemeClr val="dk1"/>
                </a:solidFill>
                <a:latin typeface="Microsoft Yahei"/>
                <a:ea typeface="Microsoft Yahei"/>
                <a:cs typeface="Microsoft Yahei"/>
                <a:sym typeface="Microsoft Yahei"/>
              </a:defRPr>
            </a:lvl5pPr>
            <a:lvl6pPr marR="0" lvl="5" algn="l" rtl="0">
              <a:spcBef>
                <a:spcPts val="0"/>
              </a:spcBef>
              <a:spcAft>
                <a:spcPts val="0"/>
              </a:spcAft>
              <a:buSzPts val="1400"/>
              <a:buNone/>
              <a:defRPr sz="1800" b="0" i="0" u="none" strike="noStrike" cap="none">
                <a:solidFill>
                  <a:schemeClr val="dk1"/>
                </a:solidFill>
                <a:latin typeface="Microsoft Yahei"/>
                <a:ea typeface="Microsoft Yahei"/>
                <a:cs typeface="Microsoft Yahei"/>
                <a:sym typeface="Microsoft Yahei"/>
              </a:defRPr>
            </a:lvl6pPr>
            <a:lvl7pPr marR="0" lvl="6" algn="l" rtl="0">
              <a:spcBef>
                <a:spcPts val="0"/>
              </a:spcBef>
              <a:spcAft>
                <a:spcPts val="0"/>
              </a:spcAft>
              <a:buSzPts val="1400"/>
              <a:buNone/>
              <a:defRPr sz="1800" b="0" i="0" u="none" strike="noStrike" cap="none">
                <a:solidFill>
                  <a:schemeClr val="dk1"/>
                </a:solidFill>
                <a:latin typeface="Microsoft Yahei"/>
                <a:ea typeface="Microsoft Yahei"/>
                <a:cs typeface="Microsoft Yahei"/>
                <a:sym typeface="Microsoft Yahei"/>
              </a:defRPr>
            </a:lvl7pPr>
            <a:lvl8pPr marR="0" lvl="7" algn="l" rtl="0">
              <a:spcBef>
                <a:spcPts val="0"/>
              </a:spcBef>
              <a:spcAft>
                <a:spcPts val="0"/>
              </a:spcAft>
              <a:buSzPts val="1400"/>
              <a:buNone/>
              <a:defRPr sz="1800" b="0" i="0" u="none" strike="noStrike" cap="none">
                <a:solidFill>
                  <a:schemeClr val="dk1"/>
                </a:solidFill>
                <a:latin typeface="Microsoft Yahei"/>
                <a:ea typeface="Microsoft Yahei"/>
                <a:cs typeface="Microsoft Yahei"/>
                <a:sym typeface="Microsoft Yahei"/>
              </a:defRPr>
            </a:lvl8pPr>
            <a:lvl9pPr marR="0" lvl="8" algn="l" rtl="0">
              <a:spcBef>
                <a:spcPts val="0"/>
              </a:spcBef>
              <a:spcAft>
                <a:spcPts val="0"/>
              </a:spcAft>
              <a:buSzPts val="1400"/>
              <a:buNone/>
              <a:defRPr sz="1800" b="0" i="0" u="none" strike="noStrike" cap="none">
                <a:solidFill>
                  <a:schemeClr val="dk1"/>
                </a:solidFill>
                <a:latin typeface="Microsoft Yahei"/>
                <a:ea typeface="Microsoft Yahei"/>
                <a:cs typeface="Microsoft Yahei"/>
                <a:sym typeface="Microsoft Yahe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Microsoft Yahei"/>
                <a:ea typeface="Microsoft Yahei"/>
                <a:cs typeface="Microsoft Yahei"/>
                <a:sym typeface="Microsoft Yahei"/>
              </a:defRPr>
            </a:lvl1pPr>
            <a:lvl2pPr marL="0" marR="0" lvl="1" indent="0" algn="r" rtl="0">
              <a:spcBef>
                <a:spcPts val="0"/>
              </a:spcBef>
              <a:buNone/>
              <a:defRPr sz="1200" b="0" i="0" u="none" strike="noStrike" cap="none">
                <a:solidFill>
                  <a:srgbClr val="888888"/>
                </a:solidFill>
                <a:latin typeface="Microsoft Yahei"/>
                <a:ea typeface="Microsoft Yahei"/>
                <a:cs typeface="Microsoft Yahei"/>
                <a:sym typeface="Microsoft Yahei"/>
              </a:defRPr>
            </a:lvl2pPr>
            <a:lvl3pPr marL="0" marR="0" lvl="2" indent="0" algn="r" rtl="0">
              <a:spcBef>
                <a:spcPts val="0"/>
              </a:spcBef>
              <a:buNone/>
              <a:defRPr sz="1200" b="0" i="0" u="none" strike="noStrike" cap="none">
                <a:solidFill>
                  <a:srgbClr val="888888"/>
                </a:solidFill>
                <a:latin typeface="Microsoft Yahei"/>
                <a:ea typeface="Microsoft Yahei"/>
                <a:cs typeface="Microsoft Yahei"/>
                <a:sym typeface="Microsoft Yahei"/>
              </a:defRPr>
            </a:lvl3pPr>
            <a:lvl4pPr marL="0" marR="0" lvl="3" indent="0" algn="r" rtl="0">
              <a:spcBef>
                <a:spcPts val="0"/>
              </a:spcBef>
              <a:buNone/>
              <a:defRPr sz="1200" b="0" i="0" u="none" strike="noStrike" cap="none">
                <a:solidFill>
                  <a:srgbClr val="888888"/>
                </a:solidFill>
                <a:latin typeface="Microsoft Yahei"/>
                <a:ea typeface="Microsoft Yahei"/>
                <a:cs typeface="Microsoft Yahei"/>
                <a:sym typeface="Microsoft Yahei"/>
              </a:defRPr>
            </a:lvl4pPr>
            <a:lvl5pPr marL="0" marR="0" lvl="4" indent="0" algn="r" rtl="0">
              <a:spcBef>
                <a:spcPts val="0"/>
              </a:spcBef>
              <a:buNone/>
              <a:defRPr sz="1200" b="0" i="0" u="none" strike="noStrike" cap="none">
                <a:solidFill>
                  <a:srgbClr val="888888"/>
                </a:solidFill>
                <a:latin typeface="Microsoft Yahei"/>
                <a:ea typeface="Microsoft Yahei"/>
                <a:cs typeface="Microsoft Yahei"/>
                <a:sym typeface="Microsoft Yahei"/>
              </a:defRPr>
            </a:lvl5pPr>
            <a:lvl6pPr marL="0" marR="0" lvl="5" indent="0" algn="r" rtl="0">
              <a:spcBef>
                <a:spcPts val="0"/>
              </a:spcBef>
              <a:buNone/>
              <a:defRPr sz="1200" b="0" i="0" u="none" strike="noStrike" cap="none">
                <a:solidFill>
                  <a:srgbClr val="888888"/>
                </a:solidFill>
                <a:latin typeface="Microsoft Yahei"/>
                <a:ea typeface="Microsoft Yahei"/>
                <a:cs typeface="Microsoft Yahei"/>
                <a:sym typeface="Microsoft Yahei"/>
              </a:defRPr>
            </a:lvl6pPr>
            <a:lvl7pPr marL="0" marR="0" lvl="6" indent="0" algn="r" rtl="0">
              <a:spcBef>
                <a:spcPts val="0"/>
              </a:spcBef>
              <a:buNone/>
              <a:defRPr sz="1200" b="0" i="0" u="none" strike="noStrike" cap="none">
                <a:solidFill>
                  <a:srgbClr val="888888"/>
                </a:solidFill>
                <a:latin typeface="Microsoft Yahei"/>
                <a:ea typeface="Microsoft Yahei"/>
                <a:cs typeface="Microsoft Yahei"/>
                <a:sym typeface="Microsoft Yahei"/>
              </a:defRPr>
            </a:lvl7pPr>
            <a:lvl8pPr marL="0" marR="0" lvl="7" indent="0" algn="r" rtl="0">
              <a:spcBef>
                <a:spcPts val="0"/>
              </a:spcBef>
              <a:buNone/>
              <a:defRPr sz="1200" b="0" i="0" u="none" strike="noStrike" cap="none">
                <a:solidFill>
                  <a:srgbClr val="888888"/>
                </a:solidFill>
                <a:latin typeface="Microsoft Yahei"/>
                <a:ea typeface="Microsoft Yahei"/>
                <a:cs typeface="Microsoft Yahei"/>
                <a:sym typeface="Microsoft Yahei"/>
              </a:defRPr>
            </a:lvl8pPr>
            <a:lvl9pPr marL="0" marR="0" lvl="8" indent="0" algn="r" rtl="0">
              <a:spcBef>
                <a:spcPts val="0"/>
              </a:spcBef>
              <a:buNone/>
              <a:defRPr sz="1200" b="0" i="0" u="none" strike="noStrike" cap="none">
                <a:solidFill>
                  <a:srgbClr val="888888"/>
                </a:solidFill>
                <a:latin typeface="Microsoft Yahei"/>
                <a:ea typeface="Microsoft Yahei"/>
                <a:cs typeface="Microsoft Yahei"/>
                <a:sym typeface="Microsoft Yahei"/>
              </a:defRPr>
            </a:lvl9pPr>
          </a:lstStyle>
          <a:p>
            <a:pPr marL="0" lvl="0" indent="0" algn="r" rtl="0">
              <a:spcBef>
                <a:spcPts val="0"/>
              </a:spcBef>
              <a:spcAft>
                <a:spcPts val="0"/>
              </a:spcAft>
              <a:buNone/>
            </a:pPr>
            <a:fld id="{00000000-1234-1234-1234-123412341234}" type="slidenum">
              <a:rPr lang="en-MY"/>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7030A0">
            <a:alpha val="36000"/>
          </a:srgbClr>
        </a:solidFill>
        <a:effectLst/>
      </p:bgPr>
    </p:bg>
    <p:spTree>
      <p:nvGrpSpPr>
        <p:cNvPr id="1" name="Shape 98"/>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 /><Relationship Id="rId3" Type="http://schemas.openxmlformats.org/officeDocument/2006/relationships/hyperlink" Target="http://rds.yahoo.com/_ylt=A2KJkIdCQW9NqTwAgLuJzbkF;_ylu=X3oDMTBxOHNrNGM4BHNlYwN4cGwEcG9zAzEEdnRpZANJMTM0Xzg0/SIG=13b4v529r/EXP=1299165634/**http:/images.search.yahoo.com/search/images?fr2=xpl&amp;fr=yfp-t-701-s&amp;p=cimb+bank" TargetMode="External" /><Relationship Id="rId7" Type="http://schemas.openxmlformats.org/officeDocument/2006/relationships/image" Target="../media/image3.png" /><Relationship Id="rId2" Type="http://schemas.openxmlformats.org/officeDocument/2006/relationships/notesSlide" Target="../notesSlides/notesSlide1.xml" /><Relationship Id="rId1" Type="http://schemas.openxmlformats.org/officeDocument/2006/relationships/slideLayout" Target="../slideLayouts/slideLayout1.xml" /><Relationship Id="rId6" Type="http://schemas.openxmlformats.org/officeDocument/2006/relationships/image" Target="../media/image2.jpeg" /><Relationship Id="rId5" Type="http://schemas.openxmlformats.org/officeDocument/2006/relationships/hyperlink" Target="http://rds.yahoo.com/_ylt=A2KJkIbiQW9NiEUAoRaJzbkF;_ylu=X3oDMTBxcTc4YW4zBHBvcwMyMQRzZWMDc3IEdnRpZANJMTM0Xzg0/SIG=1pof1bh85/EXP=1299165794/**http:/images.search.yahoo.com/images/view?back=http://images.search.yahoo.com/search/images?p=logo+bank+islam+malaysia&amp;b=19&amp;ni=18&amp;ei=UTF-8&amp;rd=r1&amp;meta=vc=my&amp;xargs=0&amp;pstart=1&amp;fr=yfp-t-701-s&amp;fr2=tab-web&amp;w=257&amp;h=104&amp;imgurl=3.bp.blogspot.com/_Ij09oqqknNs/THVBdTNxifI/AAAAAAAABwE/gMC86A6nNzI/s1600/logo-bank-islam2.jpg&amp;rurl=http://ohjobs.blogspot.com/2010/09/27-oktober-2010-jawatan-kosong-bank.html&amp;size=5KB&amp;name=bank+islam+malay...&amp;p=logo+bank+islam+malaysia&amp;oid=939aa1f3227d390a5273fa37cd2c5e43&amp;fr2=tab-web&amp;no=21&amp;tt=112&amp;b=19&amp;ni=18&amp;sigr=12bot11e3&amp;sigi=12terjv5g&amp;sigb=14q8stj1u&amp;.crumb=zBhnhkv7tiY" TargetMode="External" /><Relationship Id="rId4" Type="http://schemas.openxmlformats.org/officeDocument/2006/relationships/image" Target="../media/image1.jpeg"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8" Type="http://schemas.openxmlformats.org/officeDocument/2006/relationships/image" Target="../media/image6.png" /><Relationship Id="rId3" Type="http://schemas.openxmlformats.org/officeDocument/2006/relationships/diagramLayout" Target="../diagrams/layout1.xml" /><Relationship Id="rId7" Type="http://schemas.openxmlformats.org/officeDocument/2006/relationships/image" Target="../media/image5.png"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5" Type="http://schemas.openxmlformats.org/officeDocument/2006/relationships/diagramColors" Target="../diagrams/colors1.xml" /><Relationship Id="rId10" Type="http://schemas.openxmlformats.org/officeDocument/2006/relationships/image" Target="../media/image8.png" /><Relationship Id="rId4" Type="http://schemas.openxmlformats.org/officeDocument/2006/relationships/diagramQuickStyle" Target="../diagrams/quickStyle1.xml" /><Relationship Id="rId9" Type="http://schemas.openxmlformats.org/officeDocument/2006/relationships/image" Target="../media/image7.png"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3" Type="http://schemas.openxmlformats.org/officeDocument/2006/relationships/image" Target="../media/image9.jpg" /><Relationship Id="rId2" Type="http://schemas.openxmlformats.org/officeDocument/2006/relationships/notesSlide" Target="../notesSlides/notesSlide18.xml" /><Relationship Id="rId1" Type="http://schemas.openxmlformats.org/officeDocument/2006/relationships/slideLayout" Target="../slideLayouts/slideLayout2.xml" /><Relationship Id="rId4" Type="http://schemas.openxmlformats.org/officeDocument/2006/relationships/image" Target="../media/image10.png" /></Relationships>
</file>

<file path=ppt/slides/_rels/slide20.xml.rels><?xml version="1.0" encoding="UTF-8" standalone="yes"?>
<Relationships xmlns="http://schemas.openxmlformats.org/package/2006/relationships"><Relationship Id="rId3" Type="http://schemas.openxmlformats.org/officeDocument/2006/relationships/image" Target="../media/image11.jpeg" /><Relationship Id="rId2" Type="http://schemas.openxmlformats.org/officeDocument/2006/relationships/notesSlide" Target="../notesSlides/notesSlide19.xml"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3" Type="http://schemas.openxmlformats.org/officeDocument/2006/relationships/image" Target="../media/image12.jpeg" /><Relationship Id="rId2" Type="http://schemas.openxmlformats.org/officeDocument/2006/relationships/notesSlide" Target="../notesSlides/notesSlide21.xml" /><Relationship Id="rId1" Type="http://schemas.openxmlformats.org/officeDocument/2006/relationships/slideLayout" Target="../slideLayouts/slideLayout2.xml" /><Relationship Id="rId5" Type="http://schemas.openxmlformats.org/officeDocument/2006/relationships/image" Target="../media/image14.jpeg" /><Relationship Id="rId4" Type="http://schemas.openxmlformats.org/officeDocument/2006/relationships/image" Target="../media/image13.jpeg" /></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3" Type="http://schemas.openxmlformats.org/officeDocument/2006/relationships/image" Target="../media/image15.jpeg" /><Relationship Id="rId2" Type="http://schemas.openxmlformats.org/officeDocument/2006/relationships/notesSlide" Target="../notesSlides/notesSlide25.xml" /><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3" Type="http://schemas.openxmlformats.org/officeDocument/2006/relationships/image" Target="../media/image16.jpeg" /><Relationship Id="rId2" Type="http://schemas.openxmlformats.org/officeDocument/2006/relationships/notesSlide" Target="../notesSlides/notesSlide26.xml"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3" Type="http://schemas.openxmlformats.org/officeDocument/2006/relationships/image" Target="../media/image17.jpeg" /><Relationship Id="rId2" Type="http://schemas.openxmlformats.org/officeDocument/2006/relationships/notesSlide" Target="../notesSlides/notesSlide28.xml"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3" Type="http://schemas.openxmlformats.org/officeDocument/2006/relationships/image" Target="../media/image18.jpeg" /><Relationship Id="rId2" Type="http://schemas.openxmlformats.org/officeDocument/2006/relationships/notesSlide" Target="../notesSlides/notesSlide30.xml" /><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 /><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3" Type="http://schemas.openxmlformats.org/officeDocument/2006/relationships/image" Target="../media/image19.png" /><Relationship Id="rId2" Type="http://schemas.openxmlformats.org/officeDocument/2006/relationships/notesSlide" Target="../notesSlides/notesSlide32.xml" /><Relationship Id="rId1" Type="http://schemas.openxmlformats.org/officeDocument/2006/relationships/slideLayout" Target="../slideLayouts/slideLayout2.xml" /><Relationship Id="rId5" Type="http://schemas.openxmlformats.org/officeDocument/2006/relationships/image" Target="../media/image21.png" /><Relationship Id="rId4" Type="http://schemas.openxmlformats.org/officeDocument/2006/relationships/image" Target="../media/image20.png" /></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 /><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 /><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8" Type="http://schemas.openxmlformats.org/officeDocument/2006/relationships/image" Target="../media/image22.gif" /><Relationship Id="rId3" Type="http://schemas.openxmlformats.org/officeDocument/2006/relationships/diagramData" Target="../diagrams/data2.xml" /><Relationship Id="rId7" Type="http://schemas.microsoft.com/office/2007/relationships/diagramDrawing" Target="../diagrams/drawing2.xml" /><Relationship Id="rId2" Type="http://schemas.openxmlformats.org/officeDocument/2006/relationships/notesSlide" Target="../notesSlides/notesSlide35.xml" /><Relationship Id="rId1" Type="http://schemas.openxmlformats.org/officeDocument/2006/relationships/slideLayout" Target="../slideLayouts/slideLayout2.xml" /><Relationship Id="rId6" Type="http://schemas.openxmlformats.org/officeDocument/2006/relationships/diagramColors" Target="../diagrams/colors2.xml" /><Relationship Id="rId5" Type="http://schemas.openxmlformats.org/officeDocument/2006/relationships/diagramQuickStyle" Target="../diagrams/quickStyle2.xml" /><Relationship Id="rId10" Type="http://schemas.openxmlformats.org/officeDocument/2006/relationships/image" Target="../media/image24.png" /><Relationship Id="rId4" Type="http://schemas.openxmlformats.org/officeDocument/2006/relationships/diagramLayout" Target="../diagrams/layout2.xml" /><Relationship Id="rId9" Type="http://schemas.openxmlformats.org/officeDocument/2006/relationships/image" Target="../media/image23.jpeg" /></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 /><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 /><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 /><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 /><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 /><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 /><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 /><Relationship Id="rId1" Type="http://schemas.openxmlformats.org/officeDocument/2006/relationships/slideLayout" Target="../slideLayouts/slideLayout1.xml" /></Relationships>
</file>

<file path=ppt/slides/_rels/slide44.xml.rels><?xml version="1.0" encoding="UTF-8" standalone="yes"?>
<Relationships xmlns="http://schemas.openxmlformats.org/package/2006/relationships"><Relationship Id="rId3" Type="http://schemas.openxmlformats.org/officeDocument/2006/relationships/image" Target="../media/image25.jpg" /><Relationship Id="rId2" Type="http://schemas.openxmlformats.org/officeDocument/2006/relationships/notesSlide" Target="../notesSlides/notesSlide43.xml" /><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3.xml" /><Relationship Id="rId7" Type="http://schemas.microsoft.com/office/2007/relationships/diagramDrawing" Target="../diagrams/drawing3.xml" /><Relationship Id="rId2" Type="http://schemas.openxmlformats.org/officeDocument/2006/relationships/notesSlide" Target="../notesSlides/notesSlide44.xml" /><Relationship Id="rId1" Type="http://schemas.openxmlformats.org/officeDocument/2006/relationships/slideLayout" Target="../slideLayouts/slideLayout2.xml" /><Relationship Id="rId6" Type="http://schemas.openxmlformats.org/officeDocument/2006/relationships/diagramColors" Target="../diagrams/colors3.xml" /><Relationship Id="rId5" Type="http://schemas.openxmlformats.org/officeDocument/2006/relationships/diagramQuickStyle" Target="../diagrams/quickStyle3.xml" /><Relationship Id="rId4" Type="http://schemas.openxmlformats.org/officeDocument/2006/relationships/diagramLayout" Target="../diagrams/layout3.xml" /></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 /><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 /><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 /><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 /><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 /><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 /><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 /><Relationship Id="rId1" Type="http://schemas.openxmlformats.org/officeDocument/2006/relationships/slideLayout" Target="../slideLayouts/slideLayout2.xml" /></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 /><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 /><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3" Type="http://schemas.openxmlformats.org/officeDocument/2006/relationships/diagramData" Target="../diagrams/data4.xml" /><Relationship Id="rId7" Type="http://schemas.microsoft.com/office/2007/relationships/diagramDrawing" Target="../diagrams/drawing4.xml" /><Relationship Id="rId2" Type="http://schemas.openxmlformats.org/officeDocument/2006/relationships/notesSlide" Target="../notesSlides/notesSlide54.xml" /><Relationship Id="rId1" Type="http://schemas.openxmlformats.org/officeDocument/2006/relationships/slideLayout" Target="../slideLayouts/slideLayout2.xml" /><Relationship Id="rId6" Type="http://schemas.openxmlformats.org/officeDocument/2006/relationships/diagramColors" Target="../diagrams/colors4.xml" /><Relationship Id="rId5" Type="http://schemas.openxmlformats.org/officeDocument/2006/relationships/diagramQuickStyle" Target="../diagrams/quickStyle4.xml" /><Relationship Id="rId4" Type="http://schemas.openxmlformats.org/officeDocument/2006/relationships/diagramLayout" Target="../diagrams/layout4.xml" /></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 /><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 /><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 /><Relationship Id="rId1"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 /><Relationship Id="rId1" Type="http://schemas.openxmlformats.org/officeDocument/2006/relationships/slideLayout" Target="../slideLayouts/slideLayout2.xml" /></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 /><Relationship Id="rId1" Type="http://schemas.openxmlformats.org/officeDocument/2006/relationships/slideLayout" Target="../slideLayouts/slideLayout2.xml" /></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 /><Relationship Id="rId1" Type="http://schemas.openxmlformats.org/officeDocument/2006/relationships/slideLayout" Target="../slideLayouts/slideLayout2.xml" /></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 /><Relationship Id="rId1" Type="http://schemas.openxmlformats.org/officeDocument/2006/relationships/slideLayout" Target="../slideLayouts/slideLayout2.xml" /></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 /><Relationship Id="rId1" Type="http://schemas.openxmlformats.org/officeDocument/2006/relationships/slideLayout" Target="../slideLayouts/slideLayout2.xml" /></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 /><Relationship Id="rId1" Type="http://schemas.openxmlformats.org/officeDocument/2006/relationships/slideLayout" Target="../slideLayouts/slideLayout2.xml" /></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 /><Relationship Id="rId1" Type="http://schemas.openxmlformats.org/officeDocument/2006/relationships/slideLayout" Target="../slideLayouts/slideLayout2.xml" /></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 /><Relationship Id="rId1" Type="http://schemas.openxmlformats.org/officeDocument/2006/relationships/slideLayout" Target="../slideLayouts/slideLayout1.xml" /></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 /><Relationship Id="rId1" Type="http://schemas.openxmlformats.org/officeDocument/2006/relationships/slideLayout" Target="../slideLayouts/slideLayout2.xml" /></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 /><Relationship Id="rId1" Type="http://schemas.openxmlformats.org/officeDocument/2006/relationships/slideLayout" Target="../slideLayouts/slideLayout2.xml" /></Relationships>
</file>

<file path=ppt/slides/_rels/slide70.xml.rels><?xml version="1.0" encoding="UTF-8" standalone="yes"?>
<Relationships xmlns="http://schemas.openxmlformats.org/package/2006/relationships"><Relationship Id="rId3" Type="http://schemas.openxmlformats.org/officeDocument/2006/relationships/image" Target="../media/image26.png" /><Relationship Id="rId2" Type="http://schemas.openxmlformats.org/officeDocument/2006/relationships/notesSlide" Target="../notesSlides/notesSlide68.xml" /><Relationship Id="rId1" Type="http://schemas.openxmlformats.org/officeDocument/2006/relationships/slideLayout" Target="../slideLayouts/slideLayout2.xml" /></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 /><Relationship Id="rId1" Type="http://schemas.openxmlformats.org/officeDocument/2006/relationships/slideLayout" Target="../slideLayouts/slideLayout2.xml" /></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 /><Relationship Id="rId1" Type="http://schemas.openxmlformats.org/officeDocument/2006/relationships/slideLayout" Target="../slideLayouts/slideLayout2.xml" /></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 /><Relationship Id="rId1" Type="http://schemas.openxmlformats.org/officeDocument/2006/relationships/slideLayout" Target="../slideLayouts/slideLayout2.xml" /></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 /><Relationship Id="rId1" Type="http://schemas.openxmlformats.org/officeDocument/2006/relationships/slideLayout" Target="../slideLayouts/slideLayout2.xml" /></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 /><Relationship Id="rId1" Type="http://schemas.openxmlformats.org/officeDocument/2006/relationships/slideLayout" Target="../slideLayouts/slideLayout2.xml" /></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p:nvPr/>
        </p:nvSpPr>
        <p:spPr>
          <a:xfrm>
            <a:off x="2506566" y="5686971"/>
            <a:ext cx="6364299" cy="6110630"/>
          </a:xfrm>
          <a:prstGeom prst="donut">
            <a:avLst>
              <a:gd name="adj" fmla="val 25000"/>
            </a:avLst>
          </a:prstGeom>
          <a:solidFill>
            <a:schemeClr val="accent5">
              <a:alpha val="5176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Microsoft Yahei"/>
              <a:ea typeface="Microsoft Yahei"/>
              <a:cs typeface="Microsoft Yahei"/>
              <a:sym typeface="Microsoft Yahei"/>
            </a:endParaRPr>
          </a:p>
        </p:txBody>
      </p:sp>
      <p:sp>
        <p:nvSpPr>
          <p:cNvPr id="117" name="Google Shape;117;p18"/>
          <p:cNvSpPr/>
          <p:nvPr/>
        </p:nvSpPr>
        <p:spPr>
          <a:xfrm>
            <a:off x="-505135" y="-240010"/>
            <a:ext cx="2032382" cy="1951375"/>
          </a:xfrm>
          <a:prstGeom prst="donut">
            <a:avLst>
              <a:gd name="adj" fmla="val 25000"/>
            </a:avLst>
          </a:prstGeom>
          <a:solidFill>
            <a:schemeClr val="accent5">
              <a:alpha val="5176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Microsoft Yahei"/>
              <a:ea typeface="Microsoft Yahei"/>
              <a:cs typeface="Microsoft Yahei"/>
              <a:sym typeface="Microsoft Yahei"/>
            </a:endParaRPr>
          </a:p>
        </p:txBody>
      </p:sp>
      <p:sp>
        <p:nvSpPr>
          <p:cNvPr id="118" name="Google Shape;118;p18"/>
          <p:cNvSpPr txBox="1"/>
          <p:nvPr/>
        </p:nvSpPr>
        <p:spPr>
          <a:xfrm>
            <a:off x="1933661" y="1818397"/>
            <a:ext cx="8254519"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MY" sz="4800" b="1" i="1" u="none" strike="noStrike" cap="none" dirty="0">
                <a:solidFill>
                  <a:schemeClr val="accent1"/>
                </a:solidFill>
                <a:latin typeface="Microsoft Yahei"/>
                <a:ea typeface="Microsoft Yahei"/>
                <a:cs typeface="Microsoft Yahei"/>
                <a:sym typeface="Microsoft Yahei"/>
              </a:rPr>
              <a:t>BAB 5:</a:t>
            </a:r>
            <a:endParaRPr sz="4800" b="1" i="1" dirty="0">
              <a:solidFill>
                <a:schemeClr val="accent1"/>
              </a:solidFill>
              <a:latin typeface="Microsoft Yahei"/>
              <a:ea typeface="Microsoft Yahei"/>
              <a:cs typeface="Microsoft Yahei"/>
              <a:sym typeface="Microsoft Yahei"/>
            </a:endParaRPr>
          </a:p>
        </p:txBody>
      </p:sp>
      <p:cxnSp>
        <p:nvCxnSpPr>
          <p:cNvPr id="119" name="Google Shape;119;p18"/>
          <p:cNvCxnSpPr/>
          <p:nvPr/>
        </p:nvCxnSpPr>
        <p:spPr>
          <a:xfrm>
            <a:off x="2069850" y="3870014"/>
            <a:ext cx="5403994" cy="0"/>
          </a:xfrm>
          <a:prstGeom prst="straightConnector1">
            <a:avLst/>
          </a:prstGeom>
          <a:noFill/>
          <a:ln w="9525" cap="flat" cmpd="sng">
            <a:solidFill>
              <a:schemeClr val="accent1">
                <a:alpha val="34901"/>
              </a:schemeClr>
            </a:solidFill>
            <a:prstDash val="solid"/>
            <a:miter lim="800000"/>
            <a:headEnd type="none" w="sm" len="sm"/>
            <a:tailEnd type="none" w="sm" len="sm"/>
          </a:ln>
        </p:spPr>
      </p:cxnSp>
      <p:sp>
        <p:nvSpPr>
          <p:cNvPr id="120" name="Google Shape;120;p18"/>
          <p:cNvSpPr/>
          <p:nvPr/>
        </p:nvSpPr>
        <p:spPr>
          <a:xfrm>
            <a:off x="4765685" y="5165780"/>
            <a:ext cx="2126574" cy="673050"/>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Microsoft Yahei"/>
              <a:ea typeface="Microsoft Yahei"/>
              <a:cs typeface="Microsoft Yahei"/>
              <a:sym typeface="Microsoft Yahei"/>
            </a:endParaRPr>
          </a:p>
        </p:txBody>
      </p:sp>
      <p:sp>
        <p:nvSpPr>
          <p:cNvPr id="122" name="Google Shape;122;p18"/>
          <p:cNvSpPr txBox="1"/>
          <p:nvPr/>
        </p:nvSpPr>
        <p:spPr>
          <a:xfrm>
            <a:off x="2003819" y="3114974"/>
            <a:ext cx="667027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MY" sz="4800" dirty="0">
                <a:solidFill>
                  <a:schemeClr val="dk1"/>
                </a:solidFill>
                <a:latin typeface="Microsoft Yahei"/>
                <a:ea typeface="Microsoft Yahei"/>
                <a:cs typeface="Microsoft Yahei"/>
                <a:sym typeface="Microsoft Yahei"/>
              </a:rPr>
              <a:t>SISTEM KEWANGAN</a:t>
            </a:r>
            <a:endParaRPr dirty="0"/>
          </a:p>
        </p:txBody>
      </p:sp>
      <p:sp>
        <p:nvSpPr>
          <p:cNvPr id="123" name="Google Shape;123;p18"/>
          <p:cNvSpPr txBox="1"/>
          <p:nvPr/>
        </p:nvSpPr>
        <p:spPr>
          <a:xfrm>
            <a:off x="6472238" y="7872413"/>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Microsoft Yahei"/>
              <a:ea typeface="Microsoft Yahei"/>
              <a:cs typeface="Microsoft Yahei"/>
              <a:sym typeface="Microsoft Yahei"/>
            </a:endParaRPr>
          </a:p>
        </p:txBody>
      </p:sp>
      <p:sp>
        <p:nvSpPr>
          <p:cNvPr id="124" name="Google Shape;124;p18"/>
          <p:cNvSpPr/>
          <p:nvPr/>
        </p:nvSpPr>
        <p:spPr>
          <a:xfrm>
            <a:off x="1997268" y="4047408"/>
            <a:ext cx="4817901" cy="46166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MY" sz="1200" dirty="0">
                <a:solidFill>
                  <a:schemeClr val="accent2"/>
                </a:solidFill>
                <a:latin typeface="Microsoft Yahei"/>
                <a:ea typeface="Microsoft Yahei"/>
                <a:cs typeface="Microsoft Yahei"/>
                <a:sym typeface="Microsoft Yahei"/>
              </a:rPr>
              <a:t>PENGURUSAN PERNIAGAAN (AP015)</a:t>
            </a:r>
            <a:endParaRPr dirty="0"/>
          </a:p>
          <a:p>
            <a:pPr marL="0" marR="0" lvl="0" indent="0" algn="l" rtl="0">
              <a:spcBef>
                <a:spcPts val="0"/>
              </a:spcBef>
              <a:spcAft>
                <a:spcPts val="0"/>
              </a:spcAft>
              <a:buNone/>
            </a:pPr>
            <a:r>
              <a:rPr lang="en-MY" sz="1200" dirty="0">
                <a:solidFill>
                  <a:schemeClr val="accent2"/>
                </a:solidFill>
                <a:latin typeface="Microsoft Yahei"/>
                <a:ea typeface="Microsoft Yahei"/>
                <a:cs typeface="Microsoft Yahei"/>
                <a:sym typeface="Microsoft Yahei"/>
              </a:rPr>
              <a:t>KOLEJ MATRIKULASI, KEMENTERIAN PENDIDIKAN MALAYSIA</a:t>
            </a:r>
            <a:endParaRPr sz="1200" dirty="0">
              <a:solidFill>
                <a:schemeClr val="accent2"/>
              </a:solidFill>
              <a:latin typeface="Microsoft Yahei"/>
              <a:ea typeface="Microsoft Yahei"/>
              <a:cs typeface="Microsoft Yahei"/>
              <a:sym typeface="Microsoft Yahei"/>
            </a:endParaRPr>
          </a:p>
        </p:txBody>
      </p:sp>
      <p:sp>
        <p:nvSpPr>
          <p:cNvPr id="125" name="Google Shape;125;p18"/>
          <p:cNvSpPr/>
          <p:nvPr/>
        </p:nvSpPr>
        <p:spPr>
          <a:xfrm>
            <a:off x="-5993922" y="-143364"/>
            <a:ext cx="7133747" cy="6849409"/>
          </a:xfrm>
          <a:prstGeom prst="donut">
            <a:avLst>
              <a:gd name="adj" fmla="val 25000"/>
            </a:avLst>
          </a:prstGeom>
          <a:solidFill>
            <a:srgbClr val="FED9D0">
              <a:alpha val="6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Microsoft Yahei"/>
              <a:ea typeface="Microsoft Yahei"/>
              <a:cs typeface="Microsoft Yahei"/>
              <a:sym typeface="Microsoft Yahei"/>
            </a:endParaRPr>
          </a:p>
        </p:txBody>
      </p:sp>
      <p:sp>
        <p:nvSpPr>
          <p:cNvPr id="126" name="Google Shape;126;p18"/>
          <p:cNvSpPr/>
          <p:nvPr/>
        </p:nvSpPr>
        <p:spPr>
          <a:xfrm>
            <a:off x="9383135" y="0"/>
            <a:ext cx="7133747" cy="6849409"/>
          </a:xfrm>
          <a:prstGeom prst="donut">
            <a:avLst>
              <a:gd name="adj" fmla="val 25000"/>
            </a:avLst>
          </a:prstGeom>
          <a:solidFill>
            <a:schemeClr val="accent1">
              <a:alpha val="8078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Microsoft Yahei"/>
              <a:ea typeface="Microsoft Yahei"/>
              <a:cs typeface="Microsoft Yahei"/>
              <a:sym typeface="Microsoft Yahei"/>
            </a:endParaRPr>
          </a:p>
        </p:txBody>
      </p:sp>
      <p:grpSp>
        <p:nvGrpSpPr>
          <p:cNvPr id="127" name="Google Shape;127;p18"/>
          <p:cNvGrpSpPr/>
          <p:nvPr/>
        </p:nvGrpSpPr>
        <p:grpSpPr>
          <a:xfrm>
            <a:off x="1265897" y="1396903"/>
            <a:ext cx="1078196" cy="3768877"/>
            <a:chOff x="1288882" y="567159"/>
            <a:chExt cx="1078196" cy="4097438"/>
          </a:xfrm>
        </p:grpSpPr>
        <p:cxnSp>
          <p:nvCxnSpPr>
            <p:cNvPr id="128" name="Google Shape;128;p18"/>
            <p:cNvCxnSpPr/>
            <p:nvPr/>
          </p:nvCxnSpPr>
          <p:spPr>
            <a:xfrm>
              <a:off x="1288882" y="601883"/>
              <a:ext cx="1078196" cy="0"/>
            </a:xfrm>
            <a:prstGeom prst="straightConnector1">
              <a:avLst/>
            </a:prstGeom>
            <a:noFill/>
            <a:ln w="76200" cap="flat" cmpd="sng">
              <a:solidFill>
                <a:schemeClr val="accent1"/>
              </a:solidFill>
              <a:prstDash val="solid"/>
              <a:miter lim="800000"/>
              <a:headEnd type="none" w="sm" len="sm"/>
              <a:tailEnd type="none" w="sm" len="sm"/>
            </a:ln>
          </p:spPr>
        </p:cxnSp>
        <p:cxnSp>
          <p:nvCxnSpPr>
            <p:cNvPr id="129" name="Google Shape;129;p18"/>
            <p:cNvCxnSpPr/>
            <p:nvPr/>
          </p:nvCxnSpPr>
          <p:spPr>
            <a:xfrm>
              <a:off x="1317763" y="567159"/>
              <a:ext cx="0" cy="4097438"/>
            </a:xfrm>
            <a:prstGeom prst="straightConnector1">
              <a:avLst/>
            </a:prstGeom>
            <a:noFill/>
            <a:ln w="76200" cap="flat" cmpd="sng">
              <a:solidFill>
                <a:schemeClr val="accent1"/>
              </a:solidFill>
              <a:prstDash val="solid"/>
              <a:miter lim="800000"/>
              <a:headEnd type="none" w="sm" len="sm"/>
              <a:tailEnd type="none" w="sm" len="sm"/>
            </a:ln>
          </p:spPr>
        </p:cxnSp>
        <p:cxnSp>
          <p:nvCxnSpPr>
            <p:cNvPr id="130" name="Google Shape;130;p18"/>
            <p:cNvCxnSpPr/>
            <p:nvPr/>
          </p:nvCxnSpPr>
          <p:spPr>
            <a:xfrm>
              <a:off x="1288882" y="4620229"/>
              <a:ext cx="1078196" cy="0"/>
            </a:xfrm>
            <a:prstGeom prst="straightConnector1">
              <a:avLst/>
            </a:prstGeom>
            <a:noFill/>
            <a:ln w="76200" cap="flat" cmpd="sng">
              <a:solidFill>
                <a:schemeClr val="accent1"/>
              </a:solidFill>
              <a:prstDash val="solid"/>
              <a:miter lim="800000"/>
              <a:headEnd type="none" w="sm" len="sm"/>
              <a:tailEnd type="none" w="sm" len="sm"/>
            </a:ln>
          </p:spPr>
        </p:cxnSp>
      </p:grpSp>
      <p:sp>
        <p:nvSpPr>
          <p:cNvPr id="131" name="Google Shape;131;p18"/>
          <p:cNvSpPr/>
          <p:nvPr/>
        </p:nvSpPr>
        <p:spPr>
          <a:xfrm>
            <a:off x="8674095" y="2348179"/>
            <a:ext cx="2032382" cy="1951375"/>
          </a:xfrm>
          <a:prstGeom prst="donut">
            <a:avLst>
              <a:gd name="adj" fmla="val 25000"/>
            </a:avLst>
          </a:prstGeom>
          <a:solidFill>
            <a:schemeClr val="accent5">
              <a:alpha val="5176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Microsoft Yahei"/>
              <a:ea typeface="Microsoft Yahei"/>
              <a:cs typeface="Microsoft Yahei"/>
              <a:sym typeface="Microsoft Yahei"/>
            </a:endParaRPr>
          </a:p>
        </p:txBody>
      </p:sp>
      <p:sp>
        <p:nvSpPr>
          <p:cNvPr id="2" name="TextBox 1"/>
          <p:cNvSpPr txBox="1"/>
          <p:nvPr/>
        </p:nvSpPr>
        <p:spPr>
          <a:xfrm>
            <a:off x="4972050" y="5303520"/>
            <a:ext cx="1843119" cy="307777"/>
          </a:xfrm>
          <a:prstGeom prst="rect">
            <a:avLst/>
          </a:prstGeom>
          <a:noFill/>
        </p:spPr>
        <p:txBody>
          <a:bodyPr wrap="square" rtlCol="0">
            <a:spAutoFit/>
          </a:bodyPr>
          <a:lstStyle/>
          <a:p>
            <a:pPr algn="ctr"/>
            <a:r>
              <a:rPr lang="en-MY" dirty="0"/>
              <a:t>KMS</a:t>
            </a:r>
          </a:p>
        </p:txBody>
      </p:sp>
      <p:pic>
        <p:nvPicPr>
          <p:cNvPr id="18" name="Picture 5" descr="cimb bank">
            <a:hlinkClick r:id="rId3" tooltip="http://skorcareer.com.my/blog/10-top-and-largest-banks-in-malaysia/2007/12/23"/>
          </p:cNvPr>
          <p:cNvPicPr>
            <a:picLocks noChangeAspect="1" noChangeArrowheads="1"/>
          </p:cNvPicPr>
          <p:nvPr/>
        </p:nvPicPr>
        <p:blipFill>
          <a:blip r:embed="rId4"/>
          <a:srcRect/>
          <a:stretch>
            <a:fillRect/>
          </a:stretch>
        </p:blipFill>
        <p:spPr bwMode="auto">
          <a:xfrm>
            <a:off x="1093287" y="173217"/>
            <a:ext cx="2286000" cy="1071562"/>
          </a:xfrm>
          <a:prstGeom prst="rect">
            <a:avLst/>
          </a:prstGeom>
          <a:noFill/>
          <a:ln w="9525">
            <a:noFill/>
            <a:miter lim="800000"/>
            <a:headEnd/>
            <a:tailEnd/>
          </a:ln>
        </p:spPr>
      </p:pic>
      <p:pic>
        <p:nvPicPr>
          <p:cNvPr id="19" name="Picture 7" descr="Go to fullsize image">
            <a:hlinkClick r:id="rId5"/>
          </p:cNvPr>
          <p:cNvPicPr>
            <a:picLocks noChangeAspect="1" noChangeArrowheads="1"/>
          </p:cNvPicPr>
          <p:nvPr/>
        </p:nvPicPr>
        <p:blipFill>
          <a:blip r:embed="rId6"/>
          <a:srcRect/>
          <a:stretch>
            <a:fillRect/>
          </a:stretch>
        </p:blipFill>
        <p:spPr bwMode="auto">
          <a:xfrm>
            <a:off x="3637135" y="202375"/>
            <a:ext cx="3000375" cy="1000125"/>
          </a:xfrm>
          <a:prstGeom prst="rect">
            <a:avLst/>
          </a:prstGeom>
          <a:noFill/>
          <a:ln w="9525">
            <a:solidFill>
              <a:schemeClr val="tx1"/>
            </a:solidFill>
            <a:miter lim="800000"/>
            <a:headEnd/>
            <a:tailEnd/>
          </a:ln>
        </p:spPr>
      </p:pic>
      <p:pic>
        <p:nvPicPr>
          <p:cNvPr id="20" name="Picture 11" descr="http://www.bankrakyat.com.my/html/themes/BankRakyat02092010/images/bnkrakyat/_logo_bi.png"/>
          <p:cNvPicPr>
            <a:picLocks noChangeAspect="1" noChangeArrowheads="1"/>
          </p:cNvPicPr>
          <p:nvPr/>
        </p:nvPicPr>
        <p:blipFill>
          <a:blip r:embed="rId7"/>
          <a:srcRect/>
          <a:stretch>
            <a:fillRect/>
          </a:stretch>
        </p:blipFill>
        <p:spPr bwMode="auto">
          <a:xfrm>
            <a:off x="7167570" y="214289"/>
            <a:ext cx="3071834" cy="1030489"/>
          </a:xfrm>
          <a:prstGeom prst="rect">
            <a:avLst/>
          </a:prstGeom>
          <a:noFill/>
          <a:ln w="9525">
            <a:solidFill>
              <a:srgbClr val="8C3FC5"/>
            </a:solidFill>
            <a:miter lim="800000"/>
            <a:headEnd/>
            <a:tailEnd/>
          </a:ln>
        </p:spPr>
      </p:pic>
      <p:pic>
        <p:nvPicPr>
          <p:cNvPr id="21" name="Picture 13" descr="RM50x General 1"/>
          <p:cNvPicPr>
            <a:picLocks noChangeAspect="1" noChangeArrowheads="1"/>
          </p:cNvPicPr>
          <p:nvPr/>
        </p:nvPicPr>
        <p:blipFill>
          <a:blip r:embed="rId8"/>
          <a:srcRect/>
          <a:stretch>
            <a:fillRect/>
          </a:stretch>
        </p:blipFill>
        <p:spPr bwMode="auto">
          <a:xfrm>
            <a:off x="218321" y="4961428"/>
            <a:ext cx="1308925" cy="1744617"/>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9"/>
          <p:cNvSpPr/>
          <p:nvPr/>
        </p:nvSpPr>
        <p:spPr>
          <a:xfrm>
            <a:off x="2526135" y="6369877"/>
            <a:ext cx="6364299" cy="6110630"/>
          </a:xfrm>
          <a:prstGeom prst="donut">
            <a:avLst>
              <a:gd name="adj" fmla="val 25000"/>
            </a:avLst>
          </a:prstGeom>
          <a:solidFill>
            <a:schemeClr val="accent5">
              <a:alpha val="5176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Microsoft Yahei"/>
              <a:ea typeface="Microsoft Yahei"/>
              <a:cs typeface="Microsoft Yahei"/>
              <a:sym typeface="Microsoft Yahei"/>
            </a:endParaRPr>
          </a:p>
        </p:txBody>
      </p:sp>
      <p:sp>
        <p:nvSpPr>
          <p:cNvPr id="137" name="Google Shape;137;p19"/>
          <p:cNvSpPr/>
          <p:nvPr/>
        </p:nvSpPr>
        <p:spPr>
          <a:xfrm>
            <a:off x="-898165" y="-255806"/>
            <a:ext cx="2032382" cy="1951375"/>
          </a:xfrm>
          <a:prstGeom prst="donut">
            <a:avLst>
              <a:gd name="adj" fmla="val 25000"/>
            </a:avLst>
          </a:prstGeom>
          <a:solidFill>
            <a:schemeClr val="accent5">
              <a:alpha val="5176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Microsoft Yahei"/>
              <a:ea typeface="Microsoft Yahei"/>
              <a:cs typeface="Microsoft Yahei"/>
              <a:sym typeface="Microsoft Yahei"/>
            </a:endParaRPr>
          </a:p>
        </p:txBody>
      </p:sp>
      <p:sp>
        <p:nvSpPr>
          <p:cNvPr id="138" name="Google Shape;138;p19"/>
          <p:cNvSpPr/>
          <p:nvPr/>
        </p:nvSpPr>
        <p:spPr>
          <a:xfrm>
            <a:off x="-6456827" y="-170677"/>
            <a:ext cx="7133747" cy="6849409"/>
          </a:xfrm>
          <a:prstGeom prst="donut">
            <a:avLst>
              <a:gd name="adj" fmla="val 25000"/>
            </a:avLst>
          </a:prstGeom>
          <a:solidFill>
            <a:srgbClr val="FED9D0">
              <a:alpha val="6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Microsoft Yahei"/>
              <a:ea typeface="Microsoft Yahei"/>
              <a:cs typeface="Microsoft Yahei"/>
              <a:sym typeface="Microsoft Yahei"/>
            </a:endParaRPr>
          </a:p>
        </p:txBody>
      </p:sp>
      <p:sp>
        <p:nvSpPr>
          <p:cNvPr id="139" name="Google Shape;139;p19"/>
          <p:cNvSpPr/>
          <p:nvPr/>
        </p:nvSpPr>
        <p:spPr>
          <a:xfrm>
            <a:off x="11055964" y="8591"/>
            <a:ext cx="7133747" cy="6849409"/>
          </a:xfrm>
          <a:prstGeom prst="donut">
            <a:avLst>
              <a:gd name="adj" fmla="val 25000"/>
            </a:avLst>
          </a:prstGeom>
          <a:solidFill>
            <a:schemeClr val="accent1">
              <a:alpha val="8078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Microsoft Yahei"/>
              <a:ea typeface="Microsoft Yahei"/>
              <a:cs typeface="Microsoft Yahei"/>
              <a:sym typeface="Microsoft Yahei"/>
            </a:endParaRPr>
          </a:p>
        </p:txBody>
      </p:sp>
      <p:sp>
        <p:nvSpPr>
          <p:cNvPr id="140" name="Google Shape;140;p19"/>
          <p:cNvSpPr/>
          <p:nvPr/>
        </p:nvSpPr>
        <p:spPr>
          <a:xfrm>
            <a:off x="10306355" y="602803"/>
            <a:ext cx="2032382" cy="1951375"/>
          </a:xfrm>
          <a:prstGeom prst="donut">
            <a:avLst>
              <a:gd name="adj" fmla="val 25000"/>
            </a:avLst>
          </a:prstGeom>
          <a:solidFill>
            <a:schemeClr val="accent5">
              <a:alpha val="5176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dk1"/>
              </a:solidFill>
              <a:latin typeface="Microsoft Yahei"/>
              <a:ea typeface="Microsoft Yahei"/>
              <a:cs typeface="Microsoft Yahei"/>
              <a:sym typeface="Microsoft Yahei"/>
            </a:endParaRPr>
          </a:p>
        </p:txBody>
      </p:sp>
      <p:cxnSp>
        <p:nvCxnSpPr>
          <p:cNvPr id="141" name="Google Shape;141;p19"/>
          <p:cNvCxnSpPr/>
          <p:nvPr/>
        </p:nvCxnSpPr>
        <p:spPr>
          <a:xfrm>
            <a:off x="1657186" y="2332543"/>
            <a:ext cx="2172851" cy="0"/>
          </a:xfrm>
          <a:prstGeom prst="straightConnector1">
            <a:avLst/>
          </a:prstGeom>
          <a:noFill/>
          <a:ln w="9525" cap="flat" cmpd="sng">
            <a:solidFill>
              <a:schemeClr val="accent1">
                <a:alpha val="34901"/>
              </a:schemeClr>
            </a:solidFill>
            <a:prstDash val="solid"/>
            <a:miter lim="800000"/>
            <a:headEnd type="none" w="sm" len="sm"/>
            <a:tailEnd type="none" w="sm" len="sm"/>
          </a:ln>
        </p:spPr>
      </p:cxnSp>
      <p:sp>
        <p:nvSpPr>
          <p:cNvPr id="142" name="Google Shape;142;p19"/>
          <p:cNvSpPr txBox="1"/>
          <p:nvPr/>
        </p:nvSpPr>
        <p:spPr>
          <a:xfrm>
            <a:off x="6659284" y="1265258"/>
            <a:ext cx="3915259"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MY" sz="2800" dirty="0" err="1">
                <a:solidFill>
                  <a:schemeClr val="dk1"/>
                </a:solidFill>
                <a:latin typeface="Microsoft Yahei"/>
                <a:ea typeface="Microsoft Yahei"/>
                <a:cs typeface="Microsoft Yahei"/>
                <a:sym typeface="Microsoft Yahei"/>
              </a:rPr>
              <a:t>Pengenalan</a:t>
            </a:r>
            <a:r>
              <a:rPr lang="en-MY" sz="2800" dirty="0">
                <a:solidFill>
                  <a:schemeClr val="dk1"/>
                </a:solidFill>
                <a:latin typeface="Microsoft Yahei"/>
                <a:ea typeface="Microsoft Yahei"/>
                <a:cs typeface="Microsoft Yahei"/>
                <a:sym typeface="Microsoft Yahei"/>
              </a:rPr>
              <a:t> </a:t>
            </a:r>
            <a:r>
              <a:rPr lang="en-MY" sz="2800" dirty="0" err="1">
                <a:solidFill>
                  <a:schemeClr val="dk1"/>
                </a:solidFill>
                <a:latin typeface="Microsoft Yahei"/>
                <a:ea typeface="Microsoft Yahei"/>
                <a:cs typeface="Microsoft Yahei"/>
                <a:sym typeface="Microsoft Yahei"/>
              </a:rPr>
              <a:t>Sistem</a:t>
            </a:r>
            <a:r>
              <a:rPr lang="en-MY" sz="2800" dirty="0">
                <a:solidFill>
                  <a:schemeClr val="dk1"/>
                </a:solidFill>
                <a:latin typeface="Microsoft Yahei"/>
                <a:ea typeface="Microsoft Yahei"/>
                <a:cs typeface="Microsoft Yahei"/>
                <a:sym typeface="Microsoft Yahei"/>
              </a:rPr>
              <a:t> </a:t>
            </a:r>
            <a:r>
              <a:rPr lang="en-MY" sz="2800" dirty="0" err="1">
                <a:solidFill>
                  <a:schemeClr val="dk1"/>
                </a:solidFill>
                <a:latin typeface="Microsoft Yahei"/>
                <a:ea typeface="Microsoft Yahei"/>
                <a:cs typeface="Microsoft Yahei"/>
                <a:sym typeface="Microsoft Yahei"/>
              </a:rPr>
              <a:t>Kewangan</a:t>
            </a:r>
            <a:endParaRPr sz="2800" dirty="0">
              <a:solidFill>
                <a:schemeClr val="dk1"/>
              </a:solidFill>
              <a:latin typeface="Microsoft Yahei"/>
              <a:ea typeface="Microsoft Yahei"/>
              <a:cs typeface="Microsoft Yahei"/>
              <a:sym typeface="Microsoft Yahei"/>
            </a:endParaRPr>
          </a:p>
        </p:txBody>
      </p:sp>
      <p:sp>
        <p:nvSpPr>
          <p:cNvPr id="143" name="Google Shape;143;p19"/>
          <p:cNvSpPr txBox="1"/>
          <p:nvPr/>
        </p:nvSpPr>
        <p:spPr>
          <a:xfrm>
            <a:off x="4945001" y="1436980"/>
            <a:ext cx="1550570" cy="581057"/>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MY" sz="2400">
                <a:solidFill>
                  <a:schemeClr val="accent1"/>
                </a:solidFill>
                <a:latin typeface="Microsoft Yahei"/>
                <a:ea typeface="Microsoft Yahei"/>
                <a:cs typeface="Microsoft Yahei"/>
                <a:sym typeface="Microsoft Yahei"/>
              </a:rPr>
              <a:t>5.1</a:t>
            </a:r>
            <a:endParaRPr sz="2400">
              <a:solidFill>
                <a:schemeClr val="accent1"/>
              </a:solidFill>
              <a:latin typeface="Microsoft Yahei"/>
              <a:ea typeface="Microsoft Yahei"/>
              <a:cs typeface="Microsoft Yahei"/>
              <a:sym typeface="Microsoft Yahei"/>
            </a:endParaRPr>
          </a:p>
        </p:txBody>
      </p:sp>
      <p:sp>
        <p:nvSpPr>
          <p:cNvPr id="144" name="Google Shape;144;p19"/>
          <p:cNvSpPr txBox="1"/>
          <p:nvPr/>
        </p:nvSpPr>
        <p:spPr>
          <a:xfrm>
            <a:off x="6585166" y="3209891"/>
            <a:ext cx="3915259"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MY" sz="2800" dirty="0">
                <a:solidFill>
                  <a:schemeClr val="dk1"/>
                </a:solidFill>
                <a:latin typeface="Microsoft Yahei"/>
                <a:ea typeface="Microsoft Yahei"/>
                <a:cs typeface="Microsoft Yahei"/>
                <a:sym typeface="Microsoft Yahei"/>
              </a:rPr>
              <a:t>Kos </a:t>
            </a:r>
            <a:r>
              <a:rPr lang="en-MY" sz="2800" dirty="0" err="1">
                <a:solidFill>
                  <a:schemeClr val="dk1"/>
                </a:solidFill>
                <a:latin typeface="Microsoft Yahei"/>
                <a:ea typeface="Microsoft Yahei"/>
                <a:cs typeface="Microsoft Yahei"/>
                <a:sym typeface="Microsoft Yahei"/>
              </a:rPr>
              <a:t>Pembiayaan</a:t>
            </a:r>
            <a:r>
              <a:rPr lang="en-MY" sz="2800" dirty="0">
                <a:solidFill>
                  <a:schemeClr val="dk1"/>
                </a:solidFill>
                <a:latin typeface="Microsoft Yahei"/>
                <a:ea typeface="Microsoft Yahei"/>
                <a:cs typeface="Microsoft Yahei"/>
                <a:sym typeface="Microsoft Yahei"/>
              </a:rPr>
              <a:t> </a:t>
            </a:r>
            <a:r>
              <a:rPr lang="en-MY" sz="2800" dirty="0" err="1">
                <a:solidFill>
                  <a:schemeClr val="dk1"/>
                </a:solidFill>
                <a:latin typeface="Microsoft Yahei"/>
                <a:ea typeface="Microsoft Yahei"/>
                <a:cs typeface="Microsoft Yahei"/>
                <a:sym typeface="Microsoft Yahei"/>
              </a:rPr>
              <a:t>dan</a:t>
            </a:r>
            <a:r>
              <a:rPr lang="en-MY" sz="2800" dirty="0">
                <a:solidFill>
                  <a:schemeClr val="dk1"/>
                </a:solidFill>
                <a:latin typeface="Microsoft Yahei"/>
                <a:ea typeface="Microsoft Yahei"/>
                <a:cs typeface="Microsoft Yahei"/>
                <a:sym typeface="Microsoft Yahei"/>
              </a:rPr>
              <a:t> </a:t>
            </a:r>
            <a:r>
              <a:rPr lang="en-MY" sz="2800" dirty="0" err="1">
                <a:solidFill>
                  <a:schemeClr val="dk1"/>
                </a:solidFill>
                <a:latin typeface="Microsoft Yahei"/>
                <a:ea typeface="Microsoft Yahei"/>
                <a:cs typeface="Microsoft Yahei"/>
                <a:sym typeface="Microsoft Yahei"/>
              </a:rPr>
              <a:t>Sumber</a:t>
            </a:r>
            <a:r>
              <a:rPr lang="en-MY" sz="2800" dirty="0">
                <a:solidFill>
                  <a:schemeClr val="dk1"/>
                </a:solidFill>
                <a:latin typeface="Microsoft Yahei"/>
                <a:ea typeface="Microsoft Yahei"/>
                <a:cs typeface="Microsoft Yahei"/>
                <a:sym typeface="Microsoft Yahei"/>
              </a:rPr>
              <a:t> </a:t>
            </a:r>
            <a:r>
              <a:rPr lang="en-MY" sz="2800" dirty="0" err="1">
                <a:solidFill>
                  <a:schemeClr val="dk1"/>
                </a:solidFill>
                <a:latin typeface="Microsoft Yahei"/>
                <a:ea typeface="Microsoft Yahei"/>
                <a:cs typeface="Microsoft Yahei"/>
                <a:sym typeface="Microsoft Yahei"/>
              </a:rPr>
              <a:t>Kewangan</a:t>
            </a:r>
            <a:endParaRPr sz="2800" dirty="0">
              <a:solidFill>
                <a:schemeClr val="dk1"/>
              </a:solidFill>
              <a:latin typeface="Microsoft Yahei"/>
              <a:ea typeface="Microsoft Yahei"/>
              <a:cs typeface="Microsoft Yahei"/>
              <a:sym typeface="Microsoft Yahei"/>
            </a:endParaRPr>
          </a:p>
        </p:txBody>
      </p:sp>
      <p:sp>
        <p:nvSpPr>
          <p:cNvPr id="145" name="Google Shape;145;p19"/>
          <p:cNvSpPr txBox="1"/>
          <p:nvPr/>
        </p:nvSpPr>
        <p:spPr>
          <a:xfrm>
            <a:off x="4933000" y="3325415"/>
            <a:ext cx="1550570" cy="581057"/>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MY" sz="2400">
                <a:solidFill>
                  <a:schemeClr val="accent1"/>
                </a:solidFill>
                <a:latin typeface="Microsoft Yahei"/>
                <a:ea typeface="Microsoft Yahei"/>
                <a:cs typeface="Microsoft Yahei"/>
                <a:sym typeface="Microsoft Yahei"/>
              </a:rPr>
              <a:t>5.2</a:t>
            </a:r>
            <a:endParaRPr sz="2400">
              <a:solidFill>
                <a:schemeClr val="accent1"/>
              </a:solidFill>
              <a:latin typeface="Microsoft Yahei"/>
              <a:ea typeface="Microsoft Yahei"/>
              <a:cs typeface="Microsoft Yahei"/>
              <a:sym typeface="Microsoft Yahei"/>
            </a:endParaRPr>
          </a:p>
        </p:txBody>
      </p:sp>
      <p:sp>
        <p:nvSpPr>
          <p:cNvPr id="146" name="Google Shape;146;p19"/>
          <p:cNvSpPr txBox="1"/>
          <p:nvPr/>
        </p:nvSpPr>
        <p:spPr>
          <a:xfrm>
            <a:off x="6585166" y="5190944"/>
            <a:ext cx="3915259"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MY" sz="2800">
                <a:solidFill>
                  <a:schemeClr val="dk1"/>
                </a:solidFill>
                <a:latin typeface="Microsoft Yahei"/>
                <a:ea typeface="Microsoft Yahei"/>
                <a:cs typeface="Microsoft Yahei"/>
                <a:sym typeface="Microsoft Yahei"/>
              </a:rPr>
              <a:t>Pengurusan Kredit</a:t>
            </a:r>
            <a:endParaRPr sz="2800">
              <a:solidFill>
                <a:schemeClr val="dk1"/>
              </a:solidFill>
              <a:latin typeface="Microsoft Yahei"/>
              <a:ea typeface="Microsoft Yahei"/>
              <a:cs typeface="Microsoft Yahei"/>
              <a:sym typeface="Microsoft Yahei"/>
            </a:endParaRPr>
          </a:p>
        </p:txBody>
      </p:sp>
      <p:sp>
        <p:nvSpPr>
          <p:cNvPr id="147" name="Google Shape;147;p19"/>
          <p:cNvSpPr txBox="1"/>
          <p:nvPr/>
        </p:nvSpPr>
        <p:spPr>
          <a:xfrm>
            <a:off x="4897870" y="5133107"/>
            <a:ext cx="1565378" cy="581057"/>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MY" sz="2400">
                <a:solidFill>
                  <a:schemeClr val="accent1"/>
                </a:solidFill>
                <a:latin typeface="Microsoft Yahei"/>
                <a:ea typeface="Microsoft Yahei"/>
                <a:cs typeface="Microsoft Yahei"/>
                <a:sym typeface="Microsoft Yahei"/>
              </a:rPr>
              <a:t>5.3</a:t>
            </a:r>
            <a:endParaRPr sz="2400">
              <a:solidFill>
                <a:schemeClr val="accent1"/>
              </a:solidFill>
              <a:latin typeface="Microsoft Yahei"/>
              <a:ea typeface="Microsoft Yahei"/>
              <a:cs typeface="Microsoft Yahei"/>
              <a:sym typeface="Microsoft Yahei"/>
            </a:endParaRPr>
          </a:p>
        </p:txBody>
      </p:sp>
      <p:sp>
        <p:nvSpPr>
          <p:cNvPr id="148" name="Google Shape;148;p19"/>
          <p:cNvSpPr txBox="1"/>
          <p:nvPr/>
        </p:nvSpPr>
        <p:spPr>
          <a:xfrm>
            <a:off x="434341" y="1727509"/>
            <a:ext cx="3708098"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MY" sz="2800" b="1" dirty="0">
                <a:solidFill>
                  <a:srgbClr val="FF0000"/>
                </a:solidFill>
                <a:latin typeface="Microsoft Yahei"/>
                <a:ea typeface="Microsoft Yahei"/>
                <a:cs typeface="Microsoft Yahei"/>
                <a:sym typeface="Microsoft Yahei"/>
              </a:rPr>
              <a:t>KANDUNGAN</a:t>
            </a:r>
            <a:endParaRPr sz="2800" b="1" dirty="0">
              <a:solidFill>
                <a:srgbClr val="FF0000"/>
              </a:solidFill>
              <a:latin typeface="Microsoft Yahei"/>
              <a:ea typeface="Microsoft Yahei"/>
              <a:cs typeface="Microsoft Yahei"/>
              <a:sym typeface="Microsoft Yahei"/>
            </a:endParaRPr>
          </a:p>
        </p:txBody>
      </p:sp>
      <p:grpSp>
        <p:nvGrpSpPr>
          <p:cNvPr id="149" name="Google Shape;149;p19"/>
          <p:cNvGrpSpPr/>
          <p:nvPr/>
        </p:nvGrpSpPr>
        <p:grpSpPr>
          <a:xfrm>
            <a:off x="4446410" y="1695569"/>
            <a:ext cx="334878" cy="3768877"/>
            <a:chOff x="1288882" y="567159"/>
            <a:chExt cx="1078196" cy="4097438"/>
          </a:xfrm>
        </p:grpSpPr>
        <p:cxnSp>
          <p:nvCxnSpPr>
            <p:cNvPr id="150" name="Google Shape;150;p19"/>
            <p:cNvCxnSpPr/>
            <p:nvPr/>
          </p:nvCxnSpPr>
          <p:spPr>
            <a:xfrm>
              <a:off x="1288882" y="601883"/>
              <a:ext cx="1078196" cy="0"/>
            </a:xfrm>
            <a:prstGeom prst="straightConnector1">
              <a:avLst/>
            </a:prstGeom>
            <a:noFill/>
            <a:ln w="76200" cap="flat" cmpd="sng">
              <a:solidFill>
                <a:schemeClr val="accent1"/>
              </a:solidFill>
              <a:prstDash val="solid"/>
              <a:miter lim="800000"/>
              <a:headEnd type="none" w="sm" len="sm"/>
              <a:tailEnd type="none" w="sm" len="sm"/>
            </a:ln>
          </p:spPr>
        </p:cxnSp>
        <p:cxnSp>
          <p:nvCxnSpPr>
            <p:cNvPr id="151" name="Google Shape;151;p19"/>
            <p:cNvCxnSpPr/>
            <p:nvPr/>
          </p:nvCxnSpPr>
          <p:spPr>
            <a:xfrm>
              <a:off x="1317763" y="567159"/>
              <a:ext cx="0" cy="4097438"/>
            </a:xfrm>
            <a:prstGeom prst="straightConnector1">
              <a:avLst/>
            </a:prstGeom>
            <a:noFill/>
            <a:ln w="76200" cap="flat" cmpd="sng">
              <a:solidFill>
                <a:schemeClr val="accent1"/>
              </a:solidFill>
              <a:prstDash val="solid"/>
              <a:miter lim="800000"/>
              <a:headEnd type="none" w="sm" len="sm"/>
              <a:tailEnd type="none" w="sm" len="sm"/>
            </a:ln>
          </p:spPr>
        </p:cxnSp>
        <p:cxnSp>
          <p:nvCxnSpPr>
            <p:cNvPr id="152" name="Google Shape;152;p19"/>
            <p:cNvCxnSpPr/>
            <p:nvPr/>
          </p:nvCxnSpPr>
          <p:spPr>
            <a:xfrm>
              <a:off x="1288882" y="4620229"/>
              <a:ext cx="1078196" cy="0"/>
            </a:xfrm>
            <a:prstGeom prst="straightConnector1">
              <a:avLst/>
            </a:prstGeom>
            <a:noFill/>
            <a:ln w="76200" cap="flat" cmpd="sng">
              <a:solidFill>
                <a:schemeClr val="accent1"/>
              </a:solidFill>
              <a:prstDash val="solid"/>
              <a:miter lim="800000"/>
              <a:headEnd type="none" w="sm" len="sm"/>
              <a:tailEnd type="none" w="sm" len="sm"/>
            </a:ln>
          </p:spPr>
        </p:cxnSp>
      </p:gr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0"/>
          <p:cNvSpPr/>
          <p:nvPr/>
        </p:nvSpPr>
        <p:spPr>
          <a:xfrm>
            <a:off x="3024837" y="6057360"/>
            <a:ext cx="6364299" cy="6110630"/>
          </a:xfrm>
          <a:prstGeom prst="donut">
            <a:avLst>
              <a:gd name="adj" fmla="val 25000"/>
            </a:avLst>
          </a:prstGeom>
          <a:solidFill>
            <a:schemeClr val="accent5">
              <a:alpha val="5176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icrosoft Yahei"/>
              <a:ea typeface="Microsoft Yahei"/>
              <a:cs typeface="Microsoft Yahei"/>
              <a:sym typeface="Microsoft Yahei"/>
            </a:endParaRPr>
          </a:p>
        </p:txBody>
      </p:sp>
      <p:sp>
        <p:nvSpPr>
          <p:cNvPr id="158" name="Google Shape;158;p20"/>
          <p:cNvSpPr/>
          <p:nvPr/>
        </p:nvSpPr>
        <p:spPr>
          <a:xfrm>
            <a:off x="-6456827" y="-170677"/>
            <a:ext cx="7133747" cy="6849409"/>
          </a:xfrm>
          <a:prstGeom prst="donut">
            <a:avLst>
              <a:gd name="adj" fmla="val 25000"/>
            </a:avLst>
          </a:prstGeom>
          <a:solidFill>
            <a:srgbClr val="FED9D0">
              <a:alpha val="6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icrosoft Yahei"/>
              <a:ea typeface="Microsoft Yahei"/>
              <a:cs typeface="Microsoft Yahei"/>
              <a:sym typeface="Microsoft Yahei"/>
            </a:endParaRPr>
          </a:p>
        </p:txBody>
      </p:sp>
      <p:grpSp>
        <p:nvGrpSpPr>
          <p:cNvPr id="159" name="Google Shape;159;p20"/>
          <p:cNvGrpSpPr/>
          <p:nvPr/>
        </p:nvGrpSpPr>
        <p:grpSpPr>
          <a:xfrm>
            <a:off x="2174686" y="2278445"/>
            <a:ext cx="276061" cy="1951376"/>
            <a:chOff x="1288882" y="567159"/>
            <a:chExt cx="1078196" cy="4097438"/>
          </a:xfrm>
        </p:grpSpPr>
        <p:cxnSp>
          <p:nvCxnSpPr>
            <p:cNvPr id="160" name="Google Shape;160;p20"/>
            <p:cNvCxnSpPr/>
            <p:nvPr/>
          </p:nvCxnSpPr>
          <p:spPr>
            <a:xfrm>
              <a:off x="1288882" y="674797"/>
              <a:ext cx="1078196" cy="0"/>
            </a:xfrm>
            <a:prstGeom prst="straightConnector1">
              <a:avLst/>
            </a:prstGeom>
            <a:noFill/>
            <a:ln w="76200" cap="flat" cmpd="sng">
              <a:solidFill>
                <a:schemeClr val="accent1"/>
              </a:solidFill>
              <a:prstDash val="solid"/>
              <a:miter lim="800000"/>
              <a:headEnd type="none" w="sm" len="sm"/>
              <a:tailEnd type="none" w="sm" len="sm"/>
            </a:ln>
          </p:spPr>
        </p:cxnSp>
        <p:cxnSp>
          <p:nvCxnSpPr>
            <p:cNvPr id="161" name="Google Shape;161;p20"/>
            <p:cNvCxnSpPr/>
            <p:nvPr/>
          </p:nvCxnSpPr>
          <p:spPr>
            <a:xfrm>
              <a:off x="1317763" y="567159"/>
              <a:ext cx="0" cy="4097438"/>
            </a:xfrm>
            <a:prstGeom prst="straightConnector1">
              <a:avLst/>
            </a:prstGeom>
            <a:noFill/>
            <a:ln w="76200" cap="flat" cmpd="sng">
              <a:solidFill>
                <a:schemeClr val="accent1"/>
              </a:solidFill>
              <a:prstDash val="solid"/>
              <a:miter lim="800000"/>
              <a:headEnd type="none" w="sm" len="sm"/>
              <a:tailEnd type="none" w="sm" len="sm"/>
            </a:ln>
          </p:spPr>
        </p:cxnSp>
        <p:cxnSp>
          <p:nvCxnSpPr>
            <p:cNvPr id="162" name="Google Shape;162;p20"/>
            <p:cNvCxnSpPr/>
            <p:nvPr/>
          </p:nvCxnSpPr>
          <p:spPr>
            <a:xfrm>
              <a:off x="1288882" y="4571619"/>
              <a:ext cx="1078196" cy="0"/>
            </a:xfrm>
            <a:prstGeom prst="straightConnector1">
              <a:avLst/>
            </a:prstGeom>
            <a:noFill/>
            <a:ln w="76200" cap="flat" cmpd="sng">
              <a:solidFill>
                <a:schemeClr val="accent1"/>
              </a:solidFill>
              <a:prstDash val="solid"/>
              <a:miter lim="800000"/>
              <a:headEnd type="none" w="sm" len="sm"/>
              <a:tailEnd type="none" w="sm" len="sm"/>
            </a:ln>
          </p:spPr>
        </p:cxnSp>
      </p:grpSp>
      <p:sp>
        <p:nvSpPr>
          <p:cNvPr id="163" name="Google Shape;163;p20"/>
          <p:cNvSpPr txBox="1"/>
          <p:nvPr/>
        </p:nvSpPr>
        <p:spPr>
          <a:xfrm>
            <a:off x="2384954" y="2947475"/>
            <a:ext cx="7405146" cy="13233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MY" sz="4000" dirty="0" err="1">
                <a:solidFill>
                  <a:schemeClr val="accent1"/>
                </a:solidFill>
                <a:latin typeface="Microsoft Yahei"/>
                <a:ea typeface="Microsoft Yahei"/>
                <a:cs typeface="Microsoft Yahei"/>
                <a:sym typeface="Microsoft Yahei"/>
              </a:rPr>
              <a:t>Pengenalan</a:t>
            </a:r>
            <a:r>
              <a:rPr lang="en-MY" sz="4000" dirty="0">
                <a:solidFill>
                  <a:schemeClr val="accent1"/>
                </a:solidFill>
                <a:latin typeface="Microsoft Yahei"/>
                <a:ea typeface="Microsoft Yahei"/>
                <a:cs typeface="Microsoft Yahei"/>
                <a:sym typeface="Microsoft Yahei"/>
              </a:rPr>
              <a:t> </a:t>
            </a:r>
            <a:r>
              <a:rPr lang="en-MY" sz="4000" dirty="0" err="1">
                <a:solidFill>
                  <a:schemeClr val="accent1"/>
                </a:solidFill>
                <a:latin typeface="Microsoft Yahei"/>
                <a:ea typeface="Microsoft Yahei"/>
                <a:cs typeface="Microsoft Yahei"/>
                <a:sym typeface="Microsoft Yahei"/>
              </a:rPr>
              <a:t>Sistem</a:t>
            </a:r>
            <a:r>
              <a:rPr lang="en-MY" sz="4000" dirty="0">
                <a:solidFill>
                  <a:schemeClr val="accent1"/>
                </a:solidFill>
                <a:latin typeface="Microsoft Yahei"/>
                <a:ea typeface="Microsoft Yahei"/>
                <a:cs typeface="Microsoft Yahei"/>
                <a:sym typeface="Microsoft Yahei"/>
              </a:rPr>
              <a:t> </a:t>
            </a:r>
            <a:r>
              <a:rPr lang="en-MY" sz="4000" dirty="0" err="1">
                <a:solidFill>
                  <a:schemeClr val="accent1"/>
                </a:solidFill>
                <a:latin typeface="Microsoft Yahei"/>
                <a:ea typeface="Microsoft Yahei"/>
                <a:cs typeface="Microsoft Yahei"/>
                <a:sym typeface="Microsoft Yahei"/>
              </a:rPr>
              <a:t>Kewangan</a:t>
            </a:r>
            <a:endParaRPr sz="4000" dirty="0">
              <a:solidFill>
                <a:schemeClr val="accent1"/>
              </a:solidFill>
              <a:latin typeface="Microsoft Yahei"/>
              <a:ea typeface="Microsoft Yahei"/>
              <a:cs typeface="Microsoft Yahei"/>
              <a:sym typeface="Microsoft Yahei"/>
            </a:endParaRPr>
          </a:p>
        </p:txBody>
      </p:sp>
      <p:cxnSp>
        <p:nvCxnSpPr>
          <p:cNvPr id="164" name="Google Shape;164;p20"/>
          <p:cNvCxnSpPr/>
          <p:nvPr/>
        </p:nvCxnSpPr>
        <p:spPr>
          <a:xfrm>
            <a:off x="3978233" y="4179028"/>
            <a:ext cx="4224921" cy="0"/>
          </a:xfrm>
          <a:prstGeom prst="straightConnector1">
            <a:avLst/>
          </a:prstGeom>
          <a:noFill/>
          <a:ln w="9525" cap="flat" cmpd="sng">
            <a:solidFill>
              <a:schemeClr val="accent1">
                <a:alpha val="34901"/>
              </a:schemeClr>
            </a:solidFill>
            <a:prstDash val="solid"/>
            <a:miter lim="800000"/>
            <a:headEnd type="none" w="sm" len="sm"/>
            <a:tailEnd type="none" w="sm" len="sm"/>
          </a:ln>
        </p:spPr>
      </p:cxnSp>
      <p:sp>
        <p:nvSpPr>
          <p:cNvPr id="165" name="Google Shape;165;p20"/>
          <p:cNvSpPr/>
          <p:nvPr/>
        </p:nvSpPr>
        <p:spPr>
          <a:xfrm>
            <a:off x="5028452" y="1211934"/>
            <a:ext cx="2126574" cy="673050"/>
          </a:xfrm>
          <a:prstGeom prst="roundRect">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icrosoft Yahei"/>
              <a:ea typeface="Microsoft Yahei"/>
              <a:cs typeface="Microsoft Yahei"/>
              <a:sym typeface="Microsoft Yahei"/>
            </a:endParaRPr>
          </a:p>
        </p:txBody>
      </p:sp>
      <p:sp>
        <p:nvSpPr>
          <p:cNvPr id="166" name="Google Shape;166;p20"/>
          <p:cNvSpPr txBox="1"/>
          <p:nvPr/>
        </p:nvSpPr>
        <p:spPr>
          <a:xfrm>
            <a:off x="4994389" y="1332576"/>
            <a:ext cx="2337581"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MY" sz="2400">
                <a:solidFill>
                  <a:schemeClr val="lt2"/>
                </a:solidFill>
                <a:latin typeface="Microsoft Yahei"/>
                <a:ea typeface="Microsoft Yahei"/>
                <a:cs typeface="Microsoft Yahei"/>
                <a:sym typeface="Microsoft Yahei"/>
              </a:rPr>
              <a:t>5.1</a:t>
            </a:r>
            <a:endParaRPr sz="2400">
              <a:solidFill>
                <a:schemeClr val="lt2"/>
              </a:solidFill>
              <a:latin typeface="Microsoft Yahei"/>
              <a:ea typeface="Microsoft Yahei"/>
              <a:cs typeface="Microsoft Yahei"/>
              <a:sym typeface="Microsoft Yahei"/>
            </a:endParaRPr>
          </a:p>
        </p:txBody>
      </p:sp>
      <p:sp>
        <p:nvSpPr>
          <p:cNvPr id="167" name="Google Shape;167;p20"/>
          <p:cNvSpPr txBox="1"/>
          <p:nvPr/>
        </p:nvSpPr>
        <p:spPr>
          <a:xfrm>
            <a:off x="6472238" y="7872413"/>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Microsoft Yahei"/>
              <a:ea typeface="Microsoft Yahei"/>
              <a:cs typeface="Microsoft Yahei"/>
              <a:sym typeface="Microsoft Yahei"/>
            </a:endParaRPr>
          </a:p>
        </p:txBody>
      </p:sp>
      <p:grpSp>
        <p:nvGrpSpPr>
          <p:cNvPr id="168" name="Google Shape;168;p20"/>
          <p:cNvGrpSpPr/>
          <p:nvPr/>
        </p:nvGrpSpPr>
        <p:grpSpPr>
          <a:xfrm flipH="1">
            <a:off x="9550803" y="2290020"/>
            <a:ext cx="321086" cy="1951376"/>
            <a:chOff x="1288882" y="591464"/>
            <a:chExt cx="1078196" cy="4097438"/>
          </a:xfrm>
        </p:grpSpPr>
        <p:cxnSp>
          <p:nvCxnSpPr>
            <p:cNvPr id="169" name="Google Shape;169;p20"/>
            <p:cNvCxnSpPr/>
            <p:nvPr/>
          </p:nvCxnSpPr>
          <p:spPr>
            <a:xfrm>
              <a:off x="1288882" y="674798"/>
              <a:ext cx="1078196" cy="0"/>
            </a:xfrm>
            <a:prstGeom prst="straightConnector1">
              <a:avLst/>
            </a:prstGeom>
            <a:noFill/>
            <a:ln w="76200" cap="flat" cmpd="sng">
              <a:solidFill>
                <a:schemeClr val="accent1"/>
              </a:solidFill>
              <a:prstDash val="solid"/>
              <a:miter lim="800000"/>
              <a:headEnd type="none" w="sm" len="sm"/>
              <a:tailEnd type="none" w="sm" len="sm"/>
            </a:ln>
          </p:spPr>
        </p:cxnSp>
        <p:cxnSp>
          <p:nvCxnSpPr>
            <p:cNvPr id="170" name="Google Shape;170;p20"/>
            <p:cNvCxnSpPr/>
            <p:nvPr/>
          </p:nvCxnSpPr>
          <p:spPr>
            <a:xfrm>
              <a:off x="1317764" y="591464"/>
              <a:ext cx="0" cy="4097438"/>
            </a:xfrm>
            <a:prstGeom prst="straightConnector1">
              <a:avLst/>
            </a:prstGeom>
            <a:noFill/>
            <a:ln w="76200" cap="flat" cmpd="sng">
              <a:solidFill>
                <a:schemeClr val="accent1"/>
              </a:solidFill>
              <a:prstDash val="solid"/>
              <a:miter lim="800000"/>
              <a:headEnd type="none" w="sm" len="sm"/>
              <a:tailEnd type="none" w="sm" len="sm"/>
            </a:ln>
          </p:spPr>
        </p:cxnSp>
        <p:cxnSp>
          <p:nvCxnSpPr>
            <p:cNvPr id="171" name="Google Shape;171;p20"/>
            <p:cNvCxnSpPr/>
            <p:nvPr/>
          </p:nvCxnSpPr>
          <p:spPr>
            <a:xfrm>
              <a:off x="1288882" y="4595924"/>
              <a:ext cx="1078196" cy="0"/>
            </a:xfrm>
            <a:prstGeom prst="straightConnector1">
              <a:avLst/>
            </a:prstGeom>
            <a:noFill/>
            <a:ln w="76200" cap="flat" cmpd="sng">
              <a:solidFill>
                <a:schemeClr val="accent1"/>
              </a:solidFill>
              <a:prstDash val="solid"/>
              <a:miter lim="800000"/>
              <a:headEnd type="none" w="sm" len="sm"/>
              <a:tailEnd type="none" w="sm" len="sm"/>
            </a:ln>
          </p:spPr>
        </p:cxnSp>
      </p:grpSp>
      <p:sp>
        <p:nvSpPr>
          <p:cNvPr id="172" name="Google Shape;172;p20"/>
          <p:cNvSpPr/>
          <p:nvPr/>
        </p:nvSpPr>
        <p:spPr>
          <a:xfrm>
            <a:off x="11446302" y="-170678"/>
            <a:ext cx="7133747" cy="6849409"/>
          </a:xfrm>
          <a:prstGeom prst="donut">
            <a:avLst>
              <a:gd name="adj" fmla="val 25000"/>
            </a:avLst>
          </a:prstGeom>
          <a:solidFill>
            <a:srgbClr val="FED9D0">
              <a:alpha val="6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1"/>
          <p:cNvSpPr txBox="1"/>
          <p:nvPr/>
        </p:nvSpPr>
        <p:spPr>
          <a:xfrm>
            <a:off x="2954720" y="767952"/>
            <a:ext cx="6030410"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dirty="0">
                <a:solidFill>
                  <a:srgbClr val="000000"/>
                </a:solidFill>
                <a:latin typeface="Microsoft Yahei"/>
                <a:ea typeface="Microsoft Yahei"/>
                <a:cs typeface="Microsoft Yahei"/>
                <a:sym typeface="Microsoft Yahei"/>
              </a:rPr>
              <a:t>a. </a:t>
            </a:r>
            <a:r>
              <a:rPr lang="en-MY" sz="2800" b="0" i="0" u="none" strike="noStrike" cap="none" dirty="0" err="1">
                <a:solidFill>
                  <a:srgbClr val="000000"/>
                </a:solidFill>
                <a:latin typeface="Microsoft Yahei"/>
                <a:ea typeface="Microsoft Yahei"/>
                <a:cs typeface="Microsoft Yahei"/>
                <a:sym typeface="Microsoft Yahei"/>
              </a:rPr>
              <a:t>Sistem</a:t>
            </a:r>
            <a:r>
              <a:rPr lang="en-MY" sz="2800" b="0" i="0" u="none" strike="noStrike" cap="none" dirty="0">
                <a:solidFill>
                  <a:srgbClr val="000000"/>
                </a:solidFill>
                <a:latin typeface="Microsoft Yahei"/>
                <a:ea typeface="Microsoft Yahei"/>
                <a:cs typeface="Microsoft Yahei"/>
                <a:sym typeface="Microsoft Yahei"/>
              </a:rPr>
              <a:t> </a:t>
            </a:r>
            <a:r>
              <a:rPr lang="en-MY" sz="2800" b="0" i="0" u="none" strike="noStrike" cap="none" dirty="0" err="1">
                <a:solidFill>
                  <a:srgbClr val="000000"/>
                </a:solidFill>
                <a:latin typeface="Microsoft Yahei"/>
                <a:ea typeface="Microsoft Yahei"/>
                <a:cs typeface="Microsoft Yahei"/>
                <a:sym typeface="Microsoft Yahei"/>
              </a:rPr>
              <a:t>Kewangan</a:t>
            </a:r>
            <a:endParaRPr sz="2800" b="0" i="0" u="none" strike="noStrike" cap="none" dirty="0">
              <a:solidFill>
                <a:srgbClr val="000000"/>
              </a:solidFill>
              <a:latin typeface="Microsoft Yahei"/>
              <a:ea typeface="Microsoft Yahei"/>
              <a:cs typeface="Microsoft Yahei"/>
              <a:sym typeface="Microsoft Yahei"/>
            </a:endParaRPr>
          </a:p>
        </p:txBody>
      </p:sp>
      <p:sp>
        <p:nvSpPr>
          <p:cNvPr id="178" name="Google Shape;178;p21"/>
          <p:cNvSpPr txBox="1"/>
          <p:nvPr/>
        </p:nvSpPr>
        <p:spPr>
          <a:xfrm>
            <a:off x="895506" y="1512593"/>
            <a:ext cx="10042570" cy="5170646"/>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Sistem</a:t>
            </a:r>
            <a:r>
              <a:rPr lang="en-MY" sz="2000" dirty="0">
                <a:solidFill>
                  <a:srgbClr val="3F3F3F"/>
                </a:solidFill>
                <a:latin typeface="Microsoft Yahei"/>
                <a:ea typeface="Microsoft Yahei"/>
                <a:cs typeface="Microsoft Yahei"/>
                <a:sym typeface="Microsoft Yahei"/>
              </a:rPr>
              <a:t> yang </a:t>
            </a:r>
            <a:r>
              <a:rPr lang="en-MY" sz="2000" dirty="0" err="1">
                <a:solidFill>
                  <a:srgbClr val="3F3F3F"/>
                </a:solidFill>
                <a:latin typeface="Microsoft Yahei"/>
                <a:ea typeface="Microsoft Yahei"/>
                <a:cs typeface="Microsoft Yahei"/>
                <a:sym typeface="Microsoft Yahei"/>
              </a:rPr>
              <a:t>membolehkan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berlakunya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pemindahan</a:t>
            </a:r>
            <a:r>
              <a:rPr lang="en-MY" sz="2000" dirty="0">
                <a:solidFill>
                  <a:srgbClr val="3F3F3F"/>
                </a:solidFill>
                <a:latin typeface="Microsoft Yahei"/>
                <a:ea typeface="Microsoft Yahei"/>
                <a:cs typeface="Microsoft Yahei"/>
                <a:sym typeface="Microsoft Yahei"/>
              </a:rPr>
              <a:t> dana (</a:t>
            </a:r>
            <a:r>
              <a:rPr lang="en-MY" sz="2000" dirty="0" err="1">
                <a:solidFill>
                  <a:srgbClr val="3F3F3F"/>
                </a:solidFill>
                <a:latin typeface="Microsoft Yahei"/>
                <a:ea typeface="Microsoft Yahei"/>
                <a:cs typeface="Microsoft Yahei"/>
                <a:sym typeface="Microsoft Yahei"/>
              </a:rPr>
              <a:t>wang</a:t>
            </a:r>
            <a:r>
              <a:rPr lang="en-MY" sz="2000" dirty="0">
                <a:solidFill>
                  <a:srgbClr val="3F3F3F"/>
                </a:solidFill>
                <a:latin typeface="Microsoft Yahei"/>
                <a:ea typeface="Microsoft Yahei"/>
                <a:cs typeface="Microsoft Yahei"/>
                <a:sym typeface="Microsoft Yahei"/>
              </a:rPr>
              <a:t>) di </a:t>
            </a:r>
            <a:r>
              <a:rPr lang="en-MY" sz="2000" dirty="0" err="1">
                <a:solidFill>
                  <a:srgbClr val="3F3F3F"/>
                </a:solidFill>
                <a:latin typeface="Microsoft Yahei"/>
                <a:ea typeface="Microsoft Yahei"/>
                <a:cs typeface="Microsoft Yahei"/>
                <a:sym typeface="Microsoft Yahei"/>
              </a:rPr>
              <a:t>antara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pemberi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pinjaman</a:t>
            </a:r>
            <a:r>
              <a:rPr lang="en-MY" sz="2000" dirty="0">
                <a:solidFill>
                  <a:srgbClr val="3F3F3F"/>
                </a:solidFill>
                <a:latin typeface="Microsoft Yahei"/>
                <a:ea typeface="Microsoft Yahei"/>
                <a:cs typeface="Microsoft Yahei"/>
                <a:sym typeface="Microsoft Yahei"/>
              </a:rPr>
              <a:t> , </a:t>
            </a:r>
            <a:r>
              <a:rPr lang="en-MY" sz="2000" dirty="0" err="1">
                <a:solidFill>
                  <a:srgbClr val="3F3F3F"/>
                </a:solidFill>
                <a:latin typeface="Microsoft Yahei"/>
                <a:ea typeface="Microsoft Yahei"/>
                <a:cs typeface="Microsoft Yahei"/>
                <a:sym typeface="Microsoft Yahei"/>
              </a:rPr>
              <a:t>pelabur</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peminjam</a:t>
            </a:r>
            <a:r>
              <a:rPr lang="en-MY" sz="2000" dirty="0">
                <a:solidFill>
                  <a:srgbClr val="3F3F3F"/>
                </a:solidFill>
                <a:latin typeface="Microsoft Yahei"/>
                <a:ea typeface="Microsoft Yahei"/>
                <a:cs typeface="Microsoft Yahei"/>
                <a:sym typeface="Microsoft Yahei"/>
              </a:rPr>
              <a:t>.</a:t>
            </a:r>
            <a:endParaRPr dirty="0"/>
          </a:p>
          <a:p>
            <a:pPr marL="358775" marR="0" lvl="0" indent="-231775" algn="just" rtl="0">
              <a:lnSpc>
                <a:spcPct val="150000"/>
              </a:lnSpc>
              <a:spcBef>
                <a:spcPts val="0"/>
              </a:spcBef>
              <a:spcAft>
                <a:spcPts val="0"/>
              </a:spcAft>
              <a:buClr>
                <a:schemeClr val="dk1"/>
              </a:buClr>
              <a:buSzPts val="2000"/>
              <a:buFont typeface="Arial"/>
              <a:buNone/>
            </a:pPr>
            <a:endParaRPr sz="2000" dirty="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b="0" i="0" u="none" strike="noStrike" cap="none" dirty="0" err="1">
                <a:solidFill>
                  <a:srgbClr val="3F3F3F"/>
                </a:solidFill>
                <a:latin typeface="Microsoft Yahei"/>
                <a:ea typeface="Microsoft Yahei"/>
                <a:cs typeface="Microsoft Yahei"/>
                <a:sym typeface="Microsoft Yahei"/>
              </a:rPr>
              <a:t>Melibatkan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hubungan</a:t>
            </a:r>
            <a:r>
              <a:rPr lang="en-MY" sz="2000" b="0" i="0" u="none" strike="noStrike" cap="none" dirty="0">
                <a:solidFill>
                  <a:srgbClr val="3F3F3F"/>
                </a:solidFill>
                <a:latin typeface="Microsoft Yahei"/>
                <a:ea typeface="Microsoft Yahei"/>
                <a:cs typeface="Microsoft Yahei"/>
                <a:sym typeface="Microsoft Yahei"/>
              </a:rPr>
              <a:t> yang </a:t>
            </a:r>
            <a:r>
              <a:rPr lang="en-MY" sz="2000" b="0" i="0" u="none" strike="noStrike" cap="none" dirty="0" err="1">
                <a:solidFill>
                  <a:srgbClr val="3F3F3F"/>
                </a:solidFill>
                <a:latin typeface="Microsoft Yahei"/>
                <a:ea typeface="Microsoft Yahei"/>
                <a:cs typeface="Microsoft Yahei"/>
                <a:sym typeface="Microsoft Yahei"/>
              </a:rPr>
              <a:t>kompleks</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antara</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pasaran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kewangan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institusi</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kewangan</a:t>
            </a:r>
            <a:r>
              <a:rPr lang="en-MY" sz="2000" b="0" i="0" u="none" strike="noStrike" cap="none" dirty="0">
                <a:solidFill>
                  <a:srgbClr val="3F3F3F"/>
                </a:solidFill>
                <a:latin typeface="Microsoft Yahei"/>
                <a:ea typeface="Microsoft Yahei"/>
                <a:cs typeface="Microsoft Yahei"/>
                <a:sym typeface="Microsoft Yahei"/>
              </a:rPr>
              <a:t>, instrument </a:t>
            </a:r>
            <a:r>
              <a:rPr lang="en-MY" sz="2000" b="0" i="0" u="none" strike="noStrike" cap="none" dirty="0" err="1">
                <a:solidFill>
                  <a:srgbClr val="3F3F3F"/>
                </a:solidFill>
                <a:latin typeface="Microsoft Yahei"/>
                <a:ea typeface="Microsoft Yahei"/>
                <a:cs typeface="Microsoft Yahei"/>
                <a:sym typeface="Microsoft Yahei"/>
              </a:rPr>
              <a:t>kewangan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perkhidmatan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kewangan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pengamal</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kewangan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dan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peraturan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urusniaga</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kewangan</a:t>
            </a:r>
            <a:r>
              <a:rPr lang="en-MY" sz="2000" b="0" i="0" u="none" strike="noStrike" cap="none" dirty="0">
                <a:solidFill>
                  <a:srgbClr val="3F3F3F"/>
                </a:solidFill>
                <a:latin typeface="Microsoft Yahei"/>
                <a:ea typeface="Microsoft Yahei"/>
                <a:cs typeface="Microsoft Yahei"/>
                <a:sym typeface="Microsoft Yahei"/>
              </a:rPr>
              <a:t>.</a:t>
            </a:r>
            <a:endParaRPr dirty="0"/>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dirty="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Dalam</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konteks</a:t>
            </a:r>
            <a:r>
              <a:rPr lang="en-MY" sz="2000" dirty="0">
                <a:solidFill>
                  <a:srgbClr val="3F3F3F"/>
                </a:solidFill>
                <a:latin typeface="Microsoft Yahei"/>
                <a:ea typeface="Microsoft Yahei"/>
                <a:cs typeface="Microsoft Yahei"/>
                <a:sym typeface="Microsoft Yahei"/>
              </a:rPr>
              <a:t> Malaysia, </a:t>
            </a:r>
            <a:r>
              <a:rPr lang="en-MY" sz="2000" dirty="0" err="1">
                <a:solidFill>
                  <a:srgbClr val="3F3F3F"/>
                </a:solidFill>
                <a:latin typeface="Microsoft Yahei"/>
                <a:ea typeface="Microsoft Yahei"/>
                <a:cs typeface="Microsoft Yahei"/>
                <a:sym typeface="Microsoft Yahei"/>
              </a:rPr>
              <a:t>struktur</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kewangan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terbahagi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kepada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tiga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iaitu</a:t>
            </a:r>
            <a:r>
              <a:rPr lang="en-MY" sz="2000" dirty="0">
                <a:solidFill>
                  <a:srgbClr val="3F3F3F"/>
                </a:solidFill>
                <a:latin typeface="Microsoft Yahei"/>
                <a:ea typeface="Microsoft Yahei"/>
                <a:cs typeface="Microsoft Yahei"/>
                <a:sym typeface="Microsoft Yahei"/>
              </a:rPr>
              <a:t>;</a:t>
            </a:r>
            <a:endParaRPr dirty="0"/>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dirty="0" err="1">
                <a:solidFill>
                  <a:srgbClr val="3F3F3F"/>
                </a:solidFill>
                <a:latin typeface="Microsoft Yahei"/>
                <a:ea typeface="Microsoft Yahei"/>
                <a:cs typeface="Microsoft Yahei"/>
                <a:sym typeface="Microsoft Yahei"/>
              </a:rPr>
              <a:t>Pasaran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kewangan</a:t>
            </a:r>
            <a:endParaRPr sz="2000" b="0" i="0" u="none" strike="noStrike" cap="none" dirty="0">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dirty="0" err="1">
                <a:solidFill>
                  <a:srgbClr val="3F3F3F"/>
                </a:solidFill>
                <a:latin typeface="Microsoft Yahei"/>
                <a:ea typeface="Microsoft Yahei"/>
                <a:cs typeface="Microsoft Yahei"/>
                <a:sym typeface="Microsoft Yahei"/>
              </a:rPr>
              <a:t>Institusi</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perbankan</a:t>
            </a:r>
            <a:endParaRPr sz="2000" b="0" i="0" u="none" strike="noStrike" cap="none" dirty="0">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dirty="0" err="1">
                <a:solidFill>
                  <a:srgbClr val="3F3F3F"/>
                </a:solidFill>
                <a:latin typeface="Microsoft Yahei"/>
                <a:ea typeface="Microsoft Yahei"/>
                <a:cs typeface="Microsoft Yahei"/>
                <a:sym typeface="Microsoft Yahei"/>
              </a:rPr>
              <a:t>Badan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kawal</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selia</a:t>
            </a:r>
            <a:endParaRPr sz="2000" b="0" i="0" u="none" strike="noStrike" cap="none" dirty="0">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2"/>
          <p:cNvSpPr txBox="1"/>
          <p:nvPr/>
        </p:nvSpPr>
        <p:spPr>
          <a:xfrm>
            <a:off x="2954720" y="767952"/>
            <a:ext cx="6030410"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b. Fungsi Pasaran Kewangan</a:t>
            </a:r>
            <a:endParaRPr sz="2800" b="0" i="0" u="none" strike="noStrike" cap="none">
              <a:solidFill>
                <a:srgbClr val="000000"/>
              </a:solidFill>
              <a:latin typeface="Microsoft Yahei"/>
              <a:ea typeface="Microsoft Yahei"/>
              <a:cs typeface="Microsoft Yahei"/>
              <a:sym typeface="Microsoft Yahei"/>
            </a:endParaRPr>
          </a:p>
        </p:txBody>
      </p:sp>
      <p:sp>
        <p:nvSpPr>
          <p:cNvPr id="184" name="Google Shape;184;p22"/>
          <p:cNvSpPr txBox="1"/>
          <p:nvPr/>
        </p:nvSpPr>
        <p:spPr>
          <a:xfrm>
            <a:off x="895506" y="1512593"/>
            <a:ext cx="10042570" cy="2862322"/>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Pasaran kewangan – pasaran di mana dana dipindahkan daripada golongan yang mempunyai lebihan dana (surplus) kepada golongan yang kekurangan dana (defisit).</a:t>
            </a:r>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Dana tersebut dikenali sebagai aset kewangan bagi pemberi pinjaman dan liabiliti bagi peminjam.</a:t>
            </a: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3"/>
          <p:cNvSpPr txBox="1"/>
          <p:nvPr/>
        </p:nvSpPr>
        <p:spPr>
          <a:xfrm>
            <a:off x="2954720" y="767952"/>
            <a:ext cx="6030410"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b. Fungsi Pasaran Kewangan</a:t>
            </a:r>
            <a:endParaRPr sz="2800" b="0" i="0" u="none" strike="noStrike" cap="none">
              <a:solidFill>
                <a:srgbClr val="000000"/>
              </a:solidFill>
              <a:latin typeface="Microsoft Yahei"/>
              <a:ea typeface="Microsoft Yahei"/>
              <a:cs typeface="Microsoft Yahei"/>
              <a:sym typeface="Microsoft Yahei"/>
            </a:endParaRPr>
          </a:p>
        </p:txBody>
      </p:sp>
      <p:sp>
        <p:nvSpPr>
          <p:cNvPr id="190" name="Google Shape;190;p23"/>
          <p:cNvSpPr txBox="1"/>
          <p:nvPr/>
        </p:nvSpPr>
        <p:spPr>
          <a:xfrm>
            <a:off x="895506" y="1512593"/>
            <a:ext cx="10042570" cy="4247317"/>
          </a:xfrm>
          <a:prstGeom prst="rect">
            <a:avLst/>
          </a:prstGeom>
          <a:noFill/>
          <a:ln>
            <a:noFill/>
          </a:ln>
        </p:spPr>
        <p:txBody>
          <a:bodyPr spcFirstLastPara="1" wrap="square" lIns="91425" tIns="45700" rIns="91425" bIns="45700" anchor="t" anchorCtr="0">
            <a:spAutoFit/>
          </a:bodyPr>
          <a:lstStyle/>
          <a:p>
            <a:pPr marL="400050" marR="0" lvl="0" indent="-400050" algn="just" rtl="0">
              <a:lnSpc>
                <a:spcPct val="150000"/>
              </a:lnSpc>
              <a:spcBef>
                <a:spcPts val="0"/>
              </a:spcBef>
              <a:spcAft>
                <a:spcPts val="0"/>
              </a:spcAft>
              <a:buClr>
                <a:srgbClr val="3F3F3F"/>
              </a:buClr>
              <a:buSzPts val="2000"/>
              <a:buFont typeface="Microsoft Yahei"/>
              <a:buAutoNum type="romanLcPeriod"/>
            </a:pPr>
            <a:r>
              <a:rPr lang="en-MY" sz="2000">
                <a:solidFill>
                  <a:srgbClr val="3F3F3F"/>
                </a:solidFill>
                <a:latin typeface="Microsoft Yahei"/>
                <a:ea typeface="Microsoft Yahei"/>
                <a:cs typeface="Microsoft Yahei"/>
                <a:sym typeface="Microsoft Yahei"/>
              </a:rPr>
              <a:t>Kecairan</a:t>
            </a:r>
            <a:endParaRPr sz="2000">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2000"/>
              <a:buFont typeface="Arial"/>
              <a:buChar char="•"/>
            </a:pPr>
            <a:r>
              <a:rPr lang="en-MY" sz="2000" b="0" i="0" u="none" strike="noStrike" cap="none">
                <a:solidFill>
                  <a:srgbClr val="3F3F3F"/>
                </a:solidFill>
                <a:latin typeface="Microsoft Yahei"/>
                <a:ea typeface="Microsoft Yahei"/>
                <a:cs typeface="Microsoft Yahei"/>
                <a:sym typeface="Microsoft Yahei"/>
              </a:rPr>
              <a:t>Menyediakan mekanisme untuk jualbeli instrumen kewangan dengan lebih cepat dan murah.</a:t>
            </a:r>
            <a:endParaRPr/>
          </a:p>
          <a:p>
            <a:pPr marL="717550" marR="0" lvl="1" indent="-358775" algn="just" rtl="0">
              <a:lnSpc>
                <a:spcPct val="150000"/>
              </a:lnSpc>
              <a:spcBef>
                <a:spcPts val="0"/>
              </a:spcBef>
              <a:spcAft>
                <a:spcPts val="0"/>
              </a:spcAft>
              <a:buClr>
                <a:srgbClr val="3F3F3F"/>
              </a:buClr>
              <a:buSzPts val="2000"/>
              <a:buFont typeface="Arial"/>
              <a:buChar char="•"/>
            </a:pPr>
            <a:r>
              <a:rPr lang="en-MY" sz="2000" b="0" i="0" u="none" strike="noStrike" cap="none">
                <a:solidFill>
                  <a:srgbClr val="3F3F3F"/>
                </a:solidFill>
                <a:latin typeface="Microsoft Yahei"/>
                <a:ea typeface="Microsoft Yahei"/>
                <a:cs typeface="Microsoft Yahei"/>
                <a:sym typeface="Microsoft Yahei"/>
              </a:rPr>
              <a:t>Instrumen kewangan mempunyai tahap kecairan yang tinggi dan boleh diurusniaga dengan cepat.</a:t>
            </a:r>
            <a:endParaRPr/>
          </a:p>
          <a:p>
            <a:pPr marL="717550" marR="0" lvl="1" indent="-358775" algn="just" rtl="0">
              <a:lnSpc>
                <a:spcPct val="150000"/>
              </a:lnSpc>
              <a:spcBef>
                <a:spcPts val="0"/>
              </a:spcBef>
              <a:spcAft>
                <a:spcPts val="0"/>
              </a:spcAft>
              <a:buClr>
                <a:srgbClr val="3F3F3F"/>
              </a:buClr>
              <a:buSzPts val="2000"/>
              <a:buFont typeface="Arial"/>
              <a:buChar char="•"/>
            </a:pPr>
            <a:r>
              <a:rPr lang="en-MY" sz="2000" b="0" i="0" u="none" strike="noStrike" cap="none">
                <a:solidFill>
                  <a:srgbClr val="3F3F3F"/>
                </a:solidFill>
                <a:latin typeface="Microsoft Yahei"/>
                <a:ea typeface="Microsoft Yahei"/>
                <a:cs typeface="Microsoft Yahei"/>
                <a:sym typeface="Microsoft Yahei"/>
              </a:rPr>
              <a:t>Tahap kecairan yang tinggi juga membolehkan sekuriti tersebut dijual dengan lebih murah (dalam lot-lot iaitu 100 syer/lot atau 1000 syer/lot)</a:t>
            </a:r>
            <a:endParaRPr/>
          </a:p>
          <a:p>
            <a:pPr marL="717550" marR="0" lvl="1" indent="-358775" algn="just" rtl="0">
              <a:lnSpc>
                <a:spcPct val="150000"/>
              </a:lnSpc>
              <a:spcBef>
                <a:spcPts val="0"/>
              </a:spcBef>
              <a:spcAft>
                <a:spcPts val="0"/>
              </a:spcAft>
              <a:buClr>
                <a:srgbClr val="3F3F3F"/>
              </a:buClr>
              <a:buSzPts val="2000"/>
              <a:buFont typeface="Arial"/>
              <a:buChar char="•"/>
            </a:pPr>
            <a:r>
              <a:rPr lang="en-MY" sz="2000" b="0" i="0" u="none" strike="noStrike" cap="none">
                <a:solidFill>
                  <a:srgbClr val="3F3F3F"/>
                </a:solidFill>
                <a:latin typeface="Microsoft Yahei"/>
                <a:ea typeface="Microsoft Yahei"/>
                <a:cs typeface="Microsoft Yahei"/>
                <a:sym typeface="Microsoft Yahei"/>
              </a:rPr>
              <a:t>Contoh; unit saham dapat bertukar tangan dengan pantas dalam jumlah lot-lot melalui urusniaga di Bursa Malaysia.</a:t>
            </a:r>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4"/>
          <p:cNvSpPr txBox="1"/>
          <p:nvPr/>
        </p:nvSpPr>
        <p:spPr>
          <a:xfrm>
            <a:off x="2954720" y="767952"/>
            <a:ext cx="6030410"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b. Fungsi Pasaran Kewangan</a:t>
            </a:r>
            <a:endParaRPr sz="2800" b="0" i="0" u="none" strike="noStrike" cap="none">
              <a:solidFill>
                <a:srgbClr val="000000"/>
              </a:solidFill>
              <a:latin typeface="Microsoft Yahei"/>
              <a:ea typeface="Microsoft Yahei"/>
              <a:cs typeface="Microsoft Yahei"/>
              <a:sym typeface="Microsoft Yahei"/>
            </a:endParaRPr>
          </a:p>
        </p:txBody>
      </p:sp>
      <p:sp>
        <p:nvSpPr>
          <p:cNvPr id="196" name="Google Shape;196;p24"/>
          <p:cNvSpPr txBox="1"/>
          <p:nvPr/>
        </p:nvSpPr>
        <p:spPr>
          <a:xfrm>
            <a:off x="895506" y="1512593"/>
            <a:ext cx="10042570" cy="4708981"/>
          </a:xfrm>
          <a:prstGeom prst="rect">
            <a:avLst/>
          </a:prstGeom>
          <a:noFill/>
          <a:ln>
            <a:noFill/>
          </a:ln>
        </p:spPr>
        <p:txBody>
          <a:bodyPr spcFirstLastPara="1" wrap="square" lIns="91425" tIns="45700" rIns="91425" bIns="45700" anchor="t" anchorCtr="0">
            <a:spAutoFit/>
          </a:bodyPr>
          <a:lstStyle/>
          <a:p>
            <a:pPr marL="400050" marR="0" lvl="0" indent="-400050" algn="just" rtl="0">
              <a:lnSpc>
                <a:spcPct val="150000"/>
              </a:lnSpc>
              <a:spcBef>
                <a:spcPts val="0"/>
              </a:spcBef>
              <a:spcAft>
                <a:spcPts val="0"/>
              </a:spcAft>
              <a:buClr>
                <a:srgbClr val="3F3F3F"/>
              </a:buClr>
              <a:buSzPts val="2000"/>
              <a:buFont typeface="Microsoft Yahei"/>
              <a:buAutoNum type="romanLcPeriod" startAt="2"/>
            </a:pPr>
            <a:r>
              <a:rPr lang="en-MY" sz="2000" b="0" i="0" u="none" strike="noStrike" cap="none">
                <a:solidFill>
                  <a:srgbClr val="3F3F3F"/>
                </a:solidFill>
                <a:latin typeface="Microsoft Yahei"/>
                <a:ea typeface="Microsoft Yahei"/>
                <a:cs typeface="Microsoft Yahei"/>
                <a:sym typeface="Microsoft Yahei"/>
              </a:rPr>
              <a:t>Mengintegrasi Maklumat Pasaran</a:t>
            </a:r>
            <a:endParaRPr sz="2000" b="0" i="0" u="none" strike="noStrike" cap="none">
              <a:solidFill>
                <a:srgbClr val="3F3F3F"/>
              </a:solidFill>
              <a:latin typeface="Microsoft Yahei"/>
              <a:ea typeface="Microsoft Yahei"/>
              <a:cs typeface="Microsoft Yahei"/>
              <a:sym typeface="Microsoft Yahei"/>
            </a:endParaRPr>
          </a:p>
          <a:p>
            <a:pPr marL="717550"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Menyediakan maklumat berkaitan dengan pasaran seperti jangkaan pulangan, risiko, kadar faedah dan peserta pasaran.</a:t>
            </a:r>
            <a:endParaRPr/>
          </a:p>
          <a:p>
            <a:pPr marL="717550"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Membenarkan penjual dan pembeli berinteraksi untuk menentukan harga instrumen kewangan.</a:t>
            </a:r>
            <a:endParaRPr/>
          </a:p>
          <a:p>
            <a:pPr marL="717550" marR="0" lvl="0" indent="-358775" algn="just" rtl="0">
              <a:lnSpc>
                <a:spcPct val="150000"/>
              </a:lnSpc>
              <a:spcBef>
                <a:spcPts val="0"/>
              </a:spcBef>
              <a:spcAft>
                <a:spcPts val="0"/>
              </a:spcAft>
              <a:buClr>
                <a:srgbClr val="3F3F3F"/>
              </a:buClr>
              <a:buSzPts val="2000"/>
              <a:buFont typeface="Arial"/>
              <a:buChar char="•"/>
            </a:pPr>
            <a:r>
              <a:rPr lang="en-MY" sz="2000" b="0" i="0" u="none" strike="noStrike" cap="none">
                <a:solidFill>
                  <a:srgbClr val="3F3F3F"/>
                </a:solidFill>
                <a:latin typeface="Microsoft Yahei"/>
                <a:ea typeface="Microsoft Yahei"/>
                <a:cs typeface="Microsoft Yahei"/>
                <a:sym typeface="Microsoft Yahei"/>
              </a:rPr>
              <a:t>Memudahkan individu membuat keputusan membeli</a:t>
            </a:r>
            <a:r>
              <a:rPr lang="en-MY" sz="2000">
                <a:solidFill>
                  <a:srgbClr val="3F3F3F"/>
                </a:solidFill>
                <a:latin typeface="Microsoft Yahei"/>
                <a:ea typeface="Microsoft Yahei"/>
                <a:cs typeface="Microsoft Yahei"/>
                <a:sym typeface="Microsoft Yahei"/>
              </a:rPr>
              <a:t> dan menjual instrumen kewangan.</a:t>
            </a:r>
            <a:endParaRPr/>
          </a:p>
          <a:p>
            <a:pPr marL="717550" marR="0" lvl="0" indent="-358775" algn="just" rtl="0">
              <a:lnSpc>
                <a:spcPct val="150000"/>
              </a:lnSpc>
              <a:spcBef>
                <a:spcPts val="0"/>
              </a:spcBef>
              <a:spcAft>
                <a:spcPts val="0"/>
              </a:spcAft>
              <a:buClr>
                <a:srgbClr val="3F3F3F"/>
              </a:buClr>
              <a:buSzPts val="2000"/>
              <a:buFont typeface="Arial"/>
              <a:buChar char="•"/>
            </a:pPr>
            <a:r>
              <a:rPr lang="en-MY" sz="2000" b="0" i="0" u="none" strike="noStrike" cap="none">
                <a:solidFill>
                  <a:srgbClr val="3F3F3F"/>
                </a:solidFill>
                <a:latin typeface="Microsoft Yahei"/>
                <a:ea typeface="Microsoft Yahei"/>
                <a:cs typeface="Microsoft Yahei"/>
                <a:sym typeface="Microsoft Yahei"/>
              </a:rPr>
              <a:t>Contoh; Pelabur boleh mendapatkan maklumat berkaitan dengan harga pembukaan</a:t>
            </a:r>
            <a:r>
              <a:rPr lang="en-MY" sz="2000">
                <a:solidFill>
                  <a:srgbClr val="3F3F3F"/>
                </a:solidFill>
                <a:latin typeface="Microsoft Yahei"/>
                <a:ea typeface="Microsoft Yahei"/>
                <a:cs typeface="Microsoft Yahei"/>
                <a:sym typeface="Microsoft Yahei"/>
              </a:rPr>
              <a:t>, harga penutup, volum jualan, nisbah harga pendapatan yang dibekalkan oleh Bursa Malaysia.</a:t>
            </a: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5"/>
          <p:cNvSpPr txBox="1"/>
          <p:nvPr/>
        </p:nvSpPr>
        <p:spPr>
          <a:xfrm>
            <a:off x="2954720" y="767952"/>
            <a:ext cx="6030410"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b. Fungsi Pasaran Kewangan</a:t>
            </a:r>
            <a:endParaRPr sz="2800" b="0" i="0" u="none" strike="noStrike" cap="none">
              <a:solidFill>
                <a:srgbClr val="000000"/>
              </a:solidFill>
              <a:latin typeface="Microsoft Yahei"/>
              <a:ea typeface="Microsoft Yahei"/>
              <a:cs typeface="Microsoft Yahei"/>
              <a:sym typeface="Microsoft Yahei"/>
            </a:endParaRPr>
          </a:p>
        </p:txBody>
      </p:sp>
      <p:sp>
        <p:nvSpPr>
          <p:cNvPr id="202" name="Google Shape;202;p25"/>
          <p:cNvSpPr txBox="1"/>
          <p:nvPr/>
        </p:nvSpPr>
        <p:spPr>
          <a:xfrm>
            <a:off x="895506" y="1512593"/>
            <a:ext cx="10042570" cy="3785611"/>
          </a:xfrm>
          <a:prstGeom prst="rect">
            <a:avLst/>
          </a:prstGeom>
          <a:noFill/>
          <a:ln>
            <a:noFill/>
          </a:ln>
        </p:spPr>
        <p:txBody>
          <a:bodyPr spcFirstLastPara="1" wrap="square" lIns="91425" tIns="45700" rIns="91425" bIns="45700" anchor="t" anchorCtr="0">
            <a:spAutoFit/>
          </a:bodyPr>
          <a:lstStyle/>
          <a:p>
            <a:pPr marL="400050" marR="0" lvl="0" indent="-400050" algn="just" rtl="0">
              <a:lnSpc>
                <a:spcPct val="150000"/>
              </a:lnSpc>
              <a:spcBef>
                <a:spcPts val="0"/>
              </a:spcBef>
              <a:spcAft>
                <a:spcPts val="0"/>
              </a:spcAft>
              <a:buClr>
                <a:srgbClr val="3F3F3F"/>
              </a:buClr>
              <a:buSzPts val="2000"/>
              <a:buFont typeface="Microsoft Yahei"/>
              <a:buAutoNum type="romanLcPeriod" startAt="3"/>
            </a:pPr>
            <a:r>
              <a:rPr lang="en-MY" sz="2000" b="0" i="0" u="none" strike="noStrike" cap="none" dirty="0" err="1">
                <a:solidFill>
                  <a:srgbClr val="3F3F3F"/>
                </a:solidFill>
                <a:latin typeface="Microsoft Yahei"/>
                <a:ea typeface="Microsoft Yahei"/>
                <a:cs typeface="Microsoft Yahei"/>
                <a:sym typeface="Microsoft Yahei"/>
              </a:rPr>
              <a:t>Pertukaran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Risiko</a:t>
            </a:r>
            <a:endParaRPr lang="en-MY" sz="2000" b="0" i="0" u="none" strike="noStrike" cap="none" dirty="0">
              <a:solidFill>
                <a:srgbClr val="3F3F3F"/>
              </a:solidFill>
              <a:latin typeface="Microsoft Yahei"/>
              <a:ea typeface="Microsoft Yahei"/>
              <a:cs typeface="Microsoft Yahei"/>
              <a:sym typeface="Microsoft Yahei"/>
            </a:endParaRPr>
          </a:p>
          <a:p>
            <a:pPr marL="342900" indent="-342900" algn="just">
              <a:lnSpc>
                <a:spcPct val="150000"/>
              </a:lnSpc>
              <a:buClr>
                <a:srgbClr val="3F3F3F"/>
              </a:buClr>
              <a:buSzPts val="2000"/>
              <a:buFont typeface="Arial" panose="020B0604020202020204" pitchFamily="34" charset="0"/>
              <a:buChar char="•"/>
            </a:pPr>
            <a:r>
              <a:rPr lang="en-MY" sz="2000" dirty="0" err="1">
                <a:solidFill>
                  <a:srgbClr val="3F3F3F"/>
                </a:solidFill>
                <a:latin typeface="Microsoft Yahei"/>
                <a:ea typeface="Microsoft Yahei"/>
                <a:cs typeface="Microsoft Yahei"/>
                <a:sym typeface="Microsoft Yahei"/>
              </a:rPr>
              <a:t>Melalui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urusniaga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jualbeli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instrumen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kewangan</a:t>
            </a:r>
            <a:r>
              <a:rPr lang="en-MY" sz="2000" dirty="0">
                <a:solidFill>
                  <a:srgbClr val="3F3F3F"/>
                </a:solidFill>
                <a:latin typeface="Microsoft Yahei"/>
                <a:ea typeface="Microsoft Yahei"/>
                <a:cs typeface="Microsoft Yahei"/>
                <a:sym typeface="Microsoft Yahei"/>
              </a:rPr>
              <a:t> , </a:t>
            </a:r>
            <a:r>
              <a:rPr lang="en-MY" sz="2000" dirty="0" err="1">
                <a:solidFill>
                  <a:srgbClr val="3F3F3F"/>
                </a:solidFill>
                <a:latin typeface="Microsoft Yahei"/>
                <a:ea typeface="Microsoft Yahei"/>
                <a:cs typeface="Microsoft Yahei"/>
                <a:sym typeface="Microsoft Yahei"/>
              </a:rPr>
              <a:t>risiko</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bertukar</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tangan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antara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penjual</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pembeli</a:t>
            </a:r>
            <a:r>
              <a:rPr lang="en-MY" sz="2000" dirty="0">
                <a:solidFill>
                  <a:srgbClr val="3F3F3F"/>
                </a:solidFill>
                <a:latin typeface="Microsoft Yahei"/>
                <a:ea typeface="Microsoft Yahei"/>
                <a:cs typeface="Microsoft Yahei"/>
                <a:sym typeface="Microsoft Yahei"/>
              </a:rPr>
              <a:t>.</a:t>
            </a:r>
            <a:endParaRPr lang="en-MY" sz="2000" dirty="0">
              <a:ea typeface="Microsoft Yahei"/>
            </a:endParaRPr>
          </a:p>
          <a:p>
            <a:pPr marL="342900" indent="-342900" algn="just">
              <a:lnSpc>
                <a:spcPct val="150000"/>
              </a:lnSpc>
              <a:buClr>
                <a:srgbClr val="3F3F3F"/>
              </a:buClr>
              <a:buSzPts val="2000"/>
              <a:buFont typeface="Arial" panose="020B0604020202020204" pitchFamily="34" charset="0"/>
              <a:buChar char="•"/>
            </a:pPr>
            <a:r>
              <a:rPr lang="en-MY" sz="2000" dirty="0" err="1">
                <a:solidFill>
                  <a:srgbClr val="3F3F3F"/>
                </a:solidFill>
                <a:latin typeface="Microsoft Yahei"/>
                <a:ea typeface="Microsoft Yahei"/>
                <a:cs typeface="Microsoft Yahei"/>
                <a:sym typeface="Microsoft Yahei"/>
              </a:rPr>
              <a:t>Risiko</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kewangan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berkaitan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analisis</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konsep</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statistikal</a:t>
            </a:r>
            <a:r>
              <a:rPr lang="en-MY" sz="2000" dirty="0">
                <a:solidFill>
                  <a:srgbClr val="3F3F3F"/>
                </a:solidFill>
                <a:latin typeface="Microsoft Yahei"/>
                <a:ea typeface="Microsoft Yahei"/>
                <a:cs typeface="Microsoft Yahei"/>
                <a:sym typeface="Microsoft Yahei"/>
              </a:rPr>
              <a:t> (min, </a:t>
            </a:r>
            <a:r>
              <a:rPr lang="en-MY" sz="2000" dirty="0" err="1">
                <a:solidFill>
                  <a:srgbClr val="3F3F3F"/>
                </a:solidFill>
                <a:latin typeface="Microsoft Yahei"/>
                <a:ea typeface="Microsoft Yahei"/>
                <a:cs typeface="Microsoft Yahei"/>
                <a:sym typeface="Microsoft Yahei"/>
              </a:rPr>
              <a:t>varian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sisihan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piawai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kovarian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kolerasi</a:t>
            </a:r>
            <a:r>
              <a:rPr lang="en-MY" sz="2000" dirty="0">
                <a:solidFill>
                  <a:srgbClr val="3F3F3F"/>
                </a:solidFill>
                <a:latin typeface="Microsoft Yahei"/>
                <a:ea typeface="Microsoft Yahei"/>
                <a:cs typeface="Microsoft Yahei"/>
                <a:sym typeface="Microsoft Yahei"/>
              </a:rPr>
              <a:t>) yang </a:t>
            </a:r>
            <a:r>
              <a:rPr lang="en-MY" sz="2000" dirty="0" err="1">
                <a:solidFill>
                  <a:srgbClr val="3F3F3F"/>
                </a:solidFill>
                <a:latin typeface="Microsoft Yahei"/>
                <a:ea typeface="Microsoft Yahei"/>
                <a:cs typeface="Microsoft Yahei"/>
                <a:sym typeface="Microsoft Yahei"/>
              </a:rPr>
              <a:t>menerangkan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serakan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pulangan</a:t>
            </a:r>
            <a:r>
              <a:rPr lang="en-MY" sz="2000" dirty="0">
                <a:solidFill>
                  <a:srgbClr val="3F3F3F"/>
                </a:solidFill>
                <a:latin typeface="Microsoft Yahei"/>
                <a:ea typeface="Microsoft Yahei"/>
                <a:cs typeface="Microsoft Yahei"/>
                <a:sym typeface="Microsoft Yahei"/>
              </a:rPr>
              <a:t> di </a:t>
            </a:r>
            <a:r>
              <a:rPr lang="en-MY" sz="2000" dirty="0" err="1">
                <a:solidFill>
                  <a:srgbClr val="3F3F3F"/>
                </a:solidFill>
                <a:latin typeface="Microsoft Yahei"/>
                <a:ea typeface="Microsoft Yahei"/>
                <a:cs typeface="Microsoft Yahei"/>
                <a:sym typeface="Microsoft Yahei"/>
              </a:rPr>
              <a:t>sekitar</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jangkaan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pulangan</a:t>
            </a:r>
            <a:r>
              <a:rPr lang="en-MY" sz="2000" dirty="0">
                <a:solidFill>
                  <a:srgbClr val="3F3F3F"/>
                </a:solidFill>
                <a:latin typeface="Microsoft Yahei"/>
                <a:ea typeface="Microsoft Yahei"/>
                <a:cs typeface="Microsoft Yahei"/>
                <a:sym typeface="Microsoft Yahei"/>
              </a:rPr>
              <a:t>.</a:t>
            </a:r>
            <a:endParaRPr lang="en-MY" dirty="0">
              <a:ea typeface="Microsoft Yahei"/>
            </a:endParaRPr>
          </a:p>
          <a:p>
            <a:pPr marL="342900" indent="-342900" algn="just">
              <a:lnSpc>
                <a:spcPct val="150000"/>
              </a:lnSpc>
              <a:buClr>
                <a:srgbClr val="3F3F3F"/>
              </a:buClr>
              <a:buSzPts val="2000"/>
              <a:buFont typeface="Arial" panose="020B0604020202020204" pitchFamily="34" charset="0"/>
              <a:buChar char="•"/>
            </a:pPr>
            <a:r>
              <a:rPr lang="en-MY" sz="2000" dirty="0" err="1">
                <a:solidFill>
                  <a:srgbClr val="3F3F3F"/>
                </a:solidFill>
                <a:latin typeface="Microsoft Yahei"/>
                <a:ea typeface="Microsoft Yahei"/>
                <a:cs typeface="Microsoft Yahei"/>
                <a:sym typeface="Microsoft Yahei"/>
              </a:rPr>
              <a:t>Contoh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risiko</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kewangan</a:t>
            </a:r>
            <a:r>
              <a:rPr lang="en-MY" sz="2000" dirty="0">
                <a:solidFill>
                  <a:srgbClr val="3F3F3F"/>
                </a:solidFill>
                <a:latin typeface="Microsoft Yahei"/>
                <a:ea typeface="Microsoft Yahei"/>
                <a:cs typeface="Microsoft Yahei"/>
                <a:sym typeface="Microsoft Yahei"/>
              </a:rPr>
              <a:t> : </a:t>
            </a:r>
            <a:r>
              <a:rPr lang="en-MY" sz="2000" dirty="0" err="1">
                <a:solidFill>
                  <a:srgbClr val="3F3F3F"/>
                </a:solidFill>
                <a:latin typeface="Microsoft Yahei"/>
                <a:ea typeface="Microsoft Yahei"/>
                <a:cs typeface="Microsoft Yahei"/>
                <a:sym typeface="Microsoft Yahei"/>
              </a:rPr>
              <a:t>risiko</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pasaran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risiko</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kecairan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risiko</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kredit</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risiko</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operasi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risiko</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sistematik</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risiko</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nilai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matawang</a:t>
            </a:r>
            <a:r>
              <a:rPr lang="en-MY" sz="2000" dirty="0">
                <a:solidFill>
                  <a:srgbClr val="3F3F3F"/>
                </a:solidFill>
                <a:latin typeface="Microsoft Yahei"/>
                <a:ea typeface="Microsoft Yahei"/>
                <a:cs typeface="Microsoft Yahei"/>
                <a:sym typeface="Microsoft Yahei"/>
              </a:rPr>
              <a:t>.</a:t>
            </a:r>
            <a:endParaRPr sz="2000" b="0" i="0" u="none" strike="noStrike" cap="none" dirty="0">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2645362535"/>
              </p:ext>
            </p:extLst>
          </p:nvPr>
        </p:nvGraphicFramePr>
        <p:xfrm>
          <a:off x="2129882" y="1516566"/>
          <a:ext cx="8030117" cy="46217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Google Shape;212;p26"/>
          <p:cNvPicPr preferRelativeResize="0"/>
          <p:nvPr/>
        </p:nvPicPr>
        <p:blipFill rotWithShape="1">
          <a:blip r:embed="rId7">
            <a:alphaModFix/>
          </a:blip>
          <a:srcRect/>
          <a:stretch/>
        </p:blipFill>
        <p:spPr>
          <a:xfrm>
            <a:off x="8173844" y="1516566"/>
            <a:ext cx="912614" cy="925551"/>
          </a:xfrm>
          <a:prstGeom prst="ellipse">
            <a:avLst/>
          </a:prstGeom>
          <a:noFill/>
          <a:ln>
            <a:noFill/>
          </a:ln>
        </p:spPr>
      </p:pic>
      <p:pic>
        <p:nvPicPr>
          <p:cNvPr id="4" name="Google Shape;216;p26"/>
          <p:cNvPicPr preferRelativeResize="0"/>
          <p:nvPr/>
        </p:nvPicPr>
        <p:blipFill rotWithShape="1">
          <a:blip r:embed="rId8">
            <a:alphaModFix/>
          </a:blip>
          <a:srcRect l="24524" r="22740"/>
          <a:stretch/>
        </p:blipFill>
        <p:spPr>
          <a:xfrm>
            <a:off x="8173845" y="2694149"/>
            <a:ext cx="912614" cy="907696"/>
          </a:xfrm>
          <a:prstGeom prst="ellipse">
            <a:avLst/>
          </a:prstGeom>
          <a:noFill/>
          <a:ln>
            <a:solidFill>
              <a:schemeClr val="tx1"/>
            </a:solidFill>
          </a:ln>
        </p:spPr>
      </p:pic>
      <p:sp>
        <p:nvSpPr>
          <p:cNvPr id="5" name="Google Shape;207;p26"/>
          <p:cNvSpPr txBox="1"/>
          <p:nvPr/>
        </p:nvSpPr>
        <p:spPr>
          <a:xfrm>
            <a:off x="1811107" y="523750"/>
            <a:ext cx="7960796"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3600" b="0" i="0" u="none" strike="noStrike" cap="none" dirty="0">
                <a:solidFill>
                  <a:srgbClr val="000000"/>
                </a:solidFill>
                <a:latin typeface="Microsoft Yahei"/>
                <a:ea typeface="Microsoft Yahei"/>
                <a:cs typeface="Microsoft Yahei"/>
                <a:sym typeface="Microsoft Yahei"/>
              </a:rPr>
              <a:t>c. </a:t>
            </a:r>
            <a:r>
              <a:rPr lang="en-MY" sz="3600" b="0" i="0" u="none" strike="noStrike" cap="none" dirty="0" err="1">
                <a:solidFill>
                  <a:srgbClr val="000000"/>
                </a:solidFill>
                <a:latin typeface="Microsoft Yahei"/>
                <a:ea typeface="Microsoft Yahei"/>
                <a:cs typeface="Microsoft Yahei"/>
                <a:sym typeface="Microsoft Yahei"/>
              </a:rPr>
              <a:t>Jenis-jenis</a:t>
            </a:r>
            <a:r>
              <a:rPr lang="en-MY" sz="3600" b="0" i="0" u="none" strike="noStrike" cap="none" dirty="0">
                <a:solidFill>
                  <a:srgbClr val="000000"/>
                </a:solidFill>
                <a:latin typeface="Microsoft Yahei"/>
                <a:ea typeface="Microsoft Yahei"/>
                <a:cs typeface="Microsoft Yahei"/>
                <a:sym typeface="Microsoft Yahei"/>
              </a:rPr>
              <a:t> </a:t>
            </a:r>
            <a:r>
              <a:rPr lang="en-MY" sz="3600" b="0" i="0" u="none" strike="noStrike" cap="none" dirty="0" err="1">
                <a:solidFill>
                  <a:srgbClr val="000000"/>
                </a:solidFill>
                <a:latin typeface="Microsoft Yahei"/>
                <a:ea typeface="Microsoft Yahei"/>
                <a:cs typeface="Microsoft Yahei"/>
                <a:sym typeface="Microsoft Yahei"/>
              </a:rPr>
              <a:t>Pasaran</a:t>
            </a:r>
            <a:r>
              <a:rPr lang="en-MY" sz="3600" b="0" i="0" u="none" strike="noStrike" cap="none" dirty="0">
                <a:solidFill>
                  <a:srgbClr val="000000"/>
                </a:solidFill>
                <a:latin typeface="Microsoft Yahei"/>
                <a:ea typeface="Microsoft Yahei"/>
                <a:cs typeface="Microsoft Yahei"/>
                <a:sym typeface="Microsoft Yahei"/>
              </a:rPr>
              <a:t> </a:t>
            </a:r>
            <a:r>
              <a:rPr lang="en-MY" sz="3600" b="0" i="0" u="none" strike="noStrike" cap="none" dirty="0" err="1">
                <a:solidFill>
                  <a:srgbClr val="000000"/>
                </a:solidFill>
                <a:latin typeface="Microsoft Yahei"/>
                <a:ea typeface="Microsoft Yahei"/>
                <a:cs typeface="Microsoft Yahei"/>
                <a:sym typeface="Microsoft Yahei"/>
              </a:rPr>
              <a:t>Kewangan</a:t>
            </a:r>
            <a:endParaRPr sz="3600" b="0" i="0" u="none" strike="noStrike" cap="none" dirty="0">
              <a:solidFill>
                <a:srgbClr val="000000"/>
              </a:solidFill>
              <a:latin typeface="Microsoft Yahei"/>
              <a:ea typeface="Microsoft Yahei"/>
              <a:cs typeface="Microsoft Yahei"/>
              <a:sym typeface="Microsoft Yahei"/>
            </a:endParaRPr>
          </a:p>
        </p:txBody>
      </p:sp>
      <p:pic>
        <p:nvPicPr>
          <p:cNvPr id="6" name="Google Shape;220;p26"/>
          <p:cNvPicPr preferRelativeResize="0"/>
          <p:nvPr/>
        </p:nvPicPr>
        <p:blipFill rotWithShape="1">
          <a:blip r:embed="rId9">
            <a:alphaModFix/>
          </a:blip>
          <a:srcRect/>
          <a:stretch/>
        </p:blipFill>
        <p:spPr>
          <a:xfrm>
            <a:off x="8173844" y="3853877"/>
            <a:ext cx="912614" cy="925550"/>
          </a:xfrm>
          <a:prstGeom prst="ellipse">
            <a:avLst/>
          </a:prstGeom>
          <a:noFill/>
          <a:ln>
            <a:solidFill>
              <a:schemeClr val="tx1"/>
            </a:solidFill>
          </a:ln>
        </p:spPr>
      </p:pic>
      <p:pic>
        <p:nvPicPr>
          <p:cNvPr id="9" name="Google Shape;224;p26"/>
          <p:cNvPicPr preferRelativeResize="0"/>
          <p:nvPr/>
        </p:nvPicPr>
        <p:blipFill rotWithShape="1">
          <a:blip r:embed="rId10">
            <a:alphaModFix/>
          </a:blip>
          <a:srcRect/>
          <a:stretch/>
        </p:blipFill>
        <p:spPr>
          <a:xfrm>
            <a:off x="8163254" y="5031459"/>
            <a:ext cx="923204" cy="974265"/>
          </a:xfrm>
          <a:prstGeom prst="ellipse">
            <a:avLst/>
          </a:prstGeom>
          <a:noFill/>
          <a:ln>
            <a:solidFill>
              <a:schemeClr val="bg2">
                <a:lumMod val="40000"/>
                <a:lumOff val="60000"/>
              </a:schemeClr>
            </a:solidFill>
          </a:ln>
        </p:spPr>
      </p:pic>
    </p:spTree>
    <p:extLst>
      <p:ext uri="{BB962C8B-B14F-4D97-AF65-F5344CB8AC3E}">
        <p14:creationId xmlns:p14="http://schemas.microsoft.com/office/powerpoint/2010/main" val="3159324184"/>
      </p:ext>
    </p:extLst>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7"/>
          <p:cNvSpPr txBox="1"/>
          <p:nvPr/>
        </p:nvSpPr>
        <p:spPr>
          <a:xfrm>
            <a:off x="2954720" y="767952"/>
            <a:ext cx="6030410"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c. Jenis-jenis Pasaran Kewangan</a:t>
            </a:r>
            <a:endParaRPr sz="2800" b="0" i="0" u="none" strike="noStrike" cap="none">
              <a:solidFill>
                <a:srgbClr val="000000"/>
              </a:solidFill>
              <a:latin typeface="Microsoft Yahei"/>
              <a:ea typeface="Microsoft Yahei"/>
              <a:cs typeface="Microsoft Yahei"/>
              <a:sym typeface="Microsoft Yahei"/>
            </a:endParaRPr>
          </a:p>
        </p:txBody>
      </p:sp>
      <p:sp>
        <p:nvSpPr>
          <p:cNvPr id="230" name="Google Shape;230;p27"/>
          <p:cNvSpPr txBox="1"/>
          <p:nvPr/>
        </p:nvSpPr>
        <p:spPr>
          <a:xfrm>
            <a:off x="895506" y="1512593"/>
            <a:ext cx="10042570" cy="4708981"/>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AutoNum type="romanLcPeriod"/>
            </a:pPr>
            <a:r>
              <a:rPr lang="en-MY" sz="2000" b="0" i="0" u="none" strike="noStrike" cap="none">
                <a:solidFill>
                  <a:srgbClr val="3F3F3F"/>
                </a:solidFill>
                <a:latin typeface="Microsoft Yahei"/>
                <a:ea typeface="Microsoft Yahei"/>
                <a:cs typeface="Microsoft Yahei"/>
                <a:sym typeface="Microsoft Yahei"/>
              </a:rPr>
              <a:t>Pasaran Modal</a:t>
            </a:r>
            <a:endParaRPr/>
          </a:p>
          <a:p>
            <a:pPr marL="717550"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Pasaran untuk memperoleh dana jangka panjang yang terdiri daripada pasaran saham dan pasaran bon/sukuk.</a:t>
            </a:r>
            <a:endParaRPr/>
          </a:p>
          <a:p>
            <a:pPr marL="717550" marR="0" lvl="0" indent="-358775" algn="just" rtl="0">
              <a:lnSpc>
                <a:spcPct val="150000"/>
              </a:lnSpc>
              <a:spcBef>
                <a:spcPts val="0"/>
              </a:spcBef>
              <a:spcAft>
                <a:spcPts val="0"/>
              </a:spcAft>
              <a:buClr>
                <a:srgbClr val="3F3F3F"/>
              </a:buClr>
              <a:buSzPts val="2000"/>
              <a:buFont typeface="Arial"/>
              <a:buChar char="•"/>
            </a:pPr>
            <a:r>
              <a:rPr lang="en-MY" sz="2000" b="0" i="0" u="none" strike="noStrike" cap="none">
                <a:solidFill>
                  <a:srgbClr val="3F3F3F"/>
                </a:solidFill>
                <a:latin typeface="Microsoft Yahei"/>
                <a:ea typeface="Microsoft Yahei"/>
                <a:cs typeface="Microsoft Yahei"/>
                <a:sym typeface="Microsoft Yahei"/>
              </a:rPr>
              <a:t>Pasaran ini juga memindahkan sekuriti jangka panjang yang diterbitkan kerajaan dan badan perdagangan swasta kepada pelabur.</a:t>
            </a:r>
            <a:endParaRPr/>
          </a:p>
          <a:p>
            <a:pPr marL="717550"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Instrumen kewangan dalam pasaran ini berisiko tinggi tetapi mampu memberi pulangan yang tinggi kepada pemegang instrumen.</a:t>
            </a:r>
            <a:endParaRPr/>
          </a:p>
          <a:p>
            <a:pPr marL="717550" marR="0" lvl="0" indent="-358775" algn="just" rtl="0">
              <a:lnSpc>
                <a:spcPct val="150000"/>
              </a:lnSpc>
              <a:spcBef>
                <a:spcPts val="0"/>
              </a:spcBef>
              <a:spcAft>
                <a:spcPts val="0"/>
              </a:spcAft>
              <a:buClr>
                <a:srgbClr val="3F3F3F"/>
              </a:buClr>
              <a:buSzPts val="2000"/>
              <a:buFont typeface="Arial"/>
              <a:buChar char="•"/>
            </a:pPr>
            <a:r>
              <a:rPr lang="en-MY" sz="2000" b="0" i="0" u="none" strike="noStrike" cap="none">
                <a:solidFill>
                  <a:srgbClr val="3F3F3F"/>
                </a:solidFill>
                <a:latin typeface="Microsoft Yahei"/>
                <a:ea typeface="Microsoft Yahei"/>
                <a:cs typeface="Microsoft Yahei"/>
                <a:sym typeface="Microsoft Yahei"/>
              </a:rPr>
              <a:t>Kebanyakan firma menggunakan pasara</a:t>
            </a:r>
            <a:r>
              <a:rPr lang="en-MY" sz="2000">
                <a:solidFill>
                  <a:srgbClr val="3F3F3F"/>
                </a:solidFill>
                <a:latin typeface="Microsoft Yahei"/>
                <a:ea typeface="Microsoft Yahei"/>
                <a:cs typeface="Microsoft Yahei"/>
                <a:sym typeface="Microsoft Yahei"/>
              </a:rPr>
              <a:t>n modal untuk mendapatkan dana bagi pelaburan jangka panjang seperti pelaburan dalam loji, teknologi dan mesin.</a:t>
            </a: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8"/>
          <p:cNvSpPr txBox="1"/>
          <p:nvPr/>
        </p:nvSpPr>
        <p:spPr>
          <a:xfrm>
            <a:off x="2943569" y="589532"/>
            <a:ext cx="6030410"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dirty="0">
                <a:solidFill>
                  <a:srgbClr val="000000"/>
                </a:solidFill>
                <a:latin typeface="Microsoft Yahei"/>
                <a:ea typeface="Microsoft Yahei"/>
                <a:cs typeface="Microsoft Yahei"/>
                <a:sym typeface="Microsoft Yahei"/>
              </a:rPr>
              <a:t>c. </a:t>
            </a:r>
            <a:r>
              <a:rPr lang="en-MY" sz="2800" b="0" i="0" u="none" strike="noStrike" cap="none" dirty="0" err="1">
                <a:solidFill>
                  <a:srgbClr val="000000"/>
                </a:solidFill>
                <a:latin typeface="Microsoft Yahei"/>
                <a:ea typeface="Microsoft Yahei"/>
                <a:cs typeface="Microsoft Yahei"/>
                <a:sym typeface="Microsoft Yahei"/>
              </a:rPr>
              <a:t>Jenis-jenis</a:t>
            </a:r>
            <a:r>
              <a:rPr lang="en-MY" sz="2800" b="0" i="0" u="none" strike="noStrike" cap="none" dirty="0">
                <a:solidFill>
                  <a:srgbClr val="000000"/>
                </a:solidFill>
                <a:latin typeface="Microsoft Yahei"/>
                <a:ea typeface="Microsoft Yahei"/>
                <a:cs typeface="Microsoft Yahei"/>
                <a:sym typeface="Microsoft Yahei"/>
              </a:rPr>
              <a:t> </a:t>
            </a:r>
            <a:r>
              <a:rPr lang="en-MY" sz="2800" b="0" i="0" u="none" strike="noStrike" cap="none" dirty="0" err="1">
                <a:solidFill>
                  <a:srgbClr val="000000"/>
                </a:solidFill>
                <a:latin typeface="Microsoft Yahei"/>
                <a:ea typeface="Microsoft Yahei"/>
                <a:cs typeface="Microsoft Yahei"/>
                <a:sym typeface="Microsoft Yahei"/>
              </a:rPr>
              <a:t>Pasaran</a:t>
            </a:r>
            <a:r>
              <a:rPr lang="en-MY" sz="2800" b="0" i="0" u="none" strike="noStrike" cap="none" dirty="0">
                <a:solidFill>
                  <a:srgbClr val="000000"/>
                </a:solidFill>
                <a:latin typeface="Microsoft Yahei"/>
                <a:ea typeface="Microsoft Yahei"/>
                <a:cs typeface="Microsoft Yahei"/>
                <a:sym typeface="Microsoft Yahei"/>
              </a:rPr>
              <a:t> </a:t>
            </a:r>
            <a:r>
              <a:rPr lang="en-MY" sz="2800" b="0" i="0" u="none" strike="noStrike" cap="none" dirty="0" err="1">
                <a:solidFill>
                  <a:srgbClr val="000000"/>
                </a:solidFill>
                <a:latin typeface="Microsoft Yahei"/>
                <a:ea typeface="Microsoft Yahei"/>
                <a:cs typeface="Microsoft Yahei"/>
                <a:sym typeface="Microsoft Yahei"/>
              </a:rPr>
              <a:t>Kewangan</a:t>
            </a:r>
            <a:endParaRPr sz="2800" b="0" i="0" u="none" strike="noStrike" cap="none" dirty="0">
              <a:solidFill>
                <a:srgbClr val="000000"/>
              </a:solidFill>
              <a:latin typeface="Microsoft Yahei"/>
              <a:ea typeface="Microsoft Yahei"/>
              <a:cs typeface="Microsoft Yahei"/>
              <a:sym typeface="Microsoft Yahei"/>
            </a:endParaRPr>
          </a:p>
        </p:txBody>
      </p:sp>
      <p:sp>
        <p:nvSpPr>
          <p:cNvPr id="236" name="Google Shape;236;p28"/>
          <p:cNvSpPr txBox="1"/>
          <p:nvPr/>
        </p:nvSpPr>
        <p:spPr>
          <a:xfrm>
            <a:off x="839750" y="1225729"/>
            <a:ext cx="10042570" cy="5632271"/>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AutoNum type="romanLcPeriod"/>
            </a:pPr>
            <a:r>
              <a:rPr lang="en-MY" sz="2000" b="0" u="none" strike="noStrike" cap="none" dirty="0" err="1">
                <a:solidFill>
                  <a:srgbClr val="3F3F3F"/>
                </a:solidFill>
                <a:latin typeface="Microsoft Yahei"/>
                <a:ea typeface="Microsoft Yahei"/>
                <a:cs typeface="Microsoft Yahei"/>
                <a:sym typeface="Microsoft Yahei"/>
              </a:rPr>
              <a:t>Pasaran</a:t>
            </a:r>
            <a:r>
              <a:rPr lang="en-MY" sz="2000" b="0" u="none" strike="noStrike" cap="none" dirty="0">
                <a:solidFill>
                  <a:srgbClr val="3F3F3F"/>
                </a:solidFill>
                <a:latin typeface="Microsoft Yahei"/>
                <a:ea typeface="Microsoft Yahei"/>
                <a:cs typeface="Microsoft Yahei"/>
                <a:sym typeface="Microsoft Yahei"/>
              </a:rPr>
              <a:t> Modal </a:t>
            </a:r>
            <a:r>
              <a:rPr lang="en-MY" sz="2000" b="0" i="1" u="none" strike="noStrike" cap="none" dirty="0">
                <a:solidFill>
                  <a:srgbClr val="3F3F3F"/>
                </a:solidFill>
                <a:latin typeface="Microsoft Yahei"/>
                <a:ea typeface="Microsoft Yahei"/>
                <a:cs typeface="Microsoft Yahei"/>
                <a:sym typeface="Microsoft Yahei"/>
              </a:rPr>
              <a:t>(…</a:t>
            </a:r>
            <a:r>
              <a:rPr lang="en-MY" sz="2000" b="0" i="1" u="none" strike="noStrike" cap="none" dirty="0" err="1">
                <a:solidFill>
                  <a:srgbClr val="3F3F3F"/>
                </a:solidFill>
                <a:latin typeface="Microsoft Yahei"/>
                <a:ea typeface="Microsoft Yahei"/>
                <a:cs typeface="Microsoft Yahei"/>
                <a:sym typeface="Microsoft Yahei"/>
              </a:rPr>
              <a:t>sambungan</a:t>
            </a:r>
            <a:r>
              <a:rPr lang="en-MY" sz="2000" b="0" i="1" u="none" strike="noStrike" cap="none" dirty="0">
                <a:solidFill>
                  <a:srgbClr val="3F3F3F"/>
                </a:solidFill>
                <a:latin typeface="Microsoft Yahei"/>
                <a:ea typeface="Microsoft Yahei"/>
                <a:cs typeface="Microsoft Yahei"/>
                <a:sym typeface="Microsoft Yahei"/>
              </a:rPr>
              <a:t>)</a:t>
            </a:r>
            <a:endParaRPr dirty="0"/>
          </a:p>
          <a:p>
            <a:pPr marL="717550"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Contoh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peserta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pasaran</a:t>
            </a:r>
            <a:r>
              <a:rPr lang="en-MY" sz="2000" dirty="0">
                <a:solidFill>
                  <a:srgbClr val="3F3F3F"/>
                </a:solidFill>
                <a:latin typeface="Microsoft Yahei"/>
                <a:ea typeface="Microsoft Yahei"/>
                <a:cs typeface="Microsoft Yahei"/>
                <a:sym typeface="Microsoft Yahei"/>
              </a:rPr>
              <a:t>; MSEB (Malaysia Stock Exchange </a:t>
            </a:r>
            <a:r>
              <a:rPr lang="en-MY" sz="2000" dirty="0" err="1">
                <a:solidFill>
                  <a:srgbClr val="3F3F3F"/>
                </a:solidFill>
                <a:latin typeface="Microsoft Yahei"/>
                <a:ea typeface="Microsoft Yahei"/>
                <a:cs typeface="Microsoft Yahei"/>
                <a:sym typeface="Microsoft Yahei"/>
              </a:rPr>
              <a:t>Berhad</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MESDAQ (Malaysia Exchange of Securities Dealing &amp; Automated Quotation)</a:t>
            </a:r>
            <a:endParaRPr dirty="0"/>
          </a:p>
          <a:p>
            <a:pPr marL="717550" marR="0" lvl="0" indent="-358775" algn="just" rtl="0">
              <a:lnSpc>
                <a:spcPct val="150000"/>
              </a:lnSpc>
              <a:spcBef>
                <a:spcPts val="0"/>
              </a:spcBef>
              <a:spcAft>
                <a:spcPts val="0"/>
              </a:spcAft>
              <a:buClr>
                <a:srgbClr val="3F3F3F"/>
              </a:buClr>
              <a:buSzPts val="2000"/>
              <a:buFont typeface="Arial"/>
              <a:buChar char="•"/>
            </a:pPr>
            <a:r>
              <a:rPr lang="en-MY" sz="2000" b="0" i="0" u="none" strike="noStrike" cap="none" dirty="0" err="1">
                <a:solidFill>
                  <a:srgbClr val="3F3F3F"/>
                </a:solidFill>
                <a:latin typeface="Microsoft Yahei"/>
                <a:ea typeface="Microsoft Yahei"/>
                <a:cs typeface="Microsoft Yahei"/>
                <a:sym typeface="Microsoft Yahei"/>
              </a:rPr>
              <a:t>Contoh</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instrumen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kewangan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melibatkan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urusniaga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kewangan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ekuiti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saham</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hutang</a:t>
            </a:r>
            <a:r>
              <a:rPr lang="en-MY" sz="2000" dirty="0">
                <a:solidFill>
                  <a:srgbClr val="3F3F3F"/>
                </a:solidFill>
                <a:latin typeface="Microsoft Yahei"/>
                <a:ea typeface="Microsoft Yahei"/>
                <a:cs typeface="Microsoft Yahei"/>
                <a:sym typeface="Microsoft Yahei"/>
              </a:rPr>
              <a:t> (bon/</a:t>
            </a:r>
            <a:r>
              <a:rPr lang="en-MY" sz="2000" dirty="0" err="1">
                <a:solidFill>
                  <a:srgbClr val="3F3F3F"/>
                </a:solidFill>
                <a:latin typeface="Microsoft Yahei"/>
                <a:ea typeface="Microsoft Yahei"/>
                <a:cs typeface="Microsoft Yahei"/>
                <a:sym typeface="Microsoft Yahei"/>
              </a:rPr>
              <a:t>sukuk</a:t>
            </a:r>
            <a:r>
              <a:rPr lang="en-MY" sz="2000" dirty="0">
                <a:solidFill>
                  <a:srgbClr val="3F3F3F"/>
                </a:solidFill>
                <a:latin typeface="Microsoft Yahei"/>
                <a:ea typeface="Microsoft Yahei"/>
                <a:cs typeface="Microsoft Yahei"/>
                <a:sym typeface="Microsoft Yahei"/>
              </a:rPr>
              <a:t>)</a:t>
            </a:r>
            <a:endParaRPr dirty="0"/>
          </a:p>
          <a:p>
            <a:pPr marL="717550" marR="0" lvl="0" indent="-358775" algn="just" rtl="0">
              <a:lnSpc>
                <a:spcPct val="150000"/>
              </a:lnSpc>
              <a:spcBef>
                <a:spcPts val="0"/>
              </a:spcBef>
              <a:spcAft>
                <a:spcPts val="0"/>
              </a:spcAft>
              <a:buClr>
                <a:srgbClr val="3F3F3F"/>
              </a:buClr>
              <a:buSzPts val="2000"/>
              <a:buFont typeface="Arial"/>
              <a:buChar char="•"/>
            </a:pPr>
            <a:r>
              <a:rPr lang="en-MY" sz="2000" b="0" i="0" u="none" strike="noStrike" cap="none" dirty="0" err="1">
                <a:solidFill>
                  <a:srgbClr val="3F3F3F"/>
                </a:solidFill>
                <a:latin typeface="Microsoft Yahei"/>
                <a:ea typeface="Microsoft Yahei"/>
                <a:cs typeface="Microsoft Yahei"/>
                <a:sym typeface="Microsoft Yahei"/>
              </a:rPr>
              <a:t>Fungsi</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Pasaran</a:t>
            </a:r>
            <a:r>
              <a:rPr lang="en-MY" sz="2000" b="0" i="0" u="none" strike="noStrike" cap="none" dirty="0">
                <a:solidFill>
                  <a:srgbClr val="3F3F3F"/>
                </a:solidFill>
                <a:latin typeface="Microsoft Yahei"/>
                <a:ea typeface="Microsoft Yahei"/>
                <a:cs typeface="Microsoft Yahei"/>
                <a:sym typeface="Microsoft Yahei"/>
              </a:rPr>
              <a:t> Modal</a:t>
            </a:r>
            <a:endParaRPr dirty="0"/>
          </a:p>
          <a:p>
            <a:pPr marL="1076325"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dirty="0" err="1">
                <a:solidFill>
                  <a:srgbClr val="3F3F3F"/>
                </a:solidFill>
                <a:latin typeface="Microsoft Yahei"/>
                <a:ea typeface="Microsoft Yahei"/>
                <a:cs typeface="Microsoft Yahei"/>
                <a:sym typeface="Microsoft Yahei"/>
              </a:rPr>
              <a:t>Pergerakan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tabungan</a:t>
            </a:r>
            <a:r>
              <a:rPr lang="en-MY" sz="2000" b="0" i="0" u="none" strike="noStrike" cap="none" dirty="0">
                <a:solidFill>
                  <a:srgbClr val="3F3F3F"/>
                </a:solidFill>
                <a:latin typeface="Microsoft Yahei"/>
                <a:ea typeface="Microsoft Yahei"/>
                <a:cs typeface="Microsoft Yahei"/>
                <a:sym typeface="Microsoft Yahei"/>
              </a:rPr>
              <a:t> – </a:t>
            </a:r>
            <a:r>
              <a:rPr lang="en-MY" sz="2000" b="0" i="0" u="none" strike="noStrike" cap="none" dirty="0" err="1">
                <a:solidFill>
                  <a:srgbClr val="3F3F3F"/>
                </a:solidFill>
                <a:latin typeface="Microsoft Yahei"/>
                <a:ea typeface="Microsoft Yahei"/>
                <a:cs typeface="Microsoft Yahei"/>
                <a:sym typeface="Microsoft Yahei"/>
              </a:rPr>
              <a:t>mengerakkan</a:t>
            </a:r>
            <a:r>
              <a:rPr lang="en-MY" sz="2000" b="0" i="0" u="none" strike="noStrike" cap="none" dirty="0">
                <a:solidFill>
                  <a:srgbClr val="3F3F3F"/>
                </a:solidFill>
                <a:latin typeface="Microsoft Yahei"/>
                <a:ea typeface="Microsoft Yahei"/>
                <a:cs typeface="Microsoft Yahei"/>
                <a:sym typeface="Microsoft Yahei"/>
              </a:rPr>
              <a:t> dana </a:t>
            </a:r>
            <a:r>
              <a:rPr lang="en-MY" sz="2000" b="0" i="0" u="none" strike="noStrike" cap="none" dirty="0" err="1">
                <a:solidFill>
                  <a:srgbClr val="3F3F3F"/>
                </a:solidFill>
                <a:latin typeface="Microsoft Yahei"/>
                <a:ea typeface="Microsoft Yahei"/>
                <a:cs typeface="Microsoft Yahei"/>
                <a:sym typeface="Microsoft Yahei"/>
              </a:rPr>
              <a:t>tidak</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aktif</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dalam</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ekonomi</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dengan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pelaburan</a:t>
            </a:r>
            <a:r>
              <a:rPr lang="en-MY" sz="2000" b="0" i="0" u="none" strike="noStrike" cap="none" dirty="0">
                <a:solidFill>
                  <a:srgbClr val="3F3F3F"/>
                </a:solidFill>
                <a:latin typeface="Microsoft Yahei"/>
                <a:ea typeface="Microsoft Yahei"/>
                <a:cs typeface="Microsoft Yahei"/>
                <a:sym typeface="Microsoft Yahei"/>
              </a:rPr>
              <a:t> yang </a:t>
            </a:r>
            <a:r>
              <a:rPr lang="en-MY" sz="2000" b="0" i="0" u="none" strike="noStrike" cap="none" dirty="0" err="1">
                <a:solidFill>
                  <a:srgbClr val="3F3F3F"/>
                </a:solidFill>
                <a:latin typeface="Microsoft Yahei"/>
                <a:ea typeface="Microsoft Yahei"/>
                <a:cs typeface="Microsoft Yahei"/>
                <a:sym typeface="Microsoft Yahei"/>
              </a:rPr>
              <a:t>betul</a:t>
            </a:r>
            <a:endParaRPr sz="2000" b="0" i="0" u="none" strike="noStrike" cap="none" dirty="0">
              <a:solidFill>
                <a:srgbClr val="3F3F3F"/>
              </a:solidFill>
              <a:latin typeface="Microsoft Yahei"/>
              <a:ea typeface="Microsoft Yahei"/>
              <a:cs typeface="Microsoft Yahei"/>
              <a:sym typeface="Microsoft Yahei"/>
            </a:endParaRPr>
          </a:p>
          <a:p>
            <a:pPr marL="1076325"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dirty="0" err="1">
                <a:solidFill>
                  <a:srgbClr val="3F3F3F"/>
                </a:solidFill>
                <a:latin typeface="Microsoft Yahei"/>
                <a:ea typeface="Microsoft Yahei"/>
                <a:cs typeface="Microsoft Yahei"/>
                <a:sym typeface="Microsoft Yahei"/>
              </a:rPr>
              <a:t>Peluang</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pelaburan</a:t>
            </a:r>
            <a:r>
              <a:rPr lang="en-MY" sz="2000" b="0" i="0" u="none" strike="noStrike" cap="none" dirty="0">
                <a:solidFill>
                  <a:srgbClr val="3F3F3F"/>
                </a:solidFill>
                <a:latin typeface="Microsoft Yahei"/>
                <a:ea typeface="Microsoft Yahei"/>
                <a:cs typeface="Microsoft Yahei"/>
                <a:sym typeface="Microsoft Yahei"/>
              </a:rPr>
              <a:t> – </a:t>
            </a:r>
            <a:r>
              <a:rPr lang="en-MY" sz="2000" b="0" i="0" u="none" strike="noStrike" cap="none" dirty="0" err="1">
                <a:solidFill>
                  <a:srgbClr val="3F3F3F"/>
                </a:solidFill>
                <a:latin typeface="Microsoft Yahei"/>
                <a:ea typeface="Microsoft Yahei"/>
                <a:cs typeface="Microsoft Yahei"/>
                <a:sym typeface="Microsoft Yahei"/>
              </a:rPr>
              <a:t>peluang</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untuk</a:t>
            </a:r>
            <a:r>
              <a:rPr lang="en-MY" sz="2000" b="0" i="0" u="none" strike="noStrike" cap="none" dirty="0">
                <a:solidFill>
                  <a:srgbClr val="3F3F3F"/>
                </a:solidFill>
                <a:latin typeface="Microsoft Yahei"/>
                <a:ea typeface="Microsoft Yahei"/>
                <a:cs typeface="Microsoft Yahei"/>
                <a:sym typeface="Microsoft Yahei"/>
              </a:rPr>
              <a:t> orang </a:t>
            </a:r>
            <a:r>
              <a:rPr lang="en-MY" sz="2000" b="0" i="0" u="none" strike="noStrike" cap="none" dirty="0" err="1">
                <a:solidFill>
                  <a:srgbClr val="3F3F3F"/>
                </a:solidFill>
                <a:latin typeface="Microsoft Yahei"/>
                <a:ea typeface="Microsoft Yahei"/>
                <a:cs typeface="Microsoft Yahei"/>
                <a:sym typeface="Microsoft Yahei"/>
              </a:rPr>
              <a:t>awam</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atau</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institusi</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melabur</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dalam</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instrumen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jangka</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panjang</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dengan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pulangan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dalam</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bentuk</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kadar</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faedah</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dividen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dan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keuntungan</a:t>
            </a:r>
            <a:r>
              <a:rPr lang="en-MY" sz="2000" b="0" i="0" u="none" strike="noStrike" cap="none" dirty="0">
                <a:solidFill>
                  <a:srgbClr val="3F3F3F"/>
                </a:solidFill>
                <a:latin typeface="Microsoft Yahei"/>
                <a:ea typeface="Microsoft Yahei"/>
                <a:cs typeface="Microsoft Yahei"/>
                <a:sym typeface="Microsoft Yahei"/>
              </a:rPr>
              <a:t> modal.</a:t>
            </a:r>
            <a:endParaRPr sz="2000" b="0" i="0" u="none" strike="noStrike" cap="none" dirty="0">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9"/>
          <p:cNvSpPr txBox="1"/>
          <p:nvPr/>
        </p:nvSpPr>
        <p:spPr>
          <a:xfrm>
            <a:off x="2954720" y="767952"/>
            <a:ext cx="6030410"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c. Jenis-jenis Pasaran Kewangan</a:t>
            </a:r>
            <a:endParaRPr sz="2800" b="0" i="0" u="none" strike="noStrike" cap="none">
              <a:solidFill>
                <a:srgbClr val="000000"/>
              </a:solidFill>
              <a:latin typeface="Microsoft Yahei"/>
              <a:ea typeface="Microsoft Yahei"/>
              <a:cs typeface="Microsoft Yahei"/>
              <a:sym typeface="Microsoft Yahei"/>
            </a:endParaRPr>
          </a:p>
        </p:txBody>
      </p:sp>
      <p:sp>
        <p:nvSpPr>
          <p:cNvPr id="242" name="Google Shape;242;p29"/>
          <p:cNvSpPr txBox="1"/>
          <p:nvPr/>
        </p:nvSpPr>
        <p:spPr>
          <a:xfrm>
            <a:off x="895506" y="1512593"/>
            <a:ext cx="10042570" cy="4708941"/>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AutoNum type="romanLcPeriod" startAt="2"/>
            </a:pPr>
            <a:r>
              <a:rPr lang="en-MY" sz="2000" b="0" i="0" u="none" strike="noStrike" cap="none" dirty="0" err="1">
                <a:solidFill>
                  <a:srgbClr val="3F3F3F"/>
                </a:solidFill>
                <a:latin typeface="Microsoft Yahei"/>
                <a:ea typeface="Microsoft Yahei"/>
                <a:cs typeface="Microsoft Yahei"/>
                <a:sym typeface="Microsoft Yahei"/>
              </a:rPr>
              <a:t>Pasaran</a:t>
            </a:r>
            <a:r>
              <a:rPr lang="en-MY" sz="2000" dirty="0">
                <a:solidFill>
                  <a:srgbClr val="3F3F3F"/>
                </a:solidFill>
                <a:latin typeface="Microsoft Yahei"/>
                <a:ea typeface="Microsoft Yahei"/>
                <a:cs typeface="Microsoft Yahei"/>
                <a:sym typeface="Microsoft Yahei"/>
              </a:rPr>
              <a:t> Wang</a:t>
            </a:r>
            <a:endParaRPr sz="2000" b="0" i="0" u="none" strike="noStrike" cap="none" dirty="0">
              <a:solidFill>
                <a:srgbClr val="3F3F3F"/>
              </a:solidFill>
              <a:latin typeface="Microsoft Yahei"/>
              <a:ea typeface="Microsoft Yahei"/>
              <a:cs typeface="Microsoft Yahei"/>
              <a:sym typeface="Microsoft Yahei"/>
            </a:endParaRPr>
          </a:p>
          <a:p>
            <a:pPr marL="717550" marR="0" lvl="0" indent="-358775" algn="just" rtl="0">
              <a:lnSpc>
                <a:spcPct val="150000"/>
              </a:lnSpc>
              <a:spcBef>
                <a:spcPts val="0"/>
              </a:spcBef>
              <a:spcAft>
                <a:spcPts val="0"/>
              </a:spcAft>
              <a:buClr>
                <a:srgbClr val="3F3F3F"/>
              </a:buClr>
              <a:buSzPts val="2000"/>
              <a:buFont typeface="Arial"/>
              <a:buChar char="•"/>
            </a:pPr>
            <a:r>
              <a:rPr lang="en-MY" sz="2000" b="0" i="0" u="none" strike="noStrike" cap="none" dirty="0" err="1">
                <a:solidFill>
                  <a:srgbClr val="3F3F3F"/>
                </a:solidFill>
                <a:latin typeface="Microsoft Yahei"/>
                <a:ea typeface="Microsoft Yahei"/>
                <a:cs typeface="Microsoft Yahei"/>
                <a:sym typeface="Microsoft Yahei"/>
              </a:rPr>
              <a:t>Pasaran</a:t>
            </a:r>
            <a:r>
              <a:rPr lang="en-MY" sz="2000" b="0" i="0" u="none" strike="noStrike" cap="none" dirty="0">
                <a:solidFill>
                  <a:srgbClr val="3F3F3F"/>
                </a:solidFill>
                <a:latin typeface="Microsoft Yahei"/>
                <a:ea typeface="Microsoft Yahei"/>
                <a:cs typeface="Microsoft Yahei"/>
                <a:sym typeface="Microsoft Yahei"/>
              </a:rPr>
              <a:t> di mana </a:t>
            </a:r>
            <a:r>
              <a:rPr lang="en-MY" sz="2000" b="0" i="0" u="none" strike="noStrike" cap="none" dirty="0" err="1">
                <a:solidFill>
                  <a:srgbClr val="3F3F3F"/>
                </a:solidFill>
                <a:latin typeface="Microsoft Yahei"/>
                <a:ea typeface="Microsoft Yahei"/>
                <a:cs typeface="Microsoft Yahei"/>
                <a:sym typeface="Microsoft Yahei"/>
              </a:rPr>
              <a:t>instrumen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kewangan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jangka</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pendek</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kurang</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setahun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diurusniaga</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bagi</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membekalkan</a:t>
            </a:r>
            <a:r>
              <a:rPr lang="en-MY" sz="2000" b="0" i="0" u="none" strike="noStrike" cap="none" dirty="0">
                <a:solidFill>
                  <a:srgbClr val="3F3F3F"/>
                </a:solidFill>
                <a:latin typeface="Microsoft Yahei"/>
                <a:ea typeface="Microsoft Yahei"/>
                <a:cs typeface="Microsoft Yahei"/>
                <a:sym typeface="Microsoft Yahei"/>
              </a:rPr>
              <a:t> dana </a:t>
            </a:r>
            <a:r>
              <a:rPr lang="en-MY" sz="2000" b="0" i="0" u="none" strike="noStrike" cap="none" dirty="0" err="1">
                <a:solidFill>
                  <a:srgbClr val="3F3F3F"/>
                </a:solidFill>
                <a:latin typeface="Microsoft Yahei"/>
                <a:ea typeface="Microsoft Yahei"/>
                <a:cs typeface="Microsoft Yahei"/>
                <a:sym typeface="Microsoft Yahei"/>
              </a:rPr>
              <a:t>kepada</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peserta</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pasaran</a:t>
            </a:r>
            <a:r>
              <a:rPr lang="en-MY" sz="2000" b="0" i="0" u="none" strike="noStrike" cap="none" dirty="0">
                <a:solidFill>
                  <a:srgbClr val="3F3F3F"/>
                </a:solidFill>
                <a:latin typeface="Microsoft Yahei"/>
                <a:ea typeface="Microsoft Yahei"/>
                <a:cs typeface="Microsoft Yahei"/>
                <a:sym typeface="Microsoft Yahei"/>
              </a:rPr>
              <a:t>.</a:t>
            </a:r>
            <a:endParaRPr dirty="0"/>
          </a:p>
          <a:p>
            <a:pPr marL="717550"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Diurusniaga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berdasarkan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peranan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sistem</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perbankan</a:t>
            </a:r>
            <a:r>
              <a:rPr lang="en-MY" sz="2000" dirty="0">
                <a:solidFill>
                  <a:srgbClr val="3F3F3F"/>
                </a:solidFill>
                <a:latin typeface="Microsoft Yahei"/>
                <a:ea typeface="Microsoft Yahei"/>
                <a:cs typeface="Microsoft Yahei"/>
                <a:sym typeface="Microsoft Yahei"/>
              </a:rPr>
              <a:t>.</a:t>
            </a:r>
            <a:endParaRPr dirty="0"/>
          </a:p>
          <a:p>
            <a:pPr marL="717550" marR="0" lvl="0" indent="-358775" algn="just" rtl="0">
              <a:lnSpc>
                <a:spcPct val="150000"/>
              </a:lnSpc>
              <a:spcBef>
                <a:spcPts val="0"/>
              </a:spcBef>
              <a:spcAft>
                <a:spcPts val="0"/>
              </a:spcAft>
              <a:buClr>
                <a:srgbClr val="3F3F3F"/>
              </a:buClr>
              <a:buSzPts val="2000"/>
              <a:buFont typeface="Arial"/>
              <a:buChar char="•"/>
            </a:pPr>
            <a:r>
              <a:rPr lang="en-MY" sz="2000" b="0" i="0" u="none" strike="noStrike" cap="none" dirty="0" err="1">
                <a:solidFill>
                  <a:srgbClr val="3F3F3F"/>
                </a:solidFill>
                <a:latin typeface="Microsoft Yahei"/>
                <a:ea typeface="Microsoft Yahei"/>
                <a:cs typeface="Microsoft Yahei"/>
                <a:sym typeface="Microsoft Yahei"/>
              </a:rPr>
              <a:t>Instrumen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dalam</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pasaran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ini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lebih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cair</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mempunyai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perubahan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harga</a:t>
            </a:r>
            <a:r>
              <a:rPr lang="en-MY" sz="2000" dirty="0">
                <a:solidFill>
                  <a:srgbClr val="3F3F3F"/>
                </a:solidFill>
                <a:latin typeface="Microsoft Yahei"/>
                <a:ea typeface="Microsoft Yahei"/>
                <a:cs typeface="Microsoft Yahei"/>
                <a:sym typeface="Microsoft Yahei"/>
              </a:rPr>
              <a:t> yang </a:t>
            </a:r>
            <a:r>
              <a:rPr lang="en-MY" sz="2000" dirty="0" err="1">
                <a:solidFill>
                  <a:srgbClr val="3F3F3F"/>
                </a:solidFill>
                <a:latin typeface="Microsoft Yahei"/>
                <a:ea typeface="Microsoft Yahei"/>
                <a:cs typeface="Microsoft Yahei"/>
                <a:sym typeface="Microsoft Yahei"/>
              </a:rPr>
              <a:t>rendah</a:t>
            </a:r>
            <a:r>
              <a:rPr lang="en-MY" sz="2000" dirty="0">
                <a:solidFill>
                  <a:srgbClr val="3F3F3F"/>
                </a:solidFill>
                <a:latin typeface="Microsoft Yahei"/>
                <a:ea typeface="Microsoft Yahei"/>
                <a:cs typeface="Microsoft Yahei"/>
                <a:sym typeface="Microsoft Yahei"/>
              </a:rPr>
              <a:t>.</a:t>
            </a:r>
            <a:endParaRPr dirty="0"/>
          </a:p>
          <a:p>
            <a:pPr marL="717550" indent="-358775" algn="just">
              <a:lnSpc>
                <a:spcPct val="150000"/>
              </a:lnSpc>
              <a:buClr>
                <a:srgbClr val="3F3F3F"/>
              </a:buClr>
              <a:buSzPts val="2000"/>
              <a:buFont typeface="Arial"/>
              <a:buChar char="•"/>
            </a:pPr>
            <a:r>
              <a:rPr lang="en-MY" sz="2000" b="0" i="0" u="none" strike="noStrike" cap="none" dirty="0" err="1">
                <a:solidFill>
                  <a:srgbClr val="3F3F3F"/>
                </a:solidFill>
                <a:latin typeface="Microsoft Yahei"/>
                <a:ea typeface="Microsoft Yahei"/>
                <a:cs typeface="Microsoft Yahei"/>
                <a:sym typeface="Microsoft Yahei"/>
              </a:rPr>
              <a:t>Peserta</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pasaran</a:t>
            </a:r>
            <a:r>
              <a:rPr lang="en-MY" sz="2000" dirty="0">
                <a:solidFill>
                  <a:srgbClr val="3F3F3F"/>
                </a:solidFill>
                <a:latin typeface="Microsoft Yahei"/>
                <a:ea typeface="Microsoft Yahei"/>
                <a:cs typeface="Microsoft Yahei"/>
                <a:sym typeface="Microsoft Yahei"/>
              </a:rPr>
              <a:t>; bank </a:t>
            </a:r>
            <a:r>
              <a:rPr lang="en-MY" sz="2000" dirty="0" err="1">
                <a:solidFill>
                  <a:srgbClr val="3F3F3F"/>
                </a:solidFill>
                <a:latin typeface="Microsoft Yahei"/>
                <a:ea typeface="Microsoft Yahei"/>
                <a:cs typeface="Microsoft Yahei"/>
                <a:sym typeface="Microsoft Yahei"/>
              </a:rPr>
              <a:t>perdagangan</a:t>
            </a:r>
            <a:r>
              <a:rPr lang="en-MY" sz="2000" dirty="0">
                <a:solidFill>
                  <a:srgbClr val="3F3F3F"/>
                </a:solidFill>
                <a:latin typeface="Microsoft Yahei"/>
                <a:ea typeface="Microsoft Yahei"/>
                <a:cs typeface="Microsoft Yahei"/>
                <a:sym typeface="Microsoft Yahei"/>
              </a:rPr>
              <a:t> (CIMB Bank, RHB Bank, Maybank, Public Bank </a:t>
            </a:r>
            <a:r>
              <a:rPr lang="en-MY" sz="2000" dirty="0" err="1">
                <a:solidFill>
                  <a:srgbClr val="3F3F3F"/>
                </a:solidFill>
                <a:latin typeface="Microsoft Yahei"/>
                <a:ea typeface="Microsoft Yahei"/>
                <a:cs typeface="Microsoft Yahei"/>
                <a:sym typeface="Microsoft Yahei"/>
              </a:rPr>
              <a:t>dll</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syarikat</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kewangan</a:t>
            </a:r>
            <a:r>
              <a:rPr lang="en-MY" sz="2000" dirty="0">
                <a:solidFill>
                  <a:srgbClr val="3F3F3F"/>
                </a:solidFill>
                <a:latin typeface="Microsoft Yahei"/>
                <a:ea typeface="Microsoft Yahei"/>
                <a:cs typeface="Microsoft Yahei"/>
                <a:sym typeface="Microsoft Yahei"/>
              </a:rPr>
              <a:t>, bank </a:t>
            </a:r>
            <a:r>
              <a:rPr lang="en-MY" sz="2000" dirty="0" err="1">
                <a:solidFill>
                  <a:srgbClr val="3F3F3F"/>
                </a:solidFill>
                <a:latin typeface="Microsoft Yahei"/>
                <a:ea typeface="Microsoft Yahei"/>
                <a:cs typeface="Microsoft Yahei"/>
                <a:sym typeface="Microsoft Yahei"/>
              </a:rPr>
              <a:t>pelaburan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dll</a:t>
            </a:r>
            <a:r>
              <a:rPr lang="en-MY" sz="2000" dirty="0">
                <a:solidFill>
                  <a:srgbClr val="3F3F3F"/>
                </a:solidFill>
                <a:latin typeface="Microsoft Yahei"/>
                <a:ea typeface="Microsoft Yahei"/>
                <a:cs typeface="Microsoft Yahei"/>
                <a:sym typeface="Microsoft Yahei"/>
              </a:rPr>
              <a:t>.</a:t>
            </a:r>
            <a:endParaRPr dirty="0"/>
          </a:p>
          <a:p>
            <a:pPr marL="717550"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Contoh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instrumen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kewangan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bil</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pembendaharaan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kertas</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perdagangan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penerimaan</a:t>
            </a:r>
            <a:r>
              <a:rPr lang="en-MY" sz="2000" dirty="0">
                <a:solidFill>
                  <a:srgbClr val="3F3F3F"/>
                </a:solidFill>
                <a:latin typeface="Microsoft Yahei"/>
                <a:ea typeface="Microsoft Yahei"/>
                <a:cs typeface="Microsoft Yahei"/>
                <a:sym typeface="Microsoft Yahei"/>
              </a:rPr>
              <a:t> bank </a:t>
            </a:r>
            <a:r>
              <a:rPr lang="en-MY" sz="2000" dirty="0" err="1">
                <a:solidFill>
                  <a:srgbClr val="3F3F3F"/>
                </a:solidFill>
                <a:latin typeface="Microsoft Yahei"/>
                <a:ea typeface="Microsoft Yahei"/>
                <a:cs typeface="Microsoft Yahei"/>
                <a:sym typeface="Microsoft Yahei"/>
              </a:rPr>
              <a:t>dll</a:t>
            </a:r>
            <a:r>
              <a:rPr lang="en-MY" sz="2000" dirty="0">
                <a:solidFill>
                  <a:srgbClr val="3F3F3F"/>
                </a:solidFill>
                <a:latin typeface="Microsoft Yahei"/>
                <a:ea typeface="Microsoft Yahei"/>
                <a:cs typeface="Microsoft Yahei"/>
                <a:sym typeface="Microsoft Yahei"/>
              </a:rPr>
              <a:t>. </a:t>
            </a:r>
            <a:endParaRPr sz="2000" b="0" i="0" u="none" strike="noStrike" cap="none" dirty="0">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0"/>
          <p:cNvSpPr txBox="1"/>
          <p:nvPr/>
        </p:nvSpPr>
        <p:spPr>
          <a:xfrm>
            <a:off x="2954720" y="767952"/>
            <a:ext cx="6030410"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c. Jenis-jenis Pasaran Kewangan</a:t>
            </a:r>
            <a:endParaRPr sz="2800" b="0" i="0" u="none" strike="noStrike" cap="none">
              <a:solidFill>
                <a:srgbClr val="000000"/>
              </a:solidFill>
              <a:latin typeface="Microsoft Yahei"/>
              <a:ea typeface="Microsoft Yahei"/>
              <a:cs typeface="Microsoft Yahei"/>
              <a:sym typeface="Microsoft Yahei"/>
            </a:endParaRPr>
          </a:p>
        </p:txBody>
      </p:sp>
      <p:sp>
        <p:nvSpPr>
          <p:cNvPr id="248" name="Google Shape;248;p30"/>
          <p:cNvSpPr txBox="1"/>
          <p:nvPr/>
        </p:nvSpPr>
        <p:spPr>
          <a:xfrm>
            <a:off x="895506" y="1512593"/>
            <a:ext cx="10042570" cy="3323987"/>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AutoNum type="romanLcPeriod" startAt="2"/>
            </a:pPr>
            <a:r>
              <a:rPr lang="en-MY" sz="2000" b="0" i="0" u="none" strike="noStrike" cap="none">
                <a:solidFill>
                  <a:srgbClr val="3F3F3F"/>
                </a:solidFill>
                <a:latin typeface="Microsoft Yahei"/>
                <a:ea typeface="Microsoft Yahei"/>
                <a:cs typeface="Microsoft Yahei"/>
                <a:sym typeface="Microsoft Yahei"/>
              </a:rPr>
              <a:t>Pasaran Wang </a:t>
            </a:r>
            <a:r>
              <a:rPr lang="en-MY" sz="2000" b="0" i="1" u="none" strike="noStrike" cap="none">
                <a:solidFill>
                  <a:srgbClr val="3F3F3F"/>
                </a:solidFill>
                <a:latin typeface="Microsoft Yahei"/>
                <a:ea typeface="Microsoft Yahei"/>
                <a:cs typeface="Microsoft Yahei"/>
                <a:sym typeface="Microsoft Yahei"/>
              </a:rPr>
              <a:t>(… sambungan) </a:t>
            </a:r>
            <a:endParaRPr/>
          </a:p>
          <a:p>
            <a:pPr marL="717550"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Fungsi Pasaran Wang</a:t>
            </a:r>
            <a:endParaRPr/>
          </a:p>
          <a:p>
            <a:pPr marL="1076325"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Membolehkan syarikat memperolehi sumber dana melalui penjualan sekuriti kewangan jangka pendek.</a:t>
            </a:r>
            <a:endParaRPr/>
          </a:p>
          <a:p>
            <a:pPr marL="1076325" marR="0" lvl="1" indent="-231775" algn="just" rtl="0">
              <a:lnSpc>
                <a:spcPct val="150000"/>
              </a:lnSpc>
              <a:spcBef>
                <a:spcPts val="0"/>
              </a:spcBef>
              <a:spcAft>
                <a:spcPts val="0"/>
              </a:spcAft>
              <a:buClr>
                <a:schemeClr val="dk1"/>
              </a:buClr>
              <a:buSzPts val="2000"/>
              <a:buFont typeface="Noto Sans Symbols"/>
              <a:buNone/>
            </a:pPr>
            <a:endParaRPr sz="2000" b="0" i="0" u="none" strike="noStrike" cap="none">
              <a:solidFill>
                <a:srgbClr val="3F3F3F"/>
              </a:solidFill>
              <a:latin typeface="Microsoft Yahei"/>
              <a:ea typeface="Microsoft Yahei"/>
              <a:cs typeface="Microsoft Yahei"/>
              <a:sym typeface="Microsoft Yahei"/>
            </a:endParaRPr>
          </a:p>
          <a:p>
            <a:pPr marL="1076325"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Membolehkan pelabur melabur dalam tempat yang selamat disebabkan kadar kecairan yang tinggi dan tempoh matang yang pendek.</a:t>
            </a: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1"/>
          <p:cNvSpPr txBox="1"/>
          <p:nvPr/>
        </p:nvSpPr>
        <p:spPr>
          <a:xfrm>
            <a:off x="2954720" y="767952"/>
            <a:ext cx="6030410"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c. Jenis-jenis Pasaran Kewangan</a:t>
            </a:r>
            <a:endParaRPr sz="2800" b="0" i="0" u="none" strike="noStrike" cap="none">
              <a:solidFill>
                <a:srgbClr val="000000"/>
              </a:solidFill>
              <a:latin typeface="Microsoft Yahei"/>
              <a:ea typeface="Microsoft Yahei"/>
              <a:cs typeface="Microsoft Yahei"/>
              <a:sym typeface="Microsoft Yahei"/>
            </a:endParaRPr>
          </a:p>
        </p:txBody>
      </p:sp>
      <p:sp>
        <p:nvSpPr>
          <p:cNvPr id="254" name="Google Shape;254;p31"/>
          <p:cNvSpPr txBox="1"/>
          <p:nvPr/>
        </p:nvSpPr>
        <p:spPr>
          <a:xfrm>
            <a:off x="895506" y="1512593"/>
            <a:ext cx="10042570" cy="5170646"/>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AutoNum type="romanLcPeriod" startAt="3"/>
            </a:pPr>
            <a:r>
              <a:rPr lang="en-MY" sz="2000" b="0" i="0" u="none" strike="noStrike" cap="none">
                <a:solidFill>
                  <a:srgbClr val="3F3F3F"/>
                </a:solidFill>
                <a:latin typeface="Microsoft Yahei"/>
                <a:ea typeface="Microsoft Yahei"/>
                <a:cs typeface="Microsoft Yahei"/>
                <a:sym typeface="Microsoft Yahei"/>
              </a:rPr>
              <a:t>Pasaran </a:t>
            </a:r>
            <a:r>
              <a:rPr lang="en-MY" sz="2000">
                <a:solidFill>
                  <a:srgbClr val="3F3F3F"/>
                </a:solidFill>
                <a:latin typeface="Microsoft Yahei"/>
                <a:ea typeface="Microsoft Yahei"/>
                <a:cs typeface="Microsoft Yahei"/>
                <a:sym typeface="Microsoft Yahei"/>
              </a:rPr>
              <a:t>Pertukaran Mata Wang Asing</a:t>
            </a:r>
            <a:endParaRPr sz="2000" b="0" i="0" u="none" strike="noStrike" cap="none">
              <a:solidFill>
                <a:srgbClr val="3F3F3F"/>
              </a:solidFill>
              <a:latin typeface="Microsoft Yahei"/>
              <a:ea typeface="Microsoft Yahei"/>
              <a:cs typeface="Microsoft Yahei"/>
              <a:sym typeface="Microsoft Yahei"/>
            </a:endParaRPr>
          </a:p>
          <a:p>
            <a:pPr marL="717550"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Pasaran di mana berlaku urusniaga matawang antara bank dan institusi kewangan antara satu matawang dengan matawang lain. </a:t>
            </a:r>
            <a:endParaRPr/>
          </a:p>
          <a:p>
            <a:pPr marL="717550"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Transaksi pertukaran yang dilakukan mestilah tertakluk di bawah Akta Kawalan Pertukaran 1953.</a:t>
            </a:r>
            <a:endParaRPr/>
          </a:p>
          <a:p>
            <a:pPr marL="717550"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Pasaran akan menentukan kadar pertukaran berdasarkan permintaan dan penawaran matawang.</a:t>
            </a:r>
            <a:endParaRPr/>
          </a:p>
          <a:p>
            <a:pPr marL="717550"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Kadar ini dipengaruhi imbangan dagangan (import &amp; eksport), dasar bank pusat (kadar faedah, bekalan matawang dalam pasaran), dasar ekonomi (belanjawan berimbang/deficit), inflasi dll.</a:t>
            </a:r>
            <a:endParaRPr/>
          </a:p>
          <a:p>
            <a:pPr marL="717550"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2"/>
          <p:cNvSpPr txBox="1"/>
          <p:nvPr/>
        </p:nvSpPr>
        <p:spPr>
          <a:xfrm>
            <a:off x="2954720" y="767952"/>
            <a:ext cx="6030410"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c. Jenis-jenis Pasaran Kewangan</a:t>
            </a:r>
            <a:endParaRPr sz="2800" b="0" i="0" u="none" strike="noStrike" cap="none">
              <a:solidFill>
                <a:srgbClr val="000000"/>
              </a:solidFill>
              <a:latin typeface="Microsoft Yahei"/>
              <a:ea typeface="Microsoft Yahei"/>
              <a:cs typeface="Microsoft Yahei"/>
              <a:sym typeface="Microsoft Yahei"/>
            </a:endParaRPr>
          </a:p>
        </p:txBody>
      </p:sp>
      <p:sp>
        <p:nvSpPr>
          <p:cNvPr id="260" name="Google Shape;260;p32"/>
          <p:cNvSpPr txBox="1"/>
          <p:nvPr/>
        </p:nvSpPr>
        <p:spPr>
          <a:xfrm>
            <a:off x="895506" y="1512593"/>
            <a:ext cx="10042570" cy="3785611"/>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AutoNum type="romanLcPeriod" startAt="3"/>
            </a:pPr>
            <a:r>
              <a:rPr lang="en-MY" sz="2000" b="0" i="0" u="none" strike="noStrike" cap="none" dirty="0" err="1">
                <a:solidFill>
                  <a:srgbClr val="3F3F3F"/>
                </a:solidFill>
                <a:latin typeface="Microsoft Yahei"/>
                <a:ea typeface="Microsoft Yahei"/>
                <a:cs typeface="Microsoft Yahei"/>
                <a:sym typeface="Microsoft Yahei"/>
              </a:rPr>
              <a:t>Pasaran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Pertukaran</a:t>
            </a:r>
            <a:r>
              <a:rPr lang="en-MY" sz="2000" b="0" i="0" u="none" strike="noStrike" cap="none" dirty="0">
                <a:solidFill>
                  <a:srgbClr val="3F3F3F"/>
                </a:solidFill>
                <a:latin typeface="Microsoft Yahei"/>
                <a:ea typeface="Microsoft Yahei"/>
                <a:cs typeface="Microsoft Yahei"/>
                <a:sym typeface="Microsoft Yahei"/>
              </a:rPr>
              <a:t> Mata Wang </a:t>
            </a:r>
            <a:r>
              <a:rPr lang="en-MY" sz="2000" b="0" i="0" u="none" strike="noStrike" cap="none" dirty="0" err="1">
                <a:solidFill>
                  <a:srgbClr val="3F3F3F"/>
                </a:solidFill>
                <a:latin typeface="Microsoft Yahei"/>
                <a:ea typeface="Microsoft Yahei"/>
                <a:cs typeface="Microsoft Yahei"/>
                <a:sym typeface="Microsoft Yahei"/>
              </a:rPr>
              <a:t>Asing</a:t>
            </a:r>
            <a:r>
              <a:rPr lang="en-MY" sz="2000" b="0" i="0" u="none" strike="noStrike" cap="none" dirty="0">
                <a:solidFill>
                  <a:srgbClr val="3F3F3F"/>
                </a:solidFill>
                <a:latin typeface="Microsoft Yahei"/>
                <a:ea typeface="Microsoft Yahei"/>
                <a:cs typeface="Microsoft Yahei"/>
                <a:sym typeface="Microsoft Yahei"/>
              </a:rPr>
              <a:t> </a:t>
            </a:r>
            <a:r>
              <a:rPr lang="en-MY" sz="2000" b="0" i="1" u="none" strike="noStrike" cap="none" dirty="0">
                <a:solidFill>
                  <a:srgbClr val="3F3F3F"/>
                </a:solidFill>
                <a:latin typeface="Microsoft Yahei"/>
                <a:ea typeface="Microsoft Yahei"/>
                <a:cs typeface="Microsoft Yahei"/>
                <a:sym typeface="Microsoft Yahei"/>
              </a:rPr>
              <a:t>(… </a:t>
            </a:r>
            <a:r>
              <a:rPr lang="en-MY" sz="2000" b="0" i="1" u="none" strike="noStrike" cap="none" dirty="0" err="1">
                <a:solidFill>
                  <a:srgbClr val="3F3F3F"/>
                </a:solidFill>
                <a:latin typeface="Microsoft Yahei"/>
                <a:ea typeface="Microsoft Yahei"/>
                <a:cs typeface="Microsoft Yahei"/>
                <a:sym typeface="Microsoft Yahei"/>
              </a:rPr>
              <a:t>sambungan</a:t>
            </a:r>
            <a:r>
              <a:rPr lang="en-MY" sz="2000" b="0" i="1" u="none" strike="noStrike" cap="none" dirty="0">
                <a:solidFill>
                  <a:srgbClr val="3F3F3F"/>
                </a:solidFill>
                <a:latin typeface="Microsoft Yahei"/>
                <a:ea typeface="Microsoft Yahei"/>
                <a:cs typeface="Microsoft Yahei"/>
                <a:sym typeface="Microsoft Yahei"/>
              </a:rPr>
              <a:t>)</a:t>
            </a:r>
            <a:endParaRPr dirty="0"/>
          </a:p>
          <a:p>
            <a:pPr marL="717550" marR="0" lvl="0" indent="-342900"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Peserta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pasaran</a:t>
            </a:r>
            <a:r>
              <a:rPr lang="en-MY" sz="2000" dirty="0">
                <a:solidFill>
                  <a:srgbClr val="3F3F3F"/>
                </a:solidFill>
                <a:latin typeface="Microsoft Yahei"/>
                <a:ea typeface="Microsoft Yahei"/>
                <a:cs typeface="Microsoft Yahei"/>
                <a:sym typeface="Microsoft Yahei"/>
              </a:rPr>
              <a:t>: Bank </a:t>
            </a:r>
            <a:r>
              <a:rPr lang="en-MY" sz="2000" dirty="0" err="1">
                <a:solidFill>
                  <a:srgbClr val="3F3F3F"/>
                </a:solidFill>
                <a:latin typeface="Microsoft Yahei"/>
                <a:ea typeface="Microsoft Yahei"/>
                <a:cs typeface="Microsoft Yahei"/>
                <a:sym typeface="Microsoft Yahei"/>
              </a:rPr>
              <a:t>pusat</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institusi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perbankan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syarikat</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tukaran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matawang</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broker </a:t>
            </a:r>
            <a:r>
              <a:rPr lang="en-MY" sz="2000" dirty="0" err="1">
                <a:solidFill>
                  <a:srgbClr val="3F3F3F"/>
                </a:solidFill>
                <a:latin typeface="Microsoft Yahei"/>
                <a:ea typeface="Microsoft Yahei"/>
                <a:cs typeface="Microsoft Yahei"/>
                <a:sym typeface="Microsoft Yahei"/>
              </a:rPr>
              <a:t>tukaran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matawang</a:t>
            </a:r>
            <a:endParaRPr sz="2000" dirty="0">
              <a:solidFill>
                <a:srgbClr val="3F3F3F"/>
              </a:solidFill>
              <a:latin typeface="Microsoft Yahei"/>
              <a:ea typeface="Microsoft Yahei"/>
              <a:cs typeface="Microsoft Yahei"/>
              <a:sym typeface="Microsoft Yahei"/>
            </a:endParaRPr>
          </a:p>
          <a:p>
            <a:pPr marL="717550" marR="0" lvl="0" indent="-342900"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Contoh</a:t>
            </a:r>
            <a:r>
              <a:rPr lang="en-MY" sz="2000" dirty="0">
                <a:solidFill>
                  <a:srgbClr val="3F3F3F"/>
                </a:solidFill>
                <a:latin typeface="Microsoft Yahei"/>
                <a:ea typeface="Microsoft Yahei"/>
                <a:cs typeface="Microsoft Yahei"/>
                <a:sym typeface="Microsoft Yahei"/>
              </a:rPr>
              <a:t> instrument </a:t>
            </a:r>
            <a:r>
              <a:rPr lang="en-MY" sz="2000" dirty="0" err="1">
                <a:solidFill>
                  <a:srgbClr val="3F3F3F"/>
                </a:solidFill>
                <a:latin typeface="Microsoft Yahei"/>
                <a:ea typeface="Microsoft Yahei"/>
                <a:cs typeface="Microsoft Yahei"/>
                <a:sym typeface="Microsoft Yahei"/>
              </a:rPr>
              <a:t>kewangan</a:t>
            </a:r>
            <a:r>
              <a:rPr lang="en-MY" sz="2000" dirty="0">
                <a:solidFill>
                  <a:srgbClr val="3F3F3F"/>
                </a:solidFill>
                <a:latin typeface="Microsoft Yahei"/>
                <a:ea typeface="Microsoft Yahei"/>
                <a:cs typeface="Microsoft Yahei"/>
                <a:sym typeface="Microsoft Yahei"/>
              </a:rPr>
              <a:t>: USD, RM, pound sterling, riyal </a:t>
            </a:r>
            <a:r>
              <a:rPr lang="en-MY" sz="2000" dirty="0" err="1">
                <a:solidFill>
                  <a:srgbClr val="3F3F3F"/>
                </a:solidFill>
                <a:latin typeface="Microsoft Yahei"/>
                <a:ea typeface="Microsoft Yahei"/>
                <a:cs typeface="Microsoft Yahei"/>
                <a:sym typeface="Microsoft Yahei"/>
              </a:rPr>
              <a:t>dll</a:t>
            </a:r>
            <a:endParaRPr sz="2000" dirty="0">
              <a:solidFill>
                <a:srgbClr val="3F3F3F"/>
              </a:solidFill>
              <a:latin typeface="Microsoft Yahei"/>
              <a:ea typeface="Microsoft Yahei"/>
              <a:cs typeface="Microsoft Yahei"/>
              <a:sym typeface="Microsoft Yahei"/>
            </a:endParaRPr>
          </a:p>
          <a:p>
            <a:pPr marL="717550" marR="0" lvl="0" indent="-342900"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Fungsi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Pasaran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Pertukaran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Matawang</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Asing</a:t>
            </a:r>
            <a:endParaRPr sz="2000" dirty="0">
              <a:solidFill>
                <a:srgbClr val="3F3F3F"/>
              </a:solidFill>
              <a:latin typeface="Microsoft Yahei"/>
              <a:ea typeface="Microsoft Yahei"/>
              <a:cs typeface="Microsoft Yahei"/>
              <a:sym typeface="Microsoft Yahei"/>
            </a:endParaRPr>
          </a:p>
          <a:p>
            <a:pPr marL="1076325"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dirty="0" err="1">
                <a:solidFill>
                  <a:srgbClr val="3F3F3F"/>
                </a:solidFill>
                <a:latin typeface="Microsoft Yahei"/>
                <a:ea typeface="Microsoft Yahei"/>
                <a:cs typeface="Microsoft Yahei"/>
                <a:sym typeface="Microsoft Yahei"/>
              </a:rPr>
              <a:t>Membantu</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institusi</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melaksanakan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urusniaga</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bertukaran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matawang</a:t>
            </a:r>
            <a:r>
              <a:rPr lang="en-MY" sz="2000" b="0" i="0" u="none" strike="noStrike" cap="none" dirty="0">
                <a:solidFill>
                  <a:srgbClr val="3F3F3F"/>
                </a:solidFill>
                <a:latin typeface="Microsoft Yahei"/>
                <a:ea typeface="Microsoft Yahei"/>
                <a:cs typeface="Microsoft Yahei"/>
                <a:sym typeface="Microsoft Yahei"/>
              </a:rPr>
              <a:t>.</a:t>
            </a:r>
            <a:endParaRPr dirty="0"/>
          </a:p>
          <a:p>
            <a:pPr marL="1076325"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dirty="0" err="1">
                <a:solidFill>
                  <a:srgbClr val="3F3F3F"/>
                </a:solidFill>
                <a:latin typeface="Microsoft Yahei"/>
                <a:ea typeface="Microsoft Yahei"/>
                <a:cs typeface="Microsoft Yahei"/>
                <a:sym typeface="Microsoft Yahei"/>
              </a:rPr>
              <a:t>Membantu</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peniaga</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dan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pelabur</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antarabangsa</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menukarkan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matawang</a:t>
            </a:r>
            <a:r>
              <a:rPr lang="en-MY" sz="2000" b="0" i="0" u="none" strike="noStrike" cap="none" dirty="0">
                <a:solidFill>
                  <a:srgbClr val="3F3F3F"/>
                </a:solidFill>
                <a:latin typeface="Microsoft Yahei"/>
                <a:ea typeface="Microsoft Yahei"/>
                <a:cs typeface="Microsoft Yahei"/>
                <a:sym typeface="Microsoft Yahei"/>
              </a:rPr>
              <a:t>. </a:t>
            </a:r>
            <a:endParaRPr dirty="0"/>
          </a:p>
          <a:p>
            <a:pPr marL="374650" marR="0" lvl="0" indent="0" algn="just" rtl="0">
              <a:lnSpc>
                <a:spcPct val="150000"/>
              </a:lnSpc>
              <a:spcBef>
                <a:spcPts val="0"/>
              </a:spcBef>
              <a:spcAft>
                <a:spcPts val="0"/>
              </a:spcAft>
              <a:buNone/>
            </a:pPr>
            <a:endParaRPr sz="2000" b="0" u="none" strike="noStrike" cap="none" dirty="0">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3"/>
          <p:cNvSpPr txBox="1"/>
          <p:nvPr/>
        </p:nvSpPr>
        <p:spPr>
          <a:xfrm>
            <a:off x="2954720" y="767952"/>
            <a:ext cx="6030410"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c. Jenis-jenis Pasaran Kewangan</a:t>
            </a:r>
            <a:endParaRPr sz="2800" b="0" i="0" u="none" strike="noStrike" cap="none">
              <a:solidFill>
                <a:srgbClr val="000000"/>
              </a:solidFill>
              <a:latin typeface="Microsoft Yahei"/>
              <a:ea typeface="Microsoft Yahei"/>
              <a:cs typeface="Microsoft Yahei"/>
              <a:sym typeface="Microsoft Yahei"/>
            </a:endParaRPr>
          </a:p>
        </p:txBody>
      </p:sp>
      <p:sp>
        <p:nvSpPr>
          <p:cNvPr id="266" name="Google Shape;266;p33"/>
          <p:cNvSpPr txBox="1"/>
          <p:nvPr/>
        </p:nvSpPr>
        <p:spPr>
          <a:xfrm>
            <a:off x="895506" y="1512593"/>
            <a:ext cx="10042570" cy="5170606"/>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AutoNum type="romanLcPeriod" startAt="4"/>
            </a:pPr>
            <a:r>
              <a:rPr lang="en-MY" sz="2000" b="0" i="0" u="none" strike="noStrike" cap="none" dirty="0" err="1">
                <a:solidFill>
                  <a:srgbClr val="3F3F3F"/>
                </a:solidFill>
                <a:latin typeface="Microsoft Yahei"/>
                <a:ea typeface="Microsoft Yahei"/>
                <a:cs typeface="Microsoft Yahei"/>
                <a:sym typeface="Microsoft Yahei"/>
              </a:rPr>
              <a:t>Pasaran</a:t>
            </a:r>
            <a:r>
              <a:rPr lang="en-MY" sz="2000" b="0" i="0" u="none" strike="noStrike" cap="none"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Derivatif</a:t>
            </a:r>
            <a:endParaRPr sz="2000" b="0" i="0" u="none" strike="noStrike" cap="none" dirty="0">
              <a:solidFill>
                <a:srgbClr val="3F3F3F"/>
              </a:solidFill>
              <a:latin typeface="Microsoft Yahei"/>
              <a:ea typeface="Microsoft Yahei"/>
              <a:cs typeface="Microsoft Yahei"/>
              <a:sym typeface="Microsoft Yahei"/>
            </a:endParaRPr>
          </a:p>
          <a:p>
            <a:pPr marL="717550"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Pasaran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instrumen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kewangan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hadapan</a:t>
            </a:r>
            <a:r>
              <a:rPr lang="en-MY" sz="2000" dirty="0">
                <a:solidFill>
                  <a:srgbClr val="3F3F3F"/>
                </a:solidFill>
                <a:latin typeface="Microsoft Yahei"/>
                <a:ea typeface="Microsoft Yahei"/>
                <a:cs typeface="Microsoft Yahei"/>
                <a:sym typeface="Microsoft Yahei"/>
              </a:rPr>
              <a:t> yang </a:t>
            </a:r>
            <a:r>
              <a:rPr lang="en-MY" sz="2000" dirty="0" err="1">
                <a:solidFill>
                  <a:srgbClr val="3F3F3F"/>
                </a:solidFill>
                <a:latin typeface="Microsoft Yahei"/>
                <a:ea typeface="Microsoft Yahei"/>
                <a:cs typeface="Microsoft Yahei"/>
                <a:sym typeface="Microsoft Yahei"/>
              </a:rPr>
              <a:t>menyediakan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alat</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pengurusan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risiko</a:t>
            </a:r>
            <a:r>
              <a:rPr lang="en-MY" sz="2000" dirty="0">
                <a:solidFill>
                  <a:srgbClr val="3F3F3F"/>
                </a:solidFill>
                <a:latin typeface="Microsoft Yahei"/>
                <a:ea typeface="Microsoft Yahei"/>
                <a:cs typeface="Microsoft Yahei"/>
                <a:sym typeface="Microsoft Yahei"/>
              </a:rPr>
              <a:t> yang </a:t>
            </a:r>
            <a:r>
              <a:rPr lang="en-MY" sz="2000" dirty="0" err="1">
                <a:solidFill>
                  <a:srgbClr val="3F3F3F"/>
                </a:solidFill>
                <a:latin typeface="Microsoft Yahei"/>
                <a:ea typeface="Microsoft Yahei"/>
                <a:cs typeface="Microsoft Yahei"/>
                <a:sym typeface="Microsoft Yahei"/>
              </a:rPr>
              <a:t>efektif</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selamat</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dalam</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produk</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komoditi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kewangan</a:t>
            </a:r>
            <a:r>
              <a:rPr lang="en-MY" sz="2000" dirty="0">
                <a:solidFill>
                  <a:srgbClr val="3F3F3F"/>
                </a:solidFill>
                <a:latin typeface="Microsoft Yahei"/>
                <a:ea typeface="Microsoft Yahei"/>
                <a:cs typeface="Microsoft Yahei"/>
                <a:sym typeface="Microsoft Yahei"/>
              </a:rPr>
              <a:t>.</a:t>
            </a:r>
            <a:endParaRPr dirty="0"/>
          </a:p>
          <a:p>
            <a:pPr marL="717550"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Contoh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produk</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komoditi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adalah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sumber</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asas</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produk</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pertanian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seperti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minyak</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mentah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emas</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kelapa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sawit</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lain-lain</a:t>
            </a:r>
            <a:endParaRPr dirty="0"/>
          </a:p>
          <a:p>
            <a:pPr marL="717550"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Ia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menguruskan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pendedahan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terhadap</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turun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naik</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kadar</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faedah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risiko</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saham</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indeks</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saham</a:t>
            </a:r>
            <a:r>
              <a:rPr lang="en-MY" sz="2000" dirty="0">
                <a:solidFill>
                  <a:srgbClr val="3F3F3F"/>
                </a:solidFill>
                <a:latin typeface="Microsoft Yahei"/>
                <a:ea typeface="Microsoft Yahei"/>
                <a:cs typeface="Microsoft Yahei"/>
                <a:sym typeface="Microsoft Yahei"/>
              </a:rPr>
              <a:t> di </a:t>
            </a:r>
            <a:r>
              <a:rPr lang="en-MY" sz="2000" dirty="0" err="1">
                <a:solidFill>
                  <a:srgbClr val="3F3F3F"/>
                </a:solidFill>
                <a:latin typeface="Microsoft Yahei"/>
                <a:ea typeface="Microsoft Yahei"/>
                <a:cs typeface="Microsoft Yahei"/>
                <a:sym typeface="Microsoft Yahei"/>
              </a:rPr>
              <a:t>pasaran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hadapan</a:t>
            </a:r>
            <a:r>
              <a:rPr lang="en-MY" sz="2000" dirty="0">
                <a:solidFill>
                  <a:srgbClr val="3F3F3F"/>
                </a:solidFill>
                <a:latin typeface="Microsoft Yahei"/>
                <a:ea typeface="Microsoft Yahei"/>
                <a:cs typeface="Microsoft Yahei"/>
                <a:sym typeface="Microsoft Yahei"/>
              </a:rPr>
              <a:t>.</a:t>
            </a:r>
            <a:endParaRPr dirty="0"/>
          </a:p>
          <a:p>
            <a:pPr marL="717550"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Peserta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pasaran</a:t>
            </a:r>
            <a:r>
              <a:rPr lang="en-MY" sz="2000" dirty="0">
                <a:solidFill>
                  <a:srgbClr val="3F3F3F"/>
                </a:solidFill>
                <a:latin typeface="Microsoft Yahei"/>
                <a:ea typeface="Microsoft Yahei"/>
                <a:cs typeface="Microsoft Yahei"/>
                <a:sym typeface="Microsoft Yahei"/>
              </a:rPr>
              <a:t>: Bursa </a:t>
            </a:r>
            <a:r>
              <a:rPr lang="en-MY" sz="2000" dirty="0" err="1">
                <a:solidFill>
                  <a:srgbClr val="3F3F3F"/>
                </a:solidFill>
                <a:latin typeface="Microsoft Yahei"/>
                <a:ea typeface="Microsoft Yahei"/>
                <a:cs typeface="Microsoft Yahei"/>
                <a:sym typeface="Microsoft Yahei"/>
              </a:rPr>
              <a:t>Derivatif</a:t>
            </a:r>
            <a:r>
              <a:rPr lang="en-MY" sz="2000" dirty="0">
                <a:solidFill>
                  <a:srgbClr val="3F3F3F"/>
                </a:solidFill>
                <a:latin typeface="Microsoft Yahei"/>
                <a:ea typeface="Microsoft Yahei"/>
                <a:cs typeface="Microsoft Yahei"/>
                <a:sym typeface="Microsoft Yahei"/>
              </a:rPr>
              <a:t>  Malaysia (MDEX), </a:t>
            </a:r>
            <a:r>
              <a:rPr lang="en-MY" sz="2000" dirty="0" err="1">
                <a:solidFill>
                  <a:srgbClr val="3F3F3F"/>
                </a:solidFill>
                <a:latin typeface="Microsoft Yahei"/>
                <a:ea typeface="Microsoft Yahei"/>
                <a:cs typeface="Microsoft Yahei"/>
                <a:sym typeface="Microsoft Yahei"/>
              </a:rPr>
              <a:t>pedangan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pembeli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komoditi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Bursa </a:t>
            </a:r>
            <a:r>
              <a:rPr lang="en-MY" sz="2000" dirty="0" err="1">
                <a:solidFill>
                  <a:srgbClr val="3F3F3F"/>
                </a:solidFill>
                <a:latin typeface="Microsoft Yahei"/>
                <a:ea typeface="Microsoft Yahei"/>
                <a:cs typeface="Microsoft Yahei"/>
                <a:sym typeface="Microsoft Yahei"/>
              </a:rPr>
              <a:t>Saham</a:t>
            </a:r>
            <a:endParaRPr dirty="0"/>
          </a:p>
          <a:p>
            <a:pPr marL="717550"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Contoh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instrumen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Pasaran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hadapan</a:t>
            </a:r>
            <a:r>
              <a:rPr lang="en-MY" sz="2000" dirty="0">
                <a:solidFill>
                  <a:srgbClr val="3F3F3F"/>
                </a:solidFill>
                <a:latin typeface="Microsoft Yahei"/>
                <a:ea typeface="Microsoft Yahei"/>
                <a:cs typeface="Microsoft Yahei"/>
                <a:sym typeface="Microsoft Yahei"/>
              </a:rPr>
              <a:t> (forward market), </a:t>
            </a:r>
            <a:r>
              <a:rPr lang="en-MY" sz="2000" dirty="0" err="1">
                <a:solidFill>
                  <a:srgbClr val="3F3F3F"/>
                </a:solidFill>
                <a:latin typeface="Microsoft Yahei"/>
                <a:ea typeface="Microsoft Yahei"/>
                <a:cs typeface="Microsoft Yahei"/>
                <a:sym typeface="Microsoft Yahei"/>
              </a:rPr>
              <a:t>pasaran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niaga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hadapan</a:t>
            </a:r>
            <a:r>
              <a:rPr lang="en-MY" sz="2000" dirty="0">
                <a:solidFill>
                  <a:srgbClr val="3F3F3F"/>
                </a:solidFill>
                <a:latin typeface="Microsoft Yahei"/>
                <a:ea typeface="Microsoft Yahei"/>
                <a:cs typeface="Microsoft Yahei"/>
                <a:sym typeface="Microsoft Yahei"/>
              </a:rPr>
              <a:t> (futures market), </a:t>
            </a:r>
            <a:r>
              <a:rPr lang="en-MY" sz="2000" dirty="0" err="1">
                <a:solidFill>
                  <a:srgbClr val="3F3F3F"/>
                </a:solidFill>
                <a:latin typeface="Microsoft Yahei"/>
                <a:ea typeface="Microsoft Yahei"/>
                <a:cs typeface="Microsoft Yahei"/>
                <a:sym typeface="Microsoft Yahei"/>
              </a:rPr>
              <a:t>pasaran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opsyen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pasaran</a:t>
            </a:r>
            <a:r>
              <a:rPr lang="en-MY" sz="2000" dirty="0">
                <a:solidFill>
                  <a:srgbClr val="3F3F3F"/>
                </a:solidFill>
                <a:latin typeface="Microsoft Yahei"/>
                <a:ea typeface="Microsoft Yahei"/>
                <a:cs typeface="Microsoft Yahei"/>
                <a:sym typeface="Microsoft Yahei"/>
              </a:rPr>
              <a:t> swap</a:t>
            </a:r>
            <a:endParaRPr dirty="0"/>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34"/>
          <p:cNvSpPr txBox="1"/>
          <p:nvPr/>
        </p:nvSpPr>
        <p:spPr>
          <a:xfrm>
            <a:off x="2954720" y="767952"/>
            <a:ext cx="6030410"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c. Jenis-jenis Pasaran Kewangan</a:t>
            </a:r>
            <a:endParaRPr sz="2800" b="0" i="0" u="none" strike="noStrike" cap="none">
              <a:solidFill>
                <a:srgbClr val="000000"/>
              </a:solidFill>
              <a:latin typeface="Microsoft Yahei"/>
              <a:ea typeface="Microsoft Yahei"/>
              <a:cs typeface="Microsoft Yahei"/>
              <a:sym typeface="Microsoft Yahei"/>
            </a:endParaRPr>
          </a:p>
        </p:txBody>
      </p:sp>
      <p:sp>
        <p:nvSpPr>
          <p:cNvPr id="272" name="Google Shape;272;p34"/>
          <p:cNvSpPr txBox="1"/>
          <p:nvPr/>
        </p:nvSpPr>
        <p:spPr>
          <a:xfrm>
            <a:off x="895506" y="1512593"/>
            <a:ext cx="10042570" cy="4247317"/>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AutoNum type="romanLcPeriod" startAt="4"/>
            </a:pPr>
            <a:r>
              <a:rPr lang="en-MY" sz="2000" b="0" i="0" u="none" strike="noStrike" cap="none">
                <a:solidFill>
                  <a:srgbClr val="3F3F3F"/>
                </a:solidFill>
                <a:latin typeface="Microsoft Yahei"/>
                <a:ea typeface="Microsoft Yahei"/>
                <a:cs typeface="Microsoft Yahei"/>
                <a:sym typeface="Microsoft Yahei"/>
              </a:rPr>
              <a:t>Pasaran Derivatif </a:t>
            </a:r>
            <a:r>
              <a:rPr lang="en-MY" sz="2000" b="0" i="1" u="none" strike="noStrike" cap="none">
                <a:solidFill>
                  <a:srgbClr val="3F3F3F"/>
                </a:solidFill>
                <a:latin typeface="Microsoft Yahei"/>
                <a:ea typeface="Microsoft Yahei"/>
                <a:cs typeface="Microsoft Yahei"/>
                <a:sym typeface="Microsoft Yahei"/>
              </a:rPr>
              <a:t>(… sambungan) </a:t>
            </a:r>
            <a:endParaRPr/>
          </a:p>
          <a:p>
            <a:pPr marL="717550"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Fungsi Pasaran Derivatif</a:t>
            </a:r>
            <a:endParaRPr sz="2000">
              <a:solidFill>
                <a:srgbClr val="3F3F3F"/>
              </a:solidFill>
              <a:latin typeface="Microsoft Yahei"/>
              <a:ea typeface="Microsoft Yahei"/>
              <a:cs typeface="Microsoft Yahei"/>
              <a:sym typeface="Microsoft Yahei"/>
            </a:endParaRPr>
          </a:p>
          <a:p>
            <a:pPr marL="1076325"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Memberi kemudahan kepada pelabur yang memerlukan alat pelaburan yang inovatif dan fleksibel yang dapat mengambil peluang-peluang dari pasaran global.</a:t>
            </a:r>
            <a:endParaRPr/>
          </a:p>
          <a:p>
            <a:pPr marL="1076325" marR="0" lvl="1" indent="-231775" algn="just" rtl="0">
              <a:lnSpc>
                <a:spcPct val="150000"/>
              </a:lnSpc>
              <a:spcBef>
                <a:spcPts val="0"/>
              </a:spcBef>
              <a:spcAft>
                <a:spcPts val="0"/>
              </a:spcAft>
              <a:buClr>
                <a:schemeClr val="dk1"/>
              </a:buClr>
              <a:buSzPts val="2000"/>
              <a:buFont typeface="Noto Sans Symbols"/>
              <a:buNone/>
            </a:pPr>
            <a:endParaRPr sz="2000" b="0" i="0" u="none" strike="noStrike" cap="none">
              <a:solidFill>
                <a:srgbClr val="3F3F3F"/>
              </a:solidFill>
              <a:latin typeface="Microsoft Yahei"/>
              <a:ea typeface="Microsoft Yahei"/>
              <a:cs typeface="Microsoft Yahei"/>
              <a:sym typeface="Microsoft Yahei"/>
            </a:endParaRPr>
          </a:p>
          <a:p>
            <a:pPr marL="1076325"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Menawarkan pulangan melebihi purata yang wajar dan perlindungan portfolio kepada pelabur</a:t>
            </a:r>
            <a:endParaRPr sz="2000" b="0" i="0" u="none" strike="noStrike" cap="none">
              <a:solidFill>
                <a:srgbClr val="3F3F3F"/>
              </a:solidFill>
              <a:latin typeface="Microsoft Yahei"/>
              <a:ea typeface="Microsoft Yahei"/>
              <a:cs typeface="Microsoft Yahei"/>
              <a:sym typeface="Microsoft Yahei"/>
            </a:endParaRPr>
          </a:p>
          <a:p>
            <a:pPr marL="717550"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35"/>
          <p:cNvSpPr txBox="1"/>
          <p:nvPr/>
        </p:nvSpPr>
        <p:spPr>
          <a:xfrm>
            <a:off x="2409662" y="771975"/>
            <a:ext cx="7014257"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a:solidFill>
                  <a:srgbClr val="000000"/>
                </a:solidFill>
                <a:latin typeface="Microsoft Yahei"/>
                <a:ea typeface="Microsoft Yahei"/>
                <a:cs typeface="Microsoft Yahei"/>
                <a:sym typeface="Microsoft Yahei"/>
              </a:rPr>
              <a:t>d. Jenis dan Fungsi Insitusi Kewangan </a:t>
            </a:r>
            <a:endParaRPr sz="2800" b="0" i="0" u="none" strike="noStrike" cap="none">
              <a:solidFill>
                <a:srgbClr val="000000"/>
              </a:solidFill>
              <a:latin typeface="Microsoft Yahei"/>
              <a:ea typeface="Microsoft Yahei"/>
              <a:cs typeface="Microsoft Yahei"/>
              <a:sym typeface="Microsoft Yahei"/>
            </a:endParaRPr>
          </a:p>
        </p:txBody>
      </p:sp>
      <p:sp>
        <p:nvSpPr>
          <p:cNvPr id="278" name="Google Shape;278;p35"/>
          <p:cNvSpPr txBox="1"/>
          <p:nvPr/>
        </p:nvSpPr>
        <p:spPr>
          <a:xfrm>
            <a:off x="895506" y="1512593"/>
            <a:ext cx="10042570" cy="5170646"/>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Institusi kewangan adalah syarikat-syarikat kewangan yang kegiatan utamanya adalah mengumpulkan wang dari masyarakat dan perusahaan dan meminjamkan semula wang tersebut kepada pihak-pihak yang memerlukannya.</a:t>
            </a:r>
            <a:endParaRPr/>
          </a:p>
          <a:p>
            <a:pPr marL="358775" marR="0" lvl="0" indent="-231775" algn="just" rtl="0">
              <a:lnSpc>
                <a:spcPct val="150000"/>
              </a:lnSpc>
              <a:spcBef>
                <a:spcPts val="0"/>
              </a:spcBef>
              <a:spcAft>
                <a:spcPts val="0"/>
              </a:spcAft>
              <a:buClr>
                <a:schemeClr val="dk1"/>
              </a:buClr>
              <a:buSzPts val="2000"/>
              <a:buFont typeface="Arial"/>
              <a:buNone/>
            </a:pPr>
            <a:endParaRPr sz="200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Institusi ini menawarkan pulangan melebihi purata yang wajar dan perlindungan portfolio kepada pelabur.</a:t>
            </a:r>
            <a:endParaRPr/>
          </a:p>
          <a:p>
            <a:pPr marL="358775" marR="0" lvl="0" indent="-231775" algn="just" rtl="0">
              <a:lnSpc>
                <a:spcPct val="150000"/>
              </a:lnSpc>
              <a:spcBef>
                <a:spcPts val="0"/>
              </a:spcBef>
              <a:spcAft>
                <a:spcPts val="0"/>
              </a:spcAft>
              <a:buClr>
                <a:schemeClr val="dk1"/>
              </a:buClr>
              <a:buSzPts val="2000"/>
              <a:buFont typeface="Arial"/>
              <a:buNone/>
            </a:pPr>
            <a:endParaRPr sz="200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Mereka menawarkan kemudahan untuk aktiviti perlindungan nilai yang boleh menghasilkan pembiayaan yang cekap untuk portfolio pelaburan.</a:t>
            </a:r>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6"/>
          <p:cNvSpPr txBox="1"/>
          <p:nvPr/>
        </p:nvSpPr>
        <p:spPr>
          <a:xfrm>
            <a:off x="2567865" y="739538"/>
            <a:ext cx="6804120"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d. Jenis dan Fungsi Institusi Kewangan</a:t>
            </a:r>
            <a:endParaRPr sz="2800" b="0" i="0" u="none" strike="noStrike" cap="none">
              <a:solidFill>
                <a:srgbClr val="000000"/>
              </a:solidFill>
              <a:latin typeface="Microsoft Yahei"/>
              <a:ea typeface="Microsoft Yahei"/>
              <a:cs typeface="Microsoft Yahei"/>
              <a:sym typeface="Microsoft Yahei"/>
            </a:endParaRPr>
          </a:p>
        </p:txBody>
      </p:sp>
      <p:cxnSp>
        <p:nvCxnSpPr>
          <p:cNvPr id="284" name="Google Shape;284;p36"/>
          <p:cNvCxnSpPr/>
          <p:nvPr/>
        </p:nvCxnSpPr>
        <p:spPr>
          <a:xfrm>
            <a:off x="4562120" y="2461190"/>
            <a:ext cx="0" cy="2585371"/>
          </a:xfrm>
          <a:prstGeom prst="straightConnector1">
            <a:avLst/>
          </a:prstGeom>
          <a:noFill/>
          <a:ln w="9525" cap="rnd" cmpd="sng">
            <a:solidFill>
              <a:srgbClr val="BFBFBF"/>
            </a:solidFill>
            <a:prstDash val="solid"/>
            <a:round/>
            <a:headEnd type="none" w="sm" len="sm"/>
            <a:tailEnd type="none" w="sm" len="sm"/>
          </a:ln>
        </p:spPr>
      </p:cxnSp>
      <p:cxnSp>
        <p:nvCxnSpPr>
          <p:cNvPr id="285" name="Google Shape;285;p36"/>
          <p:cNvCxnSpPr/>
          <p:nvPr/>
        </p:nvCxnSpPr>
        <p:spPr>
          <a:xfrm>
            <a:off x="7934694" y="2426793"/>
            <a:ext cx="0" cy="2619768"/>
          </a:xfrm>
          <a:prstGeom prst="straightConnector1">
            <a:avLst/>
          </a:prstGeom>
          <a:noFill/>
          <a:ln w="9525" cap="rnd" cmpd="sng">
            <a:solidFill>
              <a:srgbClr val="BFBFBF"/>
            </a:solidFill>
            <a:prstDash val="solid"/>
            <a:round/>
            <a:headEnd type="none" w="sm" len="sm"/>
            <a:tailEnd type="none" w="sm" len="sm"/>
          </a:ln>
        </p:spPr>
      </p:cxnSp>
      <p:sp>
        <p:nvSpPr>
          <p:cNvPr id="286" name="Google Shape;286;p36"/>
          <p:cNvSpPr/>
          <p:nvPr/>
        </p:nvSpPr>
        <p:spPr>
          <a:xfrm>
            <a:off x="1487890" y="3519988"/>
            <a:ext cx="2733786" cy="170816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MY" sz="1400" b="1" i="0" u="none" strike="noStrike" cap="none">
                <a:solidFill>
                  <a:srgbClr val="000000"/>
                </a:solidFill>
                <a:latin typeface="Microsoft Yahei"/>
                <a:ea typeface="Microsoft Yahei"/>
                <a:cs typeface="Microsoft Yahei"/>
                <a:sym typeface="Microsoft Yahei"/>
              </a:rPr>
              <a:t>INSTITUSI KEWANGAN PERBANKAN</a:t>
            </a:r>
            <a:endParaRPr sz="1400" b="1" i="0" u="none" strike="noStrike" cap="none">
              <a:solidFill>
                <a:srgbClr val="000000"/>
              </a:solidFill>
              <a:latin typeface="Microsoft Yahei"/>
              <a:ea typeface="Microsoft Yahei"/>
              <a:cs typeface="Microsoft Yahei"/>
              <a:sym typeface="Microsoft Yahei"/>
            </a:endParaRPr>
          </a:p>
          <a:p>
            <a:pPr marL="285750" marR="0" lvl="0" indent="-285750" algn="l" rtl="0">
              <a:lnSpc>
                <a:spcPct val="150000"/>
              </a:lnSpc>
              <a:spcBef>
                <a:spcPts val="0"/>
              </a:spcBef>
              <a:spcAft>
                <a:spcPts val="0"/>
              </a:spcAft>
              <a:buClr>
                <a:srgbClr val="000000"/>
              </a:buClr>
              <a:buSzPts val="1400"/>
              <a:buFont typeface="Arial"/>
              <a:buChar char="•"/>
            </a:pPr>
            <a:r>
              <a:rPr lang="en-MY" sz="1400" b="0" i="0" u="none" strike="noStrike" cap="none">
                <a:solidFill>
                  <a:srgbClr val="000000"/>
                </a:solidFill>
                <a:latin typeface="Microsoft Yahei"/>
                <a:ea typeface="Microsoft Yahei"/>
                <a:cs typeface="Microsoft Yahei"/>
                <a:sym typeface="Microsoft Yahei"/>
              </a:rPr>
              <a:t>Ban</a:t>
            </a:r>
            <a:r>
              <a:rPr lang="en-MY" sz="1400">
                <a:solidFill>
                  <a:srgbClr val="000000"/>
                </a:solidFill>
                <a:latin typeface="Microsoft Yahei"/>
                <a:ea typeface="Microsoft Yahei"/>
                <a:cs typeface="Microsoft Yahei"/>
                <a:sym typeface="Microsoft Yahei"/>
              </a:rPr>
              <a:t>k Negara Malaysia</a:t>
            </a:r>
            <a:endParaRPr/>
          </a:p>
          <a:p>
            <a:pPr marL="285750" marR="0" lvl="0" indent="-285750" algn="l" rtl="0">
              <a:lnSpc>
                <a:spcPct val="150000"/>
              </a:lnSpc>
              <a:spcBef>
                <a:spcPts val="0"/>
              </a:spcBef>
              <a:spcAft>
                <a:spcPts val="0"/>
              </a:spcAft>
              <a:buClr>
                <a:srgbClr val="000000"/>
              </a:buClr>
              <a:buSzPts val="1400"/>
              <a:buFont typeface="Arial"/>
              <a:buChar char="•"/>
            </a:pPr>
            <a:r>
              <a:rPr lang="en-MY" sz="1400" b="0" i="0" u="none" strike="noStrike" cap="none">
                <a:solidFill>
                  <a:srgbClr val="000000"/>
                </a:solidFill>
                <a:latin typeface="Microsoft Yahei"/>
                <a:ea typeface="Microsoft Yahei"/>
                <a:cs typeface="Microsoft Yahei"/>
                <a:sym typeface="Microsoft Yahei"/>
              </a:rPr>
              <a:t>Bank Perdagangan</a:t>
            </a:r>
            <a:endParaRPr sz="1400" b="0" i="0" u="none" strike="noStrike" cap="none">
              <a:solidFill>
                <a:srgbClr val="000000"/>
              </a:solidFill>
              <a:latin typeface="Microsoft Yahei"/>
              <a:ea typeface="Microsoft Yahei"/>
              <a:cs typeface="Microsoft Yahei"/>
              <a:sym typeface="Microsoft Yahei"/>
            </a:endParaRPr>
          </a:p>
          <a:p>
            <a:pPr marL="285750" marR="0" lvl="0" indent="-285750" algn="l" rtl="0">
              <a:lnSpc>
                <a:spcPct val="150000"/>
              </a:lnSpc>
              <a:spcBef>
                <a:spcPts val="0"/>
              </a:spcBef>
              <a:spcAft>
                <a:spcPts val="0"/>
              </a:spcAft>
              <a:buClr>
                <a:srgbClr val="000000"/>
              </a:buClr>
              <a:buSzPts val="1400"/>
              <a:buFont typeface="Arial"/>
              <a:buChar char="•"/>
            </a:pPr>
            <a:r>
              <a:rPr lang="en-MY" sz="1400">
                <a:solidFill>
                  <a:srgbClr val="000000"/>
                </a:solidFill>
                <a:latin typeface="Microsoft Yahei"/>
                <a:ea typeface="Microsoft Yahei"/>
                <a:cs typeface="Microsoft Yahei"/>
                <a:sym typeface="Microsoft Yahei"/>
              </a:rPr>
              <a:t>Bank Pelaburan</a:t>
            </a:r>
            <a:endParaRPr sz="1400" b="0" i="0" u="none" strike="noStrike" cap="none">
              <a:solidFill>
                <a:srgbClr val="000000"/>
              </a:solidFill>
              <a:latin typeface="Microsoft Yahei"/>
              <a:ea typeface="Microsoft Yahei"/>
              <a:cs typeface="Microsoft Yahei"/>
              <a:sym typeface="Microsoft Yahei"/>
            </a:endParaRPr>
          </a:p>
        </p:txBody>
      </p:sp>
      <p:sp>
        <p:nvSpPr>
          <p:cNvPr id="287" name="Google Shape;287;p36"/>
          <p:cNvSpPr/>
          <p:nvPr/>
        </p:nvSpPr>
        <p:spPr>
          <a:xfrm>
            <a:off x="4881513" y="3509057"/>
            <a:ext cx="2733786" cy="3323987"/>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MY" sz="1400" b="1">
                <a:solidFill>
                  <a:srgbClr val="000000"/>
                </a:solidFill>
                <a:latin typeface="Microsoft Yahei"/>
                <a:ea typeface="Microsoft Yahei"/>
                <a:cs typeface="Microsoft Yahei"/>
                <a:sym typeface="Microsoft Yahei"/>
              </a:rPr>
              <a:t>INSTITUSI KEWANGAN BUKAN PERBANKAN</a:t>
            </a:r>
            <a:endParaRPr/>
          </a:p>
          <a:p>
            <a:pPr marL="285750" marR="0" lvl="0" indent="-285750" algn="l" rtl="0">
              <a:lnSpc>
                <a:spcPct val="150000"/>
              </a:lnSpc>
              <a:spcBef>
                <a:spcPts val="0"/>
              </a:spcBef>
              <a:spcAft>
                <a:spcPts val="0"/>
              </a:spcAft>
              <a:buClr>
                <a:srgbClr val="000000"/>
              </a:buClr>
              <a:buSzPts val="1400"/>
              <a:buFont typeface="Arial"/>
              <a:buChar char="•"/>
            </a:pPr>
            <a:r>
              <a:rPr lang="en-MY" sz="1400">
                <a:solidFill>
                  <a:srgbClr val="000000"/>
                </a:solidFill>
                <a:latin typeface="Microsoft Yahei"/>
                <a:ea typeface="Microsoft Yahei"/>
                <a:cs typeface="Microsoft Yahei"/>
                <a:sym typeface="Microsoft Yahei"/>
              </a:rPr>
              <a:t>Kumpulan Wang Simpanan Pekerja (KWSP)</a:t>
            </a:r>
            <a:endParaRPr/>
          </a:p>
          <a:p>
            <a:pPr marL="285750" marR="0" lvl="0" indent="-285750" algn="l" rtl="0">
              <a:lnSpc>
                <a:spcPct val="150000"/>
              </a:lnSpc>
              <a:spcBef>
                <a:spcPts val="0"/>
              </a:spcBef>
              <a:spcAft>
                <a:spcPts val="0"/>
              </a:spcAft>
              <a:buClr>
                <a:srgbClr val="000000"/>
              </a:buClr>
              <a:buSzPts val="1400"/>
              <a:buFont typeface="Arial"/>
              <a:buChar char="•"/>
            </a:pPr>
            <a:r>
              <a:rPr lang="en-MY" sz="1400" b="0" i="0" u="none" strike="noStrike" cap="none">
                <a:solidFill>
                  <a:srgbClr val="000000"/>
                </a:solidFill>
                <a:latin typeface="Microsoft Yahei"/>
                <a:ea typeface="Microsoft Yahei"/>
                <a:cs typeface="Microsoft Yahei"/>
                <a:sym typeface="Microsoft Yahei"/>
              </a:rPr>
              <a:t>Tabung Haji</a:t>
            </a:r>
            <a:endParaRPr/>
          </a:p>
          <a:p>
            <a:pPr marL="285750" marR="0" lvl="0" indent="-285750" algn="l" rtl="0">
              <a:lnSpc>
                <a:spcPct val="150000"/>
              </a:lnSpc>
              <a:spcBef>
                <a:spcPts val="0"/>
              </a:spcBef>
              <a:spcAft>
                <a:spcPts val="0"/>
              </a:spcAft>
              <a:buClr>
                <a:srgbClr val="000000"/>
              </a:buClr>
              <a:buSzPts val="1400"/>
              <a:buFont typeface="Arial"/>
              <a:buChar char="•"/>
            </a:pPr>
            <a:r>
              <a:rPr lang="en-MY" sz="1400">
                <a:solidFill>
                  <a:srgbClr val="000000"/>
                </a:solidFill>
                <a:latin typeface="Microsoft Yahei"/>
                <a:ea typeface="Microsoft Yahei"/>
                <a:cs typeface="Microsoft Yahei"/>
                <a:sym typeface="Microsoft Yahei"/>
              </a:rPr>
              <a:t>Bank Simpanan Nasional (BSN)</a:t>
            </a:r>
            <a:endParaRPr/>
          </a:p>
          <a:p>
            <a:pPr marL="285750" marR="0" lvl="0" indent="-285750" algn="l" rtl="0">
              <a:lnSpc>
                <a:spcPct val="150000"/>
              </a:lnSpc>
              <a:spcBef>
                <a:spcPts val="0"/>
              </a:spcBef>
              <a:spcAft>
                <a:spcPts val="0"/>
              </a:spcAft>
              <a:buClr>
                <a:srgbClr val="000000"/>
              </a:buClr>
              <a:buSzPts val="1400"/>
              <a:buFont typeface="Arial"/>
              <a:buChar char="•"/>
            </a:pPr>
            <a:r>
              <a:rPr lang="en-MY" sz="1400" b="0" i="0" u="none" strike="noStrike" cap="none">
                <a:solidFill>
                  <a:srgbClr val="000000"/>
                </a:solidFill>
                <a:latin typeface="Microsoft Yahei"/>
                <a:ea typeface="Microsoft Yahei"/>
                <a:cs typeface="Microsoft Yahei"/>
                <a:sym typeface="Microsoft Yahei"/>
              </a:rPr>
              <a:t>Syarikat Insurans</a:t>
            </a:r>
            <a:endParaRPr sz="1400" b="0" i="0" u="none" strike="noStrike" cap="none">
              <a:solidFill>
                <a:srgbClr val="000000"/>
              </a:solidFill>
              <a:latin typeface="Microsoft Yahei"/>
              <a:ea typeface="Microsoft Yahei"/>
              <a:cs typeface="Microsoft Yahei"/>
              <a:sym typeface="Microsoft Yahei"/>
            </a:endParaRPr>
          </a:p>
          <a:p>
            <a:pPr marL="285750" marR="0" lvl="0" indent="-285750" algn="l" rtl="0">
              <a:lnSpc>
                <a:spcPct val="150000"/>
              </a:lnSpc>
              <a:spcBef>
                <a:spcPts val="0"/>
              </a:spcBef>
              <a:spcAft>
                <a:spcPts val="0"/>
              </a:spcAft>
              <a:buClr>
                <a:srgbClr val="000000"/>
              </a:buClr>
              <a:buSzPts val="1400"/>
              <a:buFont typeface="Arial"/>
              <a:buChar char="•"/>
            </a:pPr>
            <a:r>
              <a:rPr lang="en-MY" sz="1400">
                <a:solidFill>
                  <a:srgbClr val="000000"/>
                </a:solidFill>
                <a:latin typeface="Microsoft Yahei"/>
                <a:ea typeface="Microsoft Yahei"/>
                <a:cs typeface="Microsoft Yahei"/>
                <a:sym typeface="Microsoft Yahei"/>
              </a:rPr>
              <a:t>Syarikat Takaful</a:t>
            </a:r>
            <a:endParaRPr/>
          </a:p>
          <a:p>
            <a:pPr marL="285750" marR="0" lvl="0" indent="-285750" algn="l" rtl="0">
              <a:lnSpc>
                <a:spcPct val="150000"/>
              </a:lnSpc>
              <a:spcBef>
                <a:spcPts val="0"/>
              </a:spcBef>
              <a:spcAft>
                <a:spcPts val="0"/>
              </a:spcAft>
              <a:buClr>
                <a:srgbClr val="000000"/>
              </a:buClr>
              <a:buSzPts val="1400"/>
              <a:buFont typeface="Arial"/>
              <a:buChar char="•"/>
            </a:pPr>
            <a:r>
              <a:rPr lang="en-MY" sz="1400" b="0" i="0" u="none" strike="noStrike" cap="none">
                <a:solidFill>
                  <a:srgbClr val="000000"/>
                </a:solidFill>
                <a:latin typeface="Microsoft Yahei"/>
                <a:ea typeface="Microsoft Yahei"/>
                <a:cs typeface="Microsoft Yahei"/>
                <a:sym typeface="Microsoft Yahei"/>
              </a:rPr>
              <a:t>Bank Pembangunan</a:t>
            </a:r>
            <a:endParaRPr sz="1400" b="0" i="0" u="none" strike="noStrike" cap="none">
              <a:solidFill>
                <a:srgbClr val="000000"/>
              </a:solidFill>
              <a:latin typeface="Microsoft Yahei"/>
              <a:ea typeface="Microsoft Yahei"/>
              <a:cs typeface="Microsoft Yahei"/>
              <a:sym typeface="Microsoft Yahei"/>
            </a:endParaRPr>
          </a:p>
        </p:txBody>
      </p:sp>
      <p:sp>
        <p:nvSpPr>
          <p:cNvPr id="288" name="Google Shape;288;p36"/>
          <p:cNvSpPr/>
          <p:nvPr/>
        </p:nvSpPr>
        <p:spPr>
          <a:xfrm>
            <a:off x="8275136" y="3519988"/>
            <a:ext cx="2733786" cy="1384995"/>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rgbClr val="000000"/>
              </a:buClr>
              <a:buSzPts val="1400"/>
              <a:buFont typeface="Microsoft Yahei"/>
              <a:buNone/>
            </a:pPr>
            <a:r>
              <a:rPr lang="en-MY" sz="1400" b="1">
                <a:solidFill>
                  <a:srgbClr val="000000"/>
                </a:solidFill>
                <a:latin typeface="Microsoft Yahei"/>
                <a:ea typeface="Microsoft Yahei"/>
                <a:cs typeface="Microsoft Yahei"/>
                <a:sym typeface="Microsoft Yahei"/>
              </a:rPr>
              <a:t>BADAN KAWAL SELIA</a:t>
            </a:r>
            <a:endParaRPr/>
          </a:p>
          <a:p>
            <a:pPr marL="285750" marR="0" lvl="0" indent="-285750" algn="l" rtl="0">
              <a:lnSpc>
                <a:spcPct val="150000"/>
              </a:lnSpc>
              <a:spcBef>
                <a:spcPts val="0"/>
              </a:spcBef>
              <a:spcAft>
                <a:spcPts val="0"/>
              </a:spcAft>
              <a:buClr>
                <a:srgbClr val="000000"/>
              </a:buClr>
              <a:buSzPts val="1400"/>
              <a:buFont typeface="Arial"/>
              <a:buChar char="•"/>
            </a:pPr>
            <a:r>
              <a:rPr lang="en-MY" sz="1400" b="0" i="0" u="none" strike="noStrike" cap="none">
                <a:solidFill>
                  <a:srgbClr val="000000"/>
                </a:solidFill>
                <a:latin typeface="Microsoft Yahei"/>
                <a:ea typeface="Microsoft Yahei"/>
                <a:cs typeface="Microsoft Yahei"/>
                <a:sym typeface="Microsoft Yahei"/>
              </a:rPr>
              <a:t>Bank Negara Malaysia</a:t>
            </a:r>
            <a:endParaRPr/>
          </a:p>
          <a:p>
            <a:pPr marL="285750" marR="0" lvl="0" indent="-285750" algn="l" rtl="0">
              <a:lnSpc>
                <a:spcPct val="150000"/>
              </a:lnSpc>
              <a:spcBef>
                <a:spcPts val="0"/>
              </a:spcBef>
              <a:spcAft>
                <a:spcPts val="0"/>
              </a:spcAft>
              <a:buClr>
                <a:srgbClr val="000000"/>
              </a:buClr>
              <a:buSzPts val="1400"/>
              <a:buFont typeface="Arial"/>
              <a:buChar char="•"/>
            </a:pPr>
            <a:r>
              <a:rPr lang="en-MY" sz="1400">
                <a:solidFill>
                  <a:srgbClr val="000000"/>
                </a:solidFill>
                <a:latin typeface="Microsoft Yahei"/>
                <a:ea typeface="Microsoft Yahei"/>
                <a:cs typeface="Microsoft Yahei"/>
                <a:sym typeface="Microsoft Yahei"/>
              </a:rPr>
              <a:t>Bursa Malaysia</a:t>
            </a:r>
            <a:endParaRPr/>
          </a:p>
          <a:p>
            <a:pPr marL="285750" marR="0" lvl="0" indent="-285750" algn="l" rtl="0">
              <a:lnSpc>
                <a:spcPct val="150000"/>
              </a:lnSpc>
              <a:spcBef>
                <a:spcPts val="0"/>
              </a:spcBef>
              <a:spcAft>
                <a:spcPts val="0"/>
              </a:spcAft>
              <a:buClr>
                <a:srgbClr val="000000"/>
              </a:buClr>
              <a:buSzPts val="1400"/>
              <a:buFont typeface="Arial"/>
              <a:buChar char="•"/>
            </a:pPr>
            <a:r>
              <a:rPr lang="en-MY" sz="1400" b="0" i="0" u="none" strike="noStrike" cap="none">
                <a:solidFill>
                  <a:srgbClr val="000000"/>
                </a:solidFill>
                <a:latin typeface="Microsoft Yahei"/>
                <a:ea typeface="Microsoft Yahei"/>
                <a:cs typeface="Microsoft Yahei"/>
                <a:sym typeface="Microsoft Yahei"/>
              </a:rPr>
              <a:t>Suruhanjaya Sekuriti</a:t>
            </a:r>
            <a:endParaRPr sz="1400" b="0" i="0" u="none" strike="noStrike" cap="none">
              <a:solidFill>
                <a:srgbClr val="000000"/>
              </a:solidFill>
              <a:latin typeface="Microsoft Yahei"/>
              <a:ea typeface="Microsoft Yahei"/>
              <a:cs typeface="Microsoft Yahei"/>
              <a:sym typeface="Microsoft Yahei"/>
            </a:endParaRPr>
          </a:p>
        </p:txBody>
      </p:sp>
      <p:pic>
        <p:nvPicPr>
          <p:cNvPr id="289" name="Google Shape;289;p36" descr="Kredit Perbankan Diprediksi Tumbuh pada Kuartal I 2021 | Republika Online"/>
          <p:cNvPicPr preferRelativeResize="0"/>
          <p:nvPr/>
        </p:nvPicPr>
        <p:blipFill rotWithShape="1">
          <a:blip r:embed="rId3">
            <a:alphaModFix/>
          </a:blip>
          <a:srcRect/>
          <a:stretch/>
        </p:blipFill>
        <p:spPr>
          <a:xfrm>
            <a:off x="1440094" y="1767145"/>
            <a:ext cx="2619375" cy="1743076"/>
          </a:xfrm>
          <a:prstGeom prst="rect">
            <a:avLst/>
          </a:prstGeom>
          <a:noFill/>
          <a:ln>
            <a:noFill/>
          </a:ln>
        </p:spPr>
      </p:pic>
      <p:pic>
        <p:nvPicPr>
          <p:cNvPr id="290" name="Google Shape;290;p36"/>
          <p:cNvPicPr preferRelativeResize="0"/>
          <p:nvPr/>
        </p:nvPicPr>
        <p:blipFill rotWithShape="1">
          <a:blip r:embed="rId4">
            <a:alphaModFix/>
          </a:blip>
          <a:srcRect/>
          <a:stretch/>
        </p:blipFill>
        <p:spPr>
          <a:xfrm>
            <a:off x="4862574" y="1810008"/>
            <a:ext cx="2752725" cy="1657350"/>
          </a:xfrm>
          <a:prstGeom prst="rect">
            <a:avLst/>
          </a:prstGeom>
          <a:noFill/>
          <a:ln>
            <a:noFill/>
          </a:ln>
        </p:spPr>
      </p:pic>
      <p:sp>
        <p:nvSpPr>
          <p:cNvPr id="291" name="Google Shape;291;p36"/>
          <p:cNvSpPr/>
          <p:nvPr/>
        </p:nvSpPr>
        <p:spPr>
          <a:xfrm>
            <a:off x="8393848" y="2161629"/>
            <a:ext cx="2493760" cy="95410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MY" sz="2800" b="0" cap="none">
                <a:solidFill>
                  <a:srgbClr val="FF1515"/>
                </a:solidFill>
                <a:latin typeface="Microsoft Yahei"/>
                <a:ea typeface="Microsoft Yahei"/>
                <a:cs typeface="Microsoft Yahei"/>
                <a:sym typeface="Microsoft Yahei"/>
              </a:rPr>
              <a:t>BADAN </a:t>
            </a:r>
            <a:endParaRPr/>
          </a:p>
          <a:p>
            <a:pPr marL="0" marR="0" lvl="0" indent="0" algn="ctr" rtl="0">
              <a:spcBef>
                <a:spcPts val="0"/>
              </a:spcBef>
              <a:spcAft>
                <a:spcPts val="0"/>
              </a:spcAft>
              <a:buNone/>
            </a:pPr>
            <a:r>
              <a:rPr lang="en-MY" sz="2800" b="0" cap="none">
                <a:solidFill>
                  <a:srgbClr val="FF1515"/>
                </a:solidFill>
                <a:latin typeface="Microsoft Yahei"/>
                <a:ea typeface="Microsoft Yahei"/>
                <a:cs typeface="Microsoft Yahei"/>
                <a:sym typeface="Microsoft Yahei"/>
              </a:rPr>
              <a:t>KAWAL SELIA</a:t>
            </a:r>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7"/>
          <p:cNvSpPr txBox="1"/>
          <p:nvPr/>
        </p:nvSpPr>
        <p:spPr>
          <a:xfrm>
            <a:off x="3579541" y="632534"/>
            <a:ext cx="6643869"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INSTITUSI KEWANGAN PERBANKAN</a:t>
            </a:r>
            <a:endParaRPr sz="2800" b="0" i="0" u="none" strike="noStrike" cap="none">
              <a:solidFill>
                <a:srgbClr val="000000"/>
              </a:solidFill>
              <a:latin typeface="Microsoft Yahei"/>
              <a:ea typeface="Microsoft Yahei"/>
              <a:cs typeface="Microsoft Yahei"/>
              <a:sym typeface="Microsoft Yahei"/>
            </a:endParaRPr>
          </a:p>
        </p:txBody>
      </p:sp>
      <p:sp>
        <p:nvSpPr>
          <p:cNvPr id="297" name="Google Shape;297;p37"/>
          <p:cNvSpPr txBox="1"/>
          <p:nvPr/>
        </p:nvSpPr>
        <p:spPr>
          <a:xfrm>
            <a:off x="3713354" y="1155754"/>
            <a:ext cx="8478645" cy="6093936"/>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None/>
            </a:pPr>
            <a:r>
              <a:rPr lang="en-MY" sz="2000" b="1" i="0" u="none" strike="noStrike" cap="none" dirty="0">
                <a:solidFill>
                  <a:srgbClr val="3F3F3F"/>
                </a:solidFill>
                <a:latin typeface="Microsoft Yahei"/>
                <a:ea typeface="Microsoft Yahei"/>
                <a:cs typeface="Microsoft Yahei"/>
                <a:sym typeface="Microsoft Yahei"/>
              </a:rPr>
              <a:t>Bank Negara Malaysia</a:t>
            </a:r>
            <a:endParaRPr dirty="0"/>
          </a:p>
          <a:p>
            <a:pPr marL="358775" marR="0" lvl="0" indent="-358775" algn="just" rtl="0">
              <a:lnSpc>
                <a:spcPct val="150000"/>
              </a:lnSpc>
              <a:spcBef>
                <a:spcPts val="0"/>
              </a:spcBef>
              <a:spcAft>
                <a:spcPts val="0"/>
              </a:spcAft>
              <a:buClr>
                <a:srgbClr val="3F3F3F"/>
              </a:buClr>
              <a:buSzPts val="2000"/>
              <a:buFont typeface="Arial"/>
              <a:buChar char="•"/>
            </a:pPr>
            <a:r>
              <a:rPr lang="en-MY" sz="2000" dirty="0">
                <a:solidFill>
                  <a:srgbClr val="3F3F3F"/>
                </a:solidFill>
                <a:latin typeface="Microsoft Yahei"/>
                <a:ea typeface="Microsoft Yahei"/>
                <a:cs typeface="Microsoft Yahei"/>
                <a:sym typeface="Microsoft Yahei"/>
              </a:rPr>
              <a:t>Bank Negara Malaysia </a:t>
            </a:r>
            <a:r>
              <a:rPr lang="en-MY" sz="2000" dirty="0" err="1">
                <a:solidFill>
                  <a:srgbClr val="3F3F3F"/>
                </a:solidFill>
                <a:latin typeface="Microsoft Yahei"/>
                <a:ea typeface="Microsoft Yahei"/>
                <a:cs typeface="Microsoft Yahei"/>
                <a:sym typeface="Microsoft Yahei"/>
              </a:rPr>
              <a:t>ditubuhkan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pada</a:t>
            </a:r>
            <a:r>
              <a:rPr lang="en-MY" sz="2000" dirty="0">
                <a:solidFill>
                  <a:srgbClr val="3F3F3F"/>
                </a:solidFill>
                <a:latin typeface="Microsoft Yahei"/>
                <a:ea typeface="Microsoft Yahei"/>
                <a:cs typeface="Microsoft Yahei"/>
                <a:sym typeface="Microsoft Yahei"/>
              </a:rPr>
              <a:t> 26 </a:t>
            </a:r>
            <a:r>
              <a:rPr lang="en-MY" sz="2000" dirty="0" err="1">
                <a:solidFill>
                  <a:srgbClr val="3F3F3F"/>
                </a:solidFill>
                <a:latin typeface="Microsoft Yahei"/>
                <a:ea typeface="Microsoft Yahei"/>
                <a:cs typeface="Microsoft Yahei"/>
                <a:sym typeface="Microsoft Yahei"/>
              </a:rPr>
              <a:t>Januari</a:t>
            </a:r>
            <a:r>
              <a:rPr lang="en-MY" sz="2000" dirty="0">
                <a:solidFill>
                  <a:srgbClr val="3F3F3F"/>
                </a:solidFill>
                <a:latin typeface="Microsoft Yahei"/>
                <a:ea typeface="Microsoft Yahei"/>
                <a:cs typeface="Microsoft Yahei"/>
                <a:sym typeface="Microsoft Yahei"/>
              </a:rPr>
              <a:t> 1959 di </a:t>
            </a:r>
            <a:r>
              <a:rPr lang="en-MY" sz="2000" dirty="0" err="1">
                <a:solidFill>
                  <a:srgbClr val="3F3F3F"/>
                </a:solidFill>
                <a:latin typeface="Microsoft Yahei"/>
                <a:ea typeface="Microsoft Yahei"/>
                <a:cs typeface="Microsoft Yahei"/>
                <a:sym typeface="Microsoft Yahei"/>
              </a:rPr>
              <a:t>bawah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Akta</a:t>
            </a:r>
            <a:r>
              <a:rPr lang="en-MY" sz="2000" dirty="0">
                <a:solidFill>
                  <a:srgbClr val="3F3F3F"/>
                </a:solidFill>
                <a:latin typeface="Microsoft Yahei"/>
                <a:ea typeface="Microsoft Yahei"/>
                <a:cs typeface="Microsoft Yahei"/>
                <a:sym typeface="Microsoft Yahei"/>
              </a:rPr>
              <a:t> Bank Negara Malaysia 1958 (</a:t>
            </a:r>
            <a:r>
              <a:rPr lang="en-MY" sz="2000" dirty="0" err="1">
                <a:solidFill>
                  <a:srgbClr val="3F3F3F"/>
                </a:solidFill>
                <a:latin typeface="Microsoft Yahei"/>
                <a:ea typeface="Microsoft Yahei"/>
                <a:cs typeface="Microsoft Yahei"/>
                <a:sym typeface="Microsoft Yahei"/>
              </a:rPr>
              <a:t>Pindaan</a:t>
            </a:r>
            <a:r>
              <a:rPr lang="en-MY" sz="2000" dirty="0">
                <a:solidFill>
                  <a:srgbClr val="3F3F3F"/>
                </a:solidFill>
                <a:latin typeface="Microsoft Yahei"/>
                <a:ea typeface="Microsoft Yahei"/>
                <a:cs typeface="Microsoft Yahei"/>
                <a:sym typeface="Microsoft Yahei"/>
              </a:rPr>
              <a:t> - 1994). </a:t>
            </a:r>
            <a:endParaRPr dirty="0"/>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Merupakan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badan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berkanun</a:t>
            </a:r>
            <a:r>
              <a:rPr lang="en-MY" sz="2000" dirty="0">
                <a:solidFill>
                  <a:srgbClr val="3F3F3F"/>
                </a:solidFill>
                <a:latin typeface="Microsoft Yahei"/>
                <a:ea typeface="Microsoft Yahei"/>
                <a:cs typeface="Microsoft Yahei"/>
                <a:sym typeface="Microsoft Yahei"/>
              </a:rPr>
              <a:t> yang </a:t>
            </a:r>
            <a:r>
              <a:rPr lang="en-MY" sz="2000" dirty="0" err="1">
                <a:solidFill>
                  <a:srgbClr val="3F3F3F"/>
                </a:solidFill>
                <a:latin typeface="Microsoft Yahei"/>
                <a:ea typeface="Microsoft Yahei"/>
                <a:cs typeface="Microsoft Yahei"/>
                <a:sym typeface="Microsoft Yahei"/>
              </a:rPr>
              <a:t>dimiliki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sepenuhnya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oleh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Kerajaan</a:t>
            </a:r>
            <a:r>
              <a:rPr lang="en-MY" sz="2000" dirty="0">
                <a:solidFill>
                  <a:srgbClr val="3F3F3F"/>
                </a:solidFill>
                <a:latin typeface="Microsoft Yahei"/>
                <a:ea typeface="Microsoft Yahei"/>
                <a:cs typeface="Microsoft Yahei"/>
                <a:sym typeface="Microsoft Yahei"/>
              </a:rPr>
              <a:t> Malaysia . </a:t>
            </a:r>
            <a:r>
              <a:rPr lang="en-MY" sz="2000" dirty="0" err="1">
                <a:solidFill>
                  <a:srgbClr val="3F3F3F"/>
                </a:solidFill>
                <a:latin typeface="Microsoft Yahei"/>
                <a:ea typeface="Microsoft Yahei"/>
                <a:cs typeface="Microsoft Yahei"/>
                <a:sym typeface="Microsoft Yahei"/>
              </a:rPr>
              <a:t>Mempunyai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seorang</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Gabenor</a:t>
            </a:r>
            <a:r>
              <a:rPr lang="en-MY" sz="2000" dirty="0">
                <a:solidFill>
                  <a:srgbClr val="3F3F3F"/>
                </a:solidFill>
                <a:latin typeface="Microsoft Yahei"/>
                <a:ea typeface="Microsoft Yahei"/>
                <a:cs typeface="Microsoft Yahei"/>
                <a:sym typeface="Microsoft Yahei"/>
              </a:rPr>
              <a:t> yang </a:t>
            </a:r>
            <a:r>
              <a:rPr lang="en-MY" sz="2000" dirty="0" err="1">
                <a:solidFill>
                  <a:srgbClr val="3F3F3F"/>
                </a:solidFill>
                <a:latin typeface="Microsoft Yahei"/>
                <a:ea typeface="Microsoft Yahei"/>
                <a:cs typeface="Microsoft Yahei"/>
                <a:sym typeface="Microsoft Yahei"/>
              </a:rPr>
              <a:t>melapor</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terus</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kepada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Menteri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Kewangan</a:t>
            </a:r>
            <a:r>
              <a:rPr lang="en-MY" sz="2000" dirty="0">
                <a:solidFill>
                  <a:srgbClr val="3F3F3F"/>
                </a:solidFill>
                <a:latin typeface="Microsoft Yahei"/>
                <a:ea typeface="Microsoft Yahei"/>
                <a:cs typeface="Microsoft Yahei"/>
                <a:sym typeface="Microsoft Yahei"/>
              </a:rPr>
              <a:t> Malaysia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memaklumkan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hal-hal</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berkaitan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dengan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dasar</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sektor</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monetari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kewangan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kepada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Menteri</a:t>
            </a:r>
            <a:r>
              <a:rPr lang="en-MY" sz="2000" dirty="0">
                <a:solidFill>
                  <a:srgbClr val="3F3F3F"/>
                </a:solidFill>
                <a:latin typeface="Microsoft Yahei"/>
                <a:ea typeface="Microsoft Yahei"/>
                <a:cs typeface="Microsoft Yahei"/>
                <a:sym typeface="Microsoft Yahei"/>
              </a:rPr>
              <a:t>.</a:t>
            </a:r>
            <a:endParaRPr dirty="0"/>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Secara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umumnya</a:t>
            </a:r>
            <a:r>
              <a:rPr lang="en-MY" sz="2000" dirty="0">
                <a:solidFill>
                  <a:srgbClr val="3F3F3F"/>
                </a:solidFill>
                <a:latin typeface="Microsoft Yahei"/>
                <a:ea typeface="Microsoft Yahei"/>
                <a:cs typeface="Microsoft Yahei"/>
                <a:sym typeface="Microsoft Yahei"/>
              </a:rPr>
              <a:t> Bank Negara Malaysia </a:t>
            </a:r>
            <a:r>
              <a:rPr lang="en-MY" sz="2000" dirty="0" err="1">
                <a:solidFill>
                  <a:srgbClr val="3F3F3F"/>
                </a:solidFill>
                <a:latin typeface="Microsoft Yahei"/>
                <a:ea typeface="Microsoft Yahei"/>
                <a:cs typeface="Microsoft Yahei"/>
                <a:sym typeface="Microsoft Yahei"/>
              </a:rPr>
              <a:t>adalah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untuk</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menggalakkan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kestabilan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monetari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kewangan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bagi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menyediakan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persekitaran</a:t>
            </a:r>
            <a:r>
              <a:rPr lang="en-MY" sz="2000" dirty="0">
                <a:solidFill>
                  <a:srgbClr val="3F3F3F"/>
                </a:solidFill>
                <a:latin typeface="Microsoft Yahei"/>
                <a:ea typeface="Microsoft Yahei"/>
                <a:cs typeface="Microsoft Yahei"/>
                <a:sym typeface="Microsoft Yahei"/>
              </a:rPr>
              <a:t> yang </a:t>
            </a:r>
            <a:r>
              <a:rPr lang="en-MY" sz="2000" dirty="0" err="1">
                <a:solidFill>
                  <a:srgbClr val="3F3F3F"/>
                </a:solidFill>
                <a:latin typeface="Microsoft Yahei"/>
                <a:ea typeface="Microsoft Yahei"/>
                <a:cs typeface="Microsoft Yahei"/>
                <a:sym typeface="Microsoft Yahei"/>
              </a:rPr>
              <a:t>kondusif</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untuk</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pertumbuhan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ekonomi</a:t>
            </a:r>
            <a:r>
              <a:rPr lang="en-MY" sz="2000" dirty="0">
                <a:solidFill>
                  <a:srgbClr val="3F3F3F"/>
                </a:solidFill>
                <a:latin typeface="Microsoft Yahei"/>
                <a:ea typeface="Microsoft Yahei"/>
                <a:cs typeface="Microsoft Yahei"/>
                <a:sym typeface="Microsoft Yahei"/>
              </a:rPr>
              <a:t> Malaysia yang </a:t>
            </a:r>
            <a:r>
              <a:rPr lang="en-MY" sz="2000" dirty="0" err="1">
                <a:solidFill>
                  <a:srgbClr val="3F3F3F"/>
                </a:solidFill>
                <a:latin typeface="Microsoft Yahei"/>
                <a:ea typeface="Microsoft Yahei"/>
                <a:cs typeface="Microsoft Yahei"/>
                <a:sym typeface="Microsoft Yahei"/>
              </a:rPr>
              <a:t>mampan</a:t>
            </a:r>
            <a:r>
              <a:rPr lang="en-MY" sz="2000" dirty="0">
                <a:solidFill>
                  <a:srgbClr val="3F3F3F"/>
                </a:solidFill>
                <a:latin typeface="Microsoft Yahei"/>
                <a:ea typeface="Microsoft Yahei"/>
                <a:cs typeface="Microsoft Yahei"/>
                <a:sym typeface="Microsoft Yahei"/>
              </a:rPr>
              <a:t>.</a:t>
            </a:r>
            <a:endParaRPr dirty="0"/>
          </a:p>
          <a:p>
            <a:pPr marL="717550" marR="0" lvl="0" indent="-231775" algn="just" rtl="0">
              <a:lnSpc>
                <a:spcPct val="150000"/>
              </a:lnSpc>
              <a:spcBef>
                <a:spcPts val="0"/>
              </a:spcBef>
              <a:spcAft>
                <a:spcPts val="0"/>
              </a:spcAft>
              <a:buClr>
                <a:schemeClr val="dk1"/>
              </a:buClr>
              <a:buSzPts val="2000"/>
              <a:buFont typeface="Arial"/>
              <a:buNone/>
            </a:pPr>
            <a:endParaRPr sz="2000" b="0" i="0" u="none" strike="noStrike" cap="none" dirty="0">
              <a:solidFill>
                <a:srgbClr val="3F3F3F"/>
              </a:solidFill>
              <a:latin typeface="Microsoft Yahei"/>
              <a:ea typeface="Microsoft Yahei"/>
              <a:cs typeface="Microsoft Yahei"/>
              <a:sym typeface="Microsoft Yahei"/>
            </a:endParaRPr>
          </a:p>
        </p:txBody>
      </p:sp>
      <p:pic>
        <p:nvPicPr>
          <p:cNvPr id="1028" name="Picture 4" descr="Was Bank Negara consulted over wage policy, say business leaders | Free  Malaysia Today (FMT)"/>
          <p:cNvPicPr>
            <a:picLocks noChangeAspect="1" noChangeArrowheads="1"/>
          </p:cNvPicPr>
          <p:nvPr/>
        </p:nvPicPr>
        <p:blipFill rotWithShape="1">
          <a:blip r:embed="rId3">
            <a:extLst>
              <a:ext uri="{28A0092B-C50C-407E-A947-70E740481C1C}">
                <a14:useLocalDpi xmlns:a14="http://schemas.microsoft.com/office/drawing/2010/main" val="0"/>
              </a:ext>
            </a:extLst>
          </a:blip>
          <a:srcRect l="-4941" r="-1664" b="15707"/>
          <a:stretch/>
        </p:blipFill>
        <p:spPr bwMode="auto">
          <a:xfrm>
            <a:off x="-163553" y="1256237"/>
            <a:ext cx="3743094" cy="56017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38"/>
          <p:cNvSpPr txBox="1"/>
          <p:nvPr/>
        </p:nvSpPr>
        <p:spPr>
          <a:xfrm>
            <a:off x="2594856" y="767952"/>
            <a:ext cx="6643869"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INSTITUSI KEWANGAN PERBANKAN</a:t>
            </a:r>
            <a:endParaRPr sz="2800" b="0" i="0" u="none" strike="noStrike" cap="none">
              <a:solidFill>
                <a:srgbClr val="000000"/>
              </a:solidFill>
              <a:latin typeface="Microsoft Yahei"/>
              <a:ea typeface="Microsoft Yahei"/>
              <a:cs typeface="Microsoft Yahei"/>
              <a:sym typeface="Microsoft Yahei"/>
            </a:endParaRPr>
          </a:p>
        </p:txBody>
      </p:sp>
      <p:sp>
        <p:nvSpPr>
          <p:cNvPr id="303" name="Google Shape;303;p38"/>
          <p:cNvSpPr txBox="1"/>
          <p:nvPr/>
        </p:nvSpPr>
        <p:spPr>
          <a:xfrm>
            <a:off x="895506" y="1512593"/>
            <a:ext cx="10042570" cy="4708981"/>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0" i="0" u="none" strike="noStrike" cap="none">
                <a:solidFill>
                  <a:srgbClr val="3F3F3F"/>
                </a:solidFill>
                <a:latin typeface="Microsoft Yahei"/>
                <a:ea typeface="Microsoft Yahei"/>
                <a:cs typeface="Microsoft Yahei"/>
                <a:sym typeface="Microsoft Yahei"/>
              </a:rPr>
              <a:t>Bank Negara Malaysia </a:t>
            </a:r>
            <a:r>
              <a:rPr lang="en-MY" sz="2000" b="0" i="1" u="none" strike="noStrike" cap="none">
                <a:solidFill>
                  <a:srgbClr val="3F3F3F"/>
                </a:solidFill>
                <a:latin typeface="Microsoft Yahei"/>
                <a:ea typeface="Microsoft Yahei"/>
                <a:cs typeface="Microsoft Yahei"/>
                <a:sym typeface="Microsoft Yahei"/>
              </a:rPr>
              <a:t>(…sambungan)</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Diantara Fungsi Bank Negara Malaysia:</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untuk merumuskan dan mengendalikan dasar monetari di Malaysia; </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untuk mengeluarkan mata wang di Malaysia; </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untuk mengawal selia dan menyelia institusi kewangan yang tertakluk kepada undang-undang yang dikuatkuasakan oleh Bank;</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untuk mengadakan pengawasan ke atas pasaran wang dan pasaran pertukaran asing; </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untuk menjalankan pengawasan ke atas sistem pembayaran; </a:t>
            </a:r>
            <a:endParaRPr/>
          </a:p>
          <a:p>
            <a:pPr marL="717550"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39"/>
          <p:cNvSpPr txBox="1"/>
          <p:nvPr/>
        </p:nvSpPr>
        <p:spPr>
          <a:xfrm>
            <a:off x="2505646" y="500323"/>
            <a:ext cx="6643869"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dirty="0">
                <a:solidFill>
                  <a:srgbClr val="000000"/>
                </a:solidFill>
                <a:latin typeface="Microsoft Yahei"/>
                <a:ea typeface="Microsoft Yahei"/>
                <a:cs typeface="Microsoft Yahei"/>
                <a:sym typeface="Microsoft Yahei"/>
              </a:rPr>
              <a:t>INSTITUSI KEWANGAN PERBANKAN</a:t>
            </a:r>
            <a:endParaRPr sz="2800" b="0" i="0" u="none" strike="noStrike" cap="none" dirty="0">
              <a:solidFill>
                <a:srgbClr val="000000"/>
              </a:solidFill>
              <a:latin typeface="Microsoft Yahei"/>
              <a:ea typeface="Microsoft Yahei"/>
              <a:cs typeface="Microsoft Yahei"/>
              <a:sym typeface="Microsoft Yahei"/>
            </a:endParaRPr>
          </a:p>
        </p:txBody>
      </p:sp>
      <p:sp>
        <p:nvSpPr>
          <p:cNvPr id="309" name="Google Shape;309;p39"/>
          <p:cNvSpPr txBox="1"/>
          <p:nvPr/>
        </p:nvSpPr>
        <p:spPr>
          <a:xfrm>
            <a:off x="646770" y="933404"/>
            <a:ext cx="10536632" cy="3323946"/>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1" i="0" u="none" strike="noStrike" cap="none" dirty="0">
                <a:solidFill>
                  <a:srgbClr val="3F3F3F"/>
                </a:solidFill>
                <a:latin typeface="Microsoft Yahei"/>
                <a:ea typeface="Microsoft Yahei"/>
                <a:cs typeface="Microsoft Yahei"/>
                <a:sym typeface="Microsoft Yahei"/>
              </a:rPr>
              <a:t>Bank </a:t>
            </a:r>
            <a:r>
              <a:rPr lang="en-MY" sz="2000" b="1" i="0" u="none" strike="noStrike" cap="none" dirty="0" err="1">
                <a:solidFill>
                  <a:srgbClr val="3F3F3F"/>
                </a:solidFill>
                <a:latin typeface="Microsoft Yahei"/>
                <a:ea typeface="Microsoft Yahei"/>
                <a:cs typeface="Microsoft Yahei"/>
                <a:sym typeface="Microsoft Yahei"/>
              </a:rPr>
              <a:t>Perdagangan</a:t>
            </a:r>
            <a:endParaRPr sz="2000" b="1" i="0" u="none" strike="noStrike" cap="none" dirty="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Institusi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kewangan</a:t>
            </a:r>
            <a:r>
              <a:rPr lang="en-MY" sz="2000" dirty="0">
                <a:solidFill>
                  <a:srgbClr val="3F3F3F"/>
                </a:solidFill>
                <a:latin typeface="Microsoft Yahei"/>
                <a:ea typeface="Microsoft Yahei"/>
                <a:cs typeface="Microsoft Yahei"/>
                <a:sym typeface="Microsoft Yahei"/>
              </a:rPr>
              <a:t> yang </a:t>
            </a:r>
            <a:r>
              <a:rPr lang="en-MY" sz="2000" dirty="0" err="1">
                <a:solidFill>
                  <a:srgbClr val="3F3F3F"/>
                </a:solidFill>
                <a:latin typeface="Microsoft Yahei"/>
                <a:ea typeface="Microsoft Yahei"/>
                <a:cs typeface="Microsoft Yahei"/>
                <a:sym typeface="Microsoft Yahei"/>
              </a:rPr>
              <a:t>terbesar</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terpenting</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dalam</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sistem</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perbankan</a:t>
            </a:r>
            <a:r>
              <a:rPr lang="en-MY" sz="2000" dirty="0">
                <a:solidFill>
                  <a:srgbClr val="3F3F3F"/>
                </a:solidFill>
                <a:latin typeface="Microsoft Yahei"/>
                <a:ea typeface="Microsoft Yahei"/>
                <a:cs typeface="Microsoft Yahei"/>
                <a:sym typeface="Microsoft Yahei"/>
              </a:rPr>
              <a:t>.</a:t>
            </a:r>
            <a:endParaRPr sz="2000" dirty="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Dimiliki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oleh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swasta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aktivitinya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adalah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berteraskan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keuntungan</a:t>
            </a:r>
            <a:r>
              <a:rPr lang="en-MY" sz="2000" dirty="0">
                <a:solidFill>
                  <a:srgbClr val="3F3F3F"/>
                </a:solidFill>
                <a:latin typeface="Microsoft Yahei"/>
                <a:ea typeface="Microsoft Yahei"/>
                <a:cs typeface="Microsoft Yahei"/>
                <a:sym typeface="Microsoft Yahei"/>
              </a:rPr>
              <a:t>.</a:t>
            </a:r>
            <a:endParaRPr sz="2000" dirty="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Kaedah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perbankan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konvensional</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mengamalkan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urusan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berdasarkan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kadar</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faedah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dikawal</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oleh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Akta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Perkhidmatan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Kewangan</a:t>
            </a:r>
            <a:r>
              <a:rPr lang="en-MY" sz="2000" dirty="0">
                <a:solidFill>
                  <a:srgbClr val="3F3F3F"/>
                </a:solidFill>
                <a:latin typeface="Microsoft Yahei"/>
                <a:ea typeface="Microsoft Yahei"/>
                <a:cs typeface="Microsoft Yahei"/>
                <a:sym typeface="Microsoft Yahei"/>
              </a:rPr>
              <a:t> 2013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menerima</a:t>
            </a:r>
            <a:r>
              <a:rPr lang="en-MY" sz="2000" dirty="0">
                <a:solidFill>
                  <a:srgbClr val="3F3F3F"/>
                </a:solidFill>
                <a:latin typeface="Microsoft Yahei"/>
                <a:ea typeface="Microsoft Yahei"/>
                <a:cs typeface="Microsoft Yahei"/>
                <a:sym typeface="Microsoft Yahei"/>
              </a:rPr>
              <a:t> deposit </a:t>
            </a:r>
            <a:r>
              <a:rPr lang="en-MY" sz="2000" dirty="0" err="1">
                <a:solidFill>
                  <a:srgbClr val="3F3F3F"/>
                </a:solidFill>
                <a:latin typeface="Microsoft Yahei"/>
                <a:ea typeface="Microsoft Yahei"/>
                <a:cs typeface="Microsoft Yahei"/>
                <a:sym typeface="Microsoft Yahei"/>
              </a:rPr>
              <a:t>tetap</a:t>
            </a:r>
            <a:r>
              <a:rPr lang="en-MY" sz="2000" dirty="0">
                <a:solidFill>
                  <a:srgbClr val="3F3F3F"/>
                </a:solidFill>
                <a:latin typeface="Microsoft Yahei"/>
                <a:ea typeface="Microsoft Yahei"/>
                <a:cs typeface="Microsoft Yahei"/>
                <a:sym typeface="Microsoft Yahei"/>
              </a:rPr>
              <a:t>.</a:t>
            </a:r>
            <a:endParaRPr sz="2000" dirty="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Contoh</a:t>
            </a:r>
            <a:r>
              <a:rPr lang="en-MY" sz="2000" dirty="0">
                <a:solidFill>
                  <a:srgbClr val="3F3F3F"/>
                </a:solidFill>
                <a:latin typeface="Microsoft Yahei"/>
                <a:ea typeface="Microsoft Yahei"/>
                <a:cs typeface="Microsoft Yahei"/>
                <a:sym typeface="Microsoft Yahei"/>
              </a:rPr>
              <a:t> bank: Maybank </a:t>
            </a:r>
            <a:r>
              <a:rPr lang="en-MY" sz="2000" dirty="0" err="1">
                <a:solidFill>
                  <a:srgbClr val="3F3F3F"/>
                </a:solidFill>
                <a:latin typeface="Microsoft Yahei"/>
                <a:ea typeface="Microsoft Yahei"/>
                <a:cs typeface="Microsoft Yahei"/>
                <a:sym typeface="Microsoft Yahei"/>
              </a:rPr>
              <a:t>Berhad</a:t>
            </a:r>
            <a:r>
              <a:rPr lang="en-MY" sz="2000" dirty="0">
                <a:solidFill>
                  <a:srgbClr val="3F3F3F"/>
                </a:solidFill>
                <a:latin typeface="Microsoft Yahei"/>
                <a:ea typeface="Microsoft Yahei"/>
                <a:cs typeface="Microsoft Yahei"/>
                <a:sym typeface="Microsoft Yahei"/>
              </a:rPr>
              <a:t>, CIMB Bank </a:t>
            </a:r>
            <a:r>
              <a:rPr lang="en-MY" sz="2000" dirty="0" err="1">
                <a:solidFill>
                  <a:srgbClr val="3F3F3F"/>
                </a:solidFill>
                <a:latin typeface="Microsoft Yahei"/>
                <a:ea typeface="Microsoft Yahei"/>
                <a:cs typeface="Microsoft Yahei"/>
                <a:sym typeface="Microsoft Yahei"/>
              </a:rPr>
              <a:t>Berhad</a:t>
            </a:r>
            <a:r>
              <a:rPr lang="en-MY" sz="2000" dirty="0">
                <a:solidFill>
                  <a:srgbClr val="3F3F3F"/>
                </a:solidFill>
                <a:latin typeface="Microsoft Yahei"/>
                <a:ea typeface="Microsoft Yahei"/>
                <a:cs typeface="Microsoft Yahei"/>
                <a:sym typeface="Microsoft Yahei"/>
              </a:rPr>
              <a:t>, RHB Bank </a:t>
            </a:r>
            <a:r>
              <a:rPr lang="en-MY" sz="2000" dirty="0" err="1">
                <a:solidFill>
                  <a:srgbClr val="3F3F3F"/>
                </a:solidFill>
                <a:latin typeface="Microsoft Yahei"/>
                <a:ea typeface="Microsoft Yahei"/>
                <a:cs typeface="Microsoft Yahei"/>
                <a:sym typeface="Microsoft Yahei"/>
              </a:rPr>
              <a:t>Berhad</a:t>
            </a:r>
            <a:endParaRPr sz="2000" dirty="0">
              <a:solidFill>
                <a:srgbClr val="3F3F3F"/>
              </a:solidFill>
              <a:latin typeface="Microsoft Yahei"/>
              <a:ea typeface="Microsoft Yahei"/>
              <a:cs typeface="Microsoft Yahei"/>
              <a:sym typeface="Microsoft Yahei"/>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dirty="0">
              <a:solidFill>
                <a:srgbClr val="3F3F3F"/>
              </a:solidFill>
              <a:latin typeface="Microsoft Yahei"/>
              <a:ea typeface="Microsoft Yahei"/>
              <a:cs typeface="Microsoft Yahei"/>
              <a:sym typeface="Microsoft Yahei"/>
            </a:endParaRPr>
          </a:p>
        </p:txBody>
      </p:sp>
      <p:pic>
        <p:nvPicPr>
          <p:cNvPr id="2050" name="Picture 2" descr="CIMB Bank Sekali Lagi Dinobat Sebagai Bank Runcit Terbai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7892" y="4690431"/>
            <a:ext cx="2619375" cy="159956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Akaun ASNB yang dipaut dengan Maybank2u akan hilang pada 18 Jun 2022 ini"/>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2533" y="4690431"/>
            <a:ext cx="3179386" cy="1599568"/>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RHB Bank Branches In Penang – Penang Local Stuff"/>
          <p:cNvPicPr>
            <a:picLocks noChangeAspect="1" noChangeArrowheads="1"/>
          </p:cNvPicPr>
          <p:nvPr/>
        </p:nvPicPr>
        <p:blipFill rotWithShape="1">
          <a:blip r:embed="rId5">
            <a:extLst>
              <a:ext uri="{28A0092B-C50C-407E-A947-70E740481C1C}">
                <a14:useLocalDpi xmlns:a14="http://schemas.microsoft.com/office/drawing/2010/main" val="0"/>
              </a:ext>
            </a:extLst>
          </a:blip>
          <a:srcRect r="5767" b="16371"/>
          <a:stretch/>
        </p:blipFill>
        <p:spPr bwMode="auto">
          <a:xfrm>
            <a:off x="7693240" y="4655990"/>
            <a:ext cx="3115699" cy="16684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0"/>
          <p:cNvSpPr txBox="1"/>
          <p:nvPr/>
        </p:nvSpPr>
        <p:spPr>
          <a:xfrm>
            <a:off x="2594856" y="767952"/>
            <a:ext cx="6643869"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INSTITUSI KEWANGAN PERBANKAN</a:t>
            </a:r>
            <a:endParaRPr sz="2800" b="0" i="0" u="none" strike="noStrike" cap="none">
              <a:solidFill>
                <a:srgbClr val="000000"/>
              </a:solidFill>
              <a:latin typeface="Microsoft Yahei"/>
              <a:ea typeface="Microsoft Yahei"/>
              <a:cs typeface="Microsoft Yahei"/>
              <a:sym typeface="Microsoft Yahei"/>
            </a:endParaRPr>
          </a:p>
        </p:txBody>
      </p:sp>
      <p:sp>
        <p:nvSpPr>
          <p:cNvPr id="315" name="Google Shape;315;p40"/>
          <p:cNvSpPr txBox="1"/>
          <p:nvPr/>
        </p:nvSpPr>
        <p:spPr>
          <a:xfrm>
            <a:off x="895506" y="1512593"/>
            <a:ext cx="10042570" cy="5124480"/>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0" i="0" u="none" strike="noStrike" cap="none">
                <a:solidFill>
                  <a:srgbClr val="3F3F3F"/>
                </a:solidFill>
                <a:latin typeface="Microsoft Yahei"/>
                <a:ea typeface="Microsoft Yahei"/>
                <a:cs typeface="Microsoft Yahei"/>
                <a:sym typeface="Microsoft Yahei"/>
              </a:rPr>
              <a:t>Bank Perdagangan </a:t>
            </a:r>
            <a:r>
              <a:rPr lang="en-MY" sz="2000" b="0" i="1" u="none" strike="noStrike" cap="none">
                <a:solidFill>
                  <a:srgbClr val="3F3F3F"/>
                </a:solidFill>
                <a:latin typeface="Microsoft Yahei"/>
                <a:ea typeface="Microsoft Yahei"/>
                <a:cs typeface="Microsoft Yahei"/>
                <a:sym typeface="Microsoft Yahei"/>
              </a:rPr>
              <a:t>(…sambungan)</a:t>
            </a:r>
            <a:endParaRPr/>
          </a:p>
          <a:p>
            <a:pPr marL="358775" marR="0" lvl="0" indent="-358775" algn="just" rtl="0">
              <a:lnSpc>
                <a:spcPct val="150000"/>
              </a:lnSpc>
              <a:spcBef>
                <a:spcPts val="0"/>
              </a:spcBef>
              <a:spcAft>
                <a:spcPts val="0"/>
              </a:spcAft>
              <a:buClr>
                <a:srgbClr val="3F3F3F"/>
              </a:buClr>
              <a:buSzPts val="1800"/>
              <a:buFont typeface="Arial"/>
              <a:buChar char="•"/>
            </a:pPr>
            <a:r>
              <a:rPr lang="en-MY" sz="1800">
                <a:solidFill>
                  <a:srgbClr val="3F3F3F"/>
                </a:solidFill>
                <a:latin typeface="Microsoft Yahei"/>
                <a:ea typeface="Microsoft Yahei"/>
                <a:cs typeface="Microsoft Yahei"/>
                <a:sym typeface="Microsoft Yahei"/>
              </a:rPr>
              <a:t>Fungsi Bank Perdagangan:</a:t>
            </a:r>
            <a:endParaRPr/>
          </a:p>
          <a:p>
            <a:pPr marL="717550" marR="0" lvl="1" indent="-358775" algn="just" rtl="0">
              <a:lnSpc>
                <a:spcPct val="150000"/>
              </a:lnSpc>
              <a:spcBef>
                <a:spcPts val="0"/>
              </a:spcBef>
              <a:spcAft>
                <a:spcPts val="0"/>
              </a:spcAft>
              <a:buClr>
                <a:srgbClr val="3F3F3F"/>
              </a:buClr>
              <a:buSzPts val="1800"/>
              <a:buFont typeface="Noto Sans Symbols"/>
              <a:buChar char="⮚"/>
            </a:pPr>
            <a:r>
              <a:rPr lang="en-MY" sz="1800" b="0" i="0" u="none" strike="noStrike" cap="none">
                <a:solidFill>
                  <a:srgbClr val="3F3F3F"/>
                </a:solidFill>
                <a:latin typeface="Microsoft Yahei"/>
                <a:ea typeface="Microsoft Yahei"/>
                <a:cs typeface="Microsoft Yahei"/>
                <a:sym typeface="Microsoft Yahei"/>
              </a:rPr>
              <a:t>Mengumpul tabungan</a:t>
            </a:r>
            <a:endParaRPr sz="18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1800"/>
              <a:buFont typeface="Noto Sans Symbols"/>
              <a:buChar char="⮚"/>
            </a:pPr>
            <a:r>
              <a:rPr lang="en-MY" sz="1800" b="0" i="0" u="none" strike="noStrike" cap="none">
                <a:solidFill>
                  <a:srgbClr val="3F3F3F"/>
                </a:solidFill>
                <a:latin typeface="Microsoft Yahei"/>
                <a:ea typeface="Microsoft Yahei"/>
                <a:cs typeface="Microsoft Yahei"/>
                <a:sym typeface="Microsoft Yahei"/>
              </a:rPr>
              <a:t>Memberi kredit (pinjaman) kepada yang wajar menerima</a:t>
            </a:r>
            <a:endParaRPr sz="18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1800"/>
              <a:buFont typeface="Noto Sans Symbols"/>
              <a:buChar char="⮚"/>
            </a:pPr>
            <a:r>
              <a:rPr lang="en-MY" sz="1800" b="0" i="0" u="none" strike="noStrike" cap="none">
                <a:solidFill>
                  <a:srgbClr val="3F3F3F"/>
                </a:solidFill>
                <a:latin typeface="Microsoft Yahei"/>
                <a:ea typeface="Microsoft Yahei"/>
                <a:cs typeface="Microsoft Yahei"/>
                <a:sym typeface="Microsoft Yahei"/>
              </a:rPr>
              <a:t>Melicinkan mekanisme pembayaran</a:t>
            </a:r>
            <a:endParaRPr sz="18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1800"/>
              <a:buFont typeface="Noto Sans Symbols"/>
              <a:buChar char="⮚"/>
            </a:pPr>
            <a:r>
              <a:rPr lang="en-MY" sz="1800" b="0" i="0" u="none" strike="noStrike" cap="none">
                <a:solidFill>
                  <a:srgbClr val="3F3F3F"/>
                </a:solidFill>
                <a:latin typeface="Microsoft Yahei"/>
                <a:ea typeface="Microsoft Yahei"/>
                <a:cs typeface="Microsoft Yahei"/>
                <a:sym typeface="Microsoft Yahei"/>
              </a:rPr>
              <a:t>Memudahkan kaedah pembayaran dan pembiayaan perdagangan antarabangsa</a:t>
            </a:r>
            <a:endParaRPr sz="18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1800"/>
              <a:buFont typeface="Noto Sans Symbols"/>
              <a:buChar char="⮚"/>
            </a:pPr>
            <a:r>
              <a:rPr lang="en-MY" sz="1800" b="0" i="0" u="none" strike="noStrike" cap="none">
                <a:solidFill>
                  <a:srgbClr val="3F3F3F"/>
                </a:solidFill>
                <a:latin typeface="Microsoft Yahei"/>
                <a:ea typeface="Microsoft Yahei"/>
                <a:cs typeface="Microsoft Yahei"/>
                <a:sym typeface="Microsoft Yahei"/>
              </a:rPr>
              <a:t>Membolehkan pengiriman wang dengan pelbagai kaedah samada dalam atau luar negara</a:t>
            </a:r>
            <a:endParaRPr sz="18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1800"/>
              <a:buFont typeface="Noto Sans Symbols"/>
              <a:buChar char="⮚"/>
            </a:pPr>
            <a:r>
              <a:rPr lang="en-MY" sz="1800" b="0" i="0" u="none" strike="noStrike" cap="none">
                <a:solidFill>
                  <a:srgbClr val="3F3F3F"/>
                </a:solidFill>
                <a:latin typeface="Microsoft Yahei"/>
                <a:ea typeface="Microsoft Yahei"/>
                <a:cs typeface="Microsoft Yahei"/>
                <a:sym typeface="Microsoft Yahei"/>
              </a:rPr>
              <a:t>Menyediakan peti keselamatan peribadi</a:t>
            </a:r>
            <a:endParaRPr sz="18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1800"/>
              <a:buFont typeface="Noto Sans Symbols"/>
              <a:buChar char="⮚"/>
            </a:pPr>
            <a:r>
              <a:rPr lang="en-MY" sz="1800" b="0" i="0" u="none" strike="noStrike" cap="none">
                <a:solidFill>
                  <a:srgbClr val="3F3F3F"/>
                </a:solidFill>
                <a:latin typeface="Microsoft Yahei"/>
                <a:ea typeface="Microsoft Yahei"/>
                <a:cs typeface="Microsoft Yahei"/>
                <a:sym typeface="Microsoft Yahei"/>
              </a:rPr>
              <a:t>Selain itu, mereka juga mempunyai perkhidmatan lain seperti kemudahan kredit cawangan, dispenser wang tunai, peti simpanan keselamatan dan  peti simpanan malam</a:t>
            </a:r>
            <a:endParaRPr sz="18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41"/>
          <p:cNvSpPr txBox="1"/>
          <p:nvPr/>
        </p:nvSpPr>
        <p:spPr>
          <a:xfrm>
            <a:off x="2594856" y="767952"/>
            <a:ext cx="6643869"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INSTITUSI KEWANGAN PERBANKAN</a:t>
            </a:r>
            <a:endParaRPr sz="2800" b="0" i="0" u="none" strike="noStrike" cap="none">
              <a:solidFill>
                <a:srgbClr val="000000"/>
              </a:solidFill>
              <a:latin typeface="Microsoft Yahei"/>
              <a:ea typeface="Microsoft Yahei"/>
              <a:cs typeface="Microsoft Yahei"/>
              <a:sym typeface="Microsoft Yahei"/>
            </a:endParaRPr>
          </a:p>
        </p:txBody>
      </p:sp>
      <p:sp>
        <p:nvSpPr>
          <p:cNvPr id="321" name="Google Shape;321;p41"/>
          <p:cNvSpPr txBox="1"/>
          <p:nvPr/>
        </p:nvSpPr>
        <p:spPr>
          <a:xfrm>
            <a:off x="895506" y="1512593"/>
            <a:ext cx="10042570" cy="4247276"/>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1" i="0" u="none" strike="noStrike" cap="none" dirty="0">
                <a:solidFill>
                  <a:srgbClr val="3F3F3F"/>
                </a:solidFill>
                <a:latin typeface="Microsoft Yahei"/>
                <a:ea typeface="Microsoft Yahei"/>
                <a:cs typeface="Microsoft Yahei"/>
                <a:sym typeface="Microsoft Yahei"/>
              </a:rPr>
              <a:t>Bank </a:t>
            </a:r>
            <a:r>
              <a:rPr lang="en-MY" sz="2000" b="1" i="0" u="none" strike="noStrike" cap="none" dirty="0" err="1">
                <a:solidFill>
                  <a:srgbClr val="3F3F3F"/>
                </a:solidFill>
                <a:latin typeface="Microsoft Yahei"/>
                <a:ea typeface="Microsoft Yahei"/>
                <a:cs typeface="Microsoft Yahei"/>
                <a:sym typeface="Microsoft Yahei"/>
              </a:rPr>
              <a:t>Pelaburan</a:t>
            </a:r>
            <a:endParaRPr sz="2000" b="1" i="0" u="none" strike="noStrike" cap="none" dirty="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Institusi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kewangan</a:t>
            </a:r>
            <a:r>
              <a:rPr lang="en-MY" sz="2000" dirty="0">
                <a:solidFill>
                  <a:srgbClr val="3F3F3F"/>
                </a:solidFill>
                <a:latin typeface="Microsoft Yahei"/>
                <a:ea typeface="Microsoft Yahei"/>
                <a:cs typeface="Microsoft Yahei"/>
                <a:sym typeface="Microsoft Yahei"/>
              </a:rPr>
              <a:t> yang </a:t>
            </a:r>
            <a:r>
              <a:rPr lang="en-MY" sz="2000" dirty="0" err="1">
                <a:solidFill>
                  <a:srgbClr val="3F3F3F"/>
                </a:solidFill>
                <a:latin typeface="Microsoft Yahei"/>
                <a:ea typeface="Microsoft Yahei"/>
                <a:cs typeface="Microsoft Yahei"/>
                <a:sym typeface="Microsoft Yahei"/>
              </a:rPr>
              <a:t>membantu</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individu</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badan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korporat</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kerajaan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memperolehi</a:t>
            </a:r>
            <a:r>
              <a:rPr lang="en-MY" sz="2000" dirty="0">
                <a:solidFill>
                  <a:srgbClr val="3F3F3F"/>
                </a:solidFill>
                <a:latin typeface="Microsoft Yahei"/>
                <a:ea typeface="Microsoft Yahei"/>
                <a:cs typeface="Microsoft Yahei"/>
                <a:sym typeface="Microsoft Yahei"/>
              </a:rPr>
              <a:t> modal </a:t>
            </a:r>
            <a:r>
              <a:rPr lang="en-MY" sz="2000" dirty="0" err="1">
                <a:solidFill>
                  <a:srgbClr val="3F3F3F"/>
                </a:solidFill>
                <a:latin typeface="Microsoft Yahei"/>
                <a:ea typeface="Microsoft Yahei"/>
                <a:cs typeface="Microsoft Yahei"/>
                <a:sym typeface="Microsoft Yahei"/>
              </a:rPr>
              <a:t>dengan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bertindak</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sebagai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agen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kepada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pelanggan</a:t>
            </a:r>
            <a:r>
              <a:rPr lang="en-MY" sz="2000" dirty="0">
                <a:solidFill>
                  <a:srgbClr val="3F3F3F"/>
                </a:solidFill>
                <a:latin typeface="Microsoft Yahei"/>
                <a:ea typeface="Microsoft Yahei"/>
                <a:cs typeface="Microsoft Yahei"/>
                <a:sym typeface="Microsoft Yahei"/>
              </a:rPr>
              <a:t> di </a:t>
            </a:r>
            <a:r>
              <a:rPr lang="en-MY" sz="2000" dirty="0" err="1">
                <a:solidFill>
                  <a:srgbClr val="3F3F3F"/>
                </a:solidFill>
                <a:latin typeface="Microsoft Yahei"/>
                <a:ea typeface="Microsoft Yahei"/>
                <a:cs typeface="Microsoft Yahei"/>
                <a:sym typeface="Microsoft Yahei"/>
              </a:rPr>
              <a:t>dalam</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terbitan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sekuriti</a:t>
            </a:r>
            <a:r>
              <a:rPr lang="en-MY" sz="2000" dirty="0">
                <a:solidFill>
                  <a:srgbClr val="3F3F3F"/>
                </a:solidFill>
                <a:latin typeface="Microsoft Yahei"/>
                <a:ea typeface="Microsoft Yahei"/>
                <a:cs typeface="Microsoft Yahei"/>
                <a:sym typeface="Microsoft Yahei"/>
              </a:rPr>
              <a:t>.</a:t>
            </a:r>
            <a:endParaRPr sz="2000" dirty="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dirty="0">
                <a:solidFill>
                  <a:srgbClr val="3F3F3F"/>
                </a:solidFill>
                <a:latin typeface="Microsoft Yahei"/>
                <a:ea typeface="Microsoft Yahei"/>
                <a:cs typeface="Microsoft Yahei"/>
                <a:sym typeface="Microsoft Yahei"/>
              </a:rPr>
              <a:t>Bank </a:t>
            </a:r>
            <a:r>
              <a:rPr lang="en-MY" sz="2000" dirty="0" err="1">
                <a:solidFill>
                  <a:srgbClr val="3F3F3F"/>
                </a:solidFill>
                <a:latin typeface="Microsoft Yahei"/>
                <a:ea typeface="Microsoft Yahei"/>
                <a:cs typeface="Microsoft Yahei"/>
                <a:sym typeface="Microsoft Yahei"/>
              </a:rPr>
              <a:t>Pelaburan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juga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menerbitkan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menyenaraikan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saham</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menguruskan</a:t>
            </a:r>
            <a:r>
              <a:rPr lang="en-MY" sz="2000" dirty="0">
                <a:solidFill>
                  <a:srgbClr val="3F3F3F"/>
                </a:solidFill>
                <a:latin typeface="Microsoft Yahei"/>
                <a:ea typeface="Microsoft Yahei"/>
                <a:cs typeface="Microsoft Yahei"/>
                <a:sym typeface="Microsoft Yahei"/>
              </a:rPr>
              <a:t> portfolio </a:t>
            </a:r>
            <a:r>
              <a:rPr lang="en-MY" sz="2000" dirty="0" err="1">
                <a:solidFill>
                  <a:srgbClr val="3F3F3F"/>
                </a:solidFill>
                <a:latin typeface="Microsoft Yahei"/>
                <a:ea typeface="Microsoft Yahei"/>
                <a:cs typeface="Microsoft Yahei"/>
                <a:sym typeface="Microsoft Yahei"/>
              </a:rPr>
              <a:t>pelaburan</a:t>
            </a:r>
            <a:r>
              <a:rPr lang="en-MY" sz="2000" dirty="0">
                <a:solidFill>
                  <a:srgbClr val="3F3F3F"/>
                </a:solidFill>
                <a:latin typeface="Microsoft Yahei"/>
                <a:ea typeface="Microsoft Yahei"/>
                <a:cs typeface="Microsoft Yahei"/>
                <a:sym typeface="Microsoft Yahei"/>
              </a:rPr>
              <a:t>.</a:t>
            </a:r>
            <a:endParaRPr dirty="0"/>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Contoh</a:t>
            </a:r>
            <a:r>
              <a:rPr lang="en-MY" sz="2000" dirty="0">
                <a:solidFill>
                  <a:srgbClr val="3F3F3F"/>
                </a:solidFill>
                <a:latin typeface="Microsoft Yahei"/>
                <a:ea typeface="Microsoft Yahei"/>
                <a:cs typeface="Microsoft Yahei"/>
                <a:sym typeface="Microsoft Yahei"/>
              </a:rPr>
              <a:t>, CIMB Investment Bank, RHB Investment Bank, </a:t>
            </a:r>
            <a:r>
              <a:rPr lang="en-MY" sz="2000" dirty="0" err="1">
                <a:solidFill>
                  <a:srgbClr val="3F3F3F"/>
                </a:solidFill>
                <a:latin typeface="Microsoft Yahei"/>
                <a:ea typeface="Microsoft Yahei"/>
                <a:cs typeface="Microsoft Yahei"/>
                <a:sym typeface="Microsoft Yahei"/>
              </a:rPr>
              <a:t>Kenanga</a:t>
            </a:r>
            <a:r>
              <a:rPr lang="en-MY" sz="2000" dirty="0">
                <a:solidFill>
                  <a:srgbClr val="3F3F3F"/>
                </a:solidFill>
                <a:latin typeface="Microsoft Yahei"/>
                <a:ea typeface="Microsoft Yahei"/>
                <a:cs typeface="Microsoft Yahei"/>
                <a:sym typeface="Microsoft Yahei"/>
              </a:rPr>
              <a:t> Investment Bank.</a:t>
            </a:r>
            <a:endParaRPr dirty="0"/>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dirty="0">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2"/>
          <p:cNvSpPr txBox="1"/>
          <p:nvPr/>
        </p:nvSpPr>
        <p:spPr>
          <a:xfrm>
            <a:off x="2594856" y="767952"/>
            <a:ext cx="6643869"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INSTITUSI KEWANGAN PERBANKAN</a:t>
            </a:r>
            <a:endParaRPr sz="2800" b="0" i="0" u="none" strike="noStrike" cap="none">
              <a:solidFill>
                <a:srgbClr val="000000"/>
              </a:solidFill>
              <a:latin typeface="Microsoft Yahei"/>
              <a:ea typeface="Microsoft Yahei"/>
              <a:cs typeface="Microsoft Yahei"/>
              <a:sym typeface="Microsoft Yahei"/>
            </a:endParaRPr>
          </a:p>
        </p:txBody>
      </p:sp>
      <p:sp>
        <p:nvSpPr>
          <p:cNvPr id="327" name="Google Shape;327;p42"/>
          <p:cNvSpPr txBox="1"/>
          <p:nvPr/>
        </p:nvSpPr>
        <p:spPr>
          <a:xfrm>
            <a:off x="895506" y="1512593"/>
            <a:ext cx="10042570" cy="4293483"/>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0" i="0" u="none" strike="noStrike" cap="none">
                <a:solidFill>
                  <a:srgbClr val="3F3F3F"/>
                </a:solidFill>
                <a:latin typeface="Microsoft Yahei"/>
                <a:ea typeface="Microsoft Yahei"/>
                <a:cs typeface="Microsoft Yahei"/>
                <a:sym typeface="Microsoft Yahei"/>
              </a:rPr>
              <a:t>Bank Pelaburan </a:t>
            </a:r>
            <a:r>
              <a:rPr lang="en-MY" sz="2000" b="0" i="1" u="none" strike="noStrike" cap="none">
                <a:solidFill>
                  <a:srgbClr val="3F3F3F"/>
                </a:solidFill>
                <a:latin typeface="Microsoft Yahei"/>
                <a:ea typeface="Microsoft Yahei"/>
                <a:cs typeface="Microsoft Yahei"/>
                <a:sym typeface="Microsoft Yahei"/>
              </a:rPr>
              <a:t>(…sambungan)</a:t>
            </a:r>
            <a:endParaRPr/>
          </a:p>
          <a:p>
            <a:pPr marL="358775" marR="0" lvl="0" indent="-358775" algn="just" rtl="0">
              <a:lnSpc>
                <a:spcPct val="150000"/>
              </a:lnSpc>
              <a:spcBef>
                <a:spcPts val="0"/>
              </a:spcBef>
              <a:spcAft>
                <a:spcPts val="0"/>
              </a:spcAft>
              <a:buClr>
                <a:srgbClr val="3F3F3F"/>
              </a:buClr>
              <a:buSzPts val="1800"/>
              <a:buFont typeface="Arial"/>
              <a:buChar char="•"/>
            </a:pPr>
            <a:r>
              <a:rPr lang="en-MY" sz="1800" b="0" i="0" u="none" strike="noStrike" cap="none">
                <a:solidFill>
                  <a:srgbClr val="3F3F3F"/>
                </a:solidFill>
                <a:latin typeface="Microsoft Yahei"/>
                <a:ea typeface="Microsoft Yahei"/>
                <a:cs typeface="Microsoft Yahei"/>
                <a:sym typeface="Microsoft Yahei"/>
              </a:rPr>
              <a:t>Fungsi Bank Pelaburan:</a:t>
            </a:r>
            <a:endParaRPr/>
          </a:p>
          <a:p>
            <a:pPr marL="717550" marR="0" lvl="1" indent="-358775" algn="just" rtl="0">
              <a:lnSpc>
                <a:spcPct val="150000"/>
              </a:lnSpc>
              <a:spcBef>
                <a:spcPts val="0"/>
              </a:spcBef>
              <a:spcAft>
                <a:spcPts val="0"/>
              </a:spcAft>
              <a:buClr>
                <a:srgbClr val="3F3F3F"/>
              </a:buClr>
              <a:buSzPts val="1800"/>
              <a:buFont typeface="Noto Sans Symbols"/>
              <a:buChar char="⮚"/>
            </a:pPr>
            <a:r>
              <a:rPr lang="en-MY" sz="1800" b="0" i="0" u="none" strike="noStrike" cap="none">
                <a:solidFill>
                  <a:srgbClr val="3F3F3F"/>
                </a:solidFill>
                <a:latin typeface="Microsoft Yahei"/>
                <a:ea typeface="Microsoft Yahei"/>
                <a:cs typeface="Microsoft Yahei"/>
                <a:sym typeface="Microsoft Yahei"/>
              </a:rPr>
              <a:t>Menerbitkan dan menyenaraikan saham dan menguruskan portfolio pelaburan</a:t>
            </a:r>
            <a:endParaRPr sz="18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1800"/>
              <a:buFont typeface="Noto Sans Symbols"/>
              <a:buChar char="⮚"/>
            </a:pPr>
            <a:r>
              <a:rPr lang="en-MY" sz="1800" b="0" i="0" u="none" strike="noStrike" cap="none">
                <a:solidFill>
                  <a:srgbClr val="3F3F3F"/>
                </a:solidFill>
                <a:latin typeface="Microsoft Yahei"/>
                <a:ea typeface="Microsoft Yahei"/>
                <a:cs typeface="Microsoft Yahei"/>
                <a:sym typeface="Microsoft Yahei"/>
              </a:rPr>
              <a:t>Menyediakan khidmat nasihat korporat</a:t>
            </a:r>
            <a:endParaRPr sz="18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1800"/>
              <a:buFont typeface="Noto Sans Symbols"/>
              <a:buChar char="⮚"/>
            </a:pPr>
            <a:r>
              <a:rPr lang="en-MY" sz="1800" b="0" i="0" u="none" strike="noStrike" cap="none">
                <a:solidFill>
                  <a:srgbClr val="3F3F3F"/>
                </a:solidFill>
                <a:latin typeface="Microsoft Yahei"/>
                <a:ea typeface="Microsoft Yahei"/>
                <a:cs typeface="Microsoft Yahei"/>
                <a:sym typeface="Microsoft Yahei"/>
              </a:rPr>
              <a:t>Menggerakkan dana penyimpan besar melalui pelaburan dalam pasaran saham</a:t>
            </a:r>
            <a:endParaRPr sz="18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1800"/>
              <a:buFont typeface="Noto Sans Symbols"/>
              <a:buChar char="⮚"/>
            </a:pPr>
            <a:r>
              <a:rPr lang="en-MY" sz="1800" b="0" i="0" u="none" strike="noStrike" cap="none">
                <a:solidFill>
                  <a:srgbClr val="3F3F3F"/>
                </a:solidFill>
                <a:latin typeface="Microsoft Yahei"/>
                <a:ea typeface="Microsoft Yahei"/>
                <a:cs typeface="Microsoft Yahei"/>
                <a:sym typeface="Microsoft Yahei"/>
              </a:rPr>
              <a:t>Menjalankan aktiviti pembrokeran produk-produk pasaran modal</a:t>
            </a:r>
            <a:endParaRPr/>
          </a:p>
          <a:p>
            <a:pPr marL="717550" marR="0" lvl="1" indent="-358775" algn="just" rtl="0">
              <a:lnSpc>
                <a:spcPct val="150000"/>
              </a:lnSpc>
              <a:spcBef>
                <a:spcPts val="0"/>
              </a:spcBef>
              <a:spcAft>
                <a:spcPts val="0"/>
              </a:spcAft>
              <a:buClr>
                <a:srgbClr val="3F3F3F"/>
              </a:buClr>
              <a:buSzPts val="1800"/>
              <a:buFont typeface="Noto Sans Symbols"/>
              <a:buChar char="⮚"/>
            </a:pPr>
            <a:r>
              <a:rPr lang="en-MY" sz="1800" b="0" i="0" u="none" strike="noStrike" cap="none">
                <a:solidFill>
                  <a:srgbClr val="3F3F3F"/>
                </a:solidFill>
                <a:latin typeface="Microsoft Yahei"/>
                <a:ea typeface="Microsoft Yahei"/>
                <a:cs typeface="Microsoft Yahei"/>
                <a:sym typeface="Microsoft Yahei"/>
              </a:rPr>
              <a:t>Menjalankan perniagaan pengurusan dana dan unit amanah</a:t>
            </a:r>
            <a:endParaRPr sz="18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1800"/>
              <a:buFont typeface="Noto Sans Symbols"/>
              <a:buChar char="⮚"/>
            </a:pPr>
            <a:r>
              <a:rPr lang="en-MY" sz="1800" b="0" i="0" u="none" strike="noStrike" cap="none">
                <a:solidFill>
                  <a:srgbClr val="3F3F3F"/>
                </a:solidFill>
                <a:latin typeface="Microsoft Yahei"/>
                <a:ea typeface="Microsoft Yahei"/>
                <a:cs typeface="Microsoft Yahei"/>
                <a:sym typeface="Microsoft Yahei"/>
              </a:rPr>
              <a:t>Memberi pinjaman bersindiket (gabungan pinjaman beberapa buah bank dan institusi kewangan lain) untuk membiayai projek mega syarikat-syarikat berhad</a:t>
            </a:r>
            <a:endParaRPr sz="18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1800"/>
              <a:buFont typeface="Noto Sans Symbols"/>
              <a:buChar char="⮚"/>
            </a:pPr>
            <a:r>
              <a:rPr lang="en-MY" sz="1800" b="0" i="0" u="none" strike="noStrike" cap="none">
                <a:solidFill>
                  <a:srgbClr val="3F3F3F"/>
                </a:solidFill>
                <a:latin typeface="Microsoft Yahei"/>
                <a:ea typeface="Microsoft Yahei"/>
                <a:cs typeface="Microsoft Yahei"/>
                <a:sym typeface="Microsoft Yahei"/>
              </a:rPr>
              <a:t>Menanggung jaminan terbitan saham baharu.</a:t>
            </a:r>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43"/>
          <p:cNvSpPr txBox="1"/>
          <p:nvPr/>
        </p:nvSpPr>
        <p:spPr>
          <a:xfrm>
            <a:off x="1819353" y="536953"/>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dirty="0">
                <a:solidFill>
                  <a:srgbClr val="000000"/>
                </a:solidFill>
                <a:latin typeface="Microsoft Yahei"/>
                <a:ea typeface="Microsoft Yahei"/>
                <a:cs typeface="Microsoft Yahei"/>
                <a:sym typeface="Microsoft Yahei"/>
              </a:rPr>
              <a:t>INSTITUSI KEWANGAN </a:t>
            </a:r>
            <a:r>
              <a:rPr lang="en-MY" sz="2800" b="0" dirty="0">
                <a:solidFill>
                  <a:srgbClr val="000000"/>
                </a:solidFill>
                <a:latin typeface="Microsoft Yahei"/>
                <a:ea typeface="Microsoft Yahei"/>
                <a:cs typeface="Microsoft Yahei"/>
                <a:sym typeface="Microsoft Yahei"/>
              </a:rPr>
              <a:t>BUKAN </a:t>
            </a:r>
            <a:r>
              <a:rPr lang="en-MY" sz="2800" b="0" i="0" u="none" strike="noStrike" cap="none" dirty="0">
                <a:solidFill>
                  <a:srgbClr val="000000"/>
                </a:solidFill>
                <a:latin typeface="Microsoft Yahei"/>
                <a:ea typeface="Microsoft Yahei"/>
                <a:cs typeface="Microsoft Yahei"/>
                <a:sym typeface="Microsoft Yahei"/>
              </a:rPr>
              <a:t>PERBANKAN</a:t>
            </a:r>
            <a:endParaRPr sz="2800" b="0" i="0" u="none" strike="noStrike" cap="none" dirty="0">
              <a:solidFill>
                <a:srgbClr val="000000"/>
              </a:solidFill>
              <a:latin typeface="Microsoft Yahei"/>
              <a:ea typeface="Microsoft Yahei"/>
              <a:cs typeface="Microsoft Yahei"/>
              <a:sym typeface="Microsoft Yahei"/>
            </a:endParaRPr>
          </a:p>
        </p:txBody>
      </p:sp>
      <p:sp>
        <p:nvSpPr>
          <p:cNvPr id="333" name="Google Shape;333;p43"/>
          <p:cNvSpPr txBox="1"/>
          <p:nvPr/>
        </p:nvSpPr>
        <p:spPr>
          <a:xfrm>
            <a:off x="3490331" y="1060173"/>
            <a:ext cx="7447743" cy="6093936"/>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1" i="0" u="none" strike="noStrike" cap="none" dirty="0">
                <a:solidFill>
                  <a:srgbClr val="3F3F3F"/>
                </a:solidFill>
                <a:latin typeface="Microsoft Yahei"/>
                <a:ea typeface="Microsoft Yahei"/>
                <a:cs typeface="Microsoft Yahei"/>
                <a:sym typeface="Microsoft Yahei"/>
              </a:rPr>
              <a:t>Kumpulan Wang </a:t>
            </a:r>
            <a:r>
              <a:rPr lang="en-MY" sz="2000" b="1" i="0" u="none" strike="noStrike" cap="none" dirty="0" err="1">
                <a:solidFill>
                  <a:srgbClr val="3F3F3F"/>
                </a:solidFill>
                <a:latin typeface="Microsoft Yahei"/>
                <a:ea typeface="Microsoft Yahei"/>
                <a:cs typeface="Microsoft Yahei"/>
                <a:sym typeface="Microsoft Yahei"/>
              </a:rPr>
              <a:t>Simpanan</a:t>
            </a:r>
            <a:r>
              <a:rPr lang="en-MY" sz="2000" b="1" i="0" u="none" strike="noStrike" cap="none" dirty="0">
                <a:solidFill>
                  <a:srgbClr val="3F3F3F"/>
                </a:solidFill>
                <a:latin typeface="Microsoft Yahei"/>
                <a:ea typeface="Microsoft Yahei"/>
                <a:cs typeface="Microsoft Yahei"/>
                <a:sym typeface="Microsoft Yahei"/>
              </a:rPr>
              <a:t> </a:t>
            </a:r>
            <a:r>
              <a:rPr lang="en-MY" sz="2000" b="1" i="0" u="none" strike="noStrike" cap="none" dirty="0" err="1">
                <a:solidFill>
                  <a:srgbClr val="3F3F3F"/>
                </a:solidFill>
                <a:latin typeface="Microsoft Yahei"/>
                <a:ea typeface="Microsoft Yahei"/>
                <a:cs typeface="Microsoft Yahei"/>
                <a:sym typeface="Microsoft Yahei"/>
              </a:rPr>
              <a:t>Pekerja</a:t>
            </a:r>
            <a:endParaRPr sz="2000" b="1" i="0" u="none" strike="noStrike" cap="none" dirty="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Ditubuhkan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pada</a:t>
            </a:r>
            <a:r>
              <a:rPr lang="en-MY" sz="2000" dirty="0">
                <a:solidFill>
                  <a:srgbClr val="3F3F3F"/>
                </a:solidFill>
                <a:latin typeface="Microsoft Yahei"/>
                <a:ea typeface="Microsoft Yahei"/>
                <a:cs typeface="Microsoft Yahei"/>
                <a:sym typeface="Microsoft Yahei"/>
              </a:rPr>
              <a:t> 1951 </a:t>
            </a:r>
            <a:r>
              <a:rPr lang="en-MY" sz="2000" dirty="0" err="1">
                <a:solidFill>
                  <a:srgbClr val="3F3F3F"/>
                </a:solidFill>
                <a:latin typeface="Microsoft Yahei"/>
                <a:ea typeface="Microsoft Yahei"/>
                <a:cs typeface="Microsoft Yahei"/>
                <a:sym typeface="Microsoft Yahei"/>
              </a:rPr>
              <a:t>dengan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tujuan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membantu</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tenaga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kerja</a:t>
            </a:r>
            <a:r>
              <a:rPr lang="en-MY" sz="2000" dirty="0">
                <a:solidFill>
                  <a:srgbClr val="3F3F3F"/>
                </a:solidFill>
                <a:latin typeface="Microsoft Yahei"/>
                <a:ea typeface="Microsoft Yahei"/>
                <a:cs typeface="Microsoft Yahei"/>
                <a:sym typeface="Microsoft Yahei"/>
              </a:rPr>
              <a:t> Malaysia </a:t>
            </a:r>
            <a:r>
              <a:rPr lang="en-MY" sz="2000" dirty="0" err="1">
                <a:solidFill>
                  <a:srgbClr val="3F3F3F"/>
                </a:solidFill>
                <a:latin typeface="Microsoft Yahei"/>
                <a:ea typeface="Microsoft Yahei"/>
                <a:cs typeface="Microsoft Yahei"/>
                <a:sym typeface="Microsoft Yahei"/>
              </a:rPr>
              <a:t>menabung</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untuk</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persaraan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mereka</a:t>
            </a:r>
            <a:r>
              <a:rPr lang="en-MY" sz="2000" dirty="0">
                <a:solidFill>
                  <a:srgbClr val="3F3F3F"/>
                </a:solidFill>
                <a:latin typeface="Microsoft Yahei"/>
                <a:ea typeface="Microsoft Yahei"/>
                <a:cs typeface="Microsoft Yahei"/>
                <a:sym typeface="Microsoft Yahei"/>
              </a:rPr>
              <a:t>.</a:t>
            </a:r>
            <a:endParaRPr sz="2000" dirty="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Dikawal</a:t>
            </a:r>
            <a:r>
              <a:rPr lang="en-MY" sz="2000" dirty="0">
                <a:solidFill>
                  <a:srgbClr val="3F3F3F"/>
                </a:solidFill>
                <a:latin typeface="Microsoft Yahei"/>
                <a:ea typeface="Microsoft Yahei"/>
                <a:cs typeface="Microsoft Yahei"/>
                <a:sym typeface="Microsoft Yahei"/>
              </a:rPr>
              <a:t> di </a:t>
            </a:r>
            <a:r>
              <a:rPr lang="en-MY" sz="2000" dirty="0" err="1">
                <a:solidFill>
                  <a:srgbClr val="3F3F3F"/>
                </a:solidFill>
                <a:latin typeface="Microsoft Yahei"/>
                <a:ea typeface="Microsoft Yahei"/>
                <a:cs typeface="Microsoft Yahei"/>
                <a:sym typeface="Microsoft Yahei"/>
              </a:rPr>
              <a:t>bawah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Akta</a:t>
            </a:r>
            <a:r>
              <a:rPr lang="en-MY" sz="2000" dirty="0">
                <a:solidFill>
                  <a:srgbClr val="3F3F3F"/>
                </a:solidFill>
                <a:latin typeface="Microsoft Yahei"/>
                <a:ea typeface="Microsoft Yahei"/>
                <a:cs typeface="Microsoft Yahei"/>
                <a:sym typeface="Microsoft Yahei"/>
              </a:rPr>
              <a:t> Kumpulan Wang </a:t>
            </a:r>
            <a:r>
              <a:rPr lang="en-MY" sz="2000" dirty="0" err="1">
                <a:solidFill>
                  <a:srgbClr val="3F3F3F"/>
                </a:solidFill>
                <a:latin typeface="Microsoft Yahei"/>
                <a:ea typeface="Microsoft Yahei"/>
                <a:cs typeface="Microsoft Yahei"/>
                <a:sym typeface="Microsoft Yahei"/>
              </a:rPr>
              <a:t>Simpanan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Pekerja</a:t>
            </a:r>
            <a:r>
              <a:rPr lang="en-MY" sz="2000" dirty="0">
                <a:solidFill>
                  <a:srgbClr val="3F3F3F"/>
                </a:solidFill>
                <a:latin typeface="Microsoft Yahei"/>
                <a:ea typeface="Microsoft Yahei"/>
                <a:cs typeface="Microsoft Yahei"/>
                <a:sym typeface="Microsoft Yahei"/>
              </a:rPr>
              <a:t> 1991.</a:t>
            </a:r>
            <a:endParaRPr sz="2000" dirty="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Fungsi</a:t>
            </a:r>
            <a:r>
              <a:rPr lang="en-MY" sz="2000" dirty="0">
                <a:solidFill>
                  <a:srgbClr val="3F3F3F"/>
                </a:solidFill>
                <a:latin typeface="Microsoft Yahei"/>
                <a:ea typeface="Microsoft Yahei"/>
                <a:cs typeface="Microsoft Yahei"/>
                <a:sym typeface="Microsoft Yahei"/>
              </a:rPr>
              <a:t> KWSP</a:t>
            </a:r>
            <a:endParaRPr dirty="0"/>
          </a:p>
          <a:p>
            <a:pPr marL="72390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dirty="0" err="1">
                <a:solidFill>
                  <a:srgbClr val="3F3F3F"/>
                </a:solidFill>
                <a:latin typeface="Microsoft Yahei"/>
                <a:ea typeface="Microsoft Yahei"/>
                <a:cs typeface="Microsoft Yahei"/>
                <a:sym typeface="Microsoft Yahei"/>
              </a:rPr>
              <a:t>Membantu</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ahli</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mencapai</a:t>
            </a:r>
            <a:r>
              <a:rPr lang="en-MY" sz="2000" b="0" i="0" u="none" strike="noStrike" cap="none" dirty="0">
                <a:solidFill>
                  <a:srgbClr val="3F3F3F"/>
                </a:solidFill>
                <a:latin typeface="Microsoft Yahei"/>
                <a:ea typeface="Microsoft Yahei"/>
                <a:cs typeface="Microsoft Yahei"/>
                <a:sym typeface="Microsoft Yahei"/>
              </a:rPr>
              <a:t> masa </a:t>
            </a:r>
            <a:r>
              <a:rPr lang="en-MY" sz="2000" b="0" i="0" u="none" strike="noStrike" cap="none" dirty="0" err="1">
                <a:solidFill>
                  <a:srgbClr val="3F3F3F"/>
                </a:solidFill>
                <a:latin typeface="Microsoft Yahei"/>
                <a:ea typeface="Microsoft Yahei"/>
                <a:cs typeface="Microsoft Yahei"/>
                <a:sym typeface="Microsoft Yahei"/>
              </a:rPr>
              <a:t>depan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lebih</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baik</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melalui</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caruman</a:t>
            </a:r>
            <a:r>
              <a:rPr lang="en-MY" sz="2000" b="0" i="0" u="none" strike="noStrike" cap="none" dirty="0">
                <a:solidFill>
                  <a:srgbClr val="3F3F3F"/>
                </a:solidFill>
                <a:latin typeface="Microsoft Yahei"/>
                <a:ea typeface="Microsoft Yahei"/>
                <a:cs typeface="Microsoft Yahei"/>
                <a:sym typeface="Microsoft Yahei"/>
              </a:rPr>
              <a:t> KWSP. </a:t>
            </a:r>
            <a:endParaRPr dirty="0"/>
          </a:p>
          <a:p>
            <a:pPr marL="72390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dirty="0" err="1">
                <a:solidFill>
                  <a:srgbClr val="3F3F3F"/>
                </a:solidFill>
                <a:latin typeface="Microsoft Yahei"/>
                <a:ea typeface="Microsoft Yahei"/>
                <a:cs typeface="Microsoft Yahei"/>
                <a:sym typeface="Microsoft Yahei"/>
              </a:rPr>
              <a:t>Melindungi</a:t>
            </a:r>
            <a:r>
              <a:rPr lang="en-MY" sz="2000" b="0" i="0" u="none" strike="noStrike" cap="none" dirty="0">
                <a:solidFill>
                  <a:srgbClr val="3F3F3F"/>
                </a:solidFill>
                <a:latin typeface="Microsoft Yahei"/>
                <a:ea typeface="Microsoft Yahei"/>
                <a:cs typeface="Microsoft Yahei"/>
                <a:sym typeface="Microsoft Yahei"/>
              </a:rPr>
              <a:t> dana </a:t>
            </a:r>
            <a:r>
              <a:rPr lang="en-MY" sz="2000" b="0" i="0" u="none" strike="noStrike" cap="none" dirty="0" err="1">
                <a:solidFill>
                  <a:srgbClr val="3F3F3F"/>
                </a:solidFill>
                <a:latin typeface="Microsoft Yahei"/>
                <a:ea typeface="Microsoft Yahei"/>
                <a:cs typeface="Microsoft Yahei"/>
                <a:sym typeface="Microsoft Yahei"/>
              </a:rPr>
              <a:t>simpanan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ahli-ahli</a:t>
            </a:r>
            <a:r>
              <a:rPr lang="en-MY" sz="2000" b="0" i="0" u="none" strike="noStrike" cap="none" dirty="0">
                <a:solidFill>
                  <a:srgbClr val="3F3F3F"/>
                </a:solidFill>
                <a:latin typeface="Microsoft Yahei"/>
                <a:ea typeface="Microsoft Yahei"/>
                <a:cs typeface="Microsoft Yahei"/>
                <a:sym typeface="Microsoft Yahei"/>
              </a:rPr>
              <a:t>.</a:t>
            </a:r>
            <a:endParaRPr dirty="0"/>
          </a:p>
          <a:p>
            <a:pPr marL="72390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dirty="0" err="1">
                <a:solidFill>
                  <a:srgbClr val="3F3F3F"/>
                </a:solidFill>
                <a:latin typeface="Microsoft Yahei"/>
                <a:ea typeface="Microsoft Yahei"/>
                <a:cs typeface="Microsoft Yahei"/>
                <a:sym typeface="Microsoft Yahei"/>
              </a:rPr>
              <a:t>Meningkatkan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simpanan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ahli</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melalui</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pelaburan</a:t>
            </a:r>
            <a:r>
              <a:rPr lang="en-MY" sz="2000" b="0" i="0" u="none" strike="noStrike" cap="none" dirty="0">
                <a:solidFill>
                  <a:srgbClr val="3F3F3F"/>
                </a:solidFill>
                <a:latin typeface="Microsoft Yahei"/>
                <a:ea typeface="Microsoft Yahei"/>
                <a:cs typeface="Microsoft Yahei"/>
                <a:sym typeface="Microsoft Yahei"/>
              </a:rPr>
              <a:t> dana </a:t>
            </a:r>
            <a:r>
              <a:rPr lang="en-MY" sz="2000" b="0" i="0" u="none" strike="noStrike" cap="none" dirty="0" err="1">
                <a:solidFill>
                  <a:srgbClr val="3F3F3F"/>
                </a:solidFill>
                <a:latin typeface="Microsoft Yahei"/>
                <a:ea typeface="Microsoft Yahei"/>
                <a:cs typeface="Microsoft Yahei"/>
                <a:sym typeface="Microsoft Yahei"/>
              </a:rPr>
              <a:t>ke</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sektor</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tertentu</a:t>
            </a:r>
            <a:r>
              <a:rPr lang="en-MY" sz="2000" b="0" i="0" u="none" strike="noStrike" cap="none" dirty="0">
                <a:solidFill>
                  <a:srgbClr val="3F3F3F"/>
                </a:solidFill>
                <a:latin typeface="Microsoft Yahei"/>
                <a:ea typeface="Microsoft Yahei"/>
                <a:cs typeface="Microsoft Yahei"/>
                <a:sym typeface="Microsoft Yahei"/>
              </a:rPr>
              <a:t>.</a:t>
            </a:r>
            <a:endParaRPr dirty="0"/>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dirty="0">
              <a:solidFill>
                <a:srgbClr val="3F3F3F"/>
              </a:solidFill>
              <a:latin typeface="Microsoft Yahei"/>
              <a:ea typeface="Microsoft Yahei"/>
              <a:cs typeface="Microsoft Yahei"/>
              <a:sym typeface="Microsoft Yahei"/>
            </a:endParaRPr>
          </a:p>
        </p:txBody>
      </p:sp>
      <p:pic>
        <p:nvPicPr>
          <p:cNvPr id="3078" name="Picture 6" descr="i-Saraan KWSP: Cara Pendaftaran &amp; Terima RM250 Caruman Tambaha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663" y="1884556"/>
            <a:ext cx="3055435" cy="36687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44"/>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INSTITUSI KEWANGAN BUKAN PERBANKAN</a:t>
            </a:r>
            <a:endParaRPr sz="2800" b="0" i="0" u="none" strike="noStrike" cap="none">
              <a:solidFill>
                <a:srgbClr val="000000"/>
              </a:solidFill>
              <a:latin typeface="Microsoft Yahei"/>
              <a:ea typeface="Microsoft Yahei"/>
              <a:cs typeface="Microsoft Yahei"/>
              <a:sym typeface="Microsoft Yahei"/>
            </a:endParaRPr>
          </a:p>
        </p:txBody>
      </p:sp>
      <p:sp>
        <p:nvSpPr>
          <p:cNvPr id="339" name="Google Shape;339;p44"/>
          <p:cNvSpPr txBox="1"/>
          <p:nvPr/>
        </p:nvSpPr>
        <p:spPr>
          <a:xfrm>
            <a:off x="3501483" y="1272046"/>
            <a:ext cx="7525802" cy="6093936"/>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1" i="0" u="none" strike="noStrike" cap="none" dirty="0" err="1">
                <a:solidFill>
                  <a:srgbClr val="3F3F3F"/>
                </a:solidFill>
                <a:latin typeface="Microsoft Yahei"/>
                <a:ea typeface="Microsoft Yahei"/>
                <a:cs typeface="Microsoft Yahei"/>
                <a:sym typeface="Microsoft Yahei"/>
              </a:rPr>
              <a:t>Tabung</a:t>
            </a:r>
            <a:r>
              <a:rPr lang="en-MY" sz="2000" b="1" i="0" u="none" strike="noStrike" cap="none" dirty="0">
                <a:solidFill>
                  <a:srgbClr val="3F3F3F"/>
                </a:solidFill>
                <a:latin typeface="Microsoft Yahei"/>
                <a:ea typeface="Microsoft Yahei"/>
                <a:cs typeface="Microsoft Yahei"/>
                <a:sym typeface="Microsoft Yahei"/>
              </a:rPr>
              <a:t> Haji</a:t>
            </a:r>
            <a:endParaRPr dirty="0"/>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Ditubuhkan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pada</a:t>
            </a:r>
            <a:r>
              <a:rPr lang="en-MY" sz="2000" dirty="0">
                <a:solidFill>
                  <a:srgbClr val="3F3F3F"/>
                </a:solidFill>
                <a:latin typeface="Microsoft Yahei"/>
                <a:ea typeface="Microsoft Yahei"/>
                <a:cs typeface="Microsoft Yahei"/>
                <a:sym typeface="Microsoft Yahei"/>
              </a:rPr>
              <a:t> 30 Sept 1963. </a:t>
            </a:r>
            <a:r>
              <a:rPr lang="en-MY" sz="2000" dirty="0" err="1">
                <a:solidFill>
                  <a:srgbClr val="3F3F3F"/>
                </a:solidFill>
                <a:latin typeface="Microsoft Yahei"/>
                <a:ea typeface="Microsoft Yahei"/>
                <a:cs typeface="Microsoft Yahei"/>
                <a:sym typeface="Microsoft Yahei"/>
              </a:rPr>
              <a:t>Tujuan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utama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adalah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membolehkan</a:t>
            </a:r>
            <a:r>
              <a:rPr lang="en-MY" sz="2000" dirty="0">
                <a:solidFill>
                  <a:srgbClr val="3F3F3F"/>
                </a:solidFill>
                <a:latin typeface="Microsoft Yahei"/>
                <a:ea typeface="Microsoft Yahei"/>
                <a:cs typeface="Microsoft Yahei"/>
                <a:sym typeface="Microsoft Yahei"/>
              </a:rPr>
              <a:t> orang Islam </a:t>
            </a:r>
            <a:r>
              <a:rPr lang="en-MY" sz="2000" dirty="0" err="1">
                <a:solidFill>
                  <a:srgbClr val="3F3F3F"/>
                </a:solidFill>
                <a:latin typeface="Microsoft Yahei"/>
                <a:ea typeface="Microsoft Yahei"/>
                <a:cs typeface="Microsoft Yahei"/>
                <a:sym typeface="Microsoft Yahei"/>
              </a:rPr>
              <a:t>menabung</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bagi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menunaikan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fardu</a:t>
            </a:r>
            <a:r>
              <a:rPr lang="en-MY" sz="2000" dirty="0">
                <a:solidFill>
                  <a:srgbClr val="3F3F3F"/>
                </a:solidFill>
                <a:latin typeface="Microsoft Yahei"/>
                <a:ea typeface="Microsoft Yahei"/>
                <a:cs typeface="Microsoft Yahei"/>
                <a:sym typeface="Microsoft Yahei"/>
              </a:rPr>
              <a:t> Haji.</a:t>
            </a:r>
            <a:endParaRPr dirty="0"/>
          </a:p>
          <a:p>
            <a:pPr marL="0" marR="0" lvl="0" indent="0" algn="just" rtl="0">
              <a:lnSpc>
                <a:spcPct val="150000"/>
              </a:lnSpc>
              <a:spcBef>
                <a:spcPts val="0"/>
              </a:spcBef>
              <a:spcAft>
                <a:spcPts val="0"/>
              </a:spcAft>
              <a:buNone/>
            </a:pPr>
            <a:r>
              <a:rPr lang="en-MY" sz="2000" dirty="0">
                <a:solidFill>
                  <a:srgbClr val="3F3F3F"/>
                </a:solidFill>
                <a:latin typeface="Microsoft Yahei"/>
                <a:ea typeface="Microsoft Yahei"/>
                <a:cs typeface="Microsoft Yahei"/>
                <a:sym typeface="Microsoft Yahei"/>
              </a:rPr>
              <a:t> </a:t>
            </a:r>
            <a:endParaRPr dirty="0"/>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Ia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juga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membolehkan</a:t>
            </a:r>
            <a:r>
              <a:rPr lang="en-MY" sz="2000" dirty="0">
                <a:solidFill>
                  <a:srgbClr val="3F3F3F"/>
                </a:solidFill>
                <a:latin typeface="Microsoft Yahei"/>
                <a:ea typeface="Microsoft Yahei"/>
                <a:cs typeface="Microsoft Yahei"/>
                <a:sym typeface="Microsoft Yahei"/>
              </a:rPr>
              <a:t> orang Islam </a:t>
            </a:r>
            <a:r>
              <a:rPr lang="en-MY" sz="2000" dirty="0" err="1">
                <a:solidFill>
                  <a:srgbClr val="3F3F3F"/>
                </a:solidFill>
                <a:latin typeface="Microsoft Yahei"/>
                <a:ea typeface="Microsoft Yahei"/>
                <a:cs typeface="Microsoft Yahei"/>
                <a:sym typeface="Microsoft Yahei"/>
              </a:rPr>
              <a:t>mengambil</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bahagian</a:t>
            </a:r>
            <a:r>
              <a:rPr lang="en-MY" sz="2000" dirty="0">
                <a:solidFill>
                  <a:srgbClr val="3F3F3F"/>
                </a:solidFill>
                <a:latin typeface="Microsoft Yahei"/>
                <a:ea typeface="Microsoft Yahei"/>
                <a:cs typeface="Microsoft Yahei"/>
                <a:sym typeface="Microsoft Yahei"/>
              </a:rPr>
              <a:t> yang </a:t>
            </a:r>
            <a:r>
              <a:rPr lang="en-MY" sz="2000" dirty="0" err="1">
                <a:solidFill>
                  <a:srgbClr val="3F3F3F"/>
                </a:solidFill>
                <a:latin typeface="Microsoft Yahei"/>
                <a:ea typeface="Microsoft Yahei"/>
                <a:cs typeface="Microsoft Yahei"/>
                <a:sym typeface="Microsoft Yahei"/>
              </a:rPr>
              <a:t>berkesan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dalam</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bidang</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penanaman</a:t>
            </a:r>
            <a:r>
              <a:rPr lang="en-MY" sz="2000" dirty="0">
                <a:solidFill>
                  <a:srgbClr val="3F3F3F"/>
                </a:solidFill>
                <a:latin typeface="Microsoft Yahei"/>
                <a:ea typeface="Microsoft Yahei"/>
                <a:cs typeface="Microsoft Yahei"/>
                <a:sym typeface="Microsoft Yahei"/>
              </a:rPr>
              <a:t> modal </a:t>
            </a:r>
            <a:r>
              <a:rPr lang="en-MY" sz="2000" dirty="0" err="1">
                <a:solidFill>
                  <a:srgbClr val="3F3F3F"/>
                </a:solidFill>
                <a:latin typeface="Microsoft Yahei"/>
                <a:ea typeface="Microsoft Yahei"/>
                <a:cs typeface="Microsoft Yahei"/>
                <a:sym typeface="Microsoft Yahei"/>
              </a:rPr>
              <a:t>melalui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cara</a:t>
            </a:r>
            <a:r>
              <a:rPr lang="en-MY" sz="2000" dirty="0">
                <a:solidFill>
                  <a:srgbClr val="3F3F3F"/>
                </a:solidFill>
                <a:latin typeface="Microsoft Yahei"/>
                <a:ea typeface="Microsoft Yahei"/>
                <a:cs typeface="Microsoft Yahei"/>
                <a:sym typeface="Microsoft Yahei"/>
              </a:rPr>
              <a:t> halal di </a:t>
            </a:r>
            <a:r>
              <a:rPr lang="en-MY" sz="2000" dirty="0" err="1">
                <a:solidFill>
                  <a:srgbClr val="3F3F3F"/>
                </a:solidFill>
                <a:latin typeface="Microsoft Yahei"/>
                <a:ea typeface="Microsoft Yahei"/>
                <a:cs typeface="Microsoft Yahei"/>
                <a:sym typeface="Microsoft Yahei"/>
              </a:rPr>
              <a:t>sisi</a:t>
            </a:r>
            <a:r>
              <a:rPr lang="en-MY" sz="2000" dirty="0">
                <a:solidFill>
                  <a:srgbClr val="3F3F3F"/>
                </a:solidFill>
                <a:latin typeface="Microsoft Yahei"/>
                <a:ea typeface="Microsoft Yahei"/>
                <a:cs typeface="Microsoft Yahei"/>
                <a:sym typeface="Microsoft Yahei"/>
              </a:rPr>
              <a:t> Islam.</a:t>
            </a:r>
            <a:endParaRPr dirty="0"/>
          </a:p>
          <a:p>
            <a:pPr marL="358775" marR="0" lvl="0" indent="-231775" algn="just" rtl="0">
              <a:lnSpc>
                <a:spcPct val="150000"/>
              </a:lnSpc>
              <a:spcBef>
                <a:spcPts val="0"/>
              </a:spcBef>
              <a:spcAft>
                <a:spcPts val="0"/>
              </a:spcAft>
              <a:buClr>
                <a:schemeClr val="dk1"/>
              </a:buClr>
              <a:buSzPts val="2000"/>
              <a:buFont typeface="Arial"/>
              <a:buNone/>
            </a:pPr>
            <a:endParaRPr sz="2000" dirty="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Memberi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perlindungan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kebajikan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jemaah</a:t>
            </a:r>
            <a:r>
              <a:rPr lang="en-MY" sz="2000" dirty="0">
                <a:solidFill>
                  <a:srgbClr val="3F3F3F"/>
                </a:solidFill>
                <a:latin typeface="Microsoft Yahei"/>
                <a:ea typeface="Microsoft Yahei"/>
                <a:cs typeface="Microsoft Yahei"/>
                <a:sym typeface="Microsoft Yahei"/>
              </a:rPr>
              <a:t> haji </a:t>
            </a:r>
            <a:r>
              <a:rPr lang="en-MY" sz="2000" dirty="0" err="1">
                <a:solidFill>
                  <a:srgbClr val="3F3F3F"/>
                </a:solidFill>
                <a:latin typeface="Microsoft Yahei"/>
                <a:ea typeface="Microsoft Yahei"/>
                <a:cs typeface="Microsoft Yahei"/>
                <a:sym typeface="Microsoft Yahei"/>
              </a:rPr>
              <a:t>melaksanakan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fardu</a:t>
            </a:r>
            <a:r>
              <a:rPr lang="en-MY" sz="2000" dirty="0">
                <a:solidFill>
                  <a:srgbClr val="3F3F3F"/>
                </a:solidFill>
                <a:latin typeface="Microsoft Yahei"/>
                <a:ea typeface="Microsoft Yahei"/>
                <a:cs typeface="Microsoft Yahei"/>
                <a:sym typeface="Microsoft Yahei"/>
              </a:rPr>
              <a:t> haji </a:t>
            </a:r>
            <a:r>
              <a:rPr lang="en-MY" sz="2000" dirty="0" err="1">
                <a:solidFill>
                  <a:srgbClr val="3F3F3F"/>
                </a:solidFill>
                <a:latin typeface="Microsoft Yahei"/>
                <a:ea typeface="Microsoft Yahei"/>
                <a:cs typeface="Microsoft Yahei"/>
                <a:sym typeface="Microsoft Yahei"/>
              </a:rPr>
              <a:t>dengan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menyediakan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pelbagai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kemudahan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perkhidmatan</a:t>
            </a:r>
            <a:endParaRPr sz="2000" dirty="0">
              <a:solidFill>
                <a:srgbClr val="3F3F3F"/>
              </a:solidFill>
              <a:latin typeface="Microsoft Yahei"/>
              <a:ea typeface="Microsoft Yahei"/>
              <a:cs typeface="Microsoft Yahei"/>
              <a:sym typeface="Microsoft Yahei"/>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dirty="0">
              <a:solidFill>
                <a:srgbClr val="3F3F3F"/>
              </a:solidFill>
              <a:latin typeface="Microsoft Yahei"/>
              <a:ea typeface="Microsoft Yahei"/>
              <a:cs typeface="Microsoft Yahei"/>
              <a:sym typeface="Microsoft Yahei"/>
            </a:endParaRPr>
          </a:p>
        </p:txBody>
      </p:sp>
      <p:pic>
        <p:nvPicPr>
          <p:cNvPr id="5128" name="Picture 8" descr="Report: Tabung Haji agrees to allow court to freeze assets of Muslim  debtors who fail to pay alimony, child suppor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43" y="1895707"/>
            <a:ext cx="3237416" cy="37133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5"/>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INSTITUSI KEWANGAN BUKAN PERBANKAN</a:t>
            </a:r>
            <a:endParaRPr sz="2800" b="0" i="0" u="none" strike="noStrike" cap="none">
              <a:solidFill>
                <a:srgbClr val="000000"/>
              </a:solidFill>
              <a:latin typeface="Microsoft Yahei"/>
              <a:ea typeface="Microsoft Yahei"/>
              <a:cs typeface="Microsoft Yahei"/>
              <a:sym typeface="Microsoft Yahei"/>
            </a:endParaRPr>
          </a:p>
        </p:txBody>
      </p:sp>
      <p:sp>
        <p:nvSpPr>
          <p:cNvPr id="345" name="Google Shape;345;p45"/>
          <p:cNvSpPr txBox="1"/>
          <p:nvPr/>
        </p:nvSpPr>
        <p:spPr>
          <a:xfrm>
            <a:off x="895506" y="1512593"/>
            <a:ext cx="10042570" cy="3785652"/>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i="0" u="none" strike="noStrike" cap="none">
                <a:solidFill>
                  <a:srgbClr val="3F3F3F"/>
                </a:solidFill>
                <a:latin typeface="Microsoft Yahei"/>
                <a:ea typeface="Microsoft Yahei"/>
                <a:cs typeface="Microsoft Yahei"/>
                <a:sym typeface="Microsoft Yahei"/>
              </a:rPr>
              <a:t>Tabung Haji </a:t>
            </a:r>
            <a:r>
              <a:rPr lang="en-MY" sz="2000" i="1" u="none" strike="noStrike" cap="none">
                <a:solidFill>
                  <a:srgbClr val="3F3F3F"/>
                </a:solidFill>
                <a:latin typeface="Microsoft Yahei"/>
                <a:ea typeface="Microsoft Yahei"/>
                <a:cs typeface="Microsoft Yahei"/>
                <a:sym typeface="Microsoft Yahei"/>
              </a:rPr>
              <a:t>(…sambungan)</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Fungsi LTH ialah:</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Menguruskan perjalanan haji bagi umat Islam.</a:t>
            </a:r>
            <a:endParaRPr/>
          </a:p>
          <a:p>
            <a:pPr marL="717550" marR="0" lvl="1" indent="-231775" algn="just" rtl="0">
              <a:lnSpc>
                <a:spcPct val="150000"/>
              </a:lnSpc>
              <a:spcBef>
                <a:spcPts val="0"/>
              </a:spcBef>
              <a:spcAft>
                <a:spcPts val="0"/>
              </a:spcAft>
              <a:buClr>
                <a:schemeClr val="dk1"/>
              </a:buClr>
              <a:buSzPts val="2000"/>
              <a:buFont typeface="Noto Sans Symbols"/>
              <a:buNone/>
            </a:pPr>
            <a:endParaRPr sz="20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Menyediakan kemudahan tabungan untuk umat Islam menabung.</a:t>
            </a:r>
            <a:endParaRPr/>
          </a:p>
          <a:p>
            <a:pPr marL="717550" marR="0" lvl="1" indent="-231775" algn="just" rtl="0">
              <a:lnSpc>
                <a:spcPct val="150000"/>
              </a:lnSpc>
              <a:spcBef>
                <a:spcPts val="0"/>
              </a:spcBef>
              <a:spcAft>
                <a:spcPts val="0"/>
              </a:spcAft>
              <a:buClr>
                <a:schemeClr val="dk1"/>
              </a:buClr>
              <a:buSzPts val="2000"/>
              <a:buFont typeface="Noto Sans Symbols"/>
              <a:buNone/>
            </a:pPr>
            <a:endParaRPr sz="20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Dana simpanan digunakan untuk tujuan pelaburan dalam kegiatan berlandaskan hukum syarak.</a:t>
            </a:r>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46"/>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INSTITUSI KEWANGAN BUKAN PERBANKAN</a:t>
            </a:r>
            <a:endParaRPr sz="2800" b="0" i="0" u="none" strike="noStrike" cap="none">
              <a:solidFill>
                <a:srgbClr val="000000"/>
              </a:solidFill>
              <a:latin typeface="Microsoft Yahei"/>
              <a:ea typeface="Microsoft Yahei"/>
              <a:cs typeface="Microsoft Yahei"/>
              <a:sym typeface="Microsoft Yahei"/>
            </a:endParaRPr>
          </a:p>
        </p:txBody>
      </p:sp>
      <p:sp>
        <p:nvSpPr>
          <p:cNvPr id="351" name="Google Shape;351;p46"/>
          <p:cNvSpPr txBox="1"/>
          <p:nvPr/>
        </p:nvSpPr>
        <p:spPr>
          <a:xfrm>
            <a:off x="3256157" y="1166905"/>
            <a:ext cx="7871490" cy="4247317"/>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1" dirty="0">
                <a:solidFill>
                  <a:srgbClr val="3F3F3F"/>
                </a:solidFill>
                <a:latin typeface="Microsoft Yahei"/>
                <a:ea typeface="Microsoft Yahei"/>
                <a:cs typeface="Microsoft Yahei"/>
                <a:sym typeface="Microsoft Yahei"/>
              </a:rPr>
              <a:t>Bank </a:t>
            </a:r>
            <a:r>
              <a:rPr lang="en-MY" sz="2000" b="1" dirty="0" err="1">
                <a:solidFill>
                  <a:srgbClr val="3F3F3F"/>
                </a:solidFill>
                <a:latin typeface="Microsoft Yahei"/>
                <a:ea typeface="Microsoft Yahei"/>
                <a:cs typeface="Microsoft Yahei"/>
                <a:sym typeface="Microsoft Yahei"/>
              </a:rPr>
              <a:t>Simpanan</a:t>
            </a:r>
            <a:r>
              <a:rPr lang="en-MY" sz="2000" b="1" dirty="0">
                <a:solidFill>
                  <a:srgbClr val="3F3F3F"/>
                </a:solidFill>
                <a:latin typeface="Microsoft Yahei"/>
                <a:ea typeface="Microsoft Yahei"/>
                <a:cs typeface="Microsoft Yahei"/>
                <a:sym typeface="Microsoft Yahei"/>
              </a:rPr>
              <a:t> </a:t>
            </a:r>
            <a:r>
              <a:rPr lang="en-MY" sz="2000" b="1" dirty="0" err="1">
                <a:solidFill>
                  <a:srgbClr val="3F3F3F"/>
                </a:solidFill>
                <a:latin typeface="Microsoft Yahei"/>
                <a:ea typeface="Microsoft Yahei"/>
                <a:cs typeface="Microsoft Yahei"/>
                <a:sym typeface="Microsoft Yahei"/>
              </a:rPr>
              <a:t>Nasional</a:t>
            </a:r>
            <a:r>
              <a:rPr lang="en-MY" sz="2000" b="1" dirty="0">
                <a:solidFill>
                  <a:srgbClr val="3F3F3F"/>
                </a:solidFill>
                <a:latin typeface="Microsoft Yahei"/>
                <a:ea typeface="Microsoft Yahei"/>
                <a:cs typeface="Microsoft Yahei"/>
                <a:sym typeface="Microsoft Yahei"/>
              </a:rPr>
              <a:t> (BSN)</a:t>
            </a:r>
            <a:endParaRPr sz="2000" b="1" i="0" u="none" strike="noStrike" cap="none" dirty="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Ditubuhkan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pada</a:t>
            </a:r>
            <a:r>
              <a:rPr lang="en-MY" sz="2000" dirty="0">
                <a:solidFill>
                  <a:srgbClr val="3F3F3F"/>
                </a:solidFill>
                <a:latin typeface="Microsoft Yahei"/>
                <a:ea typeface="Microsoft Yahei"/>
                <a:cs typeface="Microsoft Yahei"/>
                <a:sym typeface="Microsoft Yahei"/>
              </a:rPr>
              <a:t> 1.12.74 di </a:t>
            </a:r>
            <a:r>
              <a:rPr lang="en-MY" sz="2000" dirty="0" err="1">
                <a:solidFill>
                  <a:srgbClr val="3F3F3F"/>
                </a:solidFill>
                <a:latin typeface="Microsoft Yahei"/>
                <a:ea typeface="Microsoft Yahei"/>
                <a:cs typeface="Microsoft Yahei"/>
                <a:sym typeface="Microsoft Yahei"/>
              </a:rPr>
              <a:t>bawah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Akta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Parlimen</a:t>
            </a:r>
            <a:r>
              <a:rPr lang="en-MY" sz="2000" dirty="0">
                <a:solidFill>
                  <a:srgbClr val="3F3F3F"/>
                </a:solidFill>
                <a:latin typeface="Microsoft Yahei"/>
                <a:ea typeface="Microsoft Yahei"/>
                <a:cs typeface="Microsoft Yahei"/>
                <a:sym typeface="Microsoft Yahei"/>
              </a:rPr>
              <a:t>.</a:t>
            </a:r>
            <a:endParaRPr dirty="0"/>
          </a:p>
          <a:p>
            <a:pPr marL="358775" marR="0" lvl="0" indent="-231775" algn="just" rtl="0">
              <a:lnSpc>
                <a:spcPct val="150000"/>
              </a:lnSpc>
              <a:spcBef>
                <a:spcPts val="0"/>
              </a:spcBef>
              <a:spcAft>
                <a:spcPts val="0"/>
              </a:spcAft>
              <a:buClr>
                <a:schemeClr val="dk1"/>
              </a:buClr>
              <a:buSzPts val="2000"/>
              <a:buFont typeface="Arial"/>
              <a:buNone/>
            </a:pPr>
            <a:endParaRPr sz="2000" dirty="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Dibawah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pengawasan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Kementerian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Kewangan</a:t>
            </a:r>
            <a:r>
              <a:rPr lang="en-MY" sz="2000" dirty="0">
                <a:solidFill>
                  <a:srgbClr val="3F3F3F"/>
                </a:solidFill>
                <a:latin typeface="Microsoft Yahei"/>
                <a:ea typeface="Microsoft Yahei"/>
                <a:cs typeface="Microsoft Yahei"/>
                <a:sym typeface="Microsoft Yahei"/>
              </a:rPr>
              <a:t> Malaysia- “Government Owned Bank”.</a:t>
            </a:r>
            <a:endParaRPr dirty="0"/>
          </a:p>
          <a:p>
            <a:pPr marL="358775" marR="0" lvl="0" indent="-231775" algn="just" rtl="0">
              <a:lnSpc>
                <a:spcPct val="150000"/>
              </a:lnSpc>
              <a:spcBef>
                <a:spcPts val="0"/>
              </a:spcBef>
              <a:spcAft>
                <a:spcPts val="0"/>
              </a:spcAft>
              <a:buClr>
                <a:schemeClr val="dk1"/>
              </a:buClr>
              <a:buSzPts val="2000"/>
              <a:buFont typeface="Arial"/>
              <a:buNone/>
            </a:pPr>
            <a:endParaRPr sz="2000" dirty="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dirty="0">
                <a:solidFill>
                  <a:srgbClr val="3F3F3F"/>
                </a:solidFill>
                <a:latin typeface="Microsoft Yahei"/>
                <a:ea typeface="Microsoft Yahei"/>
                <a:cs typeface="Microsoft Yahei"/>
                <a:sym typeface="Microsoft Yahei"/>
              </a:rPr>
              <a:t>Bank </a:t>
            </a:r>
            <a:r>
              <a:rPr lang="en-MY" sz="2000" dirty="0" err="1">
                <a:solidFill>
                  <a:srgbClr val="3F3F3F"/>
                </a:solidFill>
                <a:latin typeface="Microsoft Yahei"/>
                <a:ea typeface="Microsoft Yahei"/>
                <a:cs typeface="Microsoft Yahei"/>
                <a:sym typeface="Microsoft Yahei"/>
              </a:rPr>
              <a:t>ini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ditubuhkan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untuk</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menggalakkan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tabungan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bagi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golongan</a:t>
            </a:r>
            <a:r>
              <a:rPr lang="en-MY" sz="2000" dirty="0">
                <a:solidFill>
                  <a:srgbClr val="3F3F3F"/>
                </a:solidFill>
                <a:latin typeface="Microsoft Yahei"/>
                <a:ea typeface="Microsoft Yahei"/>
                <a:cs typeface="Microsoft Yahei"/>
                <a:sym typeface="Microsoft Yahei"/>
              </a:rPr>
              <a:t> yang </a:t>
            </a:r>
            <a:r>
              <a:rPr lang="en-MY" sz="2000" dirty="0" err="1">
                <a:solidFill>
                  <a:srgbClr val="3F3F3F"/>
                </a:solidFill>
                <a:latin typeface="Microsoft Yahei"/>
                <a:ea typeface="Microsoft Yahei"/>
                <a:cs typeface="Microsoft Yahei"/>
                <a:sym typeface="Microsoft Yahei"/>
              </a:rPr>
              <a:t>berpendapatan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rendah</a:t>
            </a:r>
            <a:endParaRPr sz="2000" dirty="0">
              <a:solidFill>
                <a:srgbClr val="3F3F3F"/>
              </a:solidFill>
              <a:latin typeface="Microsoft Yahei"/>
              <a:ea typeface="Microsoft Yahei"/>
              <a:cs typeface="Microsoft Yahei"/>
              <a:sym typeface="Microsoft Yahei"/>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dirty="0">
              <a:solidFill>
                <a:srgbClr val="3F3F3F"/>
              </a:solidFill>
              <a:latin typeface="Microsoft Yahei"/>
              <a:ea typeface="Microsoft Yahei"/>
              <a:cs typeface="Microsoft Yahei"/>
              <a:sym typeface="Microsoft Yahei"/>
            </a:endParaRPr>
          </a:p>
        </p:txBody>
      </p:sp>
      <p:pic>
        <p:nvPicPr>
          <p:cNvPr id="4" name="Picture 2" descr="64 Bank simpanan nasional Images, Stock Photos &amp; Vectors | Shutterstock"/>
          <p:cNvPicPr>
            <a:picLocks noChangeAspect="1" noChangeArrowheads="1"/>
          </p:cNvPicPr>
          <p:nvPr/>
        </p:nvPicPr>
        <p:blipFill rotWithShape="1">
          <a:blip r:embed="rId3">
            <a:extLst>
              <a:ext uri="{28A0092B-C50C-407E-A947-70E740481C1C}">
                <a14:useLocalDpi xmlns:a14="http://schemas.microsoft.com/office/drawing/2010/main" val="0"/>
              </a:ext>
            </a:extLst>
          </a:blip>
          <a:srcRect l="19248" b="17739"/>
          <a:stretch/>
        </p:blipFill>
        <p:spPr bwMode="auto">
          <a:xfrm>
            <a:off x="484846" y="1516567"/>
            <a:ext cx="2669013" cy="36018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47"/>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INSTITUSI KEWANGAN BUKAN PERBANKAN</a:t>
            </a:r>
            <a:endParaRPr sz="2800" b="0" i="0" u="none" strike="noStrike" cap="none">
              <a:solidFill>
                <a:srgbClr val="000000"/>
              </a:solidFill>
              <a:latin typeface="Microsoft Yahei"/>
              <a:ea typeface="Microsoft Yahei"/>
              <a:cs typeface="Microsoft Yahei"/>
              <a:sym typeface="Microsoft Yahei"/>
            </a:endParaRPr>
          </a:p>
        </p:txBody>
      </p:sp>
      <p:sp>
        <p:nvSpPr>
          <p:cNvPr id="357" name="Google Shape;357;p47"/>
          <p:cNvSpPr txBox="1"/>
          <p:nvPr/>
        </p:nvSpPr>
        <p:spPr>
          <a:xfrm>
            <a:off x="895506" y="1512593"/>
            <a:ext cx="10042570" cy="5170646"/>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i="0" u="none" strike="noStrike" cap="none">
                <a:solidFill>
                  <a:srgbClr val="3F3F3F"/>
                </a:solidFill>
                <a:latin typeface="Microsoft Yahei"/>
                <a:ea typeface="Microsoft Yahei"/>
                <a:cs typeface="Microsoft Yahei"/>
                <a:sym typeface="Microsoft Yahei"/>
              </a:rPr>
              <a:t>Bank Simpanan Nasional (BSN) </a:t>
            </a:r>
            <a:r>
              <a:rPr lang="en-MY" sz="2000" i="1" u="none" strike="noStrike" cap="none">
                <a:solidFill>
                  <a:srgbClr val="3F3F3F"/>
                </a:solidFill>
                <a:latin typeface="Microsoft Yahei"/>
                <a:ea typeface="Microsoft Yahei"/>
                <a:cs typeface="Microsoft Yahei"/>
                <a:sym typeface="Microsoft Yahei"/>
              </a:rPr>
              <a:t>(…sambungan)</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Fungsi BSN ialah:</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Menyediakan saluran untuk menyimpan dan melabur bagi orang awam dengan menawarkan rangkaian perkhidmatan perbankan yang komprehensif.</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Menggalakkan dan menggembleng simpanan, terutamanya daripada para penyimpan-penyimpan kecil.</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Menanam tabiat berjimat cermat dan menyimpan.</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Menggunakan dana bank untuk pelaburan, termasuk membiayai pembangunan ekonomi negara.</a:t>
            </a:r>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48"/>
          <p:cNvSpPr txBox="1"/>
          <p:nvPr/>
        </p:nvSpPr>
        <p:spPr>
          <a:xfrm>
            <a:off x="1908563" y="48721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dirty="0">
                <a:solidFill>
                  <a:srgbClr val="000000"/>
                </a:solidFill>
                <a:latin typeface="Microsoft Yahei"/>
                <a:ea typeface="Microsoft Yahei"/>
                <a:cs typeface="Microsoft Yahei"/>
                <a:sym typeface="Microsoft Yahei"/>
              </a:rPr>
              <a:t>INSTITUSI KEWANGAN BUKAN PERBANKAN</a:t>
            </a:r>
            <a:endParaRPr sz="2800" b="0" i="0" u="none" strike="noStrike" cap="none" dirty="0">
              <a:solidFill>
                <a:srgbClr val="000000"/>
              </a:solidFill>
              <a:latin typeface="Microsoft Yahei"/>
              <a:ea typeface="Microsoft Yahei"/>
              <a:cs typeface="Microsoft Yahei"/>
              <a:sym typeface="Microsoft Yahei"/>
            </a:endParaRPr>
          </a:p>
        </p:txBody>
      </p:sp>
      <p:sp>
        <p:nvSpPr>
          <p:cNvPr id="363" name="Google Shape;363;p48"/>
          <p:cNvSpPr txBox="1"/>
          <p:nvPr/>
        </p:nvSpPr>
        <p:spPr>
          <a:xfrm>
            <a:off x="3434575" y="1010436"/>
            <a:ext cx="7470048" cy="4708941"/>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1" i="0" u="none" strike="noStrike" cap="none" dirty="0">
                <a:solidFill>
                  <a:srgbClr val="3F3F3F"/>
                </a:solidFill>
                <a:latin typeface="Microsoft Yahei"/>
                <a:ea typeface="Microsoft Yahei"/>
                <a:cs typeface="Microsoft Yahei"/>
                <a:sym typeface="Microsoft Yahei"/>
              </a:rPr>
              <a:t>Syarikat </a:t>
            </a:r>
            <a:r>
              <a:rPr lang="en-MY" sz="2000" b="1" i="0" u="none" strike="noStrike" cap="none" dirty="0" err="1">
                <a:solidFill>
                  <a:srgbClr val="3F3F3F"/>
                </a:solidFill>
                <a:latin typeface="Microsoft Yahei"/>
                <a:ea typeface="Microsoft Yahei"/>
                <a:cs typeface="Microsoft Yahei"/>
                <a:sym typeface="Microsoft Yahei"/>
              </a:rPr>
              <a:t>Insurans</a:t>
            </a:r>
            <a:endParaRPr sz="2000" b="1" i="0" u="none" strike="noStrike" cap="none" dirty="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dirty="0">
                <a:solidFill>
                  <a:srgbClr val="3F3F3F"/>
                </a:solidFill>
                <a:latin typeface="Microsoft Yahei"/>
                <a:ea typeface="Microsoft Yahei"/>
                <a:cs typeface="Microsoft Yahei"/>
                <a:sym typeface="Microsoft Yahei"/>
              </a:rPr>
              <a:t>Syarikat </a:t>
            </a:r>
            <a:r>
              <a:rPr lang="en-MY" sz="2000" dirty="0" err="1">
                <a:solidFill>
                  <a:srgbClr val="3F3F3F"/>
                </a:solidFill>
                <a:latin typeface="Microsoft Yahei"/>
                <a:ea typeface="Microsoft Yahei"/>
                <a:cs typeface="Microsoft Yahei"/>
                <a:sym typeface="Microsoft Yahei"/>
              </a:rPr>
              <a:t>Insurans</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merupakan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perusahaan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swasta</a:t>
            </a:r>
            <a:r>
              <a:rPr lang="en-MY" sz="2000" dirty="0">
                <a:solidFill>
                  <a:srgbClr val="3F3F3F"/>
                </a:solidFill>
                <a:latin typeface="Microsoft Yahei"/>
                <a:ea typeface="Microsoft Yahei"/>
                <a:cs typeface="Microsoft Yahei"/>
                <a:sym typeface="Microsoft Yahei"/>
              </a:rPr>
              <a:t> yang </a:t>
            </a:r>
            <a:r>
              <a:rPr lang="en-MY" sz="2000" dirty="0" err="1">
                <a:solidFill>
                  <a:srgbClr val="3F3F3F"/>
                </a:solidFill>
                <a:latin typeface="Microsoft Yahei"/>
                <a:ea typeface="Microsoft Yahei"/>
                <a:cs typeface="Microsoft Yahei"/>
                <a:sym typeface="Microsoft Yahei"/>
              </a:rPr>
              <a:t>menghasilkan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keuntungan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dengan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menawarkan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perlindungan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terhadap</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risiko</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kepada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pelanggan</a:t>
            </a:r>
            <a:r>
              <a:rPr lang="en-MY" sz="2000" dirty="0">
                <a:solidFill>
                  <a:srgbClr val="3F3F3F"/>
                </a:solidFill>
                <a:latin typeface="Microsoft Yahei"/>
                <a:ea typeface="Microsoft Yahei"/>
                <a:cs typeface="Microsoft Yahei"/>
                <a:sym typeface="Microsoft Yahei"/>
              </a:rPr>
              <a:t>.</a:t>
            </a:r>
            <a:endParaRPr sz="2000" dirty="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Sebagai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balasan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pelanggan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dikenakan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bayaran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dalam</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bentuk</a:t>
            </a:r>
            <a:r>
              <a:rPr lang="en-MY" sz="2000" dirty="0">
                <a:solidFill>
                  <a:srgbClr val="3F3F3F"/>
                </a:solidFill>
                <a:latin typeface="Microsoft Yahei"/>
                <a:ea typeface="Microsoft Yahei"/>
                <a:cs typeface="Microsoft Yahei"/>
                <a:sym typeface="Microsoft Yahei"/>
              </a:rPr>
              <a:t> premium. </a:t>
            </a:r>
            <a:endParaRPr sz="2000" dirty="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dirty="0">
                <a:solidFill>
                  <a:srgbClr val="3F3F3F"/>
                </a:solidFill>
                <a:latin typeface="Microsoft Yahei"/>
                <a:ea typeface="Microsoft Yahei"/>
                <a:cs typeface="Microsoft Yahei"/>
                <a:sym typeface="Microsoft Yahei"/>
              </a:rPr>
              <a:t>Syarikat </a:t>
            </a:r>
            <a:r>
              <a:rPr lang="en-MY" sz="2000" dirty="0" err="1">
                <a:solidFill>
                  <a:srgbClr val="3F3F3F"/>
                </a:solidFill>
                <a:latin typeface="Microsoft Yahei"/>
                <a:ea typeface="Microsoft Yahei"/>
                <a:cs typeface="Microsoft Yahei"/>
                <a:sym typeface="Microsoft Yahei"/>
              </a:rPr>
              <a:t>insurans</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aktif</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dalam</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pasaran</a:t>
            </a:r>
            <a:r>
              <a:rPr lang="en-MY" sz="2000" dirty="0">
                <a:solidFill>
                  <a:srgbClr val="3F3F3F"/>
                </a:solidFill>
                <a:latin typeface="Microsoft Yahei"/>
                <a:ea typeface="Microsoft Yahei"/>
                <a:cs typeface="Microsoft Yahei"/>
                <a:sym typeface="Microsoft Yahei"/>
              </a:rPr>
              <a:t> modal </a:t>
            </a:r>
            <a:r>
              <a:rPr lang="en-MY" sz="2000" dirty="0" err="1">
                <a:solidFill>
                  <a:srgbClr val="3F3F3F"/>
                </a:solidFill>
                <a:latin typeface="Microsoft Yahei"/>
                <a:ea typeface="Microsoft Yahei"/>
                <a:cs typeface="Microsoft Yahei"/>
                <a:sym typeface="Microsoft Yahei"/>
              </a:rPr>
              <a:t>dengan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melaburkan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sebahagian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daripada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kumpulan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wangnya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dalam</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sekuriti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syarikat</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atau</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kerajaan</a:t>
            </a:r>
            <a:r>
              <a:rPr lang="en-MY" sz="2000" dirty="0">
                <a:solidFill>
                  <a:srgbClr val="3F3F3F"/>
                </a:solidFill>
                <a:latin typeface="Microsoft Yahei"/>
                <a:ea typeface="Microsoft Yahei"/>
                <a:cs typeface="Microsoft Yahei"/>
                <a:sym typeface="Microsoft Yahei"/>
              </a:rPr>
              <a:t>.</a:t>
            </a:r>
            <a:endParaRPr dirty="0"/>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dirty="0">
              <a:solidFill>
                <a:srgbClr val="3F3F3F"/>
              </a:solidFill>
              <a:latin typeface="Microsoft Yahei"/>
              <a:ea typeface="Microsoft Yahei"/>
              <a:cs typeface="Microsoft Yahei"/>
              <a:sym typeface="Microsoft Yahei"/>
            </a:endParaRPr>
          </a:p>
        </p:txBody>
      </p:sp>
      <p:pic>
        <p:nvPicPr>
          <p:cNvPr id="8196" name="Picture 4" descr="Insurans Kereta – Insurans Road Ta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146" y="1683834"/>
            <a:ext cx="2790825" cy="33816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49"/>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INSTITUSI KEWANGAN BUKAN PERBANKAN</a:t>
            </a:r>
            <a:endParaRPr sz="2800" b="0" i="0" u="none" strike="noStrike" cap="none">
              <a:solidFill>
                <a:srgbClr val="000000"/>
              </a:solidFill>
              <a:latin typeface="Microsoft Yahei"/>
              <a:ea typeface="Microsoft Yahei"/>
              <a:cs typeface="Microsoft Yahei"/>
              <a:sym typeface="Microsoft Yahei"/>
            </a:endParaRPr>
          </a:p>
        </p:txBody>
      </p:sp>
      <p:sp>
        <p:nvSpPr>
          <p:cNvPr id="369" name="Google Shape;369;p49"/>
          <p:cNvSpPr txBox="1"/>
          <p:nvPr/>
        </p:nvSpPr>
        <p:spPr>
          <a:xfrm>
            <a:off x="895506" y="1512593"/>
            <a:ext cx="10042570" cy="4247317"/>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i="0" u="none" strike="noStrike" cap="none">
                <a:solidFill>
                  <a:srgbClr val="3F3F3F"/>
                </a:solidFill>
                <a:latin typeface="Microsoft Yahei"/>
                <a:ea typeface="Microsoft Yahei"/>
                <a:cs typeface="Microsoft Yahei"/>
                <a:sym typeface="Microsoft Yahei"/>
              </a:rPr>
              <a:t>Syarikat Insurans </a:t>
            </a:r>
            <a:r>
              <a:rPr lang="en-MY" sz="2000" i="1" u="none" strike="noStrike" cap="none">
                <a:solidFill>
                  <a:srgbClr val="3F3F3F"/>
                </a:solidFill>
                <a:latin typeface="Microsoft Yahei"/>
                <a:ea typeface="Microsoft Yahei"/>
                <a:cs typeface="Microsoft Yahei"/>
                <a:sym typeface="Microsoft Yahei"/>
              </a:rPr>
              <a:t>(…sambungan)</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Fungsi syarikat insurans:</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Membayar pampasan kepada pemegang polisinya terhadap risiko-risiko seperti kerugian harta benda, kehilangan nyawa dll.</a:t>
            </a:r>
            <a:endParaRPr/>
          </a:p>
          <a:p>
            <a:pPr marL="717550" marR="0" lvl="1" indent="-231775" algn="just" rtl="0">
              <a:lnSpc>
                <a:spcPct val="150000"/>
              </a:lnSpc>
              <a:spcBef>
                <a:spcPts val="0"/>
              </a:spcBef>
              <a:spcAft>
                <a:spcPts val="0"/>
              </a:spcAft>
              <a:buClr>
                <a:schemeClr val="dk1"/>
              </a:buClr>
              <a:buSzPts val="2000"/>
              <a:buFont typeface="Noto Sans Symbols"/>
              <a:buNone/>
            </a:pPr>
            <a:endParaRPr sz="20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Menggerakkan pembangunan ekonomi negara dengan pelaburan dana premium yang diterima dalam surat jaminan kerajaan, surat jaminan korporat, harta tetap dll.</a:t>
            </a:r>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pic>
        <p:nvPicPr>
          <p:cNvPr id="7" name="Picture 4" descr="Etiqa Family Takaful Berhad - Home | Faceboo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932" y="4621334"/>
            <a:ext cx="2186181" cy="1600200"/>
          </a:xfrm>
          <a:prstGeom prst="rect">
            <a:avLst/>
          </a:prstGeom>
          <a:noFill/>
          <a:extLst>
            <a:ext uri="{909E8E84-426E-40DD-AFC4-6F175D3DCCD1}">
              <a14:hiddenFill xmlns:a14="http://schemas.microsoft.com/office/drawing/2010/main">
                <a:solidFill>
                  <a:srgbClr val="FFFFFF"/>
                </a:solidFill>
              </a14:hiddenFill>
            </a:ext>
          </a:extLst>
        </p:spPr>
      </p:pic>
      <p:sp>
        <p:nvSpPr>
          <p:cNvPr id="374" name="Google Shape;374;p50"/>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INSTITUSI KEWANGAN BUKAN PERBANKAN</a:t>
            </a:r>
            <a:endParaRPr sz="2800" b="0" i="0" u="none" strike="noStrike" cap="none">
              <a:solidFill>
                <a:srgbClr val="000000"/>
              </a:solidFill>
              <a:latin typeface="Microsoft Yahei"/>
              <a:ea typeface="Microsoft Yahei"/>
              <a:cs typeface="Microsoft Yahei"/>
              <a:sym typeface="Microsoft Yahei"/>
            </a:endParaRPr>
          </a:p>
        </p:txBody>
      </p:sp>
      <p:sp>
        <p:nvSpPr>
          <p:cNvPr id="375" name="Google Shape;375;p50"/>
          <p:cNvSpPr txBox="1"/>
          <p:nvPr/>
        </p:nvSpPr>
        <p:spPr>
          <a:xfrm>
            <a:off x="3345366" y="1512593"/>
            <a:ext cx="7592710" cy="4708941"/>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1" i="0" u="none" strike="noStrike" cap="none" dirty="0">
                <a:solidFill>
                  <a:srgbClr val="3F3F3F"/>
                </a:solidFill>
                <a:latin typeface="Microsoft Yahei"/>
                <a:ea typeface="Microsoft Yahei"/>
                <a:cs typeface="Microsoft Yahei"/>
                <a:sym typeface="Microsoft Yahei"/>
              </a:rPr>
              <a:t>Syarikat Takaful</a:t>
            </a:r>
            <a:endParaRPr dirty="0"/>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Merupakan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alternatif</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kepada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insurans</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kovensional</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bagi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umat</a:t>
            </a:r>
            <a:r>
              <a:rPr lang="en-MY" sz="2000" dirty="0">
                <a:solidFill>
                  <a:srgbClr val="3F3F3F"/>
                </a:solidFill>
                <a:latin typeface="Microsoft Yahei"/>
                <a:ea typeface="Microsoft Yahei"/>
                <a:cs typeface="Microsoft Yahei"/>
                <a:sym typeface="Microsoft Yahei"/>
              </a:rPr>
              <a:t> Islam yang </a:t>
            </a:r>
            <a:r>
              <a:rPr lang="en-MY" sz="2000" dirty="0" err="1">
                <a:solidFill>
                  <a:srgbClr val="3F3F3F"/>
                </a:solidFill>
                <a:latin typeface="Microsoft Yahei"/>
                <a:ea typeface="Microsoft Yahei"/>
                <a:cs typeface="Microsoft Yahei"/>
                <a:sym typeface="Microsoft Yahei"/>
              </a:rPr>
              <a:t>memerlukan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jaminan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perlindungan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kewangan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berlandaskan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syariah</a:t>
            </a:r>
            <a:r>
              <a:rPr lang="en-MY" sz="2000" dirty="0">
                <a:solidFill>
                  <a:srgbClr val="3F3F3F"/>
                </a:solidFill>
                <a:latin typeface="Microsoft Yahei"/>
                <a:ea typeface="Microsoft Yahei"/>
                <a:cs typeface="Microsoft Yahei"/>
                <a:sym typeface="Microsoft Yahei"/>
              </a:rPr>
              <a:t>.</a:t>
            </a:r>
            <a:endParaRPr dirty="0"/>
          </a:p>
          <a:p>
            <a:pPr marL="0" marR="0" lvl="0" indent="0" algn="just" rtl="0">
              <a:lnSpc>
                <a:spcPct val="150000"/>
              </a:lnSpc>
              <a:spcBef>
                <a:spcPts val="0"/>
              </a:spcBef>
              <a:spcAft>
                <a:spcPts val="0"/>
              </a:spcAft>
              <a:buNone/>
            </a:pPr>
            <a:endParaRPr sz="2000" dirty="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Menawarkan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pelan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insurans</a:t>
            </a:r>
            <a:r>
              <a:rPr lang="en-MY" sz="2000" dirty="0">
                <a:solidFill>
                  <a:srgbClr val="3F3F3F"/>
                </a:solidFill>
                <a:latin typeface="Microsoft Yahei"/>
                <a:ea typeface="Microsoft Yahei"/>
                <a:cs typeface="Microsoft Yahei"/>
                <a:sym typeface="Microsoft Yahei"/>
              </a:rPr>
              <a:t> yang </a:t>
            </a:r>
            <a:r>
              <a:rPr lang="en-MY" sz="2000" dirty="0" err="1">
                <a:solidFill>
                  <a:srgbClr val="3F3F3F"/>
                </a:solidFill>
                <a:latin typeface="Microsoft Yahei"/>
                <a:ea typeface="Microsoft Yahei"/>
                <a:cs typeface="Microsoft Yahei"/>
                <a:sym typeface="Microsoft Yahei"/>
              </a:rPr>
              <a:t>berasaskan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kepada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hubungan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persaudaraan</a:t>
            </a:r>
            <a:r>
              <a:rPr lang="en-MY" sz="2000" dirty="0">
                <a:solidFill>
                  <a:srgbClr val="3F3F3F"/>
                </a:solidFill>
                <a:latin typeface="Microsoft Yahei"/>
                <a:ea typeface="Microsoft Yahei"/>
                <a:cs typeface="Microsoft Yahei"/>
                <a:sym typeface="Microsoft Yahei"/>
              </a:rPr>
              <a:t>, rasa </a:t>
            </a:r>
            <a:r>
              <a:rPr lang="en-MY" sz="2000" dirty="0" err="1">
                <a:solidFill>
                  <a:srgbClr val="3F3F3F"/>
                </a:solidFill>
                <a:latin typeface="Microsoft Yahei"/>
                <a:ea typeface="Microsoft Yahei"/>
                <a:cs typeface="Microsoft Yahei"/>
                <a:sym typeface="Microsoft Yahei"/>
              </a:rPr>
              <a:t>saling</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bertanggungjawab</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bekerjasama</a:t>
            </a:r>
            <a:r>
              <a:rPr lang="en-MY" sz="2000" dirty="0">
                <a:solidFill>
                  <a:srgbClr val="3F3F3F"/>
                </a:solidFill>
                <a:latin typeface="Microsoft Yahei"/>
                <a:ea typeface="Microsoft Yahei"/>
                <a:cs typeface="Microsoft Yahei"/>
                <a:sym typeface="Microsoft Yahei"/>
              </a:rPr>
              <a:t> di </a:t>
            </a:r>
            <a:r>
              <a:rPr lang="en-MY" sz="2000" dirty="0" err="1">
                <a:solidFill>
                  <a:srgbClr val="3F3F3F"/>
                </a:solidFill>
                <a:latin typeface="Microsoft Yahei"/>
                <a:ea typeface="Microsoft Yahei"/>
                <a:cs typeface="Microsoft Yahei"/>
                <a:sym typeface="Microsoft Yahei"/>
              </a:rPr>
              <a:t>kalangan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peserta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takaful</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untuk</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saling</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membantu</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apabila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ditimpa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kesukaran</a:t>
            </a:r>
            <a:r>
              <a:rPr lang="en-MY" sz="2000" dirty="0">
                <a:solidFill>
                  <a:srgbClr val="3F3F3F"/>
                </a:solidFill>
                <a:latin typeface="Microsoft Yahei"/>
                <a:ea typeface="Microsoft Yahei"/>
                <a:cs typeface="Microsoft Yahei"/>
                <a:sym typeface="Microsoft Yahei"/>
              </a:rPr>
              <a:t>.</a:t>
            </a:r>
            <a:endParaRPr dirty="0"/>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dirty="0">
              <a:solidFill>
                <a:srgbClr val="3F3F3F"/>
              </a:solidFill>
              <a:latin typeface="Microsoft Yahei"/>
              <a:ea typeface="Microsoft Yahei"/>
              <a:cs typeface="Microsoft Yahei"/>
              <a:sym typeface="Microsoft Yahei"/>
            </a:endParaRPr>
          </a:p>
        </p:txBody>
      </p:sp>
      <p:pic>
        <p:nvPicPr>
          <p:cNvPr id="4" name="Picture 2" descr="Syarikat Takaful Malaysia appoints new CFO | The Edge Markets"/>
          <p:cNvPicPr>
            <a:picLocks noChangeAspect="1" noChangeArrowheads="1"/>
          </p:cNvPicPr>
          <p:nvPr/>
        </p:nvPicPr>
        <p:blipFill rotWithShape="1">
          <a:blip r:embed="rId4">
            <a:extLst>
              <a:ext uri="{28A0092B-C50C-407E-A947-70E740481C1C}">
                <a14:useLocalDpi xmlns:a14="http://schemas.microsoft.com/office/drawing/2010/main" val="0"/>
              </a:ext>
            </a:extLst>
          </a:blip>
          <a:srcRect r="-331" b="11130"/>
          <a:stretch/>
        </p:blipFill>
        <p:spPr bwMode="auto">
          <a:xfrm>
            <a:off x="289932" y="1962616"/>
            <a:ext cx="2698595" cy="270974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Portal Rasmi Simpan SSPN - Takaful Ikhlas Family Berha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4685" y="4539322"/>
            <a:ext cx="867684" cy="9076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51"/>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INSTITUSI KEWANGAN BUKAN PERBANKAN</a:t>
            </a:r>
            <a:endParaRPr sz="2800" b="0" i="0" u="none" strike="noStrike" cap="none">
              <a:solidFill>
                <a:srgbClr val="000000"/>
              </a:solidFill>
              <a:latin typeface="Microsoft Yahei"/>
              <a:ea typeface="Microsoft Yahei"/>
              <a:cs typeface="Microsoft Yahei"/>
              <a:sym typeface="Microsoft Yahei"/>
            </a:endParaRPr>
          </a:p>
        </p:txBody>
      </p:sp>
      <p:sp>
        <p:nvSpPr>
          <p:cNvPr id="381" name="Google Shape;381;p51"/>
          <p:cNvSpPr txBox="1"/>
          <p:nvPr/>
        </p:nvSpPr>
        <p:spPr>
          <a:xfrm>
            <a:off x="895506" y="1512593"/>
            <a:ext cx="10042570" cy="4247317"/>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0" i="0" u="none" strike="noStrike" cap="none">
                <a:solidFill>
                  <a:srgbClr val="3F3F3F"/>
                </a:solidFill>
                <a:latin typeface="Microsoft Yahei"/>
                <a:ea typeface="Microsoft Yahei"/>
                <a:cs typeface="Microsoft Yahei"/>
                <a:sym typeface="Microsoft Yahei"/>
              </a:rPr>
              <a:t>Syarikat Takaful </a:t>
            </a:r>
            <a:r>
              <a:rPr lang="en-MY" sz="2000" b="0" i="1" u="none" strike="noStrike" cap="none">
                <a:solidFill>
                  <a:srgbClr val="3F3F3F"/>
                </a:solidFill>
                <a:latin typeface="Microsoft Yahei"/>
                <a:ea typeface="Microsoft Yahei"/>
                <a:cs typeface="Microsoft Yahei"/>
                <a:sym typeface="Microsoft Yahei"/>
              </a:rPr>
              <a:t>(…sambungan)</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b="0" i="0" u="none" strike="noStrike" cap="none">
                <a:solidFill>
                  <a:srgbClr val="3F3F3F"/>
                </a:solidFill>
                <a:latin typeface="Microsoft Yahei"/>
                <a:ea typeface="Microsoft Yahei"/>
                <a:cs typeface="Microsoft Yahei"/>
                <a:sym typeface="Microsoft Yahei"/>
              </a:rPr>
              <a:t>Fungsi syarikat </a:t>
            </a:r>
            <a:r>
              <a:rPr lang="en-MY" sz="2000">
                <a:solidFill>
                  <a:srgbClr val="3F3F3F"/>
                </a:solidFill>
                <a:latin typeface="Microsoft Yahei"/>
                <a:ea typeface="Microsoft Yahei"/>
                <a:cs typeface="Microsoft Yahei"/>
                <a:sym typeface="Microsoft Yahei"/>
              </a:rPr>
              <a:t>takaful</a:t>
            </a:r>
            <a:r>
              <a:rPr lang="en-MY" sz="2000" b="0" i="0" u="none" strike="noStrike" cap="none">
                <a:solidFill>
                  <a:srgbClr val="3F3F3F"/>
                </a:solidFill>
                <a:latin typeface="Microsoft Yahei"/>
                <a:ea typeface="Microsoft Yahei"/>
                <a:cs typeface="Microsoft Yahei"/>
                <a:sym typeface="Microsoft Yahei"/>
              </a:rPr>
              <a:t>:</a:t>
            </a:r>
            <a:endParaRPr/>
          </a:p>
          <a:p>
            <a:pPr marL="723900" marR="0" lvl="1" indent="-368300"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Memberi perlindungan risiko kepada peserta berlandaskan hukum syarak.</a:t>
            </a:r>
            <a:endParaRPr/>
          </a:p>
          <a:p>
            <a:pPr marL="723900" marR="0" lvl="1" indent="-241300" algn="just" rtl="0">
              <a:lnSpc>
                <a:spcPct val="150000"/>
              </a:lnSpc>
              <a:spcBef>
                <a:spcPts val="0"/>
              </a:spcBef>
              <a:spcAft>
                <a:spcPts val="0"/>
              </a:spcAft>
              <a:buClr>
                <a:schemeClr val="dk1"/>
              </a:buClr>
              <a:buSzPts val="2000"/>
              <a:buFont typeface="Noto Sans Symbols"/>
              <a:buNone/>
            </a:pPr>
            <a:endParaRPr sz="2000" b="0" i="0" u="none" strike="noStrike" cap="none">
              <a:solidFill>
                <a:srgbClr val="3F3F3F"/>
              </a:solidFill>
              <a:latin typeface="Microsoft Yahei"/>
              <a:ea typeface="Microsoft Yahei"/>
              <a:cs typeface="Microsoft Yahei"/>
              <a:sym typeface="Microsoft Yahei"/>
            </a:endParaRPr>
          </a:p>
          <a:p>
            <a:pPr marL="723900" marR="0" lvl="1" indent="-368300"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Dana terkumpul dilaburkan dalam bentuk surat jaminan kerajaan, surat jaminan korporat, harta tetap dan lain-lain yang memenuhi prinsip syarak.</a:t>
            </a:r>
            <a:endParaRPr/>
          </a:p>
          <a:p>
            <a:pPr marL="723900" marR="0" lvl="1" indent="-241300" algn="just" rtl="0">
              <a:lnSpc>
                <a:spcPct val="150000"/>
              </a:lnSpc>
              <a:spcBef>
                <a:spcPts val="0"/>
              </a:spcBef>
              <a:spcAft>
                <a:spcPts val="0"/>
              </a:spcAft>
              <a:buClr>
                <a:schemeClr val="dk1"/>
              </a:buClr>
              <a:buSzPts val="2000"/>
              <a:buFont typeface="Noto Sans Symbols"/>
              <a:buNone/>
            </a:pPr>
            <a:endParaRPr sz="2000" b="0" i="0" u="none" strike="noStrike" cap="none">
              <a:solidFill>
                <a:srgbClr val="3F3F3F"/>
              </a:solidFill>
              <a:latin typeface="Microsoft Yahei"/>
              <a:ea typeface="Microsoft Yahei"/>
              <a:cs typeface="Microsoft Yahei"/>
              <a:sym typeface="Microsoft Yahei"/>
            </a:endParaRPr>
          </a:p>
          <a:p>
            <a:pPr marL="723900" marR="0" lvl="1" indent="-241300" algn="just" rtl="0">
              <a:lnSpc>
                <a:spcPct val="150000"/>
              </a:lnSpc>
              <a:spcBef>
                <a:spcPts val="0"/>
              </a:spcBef>
              <a:spcAft>
                <a:spcPts val="0"/>
              </a:spcAft>
              <a:buClr>
                <a:schemeClr val="dk1"/>
              </a:buClr>
              <a:buSzPts val="2000"/>
              <a:buFont typeface="Noto Sans Symbols"/>
              <a:buNone/>
            </a:pPr>
            <a:endParaRPr sz="2000" b="0" i="0" u="none" strike="noStrike" cap="none">
              <a:solidFill>
                <a:srgbClr val="3F3F3F"/>
              </a:solidFill>
              <a:latin typeface="Microsoft Yahei"/>
              <a:ea typeface="Microsoft Yahei"/>
              <a:cs typeface="Microsoft Yahei"/>
              <a:sym typeface="Microsoft Yahei"/>
            </a:endParaRPr>
          </a:p>
          <a:p>
            <a:pPr marL="717550" marR="0" lvl="1" indent="-231775" algn="just" rtl="0">
              <a:lnSpc>
                <a:spcPct val="150000"/>
              </a:lnSpc>
              <a:spcBef>
                <a:spcPts val="0"/>
              </a:spcBef>
              <a:spcAft>
                <a:spcPts val="0"/>
              </a:spcAft>
              <a:buClr>
                <a:schemeClr val="dk1"/>
              </a:buClr>
              <a:buSzPts val="2000"/>
              <a:buFont typeface="Noto Sans Symbols"/>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2"/>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INSTITUSI KEWANGAN BUKAN PERBANKAN</a:t>
            </a:r>
            <a:endParaRPr sz="2800" b="0" i="0" u="none" strike="noStrike" cap="none">
              <a:solidFill>
                <a:srgbClr val="000000"/>
              </a:solidFill>
              <a:latin typeface="Microsoft Yahei"/>
              <a:ea typeface="Microsoft Yahei"/>
              <a:cs typeface="Microsoft Yahei"/>
              <a:sym typeface="Microsoft Yahei"/>
            </a:endParaRPr>
          </a:p>
        </p:txBody>
      </p:sp>
      <p:sp>
        <p:nvSpPr>
          <p:cNvPr id="387" name="Google Shape;387;p52"/>
          <p:cNvSpPr txBox="1"/>
          <p:nvPr/>
        </p:nvSpPr>
        <p:spPr>
          <a:xfrm>
            <a:off x="895506" y="1512593"/>
            <a:ext cx="10042570" cy="4708981"/>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1" i="0" u="none" strike="noStrike" cap="none">
                <a:solidFill>
                  <a:srgbClr val="3F3F3F"/>
                </a:solidFill>
                <a:latin typeface="Microsoft Yahei"/>
                <a:ea typeface="Microsoft Yahei"/>
                <a:cs typeface="Microsoft Yahei"/>
                <a:sym typeface="Microsoft Yahei"/>
              </a:rPr>
              <a:t>Bank Pembangunan Malaysia Berhad (BPMB)</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b="0" i="0" u="none" strike="noStrike" cap="none">
                <a:solidFill>
                  <a:srgbClr val="3F3F3F"/>
                </a:solidFill>
                <a:latin typeface="Microsoft Yahei"/>
                <a:ea typeface="Microsoft Yahei"/>
                <a:cs typeface="Microsoft Yahei"/>
                <a:sym typeface="Microsoft Yahei"/>
              </a:rPr>
              <a:t>Ditubuhkan pada 1973 dan dimiliki sepenuhnya oleh kerajaan Malaysia melalui Menteri Kewangan Diperbadankan.</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Ditubuhkan untuk menggalakkan perkembangan sektor-sektor ekonomi tertentu.</a:t>
            </a:r>
            <a:endParaRPr sz="2000" b="0" i="0" u="none" strike="noStrike" cap="none">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b="0" i="0" u="none" strike="noStrike" cap="none">
                <a:solidFill>
                  <a:srgbClr val="3F3F3F"/>
                </a:solidFill>
                <a:latin typeface="Microsoft Yahei"/>
                <a:ea typeface="Microsoft Yahei"/>
                <a:cs typeface="Microsoft Yahei"/>
                <a:sym typeface="Microsoft Yahei"/>
              </a:rPr>
              <a:t>Fungsi BPMB</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Menyediakan penyelesaian infrastruktur di Malaysia.</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Menyediakan pembiayaan jangka sederhana dan panjang kepada sektor infrastruktur, maritim, minyak dan gas serta teknologi.</a:t>
            </a:r>
            <a:endParaRPr/>
          </a:p>
          <a:p>
            <a:pPr marL="717550" marR="0" lvl="1" indent="-231775" algn="just" rtl="0">
              <a:lnSpc>
                <a:spcPct val="150000"/>
              </a:lnSpc>
              <a:spcBef>
                <a:spcPts val="0"/>
              </a:spcBef>
              <a:spcAft>
                <a:spcPts val="0"/>
              </a:spcAft>
              <a:buClr>
                <a:schemeClr val="dk1"/>
              </a:buClr>
              <a:buSzPts val="2000"/>
              <a:buFont typeface="Noto Sans Symbols"/>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sz="quarter" idx="4294967295"/>
            <p:extLst>
              <p:ext uri="{D42A27DB-BD31-4B8C-83A1-F6EECF244321}">
                <p14:modId xmlns:p14="http://schemas.microsoft.com/office/powerpoint/2010/main" val="1165576946"/>
              </p:ext>
            </p:extLst>
          </p:nvPr>
        </p:nvGraphicFramePr>
        <p:xfrm>
          <a:off x="1952596" y="2214555"/>
          <a:ext cx="7467600" cy="44307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ounded Rectangular Callout 6"/>
          <p:cNvSpPr/>
          <p:nvPr/>
        </p:nvSpPr>
        <p:spPr>
          <a:xfrm>
            <a:off x="2095472" y="214290"/>
            <a:ext cx="5040560" cy="1857388"/>
          </a:xfrm>
          <a:prstGeom prst="wedgeRoundRectCallout">
            <a:avLst>
              <a:gd name="adj1" fmla="val 67061"/>
              <a:gd name="adj2" fmla="val -3605"/>
              <a:gd name="adj3" fmla="val 16667"/>
            </a:avLst>
          </a:prstGeom>
          <a:solidFill>
            <a:srgbClr val="FFC000"/>
          </a:solidFill>
        </p:spPr>
        <p:style>
          <a:lnRef idx="1">
            <a:schemeClr val="dk1"/>
          </a:lnRef>
          <a:fillRef idx="2">
            <a:schemeClr val="dk1"/>
          </a:fillRef>
          <a:effectRef idx="1">
            <a:schemeClr val="dk1"/>
          </a:effectRef>
          <a:fontRef idx="minor">
            <a:schemeClr val="dk1"/>
          </a:fontRef>
        </p:style>
        <p:txBody>
          <a:bodyPr rtlCol="0" anchor="ctr"/>
          <a:lstStyle/>
          <a:p>
            <a:pPr algn="ctr"/>
            <a:endParaRPr lang="en-MY" sz="8000" dirty="0">
              <a:latin typeface="Bernard MT Condensed" pitchFamily="18" charset="0"/>
            </a:endParaRPr>
          </a:p>
        </p:txBody>
      </p:sp>
      <p:sp>
        <p:nvSpPr>
          <p:cNvPr id="10" name="Rectangle 9"/>
          <p:cNvSpPr/>
          <p:nvPr/>
        </p:nvSpPr>
        <p:spPr>
          <a:xfrm>
            <a:off x="2567609" y="260648"/>
            <a:ext cx="4338047" cy="1446550"/>
          </a:xfrm>
          <a:prstGeom prst="rect">
            <a:avLst/>
          </a:prstGeom>
          <a:noFill/>
        </p:spPr>
        <p:txBody>
          <a:bodyPr wrap="square" lIns="91440" tIns="45720" rIns="91440" bIns="45720">
            <a:spAutoFit/>
          </a:bodyPr>
          <a:lstStyle/>
          <a:p>
            <a:pPr algn="ctr"/>
            <a:r>
              <a:rPr lang="en-US" sz="4400" b="1" dirty="0" err="1">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Bernard MT Condensed" pitchFamily="18" charset="0"/>
              </a:rPr>
              <a:t>Badan</a:t>
            </a:r>
            <a:r>
              <a:rPr lang="en-US" sz="44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Bernard MT Condensed" pitchFamily="18" charset="0"/>
              </a:rPr>
              <a:t> </a:t>
            </a:r>
          </a:p>
          <a:p>
            <a:pPr algn="ctr"/>
            <a:r>
              <a:rPr lang="en-US" sz="4400" b="1" dirty="0" err="1">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Bernard MT Condensed" pitchFamily="18" charset="0"/>
              </a:rPr>
              <a:t>Kawal</a:t>
            </a:r>
            <a:r>
              <a:rPr lang="en-US" sz="44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Bernard MT Condensed" pitchFamily="18" charset="0"/>
              </a:rPr>
              <a:t> </a:t>
            </a:r>
            <a:r>
              <a:rPr lang="en-US" sz="4400" b="1" dirty="0" err="1">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Bernard MT Condensed" pitchFamily="18" charset="0"/>
              </a:rPr>
              <a:t>Selia</a:t>
            </a:r>
            <a:endParaRPr lang="en-US" sz="4400" b="1" dirty="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latin typeface="Bernard MT Condensed" pitchFamily="18" charset="0"/>
            </a:endParaRPr>
          </a:p>
        </p:txBody>
      </p:sp>
      <p:pic>
        <p:nvPicPr>
          <p:cNvPr id="5" name="Picture 4" descr="bnmkla1.gif"/>
          <p:cNvPicPr>
            <a:picLocks noChangeAspect="1"/>
          </p:cNvPicPr>
          <p:nvPr/>
        </p:nvPicPr>
        <p:blipFill>
          <a:blip r:embed="rId8" cstate="print"/>
          <a:stretch>
            <a:fillRect/>
          </a:stretch>
        </p:blipFill>
        <p:spPr>
          <a:xfrm>
            <a:off x="8233557" y="2436525"/>
            <a:ext cx="2952328" cy="836712"/>
          </a:xfrm>
          <a:prstGeom prst="rect">
            <a:avLst/>
          </a:prstGeom>
        </p:spPr>
      </p:pic>
      <p:pic>
        <p:nvPicPr>
          <p:cNvPr id="8" name="Picture 7" descr="bursa-malaysia-logo.jpg"/>
          <p:cNvPicPr>
            <a:picLocks noChangeAspect="1"/>
          </p:cNvPicPr>
          <p:nvPr/>
        </p:nvPicPr>
        <p:blipFill>
          <a:blip r:embed="rId9" cstate="print"/>
          <a:stretch>
            <a:fillRect/>
          </a:stretch>
        </p:blipFill>
        <p:spPr>
          <a:xfrm>
            <a:off x="8452752" y="4072722"/>
            <a:ext cx="2357454" cy="714380"/>
          </a:xfrm>
          <a:prstGeom prst="rect">
            <a:avLst/>
          </a:prstGeom>
        </p:spPr>
      </p:pic>
      <p:pic>
        <p:nvPicPr>
          <p:cNvPr id="9" name="Picture 2" descr="upload.wikimedia.org/wikipedia/en/thumb/0/0c/S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661970" y="5252225"/>
            <a:ext cx="2912995" cy="1110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4924076"/>
      </p:ext>
    </p:extLst>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10"/>
                                        </p:tgtEl>
                                        <p:attrNameLst>
                                          <p:attrName>ppt_x</p:attrName>
                                          <p:attrName>ppt_y</p:attrName>
                                        </p:attrNameLst>
                                      </p:cBhvr>
                                    </p:animMotion>
                                    <p:animRot by="1500000">
                                      <p:cBhvr>
                                        <p:cTn id="7" dur="125" fill="hold">
                                          <p:stCondLst>
                                            <p:cond delay="0"/>
                                          </p:stCondLst>
                                        </p:cTn>
                                        <p:tgtEl>
                                          <p:spTgt spid="10"/>
                                        </p:tgtEl>
                                        <p:attrNameLst>
                                          <p:attrName>r</p:attrName>
                                        </p:attrNameLst>
                                      </p:cBhvr>
                                    </p:animRot>
                                    <p:animRot by="-1500000">
                                      <p:cBhvr>
                                        <p:cTn id="8" dur="125" fill="hold">
                                          <p:stCondLst>
                                            <p:cond delay="125"/>
                                          </p:stCondLst>
                                        </p:cTn>
                                        <p:tgtEl>
                                          <p:spTgt spid="10"/>
                                        </p:tgtEl>
                                        <p:attrNameLst>
                                          <p:attrName>r</p:attrName>
                                        </p:attrNameLst>
                                      </p:cBhvr>
                                    </p:animRot>
                                    <p:animRot by="-1500000">
                                      <p:cBhvr>
                                        <p:cTn id="9" dur="125" fill="hold">
                                          <p:stCondLst>
                                            <p:cond delay="250"/>
                                          </p:stCondLst>
                                        </p:cTn>
                                        <p:tgtEl>
                                          <p:spTgt spid="10"/>
                                        </p:tgtEl>
                                        <p:attrNameLst>
                                          <p:attrName>r</p:attrName>
                                        </p:attrNameLst>
                                      </p:cBhvr>
                                    </p:animRot>
                                    <p:animRot by="1500000">
                                      <p:cBhvr>
                                        <p:cTn id="10" dur="125" fill="hold">
                                          <p:stCondLst>
                                            <p:cond delay="375"/>
                                          </p:stCondLst>
                                        </p:cTn>
                                        <p:tgtEl>
                                          <p:spTgt spid="10"/>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6">
                                            <p:graphicEl>
                                              <a:dgm id="{2A2D96E7-D6EF-468E-A97A-8483B199D95E}"/>
                                            </p:graphicEl>
                                          </p:spTgt>
                                        </p:tgtEl>
                                        <p:attrNameLst>
                                          <p:attrName>style.visibility</p:attrName>
                                        </p:attrNameLst>
                                      </p:cBhvr>
                                      <p:to>
                                        <p:strVal val="visible"/>
                                      </p:to>
                                    </p:set>
                                    <p:anim calcmode="lin" valueType="num">
                                      <p:cBhvr additive="base">
                                        <p:cTn id="15" dur="1000" fill="hold"/>
                                        <p:tgtEl>
                                          <p:spTgt spid="6">
                                            <p:graphicEl>
                                              <a:dgm id="{2A2D96E7-D6EF-468E-A97A-8483B199D95E}"/>
                                            </p:graphicEl>
                                          </p:spTgt>
                                        </p:tgtEl>
                                        <p:attrNameLst>
                                          <p:attrName>ppt_x</p:attrName>
                                        </p:attrNameLst>
                                      </p:cBhvr>
                                      <p:tavLst>
                                        <p:tav tm="0">
                                          <p:val>
                                            <p:strVal val="#ppt_x"/>
                                          </p:val>
                                        </p:tav>
                                        <p:tav tm="100000">
                                          <p:val>
                                            <p:strVal val="#ppt_x"/>
                                          </p:val>
                                        </p:tav>
                                      </p:tavLst>
                                    </p:anim>
                                    <p:anim calcmode="lin" valueType="num">
                                      <p:cBhvr additive="base">
                                        <p:cTn id="16" dur="1000" fill="hold"/>
                                        <p:tgtEl>
                                          <p:spTgt spid="6">
                                            <p:graphicEl>
                                              <a:dgm id="{2A2D96E7-D6EF-468E-A97A-8483B199D95E}"/>
                                            </p:graphic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graphicEl>
                                              <a:dgm id="{C6E0D5EF-5E16-46E2-9897-8DD715C044B2}"/>
                                            </p:graphicEl>
                                          </p:spTgt>
                                        </p:tgtEl>
                                        <p:attrNameLst>
                                          <p:attrName>style.visibility</p:attrName>
                                        </p:attrNameLst>
                                      </p:cBhvr>
                                      <p:to>
                                        <p:strVal val="visible"/>
                                      </p:to>
                                    </p:set>
                                    <p:anim calcmode="lin" valueType="num">
                                      <p:cBhvr additive="base">
                                        <p:cTn id="21" dur="1000" fill="hold"/>
                                        <p:tgtEl>
                                          <p:spTgt spid="6">
                                            <p:graphicEl>
                                              <a:dgm id="{C6E0D5EF-5E16-46E2-9897-8DD715C044B2}"/>
                                            </p:graphicEl>
                                          </p:spTgt>
                                        </p:tgtEl>
                                        <p:attrNameLst>
                                          <p:attrName>ppt_x</p:attrName>
                                        </p:attrNameLst>
                                      </p:cBhvr>
                                      <p:tavLst>
                                        <p:tav tm="0">
                                          <p:val>
                                            <p:strVal val="#ppt_x"/>
                                          </p:val>
                                        </p:tav>
                                        <p:tav tm="100000">
                                          <p:val>
                                            <p:strVal val="#ppt_x"/>
                                          </p:val>
                                        </p:tav>
                                      </p:tavLst>
                                    </p:anim>
                                    <p:anim calcmode="lin" valueType="num">
                                      <p:cBhvr additive="base">
                                        <p:cTn id="22" dur="1000" fill="hold"/>
                                        <p:tgtEl>
                                          <p:spTgt spid="6">
                                            <p:graphicEl>
                                              <a:dgm id="{C6E0D5EF-5E16-46E2-9897-8DD715C044B2}"/>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
                                            <p:graphicEl>
                                              <a:dgm id="{516367BA-4513-4D7E-99EA-0D133065A913}"/>
                                            </p:graphicEl>
                                          </p:spTgt>
                                        </p:tgtEl>
                                        <p:attrNameLst>
                                          <p:attrName>style.visibility</p:attrName>
                                        </p:attrNameLst>
                                      </p:cBhvr>
                                      <p:to>
                                        <p:strVal val="visible"/>
                                      </p:to>
                                    </p:set>
                                    <p:anim calcmode="lin" valueType="num">
                                      <p:cBhvr additive="base">
                                        <p:cTn id="27" dur="1000" fill="hold"/>
                                        <p:tgtEl>
                                          <p:spTgt spid="6">
                                            <p:graphicEl>
                                              <a:dgm id="{516367BA-4513-4D7E-99EA-0D133065A913}"/>
                                            </p:graphicEl>
                                          </p:spTgt>
                                        </p:tgtEl>
                                        <p:attrNameLst>
                                          <p:attrName>ppt_x</p:attrName>
                                        </p:attrNameLst>
                                      </p:cBhvr>
                                      <p:tavLst>
                                        <p:tav tm="0">
                                          <p:val>
                                            <p:strVal val="#ppt_x"/>
                                          </p:val>
                                        </p:tav>
                                        <p:tav tm="100000">
                                          <p:val>
                                            <p:strVal val="#ppt_x"/>
                                          </p:val>
                                        </p:tav>
                                      </p:tavLst>
                                    </p:anim>
                                    <p:anim calcmode="lin" valueType="num">
                                      <p:cBhvr additive="base">
                                        <p:cTn id="28" dur="1000" fill="hold"/>
                                        <p:tgtEl>
                                          <p:spTgt spid="6">
                                            <p:graphicEl>
                                              <a:dgm id="{516367BA-4513-4D7E-99EA-0D133065A913}"/>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dissolve">
                                      <p:cBhvr>
                                        <p:cTn id="3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P spid="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53"/>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BADAN KAWAL SELIA</a:t>
            </a:r>
            <a:endParaRPr sz="2800" b="0" i="0" u="none" strike="noStrike" cap="none">
              <a:solidFill>
                <a:srgbClr val="000000"/>
              </a:solidFill>
              <a:latin typeface="Microsoft Yahei"/>
              <a:ea typeface="Microsoft Yahei"/>
              <a:cs typeface="Microsoft Yahei"/>
              <a:sym typeface="Microsoft Yahei"/>
            </a:endParaRPr>
          </a:p>
        </p:txBody>
      </p:sp>
      <p:sp>
        <p:nvSpPr>
          <p:cNvPr id="393" name="Google Shape;393;p53"/>
          <p:cNvSpPr txBox="1"/>
          <p:nvPr/>
        </p:nvSpPr>
        <p:spPr>
          <a:xfrm>
            <a:off x="895506" y="1512593"/>
            <a:ext cx="10042570" cy="3323987"/>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1" i="0" u="none" strike="noStrike" cap="none">
                <a:solidFill>
                  <a:srgbClr val="3F3F3F"/>
                </a:solidFill>
                <a:latin typeface="Microsoft Yahei"/>
                <a:ea typeface="Microsoft Yahei"/>
                <a:cs typeface="Microsoft Yahei"/>
                <a:sym typeface="Microsoft Yahei"/>
              </a:rPr>
              <a:t>Bank Negara Malaysia</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Bank Negara Malaysia, yang merupakan Bank Pusat Malaysia, berada di puncak struktur monetari dan kewangan negara.  </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Objektif utama Bank itu adalah untuk menggalakkan kestabilan monetari dan kestabilan kewangan yang kondusif untuk pertumbuhan mampan ekonomi Malaysia. </a:t>
            </a:r>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54"/>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BADAN KAWAL SELIA</a:t>
            </a:r>
            <a:endParaRPr sz="2800" b="0" i="0" u="none" strike="noStrike" cap="none">
              <a:solidFill>
                <a:srgbClr val="000000"/>
              </a:solidFill>
              <a:latin typeface="Microsoft Yahei"/>
              <a:ea typeface="Microsoft Yahei"/>
              <a:cs typeface="Microsoft Yahei"/>
              <a:sym typeface="Microsoft Yahei"/>
            </a:endParaRPr>
          </a:p>
        </p:txBody>
      </p:sp>
      <p:sp>
        <p:nvSpPr>
          <p:cNvPr id="399" name="Google Shape;399;p54"/>
          <p:cNvSpPr txBox="1"/>
          <p:nvPr/>
        </p:nvSpPr>
        <p:spPr>
          <a:xfrm>
            <a:off x="895506" y="1512593"/>
            <a:ext cx="10042570" cy="5170646"/>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i="0" u="none" strike="noStrike" cap="none">
                <a:solidFill>
                  <a:srgbClr val="3F3F3F"/>
                </a:solidFill>
                <a:latin typeface="Microsoft Yahei"/>
                <a:ea typeface="Microsoft Yahei"/>
                <a:cs typeface="Microsoft Yahei"/>
                <a:sym typeface="Microsoft Yahei"/>
              </a:rPr>
              <a:t>Bank Negara Malaysia </a:t>
            </a:r>
            <a:r>
              <a:rPr lang="en-MY" sz="2000" i="1" u="none" strike="noStrike" cap="none">
                <a:solidFill>
                  <a:srgbClr val="3F3F3F"/>
                </a:solidFill>
                <a:latin typeface="Microsoft Yahei"/>
                <a:ea typeface="Microsoft Yahei"/>
                <a:cs typeface="Microsoft Yahei"/>
                <a:sym typeface="Microsoft Yahei"/>
              </a:rPr>
              <a:t>(…sambungan)</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Fungsi-fungsi BNM dalam mengawal selia seperti yang termaktub di bawah Akta Bank Negara Malaysia 2009 adalah :</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untuk mengawal selia dan menyelia institusi kewangan yang tertakluk kepada undang-undang yang dikuatkuasakan oleh Bank;</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untuk mengadakan pengawasan ke atas pasaran wang dan pasaran pertukaran asing; </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untuk menjalankan pengawasan ke atas sistem pembayaran; </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untuk menggalakkan rejim kadar pertukaran asing yang selaras dengan asas ekonomi</a:t>
            </a:r>
            <a:endParaRPr sz="2000" b="0" i="0" u="none" strike="noStrike" cap="none">
              <a:solidFill>
                <a:srgbClr val="3F3F3F"/>
              </a:solidFill>
              <a:latin typeface="Microsoft Yahei"/>
              <a:ea typeface="Microsoft Yahei"/>
              <a:cs typeface="Microsoft Yahei"/>
              <a:sym typeface="Microsoft Yahei"/>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55"/>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BADAN KAWAL SELIA</a:t>
            </a:r>
            <a:endParaRPr sz="2800" b="0" i="0" u="none" strike="noStrike" cap="none">
              <a:solidFill>
                <a:srgbClr val="000000"/>
              </a:solidFill>
              <a:latin typeface="Microsoft Yahei"/>
              <a:ea typeface="Microsoft Yahei"/>
              <a:cs typeface="Microsoft Yahei"/>
              <a:sym typeface="Microsoft Yahei"/>
            </a:endParaRPr>
          </a:p>
        </p:txBody>
      </p:sp>
      <p:sp>
        <p:nvSpPr>
          <p:cNvPr id="405" name="Google Shape;405;p55"/>
          <p:cNvSpPr txBox="1"/>
          <p:nvPr/>
        </p:nvSpPr>
        <p:spPr>
          <a:xfrm>
            <a:off x="895506" y="1512593"/>
            <a:ext cx="10042570" cy="5170646"/>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1" i="0" u="none" strike="noStrike" cap="none">
                <a:solidFill>
                  <a:srgbClr val="3F3F3F"/>
                </a:solidFill>
                <a:latin typeface="Microsoft Yahei"/>
                <a:ea typeface="Microsoft Yahei"/>
                <a:cs typeface="Microsoft Yahei"/>
                <a:sym typeface="Microsoft Yahei"/>
              </a:rPr>
              <a:t>Bursa Malaysia</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Bursa Malaysia adalah sebuah syarikat pemegang bursa yang diluluskan di bawah Seksyen 15 Akta Pasaran dan Perkhidmatan Modal 2007.  </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Bursa Malaysia mengendalikan sebuah bursa bersepadu penuh, yang menawarkan produk-produk ekuiti, derivatif, bon serta produk-produk Islam dan menyediakan julat  luas bagi pilihan-pilihan pelaburan secara global.</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Pasaran Saham merupakan satu tempat di mana syarikat boleh menaikkan modal supaya sesuatu perniagaan boleh dimajukan. Biasanya ini berlaku apabila syarikat itu ingin memperluaskan perniagaannya tetapi modal yang sedia ada tidak mencukupi. </a:t>
            </a:r>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56"/>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BADAN KAWAL SELIA</a:t>
            </a:r>
            <a:endParaRPr sz="2800" b="0" i="0" u="none" strike="noStrike" cap="none">
              <a:solidFill>
                <a:srgbClr val="000000"/>
              </a:solidFill>
              <a:latin typeface="Microsoft Yahei"/>
              <a:ea typeface="Microsoft Yahei"/>
              <a:cs typeface="Microsoft Yahei"/>
              <a:sym typeface="Microsoft Yahei"/>
            </a:endParaRPr>
          </a:p>
        </p:txBody>
      </p:sp>
      <p:sp>
        <p:nvSpPr>
          <p:cNvPr id="411" name="Google Shape;411;p56"/>
          <p:cNvSpPr txBox="1"/>
          <p:nvPr/>
        </p:nvSpPr>
        <p:spPr>
          <a:xfrm>
            <a:off x="895506" y="1512593"/>
            <a:ext cx="10042570" cy="5170646"/>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0" i="0" u="none" strike="noStrike" cap="none">
                <a:solidFill>
                  <a:srgbClr val="3F3F3F"/>
                </a:solidFill>
                <a:latin typeface="Microsoft Yahei"/>
                <a:ea typeface="Microsoft Yahei"/>
                <a:cs typeface="Microsoft Yahei"/>
                <a:sym typeface="Microsoft Yahei"/>
              </a:rPr>
              <a:t>Bursa Malaysia </a:t>
            </a:r>
            <a:r>
              <a:rPr lang="en-MY" sz="2000" b="0" i="1" u="none" strike="noStrike" cap="none">
                <a:solidFill>
                  <a:srgbClr val="3F3F3F"/>
                </a:solidFill>
                <a:latin typeface="Microsoft Yahei"/>
                <a:ea typeface="Microsoft Yahei"/>
                <a:cs typeface="Microsoft Yahei"/>
                <a:sym typeface="Microsoft Yahei"/>
              </a:rPr>
              <a:t>(…sambungan)</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Fungsi Bursa Malaysia:</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Pengawal dan operator pasaran barisan hadapan bagi sekuriti-sekuriti dan derivatif yang didagangkan di bursa. </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Mempunyai Tataujud dan Tataurus serta Peraturan-peraturan yang mengawal tindak-tanduk Organisasi-organisasi Peserta dan Peserta Dagangan masing-masing dalam urusniaga sekuriti dan derivatif.</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Bertanggungjawab bagi pengawasan pasar dagangan dan bagi penguatkuasaan keperluan penyenaraian yang membutirkan kriteria-kriteria untuk penyenaraian, keperluan pendedahan dan piawaian-piawaian yang perlu dikekalkan syarikat-syarikat tersenarai</a:t>
            </a: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57"/>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BADAN KAWAL SELIA</a:t>
            </a:r>
            <a:endParaRPr sz="2800" b="0" i="0" u="none" strike="noStrike" cap="none">
              <a:solidFill>
                <a:srgbClr val="000000"/>
              </a:solidFill>
              <a:latin typeface="Microsoft Yahei"/>
              <a:ea typeface="Microsoft Yahei"/>
              <a:cs typeface="Microsoft Yahei"/>
              <a:sym typeface="Microsoft Yahei"/>
            </a:endParaRPr>
          </a:p>
        </p:txBody>
      </p:sp>
      <p:sp>
        <p:nvSpPr>
          <p:cNvPr id="417" name="Google Shape;417;p57"/>
          <p:cNvSpPr txBox="1"/>
          <p:nvPr/>
        </p:nvSpPr>
        <p:spPr>
          <a:xfrm>
            <a:off x="895506" y="1512593"/>
            <a:ext cx="10042570" cy="3785652"/>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1" i="0" u="none" strike="noStrike" cap="none">
                <a:solidFill>
                  <a:srgbClr val="3F3F3F"/>
                </a:solidFill>
                <a:latin typeface="Microsoft Yahei"/>
                <a:ea typeface="Microsoft Yahei"/>
                <a:cs typeface="Microsoft Yahei"/>
                <a:sym typeface="Microsoft Yahei"/>
              </a:rPr>
              <a:t>Suruhanjaya Sekuriti</a:t>
            </a:r>
            <a:endParaRPr sz="2000" b="1" i="0" u="none" strike="noStrike" cap="none">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Suruhanjaya Sekuriti Malaysia (SC) bertanggungjawab untuk mengawal selia dan membangunkan pasaran modal di Malaysia dengan kuasa penyiasatan dan penguatkuasaan.  </a:t>
            </a:r>
            <a:endParaRPr/>
          </a:p>
          <a:p>
            <a:pPr marL="0" marR="0" lvl="0" indent="0" algn="just" rtl="0">
              <a:lnSpc>
                <a:spcPct val="150000"/>
              </a:lnSpc>
              <a:spcBef>
                <a:spcPts val="0"/>
              </a:spcBef>
              <a:spcAft>
                <a:spcPts val="0"/>
              </a:spcAft>
              <a:buNone/>
            </a:pPr>
            <a:endParaRPr sz="200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Ia melapor kepada Menteri Kewangan dan akaunnya dibentangkan di Parlimen setiap tahun. </a:t>
            </a:r>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58"/>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BADAN KAWAL SELIA</a:t>
            </a:r>
            <a:endParaRPr sz="2800" b="0" i="0" u="none" strike="noStrike" cap="none">
              <a:solidFill>
                <a:srgbClr val="000000"/>
              </a:solidFill>
              <a:latin typeface="Microsoft Yahei"/>
              <a:ea typeface="Microsoft Yahei"/>
              <a:cs typeface="Microsoft Yahei"/>
              <a:sym typeface="Microsoft Yahei"/>
            </a:endParaRPr>
          </a:p>
        </p:txBody>
      </p:sp>
      <p:sp>
        <p:nvSpPr>
          <p:cNvPr id="423" name="Google Shape;423;p58"/>
          <p:cNvSpPr txBox="1"/>
          <p:nvPr/>
        </p:nvSpPr>
        <p:spPr>
          <a:xfrm>
            <a:off x="895506" y="1512593"/>
            <a:ext cx="10042570" cy="5170646"/>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0" i="0" u="none" strike="noStrike" cap="none">
                <a:solidFill>
                  <a:srgbClr val="3F3F3F"/>
                </a:solidFill>
                <a:latin typeface="Microsoft Yahei"/>
                <a:ea typeface="Microsoft Yahei"/>
                <a:cs typeface="Microsoft Yahei"/>
                <a:sym typeface="Microsoft Yahei"/>
              </a:rPr>
              <a:t>Suruhanjaya Sekuriti </a:t>
            </a:r>
            <a:r>
              <a:rPr lang="en-MY" sz="2000" b="0" i="1" u="none" strike="noStrike" cap="none">
                <a:solidFill>
                  <a:srgbClr val="3F3F3F"/>
                </a:solidFill>
                <a:latin typeface="Microsoft Yahei"/>
                <a:ea typeface="Microsoft Yahei"/>
                <a:cs typeface="Microsoft Yahei"/>
                <a:sym typeface="Microsoft Yahei"/>
              </a:rPr>
              <a:t>(…sambungan)</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b="0" i="0" u="none" strike="noStrike" cap="none">
                <a:solidFill>
                  <a:srgbClr val="3F3F3F"/>
                </a:solidFill>
                <a:latin typeface="Microsoft Yahei"/>
                <a:ea typeface="Microsoft Yahei"/>
                <a:cs typeface="Microsoft Yahei"/>
                <a:sym typeface="Microsoft Yahei"/>
              </a:rPr>
              <a:t>Fungsi</a:t>
            </a:r>
            <a:r>
              <a:rPr lang="en-MY" sz="2000">
                <a:solidFill>
                  <a:srgbClr val="3F3F3F"/>
                </a:solidFill>
                <a:latin typeface="Microsoft Yahei"/>
                <a:ea typeface="Microsoft Yahei"/>
                <a:cs typeface="Microsoft Yahei"/>
                <a:sym typeface="Microsoft Yahei"/>
              </a:rPr>
              <a:t> Suruhanjaya Sekuriti</a:t>
            </a:r>
            <a:r>
              <a:rPr lang="en-MY" sz="2000" b="0" i="0" u="none" strike="noStrike" cap="none">
                <a:solidFill>
                  <a:srgbClr val="3F3F3F"/>
                </a:solidFill>
                <a:latin typeface="Microsoft Yahei"/>
                <a:ea typeface="Microsoft Yahei"/>
                <a:cs typeface="Microsoft Yahei"/>
                <a:sym typeface="Microsoft Yahei"/>
              </a:rPr>
              <a:t>:</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Mengawal selia bursa-bursa, rumah-rumah penjelasan dan depositori pusat;</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Pihak berkuasa bagi mendaftar prospektus-propektus syarikat selain daripada kelab rekreasi tidak tersenarai;</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Pihak berkuasa bagi meluluskan terbitan-terbitan bon;</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Mengawal selia semua perkara yang berhubungkait dengan sekuriti-sekuriti dan kontrak-kontrak niaga hadapan;</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Memastikan perilaku yang betul di kalangan institusi pasaran dan individu berlesen</a:t>
            </a: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59"/>
          <p:cNvSpPr/>
          <p:nvPr/>
        </p:nvSpPr>
        <p:spPr>
          <a:xfrm>
            <a:off x="3024837" y="6057360"/>
            <a:ext cx="6364299" cy="6110630"/>
          </a:xfrm>
          <a:prstGeom prst="donut">
            <a:avLst>
              <a:gd name="adj" fmla="val 25000"/>
            </a:avLst>
          </a:prstGeom>
          <a:solidFill>
            <a:schemeClr val="accent5">
              <a:alpha val="51764"/>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icrosoft Yahei"/>
              <a:buNone/>
            </a:pPr>
            <a:endParaRPr sz="1800" b="0" i="0" u="none" strike="noStrike" cap="none">
              <a:solidFill>
                <a:srgbClr val="000000"/>
              </a:solidFill>
              <a:latin typeface="Microsoft Yahei"/>
              <a:ea typeface="Microsoft Yahei"/>
              <a:cs typeface="Microsoft Yahei"/>
              <a:sym typeface="Microsoft Yahei"/>
            </a:endParaRPr>
          </a:p>
        </p:txBody>
      </p:sp>
      <p:sp>
        <p:nvSpPr>
          <p:cNvPr id="429" name="Google Shape;429;p59"/>
          <p:cNvSpPr/>
          <p:nvPr/>
        </p:nvSpPr>
        <p:spPr>
          <a:xfrm>
            <a:off x="-6456827" y="-170677"/>
            <a:ext cx="7133747" cy="6849409"/>
          </a:xfrm>
          <a:prstGeom prst="donut">
            <a:avLst>
              <a:gd name="adj" fmla="val 25000"/>
            </a:avLst>
          </a:prstGeom>
          <a:solidFill>
            <a:srgbClr val="FED9D0">
              <a:alpha val="6470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icrosoft Yahei"/>
              <a:buNone/>
            </a:pPr>
            <a:endParaRPr sz="1800" b="0" i="0" u="none" strike="noStrike" cap="none">
              <a:solidFill>
                <a:srgbClr val="000000"/>
              </a:solidFill>
              <a:latin typeface="Microsoft Yahei"/>
              <a:ea typeface="Microsoft Yahei"/>
              <a:cs typeface="Microsoft Yahei"/>
              <a:sym typeface="Microsoft Yahei"/>
            </a:endParaRPr>
          </a:p>
        </p:txBody>
      </p:sp>
      <p:grpSp>
        <p:nvGrpSpPr>
          <p:cNvPr id="430" name="Google Shape;430;p59"/>
          <p:cNvGrpSpPr/>
          <p:nvPr/>
        </p:nvGrpSpPr>
        <p:grpSpPr>
          <a:xfrm>
            <a:off x="2174686" y="2278445"/>
            <a:ext cx="276061" cy="1951376"/>
            <a:chOff x="1288882" y="567159"/>
            <a:chExt cx="1078196" cy="4097438"/>
          </a:xfrm>
        </p:grpSpPr>
        <p:cxnSp>
          <p:nvCxnSpPr>
            <p:cNvPr id="431" name="Google Shape;431;p59"/>
            <p:cNvCxnSpPr/>
            <p:nvPr/>
          </p:nvCxnSpPr>
          <p:spPr>
            <a:xfrm>
              <a:off x="1288882" y="674797"/>
              <a:ext cx="1078196" cy="0"/>
            </a:xfrm>
            <a:prstGeom prst="straightConnector1">
              <a:avLst/>
            </a:prstGeom>
            <a:noFill/>
            <a:ln w="76200" cap="flat" cmpd="sng">
              <a:solidFill>
                <a:schemeClr val="accent1"/>
              </a:solidFill>
              <a:prstDash val="solid"/>
              <a:miter lim="800000"/>
              <a:headEnd type="none" w="sm" len="sm"/>
              <a:tailEnd type="none" w="sm" len="sm"/>
            </a:ln>
          </p:spPr>
        </p:cxnSp>
        <p:cxnSp>
          <p:nvCxnSpPr>
            <p:cNvPr id="432" name="Google Shape;432;p59"/>
            <p:cNvCxnSpPr/>
            <p:nvPr/>
          </p:nvCxnSpPr>
          <p:spPr>
            <a:xfrm>
              <a:off x="1317763" y="567159"/>
              <a:ext cx="0" cy="4097438"/>
            </a:xfrm>
            <a:prstGeom prst="straightConnector1">
              <a:avLst/>
            </a:prstGeom>
            <a:noFill/>
            <a:ln w="76200" cap="flat" cmpd="sng">
              <a:solidFill>
                <a:schemeClr val="accent1"/>
              </a:solidFill>
              <a:prstDash val="solid"/>
              <a:miter lim="800000"/>
              <a:headEnd type="none" w="sm" len="sm"/>
              <a:tailEnd type="none" w="sm" len="sm"/>
            </a:ln>
          </p:spPr>
        </p:cxnSp>
        <p:cxnSp>
          <p:nvCxnSpPr>
            <p:cNvPr id="433" name="Google Shape;433;p59"/>
            <p:cNvCxnSpPr/>
            <p:nvPr/>
          </p:nvCxnSpPr>
          <p:spPr>
            <a:xfrm>
              <a:off x="1288882" y="4571619"/>
              <a:ext cx="1078196" cy="0"/>
            </a:xfrm>
            <a:prstGeom prst="straightConnector1">
              <a:avLst/>
            </a:prstGeom>
            <a:noFill/>
            <a:ln w="76200" cap="flat" cmpd="sng">
              <a:solidFill>
                <a:schemeClr val="accent1"/>
              </a:solidFill>
              <a:prstDash val="solid"/>
              <a:miter lim="800000"/>
              <a:headEnd type="none" w="sm" len="sm"/>
              <a:tailEnd type="none" w="sm" len="sm"/>
            </a:ln>
          </p:spPr>
        </p:cxnSp>
      </p:grpSp>
      <p:sp>
        <p:nvSpPr>
          <p:cNvPr id="434" name="Google Shape;434;p59"/>
          <p:cNvSpPr txBox="1"/>
          <p:nvPr/>
        </p:nvSpPr>
        <p:spPr>
          <a:xfrm>
            <a:off x="2384954" y="2947475"/>
            <a:ext cx="7405146" cy="10772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B481E"/>
              </a:buClr>
              <a:buSzPts val="3200"/>
              <a:buFont typeface="Microsoft Yahei"/>
              <a:buNone/>
            </a:pPr>
            <a:r>
              <a:rPr lang="en-MY" sz="3200" b="0" i="0" u="none" strike="noStrike" cap="none">
                <a:solidFill>
                  <a:srgbClr val="FB481E"/>
                </a:solidFill>
                <a:latin typeface="Microsoft Yahei"/>
                <a:ea typeface="Microsoft Yahei"/>
                <a:cs typeface="Microsoft Yahei"/>
                <a:sym typeface="Microsoft Yahei"/>
              </a:rPr>
              <a:t>Kos Pembiayaan dan </a:t>
            </a:r>
            <a:endParaRPr/>
          </a:p>
          <a:p>
            <a:pPr marL="0" marR="0" lvl="0" indent="0" algn="ctr" rtl="0">
              <a:lnSpc>
                <a:spcPct val="100000"/>
              </a:lnSpc>
              <a:spcBef>
                <a:spcPts val="0"/>
              </a:spcBef>
              <a:spcAft>
                <a:spcPts val="0"/>
              </a:spcAft>
              <a:buClr>
                <a:srgbClr val="FB481E"/>
              </a:buClr>
              <a:buSzPts val="3200"/>
              <a:buFont typeface="Microsoft Yahei"/>
              <a:buNone/>
            </a:pPr>
            <a:r>
              <a:rPr lang="en-MY" sz="3200" b="0" i="0" u="none" strike="noStrike" cap="none">
                <a:solidFill>
                  <a:srgbClr val="FB481E"/>
                </a:solidFill>
                <a:latin typeface="Microsoft Yahei"/>
                <a:ea typeface="Microsoft Yahei"/>
                <a:cs typeface="Microsoft Yahei"/>
                <a:sym typeface="Microsoft Yahei"/>
              </a:rPr>
              <a:t>Sumber Kewangan</a:t>
            </a:r>
            <a:endParaRPr sz="3200" b="0" i="0" u="none" strike="noStrike" cap="none">
              <a:solidFill>
                <a:srgbClr val="FB481E"/>
              </a:solidFill>
              <a:latin typeface="Microsoft Yahei"/>
              <a:ea typeface="Microsoft Yahei"/>
              <a:cs typeface="Microsoft Yahei"/>
              <a:sym typeface="Microsoft Yahei"/>
            </a:endParaRPr>
          </a:p>
        </p:txBody>
      </p:sp>
      <p:cxnSp>
        <p:nvCxnSpPr>
          <p:cNvPr id="435" name="Google Shape;435;p59"/>
          <p:cNvCxnSpPr/>
          <p:nvPr/>
        </p:nvCxnSpPr>
        <p:spPr>
          <a:xfrm>
            <a:off x="3978233" y="4179028"/>
            <a:ext cx="4224921" cy="0"/>
          </a:xfrm>
          <a:prstGeom prst="straightConnector1">
            <a:avLst/>
          </a:prstGeom>
          <a:noFill/>
          <a:ln w="9525" cap="flat" cmpd="sng">
            <a:solidFill>
              <a:schemeClr val="accent1">
                <a:alpha val="34901"/>
              </a:schemeClr>
            </a:solidFill>
            <a:prstDash val="solid"/>
            <a:miter lim="800000"/>
            <a:headEnd type="none" w="sm" len="sm"/>
            <a:tailEnd type="none" w="sm" len="sm"/>
          </a:ln>
        </p:spPr>
      </p:cxnSp>
      <p:sp>
        <p:nvSpPr>
          <p:cNvPr id="436" name="Google Shape;436;p59"/>
          <p:cNvSpPr/>
          <p:nvPr/>
        </p:nvSpPr>
        <p:spPr>
          <a:xfrm>
            <a:off x="5028452" y="1211934"/>
            <a:ext cx="2126574" cy="673050"/>
          </a:xfrm>
          <a:prstGeom prst="roundRect">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icrosoft Yahei"/>
              <a:buNone/>
            </a:pPr>
            <a:endParaRPr sz="1800" b="0" i="0" u="none" strike="noStrike" cap="none">
              <a:solidFill>
                <a:srgbClr val="FFFFFF"/>
              </a:solidFill>
              <a:latin typeface="Microsoft Yahei"/>
              <a:ea typeface="Microsoft Yahei"/>
              <a:cs typeface="Microsoft Yahei"/>
              <a:sym typeface="Microsoft Yahei"/>
            </a:endParaRPr>
          </a:p>
        </p:txBody>
      </p:sp>
      <p:sp>
        <p:nvSpPr>
          <p:cNvPr id="437" name="Google Shape;437;p59"/>
          <p:cNvSpPr txBox="1"/>
          <p:nvPr/>
        </p:nvSpPr>
        <p:spPr>
          <a:xfrm>
            <a:off x="4994389" y="1332576"/>
            <a:ext cx="2337581"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400"/>
              <a:buFont typeface="Microsoft Yahei"/>
              <a:buNone/>
            </a:pPr>
            <a:r>
              <a:rPr lang="en-MY" sz="2400" b="0" i="0" u="none" strike="noStrike" cap="none">
                <a:solidFill>
                  <a:srgbClr val="FFFFFF"/>
                </a:solidFill>
                <a:latin typeface="Microsoft Yahei"/>
                <a:ea typeface="Microsoft Yahei"/>
                <a:cs typeface="Microsoft Yahei"/>
                <a:sym typeface="Microsoft Yahei"/>
              </a:rPr>
              <a:t>5.2</a:t>
            </a:r>
            <a:endParaRPr sz="2400" b="0" i="0" u="none" strike="noStrike" cap="none">
              <a:solidFill>
                <a:srgbClr val="FFFFFF"/>
              </a:solidFill>
              <a:latin typeface="Microsoft Yahei"/>
              <a:ea typeface="Microsoft Yahei"/>
              <a:cs typeface="Microsoft Yahei"/>
              <a:sym typeface="Microsoft Yahei"/>
            </a:endParaRPr>
          </a:p>
        </p:txBody>
      </p:sp>
      <p:sp>
        <p:nvSpPr>
          <p:cNvPr id="438" name="Google Shape;438;p59"/>
          <p:cNvSpPr txBox="1"/>
          <p:nvPr/>
        </p:nvSpPr>
        <p:spPr>
          <a:xfrm>
            <a:off x="6472238" y="7872413"/>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Microsoft Yahei"/>
              <a:buNone/>
            </a:pPr>
            <a:endParaRPr sz="1800" b="0" i="0" u="none" strike="noStrike" cap="none">
              <a:solidFill>
                <a:srgbClr val="000000"/>
              </a:solidFill>
              <a:latin typeface="Microsoft Yahei"/>
              <a:ea typeface="Microsoft Yahei"/>
              <a:cs typeface="Microsoft Yahei"/>
              <a:sym typeface="Microsoft Yahei"/>
            </a:endParaRPr>
          </a:p>
        </p:txBody>
      </p:sp>
      <p:grpSp>
        <p:nvGrpSpPr>
          <p:cNvPr id="439" name="Google Shape;439;p59"/>
          <p:cNvGrpSpPr/>
          <p:nvPr/>
        </p:nvGrpSpPr>
        <p:grpSpPr>
          <a:xfrm flipH="1">
            <a:off x="9550803" y="2290020"/>
            <a:ext cx="321086" cy="1951376"/>
            <a:chOff x="1288882" y="591464"/>
            <a:chExt cx="1078196" cy="4097438"/>
          </a:xfrm>
        </p:grpSpPr>
        <p:cxnSp>
          <p:nvCxnSpPr>
            <p:cNvPr id="440" name="Google Shape;440;p59"/>
            <p:cNvCxnSpPr/>
            <p:nvPr/>
          </p:nvCxnSpPr>
          <p:spPr>
            <a:xfrm>
              <a:off x="1288882" y="674798"/>
              <a:ext cx="1078196" cy="0"/>
            </a:xfrm>
            <a:prstGeom prst="straightConnector1">
              <a:avLst/>
            </a:prstGeom>
            <a:noFill/>
            <a:ln w="76200" cap="flat" cmpd="sng">
              <a:solidFill>
                <a:schemeClr val="accent1"/>
              </a:solidFill>
              <a:prstDash val="solid"/>
              <a:miter lim="800000"/>
              <a:headEnd type="none" w="sm" len="sm"/>
              <a:tailEnd type="none" w="sm" len="sm"/>
            </a:ln>
          </p:spPr>
        </p:cxnSp>
        <p:cxnSp>
          <p:nvCxnSpPr>
            <p:cNvPr id="441" name="Google Shape;441;p59"/>
            <p:cNvCxnSpPr/>
            <p:nvPr/>
          </p:nvCxnSpPr>
          <p:spPr>
            <a:xfrm>
              <a:off x="1317764" y="591464"/>
              <a:ext cx="0" cy="4097438"/>
            </a:xfrm>
            <a:prstGeom prst="straightConnector1">
              <a:avLst/>
            </a:prstGeom>
            <a:noFill/>
            <a:ln w="76200" cap="flat" cmpd="sng">
              <a:solidFill>
                <a:schemeClr val="accent1"/>
              </a:solidFill>
              <a:prstDash val="solid"/>
              <a:miter lim="800000"/>
              <a:headEnd type="none" w="sm" len="sm"/>
              <a:tailEnd type="none" w="sm" len="sm"/>
            </a:ln>
          </p:spPr>
        </p:cxnSp>
        <p:cxnSp>
          <p:nvCxnSpPr>
            <p:cNvPr id="442" name="Google Shape;442;p59"/>
            <p:cNvCxnSpPr/>
            <p:nvPr/>
          </p:nvCxnSpPr>
          <p:spPr>
            <a:xfrm>
              <a:off x="1288882" y="4595924"/>
              <a:ext cx="1078196" cy="0"/>
            </a:xfrm>
            <a:prstGeom prst="straightConnector1">
              <a:avLst/>
            </a:prstGeom>
            <a:noFill/>
            <a:ln w="76200" cap="flat" cmpd="sng">
              <a:solidFill>
                <a:schemeClr val="accent1"/>
              </a:solidFill>
              <a:prstDash val="solid"/>
              <a:miter lim="800000"/>
              <a:headEnd type="none" w="sm" len="sm"/>
              <a:tailEnd type="none" w="sm" len="sm"/>
            </a:ln>
          </p:spPr>
        </p:cxnSp>
      </p:grpSp>
      <p:sp>
        <p:nvSpPr>
          <p:cNvPr id="443" name="Google Shape;443;p59"/>
          <p:cNvSpPr/>
          <p:nvPr/>
        </p:nvSpPr>
        <p:spPr>
          <a:xfrm>
            <a:off x="11446302" y="-170678"/>
            <a:ext cx="7133747" cy="6849409"/>
          </a:xfrm>
          <a:prstGeom prst="donut">
            <a:avLst>
              <a:gd name="adj" fmla="val 25000"/>
            </a:avLst>
          </a:prstGeom>
          <a:solidFill>
            <a:srgbClr val="FED9D0">
              <a:alpha val="6470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icrosoft Yahei"/>
              <a:buNone/>
            </a:pPr>
            <a:endParaRPr sz="1800" b="0" i="0" u="none" strike="noStrike" cap="none">
              <a:solidFill>
                <a:srgbClr val="000000"/>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60"/>
          <p:cNvSpPr/>
          <p:nvPr/>
        </p:nvSpPr>
        <p:spPr>
          <a:xfrm>
            <a:off x="567160" y="2419108"/>
            <a:ext cx="10938076" cy="2835798"/>
          </a:xfrm>
          <a:prstGeom prst="rect">
            <a:avLst/>
          </a:prstGeom>
          <a:solidFill>
            <a:srgbClr val="FED9D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icrosoft Yahei"/>
              <a:buNone/>
            </a:pPr>
            <a:endParaRPr sz="1800" b="0" i="0" u="none" strike="noStrike" cap="none">
              <a:solidFill>
                <a:srgbClr val="FFFFFF"/>
              </a:solidFill>
              <a:latin typeface="Microsoft Yahei"/>
              <a:ea typeface="Microsoft Yahei"/>
              <a:cs typeface="Microsoft Yahei"/>
              <a:sym typeface="Microsoft Yahei"/>
            </a:endParaRPr>
          </a:p>
        </p:txBody>
      </p:sp>
      <p:sp>
        <p:nvSpPr>
          <p:cNvPr id="449" name="Google Shape;449;p60"/>
          <p:cNvSpPr txBox="1"/>
          <p:nvPr/>
        </p:nvSpPr>
        <p:spPr>
          <a:xfrm>
            <a:off x="752354" y="2598003"/>
            <a:ext cx="3004237"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Microsoft Yahei"/>
              <a:buNone/>
            </a:pPr>
            <a:r>
              <a:rPr lang="en-MY" sz="1800" b="1" i="0" u="none" strike="noStrike" cap="none">
                <a:solidFill>
                  <a:srgbClr val="000000"/>
                </a:solidFill>
                <a:latin typeface="Microsoft Yahei"/>
                <a:ea typeface="Microsoft Yahei"/>
                <a:cs typeface="Microsoft Yahei"/>
                <a:sym typeface="Microsoft Yahei"/>
              </a:rPr>
              <a:t>Sumber Kewangan Jangka Panjang</a:t>
            </a:r>
            <a:endParaRPr sz="1800" b="1" i="0" u="none" strike="noStrike" cap="none">
              <a:solidFill>
                <a:srgbClr val="000000"/>
              </a:solidFill>
              <a:latin typeface="Microsoft Yahei"/>
              <a:ea typeface="Microsoft Yahei"/>
              <a:cs typeface="Microsoft Yahei"/>
              <a:sym typeface="Microsoft Yahei"/>
            </a:endParaRPr>
          </a:p>
        </p:txBody>
      </p:sp>
      <p:sp>
        <p:nvSpPr>
          <p:cNvPr id="450" name="Google Shape;450;p60"/>
          <p:cNvSpPr txBox="1"/>
          <p:nvPr/>
        </p:nvSpPr>
        <p:spPr>
          <a:xfrm>
            <a:off x="1018682" y="3429000"/>
            <a:ext cx="2737909" cy="1346907"/>
          </a:xfrm>
          <a:prstGeom prst="rect">
            <a:avLst/>
          </a:prstGeom>
          <a:noFill/>
          <a:ln>
            <a:noFill/>
          </a:ln>
        </p:spPr>
        <p:txBody>
          <a:bodyPr spcFirstLastPara="1" wrap="square" lIns="91425" tIns="45700" rIns="91425" bIns="45700" anchor="t" anchorCtr="0">
            <a:spAutoFit/>
          </a:bodyPr>
          <a:lstStyle/>
          <a:p>
            <a:pPr marL="171450" marR="0" lvl="0" indent="-171450" algn="l" rtl="0">
              <a:lnSpc>
                <a:spcPct val="150000"/>
              </a:lnSpc>
              <a:spcBef>
                <a:spcPts val="0"/>
              </a:spcBef>
              <a:spcAft>
                <a:spcPts val="0"/>
              </a:spcAft>
              <a:buClr>
                <a:srgbClr val="000000"/>
              </a:buClr>
              <a:buSzPts val="1400"/>
              <a:buFont typeface="Arial"/>
              <a:buChar char="•"/>
            </a:pPr>
            <a:r>
              <a:rPr lang="en-MY" sz="1400" b="0" i="0" u="none" strike="noStrike" cap="none">
                <a:solidFill>
                  <a:srgbClr val="000000"/>
                </a:solidFill>
                <a:latin typeface="Microsoft Yahei"/>
                <a:ea typeface="Microsoft Yahei"/>
                <a:cs typeface="Microsoft Yahei"/>
                <a:sym typeface="Microsoft Yahei"/>
              </a:rPr>
              <a:t>Bon</a:t>
            </a:r>
            <a:endParaRPr/>
          </a:p>
          <a:p>
            <a:pPr marL="171450" marR="0" lvl="0" indent="-171450" algn="l" rtl="0">
              <a:lnSpc>
                <a:spcPct val="150000"/>
              </a:lnSpc>
              <a:spcBef>
                <a:spcPts val="0"/>
              </a:spcBef>
              <a:spcAft>
                <a:spcPts val="0"/>
              </a:spcAft>
              <a:buClr>
                <a:srgbClr val="000000"/>
              </a:buClr>
              <a:buSzPts val="1400"/>
              <a:buFont typeface="Arial"/>
              <a:buChar char="•"/>
            </a:pPr>
            <a:r>
              <a:rPr lang="en-MY" sz="1400">
                <a:solidFill>
                  <a:srgbClr val="000000"/>
                </a:solidFill>
                <a:latin typeface="Microsoft Yahei"/>
                <a:ea typeface="Microsoft Yahei"/>
                <a:cs typeface="Microsoft Yahei"/>
                <a:sym typeface="Microsoft Yahei"/>
              </a:rPr>
              <a:t>Saham Biasa</a:t>
            </a:r>
            <a:endParaRPr sz="1400">
              <a:solidFill>
                <a:srgbClr val="000000"/>
              </a:solidFill>
              <a:latin typeface="Microsoft Yahei"/>
              <a:ea typeface="Microsoft Yahei"/>
              <a:cs typeface="Microsoft Yahei"/>
              <a:sym typeface="Microsoft Yahei"/>
            </a:endParaRPr>
          </a:p>
          <a:p>
            <a:pPr marL="171450" marR="0" lvl="0" indent="-171450" algn="l" rtl="0">
              <a:lnSpc>
                <a:spcPct val="150000"/>
              </a:lnSpc>
              <a:spcBef>
                <a:spcPts val="0"/>
              </a:spcBef>
              <a:spcAft>
                <a:spcPts val="0"/>
              </a:spcAft>
              <a:buClr>
                <a:srgbClr val="000000"/>
              </a:buClr>
              <a:buSzPts val="1400"/>
              <a:buFont typeface="Arial"/>
              <a:buChar char="•"/>
            </a:pPr>
            <a:r>
              <a:rPr lang="en-MY" sz="1400" b="0" i="0" u="none" strike="noStrike" cap="none">
                <a:solidFill>
                  <a:srgbClr val="000000"/>
                </a:solidFill>
                <a:latin typeface="Microsoft Yahei"/>
                <a:ea typeface="Microsoft Yahei"/>
                <a:cs typeface="Microsoft Yahei"/>
                <a:sym typeface="Microsoft Yahei"/>
              </a:rPr>
              <a:t>Saham Keutamaan</a:t>
            </a:r>
            <a:endParaRPr sz="1400" b="0" i="0" u="none" strike="noStrike" cap="none">
              <a:solidFill>
                <a:srgbClr val="000000"/>
              </a:solidFill>
              <a:latin typeface="Microsoft Yahei"/>
              <a:ea typeface="Microsoft Yahei"/>
              <a:cs typeface="Microsoft Yahei"/>
              <a:sym typeface="Microsoft Yahei"/>
            </a:endParaRPr>
          </a:p>
          <a:p>
            <a:pPr marL="171450" marR="0" lvl="0" indent="-171450" algn="l" rtl="0">
              <a:lnSpc>
                <a:spcPct val="150000"/>
              </a:lnSpc>
              <a:spcBef>
                <a:spcPts val="0"/>
              </a:spcBef>
              <a:spcAft>
                <a:spcPts val="0"/>
              </a:spcAft>
              <a:buClr>
                <a:srgbClr val="000000"/>
              </a:buClr>
              <a:buSzPts val="1400"/>
              <a:buFont typeface="Arial"/>
              <a:buChar char="•"/>
            </a:pPr>
            <a:r>
              <a:rPr lang="en-MY" sz="1400">
                <a:solidFill>
                  <a:srgbClr val="000000"/>
                </a:solidFill>
                <a:latin typeface="Microsoft Yahei"/>
                <a:ea typeface="Microsoft Yahei"/>
                <a:cs typeface="Microsoft Yahei"/>
                <a:sym typeface="Microsoft Yahei"/>
              </a:rPr>
              <a:t>Pinjaman Jangka Panjang</a:t>
            </a:r>
            <a:endParaRPr sz="1400" b="0" i="0" u="none" strike="noStrike" cap="none">
              <a:solidFill>
                <a:srgbClr val="000000"/>
              </a:solidFill>
              <a:latin typeface="Microsoft Yahei"/>
              <a:ea typeface="Microsoft Yahei"/>
              <a:cs typeface="Microsoft Yahei"/>
              <a:sym typeface="Microsoft Yahei"/>
            </a:endParaRPr>
          </a:p>
        </p:txBody>
      </p:sp>
      <p:sp>
        <p:nvSpPr>
          <p:cNvPr id="451" name="Google Shape;451;p60"/>
          <p:cNvSpPr txBox="1"/>
          <p:nvPr/>
        </p:nvSpPr>
        <p:spPr>
          <a:xfrm>
            <a:off x="8180765" y="2601955"/>
            <a:ext cx="3104551"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Microsoft Yahei"/>
              <a:buNone/>
            </a:pPr>
            <a:r>
              <a:rPr lang="en-MY" sz="1800" b="1" i="0" u="none" strike="noStrike" cap="none">
                <a:solidFill>
                  <a:srgbClr val="000000"/>
                </a:solidFill>
                <a:latin typeface="Microsoft Yahei"/>
                <a:ea typeface="Microsoft Yahei"/>
                <a:cs typeface="Microsoft Yahei"/>
                <a:sym typeface="Microsoft Yahei"/>
              </a:rPr>
              <a:t>Sumber Kewangan Jangka Pendek</a:t>
            </a:r>
            <a:endParaRPr sz="1800" b="1" i="0" u="none" strike="noStrike" cap="none">
              <a:solidFill>
                <a:srgbClr val="000000"/>
              </a:solidFill>
              <a:latin typeface="Microsoft Yahei"/>
              <a:ea typeface="Microsoft Yahei"/>
              <a:cs typeface="Microsoft Yahei"/>
              <a:sym typeface="Microsoft Yahei"/>
            </a:endParaRPr>
          </a:p>
        </p:txBody>
      </p:sp>
      <p:sp>
        <p:nvSpPr>
          <p:cNvPr id="452" name="Google Shape;452;p60"/>
          <p:cNvSpPr txBox="1"/>
          <p:nvPr/>
        </p:nvSpPr>
        <p:spPr>
          <a:xfrm>
            <a:off x="8384002" y="3429000"/>
            <a:ext cx="2737909" cy="1384995"/>
          </a:xfrm>
          <a:prstGeom prst="rect">
            <a:avLst/>
          </a:prstGeom>
          <a:noFill/>
          <a:ln>
            <a:noFill/>
          </a:ln>
        </p:spPr>
        <p:txBody>
          <a:bodyPr spcFirstLastPara="1" wrap="square" lIns="91425" tIns="45700" rIns="91425" bIns="45700" anchor="t" anchorCtr="0">
            <a:spAutoFit/>
          </a:bodyPr>
          <a:lstStyle/>
          <a:p>
            <a:pPr marL="171450" marR="0" lvl="0" indent="-171450" algn="l" rtl="0">
              <a:lnSpc>
                <a:spcPct val="150000"/>
              </a:lnSpc>
              <a:spcBef>
                <a:spcPts val="0"/>
              </a:spcBef>
              <a:spcAft>
                <a:spcPts val="0"/>
              </a:spcAft>
              <a:buClr>
                <a:srgbClr val="000000"/>
              </a:buClr>
              <a:buSzPts val="1400"/>
              <a:buFont typeface="Arial"/>
              <a:buChar char="•"/>
            </a:pPr>
            <a:r>
              <a:rPr lang="en-MY" sz="1400">
                <a:solidFill>
                  <a:srgbClr val="000000"/>
                </a:solidFill>
                <a:latin typeface="Microsoft Yahei"/>
                <a:ea typeface="Microsoft Yahei"/>
                <a:cs typeface="Microsoft Yahei"/>
                <a:sym typeface="Microsoft Yahei"/>
              </a:rPr>
              <a:t>Pinjaman Jangka Pendek</a:t>
            </a:r>
            <a:endParaRPr sz="1400">
              <a:solidFill>
                <a:srgbClr val="000000"/>
              </a:solidFill>
              <a:latin typeface="Microsoft Yahei"/>
              <a:ea typeface="Microsoft Yahei"/>
              <a:cs typeface="Microsoft Yahei"/>
              <a:sym typeface="Microsoft Yahei"/>
            </a:endParaRPr>
          </a:p>
          <a:p>
            <a:pPr marL="171450" marR="0" lvl="0" indent="-171450" algn="l" rtl="0">
              <a:lnSpc>
                <a:spcPct val="150000"/>
              </a:lnSpc>
              <a:spcBef>
                <a:spcPts val="0"/>
              </a:spcBef>
              <a:spcAft>
                <a:spcPts val="0"/>
              </a:spcAft>
              <a:buClr>
                <a:srgbClr val="000000"/>
              </a:buClr>
              <a:buSzPts val="1400"/>
              <a:buFont typeface="Arial"/>
              <a:buChar char="•"/>
            </a:pPr>
            <a:r>
              <a:rPr lang="en-MY" sz="1400" b="0" i="0" u="none" strike="noStrike" cap="none">
                <a:solidFill>
                  <a:srgbClr val="000000"/>
                </a:solidFill>
                <a:latin typeface="Microsoft Yahei"/>
                <a:ea typeface="Microsoft Yahei"/>
                <a:cs typeface="Microsoft Yahei"/>
                <a:sym typeface="Microsoft Yahei"/>
              </a:rPr>
              <a:t>Overdraf</a:t>
            </a:r>
            <a:endParaRPr sz="1400" b="0" i="0" u="none" strike="noStrike" cap="none">
              <a:solidFill>
                <a:srgbClr val="000000"/>
              </a:solidFill>
              <a:latin typeface="Microsoft Yahei"/>
              <a:ea typeface="Microsoft Yahei"/>
              <a:cs typeface="Microsoft Yahei"/>
              <a:sym typeface="Microsoft Yahei"/>
            </a:endParaRPr>
          </a:p>
          <a:p>
            <a:pPr marL="171450" marR="0" lvl="0" indent="-171450" algn="l" rtl="0">
              <a:lnSpc>
                <a:spcPct val="150000"/>
              </a:lnSpc>
              <a:spcBef>
                <a:spcPts val="0"/>
              </a:spcBef>
              <a:spcAft>
                <a:spcPts val="0"/>
              </a:spcAft>
              <a:buClr>
                <a:srgbClr val="000000"/>
              </a:buClr>
              <a:buSzPts val="1400"/>
              <a:buFont typeface="Arial"/>
              <a:buChar char="•"/>
            </a:pPr>
            <a:r>
              <a:rPr lang="en-MY" sz="1400">
                <a:solidFill>
                  <a:srgbClr val="000000"/>
                </a:solidFill>
                <a:latin typeface="Microsoft Yahei"/>
                <a:ea typeface="Microsoft Yahei"/>
                <a:cs typeface="Microsoft Yahei"/>
                <a:sym typeface="Microsoft Yahei"/>
              </a:rPr>
              <a:t>Kertas Komersial</a:t>
            </a:r>
            <a:endParaRPr sz="1400">
              <a:solidFill>
                <a:srgbClr val="000000"/>
              </a:solidFill>
              <a:latin typeface="Microsoft Yahei"/>
              <a:ea typeface="Microsoft Yahei"/>
              <a:cs typeface="Microsoft Yahei"/>
              <a:sym typeface="Microsoft Yahei"/>
            </a:endParaRPr>
          </a:p>
          <a:p>
            <a:pPr marL="171450" marR="0" lvl="0" indent="-171450" algn="l" rtl="0">
              <a:lnSpc>
                <a:spcPct val="150000"/>
              </a:lnSpc>
              <a:spcBef>
                <a:spcPts val="0"/>
              </a:spcBef>
              <a:spcAft>
                <a:spcPts val="0"/>
              </a:spcAft>
              <a:buClr>
                <a:srgbClr val="000000"/>
              </a:buClr>
              <a:buSzPts val="1400"/>
              <a:buFont typeface="Arial"/>
              <a:buChar char="•"/>
            </a:pPr>
            <a:r>
              <a:rPr lang="en-MY" sz="1400" b="0" i="0" u="none" strike="noStrike" cap="none">
                <a:solidFill>
                  <a:srgbClr val="000000"/>
                </a:solidFill>
                <a:latin typeface="Microsoft Yahei"/>
                <a:ea typeface="Microsoft Yahei"/>
                <a:cs typeface="Microsoft Yahei"/>
                <a:sym typeface="Microsoft Yahei"/>
              </a:rPr>
              <a:t>Kredit Perdagangan</a:t>
            </a:r>
            <a:endParaRPr sz="1400" b="0" i="0" u="none" strike="noStrike" cap="none">
              <a:solidFill>
                <a:srgbClr val="000000"/>
              </a:solidFill>
              <a:latin typeface="Microsoft Yahei"/>
              <a:ea typeface="Microsoft Yahei"/>
              <a:cs typeface="Microsoft Yahei"/>
              <a:sym typeface="Microsoft Yahei"/>
            </a:endParaRPr>
          </a:p>
        </p:txBody>
      </p:sp>
      <p:pic>
        <p:nvPicPr>
          <p:cNvPr id="453" name="Google Shape;453;p60" descr="Instrumen Kewangan untuk Pelabur Terbaik | Kewangan Ekonomi"/>
          <p:cNvPicPr preferRelativeResize="0"/>
          <p:nvPr/>
        </p:nvPicPr>
        <p:blipFill rotWithShape="1">
          <a:blip r:embed="rId3">
            <a:alphaModFix/>
          </a:blip>
          <a:srcRect/>
          <a:stretch/>
        </p:blipFill>
        <p:spPr>
          <a:xfrm>
            <a:off x="3904490" y="2462256"/>
            <a:ext cx="4331613" cy="274950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2785741870"/>
              </p:ext>
            </p:extLst>
          </p:nvPr>
        </p:nvGraphicFramePr>
        <p:xfrm>
          <a:off x="1488504" y="-44624"/>
          <a:ext cx="9144000" cy="685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61235073"/>
      </p:ext>
    </p:extLst>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
                                            <p:graphicEl>
                                              <a:dgm id="{73493B30-A428-441A-867E-39552B081BD3}"/>
                                            </p:graphicEl>
                                          </p:spTgt>
                                        </p:tgtEl>
                                        <p:attrNameLst>
                                          <p:attrName>style.visibility</p:attrName>
                                        </p:attrNameLst>
                                      </p:cBhvr>
                                      <p:to>
                                        <p:strVal val="visible"/>
                                      </p:to>
                                    </p:set>
                                    <p:anim to="" calcmode="lin" valueType="num">
                                      <p:cBhvr>
                                        <p:cTn id="7" dur="1" fill="hold"/>
                                        <p:tgtEl>
                                          <p:spTgt spid="2">
                                            <p:graphicEl>
                                              <a:dgm id="{73493B30-A428-441A-867E-39552B081BD3}"/>
                                            </p:graphic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2">
                                            <p:graphicEl>
                                              <a:dgm id="{8422932F-7FB9-4460-B9C5-53EC7266021D}"/>
                                            </p:graphicEl>
                                          </p:spTgt>
                                        </p:tgtEl>
                                        <p:attrNameLst>
                                          <p:attrName>style.visibility</p:attrName>
                                        </p:attrNameLst>
                                      </p:cBhvr>
                                      <p:to>
                                        <p:strVal val="visible"/>
                                      </p:to>
                                    </p:set>
                                    <p:anim to="" calcmode="lin" valueType="num">
                                      <p:cBhvr>
                                        <p:cTn id="12" dur="1" fill="hold"/>
                                        <p:tgtEl>
                                          <p:spTgt spid="2">
                                            <p:graphicEl>
                                              <a:dgm id="{8422932F-7FB9-4460-B9C5-53EC7266021D}"/>
                                            </p:graphic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2">
                                            <p:graphicEl>
                                              <a:dgm id="{AB8DD406-78B8-45A6-80E3-E7146FF542FB}"/>
                                            </p:graphicEl>
                                          </p:spTgt>
                                        </p:tgtEl>
                                        <p:attrNameLst>
                                          <p:attrName>style.visibility</p:attrName>
                                        </p:attrNameLst>
                                      </p:cBhvr>
                                      <p:to>
                                        <p:strVal val="visible"/>
                                      </p:to>
                                    </p:set>
                                    <p:anim to="" calcmode="lin" valueType="num">
                                      <p:cBhvr>
                                        <p:cTn id="17" dur="1" fill="hold"/>
                                        <p:tgtEl>
                                          <p:spTgt spid="2">
                                            <p:graphicEl>
                                              <a:dgm id="{AB8DD406-78B8-45A6-80E3-E7146FF542FB}"/>
                                            </p:graphicEl>
                                          </p:spTgt>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2">
                                            <p:graphicEl>
                                              <a:dgm id="{DB99A7A2-0337-4441-B496-2DE725C34DC1}"/>
                                            </p:graphicEl>
                                          </p:spTgt>
                                        </p:tgtEl>
                                        <p:attrNameLst>
                                          <p:attrName>style.visibility</p:attrName>
                                        </p:attrNameLst>
                                      </p:cBhvr>
                                      <p:to>
                                        <p:strVal val="visible"/>
                                      </p:to>
                                    </p:set>
                                    <p:anim to="" calcmode="lin" valueType="num">
                                      <p:cBhvr>
                                        <p:cTn id="22" dur="1" fill="hold"/>
                                        <p:tgtEl>
                                          <p:spTgt spid="2">
                                            <p:graphicEl>
                                              <a:dgm id="{DB99A7A2-0337-4441-B496-2DE725C34DC1}"/>
                                            </p:graphicEl>
                                          </p:spTgt>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2">
                                            <p:graphicEl>
                                              <a:dgm id="{91CE039E-392C-4567-9CAD-B26FD9B3283B}"/>
                                            </p:graphicEl>
                                          </p:spTgt>
                                        </p:tgtEl>
                                        <p:attrNameLst>
                                          <p:attrName>style.visibility</p:attrName>
                                        </p:attrNameLst>
                                      </p:cBhvr>
                                      <p:to>
                                        <p:strVal val="visible"/>
                                      </p:to>
                                    </p:set>
                                    <p:anim to="" calcmode="lin" valueType="num">
                                      <p:cBhvr>
                                        <p:cTn id="27" dur="1" fill="hold"/>
                                        <p:tgtEl>
                                          <p:spTgt spid="2">
                                            <p:graphicEl>
                                              <a:dgm id="{91CE039E-392C-4567-9CAD-B26FD9B3283B}"/>
                                            </p:graphic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61"/>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a. Sumber Kewangan Jangka Panjang</a:t>
            </a:r>
            <a:endParaRPr sz="2800" b="0" i="0" u="none" strike="noStrike" cap="none">
              <a:solidFill>
                <a:srgbClr val="000000"/>
              </a:solidFill>
              <a:latin typeface="Microsoft Yahei"/>
              <a:ea typeface="Microsoft Yahei"/>
              <a:cs typeface="Microsoft Yahei"/>
              <a:sym typeface="Microsoft Yahei"/>
            </a:endParaRPr>
          </a:p>
        </p:txBody>
      </p:sp>
      <p:sp>
        <p:nvSpPr>
          <p:cNvPr id="459" name="Google Shape;459;p61"/>
          <p:cNvSpPr txBox="1"/>
          <p:nvPr/>
        </p:nvSpPr>
        <p:spPr>
          <a:xfrm>
            <a:off x="895506" y="1512593"/>
            <a:ext cx="10042570" cy="5170646"/>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1" i="0" u="none" strike="noStrike" cap="none">
                <a:solidFill>
                  <a:srgbClr val="3F3F3F"/>
                </a:solidFill>
                <a:latin typeface="Microsoft Yahei"/>
                <a:ea typeface="Microsoft Yahei"/>
                <a:cs typeface="Microsoft Yahei"/>
                <a:sym typeface="Microsoft Yahei"/>
              </a:rPr>
              <a:t>Bon</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Satu penyata yang memiliki nilai muka.</a:t>
            </a:r>
            <a:endParaRPr/>
          </a:p>
          <a:p>
            <a:pPr marL="358775" marR="0" lvl="0" indent="-231775" algn="just" rtl="0">
              <a:lnSpc>
                <a:spcPct val="150000"/>
              </a:lnSpc>
              <a:spcBef>
                <a:spcPts val="0"/>
              </a:spcBef>
              <a:spcAft>
                <a:spcPts val="0"/>
              </a:spcAft>
              <a:buClr>
                <a:schemeClr val="dk1"/>
              </a:buClr>
              <a:buSzPts val="2000"/>
              <a:buFont typeface="Arial"/>
              <a:buNone/>
            </a:pPr>
            <a:endParaRPr sz="200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Ia adalah nota janji jangka panjang yang dikeluarkan oleh syarikat di  mana syarikat berjanji akan membayar faedah dan prinsipal pada waktu yang telah ditetapkan kepada pemegang-pemegang bon.</a:t>
            </a:r>
            <a:endParaRPr/>
          </a:p>
          <a:p>
            <a:pPr marL="358775" marR="0" lvl="0" indent="-231775" algn="just" rtl="0">
              <a:lnSpc>
                <a:spcPct val="150000"/>
              </a:lnSpc>
              <a:spcBef>
                <a:spcPts val="0"/>
              </a:spcBef>
              <a:spcAft>
                <a:spcPts val="0"/>
              </a:spcAft>
              <a:buClr>
                <a:schemeClr val="dk1"/>
              </a:buClr>
              <a:buSzPts val="2000"/>
              <a:buFont typeface="Arial"/>
              <a:buNone/>
            </a:pPr>
            <a:endParaRPr sz="200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Contoh bon: Bon kerajaan, bon korporat (PDS), bon kuasi kerajaan, bon Cagamas dan bon Islam</a:t>
            </a:r>
            <a:endParaRPr/>
          </a:p>
          <a:p>
            <a:pPr marL="358775" marR="0" lvl="0" indent="-231775" algn="just" rtl="0">
              <a:lnSpc>
                <a:spcPct val="150000"/>
              </a:lnSpc>
              <a:spcBef>
                <a:spcPts val="0"/>
              </a:spcBef>
              <a:spcAft>
                <a:spcPts val="0"/>
              </a:spcAft>
              <a:buClr>
                <a:schemeClr val="dk1"/>
              </a:buClr>
              <a:buSzPts val="2000"/>
              <a:buFont typeface="Arial"/>
              <a:buNone/>
            </a:pPr>
            <a:endParaRPr sz="200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Pemegang-pemegang bon ialah pemberi pinjaman kepada syarikat.</a:t>
            </a: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62"/>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a. Sumber Kewangan Jangka Panjang</a:t>
            </a:r>
            <a:endParaRPr sz="2800" b="0" i="0" u="none" strike="noStrike" cap="none">
              <a:solidFill>
                <a:srgbClr val="000000"/>
              </a:solidFill>
              <a:latin typeface="Microsoft Yahei"/>
              <a:ea typeface="Microsoft Yahei"/>
              <a:cs typeface="Microsoft Yahei"/>
              <a:sym typeface="Microsoft Yahei"/>
            </a:endParaRPr>
          </a:p>
        </p:txBody>
      </p:sp>
      <p:sp>
        <p:nvSpPr>
          <p:cNvPr id="465" name="Google Shape;465;p62"/>
          <p:cNvSpPr txBox="1"/>
          <p:nvPr/>
        </p:nvSpPr>
        <p:spPr>
          <a:xfrm>
            <a:off x="895506" y="1512593"/>
            <a:ext cx="10042570" cy="5632311"/>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i="0" u="none" strike="noStrike" cap="none">
                <a:solidFill>
                  <a:srgbClr val="3F3F3F"/>
                </a:solidFill>
                <a:latin typeface="Microsoft Yahei"/>
                <a:ea typeface="Microsoft Yahei"/>
                <a:cs typeface="Microsoft Yahei"/>
                <a:sym typeface="Microsoft Yahei"/>
              </a:rPr>
              <a:t>Bon </a:t>
            </a:r>
            <a:r>
              <a:rPr lang="en-MY" sz="2000" i="1" u="none" strike="noStrike" cap="none">
                <a:solidFill>
                  <a:srgbClr val="3F3F3F"/>
                </a:solidFill>
                <a:latin typeface="Microsoft Yahei"/>
                <a:ea typeface="Microsoft Yahei"/>
                <a:cs typeface="Microsoft Yahei"/>
                <a:sym typeface="Microsoft Yahei"/>
              </a:rPr>
              <a:t>(…sambungan)</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Ciri-ciri bon ialah:</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Nilai par </a:t>
            </a:r>
            <a:endParaRPr/>
          </a:p>
          <a:p>
            <a:pPr marL="717550" marR="0" lvl="1" indent="0" algn="just" rtl="0">
              <a:lnSpc>
                <a:spcPct val="150000"/>
              </a:lnSpc>
              <a:spcBef>
                <a:spcPts val="0"/>
              </a:spcBef>
              <a:spcAft>
                <a:spcPts val="0"/>
              </a:spcAft>
              <a:buNone/>
            </a:pPr>
            <a:r>
              <a:rPr lang="en-MY" sz="2000" b="0" i="0" u="none" strike="noStrike" cap="none">
                <a:solidFill>
                  <a:srgbClr val="3F3F3F"/>
                </a:solidFill>
                <a:latin typeface="Microsoft Yahei"/>
                <a:ea typeface="Microsoft Yahei"/>
                <a:cs typeface="Microsoft Yahei"/>
                <a:sym typeface="Microsoft Yahei"/>
              </a:rPr>
              <a:t>Jumlah prinsipal yang akan dibayar selepas matang dan selalunya nilai par ialah RM1000.</a:t>
            </a:r>
            <a:endParaRPr/>
          </a:p>
          <a:p>
            <a:pPr marL="815975" marR="0" lvl="1" indent="-231775" algn="just" rtl="0">
              <a:lnSpc>
                <a:spcPct val="150000"/>
              </a:lnSpc>
              <a:spcBef>
                <a:spcPts val="0"/>
              </a:spcBef>
              <a:spcAft>
                <a:spcPts val="0"/>
              </a:spcAft>
              <a:buClr>
                <a:schemeClr val="dk1"/>
              </a:buClr>
              <a:buSzPts val="2000"/>
              <a:buFont typeface="Noto Sans Symbols"/>
              <a:buNone/>
            </a:pPr>
            <a:endParaRPr sz="20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Tempoh matang </a:t>
            </a:r>
            <a:endParaRPr/>
          </a:p>
          <a:p>
            <a:pPr marL="717550" marR="0" lvl="1" indent="0" algn="just" rtl="0">
              <a:lnSpc>
                <a:spcPct val="150000"/>
              </a:lnSpc>
              <a:spcBef>
                <a:spcPts val="0"/>
              </a:spcBef>
              <a:spcAft>
                <a:spcPts val="0"/>
              </a:spcAft>
              <a:buNone/>
            </a:pPr>
            <a:r>
              <a:rPr lang="en-MY" sz="2000" b="0" i="0" u="none" strike="noStrike" cap="none">
                <a:solidFill>
                  <a:srgbClr val="3F3F3F"/>
                </a:solidFill>
                <a:latin typeface="Microsoft Yahei"/>
                <a:ea typeface="Microsoft Yahei"/>
                <a:cs typeface="Microsoft Yahei"/>
                <a:sym typeface="Microsoft Yahei"/>
              </a:rPr>
              <a:t>Di mana syarikat akan membayar balik pinjaman.</a:t>
            </a:r>
            <a:endParaRPr/>
          </a:p>
          <a:p>
            <a:pPr marL="815975" marR="0" lvl="1" indent="-231775" algn="just" rtl="0">
              <a:lnSpc>
                <a:spcPct val="150000"/>
              </a:lnSpc>
              <a:spcBef>
                <a:spcPts val="0"/>
              </a:spcBef>
              <a:spcAft>
                <a:spcPts val="0"/>
              </a:spcAft>
              <a:buClr>
                <a:schemeClr val="dk1"/>
              </a:buClr>
              <a:buSzPts val="2000"/>
              <a:buFont typeface="Noto Sans Symbols"/>
              <a:buNone/>
            </a:pPr>
            <a:endParaRPr sz="20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Kadar faedah kupon </a:t>
            </a:r>
            <a:endParaRPr/>
          </a:p>
          <a:p>
            <a:pPr marL="717550" marR="0" lvl="1" indent="0" algn="just" rtl="0">
              <a:lnSpc>
                <a:spcPct val="150000"/>
              </a:lnSpc>
              <a:spcBef>
                <a:spcPts val="0"/>
              </a:spcBef>
              <a:spcAft>
                <a:spcPts val="0"/>
              </a:spcAft>
              <a:buNone/>
            </a:pPr>
            <a:r>
              <a:rPr lang="en-MY" sz="2000" b="0" i="0" u="none" strike="noStrike" cap="none">
                <a:solidFill>
                  <a:srgbClr val="3F3F3F"/>
                </a:solidFill>
                <a:latin typeface="Microsoft Yahei"/>
                <a:ea typeface="Microsoft Yahei"/>
                <a:cs typeface="Microsoft Yahei"/>
                <a:sym typeface="Microsoft Yahei"/>
              </a:rPr>
              <a:t>Kadar diberi dalam nilai ringgit ataupun peratus daripada nilai par. </a:t>
            </a:r>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63"/>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a. Sumber Kewangan Jangka Panjang</a:t>
            </a:r>
            <a:endParaRPr sz="2800" b="0" i="0" u="none" strike="noStrike" cap="none">
              <a:solidFill>
                <a:srgbClr val="000000"/>
              </a:solidFill>
              <a:latin typeface="Microsoft Yahei"/>
              <a:ea typeface="Microsoft Yahei"/>
              <a:cs typeface="Microsoft Yahei"/>
              <a:sym typeface="Microsoft Yahei"/>
            </a:endParaRPr>
          </a:p>
        </p:txBody>
      </p:sp>
      <p:sp>
        <p:nvSpPr>
          <p:cNvPr id="471" name="Google Shape;471;p63"/>
          <p:cNvSpPr txBox="1"/>
          <p:nvPr/>
        </p:nvSpPr>
        <p:spPr>
          <a:xfrm>
            <a:off x="895506" y="1512593"/>
            <a:ext cx="10042570" cy="4708981"/>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1">
                <a:solidFill>
                  <a:srgbClr val="3F3F3F"/>
                </a:solidFill>
                <a:latin typeface="Microsoft Yahei"/>
                <a:ea typeface="Microsoft Yahei"/>
                <a:cs typeface="Microsoft Yahei"/>
                <a:sym typeface="Microsoft Yahei"/>
              </a:rPr>
              <a:t>Saham Biasa</a:t>
            </a:r>
            <a:endParaRPr sz="2000" b="1" i="0" u="none" strike="noStrike" cap="none">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Definisi: Saham yang menunjukkan pemilikan dalam syarikat.</a:t>
            </a:r>
            <a:endParaRPr/>
          </a:p>
          <a:p>
            <a:pPr marL="358775" marR="0" lvl="0" indent="-231775" algn="just" rtl="0">
              <a:lnSpc>
                <a:spcPct val="150000"/>
              </a:lnSpc>
              <a:spcBef>
                <a:spcPts val="0"/>
              </a:spcBef>
              <a:spcAft>
                <a:spcPts val="0"/>
              </a:spcAft>
              <a:buClr>
                <a:schemeClr val="dk1"/>
              </a:buClr>
              <a:buSzPts val="2000"/>
              <a:buFont typeface="Arial"/>
              <a:buNone/>
            </a:pPr>
            <a:endParaRPr sz="200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Istilah yang wujud dalam saham biasa ialah:</a:t>
            </a:r>
            <a:endParaRPr/>
          </a:p>
          <a:p>
            <a:pPr marL="717550" marR="0" lvl="0" indent="-358775" algn="just" rtl="0">
              <a:lnSpc>
                <a:spcPct val="150000"/>
              </a:lnSpc>
              <a:spcBef>
                <a:spcPts val="0"/>
              </a:spcBef>
              <a:spcAft>
                <a:spcPts val="0"/>
              </a:spcAft>
              <a:buClr>
                <a:srgbClr val="3F3F3F"/>
              </a:buClr>
              <a:buSzPts val="2000"/>
              <a:buFont typeface="Noto Sans Symbols"/>
              <a:buChar char="⮚"/>
            </a:pPr>
            <a:r>
              <a:rPr lang="en-MY" sz="2000">
                <a:solidFill>
                  <a:srgbClr val="3F3F3F"/>
                </a:solidFill>
                <a:latin typeface="Microsoft Yahei"/>
                <a:ea typeface="Microsoft Yahei"/>
                <a:cs typeface="Microsoft Yahei"/>
                <a:sym typeface="Microsoft Yahei"/>
              </a:rPr>
              <a:t>Modal dibenarkan </a:t>
            </a:r>
            <a:endParaRPr/>
          </a:p>
          <a:p>
            <a:pPr marL="717550" marR="0" lvl="0" indent="0" algn="just" rtl="0">
              <a:lnSpc>
                <a:spcPct val="150000"/>
              </a:lnSpc>
              <a:spcBef>
                <a:spcPts val="0"/>
              </a:spcBef>
              <a:spcAft>
                <a:spcPts val="0"/>
              </a:spcAft>
              <a:buNone/>
            </a:pPr>
            <a:r>
              <a:rPr lang="en-MY" sz="2000">
                <a:solidFill>
                  <a:srgbClr val="3F3F3F"/>
                </a:solidFill>
                <a:latin typeface="Microsoft Yahei"/>
                <a:ea typeface="Microsoft Yahei"/>
                <a:cs typeface="Microsoft Yahei"/>
                <a:sym typeface="Microsoft Yahei"/>
              </a:rPr>
              <a:t>Dikenali sebagai modal nominal atau modal berdaftar, iaitu jumlah modal yang dinyatakan dalam 	memorandum ataupun tata wujud syarikat yang didaftarkan dengan pendaftar syarikat. Ia mewakili jumlah maksimum modal yang boleh ditawarkan 	kepada orang</a:t>
            </a:r>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64"/>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a. Sumber Kewangan Jangka Panjang</a:t>
            </a:r>
            <a:endParaRPr sz="2800" b="0" i="0" u="none" strike="noStrike" cap="none">
              <a:solidFill>
                <a:srgbClr val="000000"/>
              </a:solidFill>
              <a:latin typeface="Microsoft Yahei"/>
              <a:ea typeface="Microsoft Yahei"/>
              <a:cs typeface="Microsoft Yahei"/>
              <a:sym typeface="Microsoft Yahei"/>
            </a:endParaRPr>
          </a:p>
        </p:txBody>
      </p:sp>
      <p:sp>
        <p:nvSpPr>
          <p:cNvPr id="477" name="Google Shape;477;p64"/>
          <p:cNvSpPr txBox="1"/>
          <p:nvPr/>
        </p:nvSpPr>
        <p:spPr>
          <a:xfrm>
            <a:off x="895506" y="1512593"/>
            <a:ext cx="10042570" cy="5355312"/>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1900"/>
              <a:buFont typeface="Microsoft Yahei"/>
              <a:buNone/>
            </a:pPr>
            <a:r>
              <a:rPr lang="en-MY" sz="1900" i="0" u="none" strike="noStrike" cap="none">
                <a:solidFill>
                  <a:srgbClr val="3F3F3F"/>
                </a:solidFill>
                <a:latin typeface="Microsoft Yahei"/>
                <a:ea typeface="Microsoft Yahei"/>
                <a:cs typeface="Microsoft Yahei"/>
                <a:sym typeface="Microsoft Yahei"/>
              </a:rPr>
              <a:t>Saham Biasa</a:t>
            </a:r>
            <a:r>
              <a:rPr lang="en-MY" sz="1900">
                <a:solidFill>
                  <a:srgbClr val="3F3F3F"/>
                </a:solidFill>
                <a:latin typeface="Microsoft Yahei"/>
                <a:ea typeface="Microsoft Yahei"/>
                <a:cs typeface="Microsoft Yahei"/>
                <a:sym typeface="Microsoft Yahei"/>
              </a:rPr>
              <a:t> </a:t>
            </a:r>
            <a:r>
              <a:rPr lang="en-MY" sz="1900" i="1">
                <a:solidFill>
                  <a:srgbClr val="3F3F3F"/>
                </a:solidFill>
                <a:latin typeface="Microsoft Yahei"/>
                <a:ea typeface="Microsoft Yahei"/>
                <a:cs typeface="Microsoft Yahei"/>
                <a:sym typeface="Microsoft Yahei"/>
              </a:rPr>
              <a:t>(…sambungan)</a:t>
            </a:r>
            <a:endParaRPr sz="1900" i="1" u="none" strike="noStrike" cap="none">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1900"/>
              <a:buFont typeface="Arial"/>
              <a:buChar char="•"/>
            </a:pPr>
            <a:r>
              <a:rPr lang="en-MY" sz="1900" b="0" i="0" u="none" strike="noStrike" cap="none">
                <a:solidFill>
                  <a:srgbClr val="3F3F3F"/>
                </a:solidFill>
                <a:latin typeface="Microsoft Yahei"/>
                <a:ea typeface="Microsoft Yahei"/>
                <a:cs typeface="Microsoft Yahei"/>
                <a:sym typeface="Microsoft Yahei"/>
              </a:rPr>
              <a:t>Istilah yang wujud dalam saham biasa ialah:</a:t>
            </a:r>
            <a:endParaRPr/>
          </a:p>
          <a:p>
            <a:pPr marL="717550" marR="0" lvl="0" indent="-358775" algn="just" rtl="0">
              <a:lnSpc>
                <a:spcPct val="150000"/>
              </a:lnSpc>
              <a:spcBef>
                <a:spcPts val="0"/>
              </a:spcBef>
              <a:spcAft>
                <a:spcPts val="0"/>
              </a:spcAft>
              <a:buClr>
                <a:srgbClr val="3F3F3F"/>
              </a:buClr>
              <a:buSzPts val="1900"/>
              <a:buFont typeface="Noto Sans Symbols"/>
              <a:buChar char="⮚"/>
            </a:pPr>
            <a:r>
              <a:rPr lang="en-MY" sz="1900">
                <a:solidFill>
                  <a:srgbClr val="3F3F3F"/>
                </a:solidFill>
                <a:latin typeface="Microsoft Yahei"/>
                <a:ea typeface="Microsoft Yahei"/>
                <a:cs typeface="Microsoft Yahei"/>
                <a:sym typeface="Microsoft Yahei"/>
              </a:rPr>
              <a:t>Modal diterbitkan</a:t>
            </a:r>
            <a:endParaRPr sz="1900">
              <a:solidFill>
                <a:srgbClr val="3F3F3F"/>
              </a:solidFill>
              <a:latin typeface="Microsoft Yahei"/>
              <a:ea typeface="Microsoft Yahei"/>
              <a:cs typeface="Microsoft Yahei"/>
              <a:sym typeface="Microsoft Yahei"/>
            </a:endParaRPr>
          </a:p>
          <a:p>
            <a:pPr marL="717550" marR="0" lvl="0" indent="0" algn="just" rtl="0">
              <a:lnSpc>
                <a:spcPct val="150000"/>
              </a:lnSpc>
              <a:spcBef>
                <a:spcPts val="0"/>
              </a:spcBef>
              <a:spcAft>
                <a:spcPts val="0"/>
              </a:spcAft>
              <a:buNone/>
            </a:pPr>
            <a:r>
              <a:rPr lang="en-MY" sz="1900">
                <a:solidFill>
                  <a:srgbClr val="3F3F3F"/>
                </a:solidFill>
                <a:latin typeface="Microsoft Yahei"/>
                <a:ea typeface="Microsoft Yahei"/>
                <a:cs typeface="Microsoft Yahei"/>
                <a:sym typeface="Microsoft Yahei"/>
              </a:rPr>
              <a:t>Ia mewakili sebahagian daripada modal dibenarkan yang ditawarkan kepada orang ramai. Modal terbitan ini tidak boleh melebihi jumlah modal yang dibenarkan.</a:t>
            </a:r>
            <a:endParaRPr/>
          </a:p>
          <a:p>
            <a:pPr marL="717550" marR="0" lvl="0" indent="-238125" algn="just" rtl="0">
              <a:lnSpc>
                <a:spcPct val="150000"/>
              </a:lnSpc>
              <a:spcBef>
                <a:spcPts val="0"/>
              </a:spcBef>
              <a:spcAft>
                <a:spcPts val="0"/>
              </a:spcAft>
              <a:buClr>
                <a:schemeClr val="dk1"/>
              </a:buClr>
              <a:buSzPts val="1900"/>
              <a:buFont typeface="Noto Sans Symbols"/>
              <a:buNone/>
            </a:pPr>
            <a:endParaRPr sz="1900">
              <a:solidFill>
                <a:srgbClr val="3F3F3F"/>
              </a:solidFill>
              <a:latin typeface="Microsoft Yahei"/>
              <a:ea typeface="Microsoft Yahei"/>
              <a:cs typeface="Microsoft Yahei"/>
              <a:sym typeface="Microsoft Yahei"/>
            </a:endParaRPr>
          </a:p>
          <a:p>
            <a:pPr marL="717550" marR="0" lvl="0" indent="-358775" algn="just" rtl="0">
              <a:lnSpc>
                <a:spcPct val="150000"/>
              </a:lnSpc>
              <a:spcBef>
                <a:spcPts val="0"/>
              </a:spcBef>
              <a:spcAft>
                <a:spcPts val="0"/>
              </a:spcAft>
              <a:buClr>
                <a:srgbClr val="3F3F3F"/>
              </a:buClr>
              <a:buSzPts val="1900"/>
              <a:buFont typeface="Noto Sans Symbols"/>
              <a:buChar char="⮚"/>
            </a:pPr>
            <a:r>
              <a:rPr lang="en-MY" sz="1900">
                <a:solidFill>
                  <a:srgbClr val="3F3F3F"/>
                </a:solidFill>
                <a:latin typeface="Microsoft Yahei"/>
                <a:ea typeface="Microsoft Yahei"/>
                <a:cs typeface="Microsoft Yahei"/>
                <a:sym typeface="Microsoft Yahei"/>
              </a:rPr>
              <a:t>Nilai tara </a:t>
            </a:r>
            <a:endParaRPr/>
          </a:p>
          <a:p>
            <a:pPr marL="717550" marR="0" lvl="0" indent="0" algn="just" rtl="0">
              <a:lnSpc>
                <a:spcPct val="150000"/>
              </a:lnSpc>
              <a:spcBef>
                <a:spcPts val="0"/>
              </a:spcBef>
              <a:spcAft>
                <a:spcPts val="0"/>
              </a:spcAft>
              <a:buNone/>
            </a:pPr>
            <a:r>
              <a:rPr lang="en-MY" sz="1900">
                <a:solidFill>
                  <a:srgbClr val="3F3F3F"/>
                </a:solidFill>
                <a:latin typeface="Microsoft Yahei"/>
                <a:ea typeface="Microsoft Yahei"/>
                <a:cs typeface="Microsoft Yahei"/>
                <a:sym typeface="Microsoft Yahei"/>
              </a:rPr>
              <a:t>Nilai tara dinyatakan pada sijil syer dan sama seperti didalam tata urusan dan memorandum syarikat. Walaubagaimanapun, nilai saham yang dikeluarkan tidak semestinya sama dengan nilai tara. Biasanya,  ia lebih tinggi daripada nilai tara.</a:t>
            </a:r>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65"/>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a. Sumber Kewangan Jangka Panjang</a:t>
            </a:r>
            <a:endParaRPr sz="2800" b="0" i="0" u="none" strike="noStrike" cap="none">
              <a:solidFill>
                <a:srgbClr val="000000"/>
              </a:solidFill>
              <a:latin typeface="Microsoft Yahei"/>
              <a:ea typeface="Microsoft Yahei"/>
              <a:cs typeface="Microsoft Yahei"/>
              <a:sym typeface="Microsoft Yahei"/>
            </a:endParaRPr>
          </a:p>
        </p:txBody>
      </p:sp>
      <p:sp>
        <p:nvSpPr>
          <p:cNvPr id="483" name="Google Shape;483;p65"/>
          <p:cNvSpPr txBox="1"/>
          <p:nvPr/>
        </p:nvSpPr>
        <p:spPr>
          <a:xfrm>
            <a:off x="895506" y="1512593"/>
            <a:ext cx="10042570" cy="3785652"/>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a:solidFill>
                  <a:srgbClr val="3F3F3F"/>
                </a:solidFill>
                <a:latin typeface="Microsoft Yahei"/>
                <a:ea typeface="Microsoft Yahei"/>
                <a:cs typeface="Microsoft Yahei"/>
                <a:sym typeface="Microsoft Yahei"/>
              </a:rPr>
              <a:t>Saham Biasa</a:t>
            </a:r>
            <a:r>
              <a:rPr lang="en-MY" sz="2000" b="0" i="0" u="none" strike="noStrike" cap="none">
                <a:solidFill>
                  <a:srgbClr val="3F3F3F"/>
                </a:solidFill>
                <a:latin typeface="Microsoft Yahei"/>
                <a:ea typeface="Microsoft Yahei"/>
                <a:cs typeface="Microsoft Yahei"/>
                <a:sym typeface="Microsoft Yahei"/>
              </a:rPr>
              <a:t> </a:t>
            </a:r>
            <a:r>
              <a:rPr lang="en-MY" sz="2000" b="0" i="1" u="none" strike="noStrike" cap="none">
                <a:solidFill>
                  <a:srgbClr val="3F3F3F"/>
                </a:solidFill>
                <a:latin typeface="Microsoft Yahei"/>
                <a:ea typeface="Microsoft Yahei"/>
                <a:cs typeface="Microsoft Yahei"/>
                <a:sym typeface="Microsoft Yahei"/>
              </a:rPr>
              <a:t>(…sambungan)</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Ciri-ciri saham biasa:</a:t>
            </a:r>
            <a:endParaRPr/>
          </a:p>
          <a:p>
            <a:pPr marL="717550" marR="0" lvl="0" indent="-358775" algn="just" rtl="0">
              <a:lnSpc>
                <a:spcPct val="150000"/>
              </a:lnSpc>
              <a:spcBef>
                <a:spcPts val="0"/>
              </a:spcBef>
              <a:spcAft>
                <a:spcPts val="0"/>
              </a:spcAft>
              <a:buClr>
                <a:srgbClr val="3F3F3F"/>
              </a:buClr>
              <a:buSzPts val="2000"/>
              <a:buFont typeface="Noto Sans Symbols"/>
              <a:buChar char="⮚"/>
            </a:pPr>
            <a:r>
              <a:rPr lang="en-MY" sz="2000">
                <a:solidFill>
                  <a:srgbClr val="3F3F3F"/>
                </a:solidFill>
                <a:latin typeface="Microsoft Yahei"/>
                <a:ea typeface="Microsoft Yahei"/>
                <a:cs typeface="Microsoft Yahei"/>
                <a:sym typeface="Microsoft Yahei"/>
              </a:rPr>
              <a:t>Tidak mempunyai tempoh matang</a:t>
            </a:r>
            <a:endParaRPr sz="2000">
              <a:solidFill>
                <a:srgbClr val="3F3F3F"/>
              </a:solidFill>
              <a:latin typeface="Microsoft Yahei"/>
              <a:ea typeface="Microsoft Yahei"/>
              <a:cs typeface="Microsoft Yahei"/>
              <a:sym typeface="Microsoft Yahei"/>
            </a:endParaRPr>
          </a:p>
          <a:p>
            <a:pPr marL="717550" marR="0" lvl="0" indent="-358775" algn="just" rtl="0">
              <a:lnSpc>
                <a:spcPct val="150000"/>
              </a:lnSpc>
              <a:spcBef>
                <a:spcPts val="0"/>
              </a:spcBef>
              <a:spcAft>
                <a:spcPts val="0"/>
              </a:spcAft>
              <a:buClr>
                <a:srgbClr val="3F3F3F"/>
              </a:buClr>
              <a:buSzPts val="2000"/>
              <a:buFont typeface="Noto Sans Symbols"/>
              <a:buChar char="⮚"/>
            </a:pPr>
            <a:r>
              <a:rPr lang="en-MY" sz="2000">
                <a:solidFill>
                  <a:srgbClr val="3F3F3F"/>
                </a:solidFill>
                <a:latin typeface="Microsoft Yahei"/>
                <a:ea typeface="Microsoft Yahei"/>
                <a:cs typeface="Microsoft Yahei"/>
                <a:sym typeface="Microsoft Yahei"/>
              </a:rPr>
              <a:t>Dividen tidak tetap</a:t>
            </a:r>
            <a:endParaRPr sz="2000">
              <a:solidFill>
                <a:srgbClr val="3F3F3F"/>
              </a:solidFill>
              <a:latin typeface="Microsoft Yahei"/>
              <a:ea typeface="Microsoft Yahei"/>
              <a:cs typeface="Microsoft Yahei"/>
              <a:sym typeface="Microsoft Yahei"/>
            </a:endParaRPr>
          </a:p>
          <a:p>
            <a:pPr marL="717550" marR="0" lvl="0" indent="-358775" algn="just" rtl="0">
              <a:lnSpc>
                <a:spcPct val="150000"/>
              </a:lnSpc>
              <a:spcBef>
                <a:spcPts val="0"/>
              </a:spcBef>
              <a:spcAft>
                <a:spcPts val="0"/>
              </a:spcAft>
              <a:buClr>
                <a:srgbClr val="3F3F3F"/>
              </a:buClr>
              <a:buSzPts val="2000"/>
              <a:buFont typeface="Noto Sans Symbols"/>
              <a:buChar char="⮚"/>
            </a:pPr>
            <a:r>
              <a:rPr lang="en-MY" sz="2000">
                <a:solidFill>
                  <a:srgbClr val="3F3F3F"/>
                </a:solidFill>
                <a:latin typeface="Microsoft Yahei"/>
                <a:ea typeface="Microsoft Yahei"/>
                <a:cs typeface="Microsoft Yahei"/>
                <a:sym typeface="Microsoft Yahei"/>
              </a:rPr>
              <a:t>Mewakili ekuiti atau hakmilik pelabur dalam syarikat.</a:t>
            </a:r>
            <a:endParaRPr/>
          </a:p>
          <a:p>
            <a:pPr marL="717550" marR="0" lvl="0" indent="-358775" algn="just" rtl="0">
              <a:lnSpc>
                <a:spcPct val="150000"/>
              </a:lnSpc>
              <a:spcBef>
                <a:spcPts val="0"/>
              </a:spcBef>
              <a:spcAft>
                <a:spcPts val="0"/>
              </a:spcAft>
              <a:buClr>
                <a:srgbClr val="3F3F3F"/>
              </a:buClr>
              <a:buSzPts val="2000"/>
              <a:buFont typeface="Noto Sans Symbols"/>
              <a:buChar char="⮚"/>
            </a:pPr>
            <a:r>
              <a:rPr lang="en-MY" sz="2000">
                <a:solidFill>
                  <a:srgbClr val="3F3F3F"/>
                </a:solidFill>
                <a:latin typeface="Microsoft Yahei"/>
                <a:ea typeface="Microsoft Yahei"/>
                <a:cs typeface="Microsoft Yahei"/>
                <a:sym typeface="Microsoft Yahei"/>
              </a:rPr>
              <a:t>Mempunyai hak mengundi</a:t>
            </a:r>
            <a:endParaRPr sz="2000">
              <a:solidFill>
                <a:srgbClr val="3F3F3F"/>
              </a:solidFill>
              <a:latin typeface="Microsoft Yahei"/>
              <a:ea typeface="Microsoft Yahei"/>
              <a:cs typeface="Microsoft Yahei"/>
              <a:sym typeface="Microsoft Yahei"/>
            </a:endParaRPr>
          </a:p>
          <a:p>
            <a:pPr marL="717550" marR="0" lvl="0" indent="-358775" algn="just" rtl="0">
              <a:lnSpc>
                <a:spcPct val="150000"/>
              </a:lnSpc>
              <a:spcBef>
                <a:spcPts val="0"/>
              </a:spcBef>
              <a:spcAft>
                <a:spcPts val="0"/>
              </a:spcAft>
              <a:buClr>
                <a:srgbClr val="3F3F3F"/>
              </a:buClr>
              <a:buSzPts val="2000"/>
              <a:buFont typeface="Noto Sans Symbols"/>
              <a:buChar char="⮚"/>
            </a:pPr>
            <a:r>
              <a:rPr lang="en-MY" sz="2000">
                <a:solidFill>
                  <a:srgbClr val="3F3F3F"/>
                </a:solidFill>
                <a:latin typeface="Microsoft Yahei"/>
                <a:ea typeface="Microsoft Yahei"/>
                <a:cs typeface="Microsoft Yahei"/>
                <a:sym typeface="Microsoft Yahei"/>
              </a:rPr>
              <a:t>Hak menerima dividen jika syarikat dapat untung.</a:t>
            </a:r>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66"/>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a. Sumber Kewangan Jangka Panjang</a:t>
            </a:r>
            <a:endParaRPr sz="2800" b="0" i="0" u="none" strike="noStrike" cap="none">
              <a:solidFill>
                <a:srgbClr val="000000"/>
              </a:solidFill>
              <a:latin typeface="Microsoft Yahei"/>
              <a:ea typeface="Microsoft Yahei"/>
              <a:cs typeface="Microsoft Yahei"/>
              <a:sym typeface="Microsoft Yahei"/>
            </a:endParaRPr>
          </a:p>
        </p:txBody>
      </p:sp>
      <p:sp>
        <p:nvSpPr>
          <p:cNvPr id="489" name="Google Shape;489;p66"/>
          <p:cNvSpPr txBox="1"/>
          <p:nvPr/>
        </p:nvSpPr>
        <p:spPr>
          <a:xfrm>
            <a:off x="895506" y="1512593"/>
            <a:ext cx="10042570" cy="4708981"/>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1" i="0" u="none" strike="noStrike" cap="none">
                <a:solidFill>
                  <a:srgbClr val="3F3F3F"/>
                </a:solidFill>
                <a:latin typeface="Microsoft Yahei"/>
                <a:ea typeface="Microsoft Yahei"/>
                <a:cs typeface="Microsoft Yahei"/>
                <a:sym typeface="Microsoft Yahei"/>
              </a:rPr>
              <a:t>Saham Keutamaan</a:t>
            </a:r>
            <a:endParaRPr sz="2000" b="1" i="0" u="none" strike="noStrike" cap="none">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Saham yang diberi keutamaan melebihi saham biasa dalam pemberian dividen.</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Ia gabungan antara ciri-ciri hutang/pinjaman dan saham biasa.</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Saham keutamaan sama seperti bon di mana bayaran dividen adalah tetap.</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Persamaan antara saham keutamaan dan saham biasa pula kedua-duanya tidak mempunyai tempoh matang, mempunyai nilai tara, dividen tidak dikira sebagai perbelanjaan yang boleh mengurangkan cukai dan kegagalan membayar dividen tidak menyebabkan syarikat menjadi bankrap.</a:t>
            </a:r>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7"/>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a. Sumber Kewangan Jangka Panjang</a:t>
            </a:r>
            <a:endParaRPr sz="2800" b="0" i="0" u="none" strike="noStrike" cap="none">
              <a:solidFill>
                <a:srgbClr val="000000"/>
              </a:solidFill>
              <a:latin typeface="Microsoft Yahei"/>
              <a:ea typeface="Microsoft Yahei"/>
              <a:cs typeface="Microsoft Yahei"/>
              <a:sym typeface="Microsoft Yahei"/>
            </a:endParaRPr>
          </a:p>
        </p:txBody>
      </p:sp>
      <p:sp>
        <p:nvSpPr>
          <p:cNvPr id="495" name="Google Shape;495;p67"/>
          <p:cNvSpPr txBox="1"/>
          <p:nvPr/>
        </p:nvSpPr>
        <p:spPr>
          <a:xfrm>
            <a:off x="895506" y="1512593"/>
            <a:ext cx="10042570" cy="5170646"/>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0" i="0" u="none" strike="noStrike" cap="none">
                <a:solidFill>
                  <a:srgbClr val="3F3F3F"/>
                </a:solidFill>
                <a:latin typeface="Microsoft Yahei"/>
                <a:ea typeface="Microsoft Yahei"/>
                <a:cs typeface="Microsoft Yahei"/>
                <a:sym typeface="Microsoft Yahei"/>
              </a:rPr>
              <a:t>Saham Keutamaan </a:t>
            </a:r>
            <a:r>
              <a:rPr lang="en-MY" sz="2000" b="0" i="1" u="none" strike="noStrike" cap="none">
                <a:solidFill>
                  <a:srgbClr val="3F3F3F"/>
                </a:solidFill>
                <a:latin typeface="Microsoft Yahei"/>
                <a:ea typeface="Microsoft Yahei"/>
                <a:cs typeface="Microsoft Yahei"/>
                <a:sym typeface="Microsoft Yahei"/>
              </a:rPr>
              <a:t>(…sambungan)</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Ciri-ciri Saham Keutamaan:</a:t>
            </a:r>
            <a:endParaRPr/>
          </a:p>
          <a:p>
            <a:pPr marL="717550" marR="0" lvl="0" indent="-358775" algn="just" rtl="0">
              <a:lnSpc>
                <a:spcPct val="150000"/>
              </a:lnSpc>
              <a:spcBef>
                <a:spcPts val="0"/>
              </a:spcBef>
              <a:spcAft>
                <a:spcPts val="0"/>
              </a:spcAft>
              <a:buClr>
                <a:srgbClr val="3F3F3F"/>
              </a:buClr>
              <a:buSzPts val="2000"/>
              <a:buFont typeface="Noto Sans Symbols"/>
              <a:buChar char="⮚"/>
            </a:pPr>
            <a:r>
              <a:rPr lang="en-MY" sz="2000">
                <a:solidFill>
                  <a:srgbClr val="3F3F3F"/>
                </a:solidFill>
                <a:latin typeface="Microsoft Yahei"/>
                <a:ea typeface="Microsoft Yahei"/>
                <a:cs typeface="Microsoft Yahei"/>
                <a:sym typeface="Microsoft Yahei"/>
              </a:rPr>
              <a:t>Kadar dividen tetap setiap tahun</a:t>
            </a:r>
            <a:endParaRPr sz="2000">
              <a:solidFill>
                <a:srgbClr val="3F3F3F"/>
              </a:solidFill>
              <a:latin typeface="Microsoft Yahei"/>
              <a:ea typeface="Microsoft Yahei"/>
              <a:cs typeface="Microsoft Yahei"/>
              <a:sym typeface="Microsoft Yahei"/>
            </a:endParaRPr>
          </a:p>
          <a:p>
            <a:pPr marL="717550" marR="0" lvl="0" indent="-358775" algn="just" rtl="0">
              <a:lnSpc>
                <a:spcPct val="150000"/>
              </a:lnSpc>
              <a:spcBef>
                <a:spcPts val="0"/>
              </a:spcBef>
              <a:spcAft>
                <a:spcPts val="0"/>
              </a:spcAft>
              <a:buClr>
                <a:srgbClr val="3F3F3F"/>
              </a:buClr>
              <a:buSzPts val="2000"/>
              <a:buFont typeface="Noto Sans Symbols"/>
              <a:buChar char="⮚"/>
            </a:pPr>
            <a:r>
              <a:rPr lang="en-MY" sz="2000">
                <a:solidFill>
                  <a:srgbClr val="3F3F3F"/>
                </a:solidFill>
                <a:latin typeface="Microsoft Yahei"/>
                <a:ea typeface="Microsoft Yahei"/>
                <a:cs typeface="Microsoft Yahei"/>
                <a:sym typeface="Microsoft Yahei"/>
              </a:rPr>
              <a:t>Dividen bersifat kumulatif</a:t>
            </a:r>
            <a:endParaRPr sz="2000">
              <a:solidFill>
                <a:srgbClr val="3F3F3F"/>
              </a:solidFill>
              <a:latin typeface="Microsoft Yahei"/>
              <a:ea typeface="Microsoft Yahei"/>
              <a:cs typeface="Microsoft Yahei"/>
              <a:sym typeface="Microsoft Yahei"/>
            </a:endParaRPr>
          </a:p>
          <a:p>
            <a:pPr marL="717550" marR="0" lvl="0" indent="-358775" algn="just" rtl="0">
              <a:lnSpc>
                <a:spcPct val="150000"/>
              </a:lnSpc>
              <a:spcBef>
                <a:spcPts val="0"/>
              </a:spcBef>
              <a:spcAft>
                <a:spcPts val="0"/>
              </a:spcAft>
              <a:buClr>
                <a:srgbClr val="3F3F3F"/>
              </a:buClr>
              <a:buSzPts val="2000"/>
              <a:buFont typeface="Noto Sans Symbols"/>
              <a:buChar char="⮚"/>
            </a:pPr>
            <a:r>
              <a:rPr lang="en-MY" sz="2000">
                <a:solidFill>
                  <a:srgbClr val="3F3F3F"/>
                </a:solidFill>
                <a:latin typeface="Microsoft Yahei"/>
                <a:ea typeface="Microsoft Yahei"/>
                <a:cs typeface="Microsoft Yahei"/>
                <a:sym typeface="Microsoft Yahei"/>
              </a:rPr>
              <a:t>Keutamaan dari segi membuat tuntutan berbanding pemegang saham biasa</a:t>
            </a:r>
            <a:endParaRPr sz="2000">
              <a:solidFill>
                <a:srgbClr val="3F3F3F"/>
              </a:solidFill>
              <a:latin typeface="Microsoft Yahei"/>
              <a:ea typeface="Microsoft Yahei"/>
              <a:cs typeface="Microsoft Yahei"/>
              <a:sym typeface="Microsoft Yahei"/>
            </a:endParaRPr>
          </a:p>
          <a:p>
            <a:pPr marL="717550" marR="0" lvl="0" indent="-358775" algn="just" rtl="0">
              <a:lnSpc>
                <a:spcPct val="150000"/>
              </a:lnSpc>
              <a:spcBef>
                <a:spcPts val="0"/>
              </a:spcBef>
              <a:spcAft>
                <a:spcPts val="0"/>
              </a:spcAft>
              <a:buClr>
                <a:srgbClr val="3F3F3F"/>
              </a:buClr>
              <a:buSzPts val="2000"/>
              <a:buFont typeface="Noto Sans Symbols"/>
              <a:buChar char="⮚"/>
            </a:pPr>
            <a:r>
              <a:rPr lang="en-MY" sz="2000">
                <a:solidFill>
                  <a:srgbClr val="3F3F3F"/>
                </a:solidFill>
                <a:latin typeface="Microsoft Yahei"/>
                <a:ea typeface="Microsoft Yahei"/>
                <a:cs typeface="Microsoft Yahei"/>
                <a:sym typeface="Microsoft Yahei"/>
              </a:rPr>
              <a:t>Tidak mempunyai had mengundi</a:t>
            </a:r>
            <a:endParaRPr sz="2000">
              <a:solidFill>
                <a:srgbClr val="3F3F3F"/>
              </a:solidFill>
              <a:latin typeface="Microsoft Yahei"/>
              <a:ea typeface="Microsoft Yahei"/>
              <a:cs typeface="Microsoft Yahei"/>
              <a:sym typeface="Microsoft Yahei"/>
            </a:endParaRPr>
          </a:p>
          <a:p>
            <a:pPr marL="717550" marR="0" lvl="0" indent="-358775" algn="just" rtl="0">
              <a:lnSpc>
                <a:spcPct val="150000"/>
              </a:lnSpc>
              <a:spcBef>
                <a:spcPts val="0"/>
              </a:spcBef>
              <a:spcAft>
                <a:spcPts val="0"/>
              </a:spcAft>
              <a:buClr>
                <a:srgbClr val="3F3F3F"/>
              </a:buClr>
              <a:buSzPts val="2000"/>
              <a:buFont typeface="Noto Sans Symbols"/>
              <a:buChar char="⮚"/>
            </a:pPr>
            <a:r>
              <a:rPr lang="en-MY" sz="2000">
                <a:solidFill>
                  <a:srgbClr val="3F3F3F"/>
                </a:solidFill>
                <a:latin typeface="Microsoft Yahei"/>
                <a:ea typeface="Microsoft Yahei"/>
                <a:cs typeface="Microsoft Yahei"/>
                <a:sym typeface="Microsoft Yahei"/>
              </a:rPr>
              <a:t>Pemegang saham keutamaan bukan pemilik syarikat</a:t>
            </a:r>
            <a:endParaRPr sz="2000">
              <a:solidFill>
                <a:srgbClr val="3F3F3F"/>
              </a:solidFill>
              <a:latin typeface="Microsoft Yahei"/>
              <a:ea typeface="Microsoft Yahei"/>
              <a:cs typeface="Microsoft Yahei"/>
              <a:sym typeface="Microsoft Yahei"/>
            </a:endParaRPr>
          </a:p>
          <a:p>
            <a:pPr marL="717550" marR="0" lvl="0" indent="-358775" algn="just" rtl="0">
              <a:lnSpc>
                <a:spcPct val="150000"/>
              </a:lnSpc>
              <a:spcBef>
                <a:spcPts val="0"/>
              </a:spcBef>
              <a:spcAft>
                <a:spcPts val="0"/>
              </a:spcAft>
              <a:buClr>
                <a:srgbClr val="3F3F3F"/>
              </a:buClr>
              <a:buSzPts val="2000"/>
              <a:buFont typeface="Noto Sans Symbols"/>
              <a:buChar char="⮚"/>
            </a:pPr>
            <a:r>
              <a:rPr lang="en-MY" sz="2000">
                <a:solidFill>
                  <a:srgbClr val="3F3F3F"/>
                </a:solidFill>
                <a:latin typeface="Microsoft Yahei"/>
                <a:ea typeface="Microsoft Yahei"/>
                <a:cs typeface="Microsoft Yahei"/>
                <a:sym typeface="Microsoft Yahei"/>
              </a:rPr>
              <a:t>Saham keutamaan boleh ditukarkan kepada saham biasa</a:t>
            </a:r>
            <a:endParaRPr sz="2000">
              <a:solidFill>
                <a:srgbClr val="3F3F3F"/>
              </a:solidFill>
              <a:latin typeface="Microsoft Yahei"/>
              <a:ea typeface="Microsoft Yahei"/>
              <a:cs typeface="Microsoft Yahei"/>
              <a:sym typeface="Microsoft Yahei"/>
            </a:endParaRPr>
          </a:p>
          <a:p>
            <a:pPr marL="717550" marR="0" lvl="0" indent="-358775" algn="just" rtl="0">
              <a:lnSpc>
                <a:spcPct val="150000"/>
              </a:lnSpc>
              <a:spcBef>
                <a:spcPts val="0"/>
              </a:spcBef>
              <a:spcAft>
                <a:spcPts val="0"/>
              </a:spcAft>
              <a:buClr>
                <a:srgbClr val="3F3F3F"/>
              </a:buClr>
              <a:buSzPts val="2000"/>
              <a:buFont typeface="Noto Sans Symbols"/>
              <a:buChar char="⮚"/>
            </a:pPr>
            <a:r>
              <a:rPr lang="en-MY" sz="2000">
                <a:solidFill>
                  <a:srgbClr val="3F3F3F"/>
                </a:solidFill>
                <a:latin typeface="Microsoft Yahei"/>
                <a:ea typeface="Microsoft Yahei"/>
                <a:cs typeface="Microsoft Yahei"/>
                <a:sym typeface="Microsoft Yahei"/>
              </a:rPr>
              <a:t>Tiada tarikh matang</a:t>
            </a:r>
            <a:endParaRPr sz="2000">
              <a:solidFill>
                <a:srgbClr val="3F3F3F"/>
              </a:solidFill>
              <a:latin typeface="Microsoft Yahei"/>
              <a:ea typeface="Microsoft Yahei"/>
              <a:cs typeface="Microsoft Yahei"/>
              <a:sym typeface="Microsoft Yahei"/>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68"/>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a. Sumber Kewangan Jangka Panjang</a:t>
            </a:r>
            <a:endParaRPr sz="2800" b="0" i="0" u="none" strike="noStrike" cap="none">
              <a:solidFill>
                <a:srgbClr val="000000"/>
              </a:solidFill>
              <a:latin typeface="Microsoft Yahei"/>
              <a:ea typeface="Microsoft Yahei"/>
              <a:cs typeface="Microsoft Yahei"/>
              <a:sym typeface="Microsoft Yahei"/>
            </a:endParaRPr>
          </a:p>
        </p:txBody>
      </p:sp>
      <p:sp>
        <p:nvSpPr>
          <p:cNvPr id="501" name="Google Shape;501;p68"/>
          <p:cNvSpPr txBox="1"/>
          <p:nvPr/>
        </p:nvSpPr>
        <p:spPr>
          <a:xfrm>
            <a:off x="895506" y="1512593"/>
            <a:ext cx="10042570" cy="4708981"/>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1" i="0" u="none" strike="noStrike" cap="none">
                <a:solidFill>
                  <a:srgbClr val="3F3F3F"/>
                </a:solidFill>
                <a:latin typeface="Microsoft Yahei"/>
                <a:ea typeface="Microsoft Yahei"/>
                <a:cs typeface="Microsoft Yahei"/>
                <a:sym typeface="Microsoft Yahei"/>
              </a:rPr>
              <a:t>Pinjaman Jangka Panjang</a:t>
            </a:r>
            <a:endParaRPr sz="2000" b="1" i="0" u="none" strike="noStrike" cap="none">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Merupakan hutang jangka  panjang dan tempoh pembiayaan melebihi satu tahun.</a:t>
            </a:r>
            <a:endParaRPr/>
          </a:p>
          <a:p>
            <a:pPr marL="358775" marR="0" lvl="0" indent="-231775" algn="just" rtl="0">
              <a:lnSpc>
                <a:spcPct val="150000"/>
              </a:lnSpc>
              <a:spcBef>
                <a:spcPts val="0"/>
              </a:spcBef>
              <a:spcAft>
                <a:spcPts val="0"/>
              </a:spcAft>
              <a:buClr>
                <a:schemeClr val="dk1"/>
              </a:buClr>
              <a:buSzPts val="2000"/>
              <a:buFont typeface="Arial"/>
              <a:buNone/>
            </a:pPr>
            <a:endParaRPr sz="200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Faedah yang dikenakan adalah lebih tinggi berbanding dengan pinjaman jangka pendek kerana risiko kemampuan untuk membayar balik pinjaman.</a:t>
            </a:r>
            <a:endParaRPr/>
          </a:p>
          <a:p>
            <a:pPr marL="358775" marR="0" lvl="0" indent="-231775" algn="just" rtl="0">
              <a:lnSpc>
                <a:spcPct val="150000"/>
              </a:lnSpc>
              <a:spcBef>
                <a:spcPts val="0"/>
              </a:spcBef>
              <a:spcAft>
                <a:spcPts val="0"/>
              </a:spcAft>
              <a:buClr>
                <a:schemeClr val="dk1"/>
              </a:buClr>
              <a:buSzPts val="2000"/>
              <a:buFont typeface="Arial"/>
              <a:buNone/>
            </a:pPr>
            <a:endParaRPr sz="200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Pinjaman boleh dikenakan cagaran ataupun tanpa cagaran jika rekod kewangan syarikat kukuh.</a:t>
            </a:r>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69"/>
          <p:cNvSpPr txBox="1"/>
          <p:nvPr/>
        </p:nvSpPr>
        <p:spPr>
          <a:xfrm>
            <a:off x="1819353" y="748826"/>
            <a:ext cx="8194875"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Microsoft Yahei"/>
              <a:buNone/>
            </a:pPr>
            <a:r>
              <a:rPr lang="en-MY" sz="2400" b="0" i="0" u="none" strike="noStrike" cap="none">
                <a:solidFill>
                  <a:srgbClr val="000000"/>
                </a:solidFill>
                <a:latin typeface="Microsoft Yahei"/>
                <a:ea typeface="Microsoft Yahei"/>
                <a:cs typeface="Microsoft Yahei"/>
                <a:sym typeface="Microsoft Yahei"/>
              </a:rPr>
              <a:t>Perbezaan Sumber Kewangan Jangka Panjang</a:t>
            </a:r>
            <a:endParaRPr sz="2400" b="0" i="0" u="none" strike="noStrike" cap="none">
              <a:solidFill>
                <a:srgbClr val="000000"/>
              </a:solidFill>
              <a:latin typeface="Microsoft Yahei"/>
              <a:ea typeface="Microsoft Yahei"/>
              <a:cs typeface="Microsoft Yahei"/>
              <a:sym typeface="Microsoft Yahei"/>
            </a:endParaRPr>
          </a:p>
        </p:txBody>
      </p:sp>
      <p:graphicFrame>
        <p:nvGraphicFramePr>
          <p:cNvPr id="507" name="Google Shape;507;p69"/>
          <p:cNvGraphicFramePr/>
          <p:nvPr/>
        </p:nvGraphicFramePr>
        <p:xfrm>
          <a:off x="389447" y="1276518"/>
          <a:ext cx="11054675" cy="5240725"/>
        </p:xfrm>
        <a:graphic>
          <a:graphicData uri="http://schemas.openxmlformats.org/drawingml/2006/table">
            <a:tbl>
              <a:tblPr>
                <a:noFill/>
                <a:tableStyleId>{767E9722-4C11-4960-AF74-AE0269A20F23}</a:tableStyleId>
              </a:tblPr>
              <a:tblGrid>
                <a:gridCol w="1483300">
                  <a:extLst>
                    <a:ext uri="{9D8B030D-6E8A-4147-A177-3AD203B41FA5}">
                      <a16:colId xmlns:a16="http://schemas.microsoft.com/office/drawing/2014/main" val="20000"/>
                    </a:ext>
                  </a:extLst>
                </a:gridCol>
                <a:gridCol w="2196925">
                  <a:extLst>
                    <a:ext uri="{9D8B030D-6E8A-4147-A177-3AD203B41FA5}">
                      <a16:colId xmlns:a16="http://schemas.microsoft.com/office/drawing/2014/main" val="20001"/>
                    </a:ext>
                  </a:extLst>
                </a:gridCol>
                <a:gridCol w="2434825">
                  <a:extLst>
                    <a:ext uri="{9D8B030D-6E8A-4147-A177-3AD203B41FA5}">
                      <a16:colId xmlns:a16="http://schemas.microsoft.com/office/drawing/2014/main" val="20002"/>
                    </a:ext>
                  </a:extLst>
                </a:gridCol>
                <a:gridCol w="2336875">
                  <a:extLst>
                    <a:ext uri="{9D8B030D-6E8A-4147-A177-3AD203B41FA5}">
                      <a16:colId xmlns:a16="http://schemas.microsoft.com/office/drawing/2014/main" val="20003"/>
                    </a:ext>
                  </a:extLst>
                </a:gridCol>
                <a:gridCol w="2602750">
                  <a:extLst>
                    <a:ext uri="{9D8B030D-6E8A-4147-A177-3AD203B41FA5}">
                      <a16:colId xmlns:a16="http://schemas.microsoft.com/office/drawing/2014/main" val="20004"/>
                    </a:ext>
                  </a:extLst>
                </a:gridCol>
              </a:tblGrid>
              <a:tr h="585450">
                <a:tc>
                  <a:txBody>
                    <a:bodyPr/>
                    <a:lstStyle/>
                    <a:p>
                      <a:pPr marL="0" marR="0" lvl="0" indent="0" algn="ctr"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Sumber Kewangan</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Saham </a:t>
                      </a:r>
                      <a:endParaRPr/>
                    </a:p>
                    <a:p>
                      <a:pPr marL="0" marR="0" lvl="0" indent="0" algn="ctr"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Biasa</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MY" sz="1400" u="none" strike="noStrike" cap="none">
                          <a:solidFill>
                            <a:schemeClr val="dk1"/>
                          </a:solidFill>
                          <a:latin typeface="Arial"/>
                          <a:ea typeface="Arial"/>
                          <a:cs typeface="Arial"/>
                          <a:sym typeface="Arial"/>
                        </a:rPr>
                        <a:t>Saham </a:t>
                      </a:r>
                      <a:endParaRPr/>
                    </a:p>
                    <a:p>
                      <a:pPr marL="0" marR="0" lvl="0" indent="0" algn="ctr" rtl="0">
                        <a:lnSpc>
                          <a:spcPct val="100000"/>
                        </a:lnSpc>
                        <a:spcBef>
                          <a:spcPts val="0"/>
                        </a:spcBef>
                        <a:spcAft>
                          <a:spcPts val="0"/>
                        </a:spcAft>
                        <a:buClr>
                          <a:srgbClr val="000000"/>
                        </a:buClr>
                        <a:buSzPts val="1400"/>
                        <a:buFont typeface="Arial"/>
                        <a:buNone/>
                      </a:pPr>
                      <a:r>
                        <a:rPr lang="en-MY" sz="1400" u="none" strike="noStrike" cap="none">
                          <a:solidFill>
                            <a:schemeClr val="dk1"/>
                          </a:solidFill>
                          <a:latin typeface="Arial"/>
                          <a:ea typeface="Arial"/>
                          <a:cs typeface="Arial"/>
                          <a:sym typeface="Arial"/>
                        </a:rPr>
                        <a:t>Keutamaan</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Bon</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MY" sz="1400" u="none" strike="noStrike" cap="none">
                          <a:solidFill>
                            <a:schemeClr val="dk1"/>
                          </a:solidFill>
                          <a:latin typeface="Arial"/>
                          <a:ea typeface="Arial"/>
                          <a:cs typeface="Arial"/>
                          <a:sym typeface="Arial"/>
                        </a:rPr>
                        <a:t>Pinjaman </a:t>
                      </a:r>
                      <a:endParaRPr/>
                    </a:p>
                    <a:p>
                      <a:pPr marL="0" marR="0" lvl="0" indent="0" algn="ctr" rtl="0">
                        <a:lnSpc>
                          <a:spcPct val="100000"/>
                        </a:lnSpc>
                        <a:spcBef>
                          <a:spcPts val="0"/>
                        </a:spcBef>
                        <a:spcAft>
                          <a:spcPts val="0"/>
                        </a:spcAft>
                        <a:buClr>
                          <a:srgbClr val="000000"/>
                        </a:buClr>
                        <a:buSzPts val="1400"/>
                        <a:buFont typeface="Arial"/>
                        <a:buNone/>
                      </a:pPr>
                      <a:r>
                        <a:rPr lang="en-MY" sz="1400" u="none" strike="noStrike" cap="none">
                          <a:solidFill>
                            <a:schemeClr val="dk1"/>
                          </a:solidFill>
                          <a:latin typeface="Arial"/>
                          <a:ea typeface="Arial"/>
                          <a:cs typeface="Arial"/>
                          <a:sym typeface="Arial"/>
                        </a:rPr>
                        <a:t>Jangka Panjang</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995800">
                <a:tc>
                  <a:txBody>
                    <a:bodyPr/>
                    <a:lstStyle/>
                    <a:p>
                      <a:pPr marL="0" marR="0" lvl="0" indent="0" algn="l" rtl="0">
                        <a:lnSpc>
                          <a:spcPct val="100000"/>
                        </a:lnSpc>
                        <a:spcBef>
                          <a:spcPts val="0"/>
                        </a:spcBef>
                        <a:spcAft>
                          <a:spcPts val="0"/>
                        </a:spcAft>
                        <a:buClr>
                          <a:srgbClr val="000000"/>
                        </a:buClr>
                        <a:buSzPts val="1400"/>
                        <a:buFont typeface="Arial"/>
                        <a:buNone/>
                      </a:pPr>
                      <a:r>
                        <a:rPr lang="en-MY" sz="1400" u="none" strike="noStrike" cap="none">
                          <a:solidFill>
                            <a:schemeClr val="dk1"/>
                          </a:solidFill>
                          <a:latin typeface="Arial"/>
                          <a:ea typeface="Arial"/>
                          <a:cs typeface="Arial"/>
                          <a:sym typeface="Arial"/>
                        </a:rPr>
                        <a:t>Jenis Institusi yang menawarkan</a:t>
                      </a:r>
                      <a:endParaRPr sz="140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400"/>
                        <a:buFont typeface="Microsoft Yahei"/>
                        <a:buNone/>
                      </a:pP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Syarikat awam yang tersenarai dalam Bursa Malaysia, Syarikat Sdn Bhd</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Syarikat awam yang tersenarai dalam Bursa Malaysia, Syarikat Sdn Bhd</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Kerajaan, Institusi swasta yang berkeupayaan (Pihak insurans, Syarikat korporat/ konglomerat)</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Badan Berkanun Kerajaan, Bank perdagangan, Institusi kewangan bukan bank</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813225">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Jenis Peserta</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Pelabur yang terdiri daripada individu atau pihak institusi</a:t>
                      </a:r>
                      <a:endParaRPr sz="1400" b="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MY" sz="1400" u="none" strike="noStrike" cap="none">
                          <a:solidFill>
                            <a:schemeClr val="dk1"/>
                          </a:solidFill>
                          <a:latin typeface="Arial"/>
                          <a:ea typeface="Arial"/>
                          <a:cs typeface="Arial"/>
                          <a:sym typeface="Arial"/>
                        </a:rPr>
                        <a:t>Pelabur yang terdiri daripada individu atau pihak institusi</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MY" sz="1400" u="none" strike="noStrike" cap="none">
                          <a:solidFill>
                            <a:schemeClr val="dk1"/>
                          </a:solidFill>
                          <a:latin typeface="Arial"/>
                          <a:ea typeface="Arial"/>
                          <a:cs typeface="Arial"/>
                          <a:sym typeface="Arial"/>
                        </a:rPr>
                        <a:t>Pelabur yang terdiri daripada individu atau pihak institusi</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MY" sz="1400" u="none" strike="noStrike" cap="none">
                          <a:solidFill>
                            <a:schemeClr val="dk1"/>
                          </a:solidFill>
                          <a:latin typeface="Arial"/>
                          <a:ea typeface="Arial"/>
                          <a:cs typeface="Arial"/>
                          <a:sym typeface="Arial"/>
                        </a:rPr>
                        <a:t>Pelabur yang terdiri daripada individu atau pihak institusi</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780775">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Tempoh matang</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MY" sz="1400" u="none" strike="noStrike" cap="none">
                          <a:solidFill>
                            <a:schemeClr val="dk1"/>
                          </a:solidFill>
                          <a:latin typeface="Arial"/>
                          <a:ea typeface="Arial"/>
                          <a:cs typeface="Arial"/>
                          <a:sym typeface="Arial"/>
                        </a:rPr>
                        <a:t>Tiada tempoh matang</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Tiada tempoh masa</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Tempoh bergantung kepada perjanjian yang dinyatakan dalam sijil bon</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Tempoh bergantung kepada perjanjian</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777875">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Struktur pegangan</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chemeClr val="dk1"/>
                          </a:solidFill>
                          <a:latin typeface="Arial"/>
                          <a:ea typeface="Arial"/>
                          <a:cs typeface="Arial"/>
                          <a:sym typeface="Arial"/>
                        </a:rPr>
                        <a:t>Menunjukkan pemilikan dalam syarikat dan boleh mengundi.</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Tidak menunjukkan pemilikan.</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Tidak menunjukkan pemilikan tetapi adalah hutang</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Tidak menunjukkan pemilikan tetapi adalah hutang</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1287600">
                <a:tc>
                  <a:txBody>
                    <a:bodyPr/>
                    <a:lstStyle/>
                    <a:p>
                      <a:pPr marL="0" marR="0" lvl="0" indent="0" algn="l" rtl="0">
                        <a:lnSpc>
                          <a:spcPct val="100000"/>
                        </a:lnSpc>
                        <a:spcBef>
                          <a:spcPts val="0"/>
                        </a:spcBef>
                        <a:spcAft>
                          <a:spcPts val="0"/>
                        </a:spcAft>
                        <a:buClr>
                          <a:schemeClr val="dk1"/>
                        </a:buClr>
                        <a:buSzPts val="1400"/>
                        <a:buFont typeface="Microsoft Yahei"/>
                        <a:buNone/>
                      </a:pPr>
                      <a:r>
                        <a:rPr lang="en-MY" sz="1400" u="none" strike="noStrike" cap="none">
                          <a:solidFill>
                            <a:schemeClr val="dk1"/>
                          </a:solidFill>
                        </a:rPr>
                        <a:t>Risiko kepada pelabur</a:t>
                      </a:r>
                      <a:endParaRPr sz="1400" u="none" strike="noStrike" cap="none">
                        <a:solidFill>
                          <a:schemeClr val="dk1"/>
                        </a:solidFil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Microsoft Yahei"/>
                        <a:buNone/>
                      </a:pPr>
                      <a:r>
                        <a:rPr lang="en-MY" sz="1400" u="none" strike="noStrike" cap="none">
                          <a:solidFill>
                            <a:schemeClr val="dk1"/>
                          </a:solidFill>
                        </a:rPr>
                        <a:t>Tinggi kerana dividen bergantung kepada perolehan syarikat</a:t>
                      </a:r>
                      <a:endParaRPr sz="1400" u="none" strike="noStrike" cap="none">
                        <a:solidFill>
                          <a:schemeClr val="dk1"/>
                        </a:solidFil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Microsoft Yahei"/>
                        <a:buNone/>
                      </a:pPr>
                      <a:r>
                        <a:rPr lang="en-MY" sz="1400" u="none" strike="noStrike" cap="none">
                          <a:solidFill>
                            <a:schemeClr val="dk1"/>
                          </a:solidFill>
                        </a:rPr>
                        <a:t>Rendah kerana dividen diagih dahulu sebelum diberi kepada pemegang saham biasa</a:t>
                      </a:r>
                      <a:endParaRPr sz="1400" u="none" strike="noStrike" cap="none">
                        <a:solidFill>
                          <a:schemeClr val="dk1"/>
                        </a:solidFil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Microsoft Yahei"/>
                        <a:buNone/>
                      </a:pPr>
                      <a:r>
                        <a:rPr lang="en-MY" sz="1400" u="none" strike="noStrike" cap="none">
                          <a:solidFill>
                            <a:schemeClr val="dk1"/>
                          </a:solidFill>
                        </a:rPr>
                        <a:t>Rendah kerana dividen mengikut perjanjian dan kadangkala bercagar</a:t>
                      </a:r>
                      <a:endParaRPr sz="1400" u="none" strike="noStrike" cap="none">
                        <a:solidFill>
                          <a:schemeClr val="dk1"/>
                        </a:solidFil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Microsoft Yahei"/>
                        <a:buNone/>
                      </a:pPr>
                      <a:r>
                        <a:rPr lang="en-MY" sz="1400" u="none" strike="noStrike" cap="none">
                          <a:solidFill>
                            <a:schemeClr val="dk1"/>
                          </a:solidFill>
                        </a:rPr>
                        <a:t>Rendah kerana jangkamasa lama, dilindungi oleh insurans dan bercagar/ mempunyai penjamin</a:t>
                      </a:r>
                      <a:endParaRPr sz="1400" u="none" strike="noStrike" cap="none">
                        <a:solidFill>
                          <a:schemeClr val="dk1"/>
                        </a:solidFil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4146347494"/>
              </p:ext>
            </p:extLst>
          </p:nvPr>
        </p:nvGraphicFramePr>
        <p:xfrm>
          <a:off x="1488504" y="-44624"/>
          <a:ext cx="9144000" cy="69026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64343911"/>
      </p:ext>
    </p:extLst>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
                                            <p:graphicEl>
                                              <a:dgm id="{73493B30-A428-441A-867E-39552B081BD3}"/>
                                            </p:graphicEl>
                                          </p:spTgt>
                                        </p:tgtEl>
                                        <p:attrNameLst>
                                          <p:attrName>style.visibility</p:attrName>
                                        </p:attrNameLst>
                                      </p:cBhvr>
                                      <p:to>
                                        <p:strVal val="visible"/>
                                      </p:to>
                                    </p:set>
                                    <p:anim to="" calcmode="lin" valueType="num">
                                      <p:cBhvr>
                                        <p:cTn id="7" dur="1" fill="hold"/>
                                        <p:tgtEl>
                                          <p:spTgt spid="2">
                                            <p:graphicEl>
                                              <a:dgm id="{73493B30-A428-441A-867E-39552B081BD3}"/>
                                            </p:graphic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2">
                                            <p:graphicEl>
                                              <a:dgm id="{8422932F-7FB9-4460-B9C5-53EC7266021D}"/>
                                            </p:graphicEl>
                                          </p:spTgt>
                                        </p:tgtEl>
                                        <p:attrNameLst>
                                          <p:attrName>style.visibility</p:attrName>
                                        </p:attrNameLst>
                                      </p:cBhvr>
                                      <p:to>
                                        <p:strVal val="visible"/>
                                      </p:to>
                                    </p:set>
                                    <p:anim to="" calcmode="lin" valueType="num">
                                      <p:cBhvr>
                                        <p:cTn id="12" dur="1" fill="hold"/>
                                        <p:tgtEl>
                                          <p:spTgt spid="2">
                                            <p:graphicEl>
                                              <a:dgm id="{8422932F-7FB9-4460-B9C5-53EC7266021D}"/>
                                            </p:graphic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2">
                                            <p:graphicEl>
                                              <a:dgm id="{AB8DD406-78B8-45A6-80E3-E7146FF542FB}"/>
                                            </p:graphicEl>
                                          </p:spTgt>
                                        </p:tgtEl>
                                        <p:attrNameLst>
                                          <p:attrName>style.visibility</p:attrName>
                                        </p:attrNameLst>
                                      </p:cBhvr>
                                      <p:to>
                                        <p:strVal val="visible"/>
                                      </p:to>
                                    </p:set>
                                    <p:anim to="" calcmode="lin" valueType="num">
                                      <p:cBhvr>
                                        <p:cTn id="17" dur="1" fill="hold"/>
                                        <p:tgtEl>
                                          <p:spTgt spid="2">
                                            <p:graphicEl>
                                              <a:dgm id="{AB8DD406-78B8-45A6-80E3-E7146FF542FB}"/>
                                            </p:graphicEl>
                                          </p:spTgt>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2">
                                            <p:graphicEl>
                                              <a:dgm id="{BB33CA64-17B6-4BC1-AB07-DF3C7FF61966}"/>
                                            </p:graphicEl>
                                          </p:spTgt>
                                        </p:tgtEl>
                                        <p:attrNameLst>
                                          <p:attrName>style.visibility</p:attrName>
                                        </p:attrNameLst>
                                      </p:cBhvr>
                                      <p:to>
                                        <p:strVal val="visible"/>
                                      </p:to>
                                    </p:set>
                                    <p:anim to="" calcmode="lin" valueType="num">
                                      <p:cBhvr>
                                        <p:cTn id="22" dur="1" fill="hold"/>
                                        <p:tgtEl>
                                          <p:spTgt spid="2">
                                            <p:graphicEl>
                                              <a:dgm id="{BB33CA64-17B6-4BC1-AB07-DF3C7FF61966}"/>
                                            </p:graphicEl>
                                          </p:spTgt>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2">
                                            <p:graphicEl>
                                              <a:dgm id="{91CE039E-392C-4567-9CAD-B26FD9B3283B}"/>
                                            </p:graphicEl>
                                          </p:spTgt>
                                        </p:tgtEl>
                                        <p:attrNameLst>
                                          <p:attrName>style.visibility</p:attrName>
                                        </p:attrNameLst>
                                      </p:cBhvr>
                                      <p:to>
                                        <p:strVal val="visible"/>
                                      </p:to>
                                    </p:set>
                                    <p:anim to="" calcmode="lin" valueType="num">
                                      <p:cBhvr>
                                        <p:cTn id="27" dur="1" fill="hold"/>
                                        <p:tgtEl>
                                          <p:spTgt spid="2">
                                            <p:graphicEl>
                                              <a:dgm id="{91CE039E-392C-4567-9CAD-B26FD9B3283B}"/>
                                            </p:graphic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70"/>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a:solidFill>
                  <a:srgbClr val="000000"/>
                </a:solidFill>
                <a:latin typeface="Microsoft Yahei"/>
                <a:ea typeface="Microsoft Yahei"/>
                <a:cs typeface="Microsoft Yahei"/>
                <a:sym typeface="Microsoft Yahei"/>
              </a:rPr>
              <a:t>b</a:t>
            </a:r>
            <a:r>
              <a:rPr lang="en-MY" sz="2800" b="0" i="0" u="none" strike="noStrike" cap="none">
                <a:solidFill>
                  <a:srgbClr val="000000"/>
                </a:solidFill>
                <a:latin typeface="Microsoft Yahei"/>
                <a:ea typeface="Microsoft Yahei"/>
                <a:cs typeface="Microsoft Yahei"/>
                <a:sym typeface="Microsoft Yahei"/>
              </a:rPr>
              <a:t>. Sumber Kewangan Jangka Pendek</a:t>
            </a:r>
            <a:endParaRPr sz="2800" b="0" i="0" u="none" strike="noStrike" cap="none">
              <a:solidFill>
                <a:srgbClr val="000000"/>
              </a:solidFill>
              <a:latin typeface="Microsoft Yahei"/>
              <a:ea typeface="Microsoft Yahei"/>
              <a:cs typeface="Microsoft Yahei"/>
              <a:sym typeface="Microsoft Yahei"/>
            </a:endParaRPr>
          </a:p>
        </p:txBody>
      </p:sp>
      <p:sp>
        <p:nvSpPr>
          <p:cNvPr id="513" name="Google Shape;513;p70"/>
          <p:cNvSpPr txBox="1"/>
          <p:nvPr/>
        </p:nvSpPr>
        <p:spPr>
          <a:xfrm>
            <a:off x="895506" y="1512593"/>
            <a:ext cx="10042570" cy="3785652"/>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1">
                <a:solidFill>
                  <a:srgbClr val="3F3F3F"/>
                </a:solidFill>
                <a:latin typeface="Microsoft Yahei"/>
                <a:ea typeface="Microsoft Yahei"/>
                <a:cs typeface="Microsoft Yahei"/>
                <a:sym typeface="Microsoft Yahei"/>
              </a:rPr>
              <a:t>Pinjaman Jangka Pendek</a:t>
            </a:r>
            <a:endParaRPr sz="2000" b="1" i="0" u="none" strike="noStrike" cap="none">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Merupakan pinjaman yang tempoh pembayarannya kurang dari setahun.</a:t>
            </a:r>
            <a:endParaRPr/>
          </a:p>
          <a:p>
            <a:pPr marL="358775" marR="0" lvl="0" indent="-231775" algn="just" rtl="0">
              <a:lnSpc>
                <a:spcPct val="150000"/>
              </a:lnSpc>
              <a:spcBef>
                <a:spcPts val="0"/>
              </a:spcBef>
              <a:spcAft>
                <a:spcPts val="0"/>
              </a:spcAft>
              <a:buClr>
                <a:schemeClr val="dk1"/>
              </a:buClr>
              <a:buSzPts val="2000"/>
              <a:buFont typeface="Arial"/>
              <a:buNone/>
            </a:pPr>
            <a:endParaRPr sz="200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Pinjaman yang ditawarkan oleh bank perdagangan kepada peniaga yang memerlukan pinjaman untuk tujuan tertentu.</a:t>
            </a:r>
            <a:endParaRPr/>
          </a:p>
          <a:p>
            <a:pPr marL="358775" marR="0" lvl="0" indent="-231775" algn="just" rtl="0">
              <a:lnSpc>
                <a:spcPct val="150000"/>
              </a:lnSpc>
              <a:spcBef>
                <a:spcPts val="0"/>
              </a:spcBef>
              <a:spcAft>
                <a:spcPts val="0"/>
              </a:spcAft>
              <a:buClr>
                <a:schemeClr val="dk1"/>
              </a:buClr>
              <a:buSzPts val="2000"/>
              <a:buFont typeface="Arial"/>
              <a:buNone/>
            </a:pPr>
            <a:endParaRPr sz="200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Merupakan pinjaman paling popular dan mudah dilakukan oleh peminjam.</a:t>
            </a:r>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71"/>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dirty="0">
                <a:solidFill>
                  <a:srgbClr val="000000"/>
                </a:solidFill>
                <a:latin typeface="Microsoft Yahei"/>
                <a:ea typeface="Microsoft Yahei"/>
                <a:cs typeface="Microsoft Yahei"/>
                <a:sym typeface="Microsoft Yahei"/>
              </a:rPr>
              <a:t>b</a:t>
            </a:r>
            <a:r>
              <a:rPr lang="en-MY" sz="2800" b="0" i="0" u="none" strike="noStrike" cap="none" dirty="0">
                <a:solidFill>
                  <a:srgbClr val="000000"/>
                </a:solidFill>
                <a:latin typeface="Microsoft Yahei"/>
                <a:ea typeface="Microsoft Yahei"/>
                <a:cs typeface="Microsoft Yahei"/>
                <a:sym typeface="Microsoft Yahei"/>
              </a:rPr>
              <a:t>. </a:t>
            </a:r>
            <a:r>
              <a:rPr lang="en-MY" sz="2800" b="0" i="0" u="none" strike="noStrike" cap="none" dirty="0" err="1">
                <a:solidFill>
                  <a:srgbClr val="000000"/>
                </a:solidFill>
                <a:latin typeface="Microsoft Yahei"/>
                <a:ea typeface="Microsoft Yahei"/>
                <a:cs typeface="Microsoft Yahei"/>
                <a:sym typeface="Microsoft Yahei"/>
              </a:rPr>
              <a:t>Sumber</a:t>
            </a:r>
            <a:r>
              <a:rPr lang="en-MY" sz="2800" b="0" i="0" u="none" strike="noStrike" cap="none" dirty="0">
                <a:solidFill>
                  <a:srgbClr val="000000"/>
                </a:solidFill>
                <a:latin typeface="Microsoft Yahei"/>
                <a:ea typeface="Microsoft Yahei"/>
                <a:cs typeface="Microsoft Yahei"/>
                <a:sym typeface="Microsoft Yahei"/>
              </a:rPr>
              <a:t> </a:t>
            </a:r>
            <a:r>
              <a:rPr lang="en-MY" sz="2800" b="0" i="0" u="none" strike="noStrike" cap="none" dirty="0" err="1">
                <a:solidFill>
                  <a:srgbClr val="000000"/>
                </a:solidFill>
                <a:latin typeface="Microsoft Yahei"/>
                <a:ea typeface="Microsoft Yahei"/>
                <a:cs typeface="Microsoft Yahei"/>
                <a:sym typeface="Microsoft Yahei"/>
              </a:rPr>
              <a:t>Kewangan</a:t>
            </a:r>
            <a:r>
              <a:rPr lang="en-MY" sz="2800" b="0" i="0" u="none" strike="noStrike" cap="none" dirty="0">
                <a:solidFill>
                  <a:srgbClr val="000000"/>
                </a:solidFill>
                <a:latin typeface="Microsoft Yahei"/>
                <a:ea typeface="Microsoft Yahei"/>
                <a:cs typeface="Microsoft Yahei"/>
                <a:sym typeface="Microsoft Yahei"/>
              </a:rPr>
              <a:t> </a:t>
            </a:r>
            <a:r>
              <a:rPr lang="en-MY" sz="2800" b="0" i="0" u="none" strike="noStrike" cap="none" dirty="0" err="1">
                <a:solidFill>
                  <a:srgbClr val="000000"/>
                </a:solidFill>
                <a:latin typeface="Microsoft Yahei"/>
                <a:ea typeface="Microsoft Yahei"/>
                <a:cs typeface="Microsoft Yahei"/>
                <a:sym typeface="Microsoft Yahei"/>
              </a:rPr>
              <a:t>Jangka</a:t>
            </a:r>
            <a:r>
              <a:rPr lang="en-MY" sz="2800" b="0" i="0" u="none" strike="noStrike" cap="none" dirty="0">
                <a:solidFill>
                  <a:srgbClr val="000000"/>
                </a:solidFill>
                <a:latin typeface="Microsoft Yahei"/>
                <a:ea typeface="Microsoft Yahei"/>
                <a:cs typeface="Microsoft Yahei"/>
                <a:sym typeface="Microsoft Yahei"/>
              </a:rPr>
              <a:t> </a:t>
            </a:r>
            <a:r>
              <a:rPr lang="en-MY" sz="2800" b="0" i="0" u="none" strike="noStrike" cap="none" dirty="0" err="1">
                <a:solidFill>
                  <a:srgbClr val="000000"/>
                </a:solidFill>
                <a:latin typeface="Microsoft Yahei"/>
                <a:ea typeface="Microsoft Yahei"/>
                <a:cs typeface="Microsoft Yahei"/>
                <a:sym typeface="Microsoft Yahei"/>
              </a:rPr>
              <a:t>Pendek</a:t>
            </a:r>
            <a:endParaRPr sz="2800" b="0" i="0" u="none" strike="noStrike" cap="none" dirty="0">
              <a:solidFill>
                <a:srgbClr val="000000"/>
              </a:solidFill>
              <a:latin typeface="Microsoft Yahei"/>
              <a:ea typeface="Microsoft Yahei"/>
              <a:cs typeface="Microsoft Yahei"/>
              <a:sym typeface="Microsoft Yahei"/>
            </a:endParaRPr>
          </a:p>
        </p:txBody>
      </p:sp>
      <p:sp>
        <p:nvSpPr>
          <p:cNvPr id="519" name="Google Shape;519;p71"/>
          <p:cNvSpPr txBox="1"/>
          <p:nvPr/>
        </p:nvSpPr>
        <p:spPr>
          <a:xfrm>
            <a:off x="895506" y="1512593"/>
            <a:ext cx="10042570" cy="3785652"/>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a:solidFill>
                  <a:srgbClr val="3F3F3F"/>
                </a:solidFill>
                <a:latin typeface="Microsoft Yahei"/>
                <a:ea typeface="Microsoft Yahei"/>
                <a:cs typeface="Microsoft Yahei"/>
                <a:sym typeface="Microsoft Yahei"/>
              </a:rPr>
              <a:t>Pinjaman Jangka Pendek</a:t>
            </a:r>
            <a:r>
              <a:rPr lang="en-MY" sz="2000" b="0" i="0" u="none" strike="noStrike" cap="none">
                <a:solidFill>
                  <a:srgbClr val="3F3F3F"/>
                </a:solidFill>
                <a:latin typeface="Microsoft Yahei"/>
                <a:ea typeface="Microsoft Yahei"/>
                <a:cs typeface="Microsoft Yahei"/>
                <a:sym typeface="Microsoft Yahei"/>
              </a:rPr>
              <a:t> </a:t>
            </a:r>
            <a:r>
              <a:rPr lang="en-MY" sz="2000" b="0" i="1" u="none" strike="noStrike" cap="none">
                <a:solidFill>
                  <a:srgbClr val="3F3F3F"/>
                </a:solidFill>
                <a:latin typeface="Microsoft Yahei"/>
                <a:ea typeface="Microsoft Yahei"/>
                <a:cs typeface="Microsoft Yahei"/>
                <a:sym typeface="Microsoft Yahei"/>
              </a:rPr>
              <a:t>(…sambungan)</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Ciri-ciri pinjaman jangka pendek ialah:</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Perlu dibayar balik beserta faedah dalam tempoh kurang dari setahun.</a:t>
            </a:r>
            <a:endParaRPr/>
          </a:p>
          <a:p>
            <a:pPr marL="717550" marR="0" lvl="1" indent="-231775" algn="just" rtl="0">
              <a:lnSpc>
                <a:spcPct val="150000"/>
              </a:lnSpc>
              <a:spcBef>
                <a:spcPts val="0"/>
              </a:spcBef>
              <a:spcAft>
                <a:spcPts val="0"/>
              </a:spcAft>
              <a:buClr>
                <a:schemeClr val="dk1"/>
              </a:buClr>
              <a:buSzPts val="2000"/>
              <a:buFont typeface="Noto Sans Symbols"/>
              <a:buNone/>
            </a:pPr>
            <a:endParaRPr sz="20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Boleh didapati dengan lebih mudah berbanding pinjaman jangka panjang.</a:t>
            </a:r>
            <a:endParaRPr/>
          </a:p>
          <a:p>
            <a:pPr marL="717550" marR="0" lvl="1" indent="-231775" algn="just" rtl="0">
              <a:lnSpc>
                <a:spcPct val="150000"/>
              </a:lnSpc>
              <a:spcBef>
                <a:spcPts val="0"/>
              </a:spcBef>
              <a:spcAft>
                <a:spcPts val="0"/>
              </a:spcAft>
              <a:buClr>
                <a:schemeClr val="dk1"/>
              </a:buClr>
              <a:buSzPts val="2000"/>
              <a:buFont typeface="Noto Sans Symbols"/>
              <a:buNone/>
            </a:pPr>
            <a:endParaRPr sz="20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Kadar faedahnya tidak stabil (turun naik) kerana risiko lebih tinggi.</a:t>
            </a:r>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72"/>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b. Sumber Kewangan Jangka Pendek</a:t>
            </a:r>
            <a:endParaRPr sz="2800" b="0" i="0" u="none" strike="noStrike" cap="none">
              <a:solidFill>
                <a:srgbClr val="000000"/>
              </a:solidFill>
              <a:latin typeface="Microsoft Yahei"/>
              <a:ea typeface="Microsoft Yahei"/>
              <a:cs typeface="Microsoft Yahei"/>
              <a:sym typeface="Microsoft Yahei"/>
            </a:endParaRPr>
          </a:p>
        </p:txBody>
      </p:sp>
      <p:sp>
        <p:nvSpPr>
          <p:cNvPr id="525" name="Google Shape;525;p72"/>
          <p:cNvSpPr txBox="1"/>
          <p:nvPr/>
        </p:nvSpPr>
        <p:spPr>
          <a:xfrm>
            <a:off x="895506" y="1512593"/>
            <a:ext cx="10042570" cy="3785652"/>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1" i="0" u="none" strike="noStrike" cap="none">
                <a:solidFill>
                  <a:srgbClr val="3F3F3F"/>
                </a:solidFill>
                <a:latin typeface="Microsoft Yahei"/>
                <a:ea typeface="Microsoft Yahei"/>
                <a:cs typeface="Microsoft Yahei"/>
                <a:sym typeface="Microsoft Yahei"/>
              </a:rPr>
              <a:t>Overdraf</a:t>
            </a:r>
            <a:endParaRPr sz="2000" b="1" i="0" u="none" strike="noStrike" cap="none">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Kemudahan kredit yang diberikan oleh bank perdagangan kepada pemegang akaun semasa untuk mengeluarkan wang melebihi baki yang terdapat dalam akaunnya setakat had yang ditetapkan.</a:t>
            </a:r>
            <a:endParaRPr/>
          </a:p>
          <a:p>
            <a:pPr marL="358775" marR="0" lvl="0" indent="-231775" algn="just" rtl="0">
              <a:lnSpc>
                <a:spcPct val="150000"/>
              </a:lnSpc>
              <a:spcBef>
                <a:spcPts val="0"/>
              </a:spcBef>
              <a:spcAft>
                <a:spcPts val="0"/>
              </a:spcAft>
              <a:buClr>
                <a:schemeClr val="dk1"/>
              </a:buClr>
              <a:buSzPts val="2000"/>
              <a:buFont typeface="Arial"/>
              <a:buNone/>
            </a:pPr>
            <a:endParaRPr sz="200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Faedah akan dikenakan berdasarkan jumlah yang dikeluarkan bukannya jumlah wang yang dibenar dikeluarkan.</a:t>
            </a:r>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73"/>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dirty="0">
                <a:solidFill>
                  <a:srgbClr val="000000"/>
                </a:solidFill>
                <a:latin typeface="Microsoft Yahei"/>
                <a:ea typeface="Microsoft Yahei"/>
                <a:cs typeface="Microsoft Yahei"/>
                <a:sym typeface="Microsoft Yahei"/>
              </a:rPr>
              <a:t>b. </a:t>
            </a:r>
            <a:r>
              <a:rPr lang="en-MY" sz="2800" b="0" i="0" u="none" strike="noStrike" cap="none" dirty="0" err="1">
                <a:solidFill>
                  <a:srgbClr val="000000"/>
                </a:solidFill>
                <a:latin typeface="Microsoft Yahei"/>
                <a:ea typeface="Microsoft Yahei"/>
                <a:cs typeface="Microsoft Yahei"/>
                <a:sym typeface="Microsoft Yahei"/>
              </a:rPr>
              <a:t>Sumber</a:t>
            </a:r>
            <a:r>
              <a:rPr lang="en-MY" sz="2800" b="0" i="0" u="none" strike="noStrike" cap="none" dirty="0">
                <a:solidFill>
                  <a:srgbClr val="000000"/>
                </a:solidFill>
                <a:latin typeface="Microsoft Yahei"/>
                <a:ea typeface="Microsoft Yahei"/>
                <a:cs typeface="Microsoft Yahei"/>
                <a:sym typeface="Microsoft Yahei"/>
              </a:rPr>
              <a:t> </a:t>
            </a:r>
            <a:r>
              <a:rPr lang="en-MY" sz="2800" b="0" i="0" u="none" strike="noStrike" cap="none" dirty="0" err="1">
                <a:solidFill>
                  <a:srgbClr val="000000"/>
                </a:solidFill>
                <a:latin typeface="Microsoft Yahei"/>
                <a:ea typeface="Microsoft Yahei"/>
                <a:cs typeface="Microsoft Yahei"/>
                <a:sym typeface="Microsoft Yahei"/>
              </a:rPr>
              <a:t>Kewangan</a:t>
            </a:r>
            <a:r>
              <a:rPr lang="en-MY" sz="2800" b="0" i="0" u="none" strike="noStrike" cap="none" dirty="0">
                <a:solidFill>
                  <a:srgbClr val="000000"/>
                </a:solidFill>
                <a:latin typeface="Microsoft Yahei"/>
                <a:ea typeface="Microsoft Yahei"/>
                <a:cs typeface="Microsoft Yahei"/>
                <a:sym typeface="Microsoft Yahei"/>
              </a:rPr>
              <a:t> </a:t>
            </a:r>
            <a:r>
              <a:rPr lang="en-MY" sz="2800" b="0" i="0" u="none" strike="noStrike" cap="none" dirty="0" err="1">
                <a:solidFill>
                  <a:srgbClr val="000000"/>
                </a:solidFill>
                <a:latin typeface="Microsoft Yahei"/>
                <a:ea typeface="Microsoft Yahei"/>
                <a:cs typeface="Microsoft Yahei"/>
                <a:sym typeface="Microsoft Yahei"/>
              </a:rPr>
              <a:t>Jangka</a:t>
            </a:r>
            <a:r>
              <a:rPr lang="en-MY" sz="2800" b="0" i="0" u="none" strike="noStrike" cap="none" dirty="0">
                <a:solidFill>
                  <a:srgbClr val="000000"/>
                </a:solidFill>
                <a:latin typeface="Microsoft Yahei"/>
                <a:ea typeface="Microsoft Yahei"/>
                <a:cs typeface="Microsoft Yahei"/>
                <a:sym typeface="Microsoft Yahei"/>
              </a:rPr>
              <a:t> </a:t>
            </a:r>
            <a:r>
              <a:rPr lang="en-MY" sz="2800" b="0" i="0" u="none" strike="noStrike" cap="none" dirty="0" err="1">
                <a:solidFill>
                  <a:srgbClr val="000000"/>
                </a:solidFill>
                <a:latin typeface="Microsoft Yahei"/>
                <a:ea typeface="Microsoft Yahei"/>
                <a:cs typeface="Microsoft Yahei"/>
                <a:sym typeface="Microsoft Yahei"/>
              </a:rPr>
              <a:t>Pendek</a:t>
            </a:r>
            <a:endParaRPr sz="2800" b="0" i="0" u="none" strike="noStrike" cap="none" dirty="0">
              <a:solidFill>
                <a:srgbClr val="000000"/>
              </a:solidFill>
              <a:latin typeface="Microsoft Yahei"/>
              <a:ea typeface="Microsoft Yahei"/>
              <a:cs typeface="Microsoft Yahei"/>
              <a:sym typeface="Microsoft Yahei"/>
            </a:endParaRPr>
          </a:p>
        </p:txBody>
      </p:sp>
      <p:sp>
        <p:nvSpPr>
          <p:cNvPr id="531" name="Google Shape;531;p73"/>
          <p:cNvSpPr txBox="1"/>
          <p:nvPr/>
        </p:nvSpPr>
        <p:spPr>
          <a:xfrm>
            <a:off x="895506" y="1512593"/>
            <a:ext cx="10042570" cy="4247317"/>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0" i="0" u="none" strike="noStrike" cap="none">
                <a:solidFill>
                  <a:srgbClr val="3F3F3F"/>
                </a:solidFill>
                <a:latin typeface="Microsoft Yahei"/>
                <a:ea typeface="Microsoft Yahei"/>
                <a:cs typeface="Microsoft Yahei"/>
                <a:sym typeface="Microsoft Yahei"/>
              </a:rPr>
              <a:t>Overdraf </a:t>
            </a:r>
            <a:r>
              <a:rPr lang="en-MY" sz="2000" b="0" i="1" u="none" strike="noStrike" cap="none">
                <a:solidFill>
                  <a:srgbClr val="3F3F3F"/>
                </a:solidFill>
                <a:latin typeface="Microsoft Yahei"/>
                <a:ea typeface="Microsoft Yahei"/>
                <a:cs typeface="Microsoft Yahei"/>
                <a:sym typeface="Microsoft Yahei"/>
              </a:rPr>
              <a:t>(…sambungan)</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Ciri-ciri overdraf ialah:</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Kadar faedahnya berubah-ubah dan wujud sebaik wang digunakan.</a:t>
            </a:r>
            <a:endParaRPr/>
          </a:p>
          <a:p>
            <a:pPr marL="717550" marR="0" lvl="1" indent="-231775" algn="just" rtl="0">
              <a:lnSpc>
                <a:spcPct val="150000"/>
              </a:lnSpc>
              <a:spcBef>
                <a:spcPts val="0"/>
              </a:spcBef>
              <a:spcAft>
                <a:spcPts val="0"/>
              </a:spcAft>
              <a:buClr>
                <a:schemeClr val="dk1"/>
              </a:buClr>
              <a:buSzPts val="2000"/>
              <a:buFont typeface="Noto Sans Symbols"/>
              <a:buNone/>
            </a:pPr>
            <a:endParaRPr sz="20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Pemberi pinjam menggunakan akaun belum terima dan inventori sebagai jaminan.</a:t>
            </a:r>
            <a:endParaRPr/>
          </a:p>
          <a:p>
            <a:pPr marL="717550" marR="0" lvl="1" indent="-231775" algn="just" rtl="0">
              <a:lnSpc>
                <a:spcPct val="150000"/>
              </a:lnSpc>
              <a:spcBef>
                <a:spcPts val="0"/>
              </a:spcBef>
              <a:spcAft>
                <a:spcPts val="0"/>
              </a:spcAft>
              <a:buClr>
                <a:schemeClr val="dk1"/>
              </a:buClr>
              <a:buSzPts val="2000"/>
              <a:buFont typeface="Noto Sans Symbols"/>
              <a:buNone/>
            </a:pPr>
            <a:endParaRPr sz="20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Ia lebih mudah didapati daripada pinjaman jangka pendek.</a:t>
            </a:r>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74"/>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b. Sumber Kewangan Jangka Pendek</a:t>
            </a:r>
            <a:endParaRPr sz="2800" b="0" i="0" u="none" strike="noStrike" cap="none">
              <a:solidFill>
                <a:srgbClr val="000000"/>
              </a:solidFill>
              <a:latin typeface="Microsoft Yahei"/>
              <a:ea typeface="Microsoft Yahei"/>
              <a:cs typeface="Microsoft Yahei"/>
              <a:sym typeface="Microsoft Yahei"/>
            </a:endParaRPr>
          </a:p>
        </p:txBody>
      </p:sp>
      <p:sp>
        <p:nvSpPr>
          <p:cNvPr id="537" name="Google Shape;537;p74"/>
          <p:cNvSpPr txBox="1"/>
          <p:nvPr/>
        </p:nvSpPr>
        <p:spPr>
          <a:xfrm>
            <a:off x="895506" y="1512593"/>
            <a:ext cx="10042570" cy="4247317"/>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1" i="0" u="none" strike="noStrike" cap="none">
                <a:solidFill>
                  <a:srgbClr val="3F3F3F"/>
                </a:solidFill>
                <a:latin typeface="Microsoft Yahei"/>
                <a:ea typeface="Microsoft Yahei"/>
                <a:cs typeface="Microsoft Yahei"/>
                <a:sym typeface="Microsoft Yahei"/>
              </a:rPr>
              <a:t>Kertas Komersil</a:t>
            </a:r>
            <a:endParaRPr sz="2000" b="1" i="0" u="none" strike="noStrike" cap="none">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Merupakan nota janji tidak bercagar yang dikeluarkan oleh pihak bank atau syarikat korporat bagai mendapatkan tunai. Dikeluarkan pada nilai lebih rendah dari nilai matang.</a:t>
            </a:r>
            <a:endParaRPr/>
          </a:p>
          <a:p>
            <a:pPr marL="358775" marR="0" lvl="0" indent="-231775" algn="just" rtl="0">
              <a:lnSpc>
                <a:spcPct val="150000"/>
              </a:lnSpc>
              <a:spcBef>
                <a:spcPts val="0"/>
              </a:spcBef>
              <a:spcAft>
                <a:spcPts val="0"/>
              </a:spcAft>
              <a:buClr>
                <a:schemeClr val="dk1"/>
              </a:buClr>
              <a:buSzPts val="2000"/>
              <a:buFont typeface="Arial"/>
              <a:buNone/>
            </a:pPr>
            <a:endParaRPr sz="200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Nota janji hutang jangka pendek yang diterbitkan oleh syarikat-syarikat besar lagi ternama, yang mempunyai kedudukan kewangan yang kukuh dan diyakini oleh pelabur.</a:t>
            </a:r>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75"/>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b. Sumber Kewangan Jangka Panjang</a:t>
            </a:r>
            <a:endParaRPr sz="2800" b="0" i="0" u="none" strike="noStrike" cap="none">
              <a:solidFill>
                <a:srgbClr val="000000"/>
              </a:solidFill>
              <a:latin typeface="Microsoft Yahei"/>
              <a:ea typeface="Microsoft Yahei"/>
              <a:cs typeface="Microsoft Yahei"/>
              <a:sym typeface="Microsoft Yahei"/>
            </a:endParaRPr>
          </a:p>
        </p:txBody>
      </p:sp>
      <p:sp>
        <p:nvSpPr>
          <p:cNvPr id="543" name="Google Shape;543;p75"/>
          <p:cNvSpPr txBox="1"/>
          <p:nvPr/>
        </p:nvSpPr>
        <p:spPr>
          <a:xfrm>
            <a:off x="895506" y="1512593"/>
            <a:ext cx="10042570" cy="4247317"/>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0" i="0" u="none" strike="noStrike" cap="none">
                <a:solidFill>
                  <a:srgbClr val="3F3F3F"/>
                </a:solidFill>
                <a:latin typeface="Microsoft Yahei"/>
                <a:ea typeface="Microsoft Yahei"/>
                <a:cs typeface="Microsoft Yahei"/>
                <a:sym typeface="Microsoft Yahei"/>
              </a:rPr>
              <a:t>Kertas Komersil </a:t>
            </a:r>
            <a:r>
              <a:rPr lang="en-MY" sz="2000" b="0" i="1" u="none" strike="noStrike" cap="none">
                <a:solidFill>
                  <a:srgbClr val="3F3F3F"/>
                </a:solidFill>
                <a:latin typeface="Microsoft Yahei"/>
                <a:ea typeface="Microsoft Yahei"/>
                <a:cs typeface="Microsoft Yahei"/>
                <a:sym typeface="Microsoft Yahei"/>
              </a:rPr>
              <a:t>(…sambungan)</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Ciri-ciri kertas komersil ialah:</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Tempoh matangnya antara satu hari hingga 9 bulan dengan kebiasaannya ialah 5 bulan. </a:t>
            </a:r>
            <a:endParaRPr/>
          </a:p>
          <a:p>
            <a:pPr marL="717550" marR="0" lvl="1" indent="-231775" algn="just" rtl="0">
              <a:lnSpc>
                <a:spcPct val="150000"/>
              </a:lnSpc>
              <a:spcBef>
                <a:spcPts val="0"/>
              </a:spcBef>
              <a:spcAft>
                <a:spcPts val="0"/>
              </a:spcAft>
              <a:buClr>
                <a:schemeClr val="dk1"/>
              </a:buClr>
              <a:buSzPts val="2000"/>
              <a:buFont typeface="Noto Sans Symbols"/>
              <a:buNone/>
            </a:pPr>
            <a:endParaRPr sz="20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Kadar faedah turun dan naik mengikut situasi penawaran dan permintaan.</a:t>
            </a:r>
            <a:endParaRPr/>
          </a:p>
          <a:p>
            <a:pPr marL="717550" marR="0" lvl="1" indent="-231775" algn="just" rtl="0">
              <a:lnSpc>
                <a:spcPct val="150000"/>
              </a:lnSpc>
              <a:spcBef>
                <a:spcPts val="0"/>
              </a:spcBef>
              <a:spcAft>
                <a:spcPts val="0"/>
              </a:spcAft>
              <a:buClr>
                <a:schemeClr val="dk1"/>
              </a:buClr>
              <a:buSzPts val="2000"/>
              <a:buFont typeface="Noto Sans Symbols"/>
              <a:buNone/>
            </a:pPr>
            <a:endParaRPr sz="20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Kebiasaannya dikeluarkan pada nilai diskaun daripada dan nilai muka. </a:t>
            </a:r>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76"/>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b. Sumber Kewangan Jangka Pendek</a:t>
            </a:r>
            <a:endParaRPr sz="2800" b="0" i="0" u="none" strike="noStrike" cap="none">
              <a:solidFill>
                <a:srgbClr val="000000"/>
              </a:solidFill>
              <a:latin typeface="Microsoft Yahei"/>
              <a:ea typeface="Microsoft Yahei"/>
              <a:cs typeface="Microsoft Yahei"/>
              <a:sym typeface="Microsoft Yahei"/>
            </a:endParaRPr>
          </a:p>
        </p:txBody>
      </p:sp>
      <p:sp>
        <p:nvSpPr>
          <p:cNvPr id="549" name="Google Shape;549;p76"/>
          <p:cNvSpPr txBox="1"/>
          <p:nvPr/>
        </p:nvSpPr>
        <p:spPr>
          <a:xfrm>
            <a:off x="895506" y="1512593"/>
            <a:ext cx="10042570" cy="5170646"/>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Microsoft Yahei"/>
              <a:buNone/>
            </a:pPr>
            <a:r>
              <a:rPr lang="en-MY" sz="2000" b="1" i="0" u="none" strike="noStrike" cap="none" dirty="0" err="1">
                <a:solidFill>
                  <a:srgbClr val="3F3F3F"/>
                </a:solidFill>
                <a:latin typeface="Microsoft Yahei"/>
                <a:ea typeface="Microsoft Yahei"/>
                <a:cs typeface="Microsoft Yahei"/>
                <a:sym typeface="Microsoft Yahei"/>
              </a:rPr>
              <a:t>Kredit</a:t>
            </a:r>
            <a:r>
              <a:rPr lang="en-MY" sz="2000" b="1" i="0" u="none" strike="noStrike" cap="none" dirty="0">
                <a:solidFill>
                  <a:srgbClr val="3F3F3F"/>
                </a:solidFill>
                <a:latin typeface="Microsoft Yahei"/>
                <a:ea typeface="Microsoft Yahei"/>
                <a:cs typeface="Microsoft Yahei"/>
                <a:sym typeface="Microsoft Yahei"/>
              </a:rPr>
              <a:t> </a:t>
            </a:r>
            <a:r>
              <a:rPr lang="en-MY" sz="2000" b="1" i="0" u="none" strike="noStrike" cap="none" dirty="0" err="1">
                <a:solidFill>
                  <a:srgbClr val="3F3F3F"/>
                </a:solidFill>
                <a:latin typeface="Microsoft Yahei"/>
                <a:ea typeface="Microsoft Yahei"/>
                <a:cs typeface="Microsoft Yahei"/>
                <a:sym typeface="Microsoft Yahei"/>
              </a:rPr>
              <a:t>Perdagangan</a:t>
            </a:r>
            <a:endParaRPr sz="2000" b="1" i="0" u="none" strike="noStrike" cap="none" dirty="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Kemudahan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kredit</a:t>
            </a:r>
            <a:r>
              <a:rPr lang="en-MY" sz="2000" dirty="0">
                <a:solidFill>
                  <a:srgbClr val="3F3F3F"/>
                </a:solidFill>
                <a:latin typeface="Microsoft Yahei"/>
                <a:ea typeface="Microsoft Yahei"/>
                <a:cs typeface="Microsoft Yahei"/>
                <a:sym typeface="Microsoft Yahei"/>
              </a:rPr>
              <a:t> yang </a:t>
            </a:r>
            <a:r>
              <a:rPr lang="en-MY" sz="2000" dirty="0" err="1">
                <a:solidFill>
                  <a:srgbClr val="3F3F3F"/>
                </a:solidFill>
                <a:latin typeface="Microsoft Yahei"/>
                <a:ea typeface="Microsoft Yahei"/>
                <a:cs typeface="Microsoft Yahei"/>
                <a:sym typeface="Microsoft Yahei"/>
              </a:rPr>
              <a:t>disediakan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oleh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pembekal</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kepada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peniaga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atau</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membeli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secara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hutang</a:t>
            </a:r>
            <a:r>
              <a:rPr lang="en-MY" sz="2000" dirty="0">
                <a:solidFill>
                  <a:srgbClr val="3F3F3F"/>
                </a:solidFill>
                <a:latin typeface="Microsoft Yahei"/>
                <a:ea typeface="Microsoft Yahei"/>
                <a:cs typeface="Microsoft Yahei"/>
                <a:sym typeface="Microsoft Yahei"/>
              </a:rPr>
              <a:t>.</a:t>
            </a:r>
            <a:endParaRPr dirty="0"/>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Direkodkan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sebagai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akaun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belum</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bayar</a:t>
            </a:r>
            <a:r>
              <a:rPr lang="en-MY" sz="2000" dirty="0">
                <a:solidFill>
                  <a:srgbClr val="3F3F3F"/>
                </a:solidFill>
                <a:latin typeface="Microsoft Yahei"/>
                <a:ea typeface="Microsoft Yahei"/>
                <a:cs typeface="Microsoft Yahei"/>
                <a:sym typeface="Microsoft Yahei"/>
              </a:rPr>
              <a:t>.</a:t>
            </a:r>
            <a:endParaRPr dirty="0"/>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Kemudahan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kredit</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ini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mudah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diperolehi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apabila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hubungan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peniaga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dengan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pembekal</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telah</a:t>
            </a:r>
            <a:r>
              <a:rPr lang="en-MY" sz="2000" dirty="0">
                <a:solidFill>
                  <a:srgbClr val="3F3F3F"/>
                </a:solidFill>
                <a:latin typeface="Microsoft Yahei"/>
                <a:ea typeface="Microsoft Yahei"/>
                <a:cs typeface="Microsoft Yahei"/>
                <a:sym typeface="Microsoft Yahei"/>
              </a:rPr>
              <a:t> lama </a:t>
            </a:r>
            <a:r>
              <a:rPr lang="en-MY" sz="2000" dirty="0" err="1">
                <a:solidFill>
                  <a:srgbClr val="3F3F3F"/>
                </a:solidFill>
                <a:latin typeface="Microsoft Yahei"/>
                <a:ea typeface="Microsoft Yahei"/>
                <a:cs typeface="Microsoft Yahei"/>
                <a:sym typeface="Microsoft Yahei"/>
              </a:rPr>
              <a:t>terjalin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serta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yakin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dengan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prestasi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peniaga</a:t>
            </a:r>
            <a:r>
              <a:rPr lang="en-MY" sz="2000" dirty="0">
                <a:solidFill>
                  <a:srgbClr val="3F3F3F"/>
                </a:solidFill>
                <a:latin typeface="Microsoft Yahei"/>
                <a:ea typeface="Microsoft Yahei"/>
                <a:cs typeface="Microsoft Yahei"/>
                <a:sym typeface="Microsoft Yahei"/>
              </a:rPr>
              <a:t>.</a:t>
            </a:r>
            <a:endParaRPr dirty="0"/>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Peniaga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tidak</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perlu</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membayar</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serta-merta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sehingga</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akhir</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tempoh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kredit</a:t>
            </a:r>
            <a:r>
              <a:rPr lang="en-MY" sz="2000" dirty="0">
                <a:solidFill>
                  <a:srgbClr val="3F3F3F"/>
                </a:solidFill>
                <a:latin typeface="Microsoft Yahei"/>
                <a:ea typeface="Microsoft Yahei"/>
                <a:cs typeface="Microsoft Yahei"/>
                <a:sym typeface="Microsoft Yahei"/>
              </a:rPr>
              <a:t>.</a:t>
            </a:r>
            <a:endParaRPr dirty="0"/>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Contoh</a:t>
            </a:r>
            <a:r>
              <a:rPr lang="en-MY" sz="2000" dirty="0">
                <a:solidFill>
                  <a:srgbClr val="3F3F3F"/>
                </a:solidFill>
                <a:latin typeface="Microsoft Yahei"/>
                <a:ea typeface="Microsoft Yahei"/>
                <a:cs typeface="Microsoft Yahei"/>
                <a:sym typeface="Microsoft Yahei"/>
              </a:rPr>
              <a:t>: 2/10 net 30, </a:t>
            </a:r>
            <a:r>
              <a:rPr lang="en-MY" sz="2000" dirty="0" err="1">
                <a:solidFill>
                  <a:srgbClr val="3F3F3F"/>
                </a:solidFill>
                <a:latin typeface="Microsoft Yahei"/>
                <a:ea typeface="Microsoft Yahei"/>
                <a:cs typeface="Microsoft Yahei"/>
                <a:sym typeface="Microsoft Yahei"/>
              </a:rPr>
              <a:t>sekiranya</a:t>
            </a:r>
            <a:r>
              <a:rPr lang="en-MY" sz="2000" dirty="0">
                <a:solidFill>
                  <a:srgbClr val="3F3F3F"/>
                </a:solidFill>
                <a:latin typeface="Microsoft Yahei"/>
                <a:ea typeface="Microsoft Yahei"/>
                <a:cs typeface="Microsoft Yahei"/>
                <a:sym typeface="Microsoft Yahei"/>
              </a:rPr>
              <a:t> firma </a:t>
            </a:r>
            <a:r>
              <a:rPr lang="en-MY" sz="2000" dirty="0" err="1">
                <a:solidFill>
                  <a:srgbClr val="3F3F3F"/>
                </a:solidFill>
                <a:latin typeface="Microsoft Yahei"/>
                <a:ea typeface="Microsoft Yahei"/>
                <a:cs typeface="Microsoft Yahei"/>
                <a:sym typeface="Microsoft Yahei"/>
              </a:rPr>
              <a:t>membayar</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dalam</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tempoh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kurang</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dari</a:t>
            </a:r>
            <a:r>
              <a:rPr lang="en-MY" sz="2000" dirty="0">
                <a:solidFill>
                  <a:srgbClr val="3F3F3F"/>
                </a:solidFill>
                <a:latin typeface="Microsoft Yahei"/>
                <a:ea typeface="Microsoft Yahei"/>
                <a:cs typeface="Microsoft Yahei"/>
                <a:sym typeface="Microsoft Yahei"/>
              </a:rPr>
              <a:t> 10 </a:t>
            </a:r>
            <a:r>
              <a:rPr lang="en-MY" sz="2000" dirty="0" err="1">
                <a:solidFill>
                  <a:srgbClr val="3F3F3F"/>
                </a:solidFill>
                <a:latin typeface="Microsoft Yahei"/>
                <a:ea typeface="Microsoft Yahei"/>
                <a:cs typeface="Microsoft Yahei"/>
                <a:sym typeface="Microsoft Yahei"/>
              </a:rPr>
              <a:t>hari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layak</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untuk</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mendapat</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diskaun</a:t>
            </a:r>
            <a:r>
              <a:rPr lang="en-MY" sz="2000" dirty="0">
                <a:solidFill>
                  <a:srgbClr val="3F3F3F"/>
                </a:solidFill>
                <a:latin typeface="Microsoft Yahei"/>
                <a:ea typeface="Microsoft Yahei"/>
                <a:cs typeface="Microsoft Yahei"/>
                <a:sym typeface="Microsoft Yahei"/>
              </a:rPr>
              <a:t> 2%, </a:t>
            </a:r>
            <a:r>
              <a:rPr lang="en-MY" sz="2000" dirty="0" err="1">
                <a:solidFill>
                  <a:srgbClr val="3F3F3F"/>
                </a:solidFill>
                <a:latin typeface="Microsoft Yahei"/>
                <a:ea typeface="Microsoft Yahei"/>
                <a:cs typeface="Microsoft Yahei"/>
                <a:sym typeface="Microsoft Yahei"/>
              </a:rPr>
              <a:t>dan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perlu</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menjelaskan</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bil</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dalam</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tempoh</a:t>
            </a:r>
            <a:r>
              <a:rPr lang="en-MY" sz="2000" dirty="0">
                <a:solidFill>
                  <a:srgbClr val="3F3F3F"/>
                </a:solidFill>
                <a:latin typeface="Microsoft Yahei"/>
                <a:ea typeface="Microsoft Yahei"/>
                <a:cs typeface="Microsoft Yahei"/>
                <a:sym typeface="Microsoft Yahei"/>
              </a:rPr>
              <a:t> 30 </a:t>
            </a:r>
            <a:r>
              <a:rPr lang="en-MY" sz="2000" dirty="0" err="1">
                <a:solidFill>
                  <a:srgbClr val="3F3F3F"/>
                </a:solidFill>
                <a:latin typeface="Microsoft Yahei"/>
                <a:ea typeface="Microsoft Yahei"/>
                <a:cs typeface="Microsoft Yahei"/>
                <a:sym typeface="Microsoft Yahei"/>
              </a:rPr>
              <a:t>hari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dari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tarikh</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invois</a:t>
            </a:r>
            <a:r>
              <a:rPr lang="en-MY" sz="2000" dirty="0">
                <a:solidFill>
                  <a:srgbClr val="3F3F3F"/>
                </a:solidFill>
                <a:latin typeface="Microsoft Yahei"/>
                <a:ea typeface="Microsoft Yahei"/>
                <a:cs typeface="Microsoft Yahei"/>
                <a:sym typeface="Microsoft Yahei"/>
              </a:rPr>
              <a:t>.</a:t>
            </a:r>
            <a:endParaRPr dirty="0"/>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dirty="0">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78"/>
          <p:cNvSpPr txBox="1"/>
          <p:nvPr/>
        </p:nvSpPr>
        <p:spPr>
          <a:xfrm>
            <a:off x="1620457" y="517993"/>
            <a:ext cx="8646288"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Microsoft Yahei"/>
              <a:buNone/>
            </a:pPr>
            <a:r>
              <a:rPr lang="en-MY" sz="2400" b="0" i="0" u="none" strike="noStrike" cap="none">
                <a:solidFill>
                  <a:srgbClr val="000000"/>
                </a:solidFill>
                <a:latin typeface="Microsoft Yahei"/>
                <a:ea typeface="Microsoft Yahei"/>
                <a:cs typeface="Microsoft Yahei"/>
                <a:sym typeface="Microsoft Yahei"/>
              </a:rPr>
              <a:t>b. Perbezaan Sumber Kewangan Jangka Pendek</a:t>
            </a:r>
            <a:endParaRPr sz="2400" b="0" i="0" u="none" strike="noStrike" cap="none">
              <a:solidFill>
                <a:srgbClr val="000000"/>
              </a:solidFill>
              <a:latin typeface="Microsoft Yahei"/>
              <a:ea typeface="Microsoft Yahei"/>
              <a:cs typeface="Microsoft Yahei"/>
              <a:sym typeface="Microsoft Yahei"/>
            </a:endParaRPr>
          </a:p>
        </p:txBody>
      </p:sp>
      <p:graphicFrame>
        <p:nvGraphicFramePr>
          <p:cNvPr id="561" name="Google Shape;561;p78"/>
          <p:cNvGraphicFramePr/>
          <p:nvPr/>
        </p:nvGraphicFramePr>
        <p:xfrm>
          <a:off x="470848" y="993810"/>
          <a:ext cx="10945500" cy="5761230"/>
        </p:xfrm>
        <a:graphic>
          <a:graphicData uri="http://schemas.openxmlformats.org/drawingml/2006/table">
            <a:tbl>
              <a:tblPr>
                <a:noFill/>
                <a:tableStyleId>{767E9722-4C11-4960-AF74-AE0269A20F23}</a:tableStyleId>
              </a:tblPr>
              <a:tblGrid>
                <a:gridCol w="1565625">
                  <a:extLst>
                    <a:ext uri="{9D8B030D-6E8A-4147-A177-3AD203B41FA5}">
                      <a16:colId xmlns:a16="http://schemas.microsoft.com/office/drawing/2014/main" val="20000"/>
                    </a:ext>
                  </a:extLst>
                </a:gridCol>
                <a:gridCol w="2744900">
                  <a:extLst>
                    <a:ext uri="{9D8B030D-6E8A-4147-A177-3AD203B41FA5}">
                      <a16:colId xmlns:a16="http://schemas.microsoft.com/office/drawing/2014/main" val="20001"/>
                    </a:ext>
                  </a:extLst>
                </a:gridCol>
                <a:gridCol w="1886850">
                  <a:extLst>
                    <a:ext uri="{9D8B030D-6E8A-4147-A177-3AD203B41FA5}">
                      <a16:colId xmlns:a16="http://schemas.microsoft.com/office/drawing/2014/main" val="20002"/>
                    </a:ext>
                  </a:extLst>
                </a:gridCol>
                <a:gridCol w="2600600">
                  <a:extLst>
                    <a:ext uri="{9D8B030D-6E8A-4147-A177-3AD203B41FA5}">
                      <a16:colId xmlns:a16="http://schemas.microsoft.com/office/drawing/2014/main" val="20003"/>
                    </a:ext>
                  </a:extLst>
                </a:gridCol>
                <a:gridCol w="2147525">
                  <a:extLst>
                    <a:ext uri="{9D8B030D-6E8A-4147-A177-3AD203B41FA5}">
                      <a16:colId xmlns:a16="http://schemas.microsoft.com/office/drawing/2014/main" val="20004"/>
                    </a:ext>
                  </a:extLst>
                </a:gridCol>
              </a:tblGrid>
              <a:tr h="540450">
                <a:tc>
                  <a:txBody>
                    <a:bodyPr/>
                    <a:lstStyle/>
                    <a:p>
                      <a:pPr marL="0" marR="0" lvl="0" indent="0" algn="ctr"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Sumber Kewangan</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MY" sz="1400" u="none" strike="noStrike" cap="none">
                          <a:latin typeface="Arial"/>
                          <a:ea typeface="Arial"/>
                          <a:cs typeface="Arial"/>
                          <a:sym typeface="Arial"/>
                        </a:rPr>
                        <a:t>Pinjaman Jangka Pendek</a:t>
                      </a:r>
                      <a:endParaRPr sz="1400" u="none" strike="noStrike" cap="none">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400"/>
                        <a:buFont typeface="Arial"/>
                        <a:buNone/>
                      </a:pPr>
                      <a:r>
                        <a:rPr lang="en-MY" sz="1400" u="none" strike="noStrike" cap="none">
                          <a:latin typeface="Arial"/>
                          <a:ea typeface="Arial"/>
                          <a:cs typeface="Arial"/>
                          <a:sym typeface="Arial"/>
                        </a:rPr>
                        <a:t>Kertas Komersil</a:t>
                      </a:r>
                      <a:endParaRPr sz="1400" u="none" strike="noStrike" cap="none">
                        <a:latin typeface="Arial"/>
                        <a:ea typeface="Arial"/>
                        <a:cs typeface="Arial"/>
                        <a:sym typeface="Arial"/>
                      </a:endParaRPr>
                    </a:p>
                    <a:p>
                      <a:pPr marL="0" marR="0" lvl="0" indent="0" algn="ctr" rtl="0">
                        <a:lnSpc>
                          <a:spcPct val="100000"/>
                        </a:lnSpc>
                        <a:spcBef>
                          <a:spcPts val="0"/>
                        </a:spcBef>
                        <a:spcAft>
                          <a:spcPts val="0"/>
                        </a:spcAft>
                        <a:buClr>
                          <a:schemeClr val="dk1"/>
                        </a:buClr>
                        <a:buSzPts val="1400"/>
                        <a:buFont typeface="Microsoft Yahei"/>
                        <a:buNone/>
                      </a:pPr>
                      <a:endParaRPr sz="1400" u="none" strike="noStrike" cap="none">
                        <a:solidFill>
                          <a:schemeClr val="lt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MY" sz="1400" u="none" strike="noStrike" cap="none">
                          <a:latin typeface="Arial"/>
                          <a:ea typeface="Arial"/>
                          <a:cs typeface="Arial"/>
                          <a:sym typeface="Arial"/>
                        </a:rPr>
                        <a:t>Kredit Perdagangan</a:t>
                      </a:r>
                      <a:endParaRPr sz="1400" u="none" strike="noStrike" cap="none">
                        <a:latin typeface="Arial"/>
                        <a:ea typeface="Arial"/>
                        <a:cs typeface="Arial"/>
                        <a:sym typeface="Arial"/>
                      </a:endParaRPr>
                    </a:p>
                    <a:p>
                      <a:pPr marL="0" marR="0" lvl="0" indent="0" algn="ctr" rtl="0">
                        <a:lnSpc>
                          <a:spcPct val="100000"/>
                        </a:lnSpc>
                        <a:spcBef>
                          <a:spcPts val="0"/>
                        </a:spcBef>
                        <a:spcAft>
                          <a:spcPts val="0"/>
                        </a:spcAft>
                        <a:buClr>
                          <a:schemeClr val="dk1"/>
                        </a:buClr>
                        <a:buSzPts val="1400"/>
                        <a:buFont typeface="Microsoft Yahei"/>
                        <a:buNone/>
                      </a:pPr>
                      <a:endParaRPr sz="1400" u="none" strike="noStrike" cap="none">
                        <a:solidFill>
                          <a:schemeClr val="lt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MY" sz="1400" u="none" strike="noStrike" cap="none">
                          <a:latin typeface="Arial"/>
                          <a:ea typeface="Arial"/>
                          <a:cs typeface="Arial"/>
                          <a:sym typeface="Arial"/>
                        </a:rPr>
                        <a:t>Overdraf</a:t>
                      </a:r>
                      <a:endParaRPr sz="1400" u="none" strike="noStrike" cap="none">
                        <a:solidFill>
                          <a:schemeClr val="lt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887725">
                <a:tc>
                  <a:txBody>
                    <a:bodyPr/>
                    <a:lstStyle/>
                    <a:p>
                      <a:pPr marL="0" marR="0" lvl="0" indent="0" algn="l" rtl="0">
                        <a:lnSpc>
                          <a:spcPct val="100000"/>
                        </a:lnSpc>
                        <a:spcBef>
                          <a:spcPts val="0"/>
                        </a:spcBef>
                        <a:spcAft>
                          <a:spcPts val="0"/>
                        </a:spcAft>
                        <a:buClr>
                          <a:srgbClr val="000000"/>
                        </a:buClr>
                        <a:buSzPts val="1400"/>
                        <a:buFont typeface="Arial"/>
                        <a:buNone/>
                      </a:pPr>
                      <a:r>
                        <a:rPr lang="en-MY" sz="1400" u="none" strike="noStrike" cap="none">
                          <a:solidFill>
                            <a:schemeClr val="dk1"/>
                          </a:solidFill>
                          <a:latin typeface="Arial"/>
                          <a:ea typeface="Arial"/>
                          <a:cs typeface="Arial"/>
                          <a:sym typeface="Arial"/>
                        </a:rPr>
                        <a:t>Jenis Institusi yang menawarkan</a:t>
                      </a:r>
                      <a:endParaRPr sz="140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400"/>
                        <a:buFont typeface="Microsoft Yahei"/>
                        <a:buNone/>
                      </a:pP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MY" sz="1400" u="none" strike="noStrike" cap="none">
                          <a:latin typeface="Arial"/>
                          <a:ea typeface="Arial"/>
                          <a:cs typeface="Arial"/>
                          <a:sym typeface="Arial"/>
                        </a:rPr>
                        <a:t>Bank Perdagangan, Bank Islam, Bank Pelaburan dan Institusi Kewangan Bukan Bank</a:t>
                      </a:r>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latin typeface="Arial"/>
                          <a:ea typeface="Arial"/>
                          <a:cs typeface="Arial"/>
                          <a:sym typeface="Arial"/>
                        </a:rPr>
                        <a:t>Bank Perdagangan,</a:t>
                      </a:r>
                      <a:endParaRPr/>
                    </a:p>
                    <a:p>
                      <a:pPr marL="0" marR="0" lvl="0" indent="0" algn="l" rtl="0">
                        <a:lnSpc>
                          <a:spcPct val="100000"/>
                        </a:lnSpc>
                        <a:spcBef>
                          <a:spcPts val="0"/>
                        </a:spcBef>
                        <a:spcAft>
                          <a:spcPts val="0"/>
                        </a:spcAft>
                        <a:buClr>
                          <a:schemeClr val="dk1"/>
                        </a:buClr>
                        <a:buSzPts val="1400"/>
                        <a:buFont typeface="Arial"/>
                        <a:buNone/>
                      </a:pPr>
                      <a:r>
                        <a:rPr lang="en-MY" sz="1400" u="none" strike="noStrike" cap="none">
                          <a:latin typeface="Arial"/>
                          <a:ea typeface="Arial"/>
                          <a:cs typeface="Arial"/>
                          <a:sym typeface="Arial"/>
                        </a:rPr>
                        <a:t>Institusi Swasta Ternama</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latin typeface="Arial"/>
                          <a:ea typeface="Arial"/>
                          <a:cs typeface="Arial"/>
                          <a:sym typeface="Arial"/>
                        </a:rPr>
                        <a:t>Pembekal (syarikat swasta)</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latin typeface="Arial"/>
                          <a:ea typeface="Arial"/>
                          <a:cs typeface="Arial"/>
                          <a:sym typeface="Arial"/>
                        </a:rPr>
                        <a:t>Bank perdagangan konvensional/ islamik</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938525">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Jenis Peserta</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latin typeface="Arial"/>
                          <a:ea typeface="Arial"/>
                          <a:cs typeface="Arial"/>
                          <a:sym typeface="Arial"/>
                        </a:rPr>
                        <a:t>Peminjam yang terdiri daripada individu atau pihak institusi</a:t>
                      </a:r>
                      <a:endParaRPr sz="1400" b="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MY" sz="1400" u="none" strike="noStrike" cap="none">
                          <a:latin typeface="Arial"/>
                          <a:ea typeface="Arial"/>
                          <a:cs typeface="Arial"/>
                          <a:sym typeface="Arial"/>
                        </a:rPr>
                        <a:t>Pelabur yang terdiri daripada individu atau pihak institusi</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MY" sz="1400" u="none" strike="noStrike" cap="none">
                          <a:latin typeface="Arial"/>
                          <a:ea typeface="Arial"/>
                          <a:cs typeface="Arial"/>
                          <a:sym typeface="Arial"/>
                        </a:rPr>
                        <a:t>Peniaga (Borong atau Runcit)</a:t>
                      </a:r>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MY" sz="1400" u="none" strike="noStrike" cap="none">
                          <a:latin typeface="Arial"/>
                          <a:ea typeface="Arial"/>
                          <a:cs typeface="Arial"/>
                          <a:sym typeface="Arial"/>
                        </a:rPr>
                        <a:t>Pemegang akaun semasa di bank tersebut yang cukup kelayakannya</a:t>
                      </a:r>
                      <a:endParaRPr sz="1400" u="none" strike="noStrike" cap="none">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953800">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Tempoh matang</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MY" sz="1400" u="none" strike="noStrike" cap="none">
                          <a:latin typeface="Arial"/>
                          <a:ea typeface="Arial"/>
                          <a:cs typeface="Arial"/>
                          <a:sym typeface="Arial"/>
                        </a:rPr>
                        <a:t>Biasanya dalam tempoh bulanan seperti 9 bulan tetapi tidak melebihi setahun</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latin typeface="Arial"/>
                          <a:ea typeface="Arial"/>
                          <a:cs typeface="Arial"/>
                          <a:sym typeface="Arial"/>
                        </a:rPr>
                        <a:t>1 hingga 9 bulan</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latin typeface="Arial"/>
                          <a:ea typeface="Arial"/>
                          <a:cs typeface="Arial"/>
                          <a:sym typeface="Arial"/>
                        </a:rPr>
                        <a:t>Tempoh biasanya tidak melebihi satu bulan</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latin typeface="Arial"/>
                          <a:ea typeface="Arial"/>
                          <a:cs typeface="Arial"/>
                          <a:sym typeface="Arial"/>
                        </a:rPr>
                        <a:t>Tempoh caj ini akan berterusan selagi pinjaman tidak habis dibayar</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188600">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Kadar faedah/Kos</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MY" sz="1400" b="0" i="0" u="none" strike="noStrike" cap="none">
                          <a:solidFill>
                            <a:schemeClr val="dk1"/>
                          </a:solidFill>
                          <a:latin typeface="Arial"/>
                          <a:ea typeface="Arial"/>
                          <a:cs typeface="Arial"/>
                          <a:sym typeface="Arial"/>
                        </a:rPr>
                        <a:t>Tinggi kerana tempoh pinjaman yang singkat</a:t>
                      </a:r>
                      <a:endParaRPr sz="1400" b="0" i="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Bergantung kepada tujuan ia dikeluarkan. Jika pinjaman untuk projek berisiko, maka kadar faedah tinggi</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Kos wujud apabila peminjam tidak mengambil diskaun</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solidFill>
                            <a:schemeClr val="dk1"/>
                          </a:solidFill>
                          <a:latin typeface="Arial"/>
                          <a:ea typeface="Arial"/>
                          <a:cs typeface="Arial"/>
                          <a:sym typeface="Arial"/>
                        </a:rPr>
                        <a:t>Bergantung kepada jumlah pinjaman dan jenis bank</a:t>
                      </a:r>
                      <a:endParaRPr sz="1400" u="none" strike="noStrike" cap="none">
                        <a:solidFill>
                          <a:schemeClr val="dk1"/>
                        </a:solidFill>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1188600">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latin typeface="Arial"/>
                          <a:ea typeface="Arial"/>
                          <a:cs typeface="Arial"/>
                          <a:sym typeface="Arial"/>
                        </a:rPr>
                        <a:t>Risiko</a:t>
                      </a:r>
                      <a:endParaRPr sz="1400" u="none" strike="noStrike" cap="none">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latin typeface="Arial"/>
                          <a:ea typeface="Arial"/>
                          <a:cs typeface="Arial"/>
                          <a:sym typeface="Arial"/>
                        </a:rPr>
                        <a:t>Tinggi kepada pembiaya kerana tiada cagaran dari peminjam</a:t>
                      </a:r>
                      <a:endParaRPr sz="1400" u="none" strike="noStrike" cap="none">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latin typeface="Arial"/>
                          <a:ea typeface="Arial"/>
                          <a:cs typeface="Arial"/>
                          <a:sym typeface="Arial"/>
                        </a:rPr>
                        <a:t>Rendah kerana syarikat yang meminjam adalah ternama (goodwill)</a:t>
                      </a:r>
                      <a:endParaRPr sz="1400" u="none" strike="noStrike" cap="none">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latin typeface="Arial"/>
                          <a:ea typeface="Arial"/>
                          <a:cs typeface="Arial"/>
                          <a:sym typeface="Arial"/>
                        </a:rPr>
                        <a:t>Tinggi kerana pembekal memberi atas dasar kepercayaan dan tiada cagaran</a:t>
                      </a:r>
                      <a:endParaRPr sz="1400" u="none" strike="noStrike" cap="none">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Arial"/>
                        <a:buNone/>
                      </a:pPr>
                      <a:r>
                        <a:rPr lang="en-MY" sz="1400" u="none" strike="noStrike" cap="none">
                          <a:latin typeface="Arial"/>
                          <a:ea typeface="Arial"/>
                          <a:cs typeface="Arial"/>
                          <a:sym typeface="Arial"/>
                        </a:rPr>
                        <a:t>Rendah kepada pembiaya kerana mempunyai cagaran</a:t>
                      </a:r>
                      <a:endParaRPr sz="1400" u="none" strike="noStrike" cap="none">
                        <a:latin typeface="Arial"/>
                        <a:ea typeface="Arial"/>
                        <a:cs typeface="Arial"/>
                        <a:sym typeface="Arial"/>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79"/>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c. Kos Pembiayaan</a:t>
            </a:r>
            <a:endParaRPr sz="2800" b="0" i="0" u="none" strike="noStrike" cap="none">
              <a:solidFill>
                <a:srgbClr val="000000"/>
              </a:solidFill>
              <a:latin typeface="Microsoft Yahei"/>
              <a:ea typeface="Microsoft Yahei"/>
              <a:cs typeface="Microsoft Yahei"/>
              <a:sym typeface="Microsoft Yahei"/>
            </a:endParaRPr>
          </a:p>
        </p:txBody>
      </p:sp>
      <p:sp>
        <p:nvSpPr>
          <p:cNvPr id="567" name="Google Shape;567;p79"/>
          <p:cNvSpPr txBox="1"/>
          <p:nvPr/>
        </p:nvSpPr>
        <p:spPr>
          <a:xfrm>
            <a:off x="895506" y="1512593"/>
            <a:ext cx="10042570" cy="5170646"/>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Secara umumnya, kos pembiayaan merupakan kadar faedah dan lain-lain belanja atas pembiayaan/peminjaman sesuatu dana. </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Dikategorikan kepada tiga item iaitu:</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Kadar faedah </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Kos pengapungan </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Duti setem </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Setiap jenis pembiayaan mempunyai kos-kos tertentu yang mungkin berbeza dengan yang lain.</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Contohnya, penerbitan saham akan melibatkan tanggungan kos pengapungan dan duti setem manakala pinjaman jangka pendek akan melibatkan kadar faedah dan duti setem.</a:t>
            </a:r>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80"/>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dirty="0">
                <a:solidFill>
                  <a:srgbClr val="000000"/>
                </a:solidFill>
                <a:latin typeface="Microsoft Yahei"/>
                <a:ea typeface="Microsoft Yahei"/>
                <a:cs typeface="Microsoft Yahei"/>
                <a:sym typeface="Microsoft Yahei"/>
              </a:rPr>
              <a:t>c. Kos </a:t>
            </a:r>
            <a:r>
              <a:rPr lang="en-MY" sz="2800" b="0" i="0" u="none" strike="noStrike" cap="none" dirty="0" err="1">
                <a:solidFill>
                  <a:srgbClr val="000000"/>
                </a:solidFill>
                <a:latin typeface="Microsoft Yahei"/>
                <a:ea typeface="Microsoft Yahei"/>
                <a:cs typeface="Microsoft Yahei"/>
                <a:sym typeface="Microsoft Yahei"/>
              </a:rPr>
              <a:t>Pembiayaan</a:t>
            </a:r>
            <a:endParaRPr sz="2800" b="0" i="0" u="none" strike="noStrike" cap="none" dirty="0">
              <a:solidFill>
                <a:srgbClr val="000000"/>
              </a:solidFill>
              <a:latin typeface="Microsoft Yahei"/>
              <a:ea typeface="Microsoft Yahei"/>
              <a:cs typeface="Microsoft Yahei"/>
              <a:sym typeface="Microsoft Yahei"/>
            </a:endParaRPr>
          </a:p>
        </p:txBody>
      </p:sp>
      <p:sp>
        <p:nvSpPr>
          <p:cNvPr id="573" name="Google Shape;573;p80"/>
          <p:cNvSpPr txBox="1"/>
          <p:nvPr/>
        </p:nvSpPr>
        <p:spPr>
          <a:xfrm>
            <a:off x="895505" y="1272046"/>
            <a:ext cx="10042570" cy="5632311"/>
          </a:xfrm>
          <a:prstGeom prst="rect">
            <a:avLst/>
          </a:prstGeom>
          <a:noFill/>
          <a:ln>
            <a:noFill/>
          </a:ln>
        </p:spPr>
        <p:txBody>
          <a:bodyPr spcFirstLastPara="1" wrap="square" lIns="91425" tIns="45700" rIns="91425" bIns="45700" anchor="t" anchorCtr="0">
            <a:spAutoFit/>
          </a:bodyPr>
          <a:lstStyle/>
          <a:p>
            <a:pPr marL="358775" marR="0" lvl="0" indent="-358775" algn="just" rtl="0">
              <a:lnSpc>
                <a:spcPct val="150000"/>
              </a:lnSpc>
              <a:spcBef>
                <a:spcPts val="0"/>
              </a:spcBef>
              <a:spcAft>
                <a:spcPts val="0"/>
              </a:spcAft>
              <a:buClr>
                <a:srgbClr val="3F3F3F"/>
              </a:buClr>
              <a:buSzPts val="2000"/>
              <a:buFont typeface="Arial"/>
              <a:buChar char="•"/>
            </a:pPr>
            <a:r>
              <a:rPr lang="en-MY" sz="2000" dirty="0">
                <a:solidFill>
                  <a:srgbClr val="3F3F3F"/>
                </a:solidFill>
                <a:latin typeface="Microsoft Yahei"/>
                <a:ea typeface="Microsoft Yahei"/>
                <a:cs typeface="Microsoft Yahei"/>
                <a:sym typeface="Microsoft Yahei"/>
              </a:rPr>
              <a:t>Kadar </a:t>
            </a:r>
            <a:r>
              <a:rPr lang="en-MY" sz="2000" dirty="0" err="1">
                <a:solidFill>
                  <a:srgbClr val="3F3F3F"/>
                </a:solidFill>
                <a:latin typeface="Microsoft Yahei"/>
                <a:ea typeface="Microsoft Yahei"/>
                <a:cs typeface="Microsoft Yahei"/>
                <a:sym typeface="Microsoft Yahei"/>
              </a:rPr>
              <a:t>faedah</a:t>
            </a:r>
            <a:r>
              <a:rPr lang="en-MY" sz="2000" dirty="0">
                <a:solidFill>
                  <a:srgbClr val="3F3F3F"/>
                </a:solidFill>
                <a:latin typeface="Microsoft Yahei"/>
                <a:ea typeface="Microsoft Yahei"/>
                <a:cs typeface="Microsoft Yahei"/>
                <a:sym typeface="Microsoft Yahei"/>
              </a:rPr>
              <a:t> </a:t>
            </a:r>
            <a:endParaRPr dirty="0"/>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dirty="0" err="1">
                <a:solidFill>
                  <a:srgbClr val="3F3F3F"/>
                </a:solidFill>
                <a:latin typeface="Microsoft Yahei"/>
                <a:ea typeface="Microsoft Yahei"/>
                <a:cs typeface="Microsoft Yahei"/>
                <a:sym typeface="Microsoft Yahei"/>
              </a:rPr>
              <a:t>Nisbah</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pembayaran</a:t>
            </a:r>
            <a:r>
              <a:rPr lang="en-MY" sz="2000" b="0" i="0" u="none" strike="noStrike" cap="none" dirty="0">
                <a:solidFill>
                  <a:srgbClr val="3F3F3F"/>
                </a:solidFill>
                <a:latin typeface="Microsoft Yahei"/>
                <a:ea typeface="Microsoft Yahei"/>
                <a:cs typeface="Microsoft Yahei"/>
                <a:sym typeface="Microsoft Yahei"/>
              </a:rPr>
              <a:t> yang </a:t>
            </a:r>
            <a:r>
              <a:rPr lang="en-MY" sz="2000" b="0" i="0" u="none" strike="noStrike" cap="none" dirty="0" err="1">
                <a:solidFill>
                  <a:srgbClr val="3F3F3F"/>
                </a:solidFill>
                <a:latin typeface="Microsoft Yahei"/>
                <a:ea typeface="Microsoft Yahei"/>
                <a:cs typeface="Microsoft Yahei"/>
                <a:sym typeface="Microsoft Yahei"/>
              </a:rPr>
              <a:t>dikenakan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kepada</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peminjam</a:t>
            </a:r>
            <a:r>
              <a:rPr lang="en-MY" sz="2000" b="0" i="0" u="none" strike="noStrike" cap="none" dirty="0">
                <a:solidFill>
                  <a:srgbClr val="3F3F3F"/>
                </a:solidFill>
                <a:latin typeface="Microsoft Yahei"/>
                <a:ea typeface="Microsoft Yahei"/>
                <a:cs typeface="Microsoft Yahei"/>
                <a:sym typeface="Microsoft Yahei"/>
              </a:rPr>
              <a:t>. </a:t>
            </a:r>
            <a:endParaRPr dirty="0"/>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dirty="0">
                <a:solidFill>
                  <a:srgbClr val="3F3F3F"/>
                </a:solidFill>
                <a:latin typeface="Microsoft Yahei"/>
                <a:ea typeface="Microsoft Yahei"/>
                <a:cs typeface="Microsoft Yahei"/>
                <a:sym typeface="Microsoft Yahei"/>
              </a:rPr>
              <a:t>Kadar </a:t>
            </a:r>
            <a:r>
              <a:rPr lang="en-MY" sz="2000" b="0" i="0" u="none" strike="noStrike" cap="none" dirty="0" err="1">
                <a:solidFill>
                  <a:srgbClr val="3F3F3F"/>
                </a:solidFill>
                <a:latin typeface="Microsoft Yahei"/>
                <a:ea typeface="Microsoft Yahei"/>
                <a:cs typeface="Microsoft Yahei"/>
                <a:sym typeface="Microsoft Yahei"/>
              </a:rPr>
              <a:t>pulangan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kepada</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pemberi</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hutang</a:t>
            </a:r>
            <a:r>
              <a:rPr lang="en-MY" sz="2000" b="0" i="0" u="none" strike="noStrike" cap="none" dirty="0">
                <a:solidFill>
                  <a:srgbClr val="3F3F3F"/>
                </a:solidFill>
                <a:latin typeface="Microsoft Yahei"/>
                <a:ea typeface="Microsoft Yahei"/>
                <a:cs typeface="Microsoft Yahei"/>
                <a:sym typeface="Microsoft Yahei"/>
              </a:rPr>
              <a:t>. </a:t>
            </a:r>
            <a:endParaRPr dirty="0"/>
          </a:p>
          <a:p>
            <a:pPr marL="717550" marR="0" lvl="1" indent="-231775" algn="just" rtl="0">
              <a:lnSpc>
                <a:spcPct val="150000"/>
              </a:lnSpc>
              <a:spcBef>
                <a:spcPts val="0"/>
              </a:spcBef>
              <a:spcAft>
                <a:spcPts val="0"/>
              </a:spcAft>
              <a:buClr>
                <a:schemeClr val="dk1"/>
              </a:buClr>
              <a:buSzPts val="2000"/>
              <a:buFont typeface="Noto Sans Symbols"/>
              <a:buNone/>
            </a:pPr>
            <a:endParaRPr sz="2000" b="0" i="0" u="none" strike="noStrike" cap="none" dirty="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dirty="0">
                <a:solidFill>
                  <a:srgbClr val="3F3F3F"/>
                </a:solidFill>
                <a:latin typeface="Microsoft Yahei"/>
                <a:ea typeface="Microsoft Yahei"/>
                <a:cs typeface="Microsoft Yahei"/>
                <a:sym typeface="Microsoft Yahei"/>
              </a:rPr>
              <a:t>Kos </a:t>
            </a:r>
            <a:r>
              <a:rPr lang="en-MY" sz="2000" dirty="0" err="1">
                <a:solidFill>
                  <a:srgbClr val="3F3F3F"/>
                </a:solidFill>
                <a:latin typeface="Microsoft Yahei"/>
                <a:ea typeface="Microsoft Yahei"/>
                <a:cs typeface="Microsoft Yahei"/>
                <a:sym typeface="Microsoft Yahei"/>
              </a:rPr>
              <a:t>pengapungan</a:t>
            </a:r>
            <a:r>
              <a:rPr lang="en-MY" sz="2000" dirty="0">
                <a:solidFill>
                  <a:srgbClr val="3F3F3F"/>
                </a:solidFill>
                <a:latin typeface="Microsoft Yahei"/>
                <a:ea typeface="Microsoft Yahei"/>
                <a:cs typeface="Microsoft Yahei"/>
                <a:sym typeface="Microsoft Yahei"/>
              </a:rPr>
              <a:t> </a:t>
            </a:r>
            <a:endParaRPr dirty="0"/>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dirty="0">
                <a:solidFill>
                  <a:srgbClr val="3F3F3F"/>
                </a:solidFill>
                <a:latin typeface="Microsoft Yahei"/>
                <a:ea typeface="Microsoft Yahei"/>
                <a:cs typeface="Microsoft Yahei"/>
                <a:sym typeface="Microsoft Yahei"/>
              </a:rPr>
              <a:t>Kos yang </a:t>
            </a:r>
            <a:r>
              <a:rPr lang="en-MY" sz="2000" b="0" i="0" u="none" strike="noStrike" cap="none" dirty="0" err="1">
                <a:solidFill>
                  <a:srgbClr val="3F3F3F"/>
                </a:solidFill>
                <a:latin typeface="Microsoft Yahei"/>
                <a:ea typeface="Microsoft Yahei"/>
                <a:cs typeface="Microsoft Yahei"/>
                <a:sym typeface="Microsoft Yahei"/>
              </a:rPr>
              <a:t>terlibat</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dalam</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sesuatu</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terbitan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sekuriti</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baharu</a:t>
            </a:r>
            <a:r>
              <a:rPr lang="en-MY" sz="2000" b="0" i="0" u="none" strike="noStrike" cap="none" dirty="0">
                <a:solidFill>
                  <a:srgbClr val="3F3F3F"/>
                </a:solidFill>
                <a:latin typeface="Microsoft Yahei"/>
                <a:ea typeface="Microsoft Yahei"/>
                <a:cs typeface="Microsoft Yahei"/>
                <a:sym typeface="Microsoft Yahei"/>
              </a:rPr>
              <a:t>. </a:t>
            </a:r>
            <a:endParaRPr dirty="0"/>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dirty="0" err="1">
                <a:solidFill>
                  <a:srgbClr val="3F3F3F"/>
                </a:solidFill>
                <a:latin typeface="Microsoft Yahei"/>
                <a:ea typeface="Microsoft Yahei"/>
                <a:cs typeface="Microsoft Yahei"/>
                <a:sym typeface="Microsoft Yahei"/>
              </a:rPr>
              <a:t>Meliputi</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kos</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penaja</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pelaburan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percetakan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undang-undang</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dan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perakaunan</a:t>
            </a:r>
            <a:r>
              <a:rPr lang="en-MY" sz="2000" b="0" i="0" u="none" strike="noStrike" cap="none" dirty="0">
                <a:solidFill>
                  <a:srgbClr val="3F3F3F"/>
                </a:solidFill>
                <a:latin typeface="Microsoft Yahei"/>
                <a:ea typeface="Microsoft Yahei"/>
                <a:cs typeface="Microsoft Yahei"/>
                <a:sym typeface="Microsoft Yahei"/>
              </a:rPr>
              <a:t>.  </a:t>
            </a:r>
            <a:endParaRPr dirty="0"/>
          </a:p>
          <a:p>
            <a:pPr marL="717550" marR="0" lvl="1" indent="-231775" algn="just" rtl="0">
              <a:lnSpc>
                <a:spcPct val="150000"/>
              </a:lnSpc>
              <a:spcBef>
                <a:spcPts val="0"/>
              </a:spcBef>
              <a:spcAft>
                <a:spcPts val="0"/>
              </a:spcAft>
              <a:buClr>
                <a:schemeClr val="dk1"/>
              </a:buClr>
              <a:buSzPts val="2000"/>
              <a:buFont typeface="Noto Sans Symbols"/>
              <a:buNone/>
            </a:pPr>
            <a:endParaRPr sz="2000" b="0" i="0" u="none" strike="noStrike" cap="none" dirty="0">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dirty="0" err="1">
                <a:solidFill>
                  <a:srgbClr val="3F3F3F"/>
                </a:solidFill>
                <a:latin typeface="Microsoft Yahei"/>
                <a:ea typeface="Microsoft Yahei"/>
                <a:cs typeface="Microsoft Yahei"/>
                <a:sym typeface="Microsoft Yahei"/>
              </a:rPr>
              <a:t>Duti</a:t>
            </a:r>
            <a:r>
              <a:rPr lang="en-MY" sz="2000" dirty="0">
                <a:solidFill>
                  <a:srgbClr val="3F3F3F"/>
                </a:solidFill>
                <a:latin typeface="Microsoft Yahei"/>
                <a:ea typeface="Microsoft Yahei"/>
                <a:cs typeface="Microsoft Yahei"/>
                <a:sym typeface="Microsoft Yahei"/>
              </a:rPr>
              <a:t> </a:t>
            </a:r>
            <a:r>
              <a:rPr lang="en-MY" sz="2000" dirty="0" err="1">
                <a:solidFill>
                  <a:srgbClr val="3F3F3F"/>
                </a:solidFill>
                <a:latin typeface="Microsoft Yahei"/>
                <a:ea typeface="Microsoft Yahei"/>
                <a:cs typeface="Microsoft Yahei"/>
                <a:sym typeface="Microsoft Yahei"/>
              </a:rPr>
              <a:t>setem</a:t>
            </a:r>
            <a:r>
              <a:rPr lang="en-MY" sz="2000" dirty="0">
                <a:solidFill>
                  <a:srgbClr val="3F3F3F"/>
                </a:solidFill>
                <a:latin typeface="Microsoft Yahei"/>
                <a:ea typeface="Microsoft Yahei"/>
                <a:cs typeface="Microsoft Yahei"/>
                <a:sym typeface="Microsoft Yahei"/>
              </a:rPr>
              <a:t> </a:t>
            </a:r>
            <a:endParaRPr dirty="0"/>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dirty="0" err="1">
                <a:solidFill>
                  <a:srgbClr val="3F3F3F"/>
                </a:solidFill>
                <a:latin typeface="Microsoft Yahei"/>
                <a:ea typeface="Microsoft Yahei"/>
                <a:cs typeface="Microsoft Yahei"/>
                <a:sym typeface="Microsoft Yahei"/>
              </a:rPr>
              <a:t>Cukai</a:t>
            </a:r>
            <a:r>
              <a:rPr lang="en-MY" sz="2000" b="0" i="0" u="none" strike="noStrike" cap="none" dirty="0">
                <a:solidFill>
                  <a:srgbClr val="3F3F3F"/>
                </a:solidFill>
                <a:latin typeface="Microsoft Yahei"/>
                <a:ea typeface="Microsoft Yahei"/>
                <a:cs typeface="Microsoft Yahei"/>
                <a:sym typeface="Microsoft Yahei"/>
              </a:rPr>
              <a:t> yang </a:t>
            </a:r>
            <a:r>
              <a:rPr lang="en-MY" sz="2000" b="0" i="0" u="none" strike="noStrike" cap="none" dirty="0" err="1">
                <a:solidFill>
                  <a:srgbClr val="3F3F3F"/>
                </a:solidFill>
                <a:latin typeface="Microsoft Yahei"/>
                <a:ea typeface="Microsoft Yahei"/>
                <a:cs typeface="Microsoft Yahei"/>
                <a:sym typeface="Microsoft Yahei"/>
              </a:rPr>
              <a:t>dikenakan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dalam</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bentuk</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setem</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terhadap</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sesuatu</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dokumen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perjanjian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atau</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pindah</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hak</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milik</a:t>
            </a:r>
            <a:r>
              <a:rPr lang="en-MY" sz="2000" b="0" i="0" u="none" strike="noStrike" cap="none" dirty="0">
                <a:solidFill>
                  <a:srgbClr val="3F3F3F"/>
                </a:solidFill>
                <a:latin typeface="Microsoft Yahei"/>
                <a:ea typeface="Microsoft Yahei"/>
                <a:cs typeface="Microsoft Yahei"/>
                <a:sym typeface="Microsoft Yahei"/>
              </a:rPr>
              <a:t>.</a:t>
            </a:r>
            <a:endParaRPr dirty="0"/>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263793692"/>
              </p:ext>
            </p:extLst>
          </p:nvPr>
        </p:nvGraphicFramePr>
        <p:xfrm>
          <a:off x="1151051" y="1628077"/>
          <a:ext cx="10234343" cy="4998720"/>
        </p:xfrm>
        <a:graphic>
          <a:graphicData uri="http://schemas.openxmlformats.org/drawingml/2006/table">
            <a:tbl>
              <a:tblPr firstRow="1" bandRow="1">
                <a:tableStyleId>{767E9722-4C11-4960-AF74-AE0269A20F23}</a:tableStyleId>
              </a:tblPr>
              <a:tblGrid>
                <a:gridCol w="3017787">
                  <a:extLst>
                    <a:ext uri="{9D8B030D-6E8A-4147-A177-3AD203B41FA5}">
                      <a16:colId xmlns:a16="http://schemas.microsoft.com/office/drawing/2014/main" val="2680785994"/>
                    </a:ext>
                  </a:extLst>
                </a:gridCol>
                <a:gridCol w="7216556">
                  <a:extLst>
                    <a:ext uri="{9D8B030D-6E8A-4147-A177-3AD203B41FA5}">
                      <a16:colId xmlns:a16="http://schemas.microsoft.com/office/drawing/2014/main" val="829328142"/>
                    </a:ext>
                  </a:extLst>
                </a:gridCol>
              </a:tblGrid>
              <a:tr h="959006">
                <a:tc>
                  <a:txBody>
                    <a:bodyPr/>
                    <a:lstStyle/>
                    <a:p>
                      <a:pPr algn="ctr"/>
                      <a:endParaRPr lang="en-MY" sz="2400" dirty="0"/>
                    </a:p>
                    <a:p>
                      <a:pPr algn="ctr"/>
                      <a:r>
                        <a:rPr lang="en-MY" sz="2400" dirty="0"/>
                        <a:t>Kadar </a:t>
                      </a:r>
                      <a:r>
                        <a:rPr lang="en-MY" sz="2400" dirty="0" err="1"/>
                        <a:t>Faedah</a:t>
                      </a:r>
                      <a:endParaRPr lang="en-MY" sz="2400" dirty="0"/>
                    </a:p>
                  </a:txBody>
                  <a:tcPr>
                    <a:solidFill>
                      <a:srgbClr val="FFC000"/>
                    </a:solidFill>
                  </a:tcPr>
                </a:tc>
                <a:tc>
                  <a:txBody>
                    <a:bodyPr/>
                    <a:lstStyle/>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dirty="0" err="1">
                          <a:solidFill>
                            <a:srgbClr val="3F3F3F"/>
                          </a:solidFill>
                          <a:latin typeface="Microsoft Yahei"/>
                          <a:ea typeface="Microsoft Yahei"/>
                          <a:cs typeface="Microsoft Yahei"/>
                          <a:sym typeface="Microsoft Yahei"/>
                        </a:rPr>
                        <a:t>Nisbah</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pembayaran</a:t>
                      </a:r>
                      <a:r>
                        <a:rPr lang="en-MY" sz="2000" b="0" i="0" u="none" strike="noStrike" cap="none" dirty="0">
                          <a:solidFill>
                            <a:srgbClr val="3F3F3F"/>
                          </a:solidFill>
                          <a:latin typeface="Microsoft Yahei"/>
                          <a:ea typeface="Microsoft Yahei"/>
                          <a:cs typeface="Microsoft Yahei"/>
                          <a:sym typeface="Microsoft Yahei"/>
                        </a:rPr>
                        <a:t> yang </a:t>
                      </a:r>
                      <a:r>
                        <a:rPr lang="en-MY" sz="2000" b="0" i="0" u="none" strike="noStrike" cap="none" dirty="0" err="1">
                          <a:solidFill>
                            <a:srgbClr val="3F3F3F"/>
                          </a:solidFill>
                          <a:latin typeface="Microsoft Yahei"/>
                          <a:ea typeface="Microsoft Yahei"/>
                          <a:cs typeface="Microsoft Yahei"/>
                          <a:sym typeface="Microsoft Yahei"/>
                        </a:rPr>
                        <a:t>dikenakan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kepada</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peminjam</a:t>
                      </a:r>
                      <a:r>
                        <a:rPr lang="en-MY" sz="2000" b="0" i="0" u="none" strike="noStrike" cap="none" dirty="0">
                          <a:solidFill>
                            <a:srgbClr val="3F3F3F"/>
                          </a:solidFill>
                          <a:latin typeface="Microsoft Yahei"/>
                          <a:ea typeface="Microsoft Yahei"/>
                          <a:cs typeface="Microsoft Yahei"/>
                          <a:sym typeface="Microsoft Yahei"/>
                        </a:rPr>
                        <a:t>. </a:t>
                      </a:r>
                      <a:endParaRPr lang="en-MY" sz="2000" dirty="0"/>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dirty="0">
                          <a:solidFill>
                            <a:srgbClr val="3F3F3F"/>
                          </a:solidFill>
                          <a:latin typeface="Microsoft Yahei"/>
                          <a:ea typeface="Microsoft Yahei"/>
                          <a:cs typeface="Microsoft Yahei"/>
                          <a:sym typeface="Microsoft Yahei"/>
                        </a:rPr>
                        <a:t>Kadar </a:t>
                      </a:r>
                      <a:r>
                        <a:rPr lang="en-MY" sz="2000" b="0" i="0" u="none" strike="noStrike" cap="none" dirty="0" err="1">
                          <a:solidFill>
                            <a:srgbClr val="3F3F3F"/>
                          </a:solidFill>
                          <a:latin typeface="Microsoft Yahei"/>
                          <a:ea typeface="Microsoft Yahei"/>
                          <a:cs typeface="Microsoft Yahei"/>
                          <a:sym typeface="Microsoft Yahei"/>
                        </a:rPr>
                        <a:t>pulangan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kepada</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pemberi</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hutang</a:t>
                      </a:r>
                      <a:r>
                        <a:rPr lang="en-MY" sz="2000" b="0" i="0" u="none" strike="noStrike" cap="none" dirty="0">
                          <a:solidFill>
                            <a:srgbClr val="3F3F3F"/>
                          </a:solidFill>
                          <a:latin typeface="Microsoft Yahei"/>
                          <a:ea typeface="Microsoft Yahei"/>
                          <a:cs typeface="Microsoft Yahei"/>
                          <a:sym typeface="Microsoft Yahei"/>
                        </a:rPr>
                        <a:t>. </a:t>
                      </a:r>
                      <a:endParaRPr lang="en-MY" sz="2000" dirty="0"/>
                    </a:p>
                  </a:txBody>
                  <a:tcPr>
                    <a:solidFill>
                      <a:srgbClr val="FFCC99"/>
                    </a:solidFill>
                  </a:tcPr>
                </a:tc>
                <a:extLst>
                  <a:ext uri="{0D108BD9-81ED-4DB2-BD59-A6C34878D82A}">
                    <a16:rowId xmlns:a16="http://schemas.microsoft.com/office/drawing/2014/main" val="4093583521"/>
                  </a:ext>
                </a:extLst>
              </a:tr>
              <a:tr h="338002">
                <a:tc>
                  <a:txBody>
                    <a:bodyPr/>
                    <a:lstStyle/>
                    <a:p>
                      <a:pPr algn="ctr"/>
                      <a:endParaRPr lang="en-MY" sz="2400" dirty="0"/>
                    </a:p>
                    <a:p>
                      <a:pPr algn="ctr"/>
                      <a:r>
                        <a:rPr lang="en-MY" sz="2400" dirty="0"/>
                        <a:t>Kos </a:t>
                      </a:r>
                      <a:r>
                        <a:rPr lang="en-MY" sz="2400" dirty="0" err="1"/>
                        <a:t>Pengapungan</a:t>
                      </a:r>
                      <a:endParaRPr lang="en-MY" sz="2400" dirty="0"/>
                    </a:p>
                  </a:txBody>
                  <a:tcPr>
                    <a:solidFill>
                      <a:srgbClr val="FFC000"/>
                    </a:solidFill>
                  </a:tcPr>
                </a:tc>
                <a:tc>
                  <a:txBody>
                    <a:bodyPr/>
                    <a:lstStyle/>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dirty="0">
                          <a:solidFill>
                            <a:srgbClr val="3F3F3F"/>
                          </a:solidFill>
                          <a:latin typeface="Microsoft Yahei"/>
                          <a:ea typeface="Microsoft Yahei"/>
                          <a:cs typeface="Microsoft Yahei"/>
                          <a:sym typeface="Microsoft Yahei"/>
                        </a:rPr>
                        <a:t>Kos yang </a:t>
                      </a:r>
                      <a:r>
                        <a:rPr lang="en-MY" sz="2000" b="0" i="0" u="none" strike="noStrike" cap="none" dirty="0" err="1">
                          <a:solidFill>
                            <a:srgbClr val="3F3F3F"/>
                          </a:solidFill>
                          <a:latin typeface="Microsoft Yahei"/>
                          <a:ea typeface="Microsoft Yahei"/>
                          <a:cs typeface="Microsoft Yahei"/>
                          <a:sym typeface="Microsoft Yahei"/>
                        </a:rPr>
                        <a:t>terlibat</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dalam</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sesuatu</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terbitan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sekuriti</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baharu</a:t>
                      </a:r>
                      <a:r>
                        <a:rPr lang="en-MY" sz="2000" b="0" i="0" u="none" strike="noStrike" cap="none" dirty="0">
                          <a:solidFill>
                            <a:srgbClr val="3F3F3F"/>
                          </a:solidFill>
                          <a:latin typeface="Microsoft Yahei"/>
                          <a:ea typeface="Microsoft Yahei"/>
                          <a:cs typeface="Microsoft Yahei"/>
                          <a:sym typeface="Microsoft Yahei"/>
                        </a:rPr>
                        <a:t>. </a:t>
                      </a:r>
                      <a:endParaRPr lang="en-MY" sz="2000" dirty="0"/>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dirty="0" err="1">
                          <a:solidFill>
                            <a:srgbClr val="3F3F3F"/>
                          </a:solidFill>
                          <a:latin typeface="Microsoft Yahei"/>
                          <a:ea typeface="Microsoft Yahei"/>
                          <a:cs typeface="Microsoft Yahei"/>
                          <a:sym typeface="Microsoft Yahei"/>
                        </a:rPr>
                        <a:t>Meliputi</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kos</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penaja</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pelaburan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percetakan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undang-undang</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dan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perakaunan</a:t>
                      </a:r>
                      <a:r>
                        <a:rPr lang="en-MY" sz="2000" b="0" i="0" u="none" strike="noStrike" cap="none" dirty="0">
                          <a:solidFill>
                            <a:srgbClr val="3F3F3F"/>
                          </a:solidFill>
                          <a:latin typeface="Microsoft Yahei"/>
                          <a:ea typeface="Microsoft Yahei"/>
                          <a:cs typeface="Microsoft Yahei"/>
                          <a:sym typeface="Microsoft Yahei"/>
                        </a:rPr>
                        <a:t>.  </a:t>
                      </a:r>
                      <a:endParaRPr lang="en-MY" sz="2000" dirty="0"/>
                    </a:p>
                    <a:p>
                      <a:endParaRPr lang="en-MY" sz="2000" dirty="0"/>
                    </a:p>
                  </a:txBody>
                  <a:tcPr>
                    <a:solidFill>
                      <a:srgbClr val="FFCC99"/>
                    </a:solidFill>
                  </a:tcPr>
                </a:tc>
                <a:extLst>
                  <a:ext uri="{0D108BD9-81ED-4DB2-BD59-A6C34878D82A}">
                    <a16:rowId xmlns:a16="http://schemas.microsoft.com/office/drawing/2014/main" val="2608619030"/>
                  </a:ext>
                </a:extLst>
              </a:tr>
              <a:tr h="338002">
                <a:tc>
                  <a:txBody>
                    <a:bodyPr/>
                    <a:lstStyle/>
                    <a:p>
                      <a:pPr algn="ctr"/>
                      <a:r>
                        <a:rPr lang="en-MY" sz="2400" dirty="0" err="1"/>
                        <a:t>Duti</a:t>
                      </a:r>
                      <a:r>
                        <a:rPr lang="en-MY" sz="2400" dirty="0"/>
                        <a:t> </a:t>
                      </a:r>
                      <a:r>
                        <a:rPr lang="en-MY" sz="2400" dirty="0" err="1"/>
                        <a:t>setem</a:t>
                      </a:r>
                      <a:endParaRPr lang="en-MY" sz="2400" dirty="0"/>
                    </a:p>
                  </a:txBody>
                  <a:tcPr>
                    <a:solidFill>
                      <a:srgbClr val="FFC000"/>
                    </a:solidFill>
                  </a:tcPr>
                </a:tc>
                <a:tc>
                  <a:txBody>
                    <a:bodyPr/>
                    <a:lstStyle/>
                    <a:p>
                      <a:pPr marL="342900" marR="0" lvl="1" indent="-34290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Ø"/>
                        <a:tabLst/>
                        <a:defRPr/>
                      </a:pP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Cukai</a:t>
                      </a:r>
                      <a:r>
                        <a:rPr lang="en-MY" sz="2000" b="0" i="0" u="none" strike="noStrike" cap="none" dirty="0">
                          <a:solidFill>
                            <a:srgbClr val="3F3F3F"/>
                          </a:solidFill>
                          <a:latin typeface="Microsoft Yahei"/>
                          <a:ea typeface="Microsoft Yahei"/>
                          <a:cs typeface="Microsoft Yahei"/>
                          <a:sym typeface="Microsoft Yahei"/>
                        </a:rPr>
                        <a:t> yang </a:t>
                      </a:r>
                      <a:r>
                        <a:rPr lang="en-MY" sz="2000" b="0" i="0" u="none" strike="noStrike" cap="none" dirty="0" err="1">
                          <a:solidFill>
                            <a:srgbClr val="3F3F3F"/>
                          </a:solidFill>
                          <a:latin typeface="Microsoft Yahei"/>
                          <a:ea typeface="Microsoft Yahei"/>
                          <a:cs typeface="Microsoft Yahei"/>
                          <a:sym typeface="Microsoft Yahei"/>
                        </a:rPr>
                        <a:t>dikenakan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dalam</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bentuk</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setem</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terhadap</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sesuatu</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dokumen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perjanjian</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atau</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pindah</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hak</a:t>
                      </a:r>
                      <a:r>
                        <a:rPr lang="en-MY" sz="2000" b="0" i="0" u="none" strike="noStrike" cap="none" dirty="0">
                          <a:solidFill>
                            <a:srgbClr val="3F3F3F"/>
                          </a:solidFill>
                          <a:latin typeface="Microsoft Yahei"/>
                          <a:ea typeface="Microsoft Yahei"/>
                          <a:cs typeface="Microsoft Yahei"/>
                          <a:sym typeface="Microsoft Yahei"/>
                        </a:rPr>
                        <a:t> </a:t>
                      </a:r>
                      <a:r>
                        <a:rPr lang="en-MY" sz="2000" b="0" i="0" u="none" strike="noStrike" cap="none" dirty="0" err="1">
                          <a:solidFill>
                            <a:srgbClr val="3F3F3F"/>
                          </a:solidFill>
                          <a:latin typeface="Microsoft Yahei"/>
                          <a:ea typeface="Microsoft Yahei"/>
                          <a:cs typeface="Microsoft Yahei"/>
                          <a:sym typeface="Microsoft Yahei"/>
                        </a:rPr>
                        <a:t>milik</a:t>
                      </a:r>
                      <a:r>
                        <a:rPr lang="en-MY" sz="2000" b="0" i="0" u="none" strike="noStrike" cap="none" dirty="0">
                          <a:solidFill>
                            <a:srgbClr val="3F3F3F"/>
                          </a:solidFill>
                          <a:latin typeface="Microsoft Yahei"/>
                          <a:ea typeface="Microsoft Yahei"/>
                          <a:cs typeface="Microsoft Yahei"/>
                          <a:sym typeface="Microsoft Yahei"/>
                        </a:rPr>
                        <a:t>.</a:t>
                      </a:r>
                      <a:endParaRPr lang="en-MY" sz="2000" dirty="0"/>
                    </a:p>
                    <a:p>
                      <a:endParaRPr lang="en-MY" sz="2000" dirty="0"/>
                    </a:p>
                  </a:txBody>
                  <a:tcPr>
                    <a:solidFill>
                      <a:srgbClr val="FFCC99"/>
                    </a:solidFill>
                  </a:tcPr>
                </a:tc>
                <a:extLst>
                  <a:ext uri="{0D108BD9-81ED-4DB2-BD59-A6C34878D82A}">
                    <a16:rowId xmlns:a16="http://schemas.microsoft.com/office/drawing/2014/main" val="3489708900"/>
                  </a:ext>
                </a:extLst>
              </a:tr>
            </a:tbl>
          </a:graphicData>
        </a:graphic>
      </p:graphicFrame>
      <p:sp>
        <p:nvSpPr>
          <p:cNvPr id="3" name="Rectangle 2"/>
          <p:cNvSpPr/>
          <p:nvPr/>
        </p:nvSpPr>
        <p:spPr>
          <a:xfrm>
            <a:off x="4019325" y="855297"/>
            <a:ext cx="3841116" cy="584775"/>
          </a:xfrm>
          <a:prstGeom prst="rect">
            <a:avLst/>
          </a:prstGeom>
        </p:spPr>
        <p:txBody>
          <a:bodyPr wrap="none">
            <a:spAutoFit/>
          </a:bodyPr>
          <a:lstStyle/>
          <a:p>
            <a:pPr lvl="0" algn="ctr">
              <a:buSzPts val="2800"/>
            </a:pPr>
            <a:r>
              <a:rPr lang="en-MY" sz="3200" dirty="0">
                <a:latin typeface="Microsoft Yahei"/>
                <a:ea typeface="Microsoft Yahei"/>
                <a:cs typeface="Microsoft Yahei"/>
                <a:sym typeface="Microsoft Yahei"/>
              </a:rPr>
              <a:t>c. Kos </a:t>
            </a:r>
            <a:r>
              <a:rPr lang="en-MY" sz="3200" dirty="0" err="1">
                <a:latin typeface="Microsoft Yahei"/>
                <a:ea typeface="Microsoft Yahei"/>
                <a:cs typeface="Microsoft Yahei"/>
                <a:sym typeface="Microsoft Yahei"/>
              </a:rPr>
              <a:t>Pembiayaan</a:t>
            </a:r>
            <a:endParaRPr lang="en-MY" sz="3200" dirty="0">
              <a:latin typeface="Microsoft Yahei"/>
              <a:ea typeface="Microsoft Yahei"/>
              <a:cs typeface="Microsoft Yahei"/>
              <a:sym typeface="Microsoft Yahei"/>
            </a:endParaRPr>
          </a:p>
        </p:txBody>
      </p:sp>
    </p:spTree>
    <p:extLst>
      <p:ext uri="{BB962C8B-B14F-4D97-AF65-F5344CB8AC3E}">
        <p14:creationId xmlns:p14="http://schemas.microsoft.com/office/powerpoint/2010/main" val="1203141500"/>
      </p:ext>
    </p:extLst>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81"/>
          <p:cNvSpPr/>
          <p:nvPr/>
        </p:nvSpPr>
        <p:spPr>
          <a:xfrm>
            <a:off x="3024837" y="6057360"/>
            <a:ext cx="6364299" cy="6110630"/>
          </a:xfrm>
          <a:prstGeom prst="donut">
            <a:avLst>
              <a:gd name="adj" fmla="val 25000"/>
            </a:avLst>
          </a:prstGeom>
          <a:solidFill>
            <a:schemeClr val="accent5">
              <a:alpha val="51764"/>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icrosoft Yahei"/>
              <a:buNone/>
            </a:pPr>
            <a:endParaRPr sz="1800" b="0" i="0" u="none" strike="noStrike" cap="none">
              <a:solidFill>
                <a:srgbClr val="000000"/>
              </a:solidFill>
              <a:latin typeface="Microsoft Yahei"/>
              <a:ea typeface="Microsoft Yahei"/>
              <a:cs typeface="Microsoft Yahei"/>
              <a:sym typeface="Microsoft Yahei"/>
            </a:endParaRPr>
          </a:p>
        </p:txBody>
      </p:sp>
      <p:sp>
        <p:nvSpPr>
          <p:cNvPr id="579" name="Google Shape;579;p81"/>
          <p:cNvSpPr/>
          <p:nvPr/>
        </p:nvSpPr>
        <p:spPr>
          <a:xfrm>
            <a:off x="-6456827" y="-170677"/>
            <a:ext cx="7133747" cy="6849409"/>
          </a:xfrm>
          <a:prstGeom prst="donut">
            <a:avLst>
              <a:gd name="adj" fmla="val 25000"/>
            </a:avLst>
          </a:prstGeom>
          <a:solidFill>
            <a:srgbClr val="FED9D0">
              <a:alpha val="6470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icrosoft Yahei"/>
              <a:buNone/>
            </a:pPr>
            <a:endParaRPr sz="1800" b="0" i="0" u="none" strike="noStrike" cap="none">
              <a:solidFill>
                <a:srgbClr val="000000"/>
              </a:solidFill>
              <a:latin typeface="Microsoft Yahei"/>
              <a:ea typeface="Microsoft Yahei"/>
              <a:cs typeface="Microsoft Yahei"/>
              <a:sym typeface="Microsoft Yahei"/>
            </a:endParaRPr>
          </a:p>
        </p:txBody>
      </p:sp>
      <p:grpSp>
        <p:nvGrpSpPr>
          <p:cNvPr id="580" name="Google Shape;580;p81"/>
          <p:cNvGrpSpPr/>
          <p:nvPr/>
        </p:nvGrpSpPr>
        <p:grpSpPr>
          <a:xfrm>
            <a:off x="2174686" y="2278445"/>
            <a:ext cx="276061" cy="1951376"/>
            <a:chOff x="1288882" y="567159"/>
            <a:chExt cx="1078196" cy="4097438"/>
          </a:xfrm>
        </p:grpSpPr>
        <p:cxnSp>
          <p:nvCxnSpPr>
            <p:cNvPr id="581" name="Google Shape;581;p81"/>
            <p:cNvCxnSpPr/>
            <p:nvPr/>
          </p:nvCxnSpPr>
          <p:spPr>
            <a:xfrm>
              <a:off x="1288882" y="674797"/>
              <a:ext cx="1078196" cy="0"/>
            </a:xfrm>
            <a:prstGeom prst="straightConnector1">
              <a:avLst/>
            </a:prstGeom>
            <a:noFill/>
            <a:ln w="76200" cap="flat" cmpd="sng">
              <a:solidFill>
                <a:schemeClr val="accent1"/>
              </a:solidFill>
              <a:prstDash val="solid"/>
              <a:miter lim="800000"/>
              <a:headEnd type="none" w="sm" len="sm"/>
              <a:tailEnd type="none" w="sm" len="sm"/>
            </a:ln>
          </p:spPr>
        </p:cxnSp>
        <p:cxnSp>
          <p:nvCxnSpPr>
            <p:cNvPr id="582" name="Google Shape;582;p81"/>
            <p:cNvCxnSpPr/>
            <p:nvPr/>
          </p:nvCxnSpPr>
          <p:spPr>
            <a:xfrm>
              <a:off x="1317763" y="567159"/>
              <a:ext cx="0" cy="4097438"/>
            </a:xfrm>
            <a:prstGeom prst="straightConnector1">
              <a:avLst/>
            </a:prstGeom>
            <a:noFill/>
            <a:ln w="76200" cap="flat" cmpd="sng">
              <a:solidFill>
                <a:schemeClr val="accent1"/>
              </a:solidFill>
              <a:prstDash val="solid"/>
              <a:miter lim="800000"/>
              <a:headEnd type="none" w="sm" len="sm"/>
              <a:tailEnd type="none" w="sm" len="sm"/>
            </a:ln>
          </p:spPr>
        </p:cxnSp>
        <p:cxnSp>
          <p:nvCxnSpPr>
            <p:cNvPr id="583" name="Google Shape;583;p81"/>
            <p:cNvCxnSpPr/>
            <p:nvPr/>
          </p:nvCxnSpPr>
          <p:spPr>
            <a:xfrm>
              <a:off x="1288882" y="4571619"/>
              <a:ext cx="1078196" cy="0"/>
            </a:xfrm>
            <a:prstGeom prst="straightConnector1">
              <a:avLst/>
            </a:prstGeom>
            <a:noFill/>
            <a:ln w="76200" cap="flat" cmpd="sng">
              <a:solidFill>
                <a:schemeClr val="accent1"/>
              </a:solidFill>
              <a:prstDash val="solid"/>
              <a:miter lim="800000"/>
              <a:headEnd type="none" w="sm" len="sm"/>
              <a:tailEnd type="none" w="sm" len="sm"/>
            </a:ln>
          </p:spPr>
        </p:cxnSp>
      </p:grpSp>
      <p:sp>
        <p:nvSpPr>
          <p:cNvPr id="584" name="Google Shape;584;p81"/>
          <p:cNvSpPr txBox="1"/>
          <p:nvPr/>
        </p:nvSpPr>
        <p:spPr>
          <a:xfrm>
            <a:off x="2384954" y="2947475"/>
            <a:ext cx="7405146" cy="70784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B481E"/>
              </a:buClr>
              <a:buSzPts val="3200"/>
              <a:buFont typeface="Microsoft Yahei"/>
              <a:buNone/>
            </a:pPr>
            <a:r>
              <a:rPr lang="en-MY" sz="4000" b="0" i="0" u="none" strike="noStrike" cap="none" dirty="0" err="1">
                <a:solidFill>
                  <a:srgbClr val="FB481E"/>
                </a:solidFill>
                <a:latin typeface="Microsoft Yahei"/>
                <a:ea typeface="Microsoft Yahei"/>
                <a:cs typeface="Microsoft Yahei"/>
                <a:sym typeface="Microsoft Yahei"/>
              </a:rPr>
              <a:t>Pengurusan</a:t>
            </a:r>
            <a:r>
              <a:rPr lang="en-MY" sz="4000" b="0" i="0" u="none" strike="noStrike" cap="none" dirty="0">
                <a:solidFill>
                  <a:srgbClr val="FB481E"/>
                </a:solidFill>
                <a:latin typeface="Microsoft Yahei"/>
                <a:ea typeface="Microsoft Yahei"/>
                <a:cs typeface="Microsoft Yahei"/>
                <a:sym typeface="Microsoft Yahei"/>
              </a:rPr>
              <a:t> </a:t>
            </a:r>
            <a:r>
              <a:rPr lang="en-MY" sz="4000" b="0" i="0" u="none" strike="noStrike" cap="none" dirty="0" err="1">
                <a:solidFill>
                  <a:srgbClr val="FB481E"/>
                </a:solidFill>
                <a:latin typeface="Microsoft Yahei"/>
                <a:ea typeface="Microsoft Yahei"/>
                <a:cs typeface="Microsoft Yahei"/>
                <a:sym typeface="Microsoft Yahei"/>
              </a:rPr>
              <a:t>Kredit</a:t>
            </a:r>
            <a:endParaRPr sz="4000" b="0" i="0" u="none" strike="noStrike" cap="none" dirty="0">
              <a:solidFill>
                <a:srgbClr val="FB481E"/>
              </a:solidFill>
              <a:latin typeface="Microsoft Yahei"/>
              <a:ea typeface="Microsoft Yahei"/>
              <a:cs typeface="Microsoft Yahei"/>
              <a:sym typeface="Microsoft Yahei"/>
            </a:endParaRPr>
          </a:p>
        </p:txBody>
      </p:sp>
      <p:cxnSp>
        <p:nvCxnSpPr>
          <p:cNvPr id="585" name="Google Shape;585;p81"/>
          <p:cNvCxnSpPr/>
          <p:nvPr/>
        </p:nvCxnSpPr>
        <p:spPr>
          <a:xfrm>
            <a:off x="3978233" y="4179028"/>
            <a:ext cx="4224921" cy="0"/>
          </a:xfrm>
          <a:prstGeom prst="straightConnector1">
            <a:avLst/>
          </a:prstGeom>
          <a:noFill/>
          <a:ln w="9525" cap="flat" cmpd="sng">
            <a:solidFill>
              <a:schemeClr val="accent1">
                <a:alpha val="34901"/>
              </a:schemeClr>
            </a:solidFill>
            <a:prstDash val="solid"/>
            <a:miter lim="800000"/>
            <a:headEnd type="none" w="sm" len="sm"/>
            <a:tailEnd type="none" w="sm" len="sm"/>
          </a:ln>
        </p:spPr>
      </p:cxnSp>
      <p:sp>
        <p:nvSpPr>
          <p:cNvPr id="586" name="Google Shape;586;p81"/>
          <p:cNvSpPr/>
          <p:nvPr/>
        </p:nvSpPr>
        <p:spPr>
          <a:xfrm>
            <a:off x="5028452" y="1211934"/>
            <a:ext cx="2126574" cy="673050"/>
          </a:xfrm>
          <a:prstGeom prst="roundRect">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icrosoft Yahei"/>
              <a:buNone/>
            </a:pPr>
            <a:endParaRPr sz="1800" b="0" i="0" u="none" strike="noStrike" cap="none">
              <a:solidFill>
                <a:srgbClr val="FFFFFF"/>
              </a:solidFill>
              <a:latin typeface="Microsoft Yahei"/>
              <a:ea typeface="Microsoft Yahei"/>
              <a:cs typeface="Microsoft Yahei"/>
              <a:sym typeface="Microsoft Yahei"/>
            </a:endParaRPr>
          </a:p>
        </p:txBody>
      </p:sp>
      <p:sp>
        <p:nvSpPr>
          <p:cNvPr id="587" name="Google Shape;587;p81"/>
          <p:cNvSpPr txBox="1"/>
          <p:nvPr/>
        </p:nvSpPr>
        <p:spPr>
          <a:xfrm>
            <a:off x="4994389" y="1332576"/>
            <a:ext cx="2337581"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400"/>
              <a:buFont typeface="Microsoft Yahei"/>
              <a:buNone/>
            </a:pPr>
            <a:r>
              <a:rPr lang="en-MY" sz="2400" b="0" i="0" u="none" strike="noStrike" cap="none">
                <a:solidFill>
                  <a:srgbClr val="FFFFFF"/>
                </a:solidFill>
                <a:latin typeface="Microsoft Yahei"/>
                <a:ea typeface="Microsoft Yahei"/>
                <a:cs typeface="Microsoft Yahei"/>
                <a:sym typeface="Microsoft Yahei"/>
              </a:rPr>
              <a:t>5.3</a:t>
            </a:r>
            <a:endParaRPr sz="2400" b="0" i="0" u="none" strike="noStrike" cap="none">
              <a:solidFill>
                <a:srgbClr val="FFFFFF"/>
              </a:solidFill>
              <a:latin typeface="Microsoft Yahei"/>
              <a:ea typeface="Microsoft Yahei"/>
              <a:cs typeface="Microsoft Yahei"/>
              <a:sym typeface="Microsoft Yahei"/>
            </a:endParaRPr>
          </a:p>
        </p:txBody>
      </p:sp>
      <p:sp>
        <p:nvSpPr>
          <p:cNvPr id="588" name="Google Shape;588;p81"/>
          <p:cNvSpPr txBox="1"/>
          <p:nvPr/>
        </p:nvSpPr>
        <p:spPr>
          <a:xfrm>
            <a:off x="6472238" y="7872413"/>
            <a:ext cx="0" cy="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Microsoft Yahei"/>
              <a:buNone/>
            </a:pPr>
            <a:endParaRPr sz="1800" b="0" i="0" u="none" strike="noStrike" cap="none">
              <a:solidFill>
                <a:srgbClr val="000000"/>
              </a:solidFill>
              <a:latin typeface="Microsoft Yahei"/>
              <a:ea typeface="Microsoft Yahei"/>
              <a:cs typeface="Microsoft Yahei"/>
              <a:sym typeface="Microsoft Yahei"/>
            </a:endParaRPr>
          </a:p>
        </p:txBody>
      </p:sp>
      <p:grpSp>
        <p:nvGrpSpPr>
          <p:cNvPr id="589" name="Google Shape;589;p81"/>
          <p:cNvGrpSpPr/>
          <p:nvPr/>
        </p:nvGrpSpPr>
        <p:grpSpPr>
          <a:xfrm flipH="1">
            <a:off x="9550803" y="2290020"/>
            <a:ext cx="321086" cy="1951376"/>
            <a:chOff x="1288882" y="591464"/>
            <a:chExt cx="1078196" cy="4097438"/>
          </a:xfrm>
        </p:grpSpPr>
        <p:cxnSp>
          <p:nvCxnSpPr>
            <p:cNvPr id="590" name="Google Shape;590;p81"/>
            <p:cNvCxnSpPr/>
            <p:nvPr/>
          </p:nvCxnSpPr>
          <p:spPr>
            <a:xfrm>
              <a:off x="1288882" y="674798"/>
              <a:ext cx="1078196" cy="0"/>
            </a:xfrm>
            <a:prstGeom prst="straightConnector1">
              <a:avLst/>
            </a:prstGeom>
            <a:noFill/>
            <a:ln w="76200" cap="flat" cmpd="sng">
              <a:solidFill>
                <a:schemeClr val="accent1"/>
              </a:solidFill>
              <a:prstDash val="solid"/>
              <a:miter lim="800000"/>
              <a:headEnd type="none" w="sm" len="sm"/>
              <a:tailEnd type="none" w="sm" len="sm"/>
            </a:ln>
          </p:spPr>
        </p:cxnSp>
        <p:cxnSp>
          <p:nvCxnSpPr>
            <p:cNvPr id="591" name="Google Shape;591;p81"/>
            <p:cNvCxnSpPr/>
            <p:nvPr/>
          </p:nvCxnSpPr>
          <p:spPr>
            <a:xfrm>
              <a:off x="1317764" y="591464"/>
              <a:ext cx="0" cy="4097438"/>
            </a:xfrm>
            <a:prstGeom prst="straightConnector1">
              <a:avLst/>
            </a:prstGeom>
            <a:noFill/>
            <a:ln w="76200" cap="flat" cmpd="sng">
              <a:solidFill>
                <a:schemeClr val="accent1"/>
              </a:solidFill>
              <a:prstDash val="solid"/>
              <a:miter lim="800000"/>
              <a:headEnd type="none" w="sm" len="sm"/>
              <a:tailEnd type="none" w="sm" len="sm"/>
            </a:ln>
          </p:spPr>
        </p:cxnSp>
        <p:cxnSp>
          <p:nvCxnSpPr>
            <p:cNvPr id="592" name="Google Shape;592;p81"/>
            <p:cNvCxnSpPr/>
            <p:nvPr/>
          </p:nvCxnSpPr>
          <p:spPr>
            <a:xfrm>
              <a:off x="1288882" y="4595924"/>
              <a:ext cx="1078196" cy="0"/>
            </a:xfrm>
            <a:prstGeom prst="straightConnector1">
              <a:avLst/>
            </a:prstGeom>
            <a:noFill/>
            <a:ln w="76200" cap="flat" cmpd="sng">
              <a:solidFill>
                <a:schemeClr val="accent1"/>
              </a:solidFill>
              <a:prstDash val="solid"/>
              <a:miter lim="800000"/>
              <a:headEnd type="none" w="sm" len="sm"/>
              <a:tailEnd type="none" w="sm" len="sm"/>
            </a:ln>
          </p:spPr>
        </p:cxnSp>
      </p:grpSp>
      <p:sp>
        <p:nvSpPr>
          <p:cNvPr id="593" name="Google Shape;593;p81"/>
          <p:cNvSpPr/>
          <p:nvPr/>
        </p:nvSpPr>
        <p:spPr>
          <a:xfrm>
            <a:off x="11446302" y="-170678"/>
            <a:ext cx="7133747" cy="6849409"/>
          </a:xfrm>
          <a:prstGeom prst="donut">
            <a:avLst>
              <a:gd name="adj" fmla="val 25000"/>
            </a:avLst>
          </a:prstGeom>
          <a:solidFill>
            <a:srgbClr val="FED9D0">
              <a:alpha val="64705"/>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Microsoft Yahei"/>
              <a:buNone/>
            </a:pPr>
            <a:endParaRPr sz="1800" b="0" i="0" u="none" strike="noStrike" cap="none">
              <a:solidFill>
                <a:srgbClr val="000000"/>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82"/>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a. Pengurusan Kredit</a:t>
            </a:r>
            <a:endParaRPr sz="2800" b="0" i="0" u="none" strike="noStrike" cap="none">
              <a:solidFill>
                <a:srgbClr val="000000"/>
              </a:solidFill>
              <a:latin typeface="Microsoft Yahei"/>
              <a:ea typeface="Microsoft Yahei"/>
              <a:cs typeface="Microsoft Yahei"/>
              <a:sym typeface="Microsoft Yahei"/>
            </a:endParaRPr>
          </a:p>
        </p:txBody>
      </p:sp>
      <p:sp>
        <p:nvSpPr>
          <p:cNvPr id="599" name="Google Shape;599;p82"/>
          <p:cNvSpPr txBox="1"/>
          <p:nvPr/>
        </p:nvSpPr>
        <p:spPr>
          <a:xfrm>
            <a:off x="895506" y="2068178"/>
            <a:ext cx="10042570" cy="2308284"/>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MY" sz="2400" dirty="0" err="1">
                <a:solidFill>
                  <a:srgbClr val="3F3F3F"/>
                </a:solidFill>
                <a:latin typeface="Microsoft Yahei"/>
                <a:ea typeface="Microsoft Yahei"/>
                <a:cs typeface="Microsoft Yahei"/>
                <a:sym typeface="Microsoft Yahei"/>
              </a:rPr>
              <a:t>Ia</a:t>
            </a:r>
            <a:r>
              <a:rPr lang="en-MY" sz="2400" dirty="0">
                <a:solidFill>
                  <a:srgbClr val="3F3F3F"/>
                </a:solidFill>
                <a:latin typeface="Microsoft Yahei"/>
                <a:ea typeface="Microsoft Yahei"/>
                <a:cs typeface="Microsoft Yahei"/>
                <a:sym typeface="Microsoft Yahei"/>
              </a:rPr>
              <a:t> </a:t>
            </a:r>
            <a:r>
              <a:rPr lang="en-MY" sz="2400" dirty="0" err="1">
                <a:solidFill>
                  <a:srgbClr val="3F3F3F"/>
                </a:solidFill>
                <a:latin typeface="Microsoft Yahei"/>
                <a:ea typeface="Microsoft Yahei"/>
                <a:cs typeface="Microsoft Yahei"/>
                <a:sym typeface="Microsoft Yahei"/>
              </a:rPr>
              <a:t>merupakan</a:t>
            </a:r>
            <a:r>
              <a:rPr lang="en-MY" sz="2400" dirty="0">
                <a:solidFill>
                  <a:srgbClr val="3F3F3F"/>
                </a:solidFill>
                <a:latin typeface="Microsoft Yahei"/>
                <a:ea typeface="Microsoft Yahei"/>
                <a:cs typeface="Microsoft Yahei"/>
                <a:sym typeface="Microsoft Yahei"/>
              </a:rPr>
              <a:t> </a:t>
            </a:r>
            <a:r>
              <a:rPr lang="en-MY" sz="2400" dirty="0" err="1">
                <a:solidFill>
                  <a:srgbClr val="3F3F3F"/>
                </a:solidFill>
                <a:latin typeface="Microsoft Yahei"/>
                <a:ea typeface="Microsoft Yahei"/>
                <a:cs typeface="Microsoft Yahei"/>
                <a:sym typeface="Microsoft Yahei"/>
              </a:rPr>
              <a:t>komponen</a:t>
            </a:r>
            <a:r>
              <a:rPr lang="en-MY" sz="2400" dirty="0">
                <a:solidFill>
                  <a:srgbClr val="3F3F3F"/>
                </a:solidFill>
                <a:latin typeface="Microsoft Yahei"/>
                <a:ea typeface="Microsoft Yahei"/>
                <a:cs typeface="Microsoft Yahei"/>
                <a:sym typeface="Microsoft Yahei"/>
              </a:rPr>
              <a:t> </a:t>
            </a:r>
            <a:r>
              <a:rPr lang="en-MY" sz="2400" dirty="0" err="1">
                <a:solidFill>
                  <a:srgbClr val="3F3F3F"/>
                </a:solidFill>
                <a:latin typeface="Microsoft Yahei"/>
                <a:ea typeface="Microsoft Yahei"/>
                <a:cs typeface="Microsoft Yahei"/>
                <a:sym typeface="Microsoft Yahei"/>
              </a:rPr>
              <a:t>polisi</a:t>
            </a:r>
            <a:r>
              <a:rPr lang="en-MY" sz="2400" dirty="0">
                <a:solidFill>
                  <a:srgbClr val="3F3F3F"/>
                </a:solidFill>
                <a:latin typeface="Microsoft Yahei"/>
                <a:ea typeface="Microsoft Yahei"/>
                <a:cs typeface="Microsoft Yahei"/>
                <a:sym typeface="Microsoft Yahei"/>
              </a:rPr>
              <a:t> </a:t>
            </a:r>
            <a:r>
              <a:rPr lang="en-MY" sz="2400" dirty="0" err="1">
                <a:solidFill>
                  <a:srgbClr val="3F3F3F"/>
                </a:solidFill>
                <a:latin typeface="Microsoft Yahei"/>
                <a:ea typeface="Microsoft Yahei"/>
                <a:cs typeface="Microsoft Yahei"/>
                <a:sym typeface="Microsoft Yahei"/>
              </a:rPr>
              <a:t>kredit</a:t>
            </a:r>
            <a:r>
              <a:rPr lang="en-MY" sz="2400" dirty="0">
                <a:solidFill>
                  <a:srgbClr val="3F3F3F"/>
                </a:solidFill>
                <a:latin typeface="Microsoft Yahei"/>
                <a:ea typeface="Microsoft Yahei"/>
                <a:cs typeface="Microsoft Yahei"/>
                <a:sym typeface="Microsoft Yahei"/>
              </a:rPr>
              <a:t> firma yang </a:t>
            </a:r>
            <a:r>
              <a:rPr lang="en-MY" sz="2400" dirty="0" err="1">
                <a:solidFill>
                  <a:srgbClr val="3F3F3F"/>
                </a:solidFill>
                <a:latin typeface="Microsoft Yahei"/>
                <a:ea typeface="Microsoft Yahei"/>
                <a:cs typeface="Microsoft Yahei"/>
                <a:sym typeface="Microsoft Yahei"/>
              </a:rPr>
              <a:t>meliputi</a:t>
            </a:r>
            <a:r>
              <a:rPr lang="en-MY" sz="2400" dirty="0">
                <a:solidFill>
                  <a:srgbClr val="3F3F3F"/>
                </a:solidFill>
                <a:latin typeface="Microsoft Yahei"/>
                <a:ea typeface="Microsoft Yahei"/>
                <a:cs typeface="Microsoft Yahei"/>
                <a:sym typeface="Microsoft Yahei"/>
              </a:rPr>
              <a:t> </a:t>
            </a:r>
            <a:r>
              <a:rPr lang="en-MY" sz="2400" dirty="0" err="1">
                <a:solidFill>
                  <a:srgbClr val="3F3F3F"/>
                </a:solidFill>
                <a:latin typeface="Microsoft Yahei"/>
                <a:ea typeface="Microsoft Yahei"/>
                <a:cs typeface="Microsoft Yahei"/>
                <a:sym typeface="Microsoft Yahei"/>
              </a:rPr>
              <a:t>syarat-syarat</a:t>
            </a:r>
            <a:r>
              <a:rPr lang="en-MY" sz="2400" dirty="0">
                <a:solidFill>
                  <a:srgbClr val="3F3F3F"/>
                </a:solidFill>
                <a:latin typeface="Microsoft Yahei"/>
                <a:ea typeface="Microsoft Yahei"/>
                <a:cs typeface="Microsoft Yahei"/>
                <a:sym typeface="Microsoft Yahei"/>
              </a:rPr>
              <a:t> </a:t>
            </a:r>
            <a:r>
              <a:rPr lang="en-MY" sz="2400" dirty="0" err="1">
                <a:solidFill>
                  <a:srgbClr val="3F3F3F"/>
                </a:solidFill>
                <a:latin typeface="Microsoft Yahei"/>
                <a:ea typeface="Microsoft Yahei"/>
                <a:cs typeface="Microsoft Yahei"/>
                <a:sym typeface="Microsoft Yahei"/>
              </a:rPr>
              <a:t>jualan</a:t>
            </a:r>
            <a:r>
              <a:rPr lang="en-MY" sz="2400" dirty="0">
                <a:solidFill>
                  <a:srgbClr val="3F3F3F"/>
                </a:solidFill>
                <a:latin typeface="Microsoft Yahei"/>
                <a:ea typeface="Microsoft Yahei"/>
                <a:cs typeface="Microsoft Yahei"/>
                <a:sym typeface="Microsoft Yahei"/>
              </a:rPr>
              <a:t>, </a:t>
            </a:r>
            <a:r>
              <a:rPr lang="en-MY" sz="2400" dirty="0" err="1">
                <a:solidFill>
                  <a:srgbClr val="3F3F3F"/>
                </a:solidFill>
                <a:latin typeface="Microsoft Yahei"/>
                <a:ea typeface="Microsoft Yahei"/>
                <a:cs typeface="Microsoft Yahei"/>
                <a:sym typeface="Microsoft Yahei"/>
              </a:rPr>
              <a:t>analisis</a:t>
            </a:r>
            <a:r>
              <a:rPr lang="en-MY" sz="2400" dirty="0">
                <a:solidFill>
                  <a:srgbClr val="3F3F3F"/>
                </a:solidFill>
                <a:latin typeface="Microsoft Yahei"/>
                <a:ea typeface="Microsoft Yahei"/>
                <a:cs typeface="Microsoft Yahei"/>
                <a:sym typeface="Microsoft Yahei"/>
              </a:rPr>
              <a:t> </a:t>
            </a:r>
            <a:r>
              <a:rPr lang="en-MY" sz="2400" dirty="0" err="1">
                <a:solidFill>
                  <a:srgbClr val="3F3F3F"/>
                </a:solidFill>
                <a:latin typeface="Microsoft Yahei"/>
                <a:ea typeface="Microsoft Yahei"/>
                <a:cs typeface="Microsoft Yahei"/>
                <a:sym typeface="Microsoft Yahei"/>
              </a:rPr>
              <a:t>kredit</a:t>
            </a:r>
            <a:r>
              <a:rPr lang="en-MY" sz="2400" dirty="0">
                <a:solidFill>
                  <a:srgbClr val="3F3F3F"/>
                </a:solidFill>
                <a:latin typeface="Microsoft Yahei"/>
                <a:ea typeface="Microsoft Yahei"/>
                <a:cs typeface="Microsoft Yahei"/>
                <a:sym typeface="Microsoft Yahei"/>
              </a:rPr>
              <a:t> </a:t>
            </a:r>
            <a:r>
              <a:rPr lang="en-MY" sz="2400" dirty="0" err="1">
                <a:solidFill>
                  <a:srgbClr val="3F3F3F"/>
                </a:solidFill>
                <a:latin typeface="Microsoft Yahei"/>
                <a:ea typeface="Microsoft Yahei"/>
                <a:cs typeface="Microsoft Yahei"/>
                <a:sym typeface="Microsoft Yahei"/>
              </a:rPr>
              <a:t>dan</a:t>
            </a:r>
            <a:r>
              <a:rPr lang="en-MY" sz="2400" dirty="0">
                <a:solidFill>
                  <a:srgbClr val="3F3F3F"/>
                </a:solidFill>
                <a:latin typeface="Microsoft Yahei"/>
                <a:ea typeface="Microsoft Yahei"/>
                <a:cs typeface="Microsoft Yahei"/>
                <a:sym typeface="Microsoft Yahei"/>
              </a:rPr>
              <a:t> </a:t>
            </a:r>
            <a:r>
              <a:rPr lang="en-MY" sz="2400" dirty="0" err="1">
                <a:solidFill>
                  <a:srgbClr val="3F3F3F"/>
                </a:solidFill>
                <a:latin typeface="Microsoft Yahei"/>
                <a:ea typeface="Microsoft Yahei"/>
                <a:cs typeface="Microsoft Yahei"/>
                <a:sym typeface="Microsoft Yahei"/>
              </a:rPr>
              <a:t>polisi</a:t>
            </a:r>
            <a:r>
              <a:rPr lang="en-MY" sz="2400" dirty="0">
                <a:solidFill>
                  <a:srgbClr val="3F3F3F"/>
                </a:solidFill>
                <a:latin typeface="Microsoft Yahei"/>
                <a:ea typeface="Microsoft Yahei"/>
                <a:cs typeface="Microsoft Yahei"/>
                <a:sym typeface="Microsoft Yahei"/>
              </a:rPr>
              <a:t> </a:t>
            </a:r>
            <a:r>
              <a:rPr lang="en-MY" sz="2400" dirty="0" err="1">
                <a:solidFill>
                  <a:srgbClr val="3F3F3F"/>
                </a:solidFill>
                <a:latin typeface="Microsoft Yahei"/>
                <a:ea typeface="Microsoft Yahei"/>
                <a:cs typeface="Microsoft Yahei"/>
                <a:sym typeface="Microsoft Yahei"/>
              </a:rPr>
              <a:t>kutipan</a:t>
            </a:r>
            <a:r>
              <a:rPr lang="en-MY" sz="2400" dirty="0">
                <a:solidFill>
                  <a:srgbClr val="3F3F3F"/>
                </a:solidFill>
                <a:latin typeface="Microsoft Yahei"/>
                <a:ea typeface="Microsoft Yahei"/>
                <a:cs typeface="Microsoft Yahei"/>
                <a:sym typeface="Microsoft Yahei"/>
              </a:rPr>
              <a:t> yang </a:t>
            </a:r>
            <a:r>
              <a:rPr lang="en-MY" sz="2400" dirty="0" err="1">
                <a:solidFill>
                  <a:srgbClr val="3F3F3F"/>
                </a:solidFill>
                <a:latin typeface="Microsoft Yahei"/>
                <a:ea typeface="Microsoft Yahei"/>
                <a:cs typeface="Microsoft Yahei"/>
                <a:sym typeface="Microsoft Yahei"/>
              </a:rPr>
              <a:t>dibuat</a:t>
            </a:r>
            <a:r>
              <a:rPr lang="en-MY" sz="2400" dirty="0">
                <a:solidFill>
                  <a:srgbClr val="3F3F3F"/>
                </a:solidFill>
                <a:latin typeface="Microsoft Yahei"/>
                <a:ea typeface="Microsoft Yahei"/>
                <a:cs typeface="Microsoft Yahei"/>
                <a:sym typeface="Microsoft Yahei"/>
              </a:rPr>
              <a:t> </a:t>
            </a:r>
            <a:r>
              <a:rPr lang="en-MY" sz="2400" dirty="0" err="1">
                <a:solidFill>
                  <a:srgbClr val="3F3F3F"/>
                </a:solidFill>
                <a:latin typeface="Microsoft Yahei"/>
                <a:ea typeface="Microsoft Yahei"/>
                <a:cs typeface="Microsoft Yahei"/>
                <a:sym typeface="Microsoft Yahei"/>
              </a:rPr>
              <a:t>oleh</a:t>
            </a:r>
            <a:r>
              <a:rPr lang="en-MY" sz="2400" dirty="0">
                <a:solidFill>
                  <a:srgbClr val="3F3F3F"/>
                </a:solidFill>
                <a:latin typeface="Microsoft Yahei"/>
                <a:ea typeface="Microsoft Yahei"/>
                <a:cs typeface="Microsoft Yahei"/>
                <a:sym typeface="Microsoft Yahei"/>
              </a:rPr>
              <a:t> </a:t>
            </a:r>
            <a:r>
              <a:rPr lang="en-MY" sz="2400" dirty="0" err="1">
                <a:solidFill>
                  <a:srgbClr val="3F3F3F"/>
                </a:solidFill>
                <a:latin typeface="Microsoft Yahei"/>
                <a:ea typeface="Microsoft Yahei"/>
                <a:cs typeface="Microsoft Yahei"/>
                <a:sym typeface="Microsoft Yahei"/>
              </a:rPr>
              <a:t>pembekal</a:t>
            </a:r>
            <a:r>
              <a:rPr lang="en-MY" sz="2400" dirty="0">
                <a:solidFill>
                  <a:srgbClr val="3F3F3F"/>
                </a:solidFill>
                <a:latin typeface="Microsoft Yahei"/>
                <a:ea typeface="Microsoft Yahei"/>
                <a:cs typeface="Microsoft Yahei"/>
                <a:sym typeface="Microsoft Yahei"/>
              </a:rPr>
              <a:t> </a:t>
            </a:r>
            <a:r>
              <a:rPr lang="en-MY" sz="2400" dirty="0" err="1">
                <a:solidFill>
                  <a:srgbClr val="3F3F3F"/>
                </a:solidFill>
                <a:latin typeface="Microsoft Yahei"/>
                <a:ea typeface="Microsoft Yahei"/>
                <a:cs typeface="Microsoft Yahei"/>
                <a:sym typeface="Microsoft Yahei"/>
              </a:rPr>
              <a:t>kepada</a:t>
            </a:r>
            <a:r>
              <a:rPr lang="en-MY" sz="2400" dirty="0">
                <a:solidFill>
                  <a:srgbClr val="3F3F3F"/>
                </a:solidFill>
                <a:latin typeface="Microsoft Yahei"/>
                <a:ea typeface="Microsoft Yahei"/>
                <a:cs typeface="Microsoft Yahei"/>
                <a:sym typeface="Microsoft Yahei"/>
              </a:rPr>
              <a:t> </a:t>
            </a:r>
            <a:r>
              <a:rPr lang="en-MY" sz="2400" dirty="0" err="1">
                <a:solidFill>
                  <a:srgbClr val="3F3F3F"/>
                </a:solidFill>
                <a:latin typeface="Microsoft Yahei"/>
                <a:ea typeface="Microsoft Yahei"/>
                <a:cs typeface="Microsoft Yahei"/>
                <a:sym typeface="Microsoft Yahei"/>
              </a:rPr>
              <a:t>pembeli</a:t>
            </a:r>
            <a:r>
              <a:rPr lang="en-MY" sz="2400" dirty="0">
                <a:solidFill>
                  <a:srgbClr val="3F3F3F"/>
                </a:solidFill>
                <a:latin typeface="Microsoft Yahei"/>
                <a:ea typeface="Microsoft Yahei"/>
                <a:cs typeface="Microsoft Yahei"/>
                <a:sym typeface="Microsoft Yahei"/>
              </a:rPr>
              <a:t>.</a:t>
            </a:r>
            <a:endParaRPr dirty="0"/>
          </a:p>
          <a:p>
            <a:pPr marL="358775" marR="0" lvl="0" indent="-206375" algn="ctr" rtl="0">
              <a:lnSpc>
                <a:spcPct val="150000"/>
              </a:lnSpc>
              <a:spcBef>
                <a:spcPts val="0"/>
              </a:spcBef>
              <a:spcAft>
                <a:spcPts val="0"/>
              </a:spcAft>
              <a:buClr>
                <a:schemeClr val="dk1"/>
              </a:buClr>
              <a:buSzPts val="2400"/>
              <a:buFont typeface="Arial"/>
              <a:buNone/>
            </a:pPr>
            <a:endParaRPr sz="2400" b="0" i="0" u="none" strike="noStrike" cap="none" dirty="0">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83"/>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a:solidFill>
                  <a:srgbClr val="000000"/>
                </a:solidFill>
                <a:latin typeface="Microsoft Yahei"/>
                <a:ea typeface="Microsoft Yahei"/>
                <a:cs typeface="Microsoft Yahei"/>
                <a:sym typeface="Microsoft Yahei"/>
              </a:rPr>
              <a:t>a</a:t>
            </a:r>
            <a:r>
              <a:rPr lang="en-MY" sz="2800" b="0" i="0" u="none" strike="noStrike" cap="none">
                <a:solidFill>
                  <a:srgbClr val="000000"/>
                </a:solidFill>
                <a:latin typeface="Microsoft Yahei"/>
                <a:ea typeface="Microsoft Yahei"/>
                <a:cs typeface="Microsoft Yahei"/>
                <a:sym typeface="Microsoft Yahei"/>
              </a:rPr>
              <a:t>. </a:t>
            </a:r>
            <a:r>
              <a:rPr lang="en-MY" sz="2800" b="0">
                <a:solidFill>
                  <a:srgbClr val="000000"/>
                </a:solidFill>
                <a:latin typeface="Microsoft Yahei"/>
                <a:ea typeface="Microsoft Yahei"/>
                <a:cs typeface="Microsoft Yahei"/>
                <a:sym typeface="Microsoft Yahei"/>
              </a:rPr>
              <a:t>Pengurusan Kredit</a:t>
            </a:r>
            <a:endParaRPr sz="2800" b="0" i="0" u="none" strike="noStrike" cap="none">
              <a:solidFill>
                <a:srgbClr val="000000"/>
              </a:solidFill>
              <a:latin typeface="Microsoft Yahei"/>
              <a:ea typeface="Microsoft Yahei"/>
              <a:cs typeface="Microsoft Yahei"/>
              <a:sym typeface="Microsoft Yahei"/>
            </a:endParaRPr>
          </a:p>
        </p:txBody>
      </p:sp>
      <p:sp>
        <p:nvSpPr>
          <p:cNvPr id="605" name="Google Shape;605;p83"/>
          <p:cNvSpPr txBox="1"/>
          <p:nvPr/>
        </p:nvSpPr>
        <p:spPr>
          <a:xfrm>
            <a:off x="895506" y="1512593"/>
            <a:ext cx="10042570" cy="470898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MY" sz="2000" b="1" i="0" u="none" strike="noStrike" cap="none">
                <a:solidFill>
                  <a:srgbClr val="3F3F3F"/>
                </a:solidFill>
                <a:latin typeface="Microsoft Yahei"/>
                <a:ea typeface="Microsoft Yahei"/>
                <a:cs typeface="Microsoft Yahei"/>
                <a:sym typeface="Microsoft Yahei"/>
              </a:rPr>
              <a:t>Terma Kredit</a:t>
            </a:r>
            <a:endParaRPr sz="2000" b="1" i="0" u="none" strike="noStrike" cap="none">
              <a:solidFill>
                <a:srgbClr val="3F3F3F"/>
              </a:solidFill>
              <a:latin typeface="Microsoft Yahei"/>
              <a:ea typeface="Microsoft Yahei"/>
              <a:cs typeface="Microsoft Yahei"/>
              <a:sym typeface="Microsoft Yahei"/>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Ia adalah syarat-syarat bayaran yang ditawarkan penjual kepada pembeli.</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Sebarang diskaun yang ditawarkan bagi menggalakkan pembayaran awal dalam tempoh tertentu dan mengenalpasti tempoh kredit yang layak diberikan kepada pelanggan.</a:t>
            </a:r>
            <a:endParaRPr/>
          </a:p>
          <a:p>
            <a:pPr marL="358775"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Contoh terma kredit: 2/10 net 30</a:t>
            </a:r>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2 (diskaun 2% daripada amaun kredit</a:t>
            </a:r>
            <a:endParaRPr sz="20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10 (tempoh diskaun iaitu 10 hari</a:t>
            </a:r>
            <a:endParaRPr sz="2000" b="0" i="0" u="none" strike="noStrike" cap="none">
              <a:solidFill>
                <a:srgbClr val="3F3F3F"/>
              </a:solidFill>
              <a:latin typeface="Microsoft Yahei"/>
              <a:ea typeface="Microsoft Yahei"/>
              <a:cs typeface="Microsoft Yahei"/>
              <a:sym typeface="Microsoft Yahei"/>
            </a:endParaRPr>
          </a:p>
          <a:p>
            <a:pPr marL="717550" marR="0" lvl="1" indent="-358775" algn="just" rtl="0">
              <a:lnSpc>
                <a:spcPct val="150000"/>
              </a:lnSpc>
              <a:spcBef>
                <a:spcPts val="0"/>
              </a:spcBef>
              <a:spcAft>
                <a:spcPts val="0"/>
              </a:spcAft>
              <a:buClr>
                <a:srgbClr val="3F3F3F"/>
              </a:buClr>
              <a:buSzPts val="2000"/>
              <a:buFont typeface="Noto Sans Symbols"/>
              <a:buChar char="⮚"/>
            </a:pPr>
            <a:r>
              <a:rPr lang="en-MY" sz="2000" b="0" i="0" u="none" strike="noStrike" cap="none">
                <a:solidFill>
                  <a:srgbClr val="3F3F3F"/>
                </a:solidFill>
                <a:latin typeface="Microsoft Yahei"/>
                <a:ea typeface="Microsoft Yahei"/>
                <a:cs typeface="Microsoft Yahei"/>
                <a:sym typeface="Microsoft Yahei"/>
              </a:rPr>
              <a:t>30 (tempoh akhir bayaran kredit iaitu 30 hari)</a:t>
            </a:r>
            <a:endParaRPr/>
          </a:p>
          <a:p>
            <a:pPr marL="358775"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84"/>
          <p:cNvSpPr txBox="1"/>
          <p:nvPr/>
        </p:nvSpPr>
        <p:spPr>
          <a:xfrm>
            <a:off x="4604660" y="775149"/>
            <a:ext cx="2730530"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b. Prinsip 5C</a:t>
            </a:r>
            <a:endParaRPr sz="2800" b="0" i="0" u="none" strike="noStrike" cap="none">
              <a:solidFill>
                <a:srgbClr val="000000"/>
              </a:solidFill>
              <a:latin typeface="Microsoft Yahei"/>
              <a:ea typeface="Microsoft Yahei"/>
              <a:cs typeface="Microsoft Yahei"/>
              <a:sym typeface="Microsoft Yahei"/>
            </a:endParaRPr>
          </a:p>
        </p:txBody>
      </p:sp>
      <p:sp>
        <p:nvSpPr>
          <p:cNvPr id="611" name="Google Shape;611;p84"/>
          <p:cNvSpPr txBox="1"/>
          <p:nvPr/>
        </p:nvSpPr>
        <p:spPr>
          <a:xfrm>
            <a:off x="1244687" y="1409540"/>
            <a:ext cx="9843860"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MY" sz="2000">
                <a:solidFill>
                  <a:srgbClr val="FB481E"/>
                </a:solidFill>
                <a:latin typeface="Microsoft Yahei"/>
                <a:ea typeface="Microsoft Yahei"/>
                <a:cs typeface="Microsoft Yahei"/>
                <a:sym typeface="Microsoft Yahei"/>
              </a:rPr>
              <a:t>Prinsip-prinsip sebagai asas yang digunakan oleh pihak pengurusan membuat keputusan yang cekap dalam meluluskan sesuatu kredit.</a:t>
            </a:r>
            <a:endParaRPr/>
          </a:p>
        </p:txBody>
      </p:sp>
      <p:pic>
        <p:nvPicPr>
          <p:cNvPr id="612" name="Google Shape;612;p84"/>
          <p:cNvPicPr preferRelativeResize="0"/>
          <p:nvPr/>
        </p:nvPicPr>
        <p:blipFill rotWithShape="1">
          <a:blip r:embed="rId3">
            <a:alphaModFix/>
          </a:blip>
          <a:srcRect/>
          <a:stretch/>
        </p:blipFill>
        <p:spPr>
          <a:xfrm>
            <a:off x="2397369" y="2326511"/>
            <a:ext cx="6974965" cy="404487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85"/>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a:solidFill>
                  <a:srgbClr val="000000"/>
                </a:solidFill>
                <a:latin typeface="Microsoft Yahei"/>
                <a:ea typeface="Microsoft Yahei"/>
                <a:cs typeface="Microsoft Yahei"/>
                <a:sym typeface="Microsoft Yahei"/>
              </a:rPr>
              <a:t>b</a:t>
            </a:r>
            <a:r>
              <a:rPr lang="en-MY" sz="2800" b="0" i="0" u="none" strike="noStrike" cap="none">
                <a:solidFill>
                  <a:srgbClr val="000000"/>
                </a:solidFill>
                <a:latin typeface="Microsoft Yahei"/>
                <a:ea typeface="Microsoft Yahei"/>
                <a:cs typeface="Microsoft Yahei"/>
                <a:sym typeface="Microsoft Yahei"/>
              </a:rPr>
              <a:t>. Prinsip 5C</a:t>
            </a:r>
            <a:endParaRPr sz="2800" b="0" i="0" u="none" strike="noStrike" cap="none">
              <a:solidFill>
                <a:srgbClr val="000000"/>
              </a:solidFill>
              <a:latin typeface="Microsoft Yahei"/>
              <a:ea typeface="Microsoft Yahei"/>
              <a:cs typeface="Microsoft Yahei"/>
              <a:sym typeface="Microsoft Yahei"/>
            </a:endParaRPr>
          </a:p>
        </p:txBody>
      </p:sp>
      <p:sp>
        <p:nvSpPr>
          <p:cNvPr id="618" name="Google Shape;618;p85"/>
          <p:cNvSpPr txBox="1"/>
          <p:nvPr/>
        </p:nvSpPr>
        <p:spPr>
          <a:xfrm>
            <a:off x="895506" y="1512593"/>
            <a:ext cx="10042570" cy="5170646"/>
          </a:xfrm>
          <a:prstGeom prst="rect">
            <a:avLst/>
          </a:prstGeom>
          <a:noFill/>
          <a:ln>
            <a:noFill/>
          </a:ln>
        </p:spPr>
        <p:txBody>
          <a:bodyPr spcFirstLastPara="1" wrap="square" lIns="91425" tIns="45700" rIns="91425" bIns="45700" anchor="t" anchorCtr="0">
            <a:spAutoFit/>
          </a:bodyPr>
          <a:lstStyle/>
          <a:p>
            <a:pPr marL="531813" marR="0" lvl="0" indent="-531813" algn="just" rtl="0">
              <a:lnSpc>
                <a:spcPct val="150000"/>
              </a:lnSpc>
              <a:spcBef>
                <a:spcPts val="0"/>
              </a:spcBef>
              <a:spcAft>
                <a:spcPts val="0"/>
              </a:spcAft>
              <a:buClr>
                <a:srgbClr val="3F3F3F"/>
              </a:buClr>
              <a:buSzPts val="2000"/>
              <a:buFont typeface="Microsoft Yahei"/>
              <a:buAutoNum type="romanLcPeriod"/>
            </a:pPr>
            <a:r>
              <a:rPr lang="en-MY" sz="2000" b="1">
                <a:solidFill>
                  <a:srgbClr val="3F3F3F"/>
                </a:solidFill>
                <a:latin typeface="Microsoft Yahei"/>
                <a:ea typeface="Microsoft Yahei"/>
                <a:cs typeface="Microsoft Yahei"/>
                <a:sym typeface="Microsoft Yahei"/>
              </a:rPr>
              <a:t>Modal (Capital)</a:t>
            </a:r>
            <a:endParaRPr sz="2000" b="1" i="0" u="none" strike="noStrike" cap="none">
              <a:solidFill>
                <a:srgbClr val="3F3F3F"/>
              </a:solidFill>
              <a:latin typeface="Microsoft Yahei"/>
              <a:ea typeface="Microsoft Yahei"/>
              <a:cs typeface="Microsoft Yahei"/>
              <a:sym typeface="Microsoft Yahei"/>
            </a:endParaRPr>
          </a:p>
          <a:p>
            <a:pPr marL="890588"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Kedudukan kewangan pelanggan berpandukan analisis penyata kewangan pelanggan.</a:t>
            </a:r>
            <a:endParaRPr/>
          </a:p>
          <a:p>
            <a:pPr marL="890588" marR="0" lvl="0" indent="-231775" algn="just" rtl="0">
              <a:lnSpc>
                <a:spcPct val="150000"/>
              </a:lnSpc>
              <a:spcBef>
                <a:spcPts val="0"/>
              </a:spcBef>
              <a:spcAft>
                <a:spcPts val="0"/>
              </a:spcAft>
              <a:buClr>
                <a:schemeClr val="dk1"/>
              </a:buClr>
              <a:buSzPts val="2000"/>
              <a:buFont typeface="Arial"/>
              <a:buNone/>
            </a:pPr>
            <a:endParaRPr sz="2000">
              <a:solidFill>
                <a:srgbClr val="3F3F3F"/>
              </a:solidFill>
              <a:latin typeface="Microsoft Yahei"/>
              <a:ea typeface="Microsoft Yahei"/>
              <a:cs typeface="Microsoft Yahei"/>
              <a:sym typeface="Microsoft Yahei"/>
            </a:endParaRPr>
          </a:p>
          <a:p>
            <a:pPr marL="890588"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Penekanan kepada kedudukan ekuiti dan nisbah-nisbah risiko seperti nisbah semasa, nisbah hutang dan nisbah perlindungan faedah.</a:t>
            </a:r>
            <a:endParaRPr/>
          </a:p>
          <a:p>
            <a:pPr marL="890588" marR="0" lvl="0" indent="-231775" algn="just" rtl="0">
              <a:lnSpc>
                <a:spcPct val="150000"/>
              </a:lnSpc>
              <a:spcBef>
                <a:spcPts val="0"/>
              </a:spcBef>
              <a:spcAft>
                <a:spcPts val="0"/>
              </a:spcAft>
              <a:buClr>
                <a:schemeClr val="dk1"/>
              </a:buClr>
              <a:buSzPts val="2000"/>
              <a:buFont typeface="Arial"/>
              <a:buNone/>
            </a:pPr>
            <a:endParaRPr sz="2000">
              <a:solidFill>
                <a:srgbClr val="3F3F3F"/>
              </a:solidFill>
              <a:latin typeface="Microsoft Yahei"/>
              <a:ea typeface="Microsoft Yahei"/>
              <a:cs typeface="Microsoft Yahei"/>
              <a:sym typeface="Microsoft Yahei"/>
            </a:endParaRPr>
          </a:p>
          <a:p>
            <a:pPr marL="890588"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Contoh, Ambank melihat kedudukan nisbah kecairan dan nisbah hutang syarikat  ABC yang menunjukkan kekuatan syarikat dari segi aset sebelum meluluskan pinjaman RM3 juta.</a:t>
            </a:r>
            <a:endParaRPr/>
          </a:p>
          <a:p>
            <a:pPr marL="890588"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86"/>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b. Prinsip 5C</a:t>
            </a:r>
            <a:endParaRPr sz="2800" b="0" i="0" u="none" strike="noStrike" cap="none">
              <a:solidFill>
                <a:srgbClr val="000000"/>
              </a:solidFill>
              <a:latin typeface="Microsoft Yahei"/>
              <a:ea typeface="Microsoft Yahei"/>
              <a:cs typeface="Microsoft Yahei"/>
              <a:sym typeface="Microsoft Yahei"/>
            </a:endParaRPr>
          </a:p>
        </p:txBody>
      </p:sp>
      <p:sp>
        <p:nvSpPr>
          <p:cNvPr id="624" name="Google Shape;624;p86"/>
          <p:cNvSpPr txBox="1"/>
          <p:nvPr/>
        </p:nvSpPr>
        <p:spPr>
          <a:xfrm>
            <a:off x="895506" y="1512593"/>
            <a:ext cx="10042570" cy="5170646"/>
          </a:xfrm>
          <a:prstGeom prst="rect">
            <a:avLst/>
          </a:prstGeom>
          <a:noFill/>
          <a:ln>
            <a:noFill/>
          </a:ln>
        </p:spPr>
        <p:txBody>
          <a:bodyPr spcFirstLastPara="1" wrap="square" lIns="91425" tIns="45700" rIns="91425" bIns="45700" anchor="t" anchorCtr="0">
            <a:spAutoFit/>
          </a:bodyPr>
          <a:lstStyle/>
          <a:p>
            <a:pPr marL="531813" marR="0" lvl="0" indent="-531813" algn="just" rtl="0">
              <a:lnSpc>
                <a:spcPct val="150000"/>
              </a:lnSpc>
              <a:spcBef>
                <a:spcPts val="0"/>
              </a:spcBef>
              <a:spcAft>
                <a:spcPts val="0"/>
              </a:spcAft>
              <a:buClr>
                <a:srgbClr val="3F3F3F"/>
              </a:buClr>
              <a:buSzPts val="2000"/>
              <a:buFont typeface="Microsoft Yahei"/>
              <a:buAutoNum type="romanLcPeriod" startAt="2"/>
            </a:pPr>
            <a:r>
              <a:rPr lang="en-MY" sz="2000" b="1">
                <a:solidFill>
                  <a:srgbClr val="3F3F3F"/>
                </a:solidFill>
                <a:latin typeface="Microsoft Yahei"/>
                <a:ea typeface="Microsoft Yahei"/>
                <a:cs typeface="Microsoft Yahei"/>
                <a:sym typeface="Microsoft Yahei"/>
              </a:rPr>
              <a:t>Keupayaan (Capacity)</a:t>
            </a:r>
            <a:endParaRPr sz="2000" b="1" i="0" u="none" strike="noStrike" cap="none">
              <a:solidFill>
                <a:srgbClr val="3F3F3F"/>
              </a:solidFill>
              <a:latin typeface="Microsoft Yahei"/>
              <a:ea typeface="Microsoft Yahei"/>
              <a:cs typeface="Microsoft Yahei"/>
              <a:sym typeface="Microsoft Yahei"/>
            </a:endParaRPr>
          </a:p>
          <a:p>
            <a:pPr marL="890588"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Kemampuan pelanggan untuk membayar hutang yang diukur melalui aliran tunai daripada perniagaan.</a:t>
            </a:r>
            <a:endParaRPr/>
          </a:p>
          <a:p>
            <a:pPr marL="890588"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Keupayaan akan juga dilihat dari daya maju projek dalam menjana aliran tunai positif.</a:t>
            </a:r>
            <a:endParaRPr/>
          </a:p>
          <a:p>
            <a:pPr marL="890588"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Perlu juga melihat dari segi pematuhan undang-undang dan syarat-syarat pinjaman.</a:t>
            </a:r>
            <a:endParaRPr/>
          </a:p>
          <a:p>
            <a:pPr marL="890588"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Contoh, Ambank menganalisis daya maju projek baru syarikat ABC untuk memastikan projek tersebut mampu memberi aliran tunai masuk yang tinggi ke dalam syarikat sebelum meluluskan pinjaman RM3 juta.</a:t>
            </a:r>
            <a:endParaRPr/>
          </a:p>
          <a:p>
            <a:pPr marL="890588"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87"/>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b. Prinsip 5C</a:t>
            </a:r>
            <a:endParaRPr sz="2800" b="0" i="0" u="none" strike="noStrike" cap="none">
              <a:solidFill>
                <a:srgbClr val="000000"/>
              </a:solidFill>
              <a:latin typeface="Microsoft Yahei"/>
              <a:ea typeface="Microsoft Yahei"/>
              <a:cs typeface="Microsoft Yahei"/>
              <a:sym typeface="Microsoft Yahei"/>
            </a:endParaRPr>
          </a:p>
        </p:txBody>
      </p:sp>
      <p:sp>
        <p:nvSpPr>
          <p:cNvPr id="630" name="Google Shape;630;p87"/>
          <p:cNvSpPr txBox="1"/>
          <p:nvPr/>
        </p:nvSpPr>
        <p:spPr>
          <a:xfrm>
            <a:off x="895506" y="1512593"/>
            <a:ext cx="10042570" cy="4708981"/>
          </a:xfrm>
          <a:prstGeom prst="rect">
            <a:avLst/>
          </a:prstGeom>
          <a:noFill/>
          <a:ln>
            <a:noFill/>
          </a:ln>
        </p:spPr>
        <p:txBody>
          <a:bodyPr spcFirstLastPara="1" wrap="square" lIns="91425" tIns="45700" rIns="91425" bIns="45700" anchor="t" anchorCtr="0">
            <a:spAutoFit/>
          </a:bodyPr>
          <a:lstStyle/>
          <a:p>
            <a:pPr marL="531813" marR="0" lvl="0" indent="-531813" algn="just" rtl="0">
              <a:lnSpc>
                <a:spcPct val="150000"/>
              </a:lnSpc>
              <a:spcBef>
                <a:spcPts val="0"/>
              </a:spcBef>
              <a:spcAft>
                <a:spcPts val="0"/>
              </a:spcAft>
              <a:buClr>
                <a:srgbClr val="3F3F3F"/>
              </a:buClr>
              <a:buSzPts val="2000"/>
              <a:buFont typeface="Microsoft Yahei"/>
              <a:buAutoNum type="romanLcPeriod" startAt="3"/>
            </a:pPr>
            <a:r>
              <a:rPr lang="en-MY" sz="2000" b="1" i="0" u="none" strike="noStrike" cap="none">
                <a:solidFill>
                  <a:srgbClr val="3F3F3F"/>
                </a:solidFill>
                <a:latin typeface="Microsoft Yahei"/>
                <a:ea typeface="Microsoft Yahei"/>
                <a:cs typeface="Microsoft Yahei"/>
                <a:sym typeface="Microsoft Yahei"/>
              </a:rPr>
              <a:t>Pewatakan (Character)</a:t>
            </a:r>
            <a:endParaRPr/>
          </a:p>
          <a:p>
            <a:pPr marL="890588"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Keperibadian pelanggan dalam menunaikan janji untuk membayar hutang dalam tempoh masa yang djanjikan.</a:t>
            </a:r>
            <a:endParaRPr/>
          </a:p>
          <a:p>
            <a:pPr marL="890588"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Faktor moral pelanggan diambilkira seperti laporan kredit pelanggan akan cuba didapati daripada pihak bank pelanggan, pembekal kredit lain dan pesaing-pesaing mengenai maklumat.</a:t>
            </a:r>
            <a:endParaRPr/>
          </a:p>
          <a:p>
            <a:pPr marL="890588"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Contoh, Ambank melihat sejarah pinjaman Syarikat ABC yang lepas melalui sistem Central Credit Reference Information System (CCRIS) samada jujur dalam pembayaran sebelum meluluskan pinjaman RM3 juta.</a:t>
            </a:r>
            <a:endParaRPr/>
          </a:p>
          <a:p>
            <a:pPr marL="890588"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88"/>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b. Prinsip 5C</a:t>
            </a:r>
            <a:endParaRPr sz="2800" b="0" i="0" u="none" strike="noStrike" cap="none">
              <a:solidFill>
                <a:srgbClr val="000000"/>
              </a:solidFill>
              <a:latin typeface="Microsoft Yahei"/>
              <a:ea typeface="Microsoft Yahei"/>
              <a:cs typeface="Microsoft Yahei"/>
              <a:sym typeface="Microsoft Yahei"/>
            </a:endParaRPr>
          </a:p>
        </p:txBody>
      </p:sp>
      <p:sp>
        <p:nvSpPr>
          <p:cNvPr id="636" name="Google Shape;636;p88"/>
          <p:cNvSpPr txBox="1"/>
          <p:nvPr/>
        </p:nvSpPr>
        <p:spPr>
          <a:xfrm>
            <a:off x="895506" y="1512593"/>
            <a:ext cx="10042570" cy="4247317"/>
          </a:xfrm>
          <a:prstGeom prst="rect">
            <a:avLst/>
          </a:prstGeom>
          <a:noFill/>
          <a:ln>
            <a:noFill/>
          </a:ln>
        </p:spPr>
        <p:txBody>
          <a:bodyPr spcFirstLastPara="1" wrap="square" lIns="91425" tIns="45700" rIns="91425" bIns="45700" anchor="t" anchorCtr="0">
            <a:spAutoFit/>
          </a:bodyPr>
          <a:lstStyle/>
          <a:p>
            <a:pPr marL="531813" marR="0" lvl="0" indent="-531813" algn="just" rtl="0">
              <a:lnSpc>
                <a:spcPct val="150000"/>
              </a:lnSpc>
              <a:spcBef>
                <a:spcPts val="0"/>
              </a:spcBef>
              <a:spcAft>
                <a:spcPts val="0"/>
              </a:spcAft>
              <a:buClr>
                <a:srgbClr val="3F3F3F"/>
              </a:buClr>
              <a:buSzPts val="2000"/>
              <a:buFont typeface="Microsoft Yahei"/>
              <a:buAutoNum type="romanLcPeriod" startAt="4"/>
            </a:pPr>
            <a:r>
              <a:rPr lang="en-MY" sz="2000" b="1" i="0" u="none" strike="noStrike" cap="none">
                <a:solidFill>
                  <a:srgbClr val="3F3F3F"/>
                </a:solidFill>
                <a:latin typeface="Microsoft Yahei"/>
                <a:ea typeface="Microsoft Yahei"/>
                <a:cs typeface="Microsoft Yahei"/>
                <a:sym typeface="Microsoft Yahei"/>
              </a:rPr>
              <a:t>Suasana (Condition)</a:t>
            </a:r>
            <a:endParaRPr sz="2000" b="1" i="0" u="none" strike="noStrike" cap="none">
              <a:solidFill>
                <a:srgbClr val="3F3F3F"/>
              </a:solidFill>
              <a:latin typeface="Microsoft Yahei"/>
              <a:ea typeface="Microsoft Yahei"/>
              <a:cs typeface="Microsoft Yahei"/>
              <a:sym typeface="Microsoft Yahei"/>
            </a:endParaRPr>
          </a:p>
          <a:p>
            <a:pPr marL="890588"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Keadaan ekonomi dan persekitaran atau sebarang aktiviti pembangunan baru yang dapat mempengaruhi keupayaan pelanggan dalam membayar balik hutang.</a:t>
            </a:r>
            <a:endParaRPr/>
          </a:p>
          <a:p>
            <a:pPr marL="531813" marR="0" lvl="0" indent="0" algn="just" rtl="0">
              <a:lnSpc>
                <a:spcPct val="150000"/>
              </a:lnSpc>
              <a:spcBef>
                <a:spcPts val="0"/>
              </a:spcBef>
              <a:spcAft>
                <a:spcPts val="0"/>
              </a:spcAft>
              <a:buNone/>
            </a:pPr>
            <a:endParaRPr sz="2000">
              <a:solidFill>
                <a:srgbClr val="3F3F3F"/>
              </a:solidFill>
              <a:latin typeface="Microsoft Yahei"/>
              <a:ea typeface="Microsoft Yahei"/>
              <a:cs typeface="Microsoft Yahei"/>
              <a:sym typeface="Microsoft Yahei"/>
            </a:endParaRPr>
          </a:p>
          <a:p>
            <a:pPr marL="890588" marR="0" lvl="0" indent="-358775" algn="just" rtl="0">
              <a:lnSpc>
                <a:spcPct val="150000"/>
              </a:lnSpc>
              <a:spcBef>
                <a:spcPts val="0"/>
              </a:spcBef>
              <a:spcAft>
                <a:spcPts val="0"/>
              </a:spcAft>
              <a:buClr>
                <a:srgbClr val="3F3F3F"/>
              </a:buClr>
              <a:buSzPts val="2000"/>
              <a:buFont typeface="Arial"/>
              <a:buChar char="•"/>
            </a:pPr>
            <a:r>
              <a:rPr lang="en-MY" sz="2000">
                <a:solidFill>
                  <a:srgbClr val="3F3F3F"/>
                </a:solidFill>
                <a:latin typeface="Microsoft Yahei"/>
                <a:ea typeface="Microsoft Yahei"/>
                <a:cs typeface="Microsoft Yahei"/>
                <a:sym typeface="Microsoft Yahei"/>
              </a:rPr>
              <a:t>Contoh, Ambank akan melihat keadaan ekonomi semasa negara. Jika stabil, Ambank akan meluluskan pinjaman RM3 juta kepada Syarikat ABC.</a:t>
            </a:r>
            <a:endParaRPr/>
          </a:p>
          <a:p>
            <a:pPr marL="890588"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a:p>
            <a:pPr marL="890588" marR="0" lvl="0" indent="-231775" algn="just" rtl="0">
              <a:lnSpc>
                <a:spcPct val="150000"/>
              </a:lnSpc>
              <a:spcBef>
                <a:spcPts val="0"/>
              </a:spcBef>
              <a:spcAft>
                <a:spcPts val="0"/>
              </a:spcAft>
              <a:buClr>
                <a:schemeClr val="dk1"/>
              </a:buClr>
              <a:buSzPts val="2000"/>
              <a:buFont typeface="Arial"/>
              <a:buNone/>
            </a:pPr>
            <a:endParaRPr sz="20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89"/>
          <p:cNvSpPr txBox="1"/>
          <p:nvPr/>
        </p:nvSpPr>
        <p:spPr>
          <a:xfrm>
            <a:off x="1819353" y="748826"/>
            <a:ext cx="819487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Microsoft Yahei"/>
              <a:buNone/>
            </a:pPr>
            <a:r>
              <a:rPr lang="en-MY" sz="2800" b="0" i="0" u="none" strike="noStrike" cap="none">
                <a:solidFill>
                  <a:srgbClr val="000000"/>
                </a:solidFill>
                <a:latin typeface="Microsoft Yahei"/>
                <a:ea typeface="Microsoft Yahei"/>
                <a:cs typeface="Microsoft Yahei"/>
                <a:sym typeface="Microsoft Yahei"/>
              </a:rPr>
              <a:t>b. Prinsip 5C</a:t>
            </a:r>
            <a:endParaRPr sz="2800" b="0" i="0" u="none" strike="noStrike" cap="none">
              <a:solidFill>
                <a:srgbClr val="000000"/>
              </a:solidFill>
              <a:latin typeface="Microsoft Yahei"/>
              <a:ea typeface="Microsoft Yahei"/>
              <a:cs typeface="Microsoft Yahei"/>
              <a:sym typeface="Microsoft Yahei"/>
            </a:endParaRPr>
          </a:p>
        </p:txBody>
      </p:sp>
      <p:sp>
        <p:nvSpPr>
          <p:cNvPr id="642" name="Google Shape;642;p89"/>
          <p:cNvSpPr txBox="1"/>
          <p:nvPr/>
        </p:nvSpPr>
        <p:spPr>
          <a:xfrm>
            <a:off x="895506" y="1512593"/>
            <a:ext cx="10042570" cy="5303696"/>
          </a:xfrm>
          <a:prstGeom prst="rect">
            <a:avLst/>
          </a:prstGeom>
          <a:noFill/>
          <a:ln>
            <a:noFill/>
          </a:ln>
        </p:spPr>
        <p:txBody>
          <a:bodyPr spcFirstLastPara="1" wrap="square" lIns="91425" tIns="45700" rIns="91425" bIns="45700" anchor="t" anchorCtr="0">
            <a:spAutoFit/>
          </a:bodyPr>
          <a:lstStyle/>
          <a:p>
            <a:pPr marL="531813" marR="0" lvl="0" indent="-531813" algn="just" rtl="0">
              <a:lnSpc>
                <a:spcPct val="150000"/>
              </a:lnSpc>
              <a:spcBef>
                <a:spcPts val="0"/>
              </a:spcBef>
              <a:spcAft>
                <a:spcPts val="0"/>
              </a:spcAft>
              <a:buClr>
                <a:srgbClr val="3F3F3F"/>
              </a:buClr>
              <a:buSzPts val="1900"/>
              <a:buFont typeface="Microsoft Yahei"/>
              <a:buAutoNum type="romanLcPeriod" startAt="5"/>
            </a:pPr>
            <a:r>
              <a:rPr lang="en-MY" sz="1900" b="1" i="0" u="none" strike="noStrike" cap="none">
                <a:solidFill>
                  <a:srgbClr val="3F3F3F"/>
                </a:solidFill>
                <a:latin typeface="Microsoft Yahei"/>
                <a:ea typeface="Microsoft Yahei"/>
                <a:cs typeface="Microsoft Yahei"/>
                <a:sym typeface="Microsoft Yahei"/>
              </a:rPr>
              <a:t>Cagaran (Collateral)</a:t>
            </a:r>
            <a:endParaRPr/>
          </a:p>
          <a:p>
            <a:pPr marL="890588" marR="0" lvl="0" indent="-358775" algn="just" rtl="0">
              <a:lnSpc>
                <a:spcPct val="150000"/>
              </a:lnSpc>
              <a:spcBef>
                <a:spcPts val="0"/>
              </a:spcBef>
              <a:spcAft>
                <a:spcPts val="0"/>
              </a:spcAft>
              <a:buClr>
                <a:srgbClr val="3F3F3F"/>
              </a:buClr>
              <a:buSzPts val="1900"/>
              <a:buFont typeface="Arial"/>
              <a:buChar char="•"/>
            </a:pPr>
            <a:r>
              <a:rPr lang="en-MY" sz="1900">
                <a:solidFill>
                  <a:srgbClr val="3F3F3F"/>
                </a:solidFill>
                <a:latin typeface="Microsoft Yahei"/>
                <a:ea typeface="Microsoft Yahei"/>
                <a:cs typeface="Microsoft Yahei"/>
                <a:sym typeface="Microsoft Yahei"/>
              </a:rPr>
              <a:t>Cagaran diperlukan bagi mengurangkan risiko kerugian jika pelanggan tidak mampu bayar pinjaman</a:t>
            </a:r>
            <a:endParaRPr sz="1900">
              <a:solidFill>
                <a:srgbClr val="3F3F3F"/>
              </a:solidFill>
              <a:latin typeface="Microsoft Yahei"/>
              <a:ea typeface="Microsoft Yahei"/>
              <a:cs typeface="Microsoft Yahei"/>
              <a:sym typeface="Microsoft Yahei"/>
            </a:endParaRPr>
          </a:p>
          <a:p>
            <a:pPr marL="890588" marR="0" lvl="0" indent="-358775" algn="just" rtl="0">
              <a:lnSpc>
                <a:spcPct val="150000"/>
              </a:lnSpc>
              <a:spcBef>
                <a:spcPts val="0"/>
              </a:spcBef>
              <a:spcAft>
                <a:spcPts val="0"/>
              </a:spcAft>
              <a:buClr>
                <a:srgbClr val="3F3F3F"/>
              </a:buClr>
              <a:buSzPts val="1900"/>
              <a:buFont typeface="Arial"/>
              <a:buChar char="•"/>
            </a:pPr>
            <a:r>
              <a:rPr lang="en-MY" sz="1900">
                <a:solidFill>
                  <a:srgbClr val="3F3F3F"/>
                </a:solidFill>
                <a:latin typeface="Microsoft Yahei"/>
                <a:ea typeface="Microsoft Yahei"/>
                <a:cs typeface="Microsoft Yahei"/>
                <a:sym typeface="Microsoft Yahei"/>
              </a:rPr>
              <a:t>Cagaran aset tetap yang mungkin disandarkan oleh pelanggan sebagai jaminan.</a:t>
            </a:r>
            <a:endParaRPr/>
          </a:p>
          <a:p>
            <a:pPr marL="890588" marR="0" lvl="0" indent="-358775" algn="just" rtl="0">
              <a:lnSpc>
                <a:spcPct val="150000"/>
              </a:lnSpc>
              <a:spcBef>
                <a:spcPts val="0"/>
              </a:spcBef>
              <a:spcAft>
                <a:spcPts val="0"/>
              </a:spcAft>
              <a:buClr>
                <a:srgbClr val="3F3F3F"/>
              </a:buClr>
              <a:buSzPts val="1900"/>
              <a:buFont typeface="Arial"/>
              <a:buChar char="•"/>
            </a:pPr>
            <a:r>
              <a:rPr lang="en-MY" sz="1900">
                <a:solidFill>
                  <a:srgbClr val="3F3F3F"/>
                </a:solidFill>
                <a:latin typeface="Microsoft Yahei"/>
                <a:ea typeface="Microsoft Yahei"/>
                <a:cs typeface="Microsoft Yahei"/>
                <a:sym typeface="Microsoft Yahei"/>
              </a:rPr>
              <a:t>Jaminan aset tetap yang disandarkan ini selalunya dapat menolong memudahkan pelanggan mendapatkan kredit pada kadar yang lebih rendah.</a:t>
            </a:r>
            <a:endParaRPr/>
          </a:p>
          <a:p>
            <a:pPr marL="890588" marR="0" lvl="0" indent="-358775" algn="just" rtl="0">
              <a:lnSpc>
                <a:spcPct val="150000"/>
              </a:lnSpc>
              <a:spcBef>
                <a:spcPts val="0"/>
              </a:spcBef>
              <a:spcAft>
                <a:spcPts val="0"/>
              </a:spcAft>
              <a:buClr>
                <a:srgbClr val="3F3F3F"/>
              </a:buClr>
              <a:buSzPts val="1900"/>
              <a:buFont typeface="Arial"/>
              <a:buChar char="•"/>
            </a:pPr>
            <a:r>
              <a:rPr lang="en-MY" sz="1900">
                <a:solidFill>
                  <a:srgbClr val="3F3F3F"/>
                </a:solidFill>
                <a:latin typeface="Microsoft Yahei"/>
                <a:ea typeface="Microsoft Yahei"/>
                <a:cs typeface="Microsoft Yahei"/>
                <a:sym typeface="Microsoft Yahei"/>
              </a:rPr>
              <a:t>Bagi pelanggan yang tidak dapat menyediakan aset sebagai cagaran, penjamin yang mempunyai pendapatan yang kukuh diperlukan.</a:t>
            </a:r>
            <a:endParaRPr/>
          </a:p>
          <a:p>
            <a:pPr marL="890588" marR="0" lvl="0" indent="-358775" algn="just" rtl="0">
              <a:lnSpc>
                <a:spcPct val="150000"/>
              </a:lnSpc>
              <a:spcBef>
                <a:spcPts val="0"/>
              </a:spcBef>
              <a:spcAft>
                <a:spcPts val="0"/>
              </a:spcAft>
              <a:buClr>
                <a:srgbClr val="3F3F3F"/>
              </a:buClr>
              <a:buSzPts val="1900"/>
              <a:buFont typeface="Arial"/>
              <a:buChar char="•"/>
            </a:pPr>
            <a:r>
              <a:rPr lang="en-MY" sz="1900">
                <a:solidFill>
                  <a:srgbClr val="3F3F3F"/>
                </a:solidFill>
                <a:latin typeface="Microsoft Yahei"/>
                <a:ea typeface="Microsoft Yahei"/>
                <a:cs typeface="Microsoft Yahei"/>
                <a:sym typeface="Microsoft Yahei"/>
              </a:rPr>
              <a:t>Contoh, Syarikat ABC mencagarkan bangunan milik syarikat berharga RM5 juta, maka Ambank meluluskan pinjaman RM3 juta tersebut.</a:t>
            </a:r>
            <a:endParaRPr sz="1900" b="0" i="0" u="none" strike="noStrike" cap="none">
              <a:solidFill>
                <a:srgbClr val="3F3F3F"/>
              </a:solidFill>
              <a:latin typeface="Microsoft Yahei"/>
              <a:ea typeface="Microsoft Yahei"/>
              <a:cs typeface="Microsoft Yahei"/>
              <a:sym typeface="Microsoft Yahei"/>
            </a:endParaRPr>
          </a:p>
          <a:p>
            <a:pPr marL="890588" marR="0" lvl="0" indent="-238125" algn="just" rtl="0">
              <a:lnSpc>
                <a:spcPct val="150000"/>
              </a:lnSpc>
              <a:spcBef>
                <a:spcPts val="0"/>
              </a:spcBef>
              <a:spcAft>
                <a:spcPts val="0"/>
              </a:spcAft>
              <a:buClr>
                <a:schemeClr val="dk1"/>
              </a:buClr>
              <a:buSzPts val="1900"/>
              <a:buFont typeface="Arial"/>
              <a:buNone/>
            </a:pPr>
            <a:endParaRPr sz="1900" b="0" i="0" u="none" strike="noStrike" cap="none">
              <a:solidFill>
                <a:srgbClr val="3F3F3F"/>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90"/>
          <p:cNvSpPr/>
          <p:nvPr/>
        </p:nvSpPr>
        <p:spPr>
          <a:xfrm>
            <a:off x="2506566" y="5686971"/>
            <a:ext cx="6364299" cy="6110630"/>
          </a:xfrm>
          <a:prstGeom prst="donut">
            <a:avLst>
              <a:gd name="adj" fmla="val 25000"/>
            </a:avLst>
          </a:prstGeom>
          <a:solidFill>
            <a:schemeClr val="accent5">
              <a:alpha val="5176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icrosoft Yahei"/>
              <a:ea typeface="Microsoft Yahei"/>
              <a:cs typeface="Microsoft Yahei"/>
              <a:sym typeface="Microsoft Yahei"/>
            </a:endParaRPr>
          </a:p>
        </p:txBody>
      </p:sp>
      <p:sp>
        <p:nvSpPr>
          <p:cNvPr id="648" name="Google Shape;648;p90"/>
          <p:cNvSpPr/>
          <p:nvPr/>
        </p:nvSpPr>
        <p:spPr>
          <a:xfrm>
            <a:off x="-505135" y="-240010"/>
            <a:ext cx="2032382" cy="1951375"/>
          </a:xfrm>
          <a:prstGeom prst="donut">
            <a:avLst>
              <a:gd name="adj" fmla="val 25000"/>
            </a:avLst>
          </a:prstGeom>
          <a:solidFill>
            <a:schemeClr val="accent5">
              <a:alpha val="5176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icrosoft Yahei"/>
              <a:ea typeface="Microsoft Yahei"/>
              <a:cs typeface="Microsoft Yahei"/>
              <a:sym typeface="Microsoft Yahei"/>
            </a:endParaRPr>
          </a:p>
        </p:txBody>
      </p:sp>
      <p:sp>
        <p:nvSpPr>
          <p:cNvPr id="649" name="Google Shape;649;p90"/>
          <p:cNvSpPr txBox="1"/>
          <p:nvPr/>
        </p:nvSpPr>
        <p:spPr>
          <a:xfrm>
            <a:off x="2305600" y="2506274"/>
            <a:ext cx="4881103" cy="110799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MY" sz="6600" b="1">
                <a:solidFill>
                  <a:schemeClr val="accent1"/>
                </a:solidFill>
                <a:latin typeface="Microsoft Yahei"/>
                <a:ea typeface="Microsoft Yahei"/>
                <a:cs typeface="Microsoft Yahei"/>
                <a:sym typeface="Microsoft Yahei"/>
              </a:rPr>
              <a:t>TAMAT</a:t>
            </a:r>
            <a:endParaRPr sz="6600" b="1">
              <a:solidFill>
                <a:schemeClr val="accent1"/>
              </a:solidFill>
              <a:latin typeface="Microsoft Yahei"/>
              <a:ea typeface="Microsoft Yahei"/>
              <a:cs typeface="Microsoft Yahei"/>
              <a:sym typeface="Microsoft Yahei"/>
            </a:endParaRPr>
          </a:p>
        </p:txBody>
      </p:sp>
      <p:cxnSp>
        <p:nvCxnSpPr>
          <p:cNvPr id="650" name="Google Shape;650;p90"/>
          <p:cNvCxnSpPr/>
          <p:nvPr/>
        </p:nvCxnSpPr>
        <p:spPr>
          <a:xfrm>
            <a:off x="3029189" y="3948078"/>
            <a:ext cx="3510507" cy="0"/>
          </a:xfrm>
          <a:prstGeom prst="straightConnector1">
            <a:avLst/>
          </a:prstGeom>
          <a:noFill/>
          <a:ln w="9525" cap="flat" cmpd="sng">
            <a:solidFill>
              <a:schemeClr val="accent1">
                <a:alpha val="34901"/>
              </a:schemeClr>
            </a:solidFill>
            <a:prstDash val="solid"/>
            <a:miter lim="800000"/>
            <a:headEnd type="none" w="sm" len="sm"/>
            <a:tailEnd type="none" w="sm" len="sm"/>
          </a:ln>
        </p:spPr>
      </p:cxnSp>
      <p:sp>
        <p:nvSpPr>
          <p:cNvPr id="651" name="Google Shape;651;p90"/>
          <p:cNvSpPr txBox="1"/>
          <p:nvPr/>
        </p:nvSpPr>
        <p:spPr>
          <a:xfrm>
            <a:off x="6472238" y="7872413"/>
            <a:ext cx="0" cy="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Microsoft Yahei"/>
              <a:ea typeface="Microsoft Yahei"/>
              <a:cs typeface="Microsoft Yahei"/>
              <a:sym typeface="Microsoft Yahei"/>
            </a:endParaRPr>
          </a:p>
        </p:txBody>
      </p:sp>
      <p:sp>
        <p:nvSpPr>
          <p:cNvPr id="652" name="Google Shape;652;p90"/>
          <p:cNvSpPr/>
          <p:nvPr/>
        </p:nvSpPr>
        <p:spPr>
          <a:xfrm>
            <a:off x="-5993922" y="-143364"/>
            <a:ext cx="7133747" cy="6849409"/>
          </a:xfrm>
          <a:prstGeom prst="donut">
            <a:avLst>
              <a:gd name="adj" fmla="val 25000"/>
            </a:avLst>
          </a:prstGeom>
          <a:solidFill>
            <a:srgbClr val="FED9D0">
              <a:alpha val="6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icrosoft Yahei"/>
              <a:ea typeface="Microsoft Yahei"/>
              <a:cs typeface="Microsoft Yahei"/>
              <a:sym typeface="Microsoft Yahei"/>
            </a:endParaRPr>
          </a:p>
        </p:txBody>
      </p:sp>
      <p:sp>
        <p:nvSpPr>
          <p:cNvPr id="653" name="Google Shape;653;p90"/>
          <p:cNvSpPr/>
          <p:nvPr/>
        </p:nvSpPr>
        <p:spPr>
          <a:xfrm>
            <a:off x="9383135" y="0"/>
            <a:ext cx="7133747" cy="6849409"/>
          </a:xfrm>
          <a:prstGeom prst="donut">
            <a:avLst>
              <a:gd name="adj" fmla="val 25000"/>
            </a:avLst>
          </a:prstGeom>
          <a:solidFill>
            <a:schemeClr val="accent1">
              <a:alpha val="8078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icrosoft Yahei"/>
              <a:ea typeface="Microsoft Yahei"/>
              <a:cs typeface="Microsoft Yahei"/>
              <a:sym typeface="Microsoft Yahei"/>
            </a:endParaRPr>
          </a:p>
        </p:txBody>
      </p:sp>
      <p:grpSp>
        <p:nvGrpSpPr>
          <p:cNvPr id="654" name="Google Shape;654;p90"/>
          <p:cNvGrpSpPr/>
          <p:nvPr/>
        </p:nvGrpSpPr>
        <p:grpSpPr>
          <a:xfrm>
            <a:off x="1265897" y="1396903"/>
            <a:ext cx="1078196" cy="3768877"/>
            <a:chOff x="1288882" y="567159"/>
            <a:chExt cx="1078196" cy="4097438"/>
          </a:xfrm>
        </p:grpSpPr>
        <p:cxnSp>
          <p:nvCxnSpPr>
            <p:cNvPr id="655" name="Google Shape;655;p90"/>
            <p:cNvCxnSpPr/>
            <p:nvPr/>
          </p:nvCxnSpPr>
          <p:spPr>
            <a:xfrm>
              <a:off x="1288882" y="601883"/>
              <a:ext cx="1078196" cy="0"/>
            </a:xfrm>
            <a:prstGeom prst="straightConnector1">
              <a:avLst/>
            </a:prstGeom>
            <a:noFill/>
            <a:ln w="76200" cap="flat" cmpd="sng">
              <a:solidFill>
                <a:schemeClr val="accent1"/>
              </a:solidFill>
              <a:prstDash val="solid"/>
              <a:miter lim="800000"/>
              <a:headEnd type="none" w="sm" len="sm"/>
              <a:tailEnd type="none" w="sm" len="sm"/>
            </a:ln>
          </p:spPr>
        </p:cxnSp>
        <p:cxnSp>
          <p:nvCxnSpPr>
            <p:cNvPr id="656" name="Google Shape;656;p90"/>
            <p:cNvCxnSpPr/>
            <p:nvPr/>
          </p:nvCxnSpPr>
          <p:spPr>
            <a:xfrm>
              <a:off x="1317763" y="567159"/>
              <a:ext cx="0" cy="4097438"/>
            </a:xfrm>
            <a:prstGeom prst="straightConnector1">
              <a:avLst/>
            </a:prstGeom>
            <a:noFill/>
            <a:ln w="76200" cap="flat" cmpd="sng">
              <a:solidFill>
                <a:schemeClr val="accent1"/>
              </a:solidFill>
              <a:prstDash val="solid"/>
              <a:miter lim="800000"/>
              <a:headEnd type="none" w="sm" len="sm"/>
              <a:tailEnd type="none" w="sm" len="sm"/>
            </a:ln>
          </p:spPr>
        </p:cxnSp>
        <p:cxnSp>
          <p:nvCxnSpPr>
            <p:cNvPr id="657" name="Google Shape;657;p90"/>
            <p:cNvCxnSpPr/>
            <p:nvPr/>
          </p:nvCxnSpPr>
          <p:spPr>
            <a:xfrm>
              <a:off x="1288882" y="4620229"/>
              <a:ext cx="1078196" cy="0"/>
            </a:xfrm>
            <a:prstGeom prst="straightConnector1">
              <a:avLst/>
            </a:prstGeom>
            <a:noFill/>
            <a:ln w="76200" cap="flat" cmpd="sng">
              <a:solidFill>
                <a:schemeClr val="accent1"/>
              </a:solidFill>
              <a:prstDash val="solid"/>
              <a:miter lim="800000"/>
              <a:headEnd type="none" w="sm" len="sm"/>
              <a:tailEnd type="none" w="sm" len="sm"/>
            </a:ln>
          </p:spPr>
        </p:cxnSp>
      </p:grpSp>
      <p:sp>
        <p:nvSpPr>
          <p:cNvPr id="658" name="Google Shape;658;p90"/>
          <p:cNvSpPr/>
          <p:nvPr/>
        </p:nvSpPr>
        <p:spPr>
          <a:xfrm>
            <a:off x="8674095" y="2348179"/>
            <a:ext cx="2032382" cy="1951375"/>
          </a:xfrm>
          <a:prstGeom prst="donut">
            <a:avLst>
              <a:gd name="adj" fmla="val 25000"/>
            </a:avLst>
          </a:prstGeom>
          <a:solidFill>
            <a:schemeClr val="accent5">
              <a:alpha val="5176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spd="slow" p14:dur="150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www.jpppt.com">
  <a:themeElements>
    <a:clrScheme name="自定义 18">
      <a:dk1>
        <a:srgbClr val="000000"/>
      </a:dk1>
      <a:lt1>
        <a:srgbClr val="FFFFFF"/>
      </a:lt1>
      <a:dk2>
        <a:srgbClr val="FB481E"/>
      </a:dk2>
      <a:lt2>
        <a:srgbClr val="FFFFFF"/>
      </a:lt2>
      <a:accent1>
        <a:srgbClr val="FB481E"/>
      </a:accent1>
      <a:accent2>
        <a:srgbClr val="A50F00"/>
      </a:accent2>
      <a:accent3>
        <a:srgbClr val="F17C60"/>
      </a:accent3>
      <a:accent4>
        <a:srgbClr val="780000"/>
      </a:accent4>
      <a:accent5>
        <a:srgbClr val="CFDEE8"/>
      </a:accent5>
      <a:accent6>
        <a:srgbClr val="E9F0F4"/>
      </a:accent6>
      <a:hlink>
        <a:srgbClr val="FEFFFE"/>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ww.freeppt7.com">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225</TotalTime>
  <Words>4241</Words>
  <Application>Microsoft Office PowerPoint</Application>
  <PresentationFormat>宽屏</PresentationFormat>
  <Paragraphs>558</Paragraphs>
  <Slides>76</Slides>
  <Notes>74</Notes>
  <HiddenSlides>0</HiddenSlides>
  <MMClips>0</MMClips>
  <ScaleCrop>false</ScaleCrop>
  <HeadingPairs>
    <vt:vector size="4" baseType="variant">
      <vt:variant>
        <vt:lpstr>主题</vt:lpstr>
      </vt:variant>
      <vt:variant>
        <vt:i4>2</vt:i4>
      </vt:variant>
      <vt:variant>
        <vt:lpstr>幻灯片标题</vt:lpstr>
      </vt:variant>
      <vt:variant>
        <vt:i4>76</vt:i4>
      </vt:variant>
    </vt:vector>
  </HeadingPairs>
  <TitlesOfParts>
    <vt:vector size="78" baseType="lpstr">
      <vt:lpstr>www.jpppt.com</vt:lpstr>
      <vt:lpstr>www.freeppt7.com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Noor Zalina binti Mustafa</dc:creator>
  <cp:lastModifiedBy>SEE ZHI KAI</cp:lastModifiedBy>
  <cp:revision>30</cp:revision>
  <dcterms:modified xsi:type="dcterms:W3CDTF">2022-11-21T22:10:28Z</dcterms:modified>
</cp:coreProperties>
</file>